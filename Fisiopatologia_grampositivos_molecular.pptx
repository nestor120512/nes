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Enfoque molecular de la fisiopatología de cocos grampositivos para internistas e infectólogos. S. aureus (dorado, racimos) y S. pyogenes (rojo, cadenas). Las imágenes y esquemas son ilustraciones originales, no micrografías ni figuras de artículos.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en seis bloques. La charla carga el peso en clasificación de cocos grampositivos y en los mecanismos moleculares de virulencia, con esquemas y gráficas.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Objetivo. Mantener un hilo: cómo entra (adhesión molecular a la matriz), cómo evade (complemento, fagocitosis, anticuerpos) y cómo lesiona (toxinas formadoras de poro, superantígenos, inflamación). El valor para el clínico es conectar la molécula con la decisión: antibiótico, drenaje, inmunoglobulina.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pared define la tinción de Gram. Peptidoglucano grueso retiene el cristal violeta tras el alcohol. La ausencia de membrana externa significa que no hay lipopolisacárido: el sistema inmune innato reconocera otros patrones, sobre todo ácidos lipoteicoicos y lipoproteínas.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Árbol de decisión de laboratorio. La catalasa separa Staphylococcus (positivo) de Streptococcus y Enterococcus (negativo). En estafilococos, la coagulasa separa S. aureus de los coagulasa negativos. En estreptococos se usa el patrón de hemólisis y el antígeno de grupo de Lancefield; Enterococcus se reconoce por PYR, bilis-esculina y crecimiento en 6,5% de NaCl.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los estafilococos, la coagulasa separa S. aureus del resto. Entre coagulasa negativos destacan S. epidermidis (biopelícula en dispositivos), S. lugdunensis (virulento, endocarditis de válvula nativa) y S. saprophyticus (ITU en mujeres jóvenes, resistente a novobiocina). Interpretar un hemocultivo con SCN depende del contexto: contaminante frecuente salvo con dispositivos.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estreptococos se ordenan por hemólisis y por el carbohidrato de grupo de Lancefield. Beta-hemoliticos: grupo A (S. pyogenes), grupo B (S. agalactiae), grupos C y G (S. dysgalactiae). Alfa: S. pneumoniae (optoquina sensible, bilis soluble) y los viridans. Gamma o no hemoliticos incluyen el antiguo grupo D. Hoy nos centramos en el grupo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Enterococcus: PYR y bilis-esculina positivos, crecen en 6,5% de NaCl, con resistencia intrínseca a cefalosporinas y adquirida a vancomicina (VRE). La identificación actual se apoya en MALDI-TOF para especie en minutos, PCR y paneles sindrómicos que detectan el microorganismo y genes de resistencia como mecA o van, y secuenciacion para epidemiologia.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Biosíntesis en tres etapas. En el citoplasma se arma UDP-MurNAc-pentapeptido terminado en D-Ala-D-Ala. Anclado al transportador lipidico se forma Lipid I y luego Lipid II al anadir GlcNAc. La flipasa MurJ lo transloca. Fuera, las PBP polimerizan el glucano (transglicosilación) y entrecruzan los péptidos (transpeptidación). Los beta-lactámicos imitan D-Ala-D-Ala y acilan la transpeptidasa; la vancomicina secuestra el D-Ala-D-Ala del precursor. Esto explica por qué PBP2a (MRSA) y el cambio a D-Ala-D-Lac (VRE/VRSA) dan resistencia.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sortasa A reconoce el motivo LPXTG del extremo C-terminal de muchas proteínas de superficie (ClfA, FnBP, proteína A, proteína M), corta entre treonina y glicina y forma un enlace covalente con el puente de pentaglicina del peptidoglucano. Es un mecanismo genérico de anclaje y una diana anti-virulencia atractiva porque desarma adhesión y evasión sin presion bactericida directa.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ácidos teicoicos de pared dan carga negativa y regulan cationes, autolisinas y sensibilidad a antibióticos. Los lipoteicoicos, anclados a membrana, median adhesión y son reconocidos por la inmunidad innata. Las lipoproteínas son el principal ligando de TLR2. La D-alaninacion por el operón dlt reduce la carga negativa y protege frente a péptidos antimicrobianos del huésped.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geometria de división predice la morfologia: en S. aureus los planos cambian en angulos perpendiculares y las células no se separan del todo, formando racimos; en Streptococcus un unico plano genera cadenas. El tabique lo sintetizan las PBP, blanco de los beta-lactámicos.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colonización es frecuente y asintomatica. S. aureus coloniza fosas nasales de cerca de un tercio de la poblacion; S. pyogenes faringe y piel. Es un equilibrio con epitelio y microbiota en el que dominan las adhesinas. La enfermedad empieza cuando una herida, un catéter, una virosis o una cirugía rompen la barrera y la bacteria activa su programa de virulencia.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agr es un circuito de quorum sensing. AgrD se procesa por AgrB y se exporta como péptido autoinductor (AIP). Al acumularse, el AIP activa la histidina quinasa de membrana AgrC, que fosforila al regulador AgrA. AgrA activa los promotores P2 (autoinducción) y P3, que produce el ARN efector RNAIII. RNAIII sube toxinas, PSM y proteasas y baja adhesinas y proteína A: el paso de colonizar a invadir. Es diana anti-virulencia.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virulencia esta orquestada por redes de dos componentes y reguladores globales. En S. aureus, además de agr, el sistema sae induce toxinas y leucocidinas y sarA integra adhesión y toxinas. En S. pyogenes, Mga activa la proteína M y factores tempranos, mientras CovR/S reprime cápsula, SpeB, estreptolisina O y NADasa; las mutaciones que inactivan covRS liberan esos factores y producen cepas hipervirulentas invasoras.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secuencia va de colonización a ruptura de barrera, invasión, inflamación y lesión. El daño tiene tres origenes: directo por toxinas, inflamatorio mediado por el huésped (neutrófilos y citocinas) e inmunológico posinfeccioso. Tenerlos separados ayuda a decidir: antibiótico frena la bacteria, pero el daño inflamatorio e inmunológico requiere otras medidas.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faltar LPS, el grampositivo se reconoce por otros patrones. Las lipoproteínas son el principal ligando de TLR2, que dimeriza con TLR1 o TLR6 y senaliza por MyD88. Los fragmentos de peptidoglucano (muramil dipéptido) los detecta NOD2 en el citosol vía RIPK2. Ambas vías activan NF-kB y la produccion de TNF, IL-1, IL-6 e IL-8. Precisión: el ligando de TLR2 son lipoproteínas, no el peptidoglucano intacto.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toxinas formadoras de poro y los PSM provocan salida de potasio y ensamblan el inflamasoma NLRP3 con ASC y pro-caspasa-1. La caspasa-1 activa madura IL-1beta e IL-18 y corta gasdermina D, que forma poros y causa piroptosis. Es un segundo golpe que amplifica la inflamación y explica por qué parte del daño (fiebre, hipotensión, lesión tisular) es del huésped. Tiene interes como diana inmunomoduladora.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neutrófilo es la defensa central: fagocitosis, especies reactivas de oxígeno y NET, redes de ADN con histonas y proteínas antimicrobianas. S. aureus es potente inductor de NET pero las degrada con su nucleasa, y la biopelícula las bloquea. El daño colateral de los neutrófilos contribuye a la necrosis y al 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aureus combina gran capacidad de adaptación con un arsenal modular: coloniza, invade, forma abscesos, persiste en dispositivos y adquiere resistencia. Produce infecciones de piel y partes blandas, bacteriemia, endocarditis, infección osteoarticular, neumonía y choque tóxico. Veremos adhesión, evasión del complemento y del neutrófilo, toxinas, biopelícula, hierro y resistencia.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adhesinas MSCRAMM unen la matriz del huésped por el mecanismo dock-lock-latch: el péptido ligando (por ejemplo el extremo del fibrinógeno) encaja en el surco entre los dominios N2 y N3 (dock), el extremo C-terminal se cierra sobre el (lock) y una hebra beta completa la lámina y sella la unión (latch), dando una unión casi irreversible. Esto explica el tropismo por endocardio dañado, hueso y dispositivos; las FnBP además median internalización en células no fagocíticas.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proteína A es una proteína de superficie anclada por sortasa. Por un lado une la región Fc de la IgG en orientación invertida, impidiendo opsonización, activacion del complemento y fagocitosis. Por otro, actua como superantigeno de linfocitos B uniendo la Fab de la familia VH3, lo que activa y luego agota esos clones y deja una respuesta de anticuerpos deficiente. Este doble golpe es un obstaculo para las vacunas.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aureus ataca el complemento en varios puntos. SCIN estabiliza y bloquea la convertasa de C3. Efb y Ecb se unen a C3b e impiden formar C3b y C5a. SdrE y Sbi reclutan factor H para degradar la vía. CHIPS bloquea el receptor de C5a en el neutrófilo. Resultado: menos opsonización y menos quimiotaxis, con un neutrófilo que no llega ni reconoce bien a la bacteria.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leucocidinas son toxinas formadoras de poro de dos componentes: una subunidad S se une a un receptor del leucocito y recluta la subunidad F, ensamblando un poro octamérico. Cada par tiene su receptor: PVL usa C5aR1 y se asocia a neumonía necrosante y SSTI; LukED usa CCR5 y CXCR1/2; LukAB se une a la integrina CD11b y mata al neutrófilo despues de ser fagocitado; las hemolisinas gamma usan CXCR y CCR2. La diana en el receptor explica el tropismo celular y por qué la actividad varia entre especies.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alfa-toxina (Hla) es el prototipo de toxina formadora de poro. El monómero se une a su receptor de alta afinidad ADAM10 en epitelio y endotelio; siete monómeros ensamblan un poro heptamérico en barril beta que despolariza la célula (entra calcio, sale potasio) y la lisa. Además, ADAM10 activada por la toxina corta E-cadherina y abre las uniones adherentes, favoreciendo diseminación y daño de barrera. Es diana de anticuerpos y de vacunas, y la clindamicina suprime su síntesis.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modulinas solubles en fenol (PSM) son péptidos cortos, anfipáticos y alfa-helicoidales regulados por agr. Tienen multiples papeles: citólisis de neutrófilos y eritrocitos (sobre todo PSM-alfa), estructuracion y dispersion de la biopelícula, y proinflamacion a traves del receptor FPR2. Su nivel de expresion define la agresividad del aislado y es especialmente alto en cepas comunitarias de MRSA.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absceso es una estructura organizada, no solo pus. En el centro hay una comunidad bacteriana; la coagulasa y vWbp activan protrombina y forman una pseudocápsula de fibrina. Alrededor hay neutrófilos muertos por leucocidinas (pus) y una capa de neutrófilos viables y tejido sano. Esta arquitectura protege a la bacteria y hace que el antibiótico penetre mal: por eso el drenaje es parte del tratamiento.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biopelícula madura en etapas: adhesión a una superficie o dispositivo, acumulacion con matriz de polisacárido PIA/PNAG producido por el operón ica, ADN extracelular y proteínas de matriz; tolerancia a neutrófilos y antibióticos; y dispersion regulada por PSM y agr que siembra nuevos focos. Punto fino para el clínico: la tolerancia no es resistencia, la CIM puede no cambiar, y las infecciones de dispositivo suelen requerir retirarlo.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huésped restringe el hierro como defensa (inmunidad nutricional, mediada por hepcidina y por calprotectina que además secuestra zinc y manganeso). S. aureus responde con el sistema Isd: IsdB e IsdH capturan hemoglobina, IsdA e IsdC hacen de relevo del grupo hemo a traves de la pared, el transportador IsdDEF lo lleva al citosol y las hemo-oxigenasas IsdG e IsdI liberan el hierro. Explica el tropismo por sangre y hueso y es diana de vacunas (IsdB).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MRSA adquiere el casete cromosomico movil SCCmec que porta mecA, el gen de PBP2a, una proteína de unión a penicilina con baja afinidad por casi todos los beta-lactámicos. PBP2a mantiene la transpeptidación cuando el antibiótico inactiva las PBP nativas. La ceftarolina es un beta-lactámico que si se une a PBP2a por un sitio alostérico. Mensaje para el clínico: la resistencia cambia el tratamiento, no aumenta por si misma la virulencia.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sensibilidad a vancomicina puede caer de forma gradual. hVISA tiene subpoblaciones con pared engrosada y CIM limítrofe. VISA engrosa la pared y multiplica los señuelos D-Ala-D-Ala que atrapan el antibiótico antes de llegar a la membrana; es polygenico y por pasos. VRSA, muy raro, adquiere el operón vanA de un enterococo y sustituye el terminal D-Ala-D-Ala por D-Ala-D-Lac, lo que reduce la afinidad de la vancomicina unas mil veces. Son banderas para vigilar fallo terapeutico.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pyogenes, estreptococo del grupo A y beta-hemolítico, abarca un espectro amplio: superficial (faringitis, impétigo, escarlatina), invasivo (celulitis, fascitis necrosante, choque tóxico) y secuelas no supurativas (fiebre reumática, glomerulonefritis). Sus armas: proteína M, evasión del complemento y de anticuerpos, enzimas que destruyen tejido, toxinas formadoras de poro y superantígenos.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proteína M es una fibrilla en espiral anclada por sortasa. Su extremo N-terminal es hipervariable y define mas de 240 tipos emm; las regiones B y C son conservadas. Recluta proteínas del huésped: fibrinógeno, reguladores del complemento C4BP y factor H, e inmunoglobulinas. Resultado: menos depósito de C3b, menos opsonización y menos fagocitosis. Como los anticuerpos protectores son tipo-específicos, la diversidad emm dificulta las vacunas; las cepas emm1 invasoras unen fibrinógeno con alta afinidad.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pyogenes desarma la inmunidad en varios frentes. La C5a peptidasa ScpA degrada C5a y SpyCEP corta la IL-8 y otras quimiocinas CXCL, reduciendo el reclutamiento de neutrófilos. Mac/IdeS es una proteasa que corta la IgG en la región bisagra y EndoS la desglicosila, ambas anulando la función efectora del anticuerpo. Sic inhibe el complemento y los péptidos antimicrobianos. En conjunto, el neutrófilo ni llega ni opsoniza.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SpeB es una cistein-proteasa que degrada matriz, inmunoglobulinas, complemento y citocinas, e incluso regula otros factores propios. La estreptocinasa activa el plasminógeno del huésped a plasmina y disuelve la fibrina, facilitando la diseminación, al contrario que el absceso de S. aureus. Las DNasas como Sda1 degradan las NET y liberan la bacteria. La hialuronidasa degrada matriz y abre camino a traves del tejido.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estreptolisina O (SLO) es una citolisina dependiente de colesterol: sus monómeros se insertan en la membrana y forman un poro grande que lisa neutrófilos y eritrocitos. Además, la SLO transloca la NADasa (SPN) al citosol de la célula huésped, donde agota el NAD y potencia el daño (translocación mediada por citolisina). La estreptolisina S da la zona de beta-hemólisis y no es inmunógena. La SLO es la base de la antiestreptolisina O usada en el diagnóstico de secuelas.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cápsula de ácido hialurónico es identica al hialuronano humano, por lo que apenas genera anticuerpos, y es antifagocítica. El sistema de dos componentes CovR/S normalmente reprime cápsula, estreptolisina O, NADasa y modula SpeB. Las mutaciones que inactivan covRS, seleccionadas durante la infección invasora, liberan esos factores y producen un fenotipo hipervirulento asociado a fascitis necrosante y choque tóxico.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fascitis necrosante la bacteria y sus enzimas avanzan por el plano de la fascia, poco vascularizado, mientras la piel se ve poco afectada: el dolor es desproporcionado. La trombosis de vasos perforantes produce necrosis y bloquea la llegada del antibiótico. El tratamiento es desbridamiento quirúrgico repetido mas antibióticos; la clindamicina suprime la síntesis de toxinas, y la inmunoglobulina y el oxígeno hiperbárico son coadyuvantes.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superantígenos como TSST-1, SpeA y SpeC unen el MHC de clase II fuera del surco y la región variable beta del receptor T, sin procesamiento antigénico. Activan de forma policlonal hasta un 20% de los linfocitos T, frente a menos del 0,01% con un antígeno convencional. La liberacion masiva de IL-2, IFN-gamma y TNF produce fiebre, hipotensión, fuga capilar y falla multiorgánica: el sindrome de choque tóxico. La inmunoglobulina intravenosa aporta anticuerpos neutralizantes.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a tres semanas tras una faringitis por S. pyogenes, en personas susceptibles, los anticuerpos y linfocitos T dirigidos contra la proteína M y el carbohidrato de grupo A (N-acetilglucosamina) reaccionan de forma cruzada con proteínas propias semejantes: miosina cardíaca, laminina y proteínas valvulares, y antigenos del núcleo caudado en la corea. El resultado es carditis, artritis y corea, y a largo plazo cardiopatía reumática. El mimetismo molecular es la hipótesis central y tratar la faringitis previene.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aureus localiza y persiste: absceso, proteína A, alfa-toxina y leucocidinas, resistencia por mecA y reducción de sensibilidad a vancomicina, persistencia en biopelícula. S. pyogenes invade y disemina: necrosis que avanza, proteína M, SpeB y estreptolisinas, sigue sensible a penicilina y deja secuelas inmunológicas. Ambos producen superantígenos y choque tóxico: los mecanismos no son exclusivos.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util para el clínico es traducir molécula en decisión. La pared es diana de beta-lactámicos y vancomicina, con ceftarolina para MRSA. La clindamicina suprime la síntesis de toxinas, clave en fascitis y choque tóxico. La inmunoglobulina intravenosa neutraliza superantígenos y toxinas. El control del foco (drenaje, retirada de dispositivo, desbridamiento) es imprescindible porque el antibiótico penetra mal. Adhesinas, sortasa y agr son dianas anti-virulencia en investigación, e IsdB, alfa-toxina y proteína M son candidatos de vacuna.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mensajes: la pared como estructura, diana y alarma; la clasificación del coco como guia clínica; la regulacion de la virulencia; el perfil persistente de S. aureus; el perfil invasor de S. pyogenes; y la idea de que mucho del daño es del huésped, por lo que el tratamiento combina antibiótico, control del foco, supresion de toxinas e inmunoglobulina.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 la pared celular al choque séptico, los cocos grampositivos siguen una lógica molecular que conecta estructura, regulacion, virulencia y decisión terapeutica.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 MOLECULAR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 grampositivos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pared celular al choque séptico: mecanismos moleculares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 aureus y Streptococcus pyogenes como modelos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III año - Especialización en medicina interna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074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para medicina interna e infectología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exposición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01368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01368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molecular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Fisiología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08192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08192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089904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1325880" cy="1828800"/>
          </a:xfrm>
          <a:prstGeom prst="roundRect">
            <a:avLst>
              <a:gd name="adj" fmla="val 6897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525512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1E2647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611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Énfasis: </a:t>
            </a:r>
            <a:pPr indent="0" marL="0"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la clasificación de los cocos y la fisiopatología a nivel molecular, con esquemas tipo artículo y gráficas.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debemos comprender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OBJETIVO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preguntas, un hilo molecular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55448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7739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65176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15468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Adhesinas y matriz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64408" y="137160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23944" y="1554480"/>
            <a:ext cx="914400" cy="9144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7393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265176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evade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264408" y="315468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Complemento, fagocito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071616" y="137160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1152" y="1554480"/>
            <a:ext cx="914400" cy="9144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7739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265176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lesiona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071616" y="315468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Toxinas e inflamación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2064" y="397764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internista y el infectólogo: conectar cada molécula con una decisión clínica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coco antes de hablar de virulencia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son grampositivos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Torrens G, Cava F. Mechanisms conferring bacterial cell wall variability and adaptivity. Biochem Soc Trans. 2024;52(5):1981-93.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tinción de Gram refleja la pared: peptidoglucano grueso y multicapa retiene el cristal violeta; sin membrana externa.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205740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41" y="223296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88036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42900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20-80 nm, multicapa; retiene cristal violeta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64408" y="187452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15384" y="2057400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949" y="223296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355848" y="288036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membrana externa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401568" y="342900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LPS; el reconocimiento es por otros PAMP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71616" y="187452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22592" y="20574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57" y="223296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63056" y="288036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y disposición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208776" y="342900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 en racimos o cadenas según el plano de división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práctico: de la catalasa al género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114300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Cocos grampositivos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flipH="1">
            <a:off x="2286000" y="1645920"/>
            <a:ext cx="1737360" cy="365760"/>
          </a:xfrm>
          <a:prstGeom prst="line">
            <a:avLst/>
          </a:prstGeom>
          <a:noFill/>
          <a:ln w="31750">
            <a:solidFill>
              <a:srgbClr val="F2B43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645920"/>
            <a:ext cx="1645920" cy="36576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031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Catalasa +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Catalasa -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0574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43584" y="2057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20574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15584" y="2057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 / Enterococcus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H="1">
            <a:off x="1280160" y="2560320"/>
            <a:ext cx="457200" cy="320040"/>
          </a:xfrm>
          <a:prstGeom prst="line">
            <a:avLst/>
          </a:prstGeom>
          <a:noFill/>
          <a:ln w="31750">
            <a:solidFill>
              <a:srgbClr val="F2B4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2560320"/>
            <a:ext cx="365760" cy="320040"/>
          </a:xfrm>
          <a:prstGeom prst="line">
            <a:avLst/>
          </a:prstGeom>
          <a:noFill/>
          <a:ln w="31750">
            <a:solidFill>
              <a:srgbClr val="F2B4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926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29260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78608" y="2926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epidermidis, S. lugdunensis, S. saprophyticus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5760720" y="2560320"/>
            <a:ext cx="548640" cy="32004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2560320"/>
            <a:ext cx="548640" cy="320040"/>
          </a:xfrm>
          <a:prstGeom prst="line">
            <a:avLst/>
          </a:prstGeom>
          <a:noFill/>
          <a:ln w="31750">
            <a:solidFill>
              <a:srgbClr val="F254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292608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E264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926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Hemólisis + grupo de Lancefield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Streptococcus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9260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2926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 +, bilis-esculina, 6,5% NaCl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" y="397764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clave: catalasa, coagulasa, hemólisis, antígeno de Lancefield, PYR y bilis-esculina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Staphylococcus: aureus frente a coagulasa negativos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(coagulasa +)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y proteína A positivas; pigmento dorado.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 manitol (agar sal-manitol).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 fosas nasales (~30%).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y partes blandas, bacteriemia, endocarditis, osteoarticular, neumonía, choque tóxico.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Coagulasa negativos (SCN)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epidermidis: biopelícula en dispositivos y prótesis.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lugdunensis: agresivo, se comporta como aureus (endocarditis).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saprophyticus: ITU en mujeres jóvenes; novobiocina resistente.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menudo contaminantes, pero no en dispositivos.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Streptococcus: hemólisis y grupo de Lancefield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- Grupo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234440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234440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Faringitis, piel, invasor, secuelas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64792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- Grupo B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764792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agalactiae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64792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neonatal, embarazo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95144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- Grupo C/G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295144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dysgalactiae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95144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Piel, bacteriemia, similar a GAS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25496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825496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pneumoniae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825496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Neumonía, meningitis; optoquina S, bilis soluble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355848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(viridans)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355848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mitis, mutans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55848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Endocarditis subaguda, caries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484632"/>
          </a:xfrm>
          <a:prstGeom prst="roundRect">
            <a:avLst>
              <a:gd name="adj" fmla="val 18868"/>
            </a:avLst>
          </a:prstGeom>
          <a:solidFill>
            <a:srgbClr val="1E2647"/>
          </a:solidFill>
          <a:ln w="19050">
            <a:solidFill>
              <a:srgbClr val="7F88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886200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(no hemol.)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886200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 / otros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86200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digestivo y urinario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 e identificación molecular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faecalis y E. faecium (nosocomiales).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 +, bilis-esculina +, crecen en 6,5% NaCl.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intrínseca a cefalosporinas; VRE (vanA/vanB).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ITU, bacteriemia, endocarditis, abdominal.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hoy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MALDI-TOF: identificación por espectro proteico en minutos.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/ paneles sindrómicos: detección directa y de resistencia (mecA, van).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rRNA y secuenciacion genómica: tipificación y brotes.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molecular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pared como estructura, diana y señal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PARED MOLECULAR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Peptidoglucano: biosíntesis y diana beta-lactámica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Egan AJF, Errington J, Vollmer W. Regulation of peptidoglycan synthesis and remodelling. Nat Rev Microbiol. 2020;18(8):446-60.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Lade H, Kim JS. Molecular determinants of beta-lactam resistance in methicillin-resistant Staphylococcus aureus (MRSA): an updated review. Antibiotics (Basel). 2023;12(9):1362.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CITOPLASMA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2E3864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UDP-MurNAc-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pentapeptido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(-D-Ala-D-Ala)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4173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2E3864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I / II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(undecaprenil-P)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41732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2E3864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417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II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GlcNAc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54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099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671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71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099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644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1216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1216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6644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189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761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761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189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7734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306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2306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7734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278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7850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7850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3278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8823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3395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3395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8823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4368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8940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8940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4368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913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4485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485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913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5458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0030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0030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5458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1002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74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5574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002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6547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1119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1119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6547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2092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6664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6664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2092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7637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2209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2209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7637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3182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7754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7754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3182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8726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3298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3298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8726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4271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8843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8843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4271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59816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4388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64388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9816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5361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9933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9933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5361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90906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95478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95478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90906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06450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11022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1022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06450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1995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6567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6567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1995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754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4211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4211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754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308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765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765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308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863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320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320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863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4174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8746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8746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4174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99719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04291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04291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719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15264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9836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9836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15264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30809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35381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35381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0809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46354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0926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0926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6354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61898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66470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470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1898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7443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2015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82015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7443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2988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7560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97560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8533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3105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3105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08533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24078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28650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28650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24078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39622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4194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44194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9622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55167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59739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59739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55167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70712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5284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5284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0712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86257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90829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90829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6257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01802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6374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06374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01802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7346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21918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1918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7346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2891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37463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37463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2891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48436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53008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53008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8436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3981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8553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8553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3981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79526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84098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84098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9526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95070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99642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99642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95070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10615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15187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15187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10615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2616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3073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3073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616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4170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4627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4627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4170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725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6182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6182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725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989320" y="2240280"/>
            <a:ext cx="914" cy="731520"/>
          </a:xfrm>
          <a:prstGeom prst="line">
            <a:avLst/>
          </a:prstGeom>
          <a:noFill/>
          <a:ln w="3810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28" name="Text 226"/>
          <p:cNvSpPr txBox="1"/>
          <p:nvPr/>
        </p:nvSpPr>
        <p:spPr>
          <a:xfrm>
            <a:off x="60807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Flipasa (MurJ)</a:t>
            </a:r>
            <a:endParaRPr lang="en-US" sz="1200" dirty="0"/>
          </a:p>
        </p:txBody>
      </p:sp>
      <p:sp>
        <p:nvSpPr>
          <p:cNvPr id="229" name="Text 227"/>
          <p:cNvSpPr txBox="1"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/ PARED</a:t>
            </a:r>
            <a:endParaRPr lang="en-US" sz="1200" dirty="0"/>
          </a:p>
        </p:txBody>
      </p:sp>
      <p:sp>
        <p:nvSpPr>
          <p:cNvPr id="230" name="Shape 228"/>
          <p:cNvSpPr/>
          <p:nvPr/>
        </p:nvSpPr>
        <p:spPr>
          <a:xfrm>
            <a:off x="457200" y="333756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45720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Transglicosilación (GT):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glucano</a:t>
            </a:r>
            <a:endParaRPr lang="en-US" sz="1200" dirty="0"/>
          </a:p>
        </p:txBody>
      </p:sp>
      <p:sp>
        <p:nvSpPr>
          <p:cNvPr id="232" name="Shape 230"/>
          <p:cNvSpPr/>
          <p:nvPr/>
        </p:nvSpPr>
        <p:spPr>
          <a:xfrm>
            <a:off x="2788920" y="365760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33" name="Shape 231"/>
          <p:cNvSpPr/>
          <p:nvPr/>
        </p:nvSpPr>
        <p:spPr>
          <a:xfrm>
            <a:off x="3246120" y="333756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324612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Transpeptidación (TP):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entrecruzamiento (PBP)</a:t>
            </a:r>
            <a:endParaRPr lang="en-US" sz="1200" dirty="0"/>
          </a:p>
        </p:txBody>
      </p:sp>
      <p:sp>
        <p:nvSpPr>
          <p:cNvPr id="235" name="Shape 233"/>
          <p:cNvSpPr/>
          <p:nvPr/>
        </p:nvSpPr>
        <p:spPr>
          <a:xfrm>
            <a:off x="5760720" y="365760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36" name="Shape 234"/>
          <p:cNvSpPr/>
          <p:nvPr/>
        </p:nvSpPr>
        <p:spPr>
          <a:xfrm>
            <a:off x="6217920" y="333756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2E3864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621792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madura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entrecruzada</a:t>
            </a:r>
            <a:endParaRPr lang="en-US" sz="1200" dirty="0"/>
          </a:p>
        </p:txBody>
      </p:sp>
      <p:sp>
        <p:nvSpPr>
          <p:cNvPr id="238" name="Shape 236"/>
          <p:cNvSpPr/>
          <p:nvPr/>
        </p:nvSpPr>
        <p:spPr>
          <a:xfrm>
            <a:off x="4160520" y="3127248"/>
            <a:ext cx="274320" cy="2743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416052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40" name="Shape 238"/>
          <p:cNvSpPr/>
          <p:nvPr/>
        </p:nvSpPr>
        <p:spPr>
          <a:xfrm>
            <a:off x="457200" y="41148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512064" y="411480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Beta-lactámicos: imitan D-Ala-D-Ala y bloquean la TP (PBP)</a:t>
            </a:r>
            <a:endParaRPr lang="en-US" sz="1250" dirty="0"/>
          </a:p>
        </p:txBody>
      </p:sp>
      <p:sp>
        <p:nvSpPr>
          <p:cNvPr id="242" name="Shape 240"/>
          <p:cNvSpPr/>
          <p:nvPr/>
        </p:nvSpPr>
        <p:spPr>
          <a:xfrm>
            <a:off x="4663440" y="41148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4718304" y="411480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Vancomicina: se une a D-Ala-D-Ala y frena antes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PARED MOLECULAR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Sortasa A: anclaje de proteínas de superficie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Bhat AH, Nguyen MT, Das A, Ton-That H. Anchoring surface proteins to the bacterial cell wall by sortase enzymes. Curr Opin Microbiol. 2021;60:73-9.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adhesinas y la proteína A llevan un motivo LPXTG en su extremo C. La sortasa A corta entre treonina y glicina y las une covalentemente al peptidoglucano.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54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671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671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099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644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216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216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644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189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761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761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2189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7734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306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734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278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850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850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278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8823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395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3395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8823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4368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940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940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4368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913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485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4485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13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458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0030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030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458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002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574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5574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002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547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1119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119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6547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2092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664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6664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2092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637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2209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2209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637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3182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754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754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3182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8726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3298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3298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8726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8843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8843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271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9816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4388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4388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816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361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9933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9933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5361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0906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5478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5478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0906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6450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022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1022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6450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1995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6567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6567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1995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7540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2112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42112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7540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3085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657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657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3085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8630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3202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3202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8630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4174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8746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88746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174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9719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4291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4291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9719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5264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9836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9836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5264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809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5381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5381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0809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6354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0926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0926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6354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1898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66470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66470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1898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7443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2015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82015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7443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92988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7560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7560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92988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3105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13105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4078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8650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8650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4078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9622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4194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4194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39622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5167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9739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9739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55167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70712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5284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284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0712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6257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0829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0829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86257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01802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06374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06374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01802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7346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21918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1918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7346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2891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37463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7463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2891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8436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53008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3008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8436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3981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68553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68553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3981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9526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4098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4098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79526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950708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96428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96428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50708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106156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151876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51876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106156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61604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07324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07324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261604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17052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462772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62772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17052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572500" y="32918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618220" y="33832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18220" y="36393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72500" y="38404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280160" y="178308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12801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de superficie</a:t>
            </a:r>
            <a:endParaRPr lang="en-US" sz="1200" dirty="0"/>
          </a:p>
        </p:txBody>
      </p:sp>
      <p:sp>
        <p:nvSpPr>
          <p:cNvPr id="221" name="Shape 219"/>
          <p:cNvSpPr/>
          <p:nvPr/>
        </p:nvSpPr>
        <p:spPr>
          <a:xfrm>
            <a:off x="2834640" y="23317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283464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LPXTG</a:t>
            </a:r>
            <a:endParaRPr lang="en-US" sz="1200" dirty="0"/>
          </a:p>
        </p:txBody>
      </p:sp>
      <p:sp>
        <p:nvSpPr>
          <p:cNvPr id="223" name="Shape 221"/>
          <p:cNvSpPr/>
          <p:nvPr/>
        </p:nvSpPr>
        <p:spPr>
          <a:xfrm>
            <a:off x="3429000" y="2743200"/>
            <a:ext cx="914" cy="548640"/>
          </a:xfrm>
          <a:prstGeom prst="line">
            <a:avLst/>
          </a:prstGeom>
          <a:noFill/>
          <a:ln w="38100">
            <a:solidFill>
              <a:srgbClr val="F2B43C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120640" y="3063240"/>
            <a:ext cx="1005840" cy="10058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507492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Sortasa A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4114800" y="2560320"/>
            <a:ext cx="960120" cy="45720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27" name="Shape 225"/>
          <p:cNvSpPr/>
          <p:nvPr/>
        </p:nvSpPr>
        <p:spPr>
          <a:xfrm>
            <a:off x="6172200" y="3566160"/>
            <a:ext cx="960120" cy="914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28" name="Shape 226"/>
          <p:cNvSpPr/>
          <p:nvPr/>
        </p:nvSpPr>
        <p:spPr>
          <a:xfrm>
            <a:off x="7178040" y="329184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2E3864"/>
          </a:solidFill>
          <a:ln w="12700">
            <a:solidFill>
              <a:srgbClr val="2E3864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7178040" y="3291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covalente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peptidoglucano</a:t>
            </a:r>
            <a:endParaRPr lang="en-US" sz="1200" dirty="0"/>
          </a:p>
        </p:txBody>
      </p:sp>
      <p:sp>
        <p:nvSpPr>
          <p:cNvPr id="230" name="Shape 228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512064" y="4206240"/>
            <a:ext cx="811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anti-virulencia: inhibir la sortasa desarma el arsenal de superficie sin matar la bacteria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PARED MOLECULAR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teicoicos y lipoproteínas: carga, adhesión y alarma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Mohammad M, Ali A, Nguyen MT, Gotz F, Pullerits R, Jin T. Staphylococcus aureus lipoproteins in infectious diseases. Front Microbiol. 2022;13:1006765.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08176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17904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53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teicoicos de pared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2801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carga negativa; modulan cationes, autolisinas y resistencia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18541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9514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21305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lipoteicoicos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89120" y="20574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Anclados a membrana; adhesión y ligando de la inmunidad innata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2962656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7238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077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Lipoproteínas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389120" y="28346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ligando de TLR2 (con TLR1/6); disparan citocinas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36118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3739896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962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685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D-alaninacion (dltABCD)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389120" y="36118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carga y defiende frente a péptidos antimicrobianos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Fisiología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Crecer, colonizar y decidir cuándo atacar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división define la 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Torrens G, Cava F. Mechanisms conferring bacterial cell wall variability and adaptivity. Biochem Soc Trans. 2024;52(5):1981-93.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sucesivos y perpendiculares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28600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28600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28600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78892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78892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788920"/>
            <a:ext cx="457200" cy="457200"/>
          </a:xfrm>
          <a:prstGeom prst="ellipse">
            <a:avLst/>
          </a:prstGeom>
          <a:solidFill>
            <a:srgbClr val="F2B43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Racimos (Staphylococcus)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plano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651760"/>
            <a:ext cx="457200" cy="457200"/>
          </a:xfrm>
          <a:prstGeom prst="ellipse">
            <a:avLst/>
          </a:prstGeom>
          <a:solidFill>
            <a:srgbClr val="F2546B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Cadenas (Streptococcus)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Colonizar no es enfermar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160020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41" y="17757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92608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en fosas nasales (~30%); S. pyogenes en faringe y piel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264408" y="141732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15384" y="16002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949" y="17757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01568" y="292608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epitelio y microbiota; dominan adhesinas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71616" y="1417320"/>
            <a:ext cx="2624328" cy="2468880"/>
          </a:xfrm>
          <a:prstGeom prst="roundRect">
            <a:avLst>
              <a:gd name="adj" fmla="val 3704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22592" y="160020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57" y="17757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08776" y="292608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Herida, catéter, virosis o cirugía rompen la barrera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2064" y="402336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enfermedad aparece cuando se rompe el equilibrio y la bacteria enciende la virulencia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sensing agr: el interruptor molecular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Vinodhini V, Kavitha M. Deciphering agr quorum sensing in Staphylococcus aureus: insights and therapeutic prospects. Mol Biol Rep. 2024;51(1):155.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operón agrBDCA mide la densidad con un péptido autoinductor (AIP) y cambia el programa de adhesión a toxinas.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54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671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671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099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644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216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216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644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189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761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761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2189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7734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306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734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278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850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850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278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8823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395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3395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8823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4368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940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940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4368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913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485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4485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13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458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0030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030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458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002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574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5574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002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547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1119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119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6547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2092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664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6664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2092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637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2209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2209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637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3182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754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754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3182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8726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3298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3298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8726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8843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8843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271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9816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4388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4388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816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361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9933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9933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5361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0906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5478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5478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0906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6450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022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1022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6450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1995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6567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6567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1995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754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211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4211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754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308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65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65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308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863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320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320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863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4174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8746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88746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174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9719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4291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4291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9719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5264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9836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9836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5264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809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5381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5381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0809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6354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0926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0926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6354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1898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66470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66470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1898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7443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2015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82015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7443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92988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7560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7560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92988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3105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13105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4078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8650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8650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4078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9622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4194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4194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39622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5167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9739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9739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55167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70712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5284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284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0712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6257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0829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0829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86257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01802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06374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06374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01802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7346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21918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1918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7346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2891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37463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7463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2891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8436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53008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3008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8436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3981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68553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68553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3981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9526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4098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4098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79526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950708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96428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96428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50708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106156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151876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51876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106156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61604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07324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07324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261604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17052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462772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62772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17052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572500" y="228600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618220" y="237744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18220" y="263347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72500" y="28346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57200" y="16916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45720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agrBDCA</a:t>
            </a:r>
            <a:endParaRPr lang="en-US" sz="1200" dirty="0"/>
          </a:p>
        </p:txBody>
      </p:sp>
      <p:sp>
        <p:nvSpPr>
          <p:cNvPr id="221" name="Text 219"/>
          <p:cNvSpPr txBox="1"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AgrD -&gt; AIP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(procesado por AgrB)</a:t>
            </a:r>
            <a:endParaRPr lang="en-US" sz="1100" dirty="0"/>
          </a:p>
        </p:txBody>
      </p:sp>
      <p:sp>
        <p:nvSpPr>
          <p:cNvPr id="222" name="Shape 220"/>
          <p:cNvSpPr/>
          <p:nvPr/>
        </p:nvSpPr>
        <p:spPr>
          <a:xfrm>
            <a:off x="2651760" y="196596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971800" y="196596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291840" y="196596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611880" y="196596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931920" y="196596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acumulado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4343400" y="2240280"/>
            <a:ext cx="457200" cy="65836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420624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AgrC</a:t>
            </a:r>
            <a:endParaRPr lang="en-US" sz="1100" dirty="0"/>
          </a:p>
        </p:txBody>
      </p:sp>
      <p:sp>
        <p:nvSpPr>
          <p:cNvPr id="230" name="Shape 228"/>
          <p:cNvSpPr/>
          <p:nvPr/>
        </p:nvSpPr>
        <p:spPr>
          <a:xfrm>
            <a:off x="4800600" y="3108960"/>
            <a:ext cx="68580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31" name="Shape 229"/>
          <p:cNvSpPr/>
          <p:nvPr/>
        </p:nvSpPr>
        <p:spPr>
          <a:xfrm>
            <a:off x="5532120" y="292608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553212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AgrA~P</a:t>
            </a:r>
            <a:endParaRPr lang="en-US" sz="1200" dirty="0"/>
          </a:p>
        </p:txBody>
      </p:sp>
      <p:sp>
        <p:nvSpPr>
          <p:cNvPr id="233" name="Shape 231"/>
          <p:cNvSpPr/>
          <p:nvPr/>
        </p:nvSpPr>
        <p:spPr>
          <a:xfrm>
            <a:off x="6720840" y="31546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34" name="Shape 232"/>
          <p:cNvSpPr/>
          <p:nvPr/>
        </p:nvSpPr>
        <p:spPr>
          <a:xfrm>
            <a:off x="7178040" y="2926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717804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RNAIII</a:t>
            </a:r>
            <a:endParaRPr lang="en-US" sz="1200" dirty="0"/>
          </a:p>
        </p:txBody>
      </p:sp>
      <p:sp>
        <p:nvSpPr>
          <p:cNvPr id="236" name="Shape 234"/>
          <p:cNvSpPr/>
          <p:nvPr/>
        </p:nvSpPr>
        <p:spPr>
          <a:xfrm>
            <a:off x="457200" y="37033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512064" y="370332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Sube: toxinas, PSM, proteasas (invadir)</a:t>
            </a:r>
            <a:endParaRPr lang="en-US" sz="1400" dirty="0"/>
          </a:p>
        </p:txBody>
      </p:sp>
      <p:sp>
        <p:nvSpPr>
          <p:cNvPr id="238" name="Shape 236"/>
          <p:cNvSpPr/>
          <p:nvPr/>
        </p:nvSpPr>
        <p:spPr>
          <a:xfrm>
            <a:off x="4663440" y="37033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4718304" y="370332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Baja: adhesinas, proteína A (dejar de colonizar)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FISIOLOGÍA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regulacion: más allá de agr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agr: quorum sensing (RNAIII).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sae: sistema de dos componentes; induce toxinas y leucocidinas.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sarA: regulador global de adhesión y toxinas.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 señal de estrés, pH y neutrófilos.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Mga: activa proteína M y factores tempranos.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CovR/S (CsrR/S): reprime cápsula, SpeB, SLO, NADasa.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Mutaciones en covRS -&gt; fenotipo hipervirulento invasor.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paso de faringitis a enfermedad invasora.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reconocimiento molecular al daño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colonización a la lesión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" y="150876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7282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0" y="1965960"/>
            <a:ext cx="329184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51176" y="1508760"/>
            <a:ext cx="914400" cy="9144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17282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66544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529584" y="1965960"/>
            <a:ext cx="329184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51960" y="1508760"/>
            <a:ext cx="914400" cy="9144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72821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67328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230368" y="1965960"/>
            <a:ext cx="329184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952744" y="1508760"/>
            <a:ext cx="914400" cy="914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728216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68112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931152" y="1965960"/>
            <a:ext cx="329184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7653528" y="1508760"/>
            <a:ext cx="914400" cy="9144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1728216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68896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Lesión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457200" y="3200400"/>
            <a:ext cx="2624328" cy="1005840"/>
          </a:xfrm>
          <a:prstGeom prst="roundRect">
            <a:avLst>
              <a:gd name="adj" fmla="val 9091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12064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Toxinas que lisan células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264408" y="3200400"/>
            <a:ext cx="2624328" cy="1005840"/>
          </a:xfrm>
          <a:prstGeom prst="roundRect">
            <a:avLst>
              <a:gd name="adj" fmla="val 9091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319272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y citocinas del huésped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071616" y="3200400"/>
            <a:ext cx="2624328" cy="1005840"/>
          </a:xfrm>
          <a:prstGeom prst="roundRect">
            <a:avLst>
              <a:gd name="adj" fmla="val 9091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126480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Inmunologico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Secuelas tras la infección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innato: sin LPS, otros PAMP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Mohammad M, Ali A, Nguyen MT, Gotz F, Pullerits R, Jin T. Staphylococcus aureus lipoproteins in infectious diseases. Front Microbiol. 2022;13:1006765.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lipopolisacárido, el grampositivo se detecta por lipoproteínas (TLR2) y fragmentos de peptidoglucano (NOD2). Ambas vías convergen en NF-kB.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920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54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671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671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099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644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216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216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644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189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761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761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2189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7734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306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734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278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850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850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278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8823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395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3395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8823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4368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940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940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4368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913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485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4485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13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458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0030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030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458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002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574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5574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002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547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1119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119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6547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2092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664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6664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2092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637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2209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2209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637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3182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754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754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3182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8726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3298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3298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8726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8843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8843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271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9816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4388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4388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816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361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9933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9933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5361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0906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5478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5478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0906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6450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022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1022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6450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1995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6567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6567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1995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7540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2112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42112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7540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3085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657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657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3085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8630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3202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3202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8630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4174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8746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88746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174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9719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4291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4291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9719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5264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9836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9836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5264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809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5381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5381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0809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6354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0926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0926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6354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1898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66470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66470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1898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7443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2015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82015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7443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92988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7560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7560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92988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3105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13105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4078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8650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8650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4078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9622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4194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4194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39622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5167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9739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9739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55167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70712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5284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284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0712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6257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0829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0829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86257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01802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06374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06374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01802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7346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21918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1918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7346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2891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37463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7463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2891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8436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53008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3008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8436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3981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68553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68553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3981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9526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4098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4098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79526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950708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96428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96428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50708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106156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151876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51876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106156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61604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07324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07324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261604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17052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462772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62772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17052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572500" y="210312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618220" y="219456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18220" y="245059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72500" y="265176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1520" y="173736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73152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Lipoproteínas</a:t>
            </a:r>
            <a:endParaRPr lang="en-US" sz="1200" dirty="0"/>
          </a:p>
        </p:txBody>
      </p:sp>
      <p:sp>
        <p:nvSpPr>
          <p:cNvPr id="221" name="Shape 219"/>
          <p:cNvSpPr/>
          <p:nvPr/>
        </p:nvSpPr>
        <p:spPr>
          <a:xfrm>
            <a:off x="1417320" y="2057400"/>
            <a:ext cx="45720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100584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TLR2/1-6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3566160" y="18745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356616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 (MDP)</a:t>
            </a:r>
            <a:endParaRPr lang="en-US" sz="1200" dirty="0"/>
          </a:p>
        </p:txBody>
      </p:sp>
      <p:sp>
        <p:nvSpPr>
          <p:cNvPr id="225" name="Shape 223"/>
          <p:cNvSpPr/>
          <p:nvPr/>
        </p:nvSpPr>
        <p:spPr>
          <a:xfrm>
            <a:off x="4343400" y="2834640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374904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NOD2 (citosol)</a:t>
            </a:r>
            <a:endParaRPr lang="en-US" sz="1100" dirty="0"/>
          </a:p>
        </p:txBody>
      </p:sp>
      <p:sp>
        <p:nvSpPr>
          <p:cNvPr id="227" name="Shape 225"/>
          <p:cNvSpPr/>
          <p:nvPr/>
        </p:nvSpPr>
        <p:spPr>
          <a:xfrm>
            <a:off x="1645920" y="3017520"/>
            <a:ext cx="1188720" cy="59436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28" name="Shape 226"/>
          <p:cNvSpPr/>
          <p:nvPr/>
        </p:nvSpPr>
        <p:spPr>
          <a:xfrm flipH="1">
            <a:off x="3840480" y="3291840"/>
            <a:ext cx="731520" cy="32004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29" name="Shape 227"/>
          <p:cNvSpPr/>
          <p:nvPr/>
        </p:nvSpPr>
        <p:spPr>
          <a:xfrm>
            <a:off x="3017520" y="36118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30175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NF-kB</a:t>
            </a:r>
            <a:endParaRPr lang="en-US" sz="1200" dirty="0"/>
          </a:p>
        </p:txBody>
      </p:sp>
      <p:sp>
        <p:nvSpPr>
          <p:cNvPr id="231" name="Shape 229"/>
          <p:cNvSpPr/>
          <p:nvPr/>
        </p:nvSpPr>
        <p:spPr>
          <a:xfrm>
            <a:off x="4709160" y="38404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32" name="Shape 230"/>
          <p:cNvSpPr/>
          <p:nvPr/>
        </p:nvSpPr>
        <p:spPr>
          <a:xfrm>
            <a:off x="5166360" y="361188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5221224" y="361188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TNF-alfa, IL-1beta, IL-6, IL-8</a:t>
            </a:r>
            <a:endParaRPr lang="en-US" sz="1400" dirty="0"/>
          </a:p>
        </p:txBody>
      </p:sp>
      <p:sp>
        <p:nvSpPr>
          <p:cNvPr id="234" name="Text 232"/>
          <p:cNvSpPr txBox="1"/>
          <p:nvPr/>
        </p:nvSpPr>
        <p:spPr>
          <a:xfrm>
            <a:off x="182880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MyD88</a:t>
            </a:r>
            <a:endParaRPr lang="en-US" sz="1000" dirty="0"/>
          </a:p>
        </p:txBody>
      </p:sp>
      <p:sp>
        <p:nvSpPr>
          <p:cNvPr id="235" name="Text 233"/>
          <p:cNvSpPr txBox="1"/>
          <p:nvPr/>
        </p:nvSpPr>
        <p:spPr>
          <a:xfrm>
            <a:off x="397764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RIPK2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Inflamasoma NLRP3: IL-1beta y piroptosis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toxinas formadoras de poro y los PSM activan el inflamasoma NLRP3: un segundo golpe que amplifica la inflamación.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 / PSM / K+ sale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2402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192024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NLRP3 + ASC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pro-caspasa-1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1920240"/>
            <a:ext cx="1920240" cy="640080"/>
          </a:xfrm>
          <a:prstGeom prst="roundRect">
            <a:avLst>
              <a:gd name="adj" fmla="val 7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Caspasa-1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606040"/>
            <a:ext cx="914" cy="457200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1089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IL-1beta e IL-18 maduras -&gt; inflamación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606040"/>
            <a:ext cx="914" cy="45720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31089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Gasdermina D -&gt; piroptosis (muerte celular)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84048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Clinica: parte de la fiebre, la hipotensión y el daño tisular es respuesta del huésped, no solo la bacteria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y NET: defensa y daño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Speziale P, Pietrocola G. Staphylococcus aureus induces neutrophil extracellular traps (NETs) and neutralizes their bactericidal potential. Comput Struct Biotechnol J. 2021;19:3451-7.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16002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41" y="17757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Fagocitosis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9260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y muerte intracelular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64408" y="141732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15384" y="160020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949" y="17757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01568" y="29260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 reactivas de oxígeno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71616" y="141732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22592" y="160020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57" y="17757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24231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08776" y="29260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ADN con histonas y enzimas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2064" y="379476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induce NET pero las degrada con su nucleasa; el daño colateral alimenta necrosis y pus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aureus: un patógeno que persiste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3566160" cy="265176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2588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481328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y tejidos blandos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1856232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011680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Bacteriemia y endocarditis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5720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542032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2386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Osteomielitis y artritis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57200" y="2916936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072384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2916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Neumonía necrosante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457200" y="3447288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602736"/>
            <a:ext cx="146304" cy="14630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3447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choque tóxico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57200" y="402336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2064" y="4023360"/>
            <a:ext cx="8119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modular: adhesión, evasión, toxinas, biopelícula y resistencia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Adhesinas MSCRAMM: dock-lock-latch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ClfA, FnBPA/B y Cna unen fibrinógeno, fibronectina y colágeno. El ligando encaja en el surco entre dos dominios (dock), un brazo lo cierra (lock) y una hebra lo sella (latch).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286000"/>
            <a:ext cx="274320" cy="2743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43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06324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péptido ligando entra en el surco N2-N3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81528" y="2743200"/>
            <a:ext cx="1828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64408" y="196596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84448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6008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7408" y="2286000"/>
            <a:ext cx="274320" cy="2743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4408" y="2743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374136" y="306324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extremo C cierra sobre el ligando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88736" y="2743200"/>
            <a:ext cx="1828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71616" y="196596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151B33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1656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43216" y="21945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43216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14616" y="2286000"/>
            <a:ext cx="274320" cy="2743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71616" y="2743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81344" y="306324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hebra completa la lámina beta: unión muy estable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2064" y="3749040"/>
            <a:ext cx="8119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Clinica: tropismo por endocardio dañado, hueso y dispositivos; FnBP además internaliza en células no fagocíticas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A: secuestra anticuerpos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Bear A, Locke T, Rowland-Jones S, Pecetta S, Bagnoli F, Darton TC. The immune evasion roles of Staphylococcus aureus protein A and impact on vaccine development. Front Cell Infect Microbiol. 2023;13:1242702.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proteína A (SpA) se ancla por sortasa y tiene cinco dominios que unen IgG por donde no deben.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 Fc de la IgG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queda al revés: no opsoniza, no activa complemento ni fagocitosis.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5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Superantígeno de linfocitos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 Fab de la familia VH3: activa y agota clones B, distorsiona la respuesta de anticuerpos (dificulta vacunas).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320040"/>
          </a:xfrm>
          <a:prstGeom prst="roundRect">
            <a:avLst>
              <a:gd name="adj" fmla="val 2857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4160520"/>
            <a:ext cx="8119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golpe a la inmunidad humoral: evasión inmediata y memoria deficiente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Evasión del complemento: frenar C3 y C5a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bloquea la cascada en varios puntos para evitar opsonización y reclutamiento de neutrófilos.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219456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92024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Convertasa C3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19456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192024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C3b / C5a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92024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Opsonizacion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quimiotaxis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542032"/>
            <a:ext cx="256032" cy="25603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2542032"/>
            <a:ext cx="256032" cy="25603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17320" y="2542032"/>
            <a:ext cx="256032" cy="25603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173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2542032"/>
            <a:ext cx="256032" cy="25603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301752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SCIN: Estabiliza y bloquea la convertasa C3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01752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Efb / Ecb: Se unen a C3b: menos C3b y C5a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358444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SdrE / Sbi: Reclutan factor H; degradan vía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584448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358444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CHIPS: Bloquea el receptor de C5a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Leucocidinas: poros contra el neutrófilo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Toxinas de dos subunidades (S + F) que reconocen receptores concretos del leucocito y ensamblan un poro octamérico que lo lisa.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PVL (LukS/F-PV)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C5aR1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Neutrófilos; neumonía necrosante, SSTI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32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4323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CCR5, CXCR1/2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323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Linfocitos T, neutrófilos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264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LukAB (LukGH)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CD11b (integrina)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035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al neutrófilo tras fagocitar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2647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HlgAB / HlgCB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3639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CXCR1/2, CCR2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6393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Amplio; hemólisis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4114800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diana en el receptor explica el tropismo celular y la especificidad de especie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Alfa-toxina: de receptor a poro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834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une a ADAM10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monómero Hla reconoce su receptor de alta afinidad en epitelio y endotelio.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un poro heptamérico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subunidades ensamblan un barril beta: entra Ca2+, sale K+, lisis celular.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la barrera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ADAM10 activada corta E-cadherina: se abren las uniones y disemina.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114800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de anticuerpos y de la vacuna; la clindamicina suprime su síntesis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Modulinas solubles en fenol (PSM): el cuchillo suizo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Peng Q, Tang X, Dong W, Sun N, Yuan W. A review of biofilm formation of Staphylococcus aureus and its regulation mechanism. Antibiotics (Basel). 2022;12(1):12.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Peptidos cortos anfipáticos y alfa-helicoidales, controlados por agr. Hacen de casi todo.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96596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41" y="214152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Citólisis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2918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 neutrófilos y eritrocitos (PSM-alfa)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64408" y="178308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15384" y="196596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949" y="21415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264408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Biopelícula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401568" y="32918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 canales y dispersan la matriz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71616" y="1783080"/>
            <a:ext cx="2624328" cy="2194560"/>
          </a:xfrm>
          <a:prstGeom prst="roundRect">
            <a:avLst>
              <a:gd name="adj" fmla="val 4167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22592" y="196596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57" y="214152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71616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208776" y="32918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Activan el receptor FPR2 y reclutan neutrófilos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12064" y="4114800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expresion marca la agresividad del aislado; muy altos en cepas comunitarias (CA-MRSA)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S. aureus forma abscesos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Enriquez KT, Skaar EP. The anatomy and molecular inventory of Staphylococcus aureus abscesses. Trends Microbiol. 2026;34(6):665-76.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783080"/>
            <a:ext cx="1828800" cy="1828800"/>
          </a:xfrm>
          <a:prstGeom prst="ellipse">
            <a:avLst/>
          </a:prstGeom>
          <a:solidFill>
            <a:srgbClr val="2E3864"/>
          </a:solidFill>
          <a:ln w="19050">
            <a:solidFill>
              <a:srgbClr val="0A0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0220" y="1988820"/>
            <a:ext cx="1417320" cy="1417320"/>
          </a:xfrm>
          <a:prstGeom prst="ellipse">
            <a:avLst/>
          </a:prstGeom>
          <a:solidFill>
            <a:srgbClr val="6B4B9A"/>
          </a:solidFill>
          <a:ln w="19050">
            <a:solidFill>
              <a:srgbClr val="0A0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194560"/>
            <a:ext cx="1005840" cy="1005840"/>
          </a:xfrm>
          <a:prstGeom prst="ellipse">
            <a:avLst/>
          </a:prstGeom>
          <a:solidFill>
            <a:srgbClr val="F2B43C"/>
          </a:solidFill>
          <a:ln w="19050">
            <a:solidFill>
              <a:srgbClr val="0A0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423160"/>
            <a:ext cx="548640" cy="548640"/>
          </a:xfrm>
          <a:prstGeom prst="ellipse">
            <a:avLst/>
          </a:prstGeom>
          <a:solidFill>
            <a:srgbClr val="F2546B"/>
          </a:solidFill>
          <a:ln w="19050">
            <a:solidFill>
              <a:srgbClr val="0A0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7160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bacteriana central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Pseudocápsula de fibrina (coagulasa + vWbp)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2651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muertos: pus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2647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3291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viables / tejido sano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069080"/>
            <a:ext cx="8119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organizada: por eso el drenaje es parte del tratamiento y el antibiótico penetra mal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Biopelícula: matriz, tolerancia y dispersion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Peng Q, Tang X, Dong W, Sun N, Yuan W. A review of biofilm formation of Staphylococcus aureus and its regulation mechanism. Antibiotics (Basel). 2022;12(1):12.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55448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739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Adhesión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superficie o dispositivo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95728" y="2377440"/>
            <a:ext cx="155448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51176" y="137160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3240" y="155448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7739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51176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42616" y="297180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PIA/PNAG (operón ica), eDNA, proteínas (Bap, Aap)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489704" y="2377440"/>
            <a:ext cx="155448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645152" y="137160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57216" y="155448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7739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45152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736592" y="297180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de neutrófilos y antibióticos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583680" y="2377440"/>
            <a:ext cx="155448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739128" y="137160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51192" y="1554480"/>
            <a:ext cx="914400" cy="9144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773936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3912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830568" y="297180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y agr liberan células: nuevos focos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12064" y="393192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tolerancia no es resistencia (la CIM puede no cambiar); el dispositivo suele retirarse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hierro: el sistema Isd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huésped esconde el hierro (inmunidad nutricional). S. aureus lo extrae de la hemoglobina con el sistema Isd.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huésped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2402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920240"/>
            <a:ext cx="1920240" cy="640080"/>
          </a:xfrm>
          <a:prstGeom prst="roundRect">
            <a:avLst>
              <a:gd name="adj" fmla="val 714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IsdB / IsdH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 Hb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192024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-&gt; IsdC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(relevo del hemo)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24028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192024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IsdDEF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citosol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560320"/>
            <a:ext cx="914" cy="411480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30175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9904" y="30175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IsdG/IsdI liberan el hierro del hemo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01752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hepcidina y calprotectina restringen hierro y zinc (inmunidad nutricional)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3931920"/>
            <a:ext cx="8119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de vacuna (IsdB) y explica el tropismo por sangre y hueso, ricos en hemo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MRSA: un blanco nuevo para la 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Lade H, Kim JS. Molecular determinants of beta-lactam resistance in methicillin-resistant Staphylococcus aureus (MRSA): an updated review. Antibiotics (Basel). 2023;12(9):1362.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(casete movil)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87452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155448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mecA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87452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5544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PBP2a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874520"/>
            <a:ext cx="41148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155448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de pared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 al beta-lactámico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" y="246888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PBP2a tiene baja afinidad por casi todos los beta-lactámicos: la transpeptidación continua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15468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Ceftarolina si se une a PBP2a (sitio alostérico): opcion anti-MRSA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15468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cambia el tratamiento, no aumenta por si misma la virulencia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AUREUS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sensibilidad a vancomicina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Lade H, Kim JS. Molecular determinants of beta-lactam resistance in methicillin-resistant Staphylococcus aureus (MRSA): an updated review. Antibiotics (Basel). 2023;12(9):1362.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hVISA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37160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Subpoblaciones con pared engrosada; CIM limítrofe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5798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15798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engrosada con señuelos D-Ala-D-Ala que atrapan el farmaco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4436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VRSA (raro)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9443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Operón vanA de enterococo: cambia D-Ala-D-Ala por D-Ala-D-Lac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4CC9F0">
              <a:alpha val="14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384048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Vancomicina une D-Ala-D-Ala; el cambio a D-Ala-D-Lac reduce la afinidad ~1000 veces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pyogenes: de la faringe a tejidos profundos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3566160" cy="265176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716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73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Faringitis, impétigo, escarlatina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267712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670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Celulitis, fascitis, choque tóxico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5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236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reumática, glomerulonefritis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4480560" cy="411480"/>
          </a:xfrm>
          <a:prstGeom prst="roundRect">
            <a:avLst>
              <a:gd name="adj" fmla="val 22222"/>
            </a:avLst>
          </a:prstGeom>
          <a:solidFill>
            <a:srgbClr val="2EC4B6">
              <a:alpha val="14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" y="406908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A, beta-hemolítico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M: estructura y evasión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Wrighton S, Nordenfelt P. Revisiting the streptococcal M protein: modern perspectives on antibody function, host interactions, and therapeutic targeting. Front Immunol. 2026;17:1771053.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Fan S, Tsai CJY, Loh JMS, Proft T. Group A streptococcal virulence factors and vaccine development-an update. Microorganisms. 2026;14(2):357.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solidFill>
            <a:srgbClr val="1E2647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(anclada por sortasa)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3017520"/>
            <a:ext cx="548640" cy="64008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377440"/>
            <a:ext cx="548640" cy="640080"/>
          </a:xfrm>
          <a:prstGeom prst="roundRect">
            <a:avLst>
              <a:gd name="adj" fmla="val 833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377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1463040"/>
            <a:ext cx="548640" cy="914400"/>
          </a:xfrm>
          <a:prstGeom prst="roundRect">
            <a:avLst>
              <a:gd name="adj" fmla="val 8333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hipervariable (tipo emm)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B/C conservadas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&gt;240 tipos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1463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Fibrinógeno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2011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C4BP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2560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3108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Inmunoglobulinas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370332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70332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C3b -&gt; menos opsonización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3749040" cy="274320"/>
          </a:xfrm>
          <a:prstGeom prst="roundRect">
            <a:avLst>
              <a:gd name="adj" fmla="val 33333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" y="4206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Anticuerpos tipo-específicos: reto de vacunas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Desarmar anticuerpos y quimiotaxis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ScpA (C5a peptidasa)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C5a: menos reclutamiento de neutrófilos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1109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SpyCEP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11096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IL-8/CXCL: bloquea la quimiotaxis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4203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IdeS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4203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Proteasa que corta la IgG en la bisagra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72968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1E2647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72968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17296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Desglicosila la IgG: pierde función efectora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1E264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03904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803904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Inhibe complemento y péptidos antimicrobianos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Enzimas que destruyen y diseminan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Fan S, Tsai CJY, Loh JMS, Proft T. Group A streptococcal virulence factors and vaccine development-an update. Microorganisms. 2026;14(2):357.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1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SpeB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234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Cistein-proteasa: degrada matriz, Ig y citocinas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029968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51B33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167128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768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Estreptocinasa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029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plasminógeno -&gt; plasmina: disuelve fibrina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57200" y="2825496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51B33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296265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7238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169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DNasas (Sda1)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0" y="28254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Degradan las NET y liberan la bacteria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3621024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3758184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67912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712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Hialuronidasa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3657600" y="36210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matriz y facilita la diseminación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Estreptolisina O y NADasa: poro y sabotaje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SLO es una citolisina dependiente de colesterol que forma poros y, además, inyecta la NADasa en el citosol (translocación mediada por citolisina).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920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54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671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671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099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644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216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216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644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189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761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761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2189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7734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306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734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278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850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850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278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8823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395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3395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8823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4368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940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940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4368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913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485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4485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913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458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0030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030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458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002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574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5574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002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547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1119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119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6547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2092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664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6664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2092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637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2209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2209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637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3182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754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754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3182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8726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3298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3298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8726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8843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8843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271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9816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4388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4388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816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361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9933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9933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5361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0906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5478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5478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0906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6450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022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1022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6450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1995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6567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6567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1995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7540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2112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42112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7540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3085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657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657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3085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8630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3202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3202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8630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4174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8746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88746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174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9719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4291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4291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9719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5264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9836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9836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5264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809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5381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5381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0809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6354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0926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0926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6354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1898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66470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66470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1898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7443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2015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82015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7443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92988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7560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7560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92988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3105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13105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4078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8650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8650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4078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9622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4194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4194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39622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5167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9739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9739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55167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70712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5284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284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0712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6257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0829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0829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86257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01802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06374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06374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01802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7346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21918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1918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7346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2891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37463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7463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2891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8436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53008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3008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8436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3981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68553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68553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3981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9526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4098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4098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79526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950708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96428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96428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50708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106156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151876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51876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106156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61604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07324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07324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261604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17052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462772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62772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17052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572500" y="237744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618220" y="2468880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18220" y="2724912"/>
            <a:ext cx="914" cy="201168"/>
          </a:xfrm>
          <a:prstGeom prst="line">
            <a:avLst/>
          </a:prstGeom>
          <a:noFill/>
          <a:ln w="19050">
            <a:solidFill>
              <a:srgbClr val="44507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72500" y="2926080"/>
            <a:ext cx="91440" cy="91440"/>
          </a:xfrm>
          <a:prstGeom prst="ellipse">
            <a:avLst/>
          </a:prstGeom>
          <a:solidFill>
            <a:srgbClr val="5A6AA8"/>
          </a:solidFill>
          <a:ln w="12700">
            <a:solidFill>
              <a:srgbClr val="5A6AA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1520" y="19659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731520" y="1965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(monómeros)</a:t>
            </a:r>
            <a:endParaRPr lang="en-US" sz="1200" dirty="0"/>
          </a:p>
        </p:txBody>
      </p:sp>
      <p:sp>
        <p:nvSpPr>
          <p:cNvPr id="221" name="Shape 219"/>
          <p:cNvSpPr/>
          <p:nvPr/>
        </p:nvSpPr>
        <p:spPr>
          <a:xfrm>
            <a:off x="2926080" y="2286000"/>
            <a:ext cx="822960" cy="82296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29260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3840480" y="2743200"/>
            <a:ext cx="731520" cy="914"/>
          </a:xfrm>
          <a:prstGeom prst="line">
            <a:avLst/>
          </a:prstGeom>
          <a:noFill/>
          <a:ln w="31750">
            <a:solidFill>
              <a:srgbClr val="F2B43C"/>
            </a:solidFill>
            <a:prstDash val="solid"/>
            <a:tailEnd type="triangle"/>
          </a:ln>
        </p:spPr>
      </p:sp>
      <p:sp>
        <p:nvSpPr>
          <p:cNvPr id="224" name="Shape 222"/>
          <p:cNvSpPr/>
          <p:nvPr/>
        </p:nvSpPr>
        <p:spPr>
          <a:xfrm>
            <a:off x="4617720" y="25146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46177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NADasa (SPN)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5486400" y="3017520"/>
            <a:ext cx="914" cy="365760"/>
          </a:xfrm>
          <a:prstGeom prst="line">
            <a:avLst/>
          </a:prstGeom>
          <a:noFill/>
          <a:ln w="31750">
            <a:solidFill>
              <a:srgbClr val="F2B43C"/>
            </a:solidFill>
            <a:prstDash val="solid"/>
            <a:tailEnd type="triangle"/>
          </a:ln>
        </p:spPr>
      </p:sp>
      <p:sp>
        <p:nvSpPr>
          <p:cNvPr id="227" name="Shape 225"/>
          <p:cNvSpPr/>
          <p:nvPr/>
        </p:nvSpPr>
        <p:spPr>
          <a:xfrm>
            <a:off x="3931920" y="342900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3986784" y="34290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 NAD+: daña la célula</a:t>
            </a:r>
            <a:endParaRPr lang="en-US" sz="1250" dirty="0"/>
          </a:p>
        </p:txBody>
      </p:sp>
      <p:sp>
        <p:nvSpPr>
          <p:cNvPr id="229" name="Shape 227"/>
          <p:cNvSpPr/>
          <p:nvPr/>
        </p:nvSpPr>
        <p:spPr>
          <a:xfrm>
            <a:off x="457200" y="34290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512064" y="34290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SLS: hemólisis, no inmunógena</a:t>
            </a:r>
            <a:endParaRPr lang="en-US" sz="1250" dirty="0"/>
          </a:p>
        </p:txBody>
      </p:sp>
      <p:sp>
        <p:nvSpPr>
          <p:cNvPr id="231" name="Shape 229"/>
          <p:cNvSpPr/>
          <p:nvPr/>
        </p:nvSpPr>
        <p:spPr>
          <a:xfrm>
            <a:off x="457200" y="397764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512064" y="3977640"/>
            <a:ext cx="811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SLO es la base de la antiestreptolisina O (ASO); lisan neutrófilos y eritrocitos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y el interruptor invasor covRS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51B33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de ácido hialurónico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 al hialuronano humano: casi no genera anticuerpos.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Antifagocitica; oculta la superficie.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cápsula se asocia a cepas invasoras.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51B33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Mutacion de covRS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CovR/S normalmente reprime cápsula, SLO, NADasa, SpeB.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inactivarse, se liberan esos factores.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 hipervirulento: fascitis y choque tóxico.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Fascitis necrosante: por qué progresa rápido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Allaw F, Wehbe S, Kanj SS. Necrotizing fasciitis: an update on epidemiology, diagnostic methods, and treatment. Curr Opin Infect Dis. 2024;37(2):105-11.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566928"/>
          </a:xfrm>
          <a:prstGeom prst="rect">
            <a:avLst/>
          </a:prstGeom>
          <a:solidFill>
            <a:srgbClr val="A07A60"/>
          </a:solidFill>
          <a:ln w="12700">
            <a:solidFill>
              <a:srgbClr val="0A0E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4206240" cy="566928"/>
          </a:xfrm>
          <a:prstGeom prst="rect">
            <a:avLst/>
          </a:prstGeom>
          <a:solidFill>
            <a:srgbClr val="C9A227"/>
          </a:solidFill>
          <a:ln w="12700">
            <a:solidFill>
              <a:srgbClr val="0A0E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83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subcutáneo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4206240" cy="566928"/>
          </a:xfrm>
          <a:prstGeom prst="rect">
            <a:avLst/>
          </a:prstGeom>
          <a:solidFill>
            <a:srgbClr val="F2546B"/>
          </a:solidFill>
          <a:ln w="12700">
            <a:solidFill>
              <a:srgbClr val="0A0E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871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(avanza aqui)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4206240" cy="566928"/>
          </a:xfrm>
          <a:prstGeom prst="rect">
            <a:avLst/>
          </a:prstGeom>
          <a:solidFill>
            <a:srgbClr val="8B2E3C"/>
          </a:solidFill>
          <a:ln w="12700">
            <a:solidFill>
              <a:srgbClr val="0A0E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90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514600"/>
            <a:ext cx="3291840" cy="914"/>
          </a:xfrm>
          <a:prstGeom prst="line">
            <a:avLst/>
          </a:prstGeom>
          <a:noFill/>
          <a:ln w="31750">
            <a:solidFill>
              <a:srgbClr val="F4F6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137160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3716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desproporcionado a lo visible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2103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de perforantes -&gt; necrosis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28346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antibiótico no llega al tejido necrótico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356616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urgente + antibiótico; clindamicina frena toxinas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Superantígenos: activacion fuera del surco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Tuffs SW, Dufresne K, Rishi A, Walton NR, McCormick JK. Novel insights into the immune response to bacterial T cell superantigens. Nat Rev Immunol. 2024;24(6):417-34.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TSST-1 (S. aureus) y SpeA/SpeC (S. pyogenes) unen el MHC-II fuera del surco y la región Vbeta del TCR, sin procesamiento antigénico.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presentadora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5146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Linfocito 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 Vbeta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331720"/>
            <a:ext cx="914400" cy="8229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2743200"/>
            <a:ext cx="196596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2743200"/>
            <a:ext cx="14173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65760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hasta 20% de linfocitos T (vs &lt;0,01%)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6576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65760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Tormenta de IL-2, IFN-gamma y TNF -&gt; choque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420624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Clinica: fuga capilar, hipotensión y falla multiorgánica; la inmunoglobulina puede neutralizar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FISIOPATOLOGÍA - S. PYOGENES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reumática: mimetismo molecular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Zhuang S, Guo D, Yu D. A mini review of the pathogenesis of acute rheumatic fever and rheumatic heart disease. Front Cell Infect Microbiol. 2025;15:1447149.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carbohidrato grupo A (GlcNAc)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5029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Anticuerpos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linfocitos 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874520"/>
            <a:ext cx="502920" cy="914"/>
          </a:xfrm>
          <a:prstGeom prst="line">
            <a:avLst/>
          </a:prstGeom>
          <a:noFill/>
          <a:ln w="31750">
            <a:solidFill>
              <a:srgbClr val="B4BCE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Reaccion cruzada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tejido propio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624328" cy="548640"/>
          </a:xfrm>
          <a:prstGeom prst="roundRect">
            <a:avLst>
              <a:gd name="adj" fmla="val 166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Miosina cardíaca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64408" y="2560320"/>
            <a:ext cx="2624328" cy="548640"/>
          </a:xfrm>
          <a:prstGeom prst="roundRect">
            <a:avLst>
              <a:gd name="adj" fmla="val 166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9272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Laminina y válvula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1616" y="2560320"/>
            <a:ext cx="2624328" cy="548640"/>
          </a:xfrm>
          <a:prstGeom prst="roundRect">
            <a:avLst>
              <a:gd name="adj" fmla="val 16667"/>
            </a:avLst>
          </a:prstGeom>
          <a:solidFill>
            <a:srgbClr val="F2546B">
              <a:alpha val="14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caudado (corea)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" y="3291840"/>
            <a:ext cx="8119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carditis, artritis, corea; a largo plazo cardiopatía reumática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2B43C">
              <a:alpha val="14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3931920"/>
            <a:ext cx="8119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semanas tras faringitis, en susceptibles; tratar la faringitis previene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SINTESIS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bacterias, dos estrategias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2344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2344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19050">
            <a:solidFill>
              <a:srgbClr val="2E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83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7830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y persiste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7830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Invade y disemina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19050">
            <a:solidFill>
              <a:srgbClr val="2E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317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331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A, cápsula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331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M, cápsula de HA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19050">
            <a:solidFill>
              <a:srgbClr val="2E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Toxina clave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28803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Alfa-toxina, PVL, PSM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8803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SLO, SpeB, estreptolisinas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19050">
            <a:solidFill>
              <a:srgbClr val="2E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4290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34290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MRSA (mecA), VISA/VRSA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4290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penicilina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51B33"/>
          </a:solidFill>
          <a:ln w="19050">
            <a:solidFill>
              <a:srgbClr val="2E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9776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9776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Persistencia, dispositivos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39776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reumática, GN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SINTESIS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molécula a la decisión clínica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Fan S, Tsai CJY, Loh JMS, Proft T. Group A streptococcal virulence factors and vaccine development-an update. Microorganisms. 2026;14(2):357.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(PBP, D-Ala-D-Ala)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2344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Beta-lactámicos, vancomicina; ceftarolina en MRSA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7830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de toxinas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78308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Clindamicina la suprime (fascitis, choque tóxico)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317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Superantígenos / toxinas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33172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Inmunoglobulina intravenosa neutralizante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803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Absceso / dispositivo / fascia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8803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foco: drenaje, retirada, desbridamiento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4290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Adhesinas, sortasa, agr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4290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Anti-virulencia (en investigación)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1E2647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776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IsdB, alfa-toxina, proteína 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9776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Dianas de vacuna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internista y el infectólogo deben llevarse</a:t>
            </a:r>
            <a:endParaRPr lang="en-US" sz="2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SINTESIS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ideas para recordar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9525">
            <a:solidFill>
              <a:srgbClr val="2E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5371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pared define la tinción, es diana de antibióticos y enciende la inmunidad innata (TLR2, NOD2).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024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828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el coco (catalasa, coagulasa, hemólisis, Lancefield) orienta sindrome y tratamiento.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46888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virulencia se regula (agr, covRS): colonizar e invadir son programas distintos.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926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persiste: adhesión, evasión del complemento, poros, biopelícula, hierro y resistencia.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6616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474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pyogenes invade y disemina: proteína M, enzimas, estreptolisinas; y deja secuelas inmunes.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64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11480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daño es del huésped: traducir molécula en decisión (antibiótico, foco, clindamicina, IGIV).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pared celular al choque séptico: una lógica molecular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4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 - Medicina interna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(Vancouver)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Wu X, Han J, Gong G, Koffas MAG, Zha J. Wall teichoic acids: physiology and applications. FEMS Microbiol Rev. 2021;45(4):fuaa064.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Egan AJF, Errington J, Vollmer W. Regulation of peptidoglycan synthesis and remodelling. Nat Rev Microbiol. 2020;18(8):446-60.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Torrens G, Cava F. Mechanisms conferring bacterial cell wall variability and adaptivity. Biochem Soc Trans. 2024;52(5):1981-93.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Bhat AH, Nguyen MT, Das A, Ton-That H. Anchoring surface proteins to the bacterial cell wall by sortase enzymes. Curr Opin Microbiol. 2021;60:73-9.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Vinodhini V, Kavitha M. Deciphering agr quorum sensing in Staphylococcus aureus: insights and therapeutic prospects. Mol Biol Rep. 2024;51(1):155.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Mohammad M, Ali A, Nguyen MT, Gotz F, Pullerits R, Jin T. Staphylococcus aureus lipoproteins in infectious diseases. Front Microbiol. 2022;13:1006765.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Speziale P, Pietrocola G. Staphylococcus aureus induces neutrophil extracellular traps (NETs) and neutralizes their bactericidal potential. Comput Struct Biotechnol J. 2021;19:3451-7.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Howden BP, Giulieri SG, Wong Fok Lung T, Baines SL, Sharkey LK, Lee JYH, et al. Staphylococcus aureus host interactions and adaptation. Nat Rev Microbiol. 2023;21(6):380-95.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Cheung GYC, Bae JS, Otto M. Pathogenicity and virulence of Staphylococcus aureus. Virulence. 2021;12(1):547-69.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Bear A, Locke T, Rowland-Jones S, Pecetta S, Bagnoli F, Darton TC. The immune evasion roles of Staphylococcus aureus protein A and impact on vaccine development. Front Cell Infect Microbiol. 2023;13:1242702.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(Vancouver) - cont.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Enriquez KT, Skaar EP. The anatomy and molecular inventory of Staphylococcus aureus abscesses. Trends Microbiol. 2026;34(6):665-76.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Peng Q, Tang X, Dong W, Sun N, Yuan W. A review of biofilm formation of Staphylococcus aureus and its regulation mechanism. Antibiotics (Basel). 2022;12(1):12.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Lade H, Kim JS. Molecular determinants of beta-lactam resistance in methicillin-resistant Staphylococcus aureus (MRSA): an updated review. Antibiotics (Basel). 2023;12(9):1362.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Brouwer S, Rivera-Hernandez T, Curren BF, Harbison-Price N, De Oliveira DMP, Jespersen MG, et al. Pathogenesis, epidemiology and control of Group A Streptococcus infection. Nat Rev Microbiol. 2023;21(7):431-47.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Bergsten H, Nizet V. The intricate pathogenicity of Group A Streptococcus: a comprehensive update. Virulence. 2024;15(1):2412745.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Wrighton S, Nordenfelt P. Revisiting the streptococcal M protein: modern perspectives on antibody function, host interactions, and therapeutic targeting. Front Immunol. 2026;17:1771053.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Fan S, Tsai CJY, Loh JMS, Proft T. Group A streptococcal virulence factors and vaccine development-an update. Microorganisms. 2026;14(2):357.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Tuffs SW, Dufresne K, Rishi A, Walton NR, McCormick JK. Novel insights into the immune response to bacterial T cell superantigens. Nat Rev Immunol. 2024;24(6):417-34.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Allaw F, Wehbe S, Kanj SS. Necrotizing fasciitis: an update on epidemiology, diagnostic methods, and treatment. Curr Opin Infect Dis. 2024;37(2):105-11.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Zhuang S, Guo D, Yu D. A mini review of the pathogenesis of acute rheumatic fever and rheumatic heart disease. Front Cell Infect Microbiol. 2025;15:1447149.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Fisiopatología molecular de las bacterias grampositivas</dc:title>
  <dc:subject>PptxGenJS Presentation</dc:subject>
  <dc:creator>Nestor Fabian Sanabria Duarte</dc:creator>
  <cp:lastModifiedBy>Nestor Fabian Sanabria Duarte</cp:lastModifiedBy>
  <cp:revision>1</cp:revision>
  <dcterms:created xsi:type="dcterms:W3CDTF">2026-10-12T00:28:09Z</dcterms:created>
  <dcterms:modified xsi:type="dcterms:W3CDTF">2026-10-12T00:28:09Z</dcterms:modified>
</cp:coreProperties>
</file>
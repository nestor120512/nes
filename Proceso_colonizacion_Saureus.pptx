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ordenado del proceso de colonizacion.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Barrera intacta vs rota.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 exporta la adhesina; SrtA la corta en LPXTG y la fija al peptidoglucano por la pentaglicina del lípido 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ClfB reconoce citoqueratina 10 y loricrina (dock-lock-latch); los WTA se unen al receptor SREC-I del epitelio nasal.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hierro bajo, Fur deja de reprimir; las estafiloferrinas A/B capturan Fe3+ y los sistemas Hts/Sir lo internalizan.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Dlt y MprF reducen la carga negativa de la envoltura: menos atracción de los péptidos antimicrobianos catiónicos.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AIP activa AgrC, que fosforila AgrA; P2/P3 producen RNAIII. En portación nasal esta vía suele estar poco activa.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Glosario de las abreviaturas usadas en el proceso de colonizacion.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 · COLONIZACIÓN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 de S. aureus, paso a paso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D7DC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Piewngam P, Otto M. Staphylococcus aureus colonisation and strategies for decolonisation. Lancet Microbe. 2024;5(6):e606-18.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Howden BP, Giulieri SG, Wong Fok Lung T, Baines SL, Sharkey LK, Lee JYH, et al. Staphylococcus aureus host interactions and adaptation. Nat Rev Microbiol. 2023;21(6):380-95.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historia en orden: de llegar a la nariz hasta diseminarse por el cuerpo.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572768" cy="2606040"/>
          </a:xfrm>
          <a:prstGeom prst="roundRect">
            <a:avLst>
              <a:gd name="adj" fmla="val 5814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1737360"/>
            <a:ext cx="420624" cy="420624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1832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77824" y="2240280"/>
            <a:ext cx="548640" cy="54864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371954"/>
            <a:ext cx="285293" cy="285293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47472" y="28803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93192" y="329184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Nariz, boca y faringe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938528" y="2377440"/>
            <a:ext cx="128016" cy="914"/>
          </a:xfrm>
          <a:prstGeom prst="line">
            <a:avLst/>
          </a:prstGeom>
          <a:noFill/>
          <a:ln w="25400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066544" y="1600200"/>
            <a:ext cx="1572768" cy="2606040"/>
          </a:xfrm>
          <a:prstGeom prst="roundRect">
            <a:avLst>
              <a:gd name="adj" fmla="val 5814"/>
            </a:avLst>
          </a:prstGeom>
          <a:solidFill>
            <a:srgbClr val="4CC9F0">
              <a:alpha val="10000"/>
            </a:srgbClr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642616" y="1737360"/>
            <a:ext cx="420624" cy="42062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642616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2578608" y="2240280"/>
            <a:ext cx="548640" cy="54864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282" y="2371954"/>
            <a:ext cx="285293" cy="285293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048256" y="28803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instala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2093976" y="329184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Epitelio nasal (escamoso) y nasofaringe (ciliado)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639312" y="2377440"/>
            <a:ext cx="128016" cy="914"/>
          </a:xfrm>
          <a:prstGeom prst="line">
            <a:avLst/>
          </a:prstGeom>
          <a:noFill/>
          <a:ln w="25400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3767328" y="1600200"/>
            <a:ext cx="1572768" cy="2606040"/>
          </a:xfrm>
          <a:prstGeom prst="roundRect">
            <a:avLst>
              <a:gd name="adj" fmla="val 5814"/>
            </a:avLst>
          </a:prstGeom>
          <a:solidFill>
            <a:srgbClr val="2EC4B6">
              <a:alpha val="10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343400" y="1737360"/>
            <a:ext cx="420624" cy="42062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34340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4279392" y="2240280"/>
            <a:ext cx="548640" cy="5486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066" y="2371954"/>
            <a:ext cx="285293" cy="285293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3749040" y="28803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Convive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3794760" y="329184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Moco, microbiota e inmunidad local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340096" y="2377440"/>
            <a:ext cx="128016" cy="914"/>
          </a:xfrm>
          <a:prstGeom prst="line">
            <a:avLst/>
          </a:prstGeom>
          <a:noFill/>
          <a:ln w="25400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5468112" y="1600200"/>
            <a:ext cx="1572768" cy="2606040"/>
          </a:xfrm>
          <a:prstGeom prst="roundRect">
            <a:avLst>
              <a:gd name="adj" fmla="val 5814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044184" y="1737360"/>
            <a:ext cx="420624" cy="420624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044184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Shape 30"/>
          <p:cNvSpPr/>
          <p:nvPr/>
        </p:nvSpPr>
        <p:spPr>
          <a:xfrm>
            <a:off x="5980176" y="2240280"/>
            <a:ext cx="548640" cy="54864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850" y="2371954"/>
            <a:ext cx="285293" cy="285293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5449824" y="28803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 la barrera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5495544" y="329184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Herida, cirugía o inflamación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7040880" y="2377440"/>
            <a:ext cx="128016" cy="914"/>
          </a:xfrm>
          <a:prstGeom prst="line">
            <a:avLst/>
          </a:prstGeom>
          <a:noFill/>
          <a:ln w="25400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40" name="Shape 34"/>
          <p:cNvSpPr/>
          <p:nvPr/>
        </p:nvSpPr>
        <p:spPr>
          <a:xfrm>
            <a:off x="7168896" y="1600200"/>
            <a:ext cx="1572768" cy="2606040"/>
          </a:xfrm>
          <a:prstGeom prst="roundRect">
            <a:avLst>
              <a:gd name="adj" fmla="val 5814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7744968" y="1737360"/>
            <a:ext cx="420624" cy="42062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7744968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3" name="Shape 37"/>
          <p:cNvSpPr/>
          <p:nvPr/>
        </p:nvSpPr>
        <p:spPr>
          <a:xfrm>
            <a:off x="7680960" y="2240280"/>
            <a:ext cx="548640" cy="5486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2634" y="2371954"/>
            <a:ext cx="285293" cy="285293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7150608" y="28803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Disemina</a:t>
            </a:r>
            <a:endParaRPr lang="en-US" sz="1500" dirty="0"/>
          </a:p>
        </p:txBody>
      </p:sp>
      <p:sp>
        <p:nvSpPr>
          <p:cNvPr id="46" name="Text 39"/>
          <p:cNvSpPr txBox="1"/>
          <p:nvPr/>
        </p:nvSpPr>
        <p:spPr>
          <a:xfrm>
            <a:off x="7196328" y="329184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Sangre, pulmón e intestino (reservorio)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 · COLONIZACIÓN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intacta frente a barrera rota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D7DC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Piewngam P, Otto M. Staphylococcus aureus colonisation and strategies for decolonisation. Lancet Microbe. 2024;5(6):e606-18.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788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4069080"/>
            <a:ext cx="4023360" cy="384048"/>
          </a:xfrm>
          <a:prstGeom prst="roundRect">
            <a:avLst>
              <a:gd name="adj" fmla="val 23810"/>
            </a:avLst>
          </a:prstGeom>
          <a:solidFill>
            <a:srgbClr val="2EC4B6">
              <a:alpha val="10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" y="406908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Intacta: la bacteria coloniza sin enfermar; la inmunidad local la contiene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4069080"/>
            <a:ext cx="4023360" cy="384048"/>
          </a:xfrm>
          <a:prstGeom prst="roundRect">
            <a:avLst>
              <a:gd name="adj" fmla="val 23810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18304" y="406908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Rota: atraviesa el epitelio, llega a tejidos y sangre → infección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ANCLAJE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 bacteria construye sus puntos de anclaje»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D7DC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Bhat AH, Nguyen MT, Das A, Ton-That H. Anchoring surface proteins to the bacterial cell wall by sortase enzymes: how it started and what we know now. Curr Opin Microbiol. 2021;60:73-9.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Schwermann N, Winstel V. Functional diversity of staphylococcal surface proteins at the host-microbe interface. Front Microbiol. 2023;14:1196957.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07008"/>
            <a:ext cx="8503920" cy="28712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114800"/>
            <a:ext cx="8503920" cy="329184"/>
          </a:xfrm>
          <a:prstGeom prst="roundRect">
            <a:avLst>
              <a:gd name="adj" fmla="val 27778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4904" y="4114800"/>
            <a:ext cx="8394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exporta la adhesina; SrtA la corta en LPXTG y la fija al peptidoglucano por la pentaglicina del lípido II.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ADHESIÓN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«Adherirse exige reconocer al huésped»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D7DC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Schwermann N, Winstel V. Functional diversity of staphylococcal surface proteins at the host-microbe interface. Front Microbiol. 2023;14:1196957.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Piewngam P, Otto M. Staphylococcus aureus colonisation and strategies for decolonisation. Lancet Microbe. 2024;5(6):e606-18.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07008"/>
            <a:ext cx="8503920" cy="28712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114800"/>
            <a:ext cx="8503920" cy="329184"/>
          </a:xfrm>
          <a:prstGeom prst="roundRect">
            <a:avLst>
              <a:gd name="adj" fmla="val 27778"/>
            </a:avLst>
          </a:prstGeom>
          <a:solidFill>
            <a:srgbClr val="2EC4B6">
              <a:alpha val="10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4904" y="4114800"/>
            <a:ext cx="8394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ClfB reconoce citoqueratina 10 y loricrina (dock-lock-latch); los WTA se unen al receptor SREC-I del epitelio nasal.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HIERRO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«Persistir exige superar la restricción nutricional»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D7DC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Burian M, Wolz C, Yazdi AS. Transcriptional adaptation of staphylococci during colonization of the authentic human environment. Front Cell Infect Microbiol. 2022;12:1062329.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Schwermann N, Winstel V. Functional diversity of staphylococcal surface proteins at the host-microbe interface. Front Microbiol. 2023;14:1196957.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07008"/>
            <a:ext cx="8503920" cy="28712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114800"/>
            <a:ext cx="8503920" cy="329184"/>
          </a:xfrm>
          <a:prstGeom prst="roundRect">
            <a:avLst>
              <a:gd name="adj" fmla="val 27778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4904" y="4114800"/>
            <a:ext cx="8394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hierro bajo, Fur deja de reprimir; las estafiloferrinas A/B capturan Fe3+ y los sistemas Hts/Sir lo internalizan.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ENVOLTURA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 envoltura se blinda ante las defensas locales»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D7DC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Bleul L, Francois P, Wolz C. Two-component systems of S. aureus: signaling and sensing mechanisms. Genes (Basel). 2022;13(1):34.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Schwermann N, Winstel V. Functional diversity of staphylococcal surface proteins at the host-microbe interface. Front Microbiol. 2023;14:1196957.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07008"/>
            <a:ext cx="8503920" cy="28712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114800"/>
            <a:ext cx="8503920" cy="329184"/>
          </a:xfrm>
          <a:prstGeom prst="roundRect">
            <a:avLst>
              <a:gd name="adj" fmla="val 27778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4904" y="4114800"/>
            <a:ext cx="8394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y MprF reducen la carga negativa de la envoltura: menos atracción de los péptidos antimicrobianos catiónicos.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REGULACIÓN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«Colonizar implica regular crecimiento y toxicidad»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D7DC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Bleul L, Francois P, Wolz C. Two-component systems of S. aureus: signaling and sensing mechanisms. Genes (Basel). 2022;13(1):34.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Piewngam P, Otto M. Staphylococcus aureus colonisation and strategies for decolonisation. Lancet Microbe. 2024;5(6):e606-18.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07008"/>
            <a:ext cx="8503920" cy="28712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114800"/>
            <a:ext cx="8503920" cy="329184"/>
          </a:xfrm>
          <a:prstGeom prst="roundRect">
            <a:avLst>
              <a:gd name="adj" fmla="val 27778"/>
            </a:avLst>
          </a:prstGeom>
          <a:solidFill>
            <a:srgbClr val="4CC9F0">
              <a:alpha val="10000"/>
            </a:srgbClr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4904" y="4114800"/>
            <a:ext cx="8394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activa AgrC, que fosforila AgrA; P2/P3 producen RNAIII. En portación nasal esta vía suele estar poco activa.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 cada abreviatura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D7DC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Schwermann N, Winstel V. Functional diversity of staphylococcal surface proteins at the host-microbe interface. Front Microbiol. 2023;14:1196957.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Bleul L, Francois P, Wolz C. Two-component systems of S. aureus: signaling and sensing mechanisms. Genes (Basel). 2022;13(1):34.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5272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527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123444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secreción general: exporta proteínas por la membrana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68196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56819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154990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sortasa A: ancla proteínas a la pared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883664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18836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LPXTG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186537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que corta la sortasa (Leu-Pro-X-Thr-Gly)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19913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1991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ClfB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218084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 aglutinación B (adhesina)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2514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249631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determinante de superficie regulado por hierro 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83006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28300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WTA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281178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teicoico de pared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145536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1455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LTA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312724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lipoteicoico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461004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34610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SREC-I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691640" y="344271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 "scavenger" del epitelio nasal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377647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3776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CK10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691640" y="375818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citoqueratina 10 (diana de ClfB)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091940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40919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MSCRAMM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691640" y="407365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adhesinas que reconocen la matriz del huésped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125272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63440" y="12527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897880" y="123444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regulador por hierro (ferric uptake regulator)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1568196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663440" y="156819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Hts / Sir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5897880" y="154990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transportadores de estafiloferrina A / B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663440" y="1883664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663440" y="18836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5897880" y="186537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D-alanilación de ácidos teicoicos (DltABCD)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63440" y="219913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663440" y="21991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MprF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5897880" y="218084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a péptidos (lisil-fosfatidilglicerol)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663440" y="2514600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663440" y="2514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OatA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5897880" y="249631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O-acetila el ácido N-acetilmurámico (vs lisozima)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663440" y="283006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663440" y="28300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GraS/GraR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5897880" y="281178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dos componentes: sensa péptidos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663440" y="3145536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663440" y="31455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5897880" y="312724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péptido antimicrobiano del huésped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663440" y="3461004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663440" y="34610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5897880" y="344271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péptido autoinductor del sistema agr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663440" y="377647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663440" y="3776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 / RNAIII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5897880" y="375818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 sensing y su ARN efector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663440" y="4091940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663440" y="40919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WalKR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5897880" y="407365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esencial de remodelación de la pared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Cocos grampositivos (fondo blanco)</dc:title>
  <dc:subject>PptxGenJS Presentation</dc:subject>
  <dc:creator>Nestor Fabian Sanabria Duarte</dc:creator>
  <cp:lastModifiedBy>Nestor Fabian Sanabria Duarte</cp:lastModifiedBy>
  <cp:revision>1</cp:revision>
  <dcterms:created xsi:type="dcterms:W3CDTF">2026-10-13T03:38:25Z</dcterms:created>
  <dcterms:modified xsi:type="dcterms:W3CDTF">2026-10-13T03:38:25Z</dcterms:modified>
</cp:coreProperties>
</file>
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Infecciones por grampositivos: de la colonizacion al choque septico. Ilustracion original: racimo dorado (Staphylococcus) y cadena roja (Streptococcus).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Agenda: objetivo, anatomia, fisiologia, fisiopatologia y conclusion.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general: comprender los mecanismos fisiopatologicos de las infecciones por grampositivos, con enfasis en virulencia, evasion inmunitaria y dano tisular.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AA0C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AA0C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29400" y="1051560"/>
            <a:ext cx="475488" cy="475488"/>
          </a:xfrm>
          <a:prstGeom prst="ellipse">
            <a:avLst/>
          </a:prstGeom>
          <a:solidFill>
            <a:srgbClr val="F2B43C"/>
          </a:solidFill>
          <a:ln w="12700">
            <a:solidFill>
              <a:srgbClr val="D7DC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086600" y="1143000"/>
            <a:ext cx="475488" cy="475488"/>
          </a:xfrm>
          <a:prstGeom prst="ellipse">
            <a:avLst/>
          </a:prstGeom>
          <a:solidFill>
            <a:srgbClr val="F2B43C"/>
          </a:solidFill>
          <a:ln w="12700">
            <a:solidFill>
              <a:srgbClr val="D7DCE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1508760"/>
            <a:ext cx="475488" cy="475488"/>
          </a:xfrm>
          <a:prstGeom prst="ellipse">
            <a:avLst/>
          </a:prstGeom>
          <a:solidFill>
            <a:srgbClr val="F2B43C"/>
          </a:solidFill>
          <a:ln w="12700">
            <a:solidFill>
              <a:srgbClr val="D7DC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0" y="1554480"/>
            <a:ext cx="475488" cy="475488"/>
          </a:xfrm>
          <a:prstGeom prst="ellipse">
            <a:avLst/>
          </a:prstGeom>
          <a:solidFill>
            <a:srgbClr val="F2B43C"/>
          </a:solidFill>
          <a:ln w="12700">
            <a:solidFill>
              <a:srgbClr val="D7DC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20840" y="1920240"/>
            <a:ext cx="475488" cy="475488"/>
          </a:xfrm>
          <a:prstGeom prst="ellipse">
            <a:avLst/>
          </a:prstGeom>
          <a:solidFill>
            <a:srgbClr val="F2B43C"/>
          </a:solidFill>
          <a:ln w="12700">
            <a:solidFill>
              <a:srgbClr val="D7DC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78040" y="1965960"/>
            <a:ext cx="475488" cy="475488"/>
          </a:xfrm>
          <a:prstGeom prst="ellipse">
            <a:avLst/>
          </a:prstGeom>
          <a:solidFill>
            <a:srgbClr val="F2B43C"/>
          </a:solidFill>
          <a:ln w="12700">
            <a:solidFill>
              <a:srgbClr val="D7DC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0" y="1234440"/>
            <a:ext cx="475488" cy="475488"/>
          </a:xfrm>
          <a:prstGeom prst="ellipse">
            <a:avLst/>
          </a:prstGeom>
          <a:solidFill>
            <a:srgbClr val="F2B43C"/>
          </a:solidFill>
          <a:ln w="12700">
            <a:solidFill>
              <a:srgbClr val="D7DC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43800" y="1737360"/>
            <a:ext cx="475488" cy="475488"/>
          </a:xfrm>
          <a:prstGeom prst="ellipse">
            <a:avLst/>
          </a:prstGeom>
          <a:solidFill>
            <a:srgbClr val="F2B43C"/>
          </a:solidFill>
          <a:ln w="12700">
            <a:solidFill>
              <a:srgbClr val="D7DC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3200400"/>
            <a:ext cx="402336" cy="402336"/>
          </a:xfrm>
          <a:prstGeom prst="ellipse">
            <a:avLst/>
          </a:prstGeom>
          <a:solidFill>
            <a:srgbClr val="F2546B"/>
          </a:solidFill>
          <a:ln w="12700">
            <a:solidFill>
              <a:srgbClr val="D7DC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12280" y="3364992"/>
            <a:ext cx="402336" cy="402336"/>
          </a:xfrm>
          <a:prstGeom prst="ellipse">
            <a:avLst/>
          </a:prstGeom>
          <a:solidFill>
            <a:srgbClr val="F2546B"/>
          </a:solidFill>
          <a:ln w="12700">
            <a:solidFill>
              <a:srgbClr val="D7DC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86600" y="3529584"/>
            <a:ext cx="402336" cy="402336"/>
          </a:xfrm>
          <a:prstGeom prst="ellipse">
            <a:avLst/>
          </a:prstGeom>
          <a:solidFill>
            <a:srgbClr val="F2546B"/>
          </a:solidFill>
          <a:ln w="12700">
            <a:solidFill>
              <a:srgbClr val="D7DC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0920" y="3694176"/>
            <a:ext cx="402336" cy="402336"/>
          </a:xfrm>
          <a:prstGeom prst="ellipse">
            <a:avLst/>
          </a:prstGeom>
          <a:solidFill>
            <a:srgbClr val="F2546B"/>
          </a:solidFill>
          <a:ln w="12700">
            <a:solidFill>
              <a:srgbClr val="D7DCE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35240" y="3858768"/>
            <a:ext cx="402336" cy="402336"/>
          </a:xfrm>
          <a:prstGeom prst="ellipse">
            <a:avLst/>
          </a:prstGeom>
          <a:solidFill>
            <a:srgbClr val="F2546B"/>
          </a:solidFill>
          <a:ln w="12700">
            <a:solidFill>
              <a:srgbClr val="D7DC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09560" y="4023360"/>
            <a:ext cx="402336" cy="402336"/>
          </a:xfrm>
          <a:prstGeom prst="ellipse">
            <a:avLst/>
          </a:prstGeom>
          <a:solidFill>
            <a:srgbClr val="F2546B"/>
          </a:solidFill>
          <a:ln w="12700">
            <a:solidFill>
              <a:srgbClr val="D7DC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3880" y="4187952"/>
            <a:ext cx="402336" cy="402336"/>
          </a:xfrm>
          <a:prstGeom prst="ellipse">
            <a:avLst/>
          </a:prstGeom>
          <a:solidFill>
            <a:srgbClr val="F2546B"/>
          </a:solidFill>
          <a:ln w="12700">
            <a:solidFill>
              <a:srgbClr val="D7DCE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9144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INFECCIONES POR GRAMPOSITIVOS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3258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Grampositivos</a:t>
            </a:r>
            <a:endParaRPr lang="en-US" sz="5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23774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colonización al choque séptico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79476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Fabián Sanabria Duarte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18795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Residente de Medicina Interna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48056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Libre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 la exposición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554480"/>
            <a:ext cx="1572768" cy="1920240"/>
          </a:xfrm>
          <a:prstGeom prst="roundRect">
            <a:avLst>
              <a:gd name="adj" fmla="val 5814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1737360"/>
            <a:ext cx="157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347472" y="2514600"/>
            <a:ext cx="1609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066544" y="1554480"/>
            <a:ext cx="1572768" cy="1920240"/>
          </a:xfrm>
          <a:prstGeom prst="roundRect">
            <a:avLst>
              <a:gd name="adj" fmla="val 5814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066544" y="1737360"/>
            <a:ext cx="157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2048256" y="2514600"/>
            <a:ext cx="1609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Anatomía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767328" y="1554480"/>
            <a:ext cx="1572768" cy="1920240"/>
          </a:xfrm>
          <a:prstGeom prst="roundRect">
            <a:avLst>
              <a:gd name="adj" fmla="val 5814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67328" y="1737360"/>
            <a:ext cx="157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2514600"/>
            <a:ext cx="1609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Fisiología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68112" y="1554480"/>
            <a:ext cx="1572768" cy="1920240"/>
          </a:xfrm>
          <a:prstGeom prst="roundRect">
            <a:avLst>
              <a:gd name="adj" fmla="val 5814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68112" y="1737360"/>
            <a:ext cx="157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5449824" y="2514600"/>
            <a:ext cx="1609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Fisiopatología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168896" y="1554480"/>
            <a:ext cx="1572768" cy="1920240"/>
          </a:xfrm>
          <a:prstGeom prst="roundRect">
            <a:avLst>
              <a:gd name="adj" fmla="val 5814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68896" y="1737360"/>
            <a:ext cx="157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7150608" y="2514600"/>
            <a:ext cx="1609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AA0C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109728" cy="128016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12801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219456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86968" y="320040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queremos comprender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01 - OBJETIVO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507992"/>
            <a:ext cx="822960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53712"/>
            <a:ext cx="7818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Howden BP, Giulieri SG, Wong Fok Lung T, Baines SL, Sharkey LK, Lee JYH, et al. Staphylococcus aureus host interactions and adaptation. Nat Rev Microbiol. 2023;21(6):380-95.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Brouwer S, Rivera-Hernandez T, Curren BF, Harbison-Price N, De Oliveira DMP, Jespersen MG, et al. Pathogenesis, epidemiology and control of Group A Streptococcus infection. Nat Rev Microbiol. 2023;21(7):431-47.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8229600" cy="1371600"/>
          </a:xfrm>
          <a:prstGeom prst="roundRect">
            <a:avLst>
              <a:gd name="adj" fmla="val 6667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37160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Comprender los mecanismos fisiopatológicos de las infecciones por bacterias grampositivas, enfatizando la virulencia, la evasión inmunitaria y el daño tisular.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57200" y="2880360"/>
            <a:ext cx="2624328" cy="1417320"/>
          </a:xfrm>
          <a:prstGeom prst="roundRect">
            <a:avLst>
              <a:gd name="adj" fmla="val 6452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08176" y="3017520"/>
            <a:ext cx="731520" cy="7315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3741" y="3193085"/>
            <a:ext cx="380390" cy="38039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57200" y="384048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Virulencia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187952"/>
            <a:ext cx="262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ataca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264408" y="2880360"/>
            <a:ext cx="2624328" cy="1417320"/>
          </a:xfrm>
          <a:prstGeom prst="roundRect">
            <a:avLst>
              <a:gd name="adj" fmla="val 6452"/>
            </a:avLst>
          </a:prstGeom>
          <a:solidFill>
            <a:srgbClr val="F4F6FD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15384" y="3017520"/>
            <a:ext cx="731520" cy="73152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49" y="3193085"/>
            <a:ext cx="380390" cy="38039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264408" y="384048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Evasión inmunitaria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3264408" y="4187952"/>
            <a:ext cx="262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escapa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071616" y="2880360"/>
            <a:ext cx="2624328" cy="1417320"/>
          </a:xfrm>
          <a:prstGeom prst="roundRect">
            <a:avLst>
              <a:gd name="adj" fmla="val 6452"/>
            </a:avLst>
          </a:prstGeom>
          <a:solidFill>
            <a:srgbClr val="F4F6FD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022592" y="3017520"/>
            <a:ext cx="731520" cy="7315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57" y="3193085"/>
            <a:ext cx="380390" cy="38039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071616" y="384048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tisular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6071616" y="4187952"/>
            <a:ext cx="262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lesiona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AA0C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Cocos grampositivos (plantilla fondo blanco)</dc:title>
  <dc:subject>PptxGenJS Presentation</dc:subject>
  <dc:creator>Nestor Fabian Sanabria Duarte</dc:creator>
  <cp:lastModifiedBy>Nestor Fabian Sanabria Duarte</cp:lastModifiedBy>
  <cp:revision>1</cp:revision>
  <dcterms:created xsi:type="dcterms:W3CDTF">2026-10-12T13:50:27Z</dcterms:created>
  <dcterms:modified xsi:type="dcterms:W3CDTF">2026-10-12T13:50:27Z</dcterms:modified>
</cp:coreProperties>
</file>
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4.xml" ContentType="application/vnd.openxmlformats-officedocument.drawingml.chart+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99"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6159"/>
  </p:normalViewPr>
  <p:slideViewPr>
    <p:cSldViewPr snapToGrid="0" snapToObjects="1">
      <p:cViewPr varScale="1">
        <p:scale>
          <a:sx n="157" d="100"/>
          <a:sy n="157" d="100"/>
        </p:scale>
        <p:origin x="344"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Hoja_de_c_lculo_de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Hoja_de_c_lculo_de_Microsoft_Excel2.xlsx"/></Relationships>
</file>

<file path=ppt/charts/_rels/chart4.xml.rels><?xml version="1.0" encoding="UTF-8" standalone="yes"?>
<Relationships xmlns="http://schemas.openxmlformats.org/package/2006/relationships"><Relationship Id="rId1" Type="http://schemas.openxmlformats.org/officeDocument/2006/relationships/package" Target="../embeddings/Hoja_de_c_lculo_de_Microsoft_Excel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barChart>
        <c:barDir val="bar"/>
        <c:grouping val="clustered"/>
        <c:varyColors val="0"/>
        <c:ser>
          <c:idx val="0"/>
          <c:order val="0"/>
          <c:tx>
            <c:strRef>
              <c:f>Sheet1!$B$1</c:f>
              <c:strCache>
                <c:ptCount val="1"/>
                <c:pt idx="0">
                  <c:v>Pacientes</c:v>
                </c:pt>
              </c:strCache>
            </c:strRef>
          </c:tx>
          <c:spPr>
            <a:solidFill>
              <a:srgbClr val="FF4D6D"/>
            </a:solidFill>
            <a:effectLst/>
          </c:spPr>
          <c:invertIfNegative val="0"/>
          <c:dLbls>
            <c:numFmt formatCode="0%" sourceLinked="0"/>
            <c:spPr>
              <a:noFill/>
              <a:ln>
                <a:noFill/>
              </a:ln>
              <a:effectLst/>
            </c:spPr>
            <c:txPr>
              <a:bodyPr/>
              <a:lstStyle/>
              <a:p>
                <a:pPr>
                  <a:defRPr sz="1500" b="1" i="0" u="none" strike="noStrike">
                    <a:solidFill>
                      <a:srgbClr val="15193A"/>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Muñeca</c:v>
                </c:pt>
                <c:pt idx="1">
                  <c:v>MCF e IFP</c:v>
                </c:pt>
                <c:pt idx="2">
                  <c:v>Rodilla</c:v>
                </c:pt>
                <c:pt idx="3">
                  <c:v>MTF</c:v>
                </c:pt>
              </c:strCache>
            </c:strRef>
          </c:cat>
          <c:val>
            <c:numRef>
              <c:f>Sheet1!$B$2:$B$5</c:f>
              <c:numCache>
                <c:formatCode>General</c:formatCode>
                <c:ptCount val="4"/>
                <c:pt idx="0">
                  <c:v>0.75</c:v>
                </c:pt>
                <c:pt idx="1">
                  <c:v>0.65</c:v>
                </c:pt>
                <c:pt idx="2">
                  <c:v>0.5</c:v>
                </c:pt>
                <c:pt idx="3">
                  <c:v>0.45</c:v>
                </c:pt>
              </c:numCache>
            </c:numRef>
          </c:val>
          <c:extLst>
            <c:ext xmlns:c16="http://schemas.microsoft.com/office/drawing/2014/chart" uri="{C3380CC4-5D6E-409C-BE32-E72D297353CC}">
              <c16:uniqueId val="{00000000-DA3D-2F46-BE80-71D19B56423C}"/>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5193A"/>
                </a:solidFill>
                <a:latin typeface="Calibri"/>
              </a:defRPr>
            </a:pPr>
            <a:endParaRPr lang="en-US"/>
          </a:p>
        </c:txPr>
        <c:crossAx val="2094734552"/>
        <c:crosses val="autoZero"/>
        <c:auto val="1"/>
        <c:lblAlgn val="ctr"/>
        <c:lblOffset val="100"/>
        <c:noMultiLvlLbl val="1"/>
      </c:catAx>
      <c:valAx>
        <c:axId val="2094734552"/>
        <c:scaling>
          <c:orientation val="minMax"/>
          <c:max val="0.9"/>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barChart>
        <c:barDir val="col"/>
        <c:grouping val="clustered"/>
        <c:varyColors val="0"/>
        <c:ser>
          <c:idx val="0"/>
          <c:order val="0"/>
          <c:tx>
            <c:strRef>
              <c:f>Sheet1!$B$1</c:f>
              <c:strCache>
                <c:ptCount val="1"/>
                <c:pt idx="0">
                  <c:v>Anti-CCP</c:v>
                </c:pt>
              </c:strCache>
            </c:strRef>
          </c:tx>
          <c:spPr>
            <a:solidFill>
              <a:srgbClr val="4CC9F0"/>
            </a:solidFill>
            <a:effectLst/>
          </c:spPr>
          <c:invertIfNegative val="0"/>
          <c:dLbls>
            <c:numFmt formatCode="0%" sourceLinked="0"/>
            <c:spPr>
              <a:noFill/>
              <a:ln>
                <a:noFill/>
              </a:ln>
              <a:effectLst/>
            </c:spPr>
            <c:txPr>
              <a:bodyPr/>
              <a:lstStyle/>
              <a:p>
                <a:pPr>
                  <a:defRPr sz="1400" b="1" i="0" u="none" strike="noStrike">
                    <a:solidFill>
                      <a:srgbClr val="15193A"/>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Sensibilidad</c:v>
                </c:pt>
                <c:pt idx="1">
                  <c:v>Especificidad</c:v>
                </c:pt>
              </c:strCache>
            </c:strRef>
          </c:cat>
          <c:val>
            <c:numRef>
              <c:f>Sheet1!$B$2:$B$3</c:f>
              <c:numCache>
                <c:formatCode>General</c:formatCode>
                <c:ptCount val="2"/>
                <c:pt idx="0">
                  <c:v>0.67</c:v>
                </c:pt>
                <c:pt idx="1">
                  <c:v>0.95</c:v>
                </c:pt>
              </c:numCache>
            </c:numRef>
          </c:val>
          <c:extLst>
            <c:ext xmlns:c16="http://schemas.microsoft.com/office/drawing/2014/chart" uri="{C3380CC4-5D6E-409C-BE32-E72D297353CC}">
              <c16:uniqueId val="{00000000-A349-9443-993D-D5DBD36716BE}"/>
            </c:ext>
          </c:extLst>
        </c:ser>
        <c:ser>
          <c:idx val="1"/>
          <c:order val="1"/>
          <c:tx>
            <c:strRef>
              <c:f>Sheet1!$C$1</c:f>
              <c:strCache>
                <c:ptCount val="1"/>
                <c:pt idx="0">
                  <c:v>FR IgM</c:v>
                </c:pt>
              </c:strCache>
            </c:strRef>
          </c:tx>
          <c:spPr>
            <a:solidFill>
              <a:srgbClr val="7F88B5"/>
            </a:solidFill>
            <a:effectLst/>
          </c:spPr>
          <c:invertIfNegative val="0"/>
          <c:dLbls>
            <c:numFmt formatCode="0%" sourceLinked="0"/>
            <c:spPr>
              <a:noFill/>
              <a:ln>
                <a:noFill/>
              </a:ln>
              <a:effectLst/>
            </c:spPr>
            <c:txPr>
              <a:bodyPr/>
              <a:lstStyle/>
              <a:p>
                <a:pPr>
                  <a:defRPr sz="1400" b="1" i="0" u="none" strike="noStrike">
                    <a:solidFill>
                      <a:srgbClr val="15193A"/>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Sensibilidad</c:v>
                </c:pt>
                <c:pt idx="1">
                  <c:v>Especificidad</c:v>
                </c:pt>
              </c:strCache>
            </c:strRef>
          </c:cat>
          <c:val>
            <c:numRef>
              <c:f>Sheet1!$C$2:$C$3</c:f>
              <c:numCache>
                <c:formatCode>General</c:formatCode>
                <c:ptCount val="2"/>
                <c:pt idx="0">
                  <c:v>0.69</c:v>
                </c:pt>
                <c:pt idx="1">
                  <c:v>0.85</c:v>
                </c:pt>
              </c:numCache>
            </c:numRef>
          </c:val>
          <c:extLst>
            <c:ext xmlns:c16="http://schemas.microsoft.com/office/drawing/2014/chart" uri="{C3380CC4-5D6E-409C-BE32-E72D297353CC}">
              <c16:uniqueId val="{00000001-A349-9443-993D-D5DBD36716B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5193A"/>
                </a:solidFill>
                <a:latin typeface="Calibri"/>
              </a:defRPr>
            </a:pPr>
            <a:endParaRPr lang="en-US"/>
          </a:p>
        </c:txPr>
        <c:crossAx val="2094734552"/>
        <c:crosses val="autoZero"/>
        <c:auto val="1"/>
        <c:lblAlgn val="ctr"/>
        <c:lblOffset val="100"/>
        <c:noMultiLvlLbl val="1"/>
      </c:catAx>
      <c:valAx>
        <c:axId val="2094734552"/>
        <c:scaling>
          <c:orientation val="minMax"/>
          <c:max val="1.100000000000000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solidFill>
                <a:srgbClr val="15193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barChart>
        <c:barDir val="col"/>
        <c:grouping val="clustered"/>
        <c:varyColors val="0"/>
        <c:ser>
          <c:idx val="0"/>
          <c:order val="0"/>
          <c:tx>
            <c:strRef>
              <c:f>Sheet1!$B$1</c:f>
              <c:strCache>
                <c:ptCount val="1"/>
                <c:pt idx="0">
                  <c:v>Antes de la prueba</c:v>
                </c:pt>
              </c:strCache>
            </c:strRef>
          </c:tx>
          <c:spPr>
            <a:solidFill>
              <a:srgbClr val="5B6699"/>
            </a:solidFill>
            <a:effectLst/>
          </c:spPr>
          <c:invertIfNegative val="0"/>
          <c:dLbls>
            <c:numFmt formatCode="0%" sourceLinked="0"/>
            <c:spPr>
              <a:noFill/>
              <a:ln>
                <a:noFill/>
              </a:ln>
              <a:effectLst/>
            </c:spPr>
            <c:txPr>
              <a:bodyPr/>
              <a:lstStyle/>
              <a:p>
                <a:pPr>
                  <a:defRPr sz="1200" b="1" i="0" u="none" strike="noStrike">
                    <a:solidFill>
                      <a:srgbClr val="15193A"/>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Artralgias sin sinovitis</c:v>
                </c:pt>
                <c:pt idx="1">
                  <c:v>Sospecha baja</c:v>
                </c:pt>
                <c:pt idx="2">
                  <c:v>Sospecha moderada</c:v>
                </c:pt>
                <c:pt idx="3">
                  <c:v>Sinovitis típica</c:v>
                </c:pt>
              </c:strCache>
            </c:strRef>
          </c:cat>
          <c:val>
            <c:numRef>
              <c:f>Sheet1!$B$2:$B$5</c:f>
              <c:numCache>
                <c:formatCode>General</c:formatCode>
                <c:ptCount val="4"/>
                <c:pt idx="0">
                  <c:v>0.02</c:v>
                </c:pt>
                <c:pt idx="1">
                  <c:v>0.1</c:v>
                </c:pt>
                <c:pt idx="2">
                  <c:v>0.3</c:v>
                </c:pt>
                <c:pt idx="3">
                  <c:v>0.5</c:v>
                </c:pt>
              </c:numCache>
            </c:numRef>
          </c:val>
          <c:extLst>
            <c:ext xmlns:c16="http://schemas.microsoft.com/office/drawing/2014/chart" uri="{C3380CC4-5D6E-409C-BE32-E72D297353CC}">
              <c16:uniqueId val="{00000000-EE22-8B44-B9B6-5C30964A3AD7}"/>
            </c:ext>
          </c:extLst>
        </c:ser>
        <c:ser>
          <c:idx val="1"/>
          <c:order val="1"/>
          <c:tx>
            <c:strRef>
              <c:f>Sheet1!$C$1</c:f>
              <c:strCache>
                <c:ptCount val="1"/>
                <c:pt idx="0">
                  <c:v>Tras anti-CCP positivo</c:v>
                </c:pt>
              </c:strCache>
            </c:strRef>
          </c:tx>
          <c:spPr>
            <a:solidFill>
              <a:srgbClr val="4CC9F0"/>
            </a:solidFill>
            <a:effectLst/>
          </c:spPr>
          <c:invertIfNegative val="0"/>
          <c:dLbls>
            <c:numFmt formatCode="0%" sourceLinked="0"/>
            <c:spPr>
              <a:noFill/>
              <a:ln>
                <a:noFill/>
              </a:ln>
              <a:effectLst/>
            </c:spPr>
            <c:txPr>
              <a:bodyPr/>
              <a:lstStyle/>
              <a:p>
                <a:pPr>
                  <a:defRPr sz="1200" b="1" i="0" u="none" strike="noStrike">
                    <a:solidFill>
                      <a:srgbClr val="15193A"/>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Artralgias sin sinovitis</c:v>
                </c:pt>
                <c:pt idx="1">
                  <c:v>Sospecha baja</c:v>
                </c:pt>
                <c:pt idx="2">
                  <c:v>Sospecha moderada</c:v>
                </c:pt>
                <c:pt idx="3">
                  <c:v>Sinovitis típica</c:v>
                </c:pt>
              </c:strCache>
            </c:strRef>
          </c:cat>
          <c:val>
            <c:numRef>
              <c:f>Sheet1!$C$2:$C$5</c:f>
              <c:numCache>
                <c:formatCode>General</c:formatCode>
                <c:ptCount val="4"/>
                <c:pt idx="0">
                  <c:v>0.20300000000000001</c:v>
                </c:pt>
                <c:pt idx="1">
                  <c:v>0.58099999999999996</c:v>
                </c:pt>
                <c:pt idx="2">
                  <c:v>0.84199999999999997</c:v>
                </c:pt>
                <c:pt idx="3">
                  <c:v>0.92600000000000005</c:v>
                </c:pt>
              </c:numCache>
            </c:numRef>
          </c:val>
          <c:extLst>
            <c:ext xmlns:c16="http://schemas.microsoft.com/office/drawing/2014/chart" uri="{C3380CC4-5D6E-409C-BE32-E72D297353CC}">
              <c16:uniqueId val="{00000001-EE22-8B44-B9B6-5C30964A3AD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50" b="0" i="0" u="none" strike="noStrike">
                <a:solidFill>
                  <a:srgbClr val="15193A"/>
                </a:solidFill>
                <a:latin typeface="Calibri"/>
              </a:defRPr>
            </a:pPr>
            <a:endParaRPr lang="en-US"/>
          </a:p>
        </c:txPr>
        <c:crossAx val="2094734552"/>
        <c:crosses val="autoZero"/>
        <c:auto val="1"/>
        <c:lblAlgn val="ctr"/>
        <c:lblOffset val="100"/>
        <c:noMultiLvlLbl val="1"/>
      </c:catAx>
      <c:valAx>
        <c:axId val="2094734552"/>
        <c:scaling>
          <c:orientation val="minMax"/>
          <c:max val="1.100000000000000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solidFill>
                <a:srgbClr val="15193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200" b="0" i="0" u="none" strike="noStrike">
                <a:solidFill>
                  <a:srgbClr val="15193A"/>
                </a:solidFill>
                <a:latin typeface="Calibri"/>
              </a:defRPr>
            </a:pPr>
            <a:r>
              <a:rPr lang="es-CO" sz="1200" b="0" i="0" u="none" strike="noStrike">
                <a:solidFill>
                  <a:srgbClr val="15193A"/>
                </a:solidFill>
                <a:latin typeface="Calibri"/>
              </a:rPr>
              <a:t>ORAL Surveillance: ≥ 50 años con ≥ 1 factor de riesgo CV</a:t>
            </a:r>
          </a:p>
        </c:rich>
      </c:tx>
      <c:overlay val="0"/>
    </c:title>
    <c:autoTitleDeleted val="0"/>
    <c:plotArea>
      <c:layout/>
      <c:barChart>
        <c:barDir val="col"/>
        <c:grouping val="clustered"/>
        <c:varyColors val="0"/>
        <c:ser>
          <c:idx val="0"/>
          <c:order val="0"/>
          <c:tx>
            <c:strRef>
              <c:f>Sheet1!$B$1</c:f>
              <c:strCache>
                <c:ptCount val="1"/>
                <c:pt idx="0">
                  <c:v>Tofacitinib</c:v>
                </c:pt>
              </c:strCache>
            </c:strRef>
          </c:tx>
          <c:spPr>
            <a:solidFill>
              <a:srgbClr val="FF4D6D"/>
            </a:solidFill>
            <a:effectLst/>
          </c:spPr>
          <c:invertIfNegative val="0"/>
          <c:dLbls>
            <c:numFmt formatCode="0.0%" sourceLinked="0"/>
            <c:spPr>
              <a:noFill/>
              <a:ln>
                <a:noFill/>
              </a:ln>
              <a:effectLst/>
            </c:spPr>
            <c:txPr>
              <a:bodyPr/>
              <a:lstStyle/>
              <a:p>
                <a:pPr>
                  <a:defRPr sz="1300" b="1" i="0" u="none" strike="noStrike">
                    <a:solidFill>
                      <a:srgbClr val="15193A"/>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Eventos CV mayores</c:v>
                </c:pt>
                <c:pt idx="1">
                  <c:v>Cáncer (excluye piel no melanoma)</c:v>
                </c:pt>
              </c:strCache>
            </c:strRef>
          </c:cat>
          <c:val>
            <c:numRef>
              <c:f>Sheet1!$B$2:$B$3</c:f>
              <c:numCache>
                <c:formatCode>General</c:formatCode>
                <c:ptCount val="2"/>
                <c:pt idx="0">
                  <c:v>3.4000000000000002E-2</c:v>
                </c:pt>
                <c:pt idx="1">
                  <c:v>4.2000000000000003E-2</c:v>
                </c:pt>
              </c:numCache>
            </c:numRef>
          </c:val>
          <c:extLst>
            <c:ext xmlns:c16="http://schemas.microsoft.com/office/drawing/2014/chart" uri="{C3380CC4-5D6E-409C-BE32-E72D297353CC}">
              <c16:uniqueId val="{00000000-C340-574D-8C7F-75135FB5F5CA}"/>
            </c:ext>
          </c:extLst>
        </c:ser>
        <c:ser>
          <c:idx val="1"/>
          <c:order val="1"/>
          <c:tx>
            <c:strRef>
              <c:f>Sheet1!$C$1</c:f>
              <c:strCache>
                <c:ptCount val="1"/>
                <c:pt idx="0">
                  <c:v>Anti-TNF</c:v>
                </c:pt>
              </c:strCache>
            </c:strRef>
          </c:tx>
          <c:spPr>
            <a:solidFill>
              <a:srgbClr val="7F88B5"/>
            </a:solidFill>
            <a:effectLst/>
          </c:spPr>
          <c:invertIfNegative val="0"/>
          <c:dLbls>
            <c:numFmt formatCode="0.0%" sourceLinked="0"/>
            <c:spPr>
              <a:noFill/>
              <a:ln>
                <a:noFill/>
              </a:ln>
              <a:effectLst/>
            </c:spPr>
            <c:txPr>
              <a:bodyPr/>
              <a:lstStyle/>
              <a:p>
                <a:pPr>
                  <a:defRPr sz="1300" b="1" i="0" u="none" strike="noStrike">
                    <a:solidFill>
                      <a:srgbClr val="15193A"/>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Eventos CV mayores</c:v>
                </c:pt>
                <c:pt idx="1">
                  <c:v>Cáncer (excluye piel no melanoma)</c:v>
                </c:pt>
              </c:strCache>
            </c:strRef>
          </c:cat>
          <c:val>
            <c:numRef>
              <c:f>Sheet1!$C$2:$C$3</c:f>
              <c:numCache>
                <c:formatCode>General</c:formatCode>
                <c:ptCount val="2"/>
                <c:pt idx="0">
                  <c:v>2.5000000000000001E-2</c:v>
                </c:pt>
                <c:pt idx="1">
                  <c:v>2.9000000000000001E-2</c:v>
                </c:pt>
              </c:numCache>
            </c:numRef>
          </c:val>
          <c:extLst>
            <c:ext xmlns:c16="http://schemas.microsoft.com/office/drawing/2014/chart" uri="{C3380CC4-5D6E-409C-BE32-E72D297353CC}">
              <c16:uniqueId val="{00000001-C340-574D-8C7F-75135FB5F5C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5193A"/>
                </a:solidFill>
                <a:latin typeface="Calibri"/>
              </a:defRPr>
            </a:pPr>
            <a:endParaRPr lang="en-US"/>
          </a:p>
        </c:txPr>
        <c:crossAx val="2094734552"/>
        <c:crosses val="autoZero"/>
        <c:auto val="1"/>
        <c:lblAlgn val="ctr"/>
        <c:lblOffset val="100"/>
        <c:noMultiLvlLbl val="1"/>
      </c:catAx>
      <c:valAx>
        <c:axId val="2094734552"/>
        <c:scaling>
          <c:orientation val="minMax"/>
          <c:max val="0.0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solidFill>
                <a:srgbClr val="15193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6172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para el Día Mundial de la Artritis, 12 de octubre: 12 perlas prácticas en artritis reumatoide para médicos generales e internistas. Fuentes principales: revisión de JAMA 2026 (Smolen et al.) y recomendaciones EULAR 2025 publicadas en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hablar de AR: según el estudio de Carga Global de Enfermedad 2021 (Lancet Rheumatology 2023), en 2020 había 17,6 millones de personas con AR y se proyectan 31,7 millones en 2050, un aumento del 80 %. Afecta al 0,53 % de los adultos del mundo (JAMA 2026), es 2 a 3 veces más frecuente en mujeres, con pico entre 55 y 75 años. El 76 % de los años de vida ajustados por discapacidad corresponde a años vividos con discapacidad. El Día Mundial de la Artritis fue creado en 1996 por Arthritis and Rheumatism International y hoy lo impulsa EULAR.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tratamiento temprano e intensivo la AR destruye cartílago y hueso de forma irreversible, causa manifestaciones extraarticulares y aumenta la mortalidad (razón estandarizada 1,5 en mujeres y 1,4 en hombres, explicada por la alta actividad). Con tratamiento por metas, cerca del 40 % logra remisión sostenida a 10 años y otro 40 % baja actividad (JAMA 2026). La oportunidad empieza en la primera consulta.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 produce tumefacción sinovial blanda y fluctuante, a diferencia de la tumefacción dura de la artrosis, causada por cambios óseos (JAMA 2026). Algunos pacientes tienen dolor sin tumefacción evidente. Es útil documentar por separado articulaciones dolorosas y tumefactas, por ejemplo con el recuento de 28 articulaciones. No hay criterios diagnósticos formales: el diagnóstico integra exploración, evolución y exclusión de otras causas.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Según la revisión de JAMA 2026, las articulaciones más afectadas en la AR son la muñeca (~75 %), metacarpofalángicas e interfalángicas proximales (~65 %), rodilla (~50 %) y metatarsofalángicas (~45 %). Las interfalángicas distales no se afectan, a diferencia de la artrosis y la artritis psoriásica. Rigidez matutina de más de 30 minutos en ~75 % y tenosinovitis clínica en ~20 %.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diagnóstico solo el 40-60 % de los pacientes tiene FR o ACPA (JAMA 2026), y un 12 % de los seronegativos se vuelve seropositivo en 3 años. Con una sospecha clínica del 50 % y un anti-CCP negativo (razón de verosimilitud negativa 0,36 según Nishimura 2007), la probabilidad posprueba sigue siendo del 26 %. NICE NG100 recomienda remitir con urgencia la sinovitis persistente aunque el FR y los reactantes sean normales; el estándar de calidad QS33 propone remisión en 3 días hábiles y valoración en 3 semanas. El cálculo es ilustrativo.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Metaanálisis de Nishimura (Ann Intern Med 2007): anti-CCP con sensibilidad 67 %, especificidad 95 %, RV+ 12,46 y RV− 0,36; FR IgM con sensibilidad 69 %, especificidad 85 %, RV+ 4,86 y RV− 0,38. El rendimiento varía según la población y el ensayo de laboratorio. Son cifras del metaanálisis de 2007, no una estimación nueva.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mismo anti-CCP positivo significa cosas distintas según la probabilidad previa. Con RV+ 12,46: una probabilidad previa del 2 % pasa a 20 %; del 10 % a 58 %; del 30 % a 84 %; del 50 % a 93 %. Cálculo ilustrativo. Los ACPA pueden detectarse unos 14 años antes de los síntomas y el FR unos 10 años antes (JAMA 2026); las personas seropositivas sin sinovitis se consideran pre-AR y requieren seguimiento.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Criterios ACR/EULAR 2010: se aplican a pacientes con al menos una articulación con sinovitis clínica no explicada por otra enfermedad. Suman articulaciones (0-5), serología (0-3), duración (0-1) y reactantes de fase aguda (0-1). Con 6 o más puntos se clasifica como AR. Son criterios de clasificación: una puntuación menor no descarta AR temprana, y la duración de 6 semanas solo aporta un punto, no es requisito para derivar.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EULAR 2016 (Combe, Ann Rheum Dis 2017) recomienda que el paciente con artritis sea remitido y visto por reumatología idealmente en las primeras 6 semanas desde el inicio de los síntomas. NICE propone remitir en 3 días hábiles. Mientras se gestiona la remisión se pueden pedir hemograma, reactantes, FR, anti-CCP, función renal y hepática y radiografías. Una radiografía normal es compatible con AR temprana (JAMA 2026); la ecografía puede detectar sinovitis no evidente.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guía SANJO (J Bone Jt Infect 2023) recuerda que la ausencia de fiebre y la presencia de cristales no excluyen artritis séptica. Ante una monoartritis aguda se debe considerar artrocentesis con recuento celular, Gram, cultivo y búsqueda de cristales, y hemocultivos. En la AR el riesgo de infección grave aumenta con biológicos: 5,9 % frente a 1,5 % en la población general a 12 meses en una cohorte danesa (JAMA 2026). No asumir que toda articulación inflamada es un brote.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EULAR recomienda metotrexato como primera línea: iniciar con 7,5 a 10 mg orales semanales y subir a 20-25 mg semanales (0,3 mg/kg) en 4 a 8 semanas, con ácido fólico para reducir efectos adversos (JAMA 2026). Contraindicaciones: insuficiencia renal, enfermedad hepática, alcohol y embarazo. Efectos adversos: náuseas, estomatitis, elevación de transaminasas, mielosupresión y neumonitis en ~1 %. La toma es SEMANAL: confundirla con diaria puede causar toxicidad grave o mortal.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Estrategia de tratar hasta el objetivo: medir la actividad con un índice validado como el CDAI cada 1 a 3 meses; buscar mejoría de al menos 50 % a los 3 meses y remisión (CDAI ≤ 2,8) o baja actividad (≤ 10) a los 6 meses. Si no se logra, cambiar la estrategia. En el ensayo TICORA, el control mensual por protocolo logró ACR70 en 71 % frente a 18 % con atención habitual (JAMA 2026).</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EULAR propone glucocorticoides como puente breve al iniciar o cambiar FAME convencionales: prednisona 5-7,5 mg/día por 6 a 12 semanas, retirada en 3 meses, o una dosis única de 80-160 mg de metilprednisolona intramuscular (JAMA 2026). La guía ACR 2021 sugiere iniciar sin glucocorticoides, con certeza muy baja. Si al reducirlos hay brote o no se pueden suspender, la enfermedad no está controlada y debe escalarse el tratamiento. El esquema de la gráfica es ilustrativo.</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actualización EULAR 2025 (Ann Rheum Dis 2026) tiene 5 principios y 9 recomendaciones, frente a 11 en 2022. El cambio clave: si no se alcanza la meta con la estrategia de FAME convencional en 3 a 6 meses, se añade un FAME biológico en todos los pacientes, sin depender de factores de mal pronóstico; los inhibidores JAK pueden considerarse tras valorar el riesgo de eventos cardiovasculares mayores, cáncer y tromboembolia. Los factores pronósticos siguen siendo útiles para informar al paciente. En remisión sostenida se prefiere continuar el FAME, aunque puede considerarse reducir la dosis.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 aumenta el riesgo de infarto, insuficiencia cardíaca y ACV, por lo que deben aplicarse las medidas preventivas habituales (JAMA 2026). El tabaco aumenta la actividad de la AR y dejarlo la reduce. La fibrosis pulmonar es una manifestación extraarticular relevante. Antes de biológicos o JAK se tamiza tuberculosis latente y hepatitis B, y se actualizan vacunas (guía ACR 2022): neumococo, herpes zóster recombinante, influenza, COVID-19 y las propias de la edad.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de JAMA 2026: riesgo de infección grave a 12 meses del 5,9 % con biológicos frente a 1,5 % en la población general; herpes zóster hasta 7,5 % al año con JAK; en una cohorte sueca, 19,4 % de pacientes con AR temprana desarrolló manifestaciones extraarticulares, de las cuales 22 % fueron fibrosis pulmonar; y la razón de mortalidad estandarizada fue 1,5 en mujeres y 1,4 en hombres, explicada por la alta actividad.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7F88B5"/>
                </a:solidFill>
                <a:latin typeface="Calibri"/>
                <a:ea typeface="Calibri"/>
                <a:cs typeface="Calibri"/>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7F88B5"/>
                </a:solidFill>
                <a:latin typeface="Calibri"/>
                <a:ea typeface="Calibri"/>
                <a:cs typeface="Calibri"/>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png"/><Relationship Id="rId7"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548640"/>
            <a:ext cx="3017520" cy="384048"/>
          </a:xfrm>
          <a:prstGeom prst="roundRect">
            <a:avLst>
              <a:gd name="adj" fmla="val 50000"/>
            </a:avLst>
          </a:prstGeom>
          <a:solidFill>
            <a:srgbClr val="FF4D6D"/>
          </a:solidFill>
          <a:ln w="12700">
            <a:solidFill>
              <a:srgbClr val="FF4D6D"/>
            </a:solidFill>
            <a:prstDash val="solid"/>
          </a:ln>
        </p:spPr>
        <p:txBody>
          <a:bodyPr/>
          <a:lstStyle/>
          <a:p>
            <a:endParaRPr lang="es-CO"/>
          </a:p>
        </p:txBody>
      </p:sp>
      <p:sp>
        <p:nvSpPr>
          <p:cNvPr id="3" name="Text 1"/>
          <p:cNvSpPr txBox="1"/>
          <p:nvPr/>
        </p:nvSpPr>
        <p:spPr>
          <a:xfrm>
            <a:off x="548640" y="548640"/>
            <a:ext cx="3017520" cy="384048"/>
          </a:xfrm>
          <a:prstGeom prst="rect">
            <a:avLst/>
          </a:prstGeom>
          <a:noFill/>
          <a:ln/>
        </p:spPr>
        <p:txBody>
          <a:bodyPr wrap="square" lIns="0" tIns="0" rIns="0" bIns="0" rtlCol="0" anchor="ctr"/>
          <a:lstStyle/>
          <a:p>
            <a:pPr marL="0" indent="0" algn="ctr">
              <a:buNone/>
            </a:pPr>
            <a:r>
              <a:rPr lang="en-US" sz="1100" b="1" dirty="0">
                <a:solidFill>
                  <a:srgbClr val="0A0E24"/>
                </a:solidFill>
                <a:latin typeface="Calibri" pitchFamily="34" charset="0"/>
                <a:ea typeface="Calibri" pitchFamily="34" charset="-122"/>
                <a:cs typeface="Calibri" pitchFamily="34" charset="-120"/>
              </a:rPr>
              <a:t>12 DE OCTUBRE · DÍA MUNDIAL DE LA ARTRITIS</a:t>
            </a:r>
            <a:endParaRPr lang="en-US" sz="1100" dirty="0"/>
          </a:p>
        </p:txBody>
      </p:sp>
      <p:sp>
        <p:nvSpPr>
          <p:cNvPr id="4" name="Text 2"/>
          <p:cNvSpPr txBox="1"/>
          <p:nvPr/>
        </p:nvSpPr>
        <p:spPr>
          <a:xfrm>
            <a:off x="548640" y="1051560"/>
            <a:ext cx="5943600" cy="960120"/>
          </a:xfrm>
          <a:prstGeom prst="rect">
            <a:avLst/>
          </a:prstGeom>
          <a:noFill/>
          <a:ln/>
        </p:spPr>
        <p:txBody>
          <a:bodyPr wrap="square" lIns="0" tIns="0" rIns="0" bIns="0" rtlCol="0" anchor="b"/>
          <a:lstStyle/>
          <a:p>
            <a:pPr marL="0" indent="0">
              <a:buNone/>
            </a:pPr>
            <a:r>
              <a:rPr lang="en-US" sz="6000" b="1" dirty="0">
                <a:solidFill>
                  <a:srgbClr val="F5F7FF"/>
                </a:solidFill>
                <a:latin typeface="Calibri" pitchFamily="34" charset="0"/>
                <a:ea typeface="Calibri" pitchFamily="34" charset="-122"/>
                <a:cs typeface="Calibri" pitchFamily="34" charset="-120"/>
              </a:rPr>
              <a:t>12 perlas</a:t>
            </a:r>
            <a:endParaRPr lang="en-US" sz="6000" dirty="0"/>
          </a:p>
        </p:txBody>
      </p:sp>
      <p:sp>
        <p:nvSpPr>
          <p:cNvPr id="5" name="Text 3"/>
          <p:cNvSpPr txBox="1"/>
          <p:nvPr/>
        </p:nvSpPr>
        <p:spPr>
          <a:xfrm>
            <a:off x="548640" y="2011680"/>
            <a:ext cx="6217920" cy="640080"/>
          </a:xfrm>
          <a:prstGeom prst="rect">
            <a:avLst/>
          </a:prstGeom>
          <a:noFill/>
          <a:ln/>
        </p:spPr>
        <p:txBody>
          <a:bodyPr wrap="square" lIns="0" tIns="0" rIns="0" bIns="0" rtlCol="0" anchor="t"/>
          <a:lstStyle/>
          <a:p>
            <a:pPr marL="0" indent="0">
              <a:buNone/>
            </a:pPr>
            <a:r>
              <a:rPr lang="en-US" sz="3200" dirty="0">
                <a:solidFill>
                  <a:srgbClr val="FF8FA3"/>
                </a:solidFill>
                <a:latin typeface="Calibri" pitchFamily="34" charset="0"/>
                <a:ea typeface="Calibri" pitchFamily="34" charset="-122"/>
                <a:cs typeface="Calibri" pitchFamily="34" charset="-120"/>
              </a:rPr>
              <a:t>en artritis reumatoide</a:t>
            </a:r>
            <a:endParaRPr lang="en-US" sz="3200" dirty="0"/>
          </a:p>
        </p:txBody>
      </p:sp>
      <p:sp>
        <p:nvSpPr>
          <p:cNvPr id="7" name="Shape 5"/>
          <p:cNvSpPr/>
          <p:nvPr/>
        </p:nvSpPr>
        <p:spPr>
          <a:xfrm>
            <a:off x="548640" y="3291840"/>
            <a:ext cx="5303520" cy="1097280"/>
          </a:xfrm>
          <a:prstGeom prst="roundRect">
            <a:avLst>
              <a:gd name="adj" fmla="val 8333"/>
            </a:avLst>
          </a:prstGeom>
          <a:solidFill>
            <a:srgbClr val="161C3D">
              <a:alpha val="70000"/>
            </a:srgbClr>
          </a:solidFill>
          <a:ln w="12700">
            <a:solidFill>
              <a:srgbClr val="3A3F78"/>
            </a:solidFill>
            <a:prstDash val="solid"/>
          </a:ln>
        </p:spPr>
        <p:txBody>
          <a:bodyPr/>
          <a:lstStyle/>
          <a:p>
            <a:endParaRPr lang="es-CO"/>
          </a:p>
        </p:txBody>
      </p:sp>
      <p:sp>
        <p:nvSpPr>
          <p:cNvPr id="8" name="Text 6"/>
          <p:cNvSpPr txBox="1"/>
          <p:nvPr/>
        </p:nvSpPr>
        <p:spPr>
          <a:xfrm>
            <a:off x="731520" y="3383280"/>
            <a:ext cx="5029200" cy="320040"/>
          </a:xfrm>
          <a:prstGeom prst="rect">
            <a:avLst/>
          </a:prstGeom>
          <a:noFill/>
          <a:ln/>
        </p:spPr>
        <p:txBody>
          <a:bodyPr wrap="square" lIns="0" tIns="0" rIns="0" bIns="0" rtlCol="0" anchor="t"/>
          <a:lstStyle/>
          <a:p>
            <a:pPr marL="0" indent="0">
              <a:buNone/>
            </a:pPr>
            <a:r>
              <a:rPr lang="en-US" sz="1600" b="1" dirty="0">
                <a:solidFill>
                  <a:srgbClr val="F5F7FF"/>
                </a:solidFill>
                <a:latin typeface="Calibri" pitchFamily="34" charset="0"/>
                <a:ea typeface="Calibri" pitchFamily="34" charset="-122"/>
                <a:cs typeface="Calibri" pitchFamily="34" charset="-120"/>
              </a:rPr>
              <a:t>Nestor Fabian Sanabria Duarte</a:t>
            </a:r>
            <a:endParaRPr lang="en-US" sz="1600" dirty="0"/>
          </a:p>
        </p:txBody>
      </p:sp>
      <p:sp>
        <p:nvSpPr>
          <p:cNvPr id="9" name="Text 7"/>
          <p:cNvSpPr txBox="1"/>
          <p:nvPr/>
        </p:nvSpPr>
        <p:spPr>
          <a:xfrm>
            <a:off x="731520" y="3703320"/>
            <a:ext cx="5029200" cy="274320"/>
          </a:xfrm>
          <a:prstGeom prst="rect">
            <a:avLst/>
          </a:prstGeom>
          <a:noFill/>
          <a:ln/>
        </p:spPr>
        <p:txBody>
          <a:bodyPr wrap="square" lIns="0" tIns="0" rIns="0" bIns="0" rtlCol="0" anchor="t"/>
          <a:lstStyle/>
          <a:p>
            <a:pPr marL="0" indent="0">
              <a:buNone/>
            </a:pPr>
            <a:r>
              <a:rPr lang="en-US" sz="1200" dirty="0">
                <a:solidFill>
                  <a:srgbClr val="AEB6DA"/>
                </a:solidFill>
                <a:latin typeface="Calibri" pitchFamily="34" charset="0"/>
                <a:ea typeface="Calibri" pitchFamily="34" charset="-122"/>
                <a:cs typeface="Calibri" pitchFamily="34" charset="-120"/>
              </a:rPr>
              <a:t>Residente de tercer año · Especialización en medicina interna</a:t>
            </a:r>
            <a:endParaRPr lang="en-US" sz="1200" dirty="0"/>
          </a:p>
        </p:txBody>
      </p:sp>
      <p:sp>
        <p:nvSpPr>
          <p:cNvPr id="10" name="Text 8"/>
          <p:cNvSpPr txBox="1"/>
          <p:nvPr/>
        </p:nvSpPr>
        <p:spPr>
          <a:xfrm>
            <a:off x="731520" y="3977640"/>
            <a:ext cx="5029200" cy="274320"/>
          </a:xfrm>
          <a:prstGeom prst="rect">
            <a:avLst/>
          </a:prstGeom>
          <a:noFill/>
          <a:ln/>
        </p:spPr>
        <p:txBody>
          <a:bodyPr wrap="square" lIns="0" tIns="0" rIns="0" bIns="0" rtlCol="0" anchor="t"/>
          <a:lstStyle/>
          <a:p>
            <a:pPr marL="0" indent="0">
              <a:buNone/>
            </a:pPr>
            <a:r>
              <a:rPr lang="en-US" sz="1200" dirty="0">
                <a:solidFill>
                  <a:srgbClr val="AEB6DA"/>
                </a:solidFill>
                <a:latin typeface="Calibri" pitchFamily="34" charset="0"/>
                <a:ea typeface="Calibri" pitchFamily="34" charset="-122"/>
                <a:cs typeface="Calibri" pitchFamily="34" charset="-120"/>
              </a:rPr>
              <a:t>Universidad Libre de Colombia – Seccional Barranquilla</a:t>
            </a:r>
            <a:endParaRPr lang="en-US" sz="1200" dirty="0"/>
          </a:p>
        </p:txBody>
      </p:sp>
      <p:sp>
        <p:nvSpPr>
          <p:cNvPr id="11" name="Shape 9"/>
          <p:cNvSpPr/>
          <p:nvPr/>
        </p:nvSpPr>
        <p:spPr>
          <a:xfrm>
            <a:off x="7306056" y="1179576"/>
            <a:ext cx="384048" cy="384048"/>
          </a:xfrm>
          <a:prstGeom prst="ellipse">
            <a:avLst/>
          </a:prstGeom>
          <a:solidFill>
            <a:srgbClr val="FF4D6D"/>
          </a:solidFill>
          <a:ln w="12700">
            <a:solidFill>
              <a:srgbClr val="FFFFFF">
                <a:alpha val="0"/>
              </a:srgbClr>
            </a:solidFill>
            <a:prstDash val="solid"/>
          </a:ln>
        </p:spPr>
        <p:txBody>
          <a:bodyPr/>
          <a:lstStyle/>
          <a:p>
            <a:endParaRPr lang="es-CO"/>
          </a:p>
        </p:txBody>
      </p:sp>
      <p:sp>
        <p:nvSpPr>
          <p:cNvPr id="12" name="Shape 10"/>
          <p:cNvSpPr/>
          <p:nvPr/>
        </p:nvSpPr>
        <p:spPr>
          <a:xfrm>
            <a:off x="7932420" y="1387573"/>
            <a:ext cx="274320" cy="274320"/>
          </a:xfrm>
          <a:prstGeom prst="ellipse">
            <a:avLst/>
          </a:prstGeom>
          <a:solidFill>
            <a:srgbClr val="F5F7FF">
              <a:alpha val="85000"/>
            </a:srgbClr>
          </a:solidFill>
          <a:ln w="12700">
            <a:solidFill>
              <a:srgbClr val="FFFFFF">
                <a:alpha val="0"/>
              </a:srgbClr>
            </a:solidFill>
            <a:prstDash val="solid"/>
          </a:ln>
        </p:spPr>
        <p:txBody>
          <a:bodyPr/>
          <a:lstStyle/>
          <a:p>
            <a:endParaRPr lang="es-CO"/>
          </a:p>
        </p:txBody>
      </p:sp>
      <p:sp>
        <p:nvSpPr>
          <p:cNvPr id="13" name="Shape 11"/>
          <p:cNvSpPr/>
          <p:nvPr/>
        </p:nvSpPr>
        <p:spPr>
          <a:xfrm>
            <a:off x="8350787" y="1805940"/>
            <a:ext cx="274320" cy="274320"/>
          </a:xfrm>
          <a:prstGeom prst="ellipse">
            <a:avLst/>
          </a:prstGeom>
          <a:solidFill>
            <a:srgbClr val="F5F7FF">
              <a:alpha val="85000"/>
            </a:srgbClr>
          </a:solidFill>
          <a:ln w="12700">
            <a:solidFill>
              <a:srgbClr val="FFFFFF">
                <a:alpha val="0"/>
              </a:srgbClr>
            </a:solidFill>
            <a:prstDash val="solid"/>
          </a:ln>
        </p:spPr>
        <p:txBody>
          <a:bodyPr/>
          <a:lstStyle/>
          <a:p>
            <a:endParaRPr lang="es-CO"/>
          </a:p>
        </p:txBody>
      </p:sp>
      <p:sp>
        <p:nvSpPr>
          <p:cNvPr id="14" name="Shape 12"/>
          <p:cNvSpPr/>
          <p:nvPr/>
        </p:nvSpPr>
        <p:spPr>
          <a:xfrm>
            <a:off x="8503920" y="2377440"/>
            <a:ext cx="274320" cy="274320"/>
          </a:xfrm>
          <a:prstGeom prst="ellipse">
            <a:avLst/>
          </a:prstGeom>
          <a:solidFill>
            <a:srgbClr val="F5F7FF">
              <a:alpha val="85000"/>
            </a:srgbClr>
          </a:solidFill>
          <a:ln w="12700">
            <a:solidFill>
              <a:srgbClr val="FFFFFF">
                <a:alpha val="0"/>
              </a:srgbClr>
            </a:solidFill>
            <a:prstDash val="solid"/>
          </a:ln>
        </p:spPr>
        <p:txBody>
          <a:bodyPr/>
          <a:lstStyle/>
          <a:p>
            <a:endParaRPr lang="es-CO"/>
          </a:p>
        </p:txBody>
      </p:sp>
      <p:sp>
        <p:nvSpPr>
          <p:cNvPr id="15" name="Shape 13"/>
          <p:cNvSpPr/>
          <p:nvPr/>
        </p:nvSpPr>
        <p:spPr>
          <a:xfrm>
            <a:off x="8350787" y="2948940"/>
            <a:ext cx="274320" cy="274320"/>
          </a:xfrm>
          <a:prstGeom prst="ellipse">
            <a:avLst/>
          </a:prstGeom>
          <a:solidFill>
            <a:srgbClr val="F5F7FF">
              <a:alpha val="85000"/>
            </a:srgbClr>
          </a:solidFill>
          <a:ln w="12700">
            <a:solidFill>
              <a:srgbClr val="FFFFFF">
                <a:alpha val="0"/>
              </a:srgbClr>
            </a:solidFill>
            <a:prstDash val="solid"/>
          </a:ln>
        </p:spPr>
        <p:txBody>
          <a:bodyPr/>
          <a:lstStyle/>
          <a:p>
            <a:endParaRPr lang="es-CO"/>
          </a:p>
        </p:txBody>
      </p:sp>
      <p:sp>
        <p:nvSpPr>
          <p:cNvPr id="16" name="Shape 14"/>
          <p:cNvSpPr/>
          <p:nvPr/>
        </p:nvSpPr>
        <p:spPr>
          <a:xfrm>
            <a:off x="7932420" y="3367307"/>
            <a:ext cx="274320" cy="274320"/>
          </a:xfrm>
          <a:prstGeom prst="ellipse">
            <a:avLst/>
          </a:prstGeom>
          <a:solidFill>
            <a:srgbClr val="F5F7FF">
              <a:alpha val="85000"/>
            </a:srgbClr>
          </a:solidFill>
          <a:ln w="12700">
            <a:solidFill>
              <a:srgbClr val="FFFFFF">
                <a:alpha val="0"/>
              </a:srgbClr>
            </a:solidFill>
            <a:prstDash val="solid"/>
          </a:ln>
        </p:spPr>
        <p:txBody>
          <a:bodyPr/>
          <a:lstStyle/>
          <a:p>
            <a:endParaRPr lang="es-CO"/>
          </a:p>
        </p:txBody>
      </p:sp>
      <p:sp>
        <p:nvSpPr>
          <p:cNvPr id="17" name="Shape 15"/>
          <p:cNvSpPr/>
          <p:nvPr/>
        </p:nvSpPr>
        <p:spPr>
          <a:xfrm>
            <a:off x="7360920" y="3520440"/>
            <a:ext cx="274320" cy="274320"/>
          </a:xfrm>
          <a:prstGeom prst="ellipse">
            <a:avLst/>
          </a:prstGeom>
          <a:solidFill>
            <a:srgbClr val="F5F7FF">
              <a:alpha val="85000"/>
            </a:srgbClr>
          </a:solidFill>
          <a:ln w="12700">
            <a:solidFill>
              <a:srgbClr val="FFFFFF">
                <a:alpha val="0"/>
              </a:srgbClr>
            </a:solidFill>
            <a:prstDash val="solid"/>
          </a:ln>
        </p:spPr>
        <p:txBody>
          <a:bodyPr/>
          <a:lstStyle/>
          <a:p>
            <a:endParaRPr lang="es-CO"/>
          </a:p>
        </p:txBody>
      </p:sp>
      <p:sp>
        <p:nvSpPr>
          <p:cNvPr id="18" name="Shape 16"/>
          <p:cNvSpPr/>
          <p:nvPr/>
        </p:nvSpPr>
        <p:spPr>
          <a:xfrm>
            <a:off x="6789420" y="3367307"/>
            <a:ext cx="274320" cy="274320"/>
          </a:xfrm>
          <a:prstGeom prst="ellipse">
            <a:avLst/>
          </a:prstGeom>
          <a:solidFill>
            <a:srgbClr val="F5F7FF">
              <a:alpha val="85000"/>
            </a:srgbClr>
          </a:solidFill>
          <a:ln w="12700">
            <a:solidFill>
              <a:srgbClr val="FFFFFF">
                <a:alpha val="0"/>
              </a:srgbClr>
            </a:solidFill>
            <a:prstDash val="solid"/>
          </a:ln>
        </p:spPr>
        <p:txBody>
          <a:bodyPr/>
          <a:lstStyle/>
          <a:p>
            <a:endParaRPr lang="es-CO"/>
          </a:p>
        </p:txBody>
      </p:sp>
      <p:sp>
        <p:nvSpPr>
          <p:cNvPr id="19" name="Shape 17"/>
          <p:cNvSpPr/>
          <p:nvPr/>
        </p:nvSpPr>
        <p:spPr>
          <a:xfrm>
            <a:off x="6371053" y="2948940"/>
            <a:ext cx="274320" cy="274320"/>
          </a:xfrm>
          <a:prstGeom prst="ellipse">
            <a:avLst/>
          </a:prstGeom>
          <a:solidFill>
            <a:srgbClr val="F5F7FF">
              <a:alpha val="85000"/>
            </a:srgbClr>
          </a:solidFill>
          <a:ln w="12700">
            <a:solidFill>
              <a:srgbClr val="FFFFFF">
                <a:alpha val="0"/>
              </a:srgbClr>
            </a:solidFill>
            <a:prstDash val="solid"/>
          </a:ln>
        </p:spPr>
        <p:txBody>
          <a:bodyPr/>
          <a:lstStyle/>
          <a:p>
            <a:endParaRPr lang="es-CO"/>
          </a:p>
        </p:txBody>
      </p:sp>
      <p:sp>
        <p:nvSpPr>
          <p:cNvPr id="20" name="Shape 18"/>
          <p:cNvSpPr/>
          <p:nvPr/>
        </p:nvSpPr>
        <p:spPr>
          <a:xfrm>
            <a:off x="6217920" y="2377440"/>
            <a:ext cx="274320" cy="274320"/>
          </a:xfrm>
          <a:prstGeom prst="ellipse">
            <a:avLst/>
          </a:prstGeom>
          <a:solidFill>
            <a:srgbClr val="F5F7FF">
              <a:alpha val="85000"/>
            </a:srgbClr>
          </a:solidFill>
          <a:ln w="12700">
            <a:solidFill>
              <a:srgbClr val="FFFFFF">
                <a:alpha val="0"/>
              </a:srgbClr>
            </a:solidFill>
            <a:prstDash val="solid"/>
          </a:ln>
        </p:spPr>
        <p:txBody>
          <a:bodyPr/>
          <a:lstStyle/>
          <a:p>
            <a:endParaRPr lang="es-CO"/>
          </a:p>
        </p:txBody>
      </p:sp>
      <p:sp>
        <p:nvSpPr>
          <p:cNvPr id="21" name="Shape 19"/>
          <p:cNvSpPr/>
          <p:nvPr/>
        </p:nvSpPr>
        <p:spPr>
          <a:xfrm>
            <a:off x="6371053" y="1805940"/>
            <a:ext cx="274320" cy="274320"/>
          </a:xfrm>
          <a:prstGeom prst="ellipse">
            <a:avLst/>
          </a:prstGeom>
          <a:solidFill>
            <a:srgbClr val="F5F7FF">
              <a:alpha val="85000"/>
            </a:srgbClr>
          </a:solidFill>
          <a:ln w="12700">
            <a:solidFill>
              <a:srgbClr val="FFFFFF">
                <a:alpha val="0"/>
              </a:srgbClr>
            </a:solidFill>
            <a:prstDash val="solid"/>
          </a:ln>
        </p:spPr>
        <p:txBody>
          <a:bodyPr/>
          <a:lstStyle/>
          <a:p>
            <a:endParaRPr lang="es-CO"/>
          </a:p>
        </p:txBody>
      </p:sp>
      <p:sp>
        <p:nvSpPr>
          <p:cNvPr id="22" name="Shape 20"/>
          <p:cNvSpPr/>
          <p:nvPr/>
        </p:nvSpPr>
        <p:spPr>
          <a:xfrm>
            <a:off x="6789420" y="1387573"/>
            <a:ext cx="274320" cy="274320"/>
          </a:xfrm>
          <a:prstGeom prst="ellipse">
            <a:avLst/>
          </a:prstGeom>
          <a:solidFill>
            <a:srgbClr val="F5F7FF">
              <a:alpha val="85000"/>
            </a:srgbClr>
          </a:solidFill>
          <a:ln w="12700">
            <a:solidFill>
              <a:srgbClr val="FFFFFF">
                <a:alpha val="0"/>
              </a:srgbClr>
            </a:solidFill>
            <a:prstDash val="solid"/>
          </a:ln>
        </p:spPr>
        <p:txBody>
          <a:bodyPr/>
          <a:lstStyle/>
          <a:p>
            <a:endParaRPr lang="es-CO"/>
          </a:p>
        </p:txBody>
      </p:sp>
      <p:sp>
        <p:nvSpPr>
          <p:cNvPr id="23" name="Text 21"/>
          <p:cNvSpPr txBox="1"/>
          <p:nvPr/>
        </p:nvSpPr>
        <p:spPr>
          <a:xfrm>
            <a:off x="6766560" y="2011680"/>
            <a:ext cx="1463040" cy="731520"/>
          </a:xfrm>
          <a:prstGeom prst="rect">
            <a:avLst/>
          </a:prstGeom>
          <a:noFill/>
          <a:ln/>
        </p:spPr>
        <p:txBody>
          <a:bodyPr wrap="square" lIns="0" tIns="0" rIns="0" bIns="0" rtlCol="0" anchor="ctr"/>
          <a:lstStyle/>
          <a:p>
            <a:pPr marL="0" indent="0" algn="ctr">
              <a:buNone/>
            </a:pPr>
            <a:r>
              <a:rPr lang="en-US" sz="4800" b="1" dirty="0">
                <a:solidFill>
                  <a:srgbClr val="F5F7FF"/>
                </a:solidFill>
                <a:latin typeface="Calibri" pitchFamily="34" charset="0"/>
                <a:ea typeface="Calibri" pitchFamily="34" charset="-122"/>
                <a:cs typeface="Calibri" pitchFamily="34" charset="-120"/>
              </a:rPr>
              <a:t>12</a:t>
            </a:r>
            <a:endParaRPr lang="en-US" sz="4800" dirty="0"/>
          </a:p>
        </p:txBody>
      </p:sp>
      <p:sp>
        <p:nvSpPr>
          <p:cNvPr id="24" name="Text 22"/>
          <p:cNvSpPr txBox="1"/>
          <p:nvPr/>
        </p:nvSpPr>
        <p:spPr>
          <a:xfrm>
            <a:off x="6766560" y="2715768"/>
            <a:ext cx="1463040" cy="274320"/>
          </a:xfrm>
          <a:prstGeom prst="rect">
            <a:avLst/>
          </a:prstGeom>
          <a:noFill/>
          <a:ln/>
        </p:spPr>
        <p:txBody>
          <a:bodyPr wrap="square" lIns="0" tIns="0" rIns="0" bIns="0" rtlCol="0" anchor="t"/>
          <a:lstStyle/>
          <a:p>
            <a:pPr marL="0" indent="0" algn="ctr">
              <a:buNone/>
            </a:pPr>
            <a:r>
              <a:rPr lang="en-US" sz="1200" b="1" kern="0" spc="400" dirty="0">
                <a:solidFill>
                  <a:srgbClr val="FF4D6D"/>
                </a:solidFill>
                <a:latin typeface="Calibri" pitchFamily="34" charset="0"/>
                <a:ea typeface="Calibri" pitchFamily="34" charset="-122"/>
                <a:cs typeface="Calibri" pitchFamily="34" charset="-120"/>
              </a:rPr>
              <a:t>OCTUBRE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B52A3-65D5-FC2A-4C73-42AB8A6384BA}"/>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E711E947-9361-79F4-F61E-3214463976F6}"/>
              </a:ext>
            </a:extLst>
          </p:cNvPr>
          <p:cNvSpPr/>
          <p:nvPr/>
        </p:nvSpPr>
        <p:spPr>
          <a:xfrm>
            <a:off x="-2988826" y="391188"/>
            <a:ext cx="15121652" cy="400110"/>
          </a:xfrm>
          <a:prstGeom prst="rect">
            <a:avLst/>
          </a:prstGeom>
        </p:spPr>
        <p:txBody>
          <a:bodyPr wrap="square">
            <a:spAutoFit/>
          </a:bodyPr>
          <a:lstStyle/>
          <a:p>
            <a:pPr algn="ctr"/>
            <a:r>
              <a:rPr lang="es-ES" sz="2000" b="1" dirty="0">
                <a:solidFill>
                  <a:srgbClr val="78206E"/>
                </a:solidFill>
              </a:rPr>
              <a:t>DECLARACIÓN DE USO DE INTELIGENCIA ARTIFICIAL</a:t>
            </a:r>
            <a:endParaRPr lang="es-CO" sz="2000" b="1" dirty="0">
              <a:solidFill>
                <a:srgbClr val="78206E"/>
              </a:solidFill>
            </a:endParaRPr>
          </a:p>
        </p:txBody>
      </p:sp>
      <p:sp>
        <p:nvSpPr>
          <p:cNvPr id="8" name="CuadroTexto 7">
            <a:extLst>
              <a:ext uri="{FF2B5EF4-FFF2-40B4-BE49-F238E27FC236}">
                <a16:creationId xmlns:a16="http://schemas.microsoft.com/office/drawing/2014/main" id="{8F7CCB83-5A7F-6044-0704-F4017AA25D4A}"/>
              </a:ext>
            </a:extLst>
          </p:cNvPr>
          <p:cNvSpPr txBox="1"/>
          <p:nvPr/>
        </p:nvSpPr>
        <p:spPr>
          <a:xfrm>
            <a:off x="788505" y="1426121"/>
            <a:ext cx="7566990" cy="646331"/>
          </a:xfrm>
          <a:prstGeom prst="rect">
            <a:avLst/>
          </a:prstGeom>
          <a:noFill/>
        </p:spPr>
        <p:txBody>
          <a:bodyPr wrap="square">
            <a:spAutoFit/>
          </a:bodyPr>
          <a:lstStyle/>
          <a:p>
            <a:pPr lvl="0" algn="just"/>
            <a:r>
              <a:rPr lang="es-CO" dirty="0">
                <a:solidFill>
                  <a:schemeClr val="tx1"/>
                </a:solidFill>
              </a:rPr>
              <a:t>Para la elaboración de esta presentación se utilizó </a:t>
            </a:r>
            <a:r>
              <a:rPr lang="es-CO" b="1" dirty="0">
                <a:solidFill>
                  <a:schemeClr val="tx1"/>
                </a:solidFill>
              </a:rPr>
              <a:t>Claude (</a:t>
            </a:r>
            <a:r>
              <a:rPr lang="es-CO" b="1" dirty="0" err="1">
                <a:solidFill>
                  <a:schemeClr val="tx1"/>
                </a:solidFill>
              </a:rPr>
              <a:t>Anthropic</a:t>
            </a:r>
            <a:r>
              <a:rPr lang="es-CO" b="1" dirty="0">
                <a:solidFill>
                  <a:schemeClr val="tx1"/>
                </a:solidFill>
              </a:rPr>
              <a:t>)</a:t>
            </a:r>
            <a:r>
              <a:rPr lang="es-CO" dirty="0">
                <a:solidFill>
                  <a:schemeClr val="tx1"/>
                </a:solidFill>
              </a:rPr>
              <a:t> nivel 3 como herramienta de apoyo para el </a:t>
            </a:r>
            <a:r>
              <a:rPr lang="es-CO" b="1" dirty="0">
                <a:solidFill>
                  <a:schemeClr val="tx1"/>
                </a:solidFill>
              </a:rPr>
              <a:t>diseño de esquemas y recursos gráficos.</a:t>
            </a:r>
            <a:endParaRPr lang="es-CO" dirty="0">
              <a:solidFill>
                <a:schemeClr val="tx1"/>
              </a:solidFill>
            </a:endParaRPr>
          </a:p>
        </p:txBody>
      </p:sp>
      <p:sp>
        <p:nvSpPr>
          <p:cNvPr id="10" name="CuadroTexto 9">
            <a:extLst>
              <a:ext uri="{FF2B5EF4-FFF2-40B4-BE49-F238E27FC236}">
                <a16:creationId xmlns:a16="http://schemas.microsoft.com/office/drawing/2014/main" id="{7BCCEAD7-DEB2-6EBB-9CC0-98F5BF6FD614}"/>
              </a:ext>
            </a:extLst>
          </p:cNvPr>
          <p:cNvSpPr txBox="1"/>
          <p:nvPr/>
        </p:nvSpPr>
        <p:spPr>
          <a:xfrm>
            <a:off x="788505" y="2707275"/>
            <a:ext cx="7566990" cy="1200329"/>
          </a:xfrm>
          <a:prstGeom prst="rect">
            <a:avLst/>
          </a:prstGeom>
          <a:noFill/>
        </p:spPr>
        <p:txBody>
          <a:bodyPr wrap="square">
            <a:spAutoFit/>
          </a:bodyPr>
          <a:lstStyle/>
          <a:p>
            <a:pPr lvl="0" algn="just"/>
            <a:r>
              <a:rPr lang="es-CO" b="0" dirty="0">
                <a:solidFill>
                  <a:schemeClr val="tx1"/>
                </a:solidFill>
              </a:rPr>
              <a:t>Todo el contenido generado con asistencia de inteligencia artificial fue revisado, verificado y supervisado por los autores, quienes realizaron los ajustes correspondientes y asumen la responsabilidad final sobre la precisión, pertinencia e integridad del contenido presentado.</a:t>
            </a:r>
          </a:p>
        </p:txBody>
      </p:sp>
    </p:spTree>
    <p:extLst>
      <p:ext uri="{BB962C8B-B14F-4D97-AF65-F5344CB8AC3E}">
        <p14:creationId xmlns:p14="http://schemas.microsoft.com/office/powerpoint/2010/main" val="2972844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FF4D6D"/>
          </a:solidFill>
          <a:ln w="12700">
            <a:solidFill>
              <a:srgbClr val="FF4D6D"/>
            </a:solidFill>
            <a:prstDash val="solid"/>
          </a:ln>
        </p:spPr>
        <p:txBody>
          <a:bodyPr/>
          <a:lstStyle/>
          <a:p>
            <a:endParaRPr lang="es-CO"/>
          </a:p>
        </p:txBody>
      </p:sp>
      <p:sp>
        <p:nvSpPr>
          <p:cNvPr id="3" name="Text 1"/>
          <p:cNvSpPr txBox="1"/>
          <p:nvPr/>
        </p:nvSpPr>
        <p:spPr>
          <a:xfrm>
            <a:off x="685800" y="219456"/>
            <a:ext cx="7772400" cy="256032"/>
          </a:xfrm>
          <a:prstGeom prst="rect">
            <a:avLst/>
          </a:prstGeom>
          <a:noFill/>
          <a:ln/>
        </p:spPr>
        <p:txBody>
          <a:bodyPr wrap="square" lIns="0" tIns="0" rIns="0" bIns="0" rtlCol="0" anchor="ctr"/>
          <a:lstStyle/>
          <a:p>
            <a:pPr marL="0" indent="0">
              <a:buNone/>
            </a:pPr>
            <a:r>
              <a:rPr lang="en-US" sz="1050" b="1" kern="0" spc="400" dirty="0">
                <a:solidFill>
                  <a:srgbClr val="C81E43"/>
                </a:solidFill>
                <a:latin typeface="Calibri" pitchFamily="34" charset="0"/>
                <a:ea typeface="Calibri" pitchFamily="34" charset="-122"/>
                <a:cs typeface="Calibri" pitchFamily="34" charset="-120"/>
              </a:rPr>
              <a:t>INTRODUCCIÓN · DÍA MUNDIAL DE LA ARTRITIS</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600" b="1" dirty="0">
                <a:solidFill>
                  <a:srgbClr val="15193A"/>
                </a:solidFill>
                <a:latin typeface="Calibri" pitchFamily="34" charset="0"/>
                <a:ea typeface="Calibri" pitchFamily="34" charset="-122"/>
                <a:cs typeface="Calibri" pitchFamily="34" charset="-120"/>
              </a:rPr>
              <a:t>¿Por qué hablar hoy de artritis reumatoide?</a:t>
            </a:r>
            <a:endParaRPr lang="en-US" sz="2600" dirty="0"/>
          </a:p>
        </p:txBody>
      </p:sp>
      <p:sp>
        <p:nvSpPr>
          <p:cNvPr id="5" name="Text 3"/>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[10] GBD 2021 RA Collaborators. Lancet Rheumatol 2023 · [1] Smolen JS, et al. JAMA 2026 · [16] EULAR. World Arthritis Day</a:t>
            </a:r>
            <a:endParaRPr lang="en-US" sz="850" dirty="0"/>
          </a:p>
        </p:txBody>
      </p:sp>
      <p:sp>
        <p:nvSpPr>
          <p:cNvPr id="6" name="Text 4"/>
          <p:cNvSpPr txBox="1"/>
          <p:nvPr/>
        </p:nvSpPr>
        <p:spPr>
          <a:xfrm>
            <a:off x="457200" y="1097280"/>
            <a:ext cx="8229600" cy="548640"/>
          </a:xfrm>
          <a:prstGeom prst="rect">
            <a:avLst/>
          </a:prstGeom>
          <a:noFill/>
          <a:ln/>
        </p:spPr>
        <p:txBody>
          <a:bodyPr wrap="square" lIns="0" tIns="0" rIns="0" bIns="0" rtlCol="0" anchor="t"/>
          <a:lstStyle/>
          <a:p>
            <a:pPr marL="0" indent="0">
              <a:buNone/>
            </a:pPr>
            <a:r>
              <a:rPr lang="en-US" sz="1250" dirty="0">
                <a:solidFill>
                  <a:srgbClr val="474F70"/>
                </a:solidFill>
                <a:latin typeface="Calibri" pitchFamily="34" charset="0"/>
                <a:ea typeface="Calibri" pitchFamily="34" charset="-122"/>
                <a:cs typeface="Calibri" pitchFamily="34" charset="-120"/>
              </a:rPr>
              <a:t>El 12 de octubre es el Día Mundial de la Artritis, creado en 1996 por Arthritis and Rheumatism International y hoy impulsado por EULAR para visibilizar las enfermedades reumáticas y musculoesqueléticas.</a:t>
            </a:r>
            <a:endParaRPr lang="en-US" sz="1250" dirty="0"/>
          </a:p>
        </p:txBody>
      </p:sp>
      <p:sp>
        <p:nvSpPr>
          <p:cNvPr id="7" name="Shape 5"/>
          <p:cNvSpPr/>
          <p:nvPr/>
        </p:nvSpPr>
        <p:spPr>
          <a:xfrm>
            <a:off x="457200" y="1828800"/>
            <a:ext cx="1920240" cy="1554480"/>
          </a:xfrm>
          <a:prstGeom prst="roundRect">
            <a:avLst>
              <a:gd name="adj" fmla="val 5882"/>
            </a:avLst>
          </a:prstGeom>
          <a:solidFill>
            <a:srgbClr val="FF4D6D">
              <a:alpha val="12000"/>
            </a:srgbClr>
          </a:solidFill>
          <a:ln w="15875">
            <a:solidFill>
              <a:srgbClr val="FF4D6D"/>
            </a:solidFill>
            <a:prstDash val="solid"/>
          </a:ln>
        </p:spPr>
        <p:txBody>
          <a:bodyPr/>
          <a:lstStyle/>
          <a:p>
            <a:endParaRPr lang="es-CO"/>
          </a:p>
        </p:txBody>
      </p:sp>
      <p:sp>
        <p:nvSpPr>
          <p:cNvPr id="8" name="Text 6"/>
          <p:cNvSpPr txBox="1"/>
          <p:nvPr/>
        </p:nvSpPr>
        <p:spPr>
          <a:xfrm>
            <a:off x="457200" y="1965960"/>
            <a:ext cx="1920240" cy="685800"/>
          </a:xfrm>
          <a:prstGeom prst="rect">
            <a:avLst/>
          </a:prstGeom>
          <a:noFill/>
          <a:ln/>
        </p:spPr>
        <p:txBody>
          <a:bodyPr wrap="square" lIns="0" tIns="0" rIns="0" bIns="0" rtlCol="0" anchor="ctr"/>
          <a:lstStyle/>
          <a:p>
            <a:pPr marL="0" indent="0" algn="ctr">
              <a:buNone/>
            </a:pPr>
            <a:r>
              <a:rPr lang="en-US" sz="3200" b="1" dirty="0">
                <a:solidFill>
                  <a:srgbClr val="C81E43"/>
                </a:solidFill>
                <a:latin typeface="Calibri" pitchFamily="34" charset="0"/>
                <a:ea typeface="Calibri" pitchFamily="34" charset="-122"/>
                <a:cs typeface="Calibri" pitchFamily="34" charset="-120"/>
              </a:rPr>
              <a:t>17,6 M</a:t>
            </a:r>
            <a:endParaRPr lang="en-US" sz="3200" dirty="0"/>
          </a:p>
        </p:txBody>
      </p:sp>
      <p:sp>
        <p:nvSpPr>
          <p:cNvPr id="9" name="Text 7"/>
          <p:cNvSpPr txBox="1"/>
          <p:nvPr/>
        </p:nvSpPr>
        <p:spPr>
          <a:xfrm>
            <a:off x="566928" y="2651760"/>
            <a:ext cx="1700784" cy="640080"/>
          </a:xfrm>
          <a:prstGeom prst="rect">
            <a:avLst/>
          </a:prstGeom>
          <a:noFill/>
          <a:ln/>
        </p:spPr>
        <p:txBody>
          <a:bodyPr wrap="square" lIns="0" tIns="0" rIns="0" bIns="0" rtlCol="0" anchor="t"/>
          <a:lstStyle/>
          <a:p>
            <a:pPr marL="0" indent="0" algn="ctr">
              <a:buNone/>
            </a:pPr>
            <a:r>
              <a:rPr lang="en-US" sz="1100" dirty="0">
                <a:solidFill>
                  <a:srgbClr val="15193A"/>
                </a:solidFill>
                <a:latin typeface="Calibri" pitchFamily="34" charset="0"/>
                <a:ea typeface="Calibri" pitchFamily="34" charset="-122"/>
                <a:cs typeface="Calibri" pitchFamily="34" charset="-120"/>
              </a:rPr>
              <a:t>personas con AR en el mundo en 2020</a:t>
            </a:r>
            <a:endParaRPr lang="en-US" sz="1100" dirty="0"/>
          </a:p>
        </p:txBody>
      </p:sp>
      <p:sp>
        <p:nvSpPr>
          <p:cNvPr id="10" name="Shape 8"/>
          <p:cNvSpPr/>
          <p:nvPr/>
        </p:nvSpPr>
        <p:spPr>
          <a:xfrm>
            <a:off x="2560320" y="1828800"/>
            <a:ext cx="1920240" cy="1554480"/>
          </a:xfrm>
          <a:prstGeom prst="roundRect">
            <a:avLst>
              <a:gd name="adj" fmla="val 5882"/>
            </a:avLst>
          </a:prstGeom>
          <a:solidFill>
            <a:srgbClr val="FFB703">
              <a:alpha val="12000"/>
            </a:srgbClr>
          </a:solidFill>
          <a:ln w="15875">
            <a:solidFill>
              <a:srgbClr val="FFB703"/>
            </a:solidFill>
            <a:prstDash val="solid"/>
          </a:ln>
        </p:spPr>
        <p:txBody>
          <a:bodyPr/>
          <a:lstStyle/>
          <a:p>
            <a:endParaRPr lang="es-CO"/>
          </a:p>
        </p:txBody>
      </p:sp>
      <p:sp>
        <p:nvSpPr>
          <p:cNvPr id="11" name="Text 9"/>
          <p:cNvSpPr txBox="1"/>
          <p:nvPr/>
        </p:nvSpPr>
        <p:spPr>
          <a:xfrm>
            <a:off x="2560320" y="1965960"/>
            <a:ext cx="1920240" cy="685800"/>
          </a:xfrm>
          <a:prstGeom prst="rect">
            <a:avLst/>
          </a:prstGeom>
          <a:noFill/>
          <a:ln/>
        </p:spPr>
        <p:txBody>
          <a:bodyPr wrap="square" lIns="0" tIns="0" rIns="0" bIns="0" rtlCol="0" anchor="ctr"/>
          <a:lstStyle/>
          <a:p>
            <a:pPr marL="0" indent="0" algn="ctr">
              <a:buNone/>
            </a:pPr>
            <a:r>
              <a:rPr lang="en-US" sz="3200" b="1" dirty="0">
                <a:solidFill>
                  <a:srgbClr val="8A5E00"/>
                </a:solidFill>
                <a:latin typeface="Calibri" pitchFamily="34" charset="0"/>
                <a:ea typeface="Calibri" pitchFamily="34" charset="-122"/>
                <a:cs typeface="Calibri" pitchFamily="34" charset="-120"/>
              </a:rPr>
              <a:t>31,7 M</a:t>
            </a:r>
            <a:endParaRPr lang="en-US" sz="3200" dirty="0"/>
          </a:p>
        </p:txBody>
      </p:sp>
      <p:sp>
        <p:nvSpPr>
          <p:cNvPr id="12" name="Text 10"/>
          <p:cNvSpPr txBox="1"/>
          <p:nvPr/>
        </p:nvSpPr>
        <p:spPr>
          <a:xfrm>
            <a:off x="2670048" y="2651760"/>
            <a:ext cx="1700784" cy="640080"/>
          </a:xfrm>
          <a:prstGeom prst="rect">
            <a:avLst/>
          </a:prstGeom>
          <a:noFill/>
          <a:ln/>
        </p:spPr>
        <p:txBody>
          <a:bodyPr wrap="square" lIns="0" tIns="0" rIns="0" bIns="0" rtlCol="0" anchor="t"/>
          <a:lstStyle/>
          <a:p>
            <a:pPr marL="0" indent="0" algn="ctr">
              <a:buNone/>
            </a:pPr>
            <a:r>
              <a:rPr lang="en-US" sz="1100" dirty="0">
                <a:solidFill>
                  <a:srgbClr val="15193A"/>
                </a:solidFill>
                <a:latin typeface="Calibri" pitchFamily="34" charset="0"/>
                <a:ea typeface="Calibri" pitchFamily="34" charset="-122"/>
                <a:cs typeface="Calibri" pitchFamily="34" charset="-120"/>
              </a:rPr>
              <a:t>proyectadas para 2050 (+80 %)</a:t>
            </a:r>
            <a:endParaRPr lang="en-US" sz="1100" dirty="0"/>
          </a:p>
        </p:txBody>
      </p:sp>
      <p:sp>
        <p:nvSpPr>
          <p:cNvPr id="13" name="Shape 11"/>
          <p:cNvSpPr/>
          <p:nvPr/>
        </p:nvSpPr>
        <p:spPr>
          <a:xfrm>
            <a:off x="4663440" y="1828800"/>
            <a:ext cx="1920240" cy="1554480"/>
          </a:xfrm>
          <a:prstGeom prst="roundRect">
            <a:avLst>
              <a:gd name="adj" fmla="val 5882"/>
            </a:avLst>
          </a:prstGeom>
          <a:solidFill>
            <a:srgbClr val="4CC9F0">
              <a:alpha val="12000"/>
            </a:srgbClr>
          </a:solidFill>
          <a:ln w="15875">
            <a:solidFill>
              <a:srgbClr val="4CC9F0"/>
            </a:solidFill>
            <a:prstDash val="solid"/>
          </a:ln>
        </p:spPr>
        <p:txBody>
          <a:bodyPr/>
          <a:lstStyle/>
          <a:p>
            <a:endParaRPr lang="es-CO"/>
          </a:p>
        </p:txBody>
      </p:sp>
      <p:sp>
        <p:nvSpPr>
          <p:cNvPr id="14" name="Text 12"/>
          <p:cNvSpPr txBox="1"/>
          <p:nvPr/>
        </p:nvSpPr>
        <p:spPr>
          <a:xfrm>
            <a:off x="4663440" y="1965960"/>
            <a:ext cx="1920240" cy="685800"/>
          </a:xfrm>
          <a:prstGeom prst="rect">
            <a:avLst/>
          </a:prstGeom>
          <a:noFill/>
          <a:ln/>
        </p:spPr>
        <p:txBody>
          <a:bodyPr wrap="square" lIns="0" tIns="0" rIns="0" bIns="0" rtlCol="0" anchor="ctr"/>
          <a:lstStyle/>
          <a:p>
            <a:pPr marL="0" indent="0" algn="ctr">
              <a:buNone/>
            </a:pPr>
            <a:r>
              <a:rPr lang="en-US" sz="3200" b="1" dirty="0">
                <a:solidFill>
                  <a:srgbClr val="0A6F98"/>
                </a:solidFill>
                <a:latin typeface="Calibri" pitchFamily="34" charset="0"/>
                <a:ea typeface="Calibri" pitchFamily="34" charset="-122"/>
                <a:cs typeface="Calibri" pitchFamily="34" charset="-120"/>
              </a:rPr>
              <a:t>0,53 %</a:t>
            </a:r>
            <a:endParaRPr lang="en-US" sz="3200" dirty="0"/>
          </a:p>
        </p:txBody>
      </p:sp>
      <p:sp>
        <p:nvSpPr>
          <p:cNvPr id="15" name="Text 13"/>
          <p:cNvSpPr txBox="1"/>
          <p:nvPr/>
        </p:nvSpPr>
        <p:spPr>
          <a:xfrm>
            <a:off x="4773168" y="2651760"/>
            <a:ext cx="1700784" cy="640080"/>
          </a:xfrm>
          <a:prstGeom prst="rect">
            <a:avLst/>
          </a:prstGeom>
          <a:noFill/>
          <a:ln/>
        </p:spPr>
        <p:txBody>
          <a:bodyPr wrap="square" lIns="0" tIns="0" rIns="0" bIns="0" rtlCol="0" anchor="t"/>
          <a:lstStyle/>
          <a:p>
            <a:pPr marL="0" indent="0" algn="ctr">
              <a:buNone/>
            </a:pPr>
            <a:r>
              <a:rPr lang="en-US" sz="1100" dirty="0">
                <a:solidFill>
                  <a:srgbClr val="15193A"/>
                </a:solidFill>
                <a:latin typeface="Calibri" pitchFamily="34" charset="0"/>
                <a:ea typeface="Calibri" pitchFamily="34" charset="-122"/>
                <a:cs typeface="Calibri" pitchFamily="34" charset="-120"/>
              </a:rPr>
              <a:t>de los adultos del mundo · 0,74 % en EE. UU.</a:t>
            </a:r>
            <a:endParaRPr lang="en-US" sz="1100" dirty="0"/>
          </a:p>
        </p:txBody>
      </p:sp>
      <p:sp>
        <p:nvSpPr>
          <p:cNvPr id="16" name="Shape 14"/>
          <p:cNvSpPr/>
          <p:nvPr/>
        </p:nvSpPr>
        <p:spPr>
          <a:xfrm>
            <a:off x="6766560" y="1828800"/>
            <a:ext cx="1920240" cy="1554480"/>
          </a:xfrm>
          <a:prstGeom prst="roundRect">
            <a:avLst>
              <a:gd name="adj" fmla="val 5882"/>
            </a:avLst>
          </a:prstGeom>
          <a:solidFill>
            <a:srgbClr val="A78BFA">
              <a:alpha val="12000"/>
            </a:srgbClr>
          </a:solidFill>
          <a:ln w="15875">
            <a:solidFill>
              <a:srgbClr val="A78BFA"/>
            </a:solidFill>
            <a:prstDash val="solid"/>
          </a:ln>
        </p:spPr>
        <p:txBody>
          <a:bodyPr/>
          <a:lstStyle/>
          <a:p>
            <a:endParaRPr lang="es-CO"/>
          </a:p>
        </p:txBody>
      </p:sp>
      <p:sp>
        <p:nvSpPr>
          <p:cNvPr id="17" name="Text 15"/>
          <p:cNvSpPr txBox="1"/>
          <p:nvPr/>
        </p:nvSpPr>
        <p:spPr>
          <a:xfrm>
            <a:off x="6766560" y="1965960"/>
            <a:ext cx="1920240" cy="685800"/>
          </a:xfrm>
          <a:prstGeom prst="rect">
            <a:avLst/>
          </a:prstGeom>
          <a:noFill/>
          <a:ln/>
        </p:spPr>
        <p:txBody>
          <a:bodyPr wrap="square" lIns="0" tIns="0" rIns="0" bIns="0" rtlCol="0" anchor="ctr"/>
          <a:lstStyle/>
          <a:p>
            <a:pPr marL="0" indent="0" algn="ctr">
              <a:buNone/>
            </a:pPr>
            <a:r>
              <a:rPr lang="en-US" sz="3200" b="1" dirty="0">
                <a:solidFill>
                  <a:srgbClr val="6A4CCF"/>
                </a:solidFill>
                <a:latin typeface="Calibri" pitchFamily="34" charset="0"/>
                <a:ea typeface="Calibri" pitchFamily="34" charset="-122"/>
                <a:cs typeface="Calibri" pitchFamily="34" charset="-120"/>
              </a:rPr>
              <a:t>2–3 : 1</a:t>
            </a:r>
            <a:endParaRPr lang="en-US" sz="3200" dirty="0"/>
          </a:p>
        </p:txBody>
      </p:sp>
      <p:sp>
        <p:nvSpPr>
          <p:cNvPr id="18" name="Text 16"/>
          <p:cNvSpPr txBox="1"/>
          <p:nvPr/>
        </p:nvSpPr>
        <p:spPr>
          <a:xfrm>
            <a:off x="6876288" y="2651760"/>
            <a:ext cx="1700784" cy="640080"/>
          </a:xfrm>
          <a:prstGeom prst="rect">
            <a:avLst/>
          </a:prstGeom>
          <a:noFill/>
          <a:ln/>
        </p:spPr>
        <p:txBody>
          <a:bodyPr wrap="square" lIns="0" tIns="0" rIns="0" bIns="0" rtlCol="0" anchor="t"/>
          <a:lstStyle/>
          <a:p>
            <a:pPr marL="0" indent="0" algn="ctr">
              <a:buNone/>
            </a:pPr>
            <a:r>
              <a:rPr lang="en-US" sz="1100" dirty="0">
                <a:solidFill>
                  <a:srgbClr val="15193A"/>
                </a:solidFill>
                <a:latin typeface="Calibri" pitchFamily="34" charset="0"/>
                <a:ea typeface="Calibri" pitchFamily="34" charset="-122"/>
                <a:cs typeface="Calibri" pitchFamily="34" charset="-120"/>
              </a:rPr>
              <a:t>mujeres por cada hombre · pico 55–75 años</a:t>
            </a:r>
            <a:endParaRPr lang="en-US" sz="1100" dirty="0"/>
          </a:p>
        </p:txBody>
      </p:sp>
      <p:sp>
        <p:nvSpPr>
          <p:cNvPr id="19" name="Shape 17"/>
          <p:cNvSpPr/>
          <p:nvPr/>
        </p:nvSpPr>
        <p:spPr>
          <a:xfrm>
            <a:off x="457200" y="3566160"/>
            <a:ext cx="8229600" cy="1143000"/>
          </a:xfrm>
          <a:prstGeom prst="roundRect">
            <a:avLst>
              <a:gd name="adj" fmla="val 8000"/>
            </a:avLst>
          </a:prstGeom>
          <a:solidFill>
            <a:srgbClr val="F1F3FB"/>
          </a:solidFill>
          <a:ln w="9525">
            <a:solidFill>
              <a:srgbClr val="D8DEEF"/>
            </a:solidFill>
            <a:prstDash val="solid"/>
          </a:ln>
        </p:spPr>
        <p:txBody>
          <a:bodyPr/>
          <a:lstStyle/>
          <a:p>
            <a:endParaRPr lang="es-CO"/>
          </a:p>
        </p:txBody>
      </p:sp>
      <p:sp>
        <p:nvSpPr>
          <p:cNvPr id="20" name="Text 18"/>
          <p:cNvSpPr txBox="1"/>
          <p:nvPr/>
        </p:nvSpPr>
        <p:spPr>
          <a:xfrm>
            <a:off x="640080" y="3566160"/>
            <a:ext cx="1463040" cy="1143000"/>
          </a:xfrm>
          <a:prstGeom prst="rect">
            <a:avLst/>
          </a:prstGeom>
          <a:noFill/>
          <a:ln/>
        </p:spPr>
        <p:txBody>
          <a:bodyPr wrap="square" lIns="0" tIns="0" rIns="0" bIns="0" rtlCol="0" anchor="ctr"/>
          <a:lstStyle/>
          <a:p>
            <a:pPr marL="0" indent="0">
              <a:buNone/>
            </a:pPr>
            <a:r>
              <a:rPr lang="en-US" sz="3000" b="1" dirty="0">
                <a:solidFill>
                  <a:srgbClr val="0C8368"/>
                </a:solidFill>
                <a:latin typeface="Calibri" pitchFamily="34" charset="0"/>
                <a:ea typeface="Calibri" pitchFamily="34" charset="-122"/>
                <a:cs typeface="Calibri" pitchFamily="34" charset="-120"/>
              </a:rPr>
              <a:t>76 %</a:t>
            </a:r>
            <a:endParaRPr lang="en-US" sz="1300" dirty="0"/>
          </a:p>
        </p:txBody>
      </p:sp>
      <p:sp>
        <p:nvSpPr>
          <p:cNvPr id="21" name="Text 19"/>
          <p:cNvSpPr txBox="1"/>
          <p:nvPr/>
        </p:nvSpPr>
        <p:spPr>
          <a:xfrm>
            <a:off x="2103120" y="3566160"/>
            <a:ext cx="6400800" cy="1143000"/>
          </a:xfrm>
          <a:prstGeom prst="rect">
            <a:avLst/>
          </a:prstGeom>
          <a:noFill/>
          <a:ln/>
        </p:spPr>
        <p:txBody>
          <a:bodyPr wrap="square" lIns="0" tIns="0" rIns="0" bIns="0" rtlCol="0" anchor="ctr"/>
          <a:lstStyle/>
          <a:p>
            <a:pPr marL="0" indent="0">
              <a:buNone/>
            </a:pPr>
            <a:r>
              <a:rPr lang="en-US" sz="1300" dirty="0">
                <a:solidFill>
                  <a:srgbClr val="15193A"/>
                </a:solidFill>
                <a:latin typeface="Calibri" pitchFamily="34" charset="0"/>
                <a:ea typeface="Calibri" pitchFamily="34" charset="-122"/>
                <a:cs typeface="Calibri" pitchFamily="34" charset="-120"/>
              </a:rPr>
              <a:t>de la carga de enfermedad de la AR (AVAD) se debe a años vividos con discapacidad: es una enfermedad que no suele matar rápido, pero que deforma, limita y saca a las personas de su vida laboral si no se trata a tiempo.</a:t>
            </a:r>
            <a:endParaRPr lang="en-US" sz="130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FF4D6D"/>
          </a:solidFill>
          <a:ln w="12700">
            <a:solidFill>
              <a:srgbClr val="FF4D6D"/>
            </a:solidFill>
            <a:prstDash val="solid"/>
          </a:ln>
        </p:spPr>
        <p:txBody>
          <a:bodyPr/>
          <a:lstStyle/>
          <a:p>
            <a:endParaRPr lang="es-CO"/>
          </a:p>
        </p:txBody>
      </p:sp>
      <p:sp>
        <p:nvSpPr>
          <p:cNvPr id="3" name="Text 1"/>
          <p:cNvSpPr txBox="1"/>
          <p:nvPr/>
        </p:nvSpPr>
        <p:spPr>
          <a:xfrm>
            <a:off x="685800" y="219456"/>
            <a:ext cx="7772400" cy="256032"/>
          </a:xfrm>
          <a:prstGeom prst="rect">
            <a:avLst/>
          </a:prstGeom>
          <a:noFill/>
          <a:ln/>
        </p:spPr>
        <p:txBody>
          <a:bodyPr wrap="square" lIns="0" tIns="0" rIns="0" bIns="0" rtlCol="0" anchor="ctr"/>
          <a:lstStyle/>
          <a:p>
            <a:pPr marL="0" indent="0">
              <a:buNone/>
            </a:pPr>
            <a:r>
              <a:rPr lang="en-US" sz="1050" b="1" kern="0" spc="400" dirty="0">
                <a:solidFill>
                  <a:srgbClr val="C81E43"/>
                </a:solidFill>
                <a:latin typeface="Calibri" pitchFamily="34" charset="0"/>
                <a:ea typeface="Calibri" pitchFamily="34" charset="-122"/>
                <a:cs typeface="Calibri" pitchFamily="34" charset="-120"/>
              </a:rPr>
              <a:t>INTRODUCCIÓN</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600" b="1" dirty="0">
                <a:solidFill>
                  <a:srgbClr val="15193A"/>
                </a:solidFill>
                <a:latin typeface="Calibri" pitchFamily="34" charset="0"/>
                <a:ea typeface="Calibri" pitchFamily="34" charset="-122"/>
                <a:cs typeface="Calibri" pitchFamily="34" charset="-120"/>
              </a:rPr>
              <a:t>Lo que está en juego: una ventana de oportunidad</a:t>
            </a:r>
            <a:endParaRPr lang="en-US" sz="2600" dirty="0"/>
          </a:p>
        </p:txBody>
      </p:sp>
      <p:sp>
        <p:nvSpPr>
          <p:cNvPr id="5" name="Text 3"/>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[1] Smolen JS, et al. JAMA 2026</a:t>
            </a:r>
            <a:endParaRPr lang="en-US" sz="850" dirty="0"/>
          </a:p>
        </p:txBody>
      </p:sp>
      <p:sp>
        <p:nvSpPr>
          <p:cNvPr id="6" name="Shape 4"/>
          <p:cNvSpPr/>
          <p:nvPr/>
        </p:nvSpPr>
        <p:spPr>
          <a:xfrm>
            <a:off x="457200" y="1188720"/>
            <a:ext cx="4023360" cy="2743200"/>
          </a:xfrm>
          <a:prstGeom prst="roundRect">
            <a:avLst>
              <a:gd name="adj" fmla="val 3333"/>
            </a:avLst>
          </a:prstGeom>
          <a:solidFill>
            <a:srgbClr val="FF4D6D">
              <a:alpha val="12000"/>
            </a:srgbClr>
          </a:solidFill>
          <a:ln w="15875">
            <a:solidFill>
              <a:srgbClr val="FF4D6D"/>
            </a:solidFill>
            <a:prstDash val="solid"/>
          </a:ln>
        </p:spPr>
        <p:txBody>
          <a:bodyPr/>
          <a:lstStyle/>
          <a:p>
            <a:endParaRPr lang="es-CO"/>
          </a:p>
        </p:txBody>
      </p:sp>
      <p:sp>
        <p:nvSpPr>
          <p:cNvPr id="7" name="Shape 5"/>
          <p:cNvSpPr/>
          <p:nvPr/>
        </p:nvSpPr>
        <p:spPr>
          <a:xfrm>
            <a:off x="640080" y="1325880"/>
            <a:ext cx="548640" cy="548640"/>
          </a:xfrm>
          <a:prstGeom prst="ellipse">
            <a:avLst/>
          </a:prstGeom>
          <a:solidFill>
            <a:srgbClr val="FF4D6D"/>
          </a:solidFill>
          <a:ln w="19050">
            <a:solidFill>
              <a:srgbClr val="FF4D6D"/>
            </a:solidFill>
            <a:prstDash val="solid"/>
          </a:ln>
        </p:spPr>
        <p:txBody>
          <a:bodyPr/>
          <a:lstStyle/>
          <a:p>
            <a:endParaRPr lang="es-CO"/>
          </a:p>
        </p:txBody>
      </p:sp>
      <p:pic>
        <p:nvPicPr>
          <p:cNvPr id="8" name="Image 0" descr="preencoded.png"/>
          <p:cNvPicPr>
            <a:picLocks noChangeAspect="1"/>
          </p:cNvPicPr>
          <p:nvPr/>
        </p:nvPicPr>
        <p:blipFill>
          <a:blip r:embed="rId4"/>
          <a:stretch>
            <a:fillRect/>
          </a:stretch>
        </p:blipFill>
        <p:spPr>
          <a:xfrm>
            <a:off x="782726" y="1468526"/>
            <a:ext cx="263347" cy="263347"/>
          </a:xfrm>
          <a:prstGeom prst="rect">
            <a:avLst/>
          </a:prstGeom>
        </p:spPr>
      </p:pic>
      <p:sp>
        <p:nvSpPr>
          <p:cNvPr id="9" name="Text 6"/>
          <p:cNvSpPr txBox="1"/>
          <p:nvPr/>
        </p:nvSpPr>
        <p:spPr>
          <a:xfrm>
            <a:off x="1325880" y="1325880"/>
            <a:ext cx="3063240" cy="548640"/>
          </a:xfrm>
          <a:prstGeom prst="rect">
            <a:avLst/>
          </a:prstGeom>
          <a:noFill/>
          <a:ln/>
        </p:spPr>
        <p:txBody>
          <a:bodyPr wrap="square" lIns="0" tIns="0" rIns="0" bIns="0" rtlCol="0" anchor="ctr"/>
          <a:lstStyle/>
          <a:p>
            <a:pPr marL="0" indent="0">
              <a:buNone/>
            </a:pPr>
            <a:r>
              <a:rPr lang="en-US" sz="1500" b="1" dirty="0">
                <a:solidFill>
                  <a:srgbClr val="C81E43"/>
                </a:solidFill>
                <a:latin typeface="Calibri" pitchFamily="34" charset="0"/>
                <a:ea typeface="Calibri" pitchFamily="34" charset="-122"/>
                <a:cs typeface="Calibri" pitchFamily="34" charset="-120"/>
              </a:rPr>
              <a:t>Sin tratamiento oportuno</a:t>
            </a:r>
            <a:endParaRPr lang="en-US" sz="1500" dirty="0"/>
          </a:p>
        </p:txBody>
      </p:sp>
      <p:sp>
        <p:nvSpPr>
          <p:cNvPr id="10" name="Text 7"/>
          <p:cNvSpPr txBox="1"/>
          <p:nvPr/>
        </p:nvSpPr>
        <p:spPr>
          <a:xfrm>
            <a:off x="685800" y="2011680"/>
            <a:ext cx="3611880" cy="1828800"/>
          </a:xfrm>
          <a:prstGeom prst="rect">
            <a:avLst/>
          </a:prstGeom>
          <a:noFill/>
          <a:ln/>
        </p:spPr>
        <p:txBody>
          <a:bodyPr wrap="square" lIns="0" tIns="0" rIns="0" bIns="0" rtlCol="0" anchor="t"/>
          <a:lstStyle/>
          <a:p>
            <a:pPr marL="165100" indent="-165100">
              <a:spcAft>
                <a:spcPts val="600"/>
              </a:spcAft>
              <a:buSzPct val="100000"/>
              <a:buChar char="•"/>
            </a:pPr>
            <a:r>
              <a:rPr lang="en-US" sz="1300" dirty="0">
                <a:solidFill>
                  <a:srgbClr val="15193A"/>
                </a:solidFill>
                <a:latin typeface="Calibri" pitchFamily="34" charset="0"/>
                <a:ea typeface="Calibri" pitchFamily="34" charset="-122"/>
                <a:cs typeface="Calibri" pitchFamily="34" charset="-120"/>
              </a:rPr>
              <a:t>Destrucción de cartílago y hueso: daño irreversible</a:t>
            </a:r>
            <a:endParaRPr lang="en-US" sz="1300" dirty="0"/>
          </a:p>
          <a:p>
            <a:pPr marL="165100" indent="-165100">
              <a:spcAft>
                <a:spcPts val="600"/>
              </a:spcAft>
              <a:buSzPct val="100000"/>
              <a:buChar char="•"/>
            </a:pPr>
            <a:r>
              <a:rPr lang="en-US" sz="1300" dirty="0">
                <a:solidFill>
                  <a:srgbClr val="15193A"/>
                </a:solidFill>
                <a:latin typeface="Calibri" pitchFamily="34" charset="0"/>
                <a:ea typeface="Calibri" pitchFamily="34" charset="-122"/>
                <a:cs typeface="Calibri" pitchFamily="34" charset="-120"/>
              </a:rPr>
              <a:t>Deformidad y discapacidad funcional</a:t>
            </a:r>
            <a:endParaRPr lang="en-US" sz="1300" dirty="0"/>
          </a:p>
          <a:p>
            <a:pPr marL="165100" indent="-165100">
              <a:spcAft>
                <a:spcPts val="600"/>
              </a:spcAft>
              <a:buSzPct val="100000"/>
              <a:buChar char="•"/>
            </a:pPr>
            <a:r>
              <a:rPr lang="en-US" sz="1300" dirty="0">
                <a:solidFill>
                  <a:srgbClr val="15193A"/>
                </a:solidFill>
                <a:latin typeface="Calibri" pitchFamily="34" charset="0"/>
                <a:ea typeface="Calibri" pitchFamily="34" charset="-122"/>
                <a:cs typeface="Calibri" pitchFamily="34" charset="-120"/>
              </a:rPr>
              <a:t>Nódulos, vasculitis, fibrosis pulmonar</a:t>
            </a:r>
            <a:endParaRPr lang="en-US" sz="1300" dirty="0"/>
          </a:p>
          <a:p>
            <a:pPr marL="165100" indent="-165100">
              <a:spcAft>
                <a:spcPts val="600"/>
              </a:spcAft>
              <a:buSzPct val="100000"/>
              <a:buChar char="•"/>
            </a:pPr>
            <a:r>
              <a:rPr lang="en-US" sz="1300" dirty="0">
                <a:solidFill>
                  <a:srgbClr val="15193A"/>
                </a:solidFill>
                <a:latin typeface="Calibri" pitchFamily="34" charset="0"/>
                <a:ea typeface="Calibri" pitchFamily="34" charset="-122"/>
                <a:cs typeface="Calibri" pitchFamily="34" charset="-120"/>
              </a:rPr>
              <a:t>Mortalidad 1,4–1,5 veces mayor cuando la actividad es alta</a:t>
            </a:r>
            <a:endParaRPr lang="en-US" sz="1300" dirty="0"/>
          </a:p>
        </p:txBody>
      </p:sp>
      <p:sp>
        <p:nvSpPr>
          <p:cNvPr id="11" name="Shape 8"/>
          <p:cNvSpPr/>
          <p:nvPr/>
        </p:nvSpPr>
        <p:spPr>
          <a:xfrm>
            <a:off x="4663440" y="1188720"/>
            <a:ext cx="4023360" cy="2743200"/>
          </a:xfrm>
          <a:prstGeom prst="roundRect">
            <a:avLst>
              <a:gd name="adj" fmla="val 3333"/>
            </a:avLst>
          </a:prstGeom>
          <a:solidFill>
            <a:srgbClr val="21D3A8">
              <a:alpha val="12000"/>
            </a:srgbClr>
          </a:solidFill>
          <a:ln w="15875">
            <a:solidFill>
              <a:srgbClr val="21D3A8"/>
            </a:solidFill>
            <a:prstDash val="solid"/>
          </a:ln>
        </p:spPr>
        <p:txBody>
          <a:bodyPr/>
          <a:lstStyle/>
          <a:p>
            <a:endParaRPr lang="es-CO"/>
          </a:p>
        </p:txBody>
      </p:sp>
      <p:sp>
        <p:nvSpPr>
          <p:cNvPr id="12" name="Shape 9"/>
          <p:cNvSpPr/>
          <p:nvPr/>
        </p:nvSpPr>
        <p:spPr>
          <a:xfrm>
            <a:off x="4846320" y="1325880"/>
            <a:ext cx="548640" cy="548640"/>
          </a:xfrm>
          <a:prstGeom prst="ellipse">
            <a:avLst/>
          </a:prstGeom>
          <a:solidFill>
            <a:srgbClr val="21D3A8"/>
          </a:solidFill>
          <a:ln w="19050">
            <a:solidFill>
              <a:srgbClr val="21D3A8"/>
            </a:solidFill>
            <a:prstDash val="solid"/>
          </a:ln>
        </p:spPr>
        <p:txBody>
          <a:bodyPr/>
          <a:lstStyle/>
          <a:p>
            <a:endParaRPr lang="es-CO"/>
          </a:p>
        </p:txBody>
      </p:sp>
      <p:pic>
        <p:nvPicPr>
          <p:cNvPr id="13" name="Image 1" descr="preencoded.png"/>
          <p:cNvPicPr>
            <a:picLocks noChangeAspect="1"/>
          </p:cNvPicPr>
          <p:nvPr/>
        </p:nvPicPr>
        <p:blipFill>
          <a:blip r:embed="rId5"/>
          <a:stretch>
            <a:fillRect/>
          </a:stretch>
        </p:blipFill>
        <p:spPr>
          <a:xfrm>
            <a:off x="4988966" y="1468526"/>
            <a:ext cx="263347" cy="263347"/>
          </a:xfrm>
          <a:prstGeom prst="rect">
            <a:avLst/>
          </a:prstGeom>
        </p:spPr>
      </p:pic>
      <p:sp>
        <p:nvSpPr>
          <p:cNvPr id="14" name="Text 10"/>
          <p:cNvSpPr txBox="1"/>
          <p:nvPr/>
        </p:nvSpPr>
        <p:spPr>
          <a:xfrm>
            <a:off x="5532120" y="1325880"/>
            <a:ext cx="3063240" cy="548640"/>
          </a:xfrm>
          <a:prstGeom prst="rect">
            <a:avLst/>
          </a:prstGeom>
          <a:noFill/>
          <a:ln/>
        </p:spPr>
        <p:txBody>
          <a:bodyPr wrap="square" lIns="0" tIns="0" rIns="0" bIns="0" rtlCol="0" anchor="ctr"/>
          <a:lstStyle/>
          <a:p>
            <a:pPr marL="0" indent="0">
              <a:buNone/>
            </a:pPr>
            <a:r>
              <a:rPr lang="en-US" sz="1500" b="1" dirty="0">
                <a:solidFill>
                  <a:srgbClr val="0C8368"/>
                </a:solidFill>
                <a:latin typeface="Calibri" pitchFamily="34" charset="0"/>
                <a:ea typeface="Calibri" pitchFamily="34" charset="-122"/>
                <a:cs typeface="Calibri" pitchFamily="34" charset="-120"/>
              </a:rPr>
              <a:t>Con tratamiento temprano y por metas</a:t>
            </a:r>
            <a:endParaRPr lang="en-US" sz="1500" dirty="0"/>
          </a:p>
        </p:txBody>
      </p:sp>
      <p:sp>
        <p:nvSpPr>
          <p:cNvPr id="15" name="Text 11"/>
          <p:cNvSpPr txBox="1"/>
          <p:nvPr/>
        </p:nvSpPr>
        <p:spPr>
          <a:xfrm>
            <a:off x="4892040" y="2011680"/>
            <a:ext cx="3611880" cy="1828800"/>
          </a:xfrm>
          <a:prstGeom prst="rect">
            <a:avLst/>
          </a:prstGeom>
          <a:noFill/>
          <a:ln/>
        </p:spPr>
        <p:txBody>
          <a:bodyPr wrap="square" lIns="0" tIns="0" rIns="0" bIns="0" rtlCol="0" anchor="t"/>
          <a:lstStyle/>
          <a:p>
            <a:pPr marL="165100" indent="-165100">
              <a:spcAft>
                <a:spcPts val="600"/>
              </a:spcAft>
              <a:buSzPct val="100000"/>
              <a:buChar char="•"/>
            </a:pPr>
            <a:r>
              <a:rPr lang="en-US" sz="1300" dirty="0">
                <a:solidFill>
                  <a:srgbClr val="15193A"/>
                </a:solidFill>
                <a:latin typeface="Calibri" pitchFamily="34" charset="0"/>
                <a:ea typeface="Calibri" pitchFamily="34" charset="-122"/>
                <a:cs typeface="Calibri" pitchFamily="34" charset="-120"/>
              </a:rPr>
              <a:t>Cerca del 40 % logra remisión sostenida a 10 años</a:t>
            </a:r>
            <a:endParaRPr lang="en-US" sz="1300" dirty="0"/>
          </a:p>
          <a:p>
            <a:pPr marL="165100" indent="-165100">
              <a:spcAft>
                <a:spcPts val="600"/>
              </a:spcAft>
              <a:buSzPct val="100000"/>
              <a:buChar char="•"/>
            </a:pPr>
            <a:r>
              <a:rPr lang="en-US" sz="1300" dirty="0">
                <a:solidFill>
                  <a:srgbClr val="15193A"/>
                </a:solidFill>
                <a:latin typeface="Calibri" pitchFamily="34" charset="0"/>
                <a:ea typeface="Calibri" pitchFamily="34" charset="-122"/>
                <a:cs typeface="Calibri" pitchFamily="34" charset="-120"/>
              </a:rPr>
              <a:t>Otro 40 % alcanza baja actividad</a:t>
            </a:r>
            <a:endParaRPr lang="en-US" sz="1300" dirty="0"/>
          </a:p>
          <a:p>
            <a:pPr marL="165100" indent="-165100">
              <a:spcAft>
                <a:spcPts val="600"/>
              </a:spcAft>
              <a:buSzPct val="100000"/>
              <a:buChar char="•"/>
            </a:pPr>
            <a:r>
              <a:rPr lang="en-US" sz="1300" dirty="0">
                <a:solidFill>
                  <a:srgbClr val="15193A"/>
                </a:solidFill>
                <a:latin typeface="Calibri" pitchFamily="34" charset="0"/>
                <a:ea typeface="Calibri" pitchFamily="34" charset="-122"/>
                <a:cs typeface="Calibri" pitchFamily="34" charset="-120"/>
              </a:rPr>
              <a:t>≈ 80 % en remisión o baja actividad</a:t>
            </a:r>
            <a:endParaRPr lang="en-US" sz="1300" dirty="0"/>
          </a:p>
          <a:p>
            <a:pPr marL="165100" indent="-165100">
              <a:spcAft>
                <a:spcPts val="600"/>
              </a:spcAft>
              <a:buSzPct val="100000"/>
              <a:buChar char="•"/>
            </a:pPr>
            <a:r>
              <a:rPr lang="en-US" sz="1300" dirty="0">
                <a:solidFill>
                  <a:srgbClr val="15193A"/>
                </a:solidFill>
                <a:latin typeface="Calibri" pitchFamily="34" charset="0"/>
                <a:ea typeface="Calibri" pitchFamily="34" charset="-122"/>
                <a:cs typeface="Calibri" pitchFamily="34" charset="-120"/>
              </a:rPr>
              <a:t>Sin exceso de mortalidad si la actividad es baja</a:t>
            </a:r>
            <a:endParaRPr lang="en-US" sz="1300" dirty="0"/>
          </a:p>
        </p:txBody>
      </p:sp>
      <p:sp>
        <p:nvSpPr>
          <p:cNvPr id="16" name="Shape 12"/>
          <p:cNvSpPr/>
          <p:nvPr/>
        </p:nvSpPr>
        <p:spPr>
          <a:xfrm>
            <a:off x="457200" y="4023360"/>
            <a:ext cx="8229600" cy="603504"/>
          </a:xfrm>
          <a:prstGeom prst="roundRect">
            <a:avLst>
              <a:gd name="adj" fmla="val 15152"/>
            </a:avLst>
          </a:prstGeom>
          <a:solidFill>
            <a:srgbClr val="FFB703">
              <a:alpha val="12000"/>
            </a:srgbClr>
          </a:solidFill>
          <a:ln w="15875">
            <a:solidFill>
              <a:srgbClr val="FFB703"/>
            </a:solidFill>
            <a:prstDash val="solid"/>
          </a:ln>
        </p:spPr>
        <p:txBody>
          <a:bodyPr/>
          <a:lstStyle/>
          <a:p>
            <a:endParaRPr lang="es-CO"/>
          </a:p>
        </p:txBody>
      </p:sp>
      <p:sp>
        <p:nvSpPr>
          <p:cNvPr id="17" name="Text 13"/>
          <p:cNvSpPr txBox="1"/>
          <p:nvPr/>
        </p:nvSpPr>
        <p:spPr>
          <a:xfrm>
            <a:off x="621792" y="4023360"/>
            <a:ext cx="7900416" cy="603504"/>
          </a:xfrm>
          <a:prstGeom prst="rect">
            <a:avLst/>
          </a:prstGeom>
          <a:noFill/>
          <a:ln/>
        </p:spPr>
        <p:txBody>
          <a:bodyPr wrap="square" lIns="0" tIns="0" rIns="0" bIns="0" rtlCol="0" anchor="ctr"/>
          <a:lstStyle/>
          <a:p>
            <a:pPr marL="0" indent="0">
              <a:buNone/>
            </a:pPr>
            <a:r>
              <a:rPr lang="en-US" sz="1300" b="1" dirty="0">
                <a:solidFill>
                  <a:srgbClr val="8A5E00"/>
                </a:solidFill>
                <a:latin typeface="Calibri" pitchFamily="34" charset="0"/>
                <a:ea typeface="Calibri" pitchFamily="34" charset="-122"/>
                <a:cs typeface="Calibri" pitchFamily="34" charset="-120"/>
              </a:rPr>
              <a:t>El reloj empieza a correr en la primera consulta:  </a:t>
            </a:r>
            <a:r>
              <a:rPr lang="en-US" sz="1300" dirty="0">
                <a:solidFill>
                  <a:srgbClr val="15193A"/>
                </a:solidFill>
                <a:latin typeface="Calibri" pitchFamily="34" charset="0"/>
                <a:ea typeface="Calibri" pitchFamily="34" charset="-122"/>
                <a:cs typeface="Calibri" pitchFamily="34" charset="-120"/>
              </a:rPr>
              <a:t>quien detecta la sinovitis suele ser el médico general o el internista, no el reumatólogo.</a:t>
            </a:r>
            <a:endParaRPr lang="en-US" sz="130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4CC9F0"/>
          </a:solidFill>
          <a:ln w="12700">
            <a:solidFill>
              <a:srgbClr val="4CC9F0"/>
            </a:solidFill>
            <a:prstDash val="solid"/>
          </a:ln>
        </p:spPr>
        <p:txBody>
          <a:bodyPr/>
          <a:lstStyle/>
          <a:p>
            <a:endParaRPr lang="es-CO"/>
          </a:p>
        </p:txBody>
      </p:sp>
      <p:sp>
        <p:nvSpPr>
          <p:cNvPr id="3" name="Text 1"/>
          <p:cNvSpPr txBox="1"/>
          <p:nvPr/>
        </p:nvSpPr>
        <p:spPr>
          <a:xfrm>
            <a:off x="685800" y="219456"/>
            <a:ext cx="7772400" cy="256032"/>
          </a:xfrm>
          <a:prstGeom prst="rect">
            <a:avLst/>
          </a:prstGeom>
          <a:noFill/>
          <a:ln/>
        </p:spPr>
        <p:txBody>
          <a:bodyPr wrap="square" lIns="0" tIns="0" rIns="0" bIns="0" rtlCol="0" anchor="ctr"/>
          <a:lstStyle/>
          <a:p>
            <a:pPr marL="0" indent="0">
              <a:buNone/>
            </a:pPr>
            <a:r>
              <a:rPr lang="en-US" sz="1050" b="1" kern="0" spc="400" dirty="0">
                <a:solidFill>
                  <a:srgbClr val="0A6F98"/>
                </a:solidFill>
                <a:latin typeface="Calibri" pitchFamily="34" charset="0"/>
                <a:ea typeface="Calibri" pitchFamily="34" charset="-122"/>
                <a:cs typeface="Calibri" pitchFamily="34" charset="-120"/>
              </a:rPr>
              <a:t>CONTENIDO</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600" b="1" dirty="0">
                <a:solidFill>
                  <a:srgbClr val="15193A"/>
                </a:solidFill>
                <a:latin typeface="Calibri" pitchFamily="34" charset="0"/>
                <a:ea typeface="Calibri" pitchFamily="34" charset="-122"/>
                <a:cs typeface="Calibri" pitchFamily="34" charset="-120"/>
              </a:rPr>
              <a:t>Las 12 perlas en cuatro bloques</a:t>
            </a:r>
            <a:endParaRPr lang="en-US" sz="2600" dirty="0"/>
          </a:p>
        </p:txBody>
      </p:sp>
      <p:sp>
        <p:nvSpPr>
          <p:cNvPr id="5" name="Text 3"/>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[1] Smolen JS, et al. JAMA 2026 · [2] Smolen JS, et al. EULAR 2025. Ann Rheum Dis 2026</a:t>
            </a:r>
            <a:endParaRPr lang="en-US" sz="850" dirty="0"/>
          </a:p>
        </p:txBody>
      </p:sp>
      <p:sp>
        <p:nvSpPr>
          <p:cNvPr id="6" name="Shape 4"/>
          <p:cNvSpPr/>
          <p:nvPr/>
        </p:nvSpPr>
        <p:spPr>
          <a:xfrm>
            <a:off x="457200" y="1329396"/>
            <a:ext cx="1920240" cy="2999232"/>
          </a:xfrm>
          <a:prstGeom prst="roundRect">
            <a:avLst>
              <a:gd name="adj" fmla="val 4762"/>
            </a:avLst>
          </a:prstGeom>
          <a:solidFill>
            <a:srgbClr val="4CC9F0">
              <a:alpha val="12000"/>
            </a:srgbClr>
          </a:solidFill>
          <a:ln w="15875">
            <a:solidFill>
              <a:srgbClr val="4CC9F0"/>
            </a:solidFill>
            <a:prstDash val="solid"/>
          </a:ln>
        </p:spPr>
        <p:txBody>
          <a:bodyPr/>
          <a:lstStyle/>
          <a:p>
            <a:endParaRPr lang="es-CO"/>
          </a:p>
        </p:txBody>
      </p:sp>
      <p:sp>
        <p:nvSpPr>
          <p:cNvPr id="7" name="Text 5"/>
          <p:cNvSpPr txBox="1"/>
          <p:nvPr/>
        </p:nvSpPr>
        <p:spPr>
          <a:xfrm>
            <a:off x="457200" y="1420836"/>
            <a:ext cx="1920240" cy="685800"/>
          </a:xfrm>
          <a:prstGeom prst="rect">
            <a:avLst/>
          </a:prstGeom>
          <a:noFill/>
          <a:ln/>
        </p:spPr>
        <p:txBody>
          <a:bodyPr wrap="square" lIns="0" tIns="0" rIns="0" bIns="0" rtlCol="0" anchor="ctr"/>
          <a:lstStyle/>
          <a:p>
            <a:pPr marL="0" indent="0" algn="ctr">
              <a:buNone/>
            </a:pPr>
            <a:r>
              <a:rPr lang="en-US" sz="4000" b="1" dirty="0">
                <a:solidFill>
                  <a:srgbClr val="0A6F98"/>
                </a:solidFill>
                <a:latin typeface="Calibri" pitchFamily="34" charset="0"/>
                <a:ea typeface="Calibri" pitchFamily="34" charset="-122"/>
                <a:cs typeface="Calibri" pitchFamily="34" charset="-120"/>
              </a:rPr>
              <a:t>I</a:t>
            </a:r>
            <a:endParaRPr lang="en-US" sz="4000" dirty="0"/>
          </a:p>
        </p:txBody>
      </p:sp>
      <p:sp>
        <p:nvSpPr>
          <p:cNvPr id="8" name="Shape 6"/>
          <p:cNvSpPr/>
          <p:nvPr/>
        </p:nvSpPr>
        <p:spPr>
          <a:xfrm>
            <a:off x="1097280" y="2152356"/>
            <a:ext cx="640080" cy="640080"/>
          </a:xfrm>
          <a:prstGeom prst="ellipse">
            <a:avLst/>
          </a:prstGeom>
          <a:solidFill>
            <a:srgbClr val="4CC9F0"/>
          </a:solidFill>
          <a:ln w="19050">
            <a:solidFill>
              <a:srgbClr val="4CC9F0"/>
            </a:solidFill>
            <a:prstDash val="solid"/>
          </a:ln>
        </p:spPr>
        <p:txBody>
          <a:bodyPr/>
          <a:lstStyle/>
          <a:p>
            <a:endParaRPr lang="es-CO"/>
          </a:p>
        </p:txBody>
      </p:sp>
      <p:pic>
        <p:nvPicPr>
          <p:cNvPr id="9" name="Image 0" descr="preencoded.png"/>
          <p:cNvPicPr>
            <a:picLocks noChangeAspect="1"/>
          </p:cNvPicPr>
          <p:nvPr/>
        </p:nvPicPr>
        <p:blipFill>
          <a:blip r:embed="rId4"/>
          <a:stretch>
            <a:fillRect/>
          </a:stretch>
        </p:blipFill>
        <p:spPr>
          <a:xfrm>
            <a:off x="1263701" y="2318777"/>
            <a:ext cx="307238" cy="307238"/>
          </a:xfrm>
          <a:prstGeom prst="rect">
            <a:avLst/>
          </a:prstGeom>
        </p:spPr>
      </p:pic>
      <p:sp>
        <p:nvSpPr>
          <p:cNvPr id="10" name="Text 7"/>
          <p:cNvSpPr txBox="1"/>
          <p:nvPr/>
        </p:nvSpPr>
        <p:spPr>
          <a:xfrm>
            <a:off x="548640" y="2883876"/>
            <a:ext cx="1737360" cy="548640"/>
          </a:xfrm>
          <a:prstGeom prst="rect">
            <a:avLst/>
          </a:prstGeom>
          <a:noFill/>
          <a:ln/>
        </p:spPr>
        <p:txBody>
          <a:bodyPr wrap="square" lIns="0" tIns="0" rIns="0" bIns="0" rtlCol="0" anchor="ctr"/>
          <a:lstStyle/>
          <a:p>
            <a:pPr marL="0" indent="0" algn="ctr">
              <a:buNone/>
            </a:pPr>
            <a:r>
              <a:rPr lang="en-US" sz="1500" b="1" dirty="0">
                <a:solidFill>
                  <a:srgbClr val="15193A"/>
                </a:solidFill>
                <a:latin typeface="Calibri" pitchFamily="34" charset="0"/>
                <a:ea typeface="Calibri" pitchFamily="34" charset="-122"/>
                <a:cs typeface="Calibri" pitchFamily="34" charset="-120"/>
              </a:rPr>
              <a:t>Diagnóstico</a:t>
            </a:r>
            <a:endParaRPr lang="en-US" sz="1500" dirty="0"/>
          </a:p>
        </p:txBody>
      </p:sp>
      <p:sp>
        <p:nvSpPr>
          <p:cNvPr id="11" name="Shape 8"/>
          <p:cNvSpPr/>
          <p:nvPr/>
        </p:nvSpPr>
        <p:spPr>
          <a:xfrm>
            <a:off x="640080" y="3478236"/>
            <a:ext cx="1554480" cy="310896"/>
          </a:xfrm>
          <a:prstGeom prst="roundRect">
            <a:avLst>
              <a:gd name="adj" fmla="val 50000"/>
            </a:avLst>
          </a:prstGeom>
          <a:solidFill>
            <a:srgbClr val="4CC9F0"/>
          </a:solidFill>
          <a:ln w="12700">
            <a:solidFill>
              <a:srgbClr val="4CC9F0"/>
            </a:solidFill>
            <a:prstDash val="solid"/>
          </a:ln>
        </p:spPr>
        <p:txBody>
          <a:bodyPr/>
          <a:lstStyle/>
          <a:p>
            <a:endParaRPr lang="es-CO"/>
          </a:p>
        </p:txBody>
      </p:sp>
      <p:sp>
        <p:nvSpPr>
          <p:cNvPr id="12" name="Text 9"/>
          <p:cNvSpPr txBox="1"/>
          <p:nvPr/>
        </p:nvSpPr>
        <p:spPr>
          <a:xfrm>
            <a:off x="640080" y="3478236"/>
            <a:ext cx="1554480" cy="310896"/>
          </a:xfrm>
          <a:prstGeom prst="rect">
            <a:avLst/>
          </a:prstGeom>
          <a:noFill/>
          <a:ln/>
        </p:spPr>
        <p:txBody>
          <a:bodyPr wrap="square" lIns="0" tIns="0" rIns="0" bIns="0" rtlCol="0" anchor="ctr"/>
          <a:lstStyle/>
          <a:p>
            <a:pPr marL="0" indent="0" algn="ctr">
              <a:buNone/>
            </a:pPr>
            <a:r>
              <a:rPr lang="en-US" sz="1050" b="1" dirty="0">
                <a:solidFill>
                  <a:srgbClr val="0A0E24"/>
                </a:solidFill>
                <a:latin typeface="Calibri" pitchFamily="34" charset="0"/>
                <a:ea typeface="Calibri" pitchFamily="34" charset="-122"/>
                <a:cs typeface="Calibri" pitchFamily="34" charset="-120"/>
              </a:rPr>
              <a:t>Perlas 1 · 2 · 3 · 4 · 5</a:t>
            </a:r>
            <a:endParaRPr lang="en-US" sz="1050" dirty="0"/>
          </a:p>
        </p:txBody>
      </p:sp>
      <p:sp>
        <p:nvSpPr>
          <p:cNvPr id="14" name="Shape 11"/>
          <p:cNvSpPr/>
          <p:nvPr/>
        </p:nvSpPr>
        <p:spPr>
          <a:xfrm>
            <a:off x="2560320" y="1329396"/>
            <a:ext cx="1920240" cy="2999232"/>
          </a:xfrm>
          <a:prstGeom prst="roundRect">
            <a:avLst>
              <a:gd name="adj" fmla="val 4762"/>
            </a:avLst>
          </a:prstGeom>
          <a:solidFill>
            <a:srgbClr val="FF4D6D">
              <a:alpha val="12000"/>
            </a:srgbClr>
          </a:solidFill>
          <a:ln w="15875">
            <a:solidFill>
              <a:srgbClr val="FF4D6D"/>
            </a:solidFill>
            <a:prstDash val="solid"/>
          </a:ln>
        </p:spPr>
        <p:txBody>
          <a:bodyPr/>
          <a:lstStyle/>
          <a:p>
            <a:endParaRPr lang="es-CO"/>
          </a:p>
        </p:txBody>
      </p:sp>
      <p:sp>
        <p:nvSpPr>
          <p:cNvPr id="15" name="Text 12"/>
          <p:cNvSpPr txBox="1"/>
          <p:nvPr/>
        </p:nvSpPr>
        <p:spPr>
          <a:xfrm>
            <a:off x="2560320" y="1420836"/>
            <a:ext cx="1920240" cy="685800"/>
          </a:xfrm>
          <a:prstGeom prst="rect">
            <a:avLst/>
          </a:prstGeom>
          <a:noFill/>
          <a:ln/>
        </p:spPr>
        <p:txBody>
          <a:bodyPr wrap="square" lIns="0" tIns="0" rIns="0" bIns="0" rtlCol="0" anchor="ctr"/>
          <a:lstStyle/>
          <a:p>
            <a:pPr marL="0" indent="0" algn="ctr">
              <a:buNone/>
            </a:pPr>
            <a:r>
              <a:rPr lang="en-US" sz="4000" b="1" dirty="0">
                <a:solidFill>
                  <a:srgbClr val="C81E43"/>
                </a:solidFill>
                <a:latin typeface="Calibri" pitchFamily="34" charset="0"/>
                <a:ea typeface="Calibri" pitchFamily="34" charset="-122"/>
                <a:cs typeface="Calibri" pitchFamily="34" charset="-120"/>
              </a:rPr>
              <a:t>II</a:t>
            </a:r>
            <a:endParaRPr lang="en-US" sz="4000" dirty="0"/>
          </a:p>
        </p:txBody>
      </p:sp>
      <p:sp>
        <p:nvSpPr>
          <p:cNvPr id="16" name="Shape 13"/>
          <p:cNvSpPr/>
          <p:nvPr/>
        </p:nvSpPr>
        <p:spPr>
          <a:xfrm>
            <a:off x="3200400" y="2152356"/>
            <a:ext cx="640080" cy="640080"/>
          </a:xfrm>
          <a:prstGeom prst="ellipse">
            <a:avLst/>
          </a:prstGeom>
          <a:solidFill>
            <a:srgbClr val="FF4D6D"/>
          </a:solidFill>
          <a:ln w="19050">
            <a:solidFill>
              <a:srgbClr val="FF4D6D"/>
            </a:solidFill>
            <a:prstDash val="solid"/>
          </a:ln>
        </p:spPr>
        <p:txBody>
          <a:bodyPr/>
          <a:lstStyle/>
          <a:p>
            <a:endParaRPr lang="es-CO"/>
          </a:p>
        </p:txBody>
      </p:sp>
      <p:pic>
        <p:nvPicPr>
          <p:cNvPr id="17" name="Image 1" descr="preencoded.png"/>
          <p:cNvPicPr>
            <a:picLocks noChangeAspect="1"/>
          </p:cNvPicPr>
          <p:nvPr/>
        </p:nvPicPr>
        <p:blipFill>
          <a:blip r:embed="rId5"/>
          <a:stretch>
            <a:fillRect/>
          </a:stretch>
        </p:blipFill>
        <p:spPr>
          <a:xfrm>
            <a:off x="3366821" y="2318777"/>
            <a:ext cx="307238" cy="307238"/>
          </a:xfrm>
          <a:prstGeom prst="rect">
            <a:avLst/>
          </a:prstGeom>
        </p:spPr>
      </p:pic>
      <p:sp>
        <p:nvSpPr>
          <p:cNvPr id="18" name="Text 14"/>
          <p:cNvSpPr txBox="1"/>
          <p:nvPr/>
        </p:nvSpPr>
        <p:spPr>
          <a:xfrm>
            <a:off x="2651760" y="2883876"/>
            <a:ext cx="1737360" cy="548640"/>
          </a:xfrm>
          <a:prstGeom prst="rect">
            <a:avLst/>
          </a:prstGeom>
          <a:noFill/>
          <a:ln/>
        </p:spPr>
        <p:txBody>
          <a:bodyPr wrap="square" lIns="0" tIns="0" rIns="0" bIns="0" rtlCol="0" anchor="ctr"/>
          <a:lstStyle/>
          <a:p>
            <a:pPr marL="0" indent="0" algn="ctr">
              <a:buNone/>
            </a:pPr>
            <a:r>
              <a:rPr lang="en-US" sz="1500" b="1" dirty="0">
                <a:solidFill>
                  <a:srgbClr val="15193A"/>
                </a:solidFill>
                <a:latin typeface="Calibri" pitchFamily="34" charset="0"/>
                <a:ea typeface="Calibri" pitchFamily="34" charset="-122"/>
                <a:cs typeface="Calibri" pitchFamily="34" charset="-120"/>
              </a:rPr>
              <a:t>Primera consulta y alertas</a:t>
            </a:r>
            <a:endParaRPr lang="en-US" sz="1500" dirty="0"/>
          </a:p>
        </p:txBody>
      </p:sp>
      <p:sp>
        <p:nvSpPr>
          <p:cNvPr id="19" name="Shape 15"/>
          <p:cNvSpPr/>
          <p:nvPr/>
        </p:nvSpPr>
        <p:spPr>
          <a:xfrm>
            <a:off x="2743200" y="3478236"/>
            <a:ext cx="1554480" cy="310896"/>
          </a:xfrm>
          <a:prstGeom prst="roundRect">
            <a:avLst>
              <a:gd name="adj" fmla="val 50000"/>
            </a:avLst>
          </a:prstGeom>
          <a:solidFill>
            <a:srgbClr val="FF4D6D"/>
          </a:solidFill>
          <a:ln w="12700">
            <a:solidFill>
              <a:srgbClr val="FF4D6D"/>
            </a:solidFill>
            <a:prstDash val="solid"/>
          </a:ln>
        </p:spPr>
        <p:txBody>
          <a:bodyPr/>
          <a:lstStyle/>
          <a:p>
            <a:endParaRPr lang="es-CO"/>
          </a:p>
        </p:txBody>
      </p:sp>
      <p:sp>
        <p:nvSpPr>
          <p:cNvPr id="20" name="Text 16"/>
          <p:cNvSpPr txBox="1"/>
          <p:nvPr/>
        </p:nvSpPr>
        <p:spPr>
          <a:xfrm>
            <a:off x="2743200" y="3478236"/>
            <a:ext cx="1554480" cy="310896"/>
          </a:xfrm>
          <a:prstGeom prst="rect">
            <a:avLst/>
          </a:prstGeom>
          <a:noFill/>
          <a:ln/>
        </p:spPr>
        <p:txBody>
          <a:bodyPr wrap="square" lIns="0" tIns="0" rIns="0" bIns="0" rtlCol="0" anchor="ctr"/>
          <a:lstStyle/>
          <a:p>
            <a:pPr marL="0" indent="0" algn="ctr">
              <a:buNone/>
            </a:pPr>
            <a:r>
              <a:rPr lang="en-US" sz="1050" b="1" dirty="0">
                <a:solidFill>
                  <a:srgbClr val="0A0E24"/>
                </a:solidFill>
                <a:latin typeface="Calibri" pitchFamily="34" charset="0"/>
                <a:ea typeface="Calibri" pitchFamily="34" charset="-122"/>
                <a:cs typeface="Calibri" pitchFamily="34" charset="-120"/>
              </a:rPr>
              <a:t>Perlas 6 · 7</a:t>
            </a:r>
            <a:endParaRPr lang="en-US" sz="1050" dirty="0"/>
          </a:p>
        </p:txBody>
      </p:sp>
      <p:sp>
        <p:nvSpPr>
          <p:cNvPr id="22" name="Shape 18"/>
          <p:cNvSpPr/>
          <p:nvPr/>
        </p:nvSpPr>
        <p:spPr>
          <a:xfrm>
            <a:off x="4663440" y="1329396"/>
            <a:ext cx="1920240" cy="2999232"/>
          </a:xfrm>
          <a:prstGeom prst="roundRect">
            <a:avLst>
              <a:gd name="adj" fmla="val 4762"/>
            </a:avLst>
          </a:prstGeom>
          <a:solidFill>
            <a:srgbClr val="21D3A8">
              <a:alpha val="12000"/>
            </a:srgbClr>
          </a:solidFill>
          <a:ln w="15875">
            <a:solidFill>
              <a:srgbClr val="21D3A8"/>
            </a:solidFill>
            <a:prstDash val="solid"/>
          </a:ln>
        </p:spPr>
        <p:txBody>
          <a:bodyPr/>
          <a:lstStyle/>
          <a:p>
            <a:endParaRPr lang="es-CO"/>
          </a:p>
        </p:txBody>
      </p:sp>
      <p:sp>
        <p:nvSpPr>
          <p:cNvPr id="23" name="Text 19"/>
          <p:cNvSpPr txBox="1"/>
          <p:nvPr/>
        </p:nvSpPr>
        <p:spPr>
          <a:xfrm>
            <a:off x="4663440" y="1420836"/>
            <a:ext cx="1920240" cy="685800"/>
          </a:xfrm>
          <a:prstGeom prst="rect">
            <a:avLst/>
          </a:prstGeom>
          <a:noFill/>
          <a:ln/>
        </p:spPr>
        <p:txBody>
          <a:bodyPr wrap="square" lIns="0" tIns="0" rIns="0" bIns="0" rtlCol="0" anchor="ctr"/>
          <a:lstStyle/>
          <a:p>
            <a:pPr marL="0" indent="0" algn="ctr">
              <a:buNone/>
            </a:pPr>
            <a:r>
              <a:rPr lang="en-US" sz="4000" b="1" dirty="0">
                <a:solidFill>
                  <a:srgbClr val="0C8368"/>
                </a:solidFill>
                <a:latin typeface="Calibri" pitchFamily="34" charset="0"/>
                <a:ea typeface="Calibri" pitchFamily="34" charset="-122"/>
                <a:cs typeface="Calibri" pitchFamily="34" charset="-120"/>
              </a:rPr>
              <a:t>III</a:t>
            </a:r>
            <a:endParaRPr lang="en-US" sz="4000" dirty="0"/>
          </a:p>
        </p:txBody>
      </p:sp>
      <p:sp>
        <p:nvSpPr>
          <p:cNvPr id="24" name="Shape 20"/>
          <p:cNvSpPr/>
          <p:nvPr/>
        </p:nvSpPr>
        <p:spPr>
          <a:xfrm>
            <a:off x="5303520" y="2152356"/>
            <a:ext cx="640080" cy="640080"/>
          </a:xfrm>
          <a:prstGeom prst="ellipse">
            <a:avLst/>
          </a:prstGeom>
          <a:solidFill>
            <a:srgbClr val="21D3A8"/>
          </a:solidFill>
          <a:ln w="19050">
            <a:solidFill>
              <a:srgbClr val="21D3A8"/>
            </a:solidFill>
            <a:prstDash val="solid"/>
          </a:ln>
        </p:spPr>
        <p:txBody>
          <a:bodyPr/>
          <a:lstStyle/>
          <a:p>
            <a:endParaRPr lang="es-CO"/>
          </a:p>
        </p:txBody>
      </p:sp>
      <p:pic>
        <p:nvPicPr>
          <p:cNvPr id="25" name="Image 2" descr="preencoded.png"/>
          <p:cNvPicPr>
            <a:picLocks noChangeAspect="1"/>
          </p:cNvPicPr>
          <p:nvPr/>
        </p:nvPicPr>
        <p:blipFill>
          <a:blip r:embed="rId6"/>
          <a:stretch>
            <a:fillRect/>
          </a:stretch>
        </p:blipFill>
        <p:spPr>
          <a:xfrm>
            <a:off x="5469941" y="2318777"/>
            <a:ext cx="307238" cy="307238"/>
          </a:xfrm>
          <a:prstGeom prst="rect">
            <a:avLst/>
          </a:prstGeom>
        </p:spPr>
      </p:pic>
      <p:sp>
        <p:nvSpPr>
          <p:cNvPr id="26" name="Text 21"/>
          <p:cNvSpPr txBox="1"/>
          <p:nvPr/>
        </p:nvSpPr>
        <p:spPr>
          <a:xfrm>
            <a:off x="4754880" y="2883876"/>
            <a:ext cx="1737360" cy="548640"/>
          </a:xfrm>
          <a:prstGeom prst="rect">
            <a:avLst/>
          </a:prstGeom>
          <a:noFill/>
          <a:ln/>
        </p:spPr>
        <p:txBody>
          <a:bodyPr wrap="square" lIns="0" tIns="0" rIns="0" bIns="0" rtlCol="0" anchor="ctr"/>
          <a:lstStyle/>
          <a:p>
            <a:pPr marL="0" indent="0" algn="ctr">
              <a:buNone/>
            </a:pPr>
            <a:r>
              <a:rPr lang="en-US" sz="1500" b="1" dirty="0">
                <a:solidFill>
                  <a:srgbClr val="15193A"/>
                </a:solidFill>
                <a:latin typeface="Calibri" pitchFamily="34" charset="0"/>
                <a:ea typeface="Calibri" pitchFamily="34" charset="-122"/>
                <a:cs typeface="Calibri" pitchFamily="34" charset="-120"/>
              </a:rPr>
              <a:t>Tratamiento</a:t>
            </a:r>
            <a:endParaRPr lang="en-US" sz="1500" dirty="0"/>
          </a:p>
        </p:txBody>
      </p:sp>
      <p:sp>
        <p:nvSpPr>
          <p:cNvPr id="27" name="Shape 22"/>
          <p:cNvSpPr/>
          <p:nvPr/>
        </p:nvSpPr>
        <p:spPr>
          <a:xfrm>
            <a:off x="4846320" y="3478236"/>
            <a:ext cx="1554480" cy="310896"/>
          </a:xfrm>
          <a:prstGeom prst="roundRect">
            <a:avLst>
              <a:gd name="adj" fmla="val 50000"/>
            </a:avLst>
          </a:prstGeom>
          <a:solidFill>
            <a:srgbClr val="21D3A8"/>
          </a:solidFill>
          <a:ln w="12700">
            <a:solidFill>
              <a:srgbClr val="21D3A8"/>
            </a:solidFill>
            <a:prstDash val="solid"/>
          </a:ln>
        </p:spPr>
        <p:txBody>
          <a:bodyPr/>
          <a:lstStyle/>
          <a:p>
            <a:endParaRPr lang="es-CO"/>
          </a:p>
        </p:txBody>
      </p:sp>
      <p:sp>
        <p:nvSpPr>
          <p:cNvPr id="28" name="Text 23"/>
          <p:cNvSpPr txBox="1"/>
          <p:nvPr/>
        </p:nvSpPr>
        <p:spPr>
          <a:xfrm>
            <a:off x="4846320" y="3478236"/>
            <a:ext cx="1554480" cy="310896"/>
          </a:xfrm>
          <a:prstGeom prst="rect">
            <a:avLst/>
          </a:prstGeom>
          <a:noFill/>
          <a:ln/>
        </p:spPr>
        <p:txBody>
          <a:bodyPr wrap="square" lIns="0" tIns="0" rIns="0" bIns="0" rtlCol="0" anchor="ctr"/>
          <a:lstStyle/>
          <a:p>
            <a:pPr marL="0" indent="0" algn="ctr">
              <a:buNone/>
            </a:pPr>
            <a:r>
              <a:rPr lang="en-US" sz="1050" b="1" dirty="0">
                <a:solidFill>
                  <a:srgbClr val="0A0E24"/>
                </a:solidFill>
                <a:latin typeface="Calibri" pitchFamily="34" charset="0"/>
                <a:ea typeface="Calibri" pitchFamily="34" charset="-122"/>
                <a:cs typeface="Calibri" pitchFamily="34" charset="-120"/>
              </a:rPr>
              <a:t>Perlas 8 · 9 · 10 · 11</a:t>
            </a:r>
            <a:endParaRPr lang="en-US" sz="1050" dirty="0"/>
          </a:p>
        </p:txBody>
      </p:sp>
      <p:sp>
        <p:nvSpPr>
          <p:cNvPr id="30" name="Shape 25"/>
          <p:cNvSpPr/>
          <p:nvPr/>
        </p:nvSpPr>
        <p:spPr>
          <a:xfrm>
            <a:off x="6766560" y="1329396"/>
            <a:ext cx="1920240" cy="2999232"/>
          </a:xfrm>
          <a:prstGeom prst="roundRect">
            <a:avLst>
              <a:gd name="adj" fmla="val 4762"/>
            </a:avLst>
          </a:prstGeom>
          <a:solidFill>
            <a:srgbClr val="A78BFA">
              <a:alpha val="12000"/>
            </a:srgbClr>
          </a:solidFill>
          <a:ln w="15875">
            <a:solidFill>
              <a:srgbClr val="A78BFA"/>
            </a:solidFill>
            <a:prstDash val="solid"/>
          </a:ln>
        </p:spPr>
        <p:txBody>
          <a:bodyPr/>
          <a:lstStyle/>
          <a:p>
            <a:pPr algn="ctr"/>
            <a:endParaRPr lang="es-CO" dirty="0"/>
          </a:p>
        </p:txBody>
      </p:sp>
      <p:sp>
        <p:nvSpPr>
          <p:cNvPr id="31" name="Text 26"/>
          <p:cNvSpPr txBox="1"/>
          <p:nvPr/>
        </p:nvSpPr>
        <p:spPr>
          <a:xfrm>
            <a:off x="6766560" y="1420836"/>
            <a:ext cx="1920240" cy="685800"/>
          </a:xfrm>
          <a:prstGeom prst="rect">
            <a:avLst/>
          </a:prstGeom>
          <a:noFill/>
          <a:ln/>
        </p:spPr>
        <p:txBody>
          <a:bodyPr wrap="square" lIns="0" tIns="0" rIns="0" bIns="0" rtlCol="0" anchor="ctr"/>
          <a:lstStyle/>
          <a:p>
            <a:pPr marL="0" indent="0" algn="ctr">
              <a:buNone/>
            </a:pPr>
            <a:r>
              <a:rPr lang="en-US" sz="4000" b="1" dirty="0">
                <a:solidFill>
                  <a:srgbClr val="6A4CCF"/>
                </a:solidFill>
                <a:latin typeface="Calibri" pitchFamily="34" charset="0"/>
                <a:ea typeface="Calibri" pitchFamily="34" charset="-122"/>
                <a:cs typeface="Calibri" pitchFamily="34" charset="-120"/>
              </a:rPr>
              <a:t>IV</a:t>
            </a:r>
            <a:endParaRPr lang="en-US" sz="4000" dirty="0"/>
          </a:p>
        </p:txBody>
      </p:sp>
      <p:sp>
        <p:nvSpPr>
          <p:cNvPr id="32" name="Shape 27"/>
          <p:cNvSpPr/>
          <p:nvPr/>
        </p:nvSpPr>
        <p:spPr>
          <a:xfrm>
            <a:off x="7406640" y="2152356"/>
            <a:ext cx="640080" cy="640080"/>
          </a:xfrm>
          <a:prstGeom prst="ellipse">
            <a:avLst/>
          </a:prstGeom>
          <a:solidFill>
            <a:srgbClr val="A78BFA"/>
          </a:solidFill>
          <a:ln w="19050">
            <a:solidFill>
              <a:srgbClr val="A78BFA"/>
            </a:solidFill>
            <a:prstDash val="solid"/>
          </a:ln>
        </p:spPr>
        <p:txBody>
          <a:bodyPr/>
          <a:lstStyle/>
          <a:p>
            <a:endParaRPr lang="es-CO"/>
          </a:p>
        </p:txBody>
      </p:sp>
      <p:pic>
        <p:nvPicPr>
          <p:cNvPr id="33" name="Image 3" descr="preencoded.png"/>
          <p:cNvPicPr>
            <a:picLocks noChangeAspect="1"/>
          </p:cNvPicPr>
          <p:nvPr/>
        </p:nvPicPr>
        <p:blipFill>
          <a:blip r:embed="rId7"/>
          <a:stretch>
            <a:fillRect/>
          </a:stretch>
        </p:blipFill>
        <p:spPr>
          <a:xfrm>
            <a:off x="7573061" y="2318777"/>
            <a:ext cx="307238" cy="307238"/>
          </a:xfrm>
          <a:prstGeom prst="rect">
            <a:avLst/>
          </a:prstGeom>
        </p:spPr>
      </p:pic>
      <p:sp>
        <p:nvSpPr>
          <p:cNvPr id="34" name="Text 28"/>
          <p:cNvSpPr txBox="1"/>
          <p:nvPr/>
        </p:nvSpPr>
        <p:spPr>
          <a:xfrm>
            <a:off x="6858000" y="2883876"/>
            <a:ext cx="1737360" cy="548640"/>
          </a:xfrm>
          <a:prstGeom prst="rect">
            <a:avLst/>
          </a:prstGeom>
          <a:noFill/>
          <a:ln/>
        </p:spPr>
        <p:txBody>
          <a:bodyPr wrap="square" lIns="0" tIns="0" rIns="0" bIns="0" rtlCol="0" anchor="ctr"/>
          <a:lstStyle/>
          <a:p>
            <a:pPr marL="0" indent="0" algn="ctr">
              <a:buNone/>
            </a:pPr>
            <a:r>
              <a:rPr lang="en-US" sz="1500" b="1" dirty="0">
                <a:solidFill>
                  <a:srgbClr val="15193A"/>
                </a:solidFill>
                <a:latin typeface="Calibri" pitchFamily="34" charset="0"/>
                <a:ea typeface="Calibri" pitchFamily="34" charset="-122"/>
                <a:cs typeface="Calibri" pitchFamily="34" charset="-120"/>
              </a:rPr>
              <a:t>Seguimiento</a:t>
            </a:r>
            <a:endParaRPr lang="en-US" sz="1500" dirty="0"/>
          </a:p>
        </p:txBody>
      </p:sp>
      <p:sp>
        <p:nvSpPr>
          <p:cNvPr id="35" name="Shape 29"/>
          <p:cNvSpPr/>
          <p:nvPr/>
        </p:nvSpPr>
        <p:spPr>
          <a:xfrm>
            <a:off x="6949440" y="3478236"/>
            <a:ext cx="1554480" cy="310896"/>
          </a:xfrm>
          <a:prstGeom prst="roundRect">
            <a:avLst>
              <a:gd name="adj" fmla="val 50000"/>
            </a:avLst>
          </a:prstGeom>
          <a:solidFill>
            <a:srgbClr val="A78BFA"/>
          </a:solidFill>
          <a:ln w="12700">
            <a:solidFill>
              <a:srgbClr val="A78BFA"/>
            </a:solidFill>
            <a:prstDash val="solid"/>
          </a:ln>
        </p:spPr>
        <p:txBody>
          <a:bodyPr/>
          <a:lstStyle/>
          <a:p>
            <a:endParaRPr lang="es-CO"/>
          </a:p>
        </p:txBody>
      </p:sp>
      <p:sp>
        <p:nvSpPr>
          <p:cNvPr id="36" name="Text 30"/>
          <p:cNvSpPr txBox="1"/>
          <p:nvPr/>
        </p:nvSpPr>
        <p:spPr>
          <a:xfrm>
            <a:off x="6949440" y="3478236"/>
            <a:ext cx="1554480" cy="310896"/>
          </a:xfrm>
          <a:prstGeom prst="rect">
            <a:avLst/>
          </a:prstGeom>
          <a:noFill/>
          <a:ln/>
        </p:spPr>
        <p:txBody>
          <a:bodyPr wrap="square" lIns="0" tIns="0" rIns="0" bIns="0" rtlCol="0" anchor="ctr"/>
          <a:lstStyle/>
          <a:p>
            <a:pPr marL="0" indent="0" algn="ctr">
              <a:buNone/>
            </a:pPr>
            <a:r>
              <a:rPr lang="en-US" sz="1050" b="1" dirty="0">
                <a:solidFill>
                  <a:srgbClr val="0A0E24"/>
                </a:solidFill>
                <a:latin typeface="Calibri" pitchFamily="34" charset="0"/>
                <a:ea typeface="Calibri" pitchFamily="34" charset="-122"/>
                <a:cs typeface="Calibri" pitchFamily="34" charset="-120"/>
              </a:rPr>
              <a:t>Perlas 12</a:t>
            </a:r>
            <a:endParaRPr lang="en-US" sz="1050" dirty="0"/>
          </a:p>
        </p:txBody>
      </p:sp>
      <p:sp>
        <p:nvSpPr>
          <p:cNvPr id="38"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4CC9F0">
              <a:alpha val="12000"/>
            </a:srgbClr>
          </a:solidFill>
          <a:ln w="15875">
            <a:solidFill>
              <a:srgbClr val="4CC9F0"/>
            </a:solidFill>
            <a:prstDash val="solid"/>
          </a:ln>
        </p:spPr>
        <p:txBody>
          <a:bodyPr/>
          <a:lstStyle/>
          <a:p>
            <a:endParaRPr lang="es-CO"/>
          </a:p>
        </p:txBody>
      </p:sp>
      <p:sp>
        <p:nvSpPr>
          <p:cNvPr id="3" name="Text 1"/>
          <p:cNvSpPr txBox="1"/>
          <p:nvPr/>
        </p:nvSpPr>
        <p:spPr>
          <a:xfrm>
            <a:off x="457200" y="731520"/>
            <a:ext cx="2651760" cy="320040"/>
          </a:xfrm>
          <a:prstGeom prst="rect">
            <a:avLst/>
          </a:prstGeom>
          <a:noFill/>
          <a:ln/>
        </p:spPr>
        <p:txBody>
          <a:bodyPr wrap="square" lIns="0" tIns="0" rIns="0" bIns="0" rtlCol="0" anchor="t"/>
          <a:lstStyle/>
          <a:p>
            <a:pPr marL="0" indent="0" algn="ctr">
              <a:buNone/>
            </a:pPr>
            <a:r>
              <a:rPr lang="en-US" sz="1400" b="1" kern="0" spc="800" dirty="0">
                <a:solidFill>
                  <a:srgbClr val="0A6F98"/>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marL="0" indent="0" algn="ctr">
              <a:buNone/>
            </a:pPr>
            <a:r>
              <a:rPr lang="en-US" sz="11000" b="1" dirty="0">
                <a:solidFill>
                  <a:srgbClr val="15193A"/>
                </a:solidFill>
                <a:latin typeface="Calibri" pitchFamily="34" charset="0"/>
                <a:ea typeface="Calibri" pitchFamily="34" charset="-122"/>
                <a:cs typeface="Calibri" pitchFamily="34" charset="-120"/>
              </a:rPr>
              <a:t>01</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marL="0" indent="0" algn="ctr">
              <a:buNone/>
            </a:pPr>
            <a:r>
              <a:rPr lang="en-US" sz="1300" dirty="0">
                <a:solidFill>
                  <a:srgbClr val="474F70"/>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4CC9F0"/>
          </a:solidFill>
          <a:ln w="19050">
            <a:solidFill>
              <a:srgbClr val="4CC9F0"/>
            </a:solidFill>
            <a:prstDash val="solid"/>
          </a:ln>
        </p:spPr>
        <p:txBody>
          <a:bodyPr/>
          <a:lstStyle/>
          <a:p>
            <a:endParaRPr lang="es-CO"/>
          </a:p>
        </p:txBody>
      </p:sp>
      <p:pic>
        <p:nvPicPr>
          <p:cNvPr id="7" name="Image 0" descr="preencoded.png"/>
          <p:cNvPicPr>
            <a:picLocks noChangeAspect="1"/>
          </p:cNvPicPr>
          <p:nvPr/>
        </p:nvPicPr>
        <p:blipFill>
          <a:blip r:embed="rId4"/>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marL="0" indent="0">
              <a:buNone/>
            </a:pPr>
            <a:r>
              <a:rPr lang="en-US" sz="2500" b="1" dirty="0">
                <a:solidFill>
                  <a:srgbClr val="15193A"/>
                </a:solidFill>
                <a:latin typeface="Calibri" pitchFamily="34" charset="0"/>
                <a:ea typeface="Calibri" pitchFamily="34" charset="-122"/>
                <a:cs typeface="Calibri" pitchFamily="34" charset="-120"/>
              </a:rPr>
              <a:t>La sinovitis es el hallazgo clínico decisivo</a:t>
            </a:r>
            <a:endParaRPr lang="en-US" sz="2500" dirty="0"/>
          </a:p>
        </p:txBody>
      </p:sp>
      <p:sp>
        <p:nvSpPr>
          <p:cNvPr id="9" name="Shape 6"/>
          <p:cNvSpPr/>
          <p:nvPr/>
        </p:nvSpPr>
        <p:spPr>
          <a:xfrm>
            <a:off x="3429000" y="2057400"/>
            <a:ext cx="1097280" cy="0"/>
          </a:xfrm>
          <a:prstGeom prst="line">
            <a:avLst/>
          </a:prstGeom>
          <a:noFill/>
          <a:ln w="38100">
            <a:solidFill>
              <a:srgbClr val="4CC9F0"/>
            </a:solidFill>
            <a:prstDash val="solid"/>
          </a:ln>
        </p:spPr>
        <p:txBody>
          <a:bodyPr/>
          <a:lstStyle/>
          <a:p>
            <a:endParaRPr lang="es-CO"/>
          </a:p>
        </p:txBody>
      </p:sp>
      <p:sp>
        <p:nvSpPr>
          <p:cNvPr id="10" name="Text 7"/>
          <p:cNvSpPr txBox="1"/>
          <p:nvPr/>
        </p:nvSpPr>
        <p:spPr>
          <a:xfrm>
            <a:off x="3429000" y="2240280"/>
            <a:ext cx="5257800" cy="1920240"/>
          </a:xfrm>
          <a:prstGeom prst="rect">
            <a:avLst/>
          </a:prstGeom>
          <a:noFill/>
          <a:ln/>
        </p:spPr>
        <p:txBody>
          <a:bodyPr wrap="square" lIns="0" tIns="0" rIns="0" bIns="0" rtlCol="0" anchor="t"/>
          <a:lstStyle/>
          <a:p>
            <a:pPr marL="0" indent="0">
              <a:buNone/>
            </a:pPr>
            <a:r>
              <a:rPr lang="en-US" sz="1500" dirty="0">
                <a:solidFill>
                  <a:srgbClr val="2A3150"/>
                </a:solidFill>
                <a:latin typeface="Calibri" pitchFamily="34" charset="0"/>
                <a:ea typeface="Calibri" pitchFamily="34" charset="-122"/>
                <a:cs typeface="Calibri" pitchFamily="34" charset="-120"/>
              </a:rPr>
              <a:t>Busca tumefacción articular palpable, de consistencia blanda, y documenta por separado las articulaciones dolorosas y las inflamadas. El diagnóstico de artritis reumatoide integra exploración, evolución y exclusión de otras causas.</a:t>
            </a:r>
            <a:endParaRPr lang="en-US" sz="1500" dirty="0"/>
          </a:p>
        </p:txBody>
      </p:sp>
      <p:sp>
        <p:nvSpPr>
          <p:cNvPr id="11" name="Text 8"/>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[1] Smolen JS, et al. JAMA 2026</a:t>
            </a:r>
            <a:endParaRPr lang="en-US" sz="8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4CC9F0"/>
          </a:solidFill>
          <a:ln w="12700">
            <a:solidFill>
              <a:srgbClr val="4CC9F0"/>
            </a:solidFill>
            <a:prstDash val="solid"/>
          </a:ln>
        </p:spPr>
        <p:txBody>
          <a:bodyPr/>
          <a:lstStyle/>
          <a:p>
            <a:endParaRPr lang="es-CO"/>
          </a:p>
        </p:txBody>
      </p:sp>
      <p:sp>
        <p:nvSpPr>
          <p:cNvPr id="3" name="Text 1"/>
          <p:cNvSpPr txBox="1"/>
          <p:nvPr/>
        </p:nvSpPr>
        <p:spPr>
          <a:xfrm>
            <a:off x="685800" y="219456"/>
            <a:ext cx="7772400" cy="256032"/>
          </a:xfrm>
          <a:prstGeom prst="rect">
            <a:avLst/>
          </a:prstGeom>
          <a:noFill/>
          <a:ln/>
        </p:spPr>
        <p:txBody>
          <a:bodyPr wrap="square" lIns="0" tIns="0" rIns="0" bIns="0" rtlCol="0" anchor="ctr"/>
          <a:lstStyle/>
          <a:p>
            <a:pPr marL="0" indent="0">
              <a:buNone/>
            </a:pPr>
            <a:r>
              <a:rPr lang="en-US" sz="1050" b="1" kern="0" spc="400" dirty="0">
                <a:solidFill>
                  <a:srgbClr val="0A6F98"/>
                </a:solidFill>
                <a:latin typeface="Calibri" pitchFamily="34" charset="0"/>
                <a:ea typeface="Calibri" pitchFamily="34" charset="-122"/>
                <a:cs typeface="Calibri" pitchFamily="34" charset="-120"/>
              </a:rPr>
              <a:t>PERLA 1 · CÓMO EXPLORAR</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600" b="1" dirty="0">
                <a:solidFill>
                  <a:srgbClr val="15193A"/>
                </a:solidFill>
                <a:latin typeface="Calibri" pitchFamily="34" charset="0"/>
                <a:ea typeface="Calibri" pitchFamily="34" charset="-122"/>
                <a:cs typeface="Calibri" pitchFamily="34" charset="-120"/>
              </a:rPr>
              <a:t>Tumefacción blanda frente a dura</a:t>
            </a:r>
            <a:endParaRPr lang="en-US" sz="2600" dirty="0"/>
          </a:p>
        </p:txBody>
      </p:sp>
      <p:sp>
        <p:nvSpPr>
          <p:cNvPr id="5" name="Text 3"/>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[1] Smolen JS, et al. JAMA 2026</a:t>
            </a:r>
            <a:endParaRPr lang="en-US" sz="850" dirty="0"/>
          </a:p>
        </p:txBody>
      </p:sp>
      <p:sp>
        <p:nvSpPr>
          <p:cNvPr id="6" name="Shape 4"/>
          <p:cNvSpPr/>
          <p:nvPr/>
        </p:nvSpPr>
        <p:spPr>
          <a:xfrm>
            <a:off x="429768" y="1624135"/>
            <a:ext cx="2697480" cy="1380744"/>
          </a:xfrm>
          <a:prstGeom prst="roundRect">
            <a:avLst>
              <a:gd name="adj" fmla="val 4167"/>
            </a:avLst>
          </a:prstGeom>
          <a:solidFill>
            <a:srgbClr val="21D3A8">
              <a:alpha val="12000"/>
            </a:srgbClr>
          </a:solidFill>
          <a:ln w="15875">
            <a:solidFill>
              <a:srgbClr val="21D3A8"/>
            </a:solidFill>
            <a:prstDash val="solid"/>
          </a:ln>
        </p:spPr>
        <p:txBody>
          <a:bodyPr/>
          <a:lstStyle/>
          <a:p>
            <a:pPr algn="ctr"/>
            <a:endParaRPr lang="es-CO"/>
          </a:p>
        </p:txBody>
      </p:sp>
      <p:sp>
        <p:nvSpPr>
          <p:cNvPr id="7" name="Text 5"/>
          <p:cNvSpPr txBox="1"/>
          <p:nvPr/>
        </p:nvSpPr>
        <p:spPr>
          <a:xfrm>
            <a:off x="594360" y="1715575"/>
            <a:ext cx="2377440" cy="365760"/>
          </a:xfrm>
          <a:prstGeom prst="rect">
            <a:avLst/>
          </a:prstGeom>
          <a:noFill/>
          <a:ln/>
        </p:spPr>
        <p:txBody>
          <a:bodyPr wrap="square" lIns="0" tIns="0" rIns="0" bIns="0" rtlCol="0" anchor="t"/>
          <a:lstStyle/>
          <a:p>
            <a:pPr marL="0" indent="0">
              <a:buNone/>
            </a:pPr>
            <a:r>
              <a:rPr lang="en-US" sz="1500" b="1" dirty="0">
                <a:solidFill>
                  <a:srgbClr val="0C8368"/>
                </a:solidFill>
                <a:latin typeface="Calibri" pitchFamily="34" charset="0"/>
                <a:ea typeface="Calibri" pitchFamily="34" charset="-122"/>
                <a:cs typeface="Calibri" pitchFamily="34" charset="-120"/>
              </a:rPr>
              <a:t>Sinovitis (AR)</a:t>
            </a:r>
            <a:endParaRPr lang="en-US" sz="1500" dirty="0"/>
          </a:p>
        </p:txBody>
      </p:sp>
      <p:sp>
        <p:nvSpPr>
          <p:cNvPr id="8" name="Text 6"/>
          <p:cNvSpPr txBox="1"/>
          <p:nvPr/>
        </p:nvSpPr>
        <p:spPr>
          <a:xfrm>
            <a:off x="594360" y="2127055"/>
            <a:ext cx="2377440" cy="1097280"/>
          </a:xfrm>
          <a:prstGeom prst="rect">
            <a:avLst/>
          </a:prstGeom>
          <a:noFill/>
          <a:ln/>
        </p:spPr>
        <p:txBody>
          <a:bodyPr wrap="square" lIns="0" tIns="0" rIns="0" bIns="0" rtlCol="0" anchor="t"/>
          <a:lstStyle/>
          <a:p>
            <a:pPr marL="0" indent="0">
              <a:buNone/>
            </a:pPr>
            <a:r>
              <a:rPr lang="en-US" sz="1200" dirty="0">
                <a:solidFill>
                  <a:srgbClr val="15193A"/>
                </a:solidFill>
                <a:latin typeface="Calibri" pitchFamily="34" charset="0"/>
                <a:ea typeface="Calibri" pitchFamily="34" charset="-122"/>
                <a:cs typeface="Calibri" pitchFamily="34" charset="-120"/>
              </a:rPr>
              <a:t>Blanda, fluctuante, "esponjosa" a la palpación. Dolor a la compresión. Puede haber calor local.</a:t>
            </a:r>
            <a:endParaRPr lang="en-US" sz="1200" dirty="0"/>
          </a:p>
        </p:txBody>
      </p:sp>
      <p:sp>
        <p:nvSpPr>
          <p:cNvPr id="10" name="Shape 8"/>
          <p:cNvSpPr/>
          <p:nvPr/>
        </p:nvSpPr>
        <p:spPr>
          <a:xfrm>
            <a:off x="3264408" y="1624135"/>
            <a:ext cx="2697480" cy="1380744"/>
          </a:xfrm>
          <a:prstGeom prst="roundRect">
            <a:avLst>
              <a:gd name="adj" fmla="val 4167"/>
            </a:avLst>
          </a:prstGeom>
          <a:solidFill>
            <a:srgbClr val="FFB703">
              <a:alpha val="12000"/>
            </a:srgbClr>
          </a:solidFill>
          <a:ln w="15875">
            <a:solidFill>
              <a:srgbClr val="FFB703"/>
            </a:solidFill>
            <a:prstDash val="solid"/>
          </a:ln>
        </p:spPr>
        <p:txBody>
          <a:bodyPr/>
          <a:lstStyle/>
          <a:p>
            <a:pPr algn="ctr"/>
            <a:endParaRPr lang="es-CO" dirty="0"/>
          </a:p>
        </p:txBody>
      </p:sp>
      <p:sp>
        <p:nvSpPr>
          <p:cNvPr id="11" name="Text 9"/>
          <p:cNvSpPr txBox="1"/>
          <p:nvPr/>
        </p:nvSpPr>
        <p:spPr>
          <a:xfrm>
            <a:off x="3429000" y="1715575"/>
            <a:ext cx="2377440" cy="365760"/>
          </a:xfrm>
          <a:prstGeom prst="rect">
            <a:avLst/>
          </a:prstGeom>
          <a:noFill/>
          <a:ln/>
        </p:spPr>
        <p:txBody>
          <a:bodyPr wrap="square" lIns="0" tIns="0" rIns="0" bIns="0" rtlCol="0" anchor="t"/>
          <a:lstStyle/>
          <a:p>
            <a:pPr marL="0" indent="0">
              <a:buNone/>
            </a:pPr>
            <a:r>
              <a:rPr lang="en-US" sz="1500" b="1" dirty="0">
                <a:solidFill>
                  <a:srgbClr val="8A5E00"/>
                </a:solidFill>
                <a:latin typeface="Calibri" pitchFamily="34" charset="0"/>
                <a:ea typeface="Calibri" pitchFamily="34" charset="-122"/>
                <a:cs typeface="Calibri" pitchFamily="34" charset="-120"/>
              </a:rPr>
              <a:t>Crecimiento óseo (artrosis)</a:t>
            </a:r>
            <a:endParaRPr lang="en-US" sz="1500" dirty="0"/>
          </a:p>
        </p:txBody>
      </p:sp>
      <p:sp>
        <p:nvSpPr>
          <p:cNvPr id="12" name="Text 10"/>
          <p:cNvSpPr txBox="1"/>
          <p:nvPr/>
        </p:nvSpPr>
        <p:spPr>
          <a:xfrm>
            <a:off x="3429000" y="2127055"/>
            <a:ext cx="2377440" cy="1097280"/>
          </a:xfrm>
          <a:prstGeom prst="rect">
            <a:avLst/>
          </a:prstGeom>
          <a:noFill/>
          <a:ln/>
        </p:spPr>
        <p:txBody>
          <a:bodyPr wrap="square" lIns="0" tIns="0" rIns="0" bIns="0" rtlCol="0" anchor="t"/>
          <a:lstStyle/>
          <a:p>
            <a:pPr marL="0" indent="0">
              <a:buNone/>
            </a:pPr>
            <a:r>
              <a:rPr lang="en-US" sz="1200" dirty="0">
                <a:solidFill>
                  <a:srgbClr val="15193A"/>
                </a:solidFill>
                <a:latin typeface="Calibri" pitchFamily="34" charset="0"/>
                <a:ea typeface="Calibri" pitchFamily="34" charset="-122"/>
                <a:cs typeface="Calibri" pitchFamily="34" charset="-120"/>
              </a:rPr>
              <a:t>Dura, firme, "como hueso". Nódulos de Heberden (IFD) y de Bouchard (IFP).</a:t>
            </a:r>
            <a:endParaRPr lang="en-US" sz="1200" dirty="0"/>
          </a:p>
        </p:txBody>
      </p:sp>
      <p:sp>
        <p:nvSpPr>
          <p:cNvPr id="14" name="Shape 12"/>
          <p:cNvSpPr/>
          <p:nvPr/>
        </p:nvSpPr>
        <p:spPr>
          <a:xfrm>
            <a:off x="6172200" y="1188720"/>
            <a:ext cx="2514600" cy="2194560"/>
          </a:xfrm>
          <a:prstGeom prst="roundRect">
            <a:avLst>
              <a:gd name="adj" fmla="val 4167"/>
            </a:avLst>
          </a:prstGeom>
          <a:solidFill>
            <a:srgbClr val="F1F3FB"/>
          </a:solidFill>
          <a:ln w="9525">
            <a:solidFill>
              <a:srgbClr val="D8DEEF"/>
            </a:solidFill>
            <a:prstDash val="solid"/>
          </a:ln>
        </p:spPr>
        <p:txBody>
          <a:bodyPr/>
          <a:lstStyle/>
          <a:p>
            <a:endParaRPr lang="es-CO"/>
          </a:p>
        </p:txBody>
      </p:sp>
      <p:sp>
        <p:nvSpPr>
          <p:cNvPr id="15" name="Text 13"/>
          <p:cNvSpPr txBox="1"/>
          <p:nvPr/>
        </p:nvSpPr>
        <p:spPr>
          <a:xfrm>
            <a:off x="6309360" y="1280160"/>
            <a:ext cx="2286000" cy="320040"/>
          </a:xfrm>
          <a:prstGeom prst="rect">
            <a:avLst/>
          </a:prstGeom>
          <a:noFill/>
          <a:ln/>
        </p:spPr>
        <p:txBody>
          <a:bodyPr wrap="square" lIns="0" tIns="0" rIns="0" bIns="0" rtlCol="0" anchor="t"/>
          <a:lstStyle/>
          <a:p>
            <a:pPr marL="0" indent="0">
              <a:buNone/>
            </a:pPr>
            <a:r>
              <a:rPr lang="en-US" sz="1300" b="1" dirty="0">
                <a:solidFill>
                  <a:srgbClr val="0A6F98"/>
                </a:solidFill>
                <a:latin typeface="Calibri" pitchFamily="34" charset="0"/>
                <a:ea typeface="Calibri" pitchFamily="34" charset="-122"/>
                <a:cs typeface="Calibri" pitchFamily="34" charset="-120"/>
              </a:rPr>
              <a:t>Registra por separado</a:t>
            </a:r>
            <a:endParaRPr lang="en-US" sz="1300" dirty="0"/>
          </a:p>
        </p:txBody>
      </p:sp>
      <p:sp>
        <p:nvSpPr>
          <p:cNvPr id="16" name="Text 14"/>
          <p:cNvSpPr txBox="1"/>
          <p:nvPr/>
        </p:nvSpPr>
        <p:spPr>
          <a:xfrm>
            <a:off x="6309360" y="1554480"/>
            <a:ext cx="2286000" cy="548640"/>
          </a:xfrm>
          <a:prstGeom prst="rect">
            <a:avLst/>
          </a:prstGeom>
          <a:noFill/>
          <a:ln/>
        </p:spPr>
        <p:txBody>
          <a:bodyPr wrap="square" lIns="0" tIns="0" rIns="0" bIns="0" rtlCol="0" anchor="b"/>
          <a:lstStyle/>
          <a:p>
            <a:pPr marL="0" indent="0">
              <a:buNone/>
            </a:pPr>
            <a:r>
              <a:rPr lang="en-US" sz="2200" b="1" dirty="0">
                <a:solidFill>
                  <a:srgbClr val="0A6F98"/>
                </a:solidFill>
                <a:latin typeface="Calibri" pitchFamily="34" charset="0"/>
                <a:ea typeface="Calibri" pitchFamily="34" charset="-122"/>
                <a:cs typeface="Calibri" pitchFamily="34" charset="-120"/>
              </a:rPr>
              <a:t>NAD28</a:t>
            </a:r>
            <a:endParaRPr lang="en-US" sz="2200" dirty="0"/>
          </a:p>
        </p:txBody>
      </p:sp>
      <p:sp>
        <p:nvSpPr>
          <p:cNvPr id="17" name="Text 15"/>
          <p:cNvSpPr txBox="1"/>
          <p:nvPr/>
        </p:nvSpPr>
        <p:spPr>
          <a:xfrm>
            <a:off x="6309360" y="2139696"/>
            <a:ext cx="2286000" cy="548640"/>
          </a:xfrm>
          <a:prstGeom prst="rect">
            <a:avLst/>
          </a:prstGeom>
          <a:noFill/>
          <a:ln/>
        </p:spPr>
        <p:txBody>
          <a:bodyPr wrap="square" lIns="0" tIns="0" rIns="0" bIns="0" rtlCol="0" anchor="t"/>
          <a:lstStyle/>
          <a:p>
            <a:pPr marL="0" indent="0">
              <a:buNone/>
            </a:pPr>
            <a:r>
              <a:rPr lang="en-US" sz="1100" dirty="0">
                <a:solidFill>
                  <a:srgbClr val="474F70"/>
                </a:solidFill>
                <a:latin typeface="Calibri" pitchFamily="34" charset="0"/>
                <a:ea typeface="Calibri" pitchFamily="34" charset="-122"/>
                <a:cs typeface="Calibri" pitchFamily="34" charset="-120"/>
              </a:rPr>
              <a:t>articulaciones dolorosas</a:t>
            </a:r>
            <a:endParaRPr lang="en-US" sz="1100" dirty="0"/>
          </a:p>
        </p:txBody>
      </p:sp>
      <p:sp>
        <p:nvSpPr>
          <p:cNvPr id="18" name="Text 16"/>
          <p:cNvSpPr txBox="1"/>
          <p:nvPr/>
        </p:nvSpPr>
        <p:spPr>
          <a:xfrm>
            <a:off x="6309360" y="2377440"/>
            <a:ext cx="2286000" cy="548640"/>
          </a:xfrm>
          <a:prstGeom prst="rect">
            <a:avLst/>
          </a:prstGeom>
          <a:noFill/>
          <a:ln/>
        </p:spPr>
        <p:txBody>
          <a:bodyPr wrap="square" lIns="0" tIns="0" rIns="0" bIns="0" rtlCol="0" anchor="b"/>
          <a:lstStyle/>
          <a:p>
            <a:pPr marL="0" indent="0">
              <a:buNone/>
            </a:pPr>
            <a:r>
              <a:rPr lang="en-US" sz="2200" b="1" dirty="0">
                <a:solidFill>
                  <a:srgbClr val="0C8368"/>
                </a:solidFill>
                <a:latin typeface="Calibri" pitchFamily="34" charset="0"/>
                <a:ea typeface="Calibri" pitchFamily="34" charset="-122"/>
                <a:cs typeface="Calibri" pitchFamily="34" charset="-120"/>
              </a:rPr>
              <a:t>NAT28</a:t>
            </a:r>
            <a:endParaRPr lang="en-US" sz="2200" dirty="0"/>
          </a:p>
        </p:txBody>
      </p:sp>
      <p:sp>
        <p:nvSpPr>
          <p:cNvPr id="19" name="Text 17"/>
          <p:cNvSpPr txBox="1"/>
          <p:nvPr/>
        </p:nvSpPr>
        <p:spPr>
          <a:xfrm>
            <a:off x="6309360" y="2962656"/>
            <a:ext cx="2286000" cy="548640"/>
          </a:xfrm>
          <a:prstGeom prst="rect">
            <a:avLst/>
          </a:prstGeom>
          <a:noFill/>
          <a:ln/>
        </p:spPr>
        <p:txBody>
          <a:bodyPr wrap="square" lIns="0" tIns="0" rIns="0" bIns="0" rtlCol="0" anchor="t"/>
          <a:lstStyle/>
          <a:p>
            <a:pPr marL="0" indent="0">
              <a:buNone/>
            </a:pPr>
            <a:r>
              <a:rPr lang="en-US" sz="1100" dirty="0">
                <a:solidFill>
                  <a:srgbClr val="474F70"/>
                </a:solidFill>
                <a:latin typeface="Calibri" pitchFamily="34" charset="0"/>
                <a:ea typeface="Calibri" pitchFamily="34" charset="-122"/>
                <a:cs typeface="Calibri" pitchFamily="34" charset="-120"/>
              </a:rPr>
              <a:t>articulaciones tumefactas</a:t>
            </a:r>
            <a:endParaRPr lang="en-US" sz="1100" dirty="0"/>
          </a:p>
        </p:txBody>
      </p:sp>
      <p:sp>
        <p:nvSpPr>
          <p:cNvPr id="20" name="Text 18"/>
          <p:cNvSpPr txBox="1"/>
          <p:nvPr/>
        </p:nvSpPr>
        <p:spPr>
          <a:xfrm>
            <a:off x="457200" y="3566160"/>
            <a:ext cx="8229600" cy="274320"/>
          </a:xfrm>
          <a:prstGeom prst="rect">
            <a:avLst/>
          </a:prstGeom>
          <a:noFill/>
          <a:ln/>
        </p:spPr>
        <p:txBody>
          <a:bodyPr wrap="square" lIns="0" tIns="0" rIns="0" bIns="0" rtlCol="0" anchor="t"/>
          <a:lstStyle/>
          <a:p>
            <a:pPr marL="0" indent="0">
              <a:buNone/>
            </a:pPr>
            <a:r>
              <a:rPr lang="en-US" sz="1100" b="1" kern="0" spc="300" dirty="0">
                <a:solidFill>
                  <a:srgbClr val="8A5E00"/>
                </a:solidFill>
                <a:latin typeface="Calibri" pitchFamily="34" charset="0"/>
                <a:ea typeface="Calibri" pitchFamily="34" charset="-122"/>
                <a:cs typeface="Calibri" pitchFamily="34" charset="-120"/>
              </a:rPr>
              <a:t>DIAGNÓSTICO = EXPLORACIÓN + EVOLUCIÓN + EXCLUSIÓN</a:t>
            </a:r>
            <a:endParaRPr lang="en-US" sz="1100" dirty="0"/>
          </a:p>
        </p:txBody>
      </p:sp>
      <p:sp>
        <p:nvSpPr>
          <p:cNvPr id="21" name="Shape 19"/>
          <p:cNvSpPr/>
          <p:nvPr/>
        </p:nvSpPr>
        <p:spPr>
          <a:xfrm>
            <a:off x="457200" y="3931920"/>
            <a:ext cx="2624328" cy="777240"/>
          </a:xfrm>
          <a:prstGeom prst="roundRect">
            <a:avLst>
              <a:gd name="adj" fmla="val 11765"/>
            </a:avLst>
          </a:prstGeom>
          <a:solidFill>
            <a:srgbClr val="E9ECF8"/>
          </a:solidFill>
          <a:ln w="9525">
            <a:solidFill>
              <a:srgbClr val="D8DEEF"/>
            </a:solidFill>
            <a:prstDash val="solid"/>
          </a:ln>
        </p:spPr>
        <p:txBody>
          <a:bodyPr/>
          <a:lstStyle/>
          <a:p>
            <a:endParaRPr lang="es-CO"/>
          </a:p>
        </p:txBody>
      </p:sp>
      <p:sp>
        <p:nvSpPr>
          <p:cNvPr id="22" name="Shape 20"/>
          <p:cNvSpPr/>
          <p:nvPr/>
        </p:nvSpPr>
        <p:spPr>
          <a:xfrm>
            <a:off x="566928" y="4050792"/>
            <a:ext cx="548640" cy="548640"/>
          </a:xfrm>
          <a:prstGeom prst="ellipse">
            <a:avLst/>
          </a:prstGeom>
          <a:solidFill>
            <a:srgbClr val="4CC9F0">
              <a:alpha val="20000"/>
            </a:srgbClr>
          </a:solidFill>
          <a:ln w="19050">
            <a:solidFill>
              <a:srgbClr val="4CC9F0"/>
            </a:solidFill>
            <a:prstDash val="solid"/>
          </a:ln>
        </p:spPr>
        <p:txBody>
          <a:bodyPr/>
          <a:lstStyle/>
          <a:p>
            <a:endParaRPr lang="es-CO"/>
          </a:p>
        </p:txBody>
      </p:sp>
      <p:pic>
        <p:nvPicPr>
          <p:cNvPr id="23" name="Image 0" descr="preencoded.png"/>
          <p:cNvPicPr>
            <a:picLocks noChangeAspect="1"/>
          </p:cNvPicPr>
          <p:nvPr/>
        </p:nvPicPr>
        <p:blipFill>
          <a:blip r:embed="rId4"/>
          <a:stretch>
            <a:fillRect/>
          </a:stretch>
        </p:blipFill>
        <p:spPr>
          <a:xfrm>
            <a:off x="709574" y="4193438"/>
            <a:ext cx="263347" cy="263347"/>
          </a:xfrm>
          <a:prstGeom prst="rect">
            <a:avLst/>
          </a:prstGeom>
        </p:spPr>
      </p:pic>
      <p:sp>
        <p:nvSpPr>
          <p:cNvPr id="24" name="Text 21"/>
          <p:cNvSpPr txBox="1"/>
          <p:nvPr/>
        </p:nvSpPr>
        <p:spPr>
          <a:xfrm>
            <a:off x="1234440" y="3931920"/>
            <a:ext cx="1783080" cy="777240"/>
          </a:xfrm>
          <a:prstGeom prst="rect">
            <a:avLst/>
          </a:prstGeom>
          <a:noFill/>
          <a:ln/>
        </p:spPr>
        <p:txBody>
          <a:bodyPr wrap="square" lIns="0" tIns="0" rIns="0" bIns="0" rtlCol="0" anchor="ctr"/>
          <a:lstStyle/>
          <a:p>
            <a:pPr marL="0" indent="0">
              <a:buNone/>
            </a:pPr>
            <a:r>
              <a:rPr lang="en-US" sz="1300" b="1" dirty="0">
                <a:solidFill>
                  <a:srgbClr val="15193A"/>
                </a:solidFill>
                <a:latin typeface="Calibri" pitchFamily="34" charset="0"/>
                <a:ea typeface="Calibri" pitchFamily="34" charset="-122"/>
                <a:cs typeface="Calibri" pitchFamily="34" charset="-120"/>
              </a:rPr>
              <a:t>Exploración</a:t>
            </a:r>
            <a:endParaRPr lang="en-US" sz="1300" dirty="0"/>
          </a:p>
          <a:p>
            <a:pPr marL="0" indent="0">
              <a:buNone/>
            </a:pPr>
            <a:r>
              <a:rPr lang="en-US" sz="1050" dirty="0">
                <a:solidFill>
                  <a:srgbClr val="474F70"/>
                </a:solidFill>
                <a:latin typeface="Calibri" pitchFamily="34" charset="0"/>
                <a:ea typeface="Calibri" pitchFamily="34" charset="-122"/>
                <a:cs typeface="Calibri" pitchFamily="34" charset="-120"/>
              </a:rPr>
              <a:t>Sinovitis palpable</a:t>
            </a:r>
            <a:endParaRPr lang="en-US" sz="1300" dirty="0"/>
          </a:p>
        </p:txBody>
      </p:sp>
      <p:sp>
        <p:nvSpPr>
          <p:cNvPr id="25" name="Shape 22"/>
          <p:cNvSpPr/>
          <p:nvPr/>
        </p:nvSpPr>
        <p:spPr>
          <a:xfrm>
            <a:off x="3264408" y="3931920"/>
            <a:ext cx="2624328" cy="777240"/>
          </a:xfrm>
          <a:prstGeom prst="roundRect">
            <a:avLst>
              <a:gd name="adj" fmla="val 11765"/>
            </a:avLst>
          </a:prstGeom>
          <a:solidFill>
            <a:srgbClr val="E9ECF8"/>
          </a:solidFill>
          <a:ln w="9525">
            <a:solidFill>
              <a:srgbClr val="D8DEEF"/>
            </a:solidFill>
            <a:prstDash val="solid"/>
          </a:ln>
        </p:spPr>
        <p:txBody>
          <a:bodyPr/>
          <a:lstStyle/>
          <a:p>
            <a:endParaRPr lang="es-CO"/>
          </a:p>
        </p:txBody>
      </p:sp>
      <p:sp>
        <p:nvSpPr>
          <p:cNvPr id="26" name="Shape 23"/>
          <p:cNvSpPr/>
          <p:nvPr/>
        </p:nvSpPr>
        <p:spPr>
          <a:xfrm>
            <a:off x="3374136" y="4050792"/>
            <a:ext cx="548640" cy="548640"/>
          </a:xfrm>
          <a:prstGeom prst="ellipse">
            <a:avLst/>
          </a:prstGeom>
          <a:solidFill>
            <a:srgbClr val="4CC9F0">
              <a:alpha val="20000"/>
            </a:srgbClr>
          </a:solidFill>
          <a:ln w="19050">
            <a:solidFill>
              <a:srgbClr val="4CC9F0"/>
            </a:solidFill>
            <a:prstDash val="solid"/>
          </a:ln>
        </p:spPr>
        <p:txBody>
          <a:bodyPr/>
          <a:lstStyle/>
          <a:p>
            <a:endParaRPr lang="es-CO"/>
          </a:p>
        </p:txBody>
      </p:sp>
      <p:pic>
        <p:nvPicPr>
          <p:cNvPr id="27" name="Image 1" descr="preencoded.png"/>
          <p:cNvPicPr>
            <a:picLocks noChangeAspect="1"/>
          </p:cNvPicPr>
          <p:nvPr/>
        </p:nvPicPr>
        <p:blipFill>
          <a:blip r:embed="rId5"/>
          <a:stretch>
            <a:fillRect/>
          </a:stretch>
        </p:blipFill>
        <p:spPr>
          <a:xfrm>
            <a:off x="3516782" y="4193438"/>
            <a:ext cx="263347" cy="263347"/>
          </a:xfrm>
          <a:prstGeom prst="rect">
            <a:avLst/>
          </a:prstGeom>
        </p:spPr>
      </p:pic>
      <p:sp>
        <p:nvSpPr>
          <p:cNvPr id="28" name="Text 24"/>
          <p:cNvSpPr txBox="1"/>
          <p:nvPr/>
        </p:nvSpPr>
        <p:spPr>
          <a:xfrm>
            <a:off x="4041648" y="3931920"/>
            <a:ext cx="1783080" cy="777240"/>
          </a:xfrm>
          <a:prstGeom prst="rect">
            <a:avLst/>
          </a:prstGeom>
          <a:noFill/>
          <a:ln/>
        </p:spPr>
        <p:txBody>
          <a:bodyPr wrap="square" lIns="0" tIns="0" rIns="0" bIns="0" rtlCol="0" anchor="ctr"/>
          <a:lstStyle/>
          <a:p>
            <a:pPr marL="0" indent="0">
              <a:buNone/>
            </a:pPr>
            <a:r>
              <a:rPr lang="en-US" sz="1300" b="1" dirty="0">
                <a:solidFill>
                  <a:srgbClr val="15193A"/>
                </a:solidFill>
                <a:latin typeface="Calibri" pitchFamily="34" charset="0"/>
                <a:ea typeface="Calibri" pitchFamily="34" charset="-122"/>
                <a:cs typeface="Calibri" pitchFamily="34" charset="-120"/>
              </a:rPr>
              <a:t>Evolución</a:t>
            </a:r>
            <a:endParaRPr lang="en-US" sz="1300" dirty="0"/>
          </a:p>
          <a:p>
            <a:pPr marL="0" indent="0">
              <a:buNone/>
            </a:pPr>
            <a:r>
              <a:rPr lang="en-US" sz="1050" dirty="0">
                <a:solidFill>
                  <a:srgbClr val="474F70"/>
                </a:solidFill>
                <a:latin typeface="Calibri" pitchFamily="34" charset="0"/>
                <a:ea typeface="Calibri" pitchFamily="34" charset="-122"/>
                <a:cs typeface="Calibri" pitchFamily="34" charset="-120"/>
              </a:rPr>
              <a:t>Persistencia en el tiempo</a:t>
            </a:r>
            <a:endParaRPr lang="en-US" sz="1300" dirty="0"/>
          </a:p>
        </p:txBody>
      </p:sp>
      <p:sp>
        <p:nvSpPr>
          <p:cNvPr id="29" name="Shape 25"/>
          <p:cNvSpPr/>
          <p:nvPr/>
        </p:nvSpPr>
        <p:spPr>
          <a:xfrm>
            <a:off x="6071616" y="3931920"/>
            <a:ext cx="2624328" cy="777240"/>
          </a:xfrm>
          <a:prstGeom prst="roundRect">
            <a:avLst>
              <a:gd name="adj" fmla="val 11765"/>
            </a:avLst>
          </a:prstGeom>
          <a:solidFill>
            <a:srgbClr val="E9ECF8"/>
          </a:solidFill>
          <a:ln w="9525">
            <a:solidFill>
              <a:srgbClr val="D8DEEF"/>
            </a:solidFill>
            <a:prstDash val="solid"/>
          </a:ln>
        </p:spPr>
        <p:txBody>
          <a:bodyPr/>
          <a:lstStyle/>
          <a:p>
            <a:endParaRPr lang="es-CO"/>
          </a:p>
        </p:txBody>
      </p:sp>
      <p:sp>
        <p:nvSpPr>
          <p:cNvPr id="30" name="Shape 26"/>
          <p:cNvSpPr/>
          <p:nvPr/>
        </p:nvSpPr>
        <p:spPr>
          <a:xfrm>
            <a:off x="6181344" y="4050792"/>
            <a:ext cx="548640" cy="548640"/>
          </a:xfrm>
          <a:prstGeom prst="ellipse">
            <a:avLst/>
          </a:prstGeom>
          <a:solidFill>
            <a:srgbClr val="4CC9F0">
              <a:alpha val="20000"/>
            </a:srgbClr>
          </a:solidFill>
          <a:ln w="19050">
            <a:solidFill>
              <a:srgbClr val="4CC9F0"/>
            </a:solidFill>
            <a:prstDash val="solid"/>
          </a:ln>
        </p:spPr>
        <p:txBody>
          <a:bodyPr/>
          <a:lstStyle/>
          <a:p>
            <a:endParaRPr lang="es-CO"/>
          </a:p>
        </p:txBody>
      </p:sp>
      <p:pic>
        <p:nvPicPr>
          <p:cNvPr id="31" name="Image 2" descr="preencoded.png"/>
          <p:cNvPicPr>
            <a:picLocks noChangeAspect="1"/>
          </p:cNvPicPr>
          <p:nvPr/>
        </p:nvPicPr>
        <p:blipFill>
          <a:blip r:embed="rId6"/>
          <a:stretch>
            <a:fillRect/>
          </a:stretch>
        </p:blipFill>
        <p:spPr>
          <a:xfrm>
            <a:off x="6323990" y="4193438"/>
            <a:ext cx="263347" cy="263347"/>
          </a:xfrm>
          <a:prstGeom prst="rect">
            <a:avLst/>
          </a:prstGeom>
        </p:spPr>
      </p:pic>
      <p:sp>
        <p:nvSpPr>
          <p:cNvPr id="32" name="Text 27"/>
          <p:cNvSpPr txBox="1"/>
          <p:nvPr/>
        </p:nvSpPr>
        <p:spPr>
          <a:xfrm>
            <a:off x="6848856" y="3931920"/>
            <a:ext cx="1783080" cy="777240"/>
          </a:xfrm>
          <a:prstGeom prst="rect">
            <a:avLst/>
          </a:prstGeom>
          <a:noFill/>
          <a:ln/>
        </p:spPr>
        <p:txBody>
          <a:bodyPr wrap="square" lIns="0" tIns="0" rIns="0" bIns="0" rtlCol="0" anchor="ctr"/>
          <a:lstStyle/>
          <a:p>
            <a:pPr marL="0" indent="0">
              <a:buNone/>
            </a:pPr>
            <a:r>
              <a:rPr lang="en-US" sz="1300" b="1" dirty="0">
                <a:solidFill>
                  <a:srgbClr val="15193A"/>
                </a:solidFill>
                <a:latin typeface="Calibri" pitchFamily="34" charset="0"/>
                <a:ea typeface="Calibri" pitchFamily="34" charset="-122"/>
                <a:cs typeface="Calibri" pitchFamily="34" charset="-120"/>
              </a:rPr>
              <a:t>Exclusión</a:t>
            </a:r>
            <a:endParaRPr lang="en-US" sz="1300" dirty="0"/>
          </a:p>
          <a:p>
            <a:pPr marL="0" indent="0">
              <a:buNone/>
            </a:pPr>
            <a:r>
              <a:rPr lang="en-US" sz="1050" dirty="0">
                <a:solidFill>
                  <a:srgbClr val="474F70"/>
                </a:solidFill>
                <a:latin typeface="Calibri" pitchFamily="34" charset="0"/>
                <a:ea typeface="Calibri" pitchFamily="34" charset="-122"/>
                <a:cs typeface="Calibri" pitchFamily="34" charset="-120"/>
              </a:rPr>
              <a:t>Otras artritis e infecciones</a:t>
            </a:r>
            <a:endParaRPr lang="en-US" sz="1300" dirty="0"/>
          </a:p>
        </p:txBody>
      </p:sp>
      <p:sp>
        <p:nvSpPr>
          <p:cNvPr id="33"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4CC9F0">
              <a:alpha val="12000"/>
            </a:srgbClr>
          </a:solidFill>
          <a:ln w="15875">
            <a:solidFill>
              <a:srgbClr val="4CC9F0"/>
            </a:solidFill>
            <a:prstDash val="solid"/>
          </a:ln>
        </p:spPr>
        <p:txBody>
          <a:bodyPr/>
          <a:lstStyle/>
          <a:p>
            <a:endParaRPr lang="es-CO"/>
          </a:p>
        </p:txBody>
      </p:sp>
      <p:sp>
        <p:nvSpPr>
          <p:cNvPr id="3" name="Text 1"/>
          <p:cNvSpPr txBox="1"/>
          <p:nvPr/>
        </p:nvSpPr>
        <p:spPr>
          <a:xfrm>
            <a:off x="457200" y="731520"/>
            <a:ext cx="2651760" cy="320040"/>
          </a:xfrm>
          <a:prstGeom prst="rect">
            <a:avLst/>
          </a:prstGeom>
          <a:noFill/>
          <a:ln/>
        </p:spPr>
        <p:txBody>
          <a:bodyPr wrap="square" lIns="0" tIns="0" rIns="0" bIns="0" rtlCol="0" anchor="t"/>
          <a:lstStyle/>
          <a:p>
            <a:pPr marL="0" indent="0" algn="ctr">
              <a:buNone/>
            </a:pPr>
            <a:r>
              <a:rPr lang="en-US" sz="1400" b="1" kern="0" spc="800" dirty="0">
                <a:solidFill>
                  <a:srgbClr val="0A6F98"/>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marL="0" indent="0" algn="ctr">
              <a:buNone/>
            </a:pPr>
            <a:r>
              <a:rPr lang="en-US" sz="11000" b="1" dirty="0">
                <a:solidFill>
                  <a:srgbClr val="15193A"/>
                </a:solidFill>
                <a:latin typeface="Calibri" pitchFamily="34" charset="0"/>
                <a:ea typeface="Calibri" pitchFamily="34" charset="-122"/>
                <a:cs typeface="Calibri" pitchFamily="34" charset="-120"/>
              </a:rPr>
              <a:t>02</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marL="0" indent="0" algn="ctr">
              <a:buNone/>
            </a:pPr>
            <a:r>
              <a:rPr lang="en-US" sz="1300" dirty="0">
                <a:solidFill>
                  <a:srgbClr val="474F70"/>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4CC9F0"/>
          </a:solidFill>
          <a:ln w="19050">
            <a:solidFill>
              <a:srgbClr val="4CC9F0"/>
            </a:solidFill>
            <a:prstDash val="solid"/>
          </a:ln>
        </p:spPr>
        <p:txBody>
          <a:bodyPr/>
          <a:lstStyle/>
          <a:p>
            <a:endParaRPr lang="es-CO"/>
          </a:p>
        </p:txBody>
      </p:sp>
      <p:pic>
        <p:nvPicPr>
          <p:cNvPr id="7" name="Image 0" descr="preencoded.png"/>
          <p:cNvPicPr>
            <a:picLocks noChangeAspect="1"/>
          </p:cNvPicPr>
          <p:nvPr/>
        </p:nvPicPr>
        <p:blipFill>
          <a:blip r:embed="rId4"/>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marL="0" indent="0">
              <a:buNone/>
            </a:pPr>
            <a:r>
              <a:rPr lang="en-US" sz="2500" b="1" dirty="0">
                <a:solidFill>
                  <a:srgbClr val="15193A"/>
                </a:solidFill>
                <a:latin typeface="Calibri" pitchFamily="34" charset="0"/>
                <a:ea typeface="Calibri" pitchFamily="34" charset="-122"/>
                <a:cs typeface="Calibri" pitchFamily="34" charset="-120"/>
              </a:rPr>
              <a:t>La distribución articular orienta más que la intensidad del dolor</a:t>
            </a:r>
            <a:endParaRPr lang="en-US" sz="2500" dirty="0"/>
          </a:p>
        </p:txBody>
      </p:sp>
      <p:sp>
        <p:nvSpPr>
          <p:cNvPr id="9" name="Shape 6"/>
          <p:cNvSpPr/>
          <p:nvPr/>
        </p:nvSpPr>
        <p:spPr>
          <a:xfrm>
            <a:off x="3429000" y="2057400"/>
            <a:ext cx="1097280" cy="0"/>
          </a:xfrm>
          <a:prstGeom prst="line">
            <a:avLst/>
          </a:prstGeom>
          <a:noFill/>
          <a:ln w="38100">
            <a:solidFill>
              <a:srgbClr val="4CC9F0"/>
            </a:solidFill>
            <a:prstDash val="solid"/>
          </a:ln>
        </p:spPr>
        <p:txBody>
          <a:bodyPr/>
          <a:lstStyle/>
          <a:p>
            <a:endParaRPr lang="es-CO"/>
          </a:p>
        </p:txBody>
      </p:sp>
      <p:sp>
        <p:nvSpPr>
          <p:cNvPr id="10" name="Text 7"/>
          <p:cNvSpPr txBox="1"/>
          <p:nvPr/>
        </p:nvSpPr>
        <p:spPr>
          <a:xfrm>
            <a:off x="3429000" y="2240280"/>
            <a:ext cx="5257800" cy="1920240"/>
          </a:xfrm>
          <a:prstGeom prst="rect">
            <a:avLst/>
          </a:prstGeom>
          <a:noFill/>
          <a:ln/>
        </p:spPr>
        <p:txBody>
          <a:bodyPr wrap="square" lIns="0" tIns="0" rIns="0" bIns="0" rtlCol="0" anchor="t"/>
          <a:lstStyle/>
          <a:p>
            <a:pPr marL="0" indent="0" algn="just">
              <a:buNone/>
            </a:pPr>
            <a:r>
              <a:rPr lang="en-US" sz="1500" dirty="0">
                <a:solidFill>
                  <a:srgbClr val="2A3150"/>
                </a:solidFill>
                <a:latin typeface="Calibri" pitchFamily="34" charset="0"/>
                <a:ea typeface="Calibri" pitchFamily="34" charset="-122"/>
                <a:cs typeface="Calibri" pitchFamily="34" charset="-120"/>
              </a:rPr>
              <a:t>La AR suele comprometer metacarpofalángicas, interfalángicas proximales y muñecas, respetando habitualmente las interfalángicas distales. La artrosis de manos favorece distales, proximales y base del pulgar. Las proximales pueden afectarse en ambas: importa distinguir crecimiento óseo de sinovitis.</a:t>
            </a:r>
            <a:endParaRPr lang="en-US" sz="1500" dirty="0"/>
          </a:p>
        </p:txBody>
      </p:sp>
      <p:sp>
        <p:nvSpPr>
          <p:cNvPr id="11" name="Text 8"/>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[8] Ezzati F, Pezeshk P. Diagnostics 2022 · [1] Smolen JS, et al. JAMA 2026</a:t>
            </a:r>
            <a:endParaRPr lang="en-US" sz="8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4CC9F0"/>
          </a:solidFill>
          <a:ln w="12700">
            <a:solidFill>
              <a:srgbClr val="4CC9F0"/>
            </a:solidFill>
            <a:prstDash val="solid"/>
          </a:ln>
        </p:spPr>
        <p:txBody>
          <a:bodyPr/>
          <a:lstStyle/>
          <a:p>
            <a:endParaRPr lang="es-CO"/>
          </a:p>
        </p:txBody>
      </p:sp>
      <p:sp>
        <p:nvSpPr>
          <p:cNvPr id="3" name="Text 1"/>
          <p:cNvSpPr txBox="1"/>
          <p:nvPr/>
        </p:nvSpPr>
        <p:spPr>
          <a:xfrm>
            <a:off x="685800" y="219456"/>
            <a:ext cx="7772400" cy="256032"/>
          </a:xfrm>
          <a:prstGeom prst="rect">
            <a:avLst/>
          </a:prstGeom>
          <a:noFill/>
          <a:ln/>
        </p:spPr>
        <p:txBody>
          <a:bodyPr wrap="square" lIns="0" tIns="0" rIns="0" bIns="0" rtlCol="0" anchor="ctr"/>
          <a:lstStyle/>
          <a:p>
            <a:pPr marL="0" indent="0">
              <a:buNone/>
            </a:pPr>
            <a:r>
              <a:rPr lang="en-US" sz="1050" b="1" kern="0" spc="400" dirty="0">
                <a:solidFill>
                  <a:srgbClr val="0A6F98"/>
                </a:solidFill>
                <a:latin typeface="Calibri" pitchFamily="34" charset="0"/>
                <a:ea typeface="Calibri" pitchFamily="34" charset="-122"/>
                <a:cs typeface="Calibri" pitchFamily="34" charset="-120"/>
              </a:rPr>
              <a:t>PERLA 2 · EL MAPA DE LA MANO</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600" b="1" dirty="0">
                <a:solidFill>
                  <a:srgbClr val="15193A"/>
                </a:solidFill>
                <a:latin typeface="Calibri" pitchFamily="34" charset="0"/>
                <a:ea typeface="Calibri" pitchFamily="34" charset="-122"/>
                <a:cs typeface="Calibri" pitchFamily="34" charset="-120"/>
              </a:rPr>
              <a:t>Artritis reumatoide frente a artrosis de manos</a:t>
            </a:r>
            <a:endParaRPr lang="en-US" sz="2600" dirty="0"/>
          </a:p>
        </p:txBody>
      </p:sp>
      <p:sp>
        <p:nvSpPr>
          <p:cNvPr id="5" name="Text 3"/>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[8] Ezzati F, Pezeshk P. Diagnostics 2022 · [1] Smolen JS, et al. JAMA 2026</a:t>
            </a:r>
            <a:endParaRPr lang="en-US" sz="850" dirty="0"/>
          </a:p>
        </p:txBody>
      </p:sp>
      <p:sp>
        <p:nvSpPr>
          <p:cNvPr id="6" name="Shape 4"/>
          <p:cNvSpPr/>
          <p:nvPr/>
        </p:nvSpPr>
        <p:spPr>
          <a:xfrm>
            <a:off x="1097280" y="2487168"/>
            <a:ext cx="1463040" cy="1234440"/>
          </a:xfrm>
          <a:prstGeom prst="roundRect">
            <a:avLst>
              <a:gd name="adj" fmla="val 18519"/>
            </a:avLst>
          </a:prstGeom>
          <a:solidFill>
            <a:srgbClr val="EDEFF9"/>
          </a:solidFill>
          <a:ln w="12700">
            <a:solidFill>
              <a:srgbClr val="CED5EA"/>
            </a:solidFill>
            <a:prstDash val="solid"/>
          </a:ln>
        </p:spPr>
        <p:txBody>
          <a:bodyPr/>
          <a:lstStyle/>
          <a:p>
            <a:endParaRPr lang="es-CO"/>
          </a:p>
        </p:txBody>
      </p:sp>
      <p:sp>
        <p:nvSpPr>
          <p:cNvPr id="7" name="Shape 5"/>
          <p:cNvSpPr/>
          <p:nvPr/>
        </p:nvSpPr>
        <p:spPr>
          <a:xfrm>
            <a:off x="1152144" y="1344168"/>
            <a:ext cx="292608" cy="1417320"/>
          </a:xfrm>
          <a:prstGeom prst="roundRect">
            <a:avLst>
              <a:gd name="adj" fmla="val 46875"/>
            </a:avLst>
          </a:prstGeom>
          <a:solidFill>
            <a:srgbClr val="EDEFF9"/>
          </a:solidFill>
          <a:ln w="12700">
            <a:solidFill>
              <a:srgbClr val="CED5EA"/>
            </a:solidFill>
            <a:prstDash val="solid"/>
          </a:ln>
        </p:spPr>
        <p:txBody>
          <a:bodyPr/>
          <a:lstStyle/>
          <a:p>
            <a:endParaRPr lang="es-CO"/>
          </a:p>
        </p:txBody>
      </p:sp>
      <p:sp>
        <p:nvSpPr>
          <p:cNvPr id="8" name="Shape 6"/>
          <p:cNvSpPr/>
          <p:nvPr/>
        </p:nvSpPr>
        <p:spPr>
          <a:xfrm>
            <a:off x="1188720" y="2414016"/>
            <a:ext cx="219456" cy="219456"/>
          </a:xfrm>
          <a:prstGeom prst="ellipse">
            <a:avLst/>
          </a:prstGeom>
          <a:solidFill>
            <a:srgbClr val="FF4D6D"/>
          </a:solidFill>
          <a:ln w="12700">
            <a:solidFill>
              <a:srgbClr val="D8DEEF"/>
            </a:solidFill>
            <a:prstDash val="solid"/>
          </a:ln>
        </p:spPr>
        <p:txBody>
          <a:bodyPr/>
          <a:lstStyle/>
          <a:p>
            <a:endParaRPr lang="es-CO"/>
          </a:p>
        </p:txBody>
      </p:sp>
      <p:sp>
        <p:nvSpPr>
          <p:cNvPr id="9" name="Shape 7"/>
          <p:cNvSpPr/>
          <p:nvPr/>
        </p:nvSpPr>
        <p:spPr>
          <a:xfrm>
            <a:off x="1188720" y="1897380"/>
            <a:ext cx="219456" cy="219456"/>
          </a:xfrm>
          <a:prstGeom prst="ellipse">
            <a:avLst/>
          </a:prstGeom>
          <a:solidFill>
            <a:srgbClr val="FF4D6D"/>
          </a:solidFill>
          <a:ln w="12700">
            <a:solidFill>
              <a:srgbClr val="D8DEEF"/>
            </a:solidFill>
            <a:prstDash val="solid"/>
          </a:ln>
        </p:spPr>
        <p:txBody>
          <a:bodyPr/>
          <a:lstStyle/>
          <a:p>
            <a:endParaRPr lang="es-CO"/>
          </a:p>
        </p:txBody>
      </p:sp>
      <p:sp>
        <p:nvSpPr>
          <p:cNvPr id="10" name="Shape 8"/>
          <p:cNvSpPr/>
          <p:nvPr/>
        </p:nvSpPr>
        <p:spPr>
          <a:xfrm>
            <a:off x="1188720" y="1508760"/>
            <a:ext cx="219456" cy="219456"/>
          </a:xfrm>
          <a:prstGeom prst="ellipse">
            <a:avLst/>
          </a:prstGeom>
          <a:solidFill>
            <a:srgbClr val="E2E7F5"/>
          </a:solidFill>
          <a:ln w="12700">
            <a:solidFill>
              <a:srgbClr val="D8DEEF"/>
            </a:solidFill>
            <a:prstDash val="solid"/>
          </a:ln>
        </p:spPr>
        <p:txBody>
          <a:bodyPr/>
          <a:lstStyle/>
          <a:p>
            <a:endParaRPr lang="es-CO"/>
          </a:p>
        </p:txBody>
      </p:sp>
      <p:sp>
        <p:nvSpPr>
          <p:cNvPr id="11" name="Shape 9"/>
          <p:cNvSpPr/>
          <p:nvPr/>
        </p:nvSpPr>
        <p:spPr>
          <a:xfrm>
            <a:off x="1508760" y="1188720"/>
            <a:ext cx="292608" cy="1572768"/>
          </a:xfrm>
          <a:prstGeom prst="roundRect">
            <a:avLst>
              <a:gd name="adj" fmla="val 46875"/>
            </a:avLst>
          </a:prstGeom>
          <a:solidFill>
            <a:srgbClr val="EDEFF9"/>
          </a:solidFill>
          <a:ln w="12700">
            <a:solidFill>
              <a:srgbClr val="CED5EA"/>
            </a:solidFill>
            <a:prstDash val="solid"/>
          </a:ln>
        </p:spPr>
        <p:txBody>
          <a:bodyPr/>
          <a:lstStyle/>
          <a:p>
            <a:endParaRPr lang="es-CO"/>
          </a:p>
        </p:txBody>
      </p:sp>
      <p:sp>
        <p:nvSpPr>
          <p:cNvPr id="12" name="Shape 10"/>
          <p:cNvSpPr/>
          <p:nvPr/>
        </p:nvSpPr>
        <p:spPr>
          <a:xfrm>
            <a:off x="1545336" y="2414016"/>
            <a:ext cx="219456" cy="219456"/>
          </a:xfrm>
          <a:prstGeom prst="ellipse">
            <a:avLst/>
          </a:prstGeom>
          <a:solidFill>
            <a:srgbClr val="FF4D6D"/>
          </a:solidFill>
          <a:ln w="12700">
            <a:solidFill>
              <a:srgbClr val="D8DEEF"/>
            </a:solidFill>
            <a:prstDash val="solid"/>
          </a:ln>
        </p:spPr>
        <p:txBody>
          <a:bodyPr/>
          <a:lstStyle/>
          <a:p>
            <a:endParaRPr lang="es-CO"/>
          </a:p>
        </p:txBody>
      </p:sp>
      <p:sp>
        <p:nvSpPr>
          <p:cNvPr id="13" name="Shape 11"/>
          <p:cNvSpPr/>
          <p:nvPr/>
        </p:nvSpPr>
        <p:spPr>
          <a:xfrm>
            <a:off x="1545336" y="1832092"/>
            <a:ext cx="219456" cy="219456"/>
          </a:xfrm>
          <a:prstGeom prst="ellipse">
            <a:avLst/>
          </a:prstGeom>
          <a:solidFill>
            <a:srgbClr val="FF4D6D"/>
          </a:solidFill>
          <a:ln w="12700">
            <a:solidFill>
              <a:srgbClr val="D8DEEF"/>
            </a:solidFill>
            <a:prstDash val="solid"/>
          </a:ln>
        </p:spPr>
        <p:txBody>
          <a:bodyPr/>
          <a:lstStyle/>
          <a:p>
            <a:endParaRPr lang="es-CO"/>
          </a:p>
        </p:txBody>
      </p:sp>
      <p:sp>
        <p:nvSpPr>
          <p:cNvPr id="14" name="Shape 12"/>
          <p:cNvSpPr/>
          <p:nvPr/>
        </p:nvSpPr>
        <p:spPr>
          <a:xfrm>
            <a:off x="1545336" y="1390620"/>
            <a:ext cx="219456" cy="219456"/>
          </a:xfrm>
          <a:prstGeom prst="ellipse">
            <a:avLst/>
          </a:prstGeom>
          <a:solidFill>
            <a:srgbClr val="E2E7F5"/>
          </a:solidFill>
          <a:ln w="12700">
            <a:solidFill>
              <a:srgbClr val="D8DEEF"/>
            </a:solidFill>
            <a:prstDash val="solid"/>
          </a:ln>
        </p:spPr>
        <p:txBody>
          <a:bodyPr/>
          <a:lstStyle/>
          <a:p>
            <a:endParaRPr lang="es-CO"/>
          </a:p>
        </p:txBody>
      </p:sp>
      <p:sp>
        <p:nvSpPr>
          <p:cNvPr id="15" name="Shape 13"/>
          <p:cNvSpPr/>
          <p:nvPr/>
        </p:nvSpPr>
        <p:spPr>
          <a:xfrm>
            <a:off x="1865376" y="1280160"/>
            <a:ext cx="292608" cy="1481328"/>
          </a:xfrm>
          <a:prstGeom prst="roundRect">
            <a:avLst>
              <a:gd name="adj" fmla="val 46875"/>
            </a:avLst>
          </a:prstGeom>
          <a:solidFill>
            <a:srgbClr val="EDEFF9"/>
          </a:solidFill>
          <a:ln w="12700">
            <a:solidFill>
              <a:srgbClr val="CED5EA"/>
            </a:solidFill>
            <a:prstDash val="solid"/>
          </a:ln>
        </p:spPr>
        <p:txBody>
          <a:bodyPr/>
          <a:lstStyle/>
          <a:p>
            <a:endParaRPr lang="es-CO"/>
          </a:p>
        </p:txBody>
      </p:sp>
      <p:sp>
        <p:nvSpPr>
          <p:cNvPr id="16" name="Shape 14"/>
          <p:cNvSpPr/>
          <p:nvPr/>
        </p:nvSpPr>
        <p:spPr>
          <a:xfrm>
            <a:off x="1901952" y="2414016"/>
            <a:ext cx="219456" cy="219456"/>
          </a:xfrm>
          <a:prstGeom prst="ellipse">
            <a:avLst/>
          </a:prstGeom>
          <a:solidFill>
            <a:srgbClr val="FF4D6D"/>
          </a:solidFill>
          <a:ln w="12700">
            <a:solidFill>
              <a:srgbClr val="D8DEEF"/>
            </a:solidFill>
            <a:prstDash val="solid"/>
          </a:ln>
        </p:spPr>
        <p:txBody>
          <a:bodyPr/>
          <a:lstStyle/>
          <a:p>
            <a:endParaRPr lang="es-CO"/>
          </a:p>
        </p:txBody>
      </p:sp>
      <p:sp>
        <p:nvSpPr>
          <p:cNvPr id="17" name="Shape 15"/>
          <p:cNvSpPr/>
          <p:nvPr/>
        </p:nvSpPr>
        <p:spPr>
          <a:xfrm>
            <a:off x="1901952" y="1870497"/>
            <a:ext cx="219456" cy="219456"/>
          </a:xfrm>
          <a:prstGeom prst="ellipse">
            <a:avLst/>
          </a:prstGeom>
          <a:solidFill>
            <a:srgbClr val="FF4D6D"/>
          </a:solidFill>
          <a:ln w="12700">
            <a:solidFill>
              <a:srgbClr val="D8DEEF"/>
            </a:solidFill>
            <a:prstDash val="solid"/>
          </a:ln>
        </p:spPr>
        <p:txBody>
          <a:bodyPr/>
          <a:lstStyle/>
          <a:p>
            <a:endParaRPr lang="es-CO"/>
          </a:p>
        </p:txBody>
      </p:sp>
      <p:sp>
        <p:nvSpPr>
          <p:cNvPr id="18" name="Shape 16"/>
          <p:cNvSpPr/>
          <p:nvPr/>
        </p:nvSpPr>
        <p:spPr>
          <a:xfrm>
            <a:off x="1901952" y="1460114"/>
            <a:ext cx="219456" cy="219456"/>
          </a:xfrm>
          <a:prstGeom prst="ellipse">
            <a:avLst/>
          </a:prstGeom>
          <a:solidFill>
            <a:srgbClr val="E2E7F5"/>
          </a:solidFill>
          <a:ln w="12700">
            <a:solidFill>
              <a:srgbClr val="D8DEEF"/>
            </a:solidFill>
            <a:prstDash val="solid"/>
          </a:ln>
        </p:spPr>
        <p:txBody>
          <a:bodyPr/>
          <a:lstStyle/>
          <a:p>
            <a:endParaRPr lang="es-CO"/>
          </a:p>
        </p:txBody>
      </p:sp>
      <p:sp>
        <p:nvSpPr>
          <p:cNvPr id="19" name="Shape 17"/>
          <p:cNvSpPr/>
          <p:nvPr/>
        </p:nvSpPr>
        <p:spPr>
          <a:xfrm>
            <a:off x="2221992" y="1527048"/>
            <a:ext cx="292608" cy="1234440"/>
          </a:xfrm>
          <a:prstGeom prst="roundRect">
            <a:avLst>
              <a:gd name="adj" fmla="val 46875"/>
            </a:avLst>
          </a:prstGeom>
          <a:solidFill>
            <a:srgbClr val="EDEFF9"/>
          </a:solidFill>
          <a:ln w="12700">
            <a:solidFill>
              <a:srgbClr val="CED5EA"/>
            </a:solidFill>
            <a:prstDash val="solid"/>
          </a:ln>
        </p:spPr>
        <p:txBody>
          <a:bodyPr/>
          <a:lstStyle/>
          <a:p>
            <a:endParaRPr lang="es-CO"/>
          </a:p>
        </p:txBody>
      </p:sp>
      <p:sp>
        <p:nvSpPr>
          <p:cNvPr id="20" name="Shape 18"/>
          <p:cNvSpPr/>
          <p:nvPr/>
        </p:nvSpPr>
        <p:spPr>
          <a:xfrm>
            <a:off x="2258568" y="2414016"/>
            <a:ext cx="219456" cy="219456"/>
          </a:xfrm>
          <a:prstGeom prst="ellipse">
            <a:avLst/>
          </a:prstGeom>
          <a:solidFill>
            <a:srgbClr val="FF4D6D"/>
          </a:solidFill>
          <a:ln w="12700">
            <a:solidFill>
              <a:srgbClr val="D8DEEF"/>
            </a:solidFill>
            <a:prstDash val="solid"/>
          </a:ln>
        </p:spPr>
        <p:txBody>
          <a:bodyPr/>
          <a:lstStyle/>
          <a:p>
            <a:endParaRPr lang="es-CO"/>
          </a:p>
        </p:txBody>
      </p:sp>
      <p:sp>
        <p:nvSpPr>
          <p:cNvPr id="21" name="Shape 19"/>
          <p:cNvSpPr/>
          <p:nvPr/>
        </p:nvSpPr>
        <p:spPr>
          <a:xfrm>
            <a:off x="2258568" y="1974190"/>
            <a:ext cx="219456" cy="219456"/>
          </a:xfrm>
          <a:prstGeom prst="ellipse">
            <a:avLst/>
          </a:prstGeom>
          <a:solidFill>
            <a:srgbClr val="FF4D6D"/>
          </a:solidFill>
          <a:ln w="12700">
            <a:solidFill>
              <a:srgbClr val="D8DEEF"/>
            </a:solidFill>
            <a:prstDash val="solid"/>
          </a:ln>
        </p:spPr>
        <p:txBody>
          <a:bodyPr/>
          <a:lstStyle/>
          <a:p>
            <a:endParaRPr lang="es-CO"/>
          </a:p>
        </p:txBody>
      </p:sp>
      <p:sp>
        <p:nvSpPr>
          <p:cNvPr id="22" name="Shape 20"/>
          <p:cNvSpPr/>
          <p:nvPr/>
        </p:nvSpPr>
        <p:spPr>
          <a:xfrm>
            <a:off x="2258568" y="1647749"/>
            <a:ext cx="219456" cy="219456"/>
          </a:xfrm>
          <a:prstGeom prst="ellipse">
            <a:avLst/>
          </a:prstGeom>
          <a:solidFill>
            <a:srgbClr val="E2E7F5"/>
          </a:solidFill>
          <a:ln w="12700">
            <a:solidFill>
              <a:srgbClr val="D8DEEF"/>
            </a:solidFill>
            <a:prstDash val="solid"/>
          </a:ln>
        </p:spPr>
        <p:txBody>
          <a:bodyPr/>
          <a:lstStyle/>
          <a:p>
            <a:endParaRPr lang="es-CO"/>
          </a:p>
        </p:txBody>
      </p:sp>
      <p:sp>
        <p:nvSpPr>
          <p:cNvPr id="23" name="Shape 21"/>
          <p:cNvSpPr/>
          <p:nvPr/>
        </p:nvSpPr>
        <p:spPr>
          <a:xfrm>
            <a:off x="713232" y="2532888"/>
            <a:ext cx="310896" cy="1143000"/>
          </a:xfrm>
          <a:prstGeom prst="roundRect">
            <a:avLst>
              <a:gd name="adj" fmla="val 44118"/>
            </a:avLst>
          </a:prstGeom>
          <a:solidFill>
            <a:srgbClr val="EDEFF9"/>
          </a:solidFill>
          <a:ln w="12700">
            <a:solidFill>
              <a:srgbClr val="CED5EA"/>
            </a:solidFill>
            <a:prstDash val="solid"/>
          </a:ln>
        </p:spPr>
        <p:txBody>
          <a:bodyPr/>
          <a:lstStyle/>
          <a:p>
            <a:endParaRPr lang="es-CO"/>
          </a:p>
        </p:txBody>
      </p:sp>
      <p:sp>
        <p:nvSpPr>
          <p:cNvPr id="24" name="Shape 22"/>
          <p:cNvSpPr/>
          <p:nvPr/>
        </p:nvSpPr>
        <p:spPr>
          <a:xfrm>
            <a:off x="758952" y="2651760"/>
            <a:ext cx="219456" cy="219456"/>
          </a:xfrm>
          <a:prstGeom prst="ellipse">
            <a:avLst/>
          </a:prstGeom>
          <a:solidFill>
            <a:srgbClr val="E2E7F5"/>
          </a:solidFill>
          <a:ln w="12700">
            <a:solidFill>
              <a:srgbClr val="D8DEEF"/>
            </a:solidFill>
            <a:prstDash val="solid"/>
          </a:ln>
        </p:spPr>
        <p:txBody>
          <a:bodyPr/>
          <a:lstStyle/>
          <a:p>
            <a:endParaRPr lang="es-CO"/>
          </a:p>
        </p:txBody>
      </p:sp>
      <p:sp>
        <p:nvSpPr>
          <p:cNvPr id="25" name="Shape 23"/>
          <p:cNvSpPr/>
          <p:nvPr/>
        </p:nvSpPr>
        <p:spPr>
          <a:xfrm>
            <a:off x="758952" y="2990088"/>
            <a:ext cx="219456" cy="219456"/>
          </a:xfrm>
          <a:prstGeom prst="ellipse">
            <a:avLst/>
          </a:prstGeom>
          <a:solidFill>
            <a:srgbClr val="FF4D6D"/>
          </a:solidFill>
          <a:ln w="12700">
            <a:solidFill>
              <a:srgbClr val="D8DEEF"/>
            </a:solidFill>
            <a:prstDash val="solid"/>
          </a:ln>
        </p:spPr>
        <p:txBody>
          <a:bodyPr/>
          <a:lstStyle/>
          <a:p>
            <a:endParaRPr lang="es-CO"/>
          </a:p>
        </p:txBody>
      </p:sp>
      <p:sp>
        <p:nvSpPr>
          <p:cNvPr id="26" name="Shape 24"/>
          <p:cNvSpPr/>
          <p:nvPr/>
        </p:nvSpPr>
        <p:spPr>
          <a:xfrm>
            <a:off x="758952" y="3383280"/>
            <a:ext cx="219456" cy="219456"/>
          </a:xfrm>
          <a:prstGeom prst="ellipse">
            <a:avLst/>
          </a:prstGeom>
          <a:solidFill>
            <a:srgbClr val="E2E7F5"/>
          </a:solidFill>
          <a:ln w="12700">
            <a:solidFill>
              <a:srgbClr val="D8DEEF"/>
            </a:solidFill>
            <a:prstDash val="solid"/>
          </a:ln>
        </p:spPr>
        <p:txBody>
          <a:bodyPr/>
          <a:lstStyle/>
          <a:p>
            <a:endParaRPr lang="es-CO"/>
          </a:p>
        </p:txBody>
      </p:sp>
      <p:sp>
        <p:nvSpPr>
          <p:cNvPr id="27" name="Shape 25"/>
          <p:cNvSpPr/>
          <p:nvPr/>
        </p:nvSpPr>
        <p:spPr>
          <a:xfrm>
            <a:off x="1325880" y="3675888"/>
            <a:ext cx="1005840" cy="411480"/>
          </a:xfrm>
          <a:prstGeom prst="roundRect">
            <a:avLst>
              <a:gd name="adj" fmla="val 22222"/>
            </a:avLst>
          </a:prstGeom>
          <a:solidFill>
            <a:srgbClr val="EDEFF9"/>
          </a:solidFill>
          <a:ln w="12700">
            <a:solidFill>
              <a:srgbClr val="CED5EA"/>
            </a:solidFill>
            <a:prstDash val="solid"/>
          </a:ln>
        </p:spPr>
        <p:txBody>
          <a:bodyPr/>
          <a:lstStyle/>
          <a:p>
            <a:endParaRPr lang="es-CO"/>
          </a:p>
        </p:txBody>
      </p:sp>
      <p:sp>
        <p:nvSpPr>
          <p:cNvPr id="28" name="Shape 26"/>
          <p:cNvSpPr/>
          <p:nvPr/>
        </p:nvSpPr>
        <p:spPr>
          <a:xfrm>
            <a:off x="1399032" y="3767328"/>
            <a:ext cx="219456" cy="219456"/>
          </a:xfrm>
          <a:prstGeom prst="ellipse">
            <a:avLst/>
          </a:prstGeom>
          <a:solidFill>
            <a:srgbClr val="FF4D6D"/>
          </a:solidFill>
          <a:ln w="12700">
            <a:solidFill>
              <a:srgbClr val="D8DEEF"/>
            </a:solidFill>
            <a:prstDash val="solid"/>
          </a:ln>
        </p:spPr>
        <p:txBody>
          <a:bodyPr/>
          <a:lstStyle/>
          <a:p>
            <a:endParaRPr lang="es-CO"/>
          </a:p>
        </p:txBody>
      </p:sp>
      <p:sp>
        <p:nvSpPr>
          <p:cNvPr id="29" name="Shape 27"/>
          <p:cNvSpPr/>
          <p:nvPr/>
        </p:nvSpPr>
        <p:spPr>
          <a:xfrm>
            <a:off x="1719072" y="3767328"/>
            <a:ext cx="219456" cy="219456"/>
          </a:xfrm>
          <a:prstGeom prst="ellipse">
            <a:avLst/>
          </a:prstGeom>
          <a:solidFill>
            <a:srgbClr val="FF4D6D"/>
          </a:solidFill>
          <a:ln w="12700">
            <a:solidFill>
              <a:srgbClr val="D8DEEF"/>
            </a:solidFill>
            <a:prstDash val="solid"/>
          </a:ln>
        </p:spPr>
        <p:txBody>
          <a:bodyPr/>
          <a:lstStyle/>
          <a:p>
            <a:endParaRPr lang="es-CO"/>
          </a:p>
        </p:txBody>
      </p:sp>
      <p:sp>
        <p:nvSpPr>
          <p:cNvPr id="30" name="Shape 28"/>
          <p:cNvSpPr/>
          <p:nvPr/>
        </p:nvSpPr>
        <p:spPr>
          <a:xfrm>
            <a:off x="2039112" y="3767328"/>
            <a:ext cx="219456" cy="219456"/>
          </a:xfrm>
          <a:prstGeom prst="ellipse">
            <a:avLst/>
          </a:prstGeom>
          <a:solidFill>
            <a:srgbClr val="FF4D6D"/>
          </a:solidFill>
          <a:ln w="12700">
            <a:solidFill>
              <a:srgbClr val="D8DEEF"/>
            </a:solidFill>
            <a:prstDash val="solid"/>
          </a:ln>
        </p:spPr>
        <p:txBody>
          <a:bodyPr/>
          <a:lstStyle/>
          <a:p>
            <a:endParaRPr lang="es-CO"/>
          </a:p>
        </p:txBody>
      </p:sp>
      <p:sp>
        <p:nvSpPr>
          <p:cNvPr id="31" name="Shape 29"/>
          <p:cNvSpPr/>
          <p:nvPr/>
        </p:nvSpPr>
        <p:spPr>
          <a:xfrm>
            <a:off x="3977640" y="2487168"/>
            <a:ext cx="1463040" cy="1234440"/>
          </a:xfrm>
          <a:prstGeom prst="roundRect">
            <a:avLst>
              <a:gd name="adj" fmla="val 18519"/>
            </a:avLst>
          </a:prstGeom>
          <a:solidFill>
            <a:srgbClr val="EDEFF9"/>
          </a:solidFill>
          <a:ln w="12700">
            <a:solidFill>
              <a:srgbClr val="CED5EA"/>
            </a:solidFill>
            <a:prstDash val="solid"/>
          </a:ln>
        </p:spPr>
        <p:txBody>
          <a:bodyPr/>
          <a:lstStyle/>
          <a:p>
            <a:endParaRPr lang="es-CO"/>
          </a:p>
        </p:txBody>
      </p:sp>
      <p:sp>
        <p:nvSpPr>
          <p:cNvPr id="32" name="Shape 30"/>
          <p:cNvSpPr/>
          <p:nvPr/>
        </p:nvSpPr>
        <p:spPr>
          <a:xfrm>
            <a:off x="4032504" y="1344168"/>
            <a:ext cx="292608" cy="1417320"/>
          </a:xfrm>
          <a:prstGeom prst="roundRect">
            <a:avLst>
              <a:gd name="adj" fmla="val 46875"/>
            </a:avLst>
          </a:prstGeom>
          <a:solidFill>
            <a:srgbClr val="EDEFF9"/>
          </a:solidFill>
          <a:ln w="12700">
            <a:solidFill>
              <a:srgbClr val="CED5EA"/>
            </a:solidFill>
            <a:prstDash val="solid"/>
          </a:ln>
        </p:spPr>
        <p:txBody>
          <a:bodyPr/>
          <a:lstStyle/>
          <a:p>
            <a:endParaRPr lang="es-CO"/>
          </a:p>
        </p:txBody>
      </p:sp>
      <p:sp>
        <p:nvSpPr>
          <p:cNvPr id="33" name="Shape 31"/>
          <p:cNvSpPr/>
          <p:nvPr/>
        </p:nvSpPr>
        <p:spPr>
          <a:xfrm>
            <a:off x="4069080" y="2414016"/>
            <a:ext cx="219456" cy="219456"/>
          </a:xfrm>
          <a:prstGeom prst="ellipse">
            <a:avLst/>
          </a:prstGeom>
          <a:solidFill>
            <a:srgbClr val="E2E7F5"/>
          </a:solidFill>
          <a:ln w="12700">
            <a:solidFill>
              <a:srgbClr val="D8DEEF"/>
            </a:solidFill>
            <a:prstDash val="solid"/>
          </a:ln>
        </p:spPr>
        <p:txBody>
          <a:bodyPr/>
          <a:lstStyle/>
          <a:p>
            <a:endParaRPr lang="es-CO"/>
          </a:p>
        </p:txBody>
      </p:sp>
      <p:sp>
        <p:nvSpPr>
          <p:cNvPr id="34" name="Shape 32"/>
          <p:cNvSpPr/>
          <p:nvPr/>
        </p:nvSpPr>
        <p:spPr>
          <a:xfrm>
            <a:off x="4069080" y="1897380"/>
            <a:ext cx="219456" cy="219456"/>
          </a:xfrm>
          <a:prstGeom prst="ellipse">
            <a:avLst/>
          </a:prstGeom>
          <a:solidFill>
            <a:srgbClr val="FFB703"/>
          </a:solidFill>
          <a:ln w="12700">
            <a:solidFill>
              <a:srgbClr val="D8DEEF"/>
            </a:solidFill>
            <a:prstDash val="solid"/>
          </a:ln>
        </p:spPr>
        <p:txBody>
          <a:bodyPr/>
          <a:lstStyle/>
          <a:p>
            <a:endParaRPr lang="es-CO"/>
          </a:p>
        </p:txBody>
      </p:sp>
      <p:sp>
        <p:nvSpPr>
          <p:cNvPr id="35" name="Shape 33"/>
          <p:cNvSpPr/>
          <p:nvPr/>
        </p:nvSpPr>
        <p:spPr>
          <a:xfrm>
            <a:off x="4069080" y="1508760"/>
            <a:ext cx="219456" cy="219456"/>
          </a:xfrm>
          <a:prstGeom prst="ellipse">
            <a:avLst/>
          </a:prstGeom>
          <a:solidFill>
            <a:srgbClr val="FFB703"/>
          </a:solidFill>
          <a:ln w="12700">
            <a:solidFill>
              <a:srgbClr val="D8DEEF"/>
            </a:solidFill>
            <a:prstDash val="solid"/>
          </a:ln>
        </p:spPr>
        <p:txBody>
          <a:bodyPr/>
          <a:lstStyle/>
          <a:p>
            <a:endParaRPr lang="es-CO"/>
          </a:p>
        </p:txBody>
      </p:sp>
      <p:sp>
        <p:nvSpPr>
          <p:cNvPr id="36" name="Shape 34"/>
          <p:cNvSpPr/>
          <p:nvPr/>
        </p:nvSpPr>
        <p:spPr>
          <a:xfrm>
            <a:off x="4389120" y="1188720"/>
            <a:ext cx="292608" cy="1572768"/>
          </a:xfrm>
          <a:prstGeom prst="roundRect">
            <a:avLst>
              <a:gd name="adj" fmla="val 46875"/>
            </a:avLst>
          </a:prstGeom>
          <a:solidFill>
            <a:srgbClr val="EDEFF9"/>
          </a:solidFill>
          <a:ln w="12700">
            <a:solidFill>
              <a:srgbClr val="CED5EA"/>
            </a:solidFill>
            <a:prstDash val="solid"/>
          </a:ln>
        </p:spPr>
        <p:txBody>
          <a:bodyPr/>
          <a:lstStyle/>
          <a:p>
            <a:endParaRPr lang="es-CO"/>
          </a:p>
        </p:txBody>
      </p:sp>
      <p:sp>
        <p:nvSpPr>
          <p:cNvPr id="37" name="Shape 35"/>
          <p:cNvSpPr/>
          <p:nvPr/>
        </p:nvSpPr>
        <p:spPr>
          <a:xfrm>
            <a:off x="4425696" y="2414016"/>
            <a:ext cx="219456" cy="219456"/>
          </a:xfrm>
          <a:prstGeom prst="ellipse">
            <a:avLst/>
          </a:prstGeom>
          <a:solidFill>
            <a:srgbClr val="E2E7F5"/>
          </a:solidFill>
          <a:ln w="12700">
            <a:solidFill>
              <a:srgbClr val="D8DEEF"/>
            </a:solidFill>
            <a:prstDash val="solid"/>
          </a:ln>
        </p:spPr>
        <p:txBody>
          <a:bodyPr/>
          <a:lstStyle/>
          <a:p>
            <a:endParaRPr lang="es-CO"/>
          </a:p>
        </p:txBody>
      </p:sp>
      <p:sp>
        <p:nvSpPr>
          <p:cNvPr id="38" name="Shape 36"/>
          <p:cNvSpPr/>
          <p:nvPr/>
        </p:nvSpPr>
        <p:spPr>
          <a:xfrm>
            <a:off x="4425696" y="1832092"/>
            <a:ext cx="219456" cy="219456"/>
          </a:xfrm>
          <a:prstGeom prst="ellipse">
            <a:avLst/>
          </a:prstGeom>
          <a:solidFill>
            <a:srgbClr val="FFB703"/>
          </a:solidFill>
          <a:ln w="12700">
            <a:solidFill>
              <a:srgbClr val="D8DEEF"/>
            </a:solidFill>
            <a:prstDash val="solid"/>
          </a:ln>
        </p:spPr>
        <p:txBody>
          <a:bodyPr/>
          <a:lstStyle/>
          <a:p>
            <a:endParaRPr lang="es-CO"/>
          </a:p>
        </p:txBody>
      </p:sp>
      <p:sp>
        <p:nvSpPr>
          <p:cNvPr id="39" name="Shape 37"/>
          <p:cNvSpPr/>
          <p:nvPr/>
        </p:nvSpPr>
        <p:spPr>
          <a:xfrm>
            <a:off x="4425696" y="1390620"/>
            <a:ext cx="219456" cy="219456"/>
          </a:xfrm>
          <a:prstGeom prst="ellipse">
            <a:avLst/>
          </a:prstGeom>
          <a:solidFill>
            <a:srgbClr val="FFB703"/>
          </a:solidFill>
          <a:ln w="12700">
            <a:solidFill>
              <a:srgbClr val="D8DEEF"/>
            </a:solidFill>
            <a:prstDash val="solid"/>
          </a:ln>
        </p:spPr>
        <p:txBody>
          <a:bodyPr/>
          <a:lstStyle/>
          <a:p>
            <a:endParaRPr lang="es-CO"/>
          </a:p>
        </p:txBody>
      </p:sp>
      <p:sp>
        <p:nvSpPr>
          <p:cNvPr id="40" name="Shape 38"/>
          <p:cNvSpPr/>
          <p:nvPr/>
        </p:nvSpPr>
        <p:spPr>
          <a:xfrm>
            <a:off x="4745736" y="1280160"/>
            <a:ext cx="292608" cy="1481328"/>
          </a:xfrm>
          <a:prstGeom prst="roundRect">
            <a:avLst>
              <a:gd name="adj" fmla="val 46875"/>
            </a:avLst>
          </a:prstGeom>
          <a:solidFill>
            <a:srgbClr val="EDEFF9"/>
          </a:solidFill>
          <a:ln w="12700">
            <a:solidFill>
              <a:srgbClr val="CED5EA"/>
            </a:solidFill>
            <a:prstDash val="solid"/>
          </a:ln>
        </p:spPr>
        <p:txBody>
          <a:bodyPr/>
          <a:lstStyle/>
          <a:p>
            <a:endParaRPr lang="es-CO"/>
          </a:p>
        </p:txBody>
      </p:sp>
      <p:sp>
        <p:nvSpPr>
          <p:cNvPr id="41" name="Shape 39"/>
          <p:cNvSpPr/>
          <p:nvPr/>
        </p:nvSpPr>
        <p:spPr>
          <a:xfrm>
            <a:off x="4782312" y="2414016"/>
            <a:ext cx="219456" cy="219456"/>
          </a:xfrm>
          <a:prstGeom prst="ellipse">
            <a:avLst/>
          </a:prstGeom>
          <a:solidFill>
            <a:srgbClr val="E2E7F5"/>
          </a:solidFill>
          <a:ln w="12700">
            <a:solidFill>
              <a:srgbClr val="D8DEEF"/>
            </a:solidFill>
            <a:prstDash val="solid"/>
          </a:ln>
        </p:spPr>
        <p:txBody>
          <a:bodyPr/>
          <a:lstStyle/>
          <a:p>
            <a:endParaRPr lang="es-CO"/>
          </a:p>
        </p:txBody>
      </p:sp>
      <p:sp>
        <p:nvSpPr>
          <p:cNvPr id="42" name="Shape 40"/>
          <p:cNvSpPr/>
          <p:nvPr/>
        </p:nvSpPr>
        <p:spPr>
          <a:xfrm>
            <a:off x="4782312" y="1870497"/>
            <a:ext cx="219456" cy="219456"/>
          </a:xfrm>
          <a:prstGeom prst="ellipse">
            <a:avLst/>
          </a:prstGeom>
          <a:solidFill>
            <a:srgbClr val="FFB703"/>
          </a:solidFill>
          <a:ln w="12700">
            <a:solidFill>
              <a:srgbClr val="D8DEEF"/>
            </a:solidFill>
            <a:prstDash val="solid"/>
          </a:ln>
        </p:spPr>
        <p:txBody>
          <a:bodyPr/>
          <a:lstStyle/>
          <a:p>
            <a:endParaRPr lang="es-CO"/>
          </a:p>
        </p:txBody>
      </p:sp>
      <p:sp>
        <p:nvSpPr>
          <p:cNvPr id="43" name="Shape 41"/>
          <p:cNvSpPr/>
          <p:nvPr/>
        </p:nvSpPr>
        <p:spPr>
          <a:xfrm>
            <a:off x="4782312" y="1460114"/>
            <a:ext cx="219456" cy="219456"/>
          </a:xfrm>
          <a:prstGeom prst="ellipse">
            <a:avLst/>
          </a:prstGeom>
          <a:solidFill>
            <a:srgbClr val="FFB703"/>
          </a:solidFill>
          <a:ln w="12700">
            <a:solidFill>
              <a:srgbClr val="D8DEEF"/>
            </a:solidFill>
            <a:prstDash val="solid"/>
          </a:ln>
        </p:spPr>
        <p:txBody>
          <a:bodyPr/>
          <a:lstStyle/>
          <a:p>
            <a:endParaRPr lang="es-CO"/>
          </a:p>
        </p:txBody>
      </p:sp>
      <p:sp>
        <p:nvSpPr>
          <p:cNvPr id="44" name="Shape 42"/>
          <p:cNvSpPr/>
          <p:nvPr/>
        </p:nvSpPr>
        <p:spPr>
          <a:xfrm>
            <a:off x="5102352" y="1527048"/>
            <a:ext cx="292608" cy="1234440"/>
          </a:xfrm>
          <a:prstGeom prst="roundRect">
            <a:avLst>
              <a:gd name="adj" fmla="val 46875"/>
            </a:avLst>
          </a:prstGeom>
          <a:solidFill>
            <a:srgbClr val="EDEFF9"/>
          </a:solidFill>
          <a:ln w="12700">
            <a:solidFill>
              <a:srgbClr val="CED5EA"/>
            </a:solidFill>
            <a:prstDash val="solid"/>
          </a:ln>
        </p:spPr>
        <p:txBody>
          <a:bodyPr/>
          <a:lstStyle/>
          <a:p>
            <a:endParaRPr lang="es-CO"/>
          </a:p>
        </p:txBody>
      </p:sp>
      <p:sp>
        <p:nvSpPr>
          <p:cNvPr id="45" name="Shape 43"/>
          <p:cNvSpPr/>
          <p:nvPr/>
        </p:nvSpPr>
        <p:spPr>
          <a:xfrm>
            <a:off x="5138928" y="2414016"/>
            <a:ext cx="219456" cy="219456"/>
          </a:xfrm>
          <a:prstGeom prst="ellipse">
            <a:avLst/>
          </a:prstGeom>
          <a:solidFill>
            <a:srgbClr val="E2E7F5"/>
          </a:solidFill>
          <a:ln w="12700">
            <a:solidFill>
              <a:srgbClr val="D8DEEF"/>
            </a:solidFill>
            <a:prstDash val="solid"/>
          </a:ln>
        </p:spPr>
        <p:txBody>
          <a:bodyPr/>
          <a:lstStyle/>
          <a:p>
            <a:endParaRPr lang="es-CO"/>
          </a:p>
        </p:txBody>
      </p:sp>
      <p:sp>
        <p:nvSpPr>
          <p:cNvPr id="46" name="Shape 44"/>
          <p:cNvSpPr/>
          <p:nvPr/>
        </p:nvSpPr>
        <p:spPr>
          <a:xfrm>
            <a:off x="5138928" y="1974190"/>
            <a:ext cx="219456" cy="219456"/>
          </a:xfrm>
          <a:prstGeom prst="ellipse">
            <a:avLst/>
          </a:prstGeom>
          <a:solidFill>
            <a:srgbClr val="FFB703"/>
          </a:solidFill>
          <a:ln w="12700">
            <a:solidFill>
              <a:srgbClr val="D8DEEF"/>
            </a:solidFill>
            <a:prstDash val="solid"/>
          </a:ln>
        </p:spPr>
        <p:txBody>
          <a:bodyPr/>
          <a:lstStyle/>
          <a:p>
            <a:endParaRPr lang="es-CO"/>
          </a:p>
        </p:txBody>
      </p:sp>
      <p:sp>
        <p:nvSpPr>
          <p:cNvPr id="47" name="Shape 45"/>
          <p:cNvSpPr/>
          <p:nvPr/>
        </p:nvSpPr>
        <p:spPr>
          <a:xfrm>
            <a:off x="5138928" y="1647749"/>
            <a:ext cx="219456" cy="219456"/>
          </a:xfrm>
          <a:prstGeom prst="ellipse">
            <a:avLst/>
          </a:prstGeom>
          <a:solidFill>
            <a:srgbClr val="FFB703"/>
          </a:solidFill>
          <a:ln w="12700">
            <a:solidFill>
              <a:srgbClr val="D8DEEF"/>
            </a:solidFill>
            <a:prstDash val="solid"/>
          </a:ln>
        </p:spPr>
        <p:txBody>
          <a:bodyPr/>
          <a:lstStyle/>
          <a:p>
            <a:endParaRPr lang="es-CO"/>
          </a:p>
        </p:txBody>
      </p:sp>
      <p:sp>
        <p:nvSpPr>
          <p:cNvPr id="48" name="Shape 46"/>
          <p:cNvSpPr/>
          <p:nvPr/>
        </p:nvSpPr>
        <p:spPr>
          <a:xfrm>
            <a:off x="3593592" y="2532888"/>
            <a:ext cx="310896" cy="1143000"/>
          </a:xfrm>
          <a:prstGeom prst="roundRect">
            <a:avLst>
              <a:gd name="adj" fmla="val 44118"/>
            </a:avLst>
          </a:prstGeom>
          <a:solidFill>
            <a:srgbClr val="EDEFF9"/>
          </a:solidFill>
          <a:ln w="12700">
            <a:solidFill>
              <a:srgbClr val="CED5EA"/>
            </a:solidFill>
            <a:prstDash val="solid"/>
          </a:ln>
        </p:spPr>
        <p:txBody>
          <a:bodyPr/>
          <a:lstStyle/>
          <a:p>
            <a:endParaRPr lang="es-CO"/>
          </a:p>
        </p:txBody>
      </p:sp>
      <p:sp>
        <p:nvSpPr>
          <p:cNvPr id="49" name="Shape 47"/>
          <p:cNvSpPr/>
          <p:nvPr/>
        </p:nvSpPr>
        <p:spPr>
          <a:xfrm>
            <a:off x="3639312" y="2651760"/>
            <a:ext cx="219456" cy="219456"/>
          </a:xfrm>
          <a:prstGeom prst="ellipse">
            <a:avLst/>
          </a:prstGeom>
          <a:solidFill>
            <a:srgbClr val="FFB703"/>
          </a:solidFill>
          <a:ln w="12700">
            <a:solidFill>
              <a:srgbClr val="D8DEEF"/>
            </a:solidFill>
            <a:prstDash val="solid"/>
          </a:ln>
        </p:spPr>
        <p:txBody>
          <a:bodyPr/>
          <a:lstStyle/>
          <a:p>
            <a:endParaRPr lang="es-CO"/>
          </a:p>
        </p:txBody>
      </p:sp>
      <p:sp>
        <p:nvSpPr>
          <p:cNvPr id="50" name="Shape 48"/>
          <p:cNvSpPr/>
          <p:nvPr/>
        </p:nvSpPr>
        <p:spPr>
          <a:xfrm>
            <a:off x="3639312" y="2990088"/>
            <a:ext cx="219456" cy="219456"/>
          </a:xfrm>
          <a:prstGeom prst="ellipse">
            <a:avLst/>
          </a:prstGeom>
          <a:solidFill>
            <a:srgbClr val="E2E7F5"/>
          </a:solidFill>
          <a:ln w="12700">
            <a:solidFill>
              <a:srgbClr val="D8DEEF"/>
            </a:solidFill>
            <a:prstDash val="solid"/>
          </a:ln>
        </p:spPr>
        <p:txBody>
          <a:bodyPr/>
          <a:lstStyle/>
          <a:p>
            <a:endParaRPr lang="es-CO"/>
          </a:p>
        </p:txBody>
      </p:sp>
      <p:sp>
        <p:nvSpPr>
          <p:cNvPr id="51" name="Shape 49"/>
          <p:cNvSpPr/>
          <p:nvPr/>
        </p:nvSpPr>
        <p:spPr>
          <a:xfrm>
            <a:off x="3639312" y="3383280"/>
            <a:ext cx="219456" cy="219456"/>
          </a:xfrm>
          <a:prstGeom prst="ellipse">
            <a:avLst/>
          </a:prstGeom>
          <a:solidFill>
            <a:srgbClr val="FFB703"/>
          </a:solidFill>
          <a:ln w="12700">
            <a:solidFill>
              <a:srgbClr val="D8DEEF"/>
            </a:solidFill>
            <a:prstDash val="solid"/>
          </a:ln>
        </p:spPr>
        <p:txBody>
          <a:bodyPr/>
          <a:lstStyle/>
          <a:p>
            <a:endParaRPr lang="es-CO"/>
          </a:p>
        </p:txBody>
      </p:sp>
      <p:sp>
        <p:nvSpPr>
          <p:cNvPr id="52" name="Shape 50"/>
          <p:cNvSpPr/>
          <p:nvPr/>
        </p:nvSpPr>
        <p:spPr>
          <a:xfrm>
            <a:off x="4206240" y="3675888"/>
            <a:ext cx="1005840" cy="411480"/>
          </a:xfrm>
          <a:prstGeom prst="roundRect">
            <a:avLst>
              <a:gd name="adj" fmla="val 22222"/>
            </a:avLst>
          </a:prstGeom>
          <a:solidFill>
            <a:srgbClr val="EDEFF9"/>
          </a:solidFill>
          <a:ln w="12700">
            <a:solidFill>
              <a:srgbClr val="CED5EA"/>
            </a:solidFill>
            <a:prstDash val="solid"/>
          </a:ln>
        </p:spPr>
        <p:txBody>
          <a:bodyPr/>
          <a:lstStyle/>
          <a:p>
            <a:endParaRPr lang="es-CO"/>
          </a:p>
        </p:txBody>
      </p:sp>
      <p:sp>
        <p:nvSpPr>
          <p:cNvPr id="53" name="Shape 51"/>
          <p:cNvSpPr/>
          <p:nvPr/>
        </p:nvSpPr>
        <p:spPr>
          <a:xfrm>
            <a:off x="4279392" y="3767328"/>
            <a:ext cx="219456" cy="219456"/>
          </a:xfrm>
          <a:prstGeom prst="ellipse">
            <a:avLst/>
          </a:prstGeom>
          <a:solidFill>
            <a:srgbClr val="E2E7F5"/>
          </a:solidFill>
          <a:ln w="12700">
            <a:solidFill>
              <a:srgbClr val="D8DEEF"/>
            </a:solidFill>
            <a:prstDash val="solid"/>
          </a:ln>
        </p:spPr>
        <p:txBody>
          <a:bodyPr/>
          <a:lstStyle/>
          <a:p>
            <a:endParaRPr lang="es-CO"/>
          </a:p>
        </p:txBody>
      </p:sp>
      <p:sp>
        <p:nvSpPr>
          <p:cNvPr id="54" name="Shape 52"/>
          <p:cNvSpPr/>
          <p:nvPr/>
        </p:nvSpPr>
        <p:spPr>
          <a:xfrm>
            <a:off x="4599432" y="3767328"/>
            <a:ext cx="219456" cy="219456"/>
          </a:xfrm>
          <a:prstGeom prst="ellipse">
            <a:avLst/>
          </a:prstGeom>
          <a:solidFill>
            <a:srgbClr val="E2E7F5"/>
          </a:solidFill>
          <a:ln w="12700">
            <a:solidFill>
              <a:srgbClr val="D8DEEF"/>
            </a:solidFill>
            <a:prstDash val="solid"/>
          </a:ln>
        </p:spPr>
        <p:txBody>
          <a:bodyPr/>
          <a:lstStyle/>
          <a:p>
            <a:endParaRPr lang="es-CO"/>
          </a:p>
        </p:txBody>
      </p:sp>
      <p:sp>
        <p:nvSpPr>
          <p:cNvPr id="55" name="Shape 53"/>
          <p:cNvSpPr/>
          <p:nvPr/>
        </p:nvSpPr>
        <p:spPr>
          <a:xfrm>
            <a:off x="4919472" y="3767328"/>
            <a:ext cx="219456" cy="219456"/>
          </a:xfrm>
          <a:prstGeom prst="ellipse">
            <a:avLst/>
          </a:prstGeom>
          <a:solidFill>
            <a:srgbClr val="E2E7F5"/>
          </a:solidFill>
          <a:ln w="12700">
            <a:solidFill>
              <a:srgbClr val="D8DEEF"/>
            </a:solidFill>
            <a:prstDash val="solid"/>
          </a:ln>
        </p:spPr>
        <p:txBody>
          <a:bodyPr/>
          <a:lstStyle/>
          <a:p>
            <a:endParaRPr lang="es-CO"/>
          </a:p>
        </p:txBody>
      </p:sp>
      <p:sp>
        <p:nvSpPr>
          <p:cNvPr id="56" name="Text 54"/>
          <p:cNvSpPr txBox="1"/>
          <p:nvPr/>
        </p:nvSpPr>
        <p:spPr>
          <a:xfrm>
            <a:off x="548640" y="4343400"/>
            <a:ext cx="2560320" cy="320040"/>
          </a:xfrm>
          <a:prstGeom prst="rect">
            <a:avLst/>
          </a:prstGeom>
          <a:noFill/>
          <a:ln/>
        </p:spPr>
        <p:txBody>
          <a:bodyPr wrap="square" lIns="0" tIns="0" rIns="0" bIns="0" rtlCol="0" anchor="t"/>
          <a:lstStyle/>
          <a:p>
            <a:pPr marL="0" indent="0" algn="ctr">
              <a:buNone/>
            </a:pPr>
            <a:r>
              <a:rPr lang="en-US" sz="1500" b="1" dirty="0">
                <a:solidFill>
                  <a:srgbClr val="C81E43"/>
                </a:solidFill>
                <a:latin typeface="Calibri" pitchFamily="34" charset="0"/>
                <a:ea typeface="Calibri" pitchFamily="34" charset="-122"/>
                <a:cs typeface="Calibri" pitchFamily="34" charset="-120"/>
              </a:rPr>
              <a:t>Artritis reumatoide</a:t>
            </a:r>
            <a:endParaRPr lang="en-US" sz="1500" dirty="0"/>
          </a:p>
        </p:txBody>
      </p:sp>
      <p:sp>
        <p:nvSpPr>
          <p:cNvPr id="57" name="Text 55"/>
          <p:cNvSpPr txBox="1"/>
          <p:nvPr/>
        </p:nvSpPr>
        <p:spPr>
          <a:xfrm>
            <a:off x="3429000" y="4343400"/>
            <a:ext cx="2560320" cy="320040"/>
          </a:xfrm>
          <a:prstGeom prst="rect">
            <a:avLst/>
          </a:prstGeom>
          <a:noFill/>
          <a:ln/>
        </p:spPr>
        <p:txBody>
          <a:bodyPr wrap="square" lIns="0" tIns="0" rIns="0" bIns="0" rtlCol="0" anchor="t"/>
          <a:lstStyle/>
          <a:p>
            <a:pPr marL="0" indent="0" algn="ctr">
              <a:buNone/>
            </a:pPr>
            <a:r>
              <a:rPr lang="en-US" sz="1500" b="1" dirty="0">
                <a:solidFill>
                  <a:srgbClr val="8A5E00"/>
                </a:solidFill>
                <a:latin typeface="Calibri" pitchFamily="34" charset="0"/>
                <a:ea typeface="Calibri" pitchFamily="34" charset="-122"/>
                <a:cs typeface="Calibri" pitchFamily="34" charset="-120"/>
              </a:rPr>
              <a:t>Artrosis de manos</a:t>
            </a:r>
            <a:endParaRPr lang="en-US" sz="1500" dirty="0"/>
          </a:p>
        </p:txBody>
      </p:sp>
      <p:sp>
        <p:nvSpPr>
          <p:cNvPr id="58" name="Shape 56"/>
          <p:cNvSpPr/>
          <p:nvPr/>
        </p:nvSpPr>
        <p:spPr>
          <a:xfrm>
            <a:off x="6263640" y="1188720"/>
            <a:ext cx="2423160" cy="3520440"/>
          </a:xfrm>
          <a:prstGeom prst="roundRect">
            <a:avLst>
              <a:gd name="adj" fmla="val 3774"/>
            </a:avLst>
          </a:prstGeom>
          <a:solidFill>
            <a:srgbClr val="F1F3FB"/>
          </a:solidFill>
          <a:ln w="9525">
            <a:solidFill>
              <a:srgbClr val="D8DEEF"/>
            </a:solidFill>
            <a:prstDash val="solid"/>
          </a:ln>
        </p:spPr>
        <p:txBody>
          <a:bodyPr/>
          <a:lstStyle/>
          <a:p>
            <a:endParaRPr lang="es-CO"/>
          </a:p>
        </p:txBody>
      </p:sp>
      <p:sp>
        <p:nvSpPr>
          <p:cNvPr id="59" name="Text 57"/>
          <p:cNvSpPr txBox="1"/>
          <p:nvPr/>
        </p:nvSpPr>
        <p:spPr>
          <a:xfrm>
            <a:off x="6400800" y="1280160"/>
            <a:ext cx="2194560" cy="274320"/>
          </a:xfrm>
          <a:prstGeom prst="rect">
            <a:avLst/>
          </a:prstGeom>
          <a:noFill/>
          <a:ln/>
        </p:spPr>
        <p:txBody>
          <a:bodyPr wrap="square" lIns="0" tIns="0" rIns="0" bIns="0" rtlCol="0" anchor="t"/>
          <a:lstStyle/>
          <a:p>
            <a:pPr marL="0" indent="0">
              <a:buNone/>
            </a:pPr>
            <a:r>
              <a:rPr lang="en-US" sz="1200" b="1" dirty="0">
                <a:solidFill>
                  <a:srgbClr val="474F70"/>
                </a:solidFill>
                <a:latin typeface="Calibri" pitchFamily="34" charset="0"/>
                <a:ea typeface="Calibri" pitchFamily="34" charset="-122"/>
                <a:cs typeface="Calibri" pitchFamily="34" charset="-120"/>
              </a:rPr>
              <a:t>Leyenda</a:t>
            </a:r>
            <a:endParaRPr lang="en-US" sz="1200" dirty="0"/>
          </a:p>
        </p:txBody>
      </p:sp>
      <p:sp>
        <p:nvSpPr>
          <p:cNvPr id="60" name="Shape 58"/>
          <p:cNvSpPr/>
          <p:nvPr/>
        </p:nvSpPr>
        <p:spPr>
          <a:xfrm>
            <a:off x="6400800" y="1709928"/>
            <a:ext cx="237744" cy="237744"/>
          </a:xfrm>
          <a:prstGeom prst="ellipse">
            <a:avLst/>
          </a:prstGeom>
          <a:solidFill>
            <a:srgbClr val="FF4D6D"/>
          </a:solidFill>
          <a:ln w="12700">
            <a:solidFill>
              <a:srgbClr val="FF4D6D"/>
            </a:solidFill>
            <a:prstDash val="solid"/>
          </a:ln>
        </p:spPr>
        <p:txBody>
          <a:bodyPr/>
          <a:lstStyle/>
          <a:p>
            <a:endParaRPr lang="es-CO"/>
          </a:p>
        </p:txBody>
      </p:sp>
      <p:sp>
        <p:nvSpPr>
          <p:cNvPr id="61" name="Text 59"/>
          <p:cNvSpPr txBox="1"/>
          <p:nvPr/>
        </p:nvSpPr>
        <p:spPr>
          <a:xfrm>
            <a:off x="6748272" y="1645920"/>
            <a:ext cx="1874520" cy="594360"/>
          </a:xfrm>
          <a:prstGeom prst="rect">
            <a:avLst/>
          </a:prstGeom>
          <a:noFill/>
          <a:ln/>
        </p:spPr>
        <p:txBody>
          <a:bodyPr wrap="square" lIns="0" tIns="0" rIns="0" bIns="0" rtlCol="0" anchor="t"/>
          <a:lstStyle/>
          <a:p>
            <a:pPr marL="0" indent="0">
              <a:buNone/>
            </a:pPr>
            <a:r>
              <a:rPr lang="en-US" sz="1100" dirty="0">
                <a:solidFill>
                  <a:srgbClr val="15193A"/>
                </a:solidFill>
                <a:latin typeface="Calibri" pitchFamily="34" charset="0"/>
                <a:ea typeface="Calibri" pitchFamily="34" charset="-122"/>
                <a:cs typeface="Calibri" pitchFamily="34" charset="-120"/>
              </a:rPr>
              <a:t>Típica de AR: MCF, IFP y muñecas</a:t>
            </a:r>
            <a:endParaRPr lang="en-US" sz="1100" dirty="0"/>
          </a:p>
        </p:txBody>
      </p:sp>
      <p:sp>
        <p:nvSpPr>
          <p:cNvPr id="62" name="Shape 60"/>
          <p:cNvSpPr/>
          <p:nvPr/>
        </p:nvSpPr>
        <p:spPr>
          <a:xfrm>
            <a:off x="6400800" y="2395728"/>
            <a:ext cx="237744" cy="237744"/>
          </a:xfrm>
          <a:prstGeom prst="ellipse">
            <a:avLst/>
          </a:prstGeom>
          <a:solidFill>
            <a:srgbClr val="FFB703"/>
          </a:solidFill>
          <a:ln w="12700">
            <a:solidFill>
              <a:srgbClr val="FFB703"/>
            </a:solidFill>
            <a:prstDash val="solid"/>
          </a:ln>
        </p:spPr>
        <p:txBody>
          <a:bodyPr/>
          <a:lstStyle/>
          <a:p>
            <a:endParaRPr lang="es-CO"/>
          </a:p>
        </p:txBody>
      </p:sp>
      <p:sp>
        <p:nvSpPr>
          <p:cNvPr id="63" name="Text 61"/>
          <p:cNvSpPr txBox="1"/>
          <p:nvPr/>
        </p:nvSpPr>
        <p:spPr>
          <a:xfrm>
            <a:off x="6748272" y="2331720"/>
            <a:ext cx="1874520" cy="594360"/>
          </a:xfrm>
          <a:prstGeom prst="rect">
            <a:avLst/>
          </a:prstGeom>
          <a:noFill/>
          <a:ln/>
        </p:spPr>
        <p:txBody>
          <a:bodyPr wrap="square" lIns="0" tIns="0" rIns="0" bIns="0" rtlCol="0" anchor="t"/>
          <a:lstStyle/>
          <a:p>
            <a:pPr marL="0" indent="0">
              <a:buNone/>
            </a:pPr>
            <a:r>
              <a:rPr lang="en-US" sz="1100" dirty="0">
                <a:solidFill>
                  <a:srgbClr val="15193A"/>
                </a:solidFill>
                <a:latin typeface="Calibri" pitchFamily="34" charset="0"/>
                <a:ea typeface="Calibri" pitchFamily="34" charset="-122"/>
                <a:cs typeface="Calibri" pitchFamily="34" charset="-120"/>
              </a:rPr>
              <a:t>Típica de artrosis: IFD, IFP y base del pulgar (CMC1)</a:t>
            </a:r>
            <a:endParaRPr lang="en-US" sz="1100" dirty="0"/>
          </a:p>
        </p:txBody>
      </p:sp>
      <p:sp>
        <p:nvSpPr>
          <p:cNvPr id="64" name="Shape 62"/>
          <p:cNvSpPr/>
          <p:nvPr/>
        </p:nvSpPr>
        <p:spPr>
          <a:xfrm>
            <a:off x="6400800" y="3081528"/>
            <a:ext cx="237744" cy="237744"/>
          </a:xfrm>
          <a:prstGeom prst="ellipse">
            <a:avLst/>
          </a:prstGeom>
          <a:solidFill>
            <a:srgbClr val="E2E7F5"/>
          </a:solidFill>
          <a:ln w="12700">
            <a:solidFill>
              <a:srgbClr val="CED5EA"/>
            </a:solidFill>
            <a:prstDash val="solid"/>
          </a:ln>
        </p:spPr>
        <p:txBody>
          <a:bodyPr/>
          <a:lstStyle/>
          <a:p>
            <a:endParaRPr lang="es-CO"/>
          </a:p>
        </p:txBody>
      </p:sp>
      <p:sp>
        <p:nvSpPr>
          <p:cNvPr id="65" name="Text 63"/>
          <p:cNvSpPr txBox="1"/>
          <p:nvPr/>
        </p:nvSpPr>
        <p:spPr>
          <a:xfrm>
            <a:off x="6748272" y="3017520"/>
            <a:ext cx="1874520" cy="594360"/>
          </a:xfrm>
          <a:prstGeom prst="rect">
            <a:avLst/>
          </a:prstGeom>
          <a:noFill/>
          <a:ln/>
        </p:spPr>
        <p:txBody>
          <a:bodyPr wrap="square" lIns="0" tIns="0" rIns="0" bIns="0" rtlCol="0" anchor="t"/>
          <a:lstStyle/>
          <a:p>
            <a:pPr marL="0" indent="0">
              <a:buNone/>
            </a:pPr>
            <a:r>
              <a:rPr lang="en-US" sz="1100" dirty="0">
                <a:solidFill>
                  <a:srgbClr val="15193A"/>
                </a:solidFill>
                <a:latin typeface="Calibri" pitchFamily="34" charset="0"/>
                <a:ea typeface="Calibri" pitchFamily="34" charset="-122"/>
                <a:cs typeface="Calibri" pitchFamily="34" charset="-120"/>
              </a:rPr>
              <a:t>Habitualmente respetada</a:t>
            </a:r>
            <a:endParaRPr lang="en-US" sz="1100" dirty="0"/>
          </a:p>
        </p:txBody>
      </p:sp>
      <p:sp>
        <p:nvSpPr>
          <p:cNvPr id="66" name="Text 64"/>
          <p:cNvSpPr txBox="1"/>
          <p:nvPr/>
        </p:nvSpPr>
        <p:spPr>
          <a:xfrm>
            <a:off x="6400800" y="3703320"/>
            <a:ext cx="2194560" cy="960120"/>
          </a:xfrm>
          <a:prstGeom prst="rect">
            <a:avLst/>
          </a:prstGeom>
          <a:noFill/>
          <a:ln/>
        </p:spPr>
        <p:txBody>
          <a:bodyPr wrap="square" lIns="0" tIns="0" rIns="0" bIns="0" rtlCol="0" anchor="t"/>
          <a:lstStyle/>
          <a:p>
            <a:pPr marL="0" indent="0">
              <a:buNone/>
            </a:pPr>
            <a:r>
              <a:rPr lang="en-US" sz="1050" i="1" dirty="0">
                <a:solidFill>
                  <a:srgbClr val="8A5E00"/>
                </a:solidFill>
                <a:latin typeface="Calibri" pitchFamily="34" charset="0"/>
                <a:ea typeface="Calibri" pitchFamily="34" charset="-122"/>
                <a:cs typeface="Calibri" pitchFamily="34" charset="-120"/>
              </a:rPr>
              <a:t>Las IFP pueden afectarse en ambas: lo que decide es si la tumefacción es blanda (sinovitis) o dura (hueso).</a:t>
            </a:r>
            <a:endParaRPr lang="en-US" sz="1050" dirty="0"/>
          </a:p>
        </p:txBody>
      </p:sp>
      <p:sp>
        <p:nvSpPr>
          <p:cNvPr id="67"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4CC9F0"/>
          </a:solidFill>
          <a:ln w="12700">
            <a:solidFill>
              <a:srgbClr val="4CC9F0"/>
            </a:solidFill>
            <a:prstDash val="solid"/>
          </a:ln>
        </p:spPr>
        <p:txBody>
          <a:bodyPr/>
          <a:lstStyle/>
          <a:p>
            <a:endParaRPr lang="es-CO"/>
          </a:p>
        </p:txBody>
      </p:sp>
      <p:sp>
        <p:nvSpPr>
          <p:cNvPr id="3" name="Text 1"/>
          <p:cNvSpPr txBox="1"/>
          <p:nvPr/>
        </p:nvSpPr>
        <p:spPr>
          <a:xfrm>
            <a:off x="685800" y="219456"/>
            <a:ext cx="7772400" cy="256032"/>
          </a:xfrm>
          <a:prstGeom prst="rect">
            <a:avLst/>
          </a:prstGeom>
          <a:noFill/>
          <a:ln/>
        </p:spPr>
        <p:txBody>
          <a:bodyPr wrap="square" lIns="0" tIns="0" rIns="0" bIns="0" rtlCol="0" anchor="ctr"/>
          <a:lstStyle/>
          <a:p>
            <a:pPr marL="0" indent="0">
              <a:buNone/>
            </a:pPr>
            <a:r>
              <a:rPr lang="en-US" sz="1050" b="1" kern="0" spc="400" dirty="0">
                <a:solidFill>
                  <a:srgbClr val="0A6F98"/>
                </a:solidFill>
                <a:latin typeface="Calibri" pitchFamily="34" charset="0"/>
                <a:ea typeface="Calibri" pitchFamily="34" charset="-122"/>
                <a:cs typeface="Calibri" pitchFamily="34" charset="-120"/>
              </a:rPr>
              <a:t>PERLA 2 · CUÁNTO SE AFECTA CADA ARTICULACIÓN</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600" b="1" dirty="0">
                <a:solidFill>
                  <a:srgbClr val="15193A"/>
                </a:solidFill>
                <a:latin typeface="Calibri" pitchFamily="34" charset="0"/>
                <a:ea typeface="Calibri" pitchFamily="34" charset="-122"/>
                <a:cs typeface="Calibri" pitchFamily="34" charset="-120"/>
              </a:rPr>
              <a:t>Articulaciones comprometidas en la AR</a:t>
            </a:r>
            <a:endParaRPr lang="en-US" sz="2600" dirty="0"/>
          </a:p>
        </p:txBody>
      </p:sp>
      <p:sp>
        <p:nvSpPr>
          <p:cNvPr id="5" name="Text 3"/>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[1] Smolen JS, et al. JAMA 2026</a:t>
            </a:r>
            <a:endParaRPr lang="en-US" sz="850" dirty="0"/>
          </a:p>
        </p:txBody>
      </p:sp>
      <p:graphicFrame>
        <p:nvGraphicFramePr>
          <p:cNvPr id="6" name="Chart 0"/>
          <p:cNvGraphicFramePr/>
          <p:nvPr/>
        </p:nvGraphicFramePr>
        <p:xfrm>
          <a:off x="365760" y="1143000"/>
          <a:ext cx="5120640" cy="329184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5"/>
          <p:cNvSpPr/>
          <p:nvPr/>
        </p:nvSpPr>
        <p:spPr>
          <a:xfrm>
            <a:off x="5715000" y="1188720"/>
            <a:ext cx="2971800" cy="1051560"/>
          </a:xfrm>
          <a:prstGeom prst="roundRect">
            <a:avLst>
              <a:gd name="adj" fmla="val 8696"/>
            </a:avLst>
          </a:prstGeom>
          <a:solidFill>
            <a:srgbClr val="F1F3FB"/>
          </a:solidFill>
          <a:ln w="9525">
            <a:solidFill>
              <a:srgbClr val="D8DEEF"/>
            </a:solidFill>
            <a:prstDash val="solid"/>
          </a:ln>
        </p:spPr>
        <p:txBody>
          <a:bodyPr/>
          <a:lstStyle/>
          <a:p>
            <a:endParaRPr lang="es-CO"/>
          </a:p>
        </p:txBody>
      </p:sp>
      <p:sp>
        <p:nvSpPr>
          <p:cNvPr id="9" name="Shape 6"/>
          <p:cNvSpPr/>
          <p:nvPr/>
        </p:nvSpPr>
        <p:spPr>
          <a:xfrm>
            <a:off x="5833872" y="1435608"/>
            <a:ext cx="548640" cy="548640"/>
          </a:xfrm>
          <a:prstGeom prst="ellipse">
            <a:avLst/>
          </a:prstGeom>
          <a:solidFill>
            <a:srgbClr val="FFB703">
              <a:alpha val="20000"/>
            </a:srgbClr>
          </a:solidFill>
          <a:ln w="19050">
            <a:solidFill>
              <a:srgbClr val="FFB703"/>
            </a:solidFill>
            <a:prstDash val="solid"/>
          </a:ln>
        </p:spPr>
        <p:txBody>
          <a:bodyPr/>
          <a:lstStyle/>
          <a:p>
            <a:endParaRPr lang="es-CO"/>
          </a:p>
        </p:txBody>
      </p:sp>
      <p:pic>
        <p:nvPicPr>
          <p:cNvPr id="10" name="Image 0" descr="preencoded.png"/>
          <p:cNvPicPr>
            <a:picLocks noChangeAspect="1"/>
          </p:cNvPicPr>
          <p:nvPr/>
        </p:nvPicPr>
        <p:blipFill>
          <a:blip r:embed="rId5"/>
          <a:stretch>
            <a:fillRect/>
          </a:stretch>
        </p:blipFill>
        <p:spPr>
          <a:xfrm>
            <a:off x="5976518" y="1578254"/>
            <a:ext cx="263347" cy="263347"/>
          </a:xfrm>
          <a:prstGeom prst="rect">
            <a:avLst/>
          </a:prstGeom>
        </p:spPr>
      </p:pic>
      <p:sp>
        <p:nvSpPr>
          <p:cNvPr id="11" name="Text 7"/>
          <p:cNvSpPr txBox="1"/>
          <p:nvPr/>
        </p:nvSpPr>
        <p:spPr>
          <a:xfrm>
            <a:off x="6492240" y="1188720"/>
            <a:ext cx="2103120" cy="1051560"/>
          </a:xfrm>
          <a:prstGeom prst="rect">
            <a:avLst/>
          </a:prstGeom>
          <a:noFill/>
          <a:ln/>
        </p:spPr>
        <p:txBody>
          <a:bodyPr wrap="square" lIns="0" tIns="0" rIns="0" bIns="0" rtlCol="0" anchor="ctr"/>
          <a:lstStyle/>
          <a:p>
            <a:pPr marL="0" indent="0">
              <a:buNone/>
            </a:pPr>
            <a:r>
              <a:rPr lang="en-US" sz="2000" b="1" dirty="0">
                <a:solidFill>
                  <a:srgbClr val="8A5E00"/>
                </a:solidFill>
                <a:latin typeface="Calibri" pitchFamily="34" charset="0"/>
                <a:ea typeface="Calibri" pitchFamily="34" charset="-122"/>
                <a:cs typeface="Calibri" pitchFamily="34" charset="-120"/>
              </a:rPr>
              <a:t>≈ 75 %</a:t>
            </a:r>
            <a:endParaRPr lang="en-US" sz="1300" dirty="0"/>
          </a:p>
          <a:p>
            <a:pPr marL="0" indent="0">
              <a:buNone/>
            </a:pPr>
            <a:r>
              <a:rPr lang="en-US" sz="1050" dirty="0">
                <a:solidFill>
                  <a:srgbClr val="15193A"/>
                </a:solidFill>
                <a:latin typeface="Calibri" pitchFamily="34" charset="0"/>
                <a:ea typeface="Calibri" pitchFamily="34" charset="-122"/>
                <a:cs typeface="Calibri" pitchFamily="34" charset="-120"/>
              </a:rPr>
              <a:t>rigidez matutina &gt; 30 minutos</a:t>
            </a:r>
            <a:endParaRPr lang="en-US" sz="1300" dirty="0"/>
          </a:p>
        </p:txBody>
      </p:sp>
      <p:sp>
        <p:nvSpPr>
          <p:cNvPr id="12" name="Shape 8"/>
          <p:cNvSpPr/>
          <p:nvPr/>
        </p:nvSpPr>
        <p:spPr>
          <a:xfrm>
            <a:off x="5715000" y="2359152"/>
            <a:ext cx="2971800" cy="1051560"/>
          </a:xfrm>
          <a:prstGeom prst="roundRect">
            <a:avLst>
              <a:gd name="adj" fmla="val 8696"/>
            </a:avLst>
          </a:prstGeom>
          <a:solidFill>
            <a:srgbClr val="F1F3FB"/>
          </a:solidFill>
          <a:ln w="9525">
            <a:solidFill>
              <a:srgbClr val="D8DEEF"/>
            </a:solidFill>
            <a:prstDash val="solid"/>
          </a:ln>
        </p:spPr>
        <p:txBody>
          <a:bodyPr/>
          <a:lstStyle/>
          <a:p>
            <a:endParaRPr lang="es-CO"/>
          </a:p>
        </p:txBody>
      </p:sp>
      <p:sp>
        <p:nvSpPr>
          <p:cNvPr id="13" name="Shape 9"/>
          <p:cNvSpPr/>
          <p:nvPr/>
        </p:nvSpPr>
        <p:spPr>
          <a:xfrm>
            <a:off x="5833872" y="2606040"/>
            <a:ext cx="548640" cy="548640"/>
          </a:xfrm>
          <a:prstGeom prst="ellipse">
            <a:avLst/>
          </a:prstGeom>
          <a:solidFill>
            <a:srgbClr val="FF4D6D">
              <a:alpha val="20000"/>
            </a:srgbClr>
          </a:solidFill>
          <a:ln w="19050">
            <a:solidFill>
              <a:srgbClr val="FF4D6D"/>
            </a:solidFill>
            <a:prstDash val="solid"/>
          </a:ln>
        </p:spPr>
        <p:txBody>
          <a:bodyPr/>
          <a:lstStyle/>
          <a:p>
            <a:endParaRPr lang="es-CO"/>
          </a:p>
        </p:txBody>
      </p:sp>
      <p:pic>
        <p:nvPicPr>
          <p:cNvPr id="14" name="Image 1" descr="preencoded.png"/>
          <p:cNvPicPr>
            <a:picLocks noChangeAspect="1"/>
          </p:cNvPicPr>
          <p:nvPr/>
        </p:nvPicPr>
        <p:blipFill>
          <a:blip r:embed="rId6"/>
          <a:stretch>
            <a:fillRect/>
          </a:stretch>
        </p:blipFill>
        <p:spPr>
          <a:xfrm>
            <a:off x="5976518" y="2748686"/>
            <a:ext cx="263347" cy="263347"/>
          </a:xfrm>
          <a:prstGeom prst="rect">
            <a:avLst/>
          </a:prstGeom>
        </p:spPr>
      </p:pic>
      <p:sp>
        <p:nvSpPr>
          <p:cNvPr id="15" name="Text 10"/>
          <p:cNvSpPr txBox="1"/>
          <p:nvPr/>
        </p:nvSpPr>
        <p:spPr>
          <a:xfrm>
            <a:off x="6492240" y="2359152"/>
            <a:ext cx="2103120" cy="1051560"/>
          </a:xfrm>
          <a:prstGeom prst="rect">
            <a:avLst/>
          </a:prstGeom>
          <a:noFill/>
          <a:ln/>
        </p:spPr>
        <p:txBody>
          <a:bodyPr wrap="square" lIns="0" tIns="0" rIns="0" bIns="0" rtlCol="0" anchor="ctr"/>
          <a:lstStyle/>
          <a:p>
            <a:pPr marL="0" indent="0">
              <a:buNone/>
            </a:pPr>
            <a:r>
              <a:rPr lang="en-US" sz="2000" b="1" dirty="0">
                <a:solidFill>
                  <a:srgbClr val="C81E43"/>
                </a:solidFill>
                <a:latin typeface="Calibri" pitchFamily="34" charset="0"/>
                <a:ea typeface="Calibri" pitchFamily="34" charset="-122"/>
                <a:cs typeface="Calibri" pitchFamily="34" charset="-120"/>
              </a:rPr>
              <a:t>IFD</a:t>
            </a:r>
            <a:endParaRPr lang="en-US" sz="1300" dirty="0"/>
          </a:p>
          <a:p>
            <a:pPr marL="0" indent="0">
              <a:buNone/>
            </a:pPr>
            <a:r>
              <a:rPr lang="en-US" sz="1050" dirty="0">
                <a:solidFill>
                  <a:srgbClr val="15193A"/>
                </a:solidFill>
                <a:latin typeface="Calibri" pitchFamily="34" charset="0"/>
                <a:ea typeface="Calibri" pitchFamily="34" charset="-122"/>
                <a:cs typeface="Calibri" pitchFamily="34" charset="-120"/>
              </a:rPr>
              <a:t>no se afectan en la AR (a diferencia de artrosis y artritis psoriásica)</a:t>
            </a:r>
            <a:endParaRPr lang="en-US" sz="1300" dirty="0"/>
          </a:p>
        </p:txBody>
      </p:sp>
      <p:sp>
        <p:nvSpPr>
          <p:cNvPr id="16" name="Shape 11"/>
          <p:cNvSpPr/>
          <p:nvPr/>
        </p:nvSpPr>
        <p:spPr>
          <a:xfrm>
            <a:off x="5715000" y="3529584"/>
            <a:ext cx="2971800" cy="1051560"/>
          </a:xfrm>
          <a:prstGeom prst="roundRect">
            <a:avLst>
              <a:gd name="adj" fmla="val 8696"/>
            </a:avLst>
          </a:prstGeom>
          <a:solidFill>
            <a:srgbClr val="F1F3FB"/>
          </a:solidFill>
          <a:ln w="9525">
            <a:solidFill>
              <a:srgbClr val="D8DEEF"/>
            </a:solidFill>
            <a:prstDash val="solid"/>
          </a:ln>
        </p:spPr>
        <p:txBody>
          <a:bodyPr/>
          <a:lstStyle/>
          <a:p>
            <a:endParaRPr lang="es-CO"/>
          </a:p>
        </p:txBody>
      </p:sp>
      <p:sp>
        <p:nvSpPr>
          <p:cNvPr id="17" name="Shape 12"/>
          <p:cNvSpPr/>
          <p:nvPr/>
        </p:nvSpPr>
        <p:spPr>
          <a:xfrm>
            <a:off x="5833872" y="3776472"/>
            <a:ext cx="548640" cy="548640"/>
          </a:xfrm>
          <a:prstGeom prst="ellipse">
            <a:avLst/>
          </a:prstGeom>
          <a:solidFill>
            <a:srgbClr val="4CC9F0">
              <a:alpha val="20000"/>
            </a:srgbClr>
          </a:solidFill>
          <a:ln w="19050">
            <a:solidFill>
              <a:srgbClr val="4CC9F0"/>
            </a:solidFill>
            <a:prstDash val="solid"/>
          </a:ln>
        </p:spPr>
        <p:txBody>
          <a:bodyPr/>
          <a:lstStyle/>
          <a:p>
            <a:endParaRPr lang="es-CO"/>
          </a:p>
        </p:txBody>
      </p:sp>
      <p:pic>
        <p:nvPicPr>
          <p:cNvPr id="18" name="Image 2" descr="preencoded.png"/>
          <p:cNvPicPr>
            <a:picLocks noChangeAspect="1"/>
          </p:cNvPicPr>
          <p:nvPr/>
        </p:nvPicPr>
        <p:blipFill>
          <a:blip r:embed="rId7"/>
          <a:stretch>
            <a:fillRect/>
          </a:stretch>
        </p:blipFill>
        <p:spPr>
          <a:xfrm>
            <a:off x="5976518" y="3919118"/>
            <a:ext cx="263347" cy="263347"/>
          </a:xfrm>
          <a:prstGeom prst="rect">
            <a:avLst/>
          </a:prstGeom>
        </p:spPr>
      </p:pic>
      <p:sp>
        <p:nvSpPr>
          <p:cNvPr id="19" name="Text 13"/>
          <p:cNvSpPr txBox="1"/>
          <p:nvPr/>
        </p:nvSpPr>
        <p:spPr>
          <a:xfrm>
            <a:off x="6492240" y="3529584"/>
            <a:ext cx="2103120" cy="1051560"/>
          </a:xfrm>
          <a:prstGeom prst="rect">
            <a:avLst/>
          </a:prstGeom>
          <a:noFill/>
          <a:ln/>
        </p:spPr>
        <p:txBody>
          <a:bodyPr wrap="square" lIns="0" tIns="0" rIns="0" bIns="0" rtlCol="0" anchor="ctr"/>
          <a:lstStyle/>
          <a:p>
            <a:pPr marL="0" indent="0">
              <a:buNone/>
            </a:pPr>
            <a:r>
              <a:rPr lang="en-US" sz="2000" b="1" dirty="0">
                <a:solidFill>
                  <a:srgbClr val="0A6F98"/>
                </a:solidFill>
                <a:latin typeface="Calibri" pitchFamily="34" charset="0"/>
                <a:ea typeface="Calibri" pitchFamily="34" charset="-122"/>
                <a:cs typeface="Calibri" pitchFamily="34" charset="-120"/>
              </a:rPr>
              <a:t>≈ 20 %</a:t>
            </a:r>
            <a:endParaRPr lang="en-US" sz="1300" dirty="0"/>
          </a:p>
          <a:p>
            <a:pPr marL="0" indent="0">
              <a:buNone/>
            </a:pPr>
            <a:r>
              <a:rPr lang="en-US" sz="1050" dirty="0">
                <a:solidFill>
                  <a:srgbClr val="15193A"/>
                </a:solidFill>
                <a:latin typeface="Calibri" pitchFamily="34" charset="0"/>
                <a:ea typeface="Calibri" pitchFamily="34" charset="-122"/>
                <a:cs typeface="Calibri" pitchFamily="34" charset="-120"/>
              </a:rPr>
              <a:t>tenosinovitis, sobre todo del extensor cubital del carpo</a:t>
            </a:r>
            <a:endParaRPr lang="en-US" sz="130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4CC9F0">
              <a:alpha val="12000"/>
            </a:srgbClr>
          </a:solidFill>
          <a:ln w="15875">
            <a:solidFill>
              <a:srgbClr val="4CC9F0"/>
            </a:solidFill>
            <a:prstDash val="solid"/>
          </a:ln>
        </p:spPr>
        <p:txBody>
          <a:bodyPr/>
          <a:lstStyle/>
          <a:p>
            <a:endParaRPr lang="es-CO"/>
          </a:p>
        </p:txBody>
      </p:sp>
      <p:sp>
        <p:nvSpPr>
          <p:cNvPr id="3" name="Text 1"/>
          <p:cNvSpPr txBox="1"/>
          <p:nvPr/>
        </p:nvSpPr>
        <p:spPr>
          <a:xfrm>
            <a:off x="457200" y="731520"/>
            <a:ext cx="2651760" cy="320040"/>
          </a:xfrm>
          <a:prstGeom prst="rect">
            <a:avLst/>
          </a:prstGeom>
          <a:noFill/>
          <a:ln/>
        </p:spPr>
        <p:txBody>
          <a:bodyPr wrap="square" lIns="0" tIns="0" rIns="0" bIns="0" rtlCol="0" anchor="t"/>
          <a:lstStyle/>
          <a:p>
            <a:pPr marL="0" indent="0" algn="ctr">
              <a:buNone/>
            </a:pPr>
            <a:r>
              <a:rPr lang="en-US" sz="1400" b="1" kern="0" spc="800" dirty="0">
                <a:solidFill>
                  <a:srgbClr val="0A6F98"/>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marL="0" indent="0" algn="ctr">
              <a:buNone/>
            </a:pPr>
            <a:r>
              <a:rPr lang="en-US" sz="11000" b="1" dirty="0">
                <a:solidFill>
                  <a:srgbClr val="15193A"/>
                </a:solidFill>
                <a:latin typeface="Calibri" pitchFamily="34" charset="0"/>
                <a:ea typeface="Calibri" pitchFamily="34" charset="-122"/>
                <a:cs typeface="Calibri" pitchFamily="34" charset="-120"/>
              </a:rPr>
              <a:t>03</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marL="0" indent="0" algn="ctr">
              <a:buNone/>
            </a:pPr>
            <a:r>
              <a:rPr lang="en-US" sz="1300" dirty="0">
                <a:solidFill>
                  <a:srgbClr val="474F70"/>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4CC9F0"/>
          </a:solidFill>
          <a:ln w="19050">
            <a:solidFill>
              <a:srgbClr val="4CC9F0"/>
            </a:solidFill>
            <a:prstDash val="solid"/>
          </a:ln>
        </p:spPr>
        <p:txBody>
          <a:bodyPr/>
          <a:lstStyle/>
          <a:p>
            <a:endParaRPr lang="es-CO"/>
          </a:p>
        </p:txBody>
      </p:sp>
      <p:pic>
        <p:nvPicPr>
          <p:cNvPr id="7" name="Image 0" descr="preencoded.png"/>
          <p:cNvPicPr>
            <a:picLocks noChangeAspect="1"/>
          </p:cNvPicPr>
          <p:nvPr/>
        </p:nvPicPr>
        <p:blipFill>
          <a:blip r:embed="rId4"/>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marL="0" indent="0">
              <a:buNone/>
            </a:pPr>
            <a:r>
              <a:rPr lang="en-US" sz="2500" b="1" dirty="0">
                <a:solidFill>
                  <a:srgbClr val="15193A"/>
                </a:solidFill>
                <a:latin typeface="Calibri" pitchFamily="34" charset="0"/>
                <a:ea typeface="Calibri" pitchFamily="34" charset="-122"/>
                <a:cs typeface="Calibri" pitchFamily="34" charset="-120"/>
              </a:rPr>
              <a:t>FR y anti-CCP negativos, con PCR normal, no descartan AR</a:t>
            </a:r>
            <a:endParaRPr lang="en-US" sz="2500" dirty="0"/>
          </a:p>
        </p:txBody>
      </p:sp>
      <p:sp>
        <p:nvSpPr>
          <p:cNvPr id="9" name="Shape 6"/>
          <p:cNvSpPr/>
          <p:nvPr/>
        </p:nvSpPr>
        <p:spPr>
          <a:xfrm>
            <a:off x="3429000" y="2057400"/>
            <a:ext cx="1097280" cy="0"/>
          </a:xfrm>
          <a:prstGeom prst="line">
            <a:avLst/>
          </a:prstGeom>
          <a:noFill/>
          <a:ln w="38100">
            <a:solidFill>
              <a:srgbClr val="4CC9F0"/>
            </a:solidFill>
            <a:prstDash val="solid"/>
          </a:ln>
        </p:spPr>
        <p:txBody>
          <a:bodyPr/>
          <a:lstStyle/>
          <a:p>
            <a:endParaRPr lang="es-CO"/>
          </a:p>
        </p:txBody>
      </p:sp>
      <p:sp>
        <p:nvSpPr>
          <p:cNvPr id="10" name="Text 7"/>
          <p:cNvSpPr txBox="1"/>
          <p:nvPr/>
        </p:nvSpPr>
        <p:spPr>
          <a:xfrm>
            <a:off x="3429000" y="2240280"/>
            <a:ext cx="5257800" cy="1920240"/>
          </a:xfrm>
          <a:prstGeom prst="rect">
            <a:avLst/>
          </a:prstGeom>
          <a:noFill/>
          <a:ln/>
        </p:spPr>
        <p:txBody>
          <a:bodyPr wrap="square" lIns="0" tIns="0" rIns="0" bIns="0" rtlCol="0" anchor="t"/>
          <a:lstStyle/>
          <a:p>
            <a:pPr marL="0" indent="0">
              <a:buNone/>
            </a:pPr>
            <a:r>
              <a:rPr lang="en-US" sz="1500" dirty="0">
                <a:solidFill>
                  <a:srgbClr val="2A3150"/>
                </a:solidFill>
                <a:latin typeface="Calibri" pitchFamily="34" charset="0"/>
                <a:ea typeface="Calibri" pitchFamily="34" charset="-122"/>
                <a:cs typeface="Calibri" pitchFamily="34" charset="-120"/>
              </a:rPr>
              <a:t>La sinovitis persistente requiere valoración especializada aunque las pruebas sean normales. Un error frecuente en atención primaria es usar resultados negativos para cerrar una sospecha clínica bien sustentada.</a:t>
            </a:r>
            <a:endParaRPr lang="en-US" sz="1500" dirty="0"/>
          </a:p>
        </p:txBody>
      </p:sp>
      <p:sp>
        <p:nvSpPr>
          <p:cNvPr id="11" name="Text 8"/>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[3] NICE NG100, 2018 · [4] NICE QS33</a:t>
            </a:r>
            <a:endParaRPr lang="en-US" sz="8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4CC9F0"/>
          </a:solidFill>
          <a:ln w="12700">
            <a:solidFill>
              <a:srgbClr val="4CC9F0"/>
            </a:solidFill>
            <a:prstDash val="solid"/>
          </a:ln>
        </p:spPr>
        <p:txBody>
          <a:bodyPr/>
          <a:lstStyle/>
          <a:p>
            <a:endParaRPr lang="es-CO"/>
          </a:p>
        </p:txBody>
      </p:sp>
      <p:sp>
        <p:nvSpPr>
          <p:cNvPr id="3" name="Text 1"/>
          <p:cNvSpPr txBox="1"/>
          <p:nvPr/>
        </p:nvSpPr>
        <p:spPr>
          <a:xfrm>
            <a:off x="685800" y="219456"/>
            <a:ext cx="7772400" cy="256032"/>
          </a:xfrm>
          <a:prstGeom prst="rect">
            <a:avLst/>
          </a:prstGeom>
          <a:noFill/>
          <a:ln/>
        </p:spPr>
        <p:txBody>
          <a:bodyPr wrap="square" lIns="0" tIns="0" rIns="0" bIns="0" rtlCol="0" anchor="ctr"/>
          <a:lstStyle/>
          <a:p>
            <a:pPr marL="0" indent="0">
              <a:buNone/>
            </a:pPr>
            <a:r>
              <a:rPr lang="en-US" sz="1050" b="1" kern="0" spc="400" dirty="0">
                <a:solidFill>
                  <a:srgbClr val="0A6F98"/>
                </a:solidFill>
                <a:latin typeface="Calibri" pitchFamily="34" charset="0"/>
                <a:ea typeface="Calibri" pitchFamily="34" charset="-122"/>
                <a:cs typeface="Calibri" pitchFamily="34" charset="-120"/>
              </a:rPr>
              <a:t>PERLA 3 · POR QUÉ UN NEGATIVO NO CIERRA EL CASO</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600" b="1" dirty="0">
                <a:solidFill>
                  <a:srgbClr val="15193A"/>
                </a:solidFill>
                <a:latin typeface="Calibri" pitchFamily="34" charset="0"/>
                <a:ea typeface="Calibri" pitchFamily="34" charset="-122"/>
                <a:cs typeface="Calibri" pitchFamily="34" charset="-120"/>
              </a:rPr>
              <a:t>La serología negativa deja una probabilidad importante</a:t>
            </a:r>
            <a:endParaRPr lang="en-US" sz="2600" dirty="0"/>
          </a:p>
        </p:txBody>
      </p:sp>
      <p:sp>
        <p:nvSpPr>
          <p:cNvPr id="5" name="Text 3"/>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[1] Smolen JS, et al. JAMA 2026 · [5] Nishimura K, et al. Ann Intern Med 2007 · [3] NICE NG100, 2018 · [4] NICE QS33</a:t>
            </a:r>
            <a:endParaRPr lang="en-US" sz="850" dirty="0"/>
          </a:p>
        </p:txBody>
      </p:sp>
      <p:sp>
        <p:nvSpPr>
          <p:cNvPr id="6" name="Text 4"/>
          <p:cNvSpPr txBox="1"/>
          <p:nvPr/>
        </p:nvSpPr>
        <p:spPr>
          <a:xfrm>
            <a:off x="457200" y="1188720"/>
            <a:ext cx="2651760" cy="548640"/>
          </a:xfrm>
          <a:prstGeom prst="rect">
            <a:avLst/>
          </a:prstGeom>
          <a:noFill/>
          <a:ln/>
        </p:spPr>
        <p:txBody>
          <a:bodyPr wrap="square" lIns="0" tIns="0" rIns="0" bIns="0" rtlCol="0" anchor="b"/>
          <a:lstStyle/>
          <a:p>
            <a:pPr marL="0" indent="0">
              <a:buNone/>
            </a:pPr>
            <a:r>
              <a:rPr lang="en-US" sz="3400" b="1" dirty="0">
                <a:solidFill>
                  <a:srgbClr val="0A6F98"/>
                </a:solidFill>
                <a:latin typeface="Calibri" pitchFamily="34" charset="0"/>
                <a:ea typeface="Calibri" pitchFamily="34" charset="-122"/>
                <a:cs typeface="Calibri" pitchFamily="34" charset="-120"/>
              </a:rPr>
              <a:t>40–60 %</a:t>
            </a:r>
            <a:endParaRPr lang="en-US" sz="3400" dirty="0"/>
          </a:p>
        </p:txBody>
      </p:sp>
      <p:sp>
        <p:nvSpPr>
          <p:cNvPr id="7" name="Text 5"/>
          <p:cNvSpPr txBox="1"/>
          <p:nvPr/>
        </p:nvSpPr>
        <p:spPr>
          <a:xfrm>
            <a:off x="457200" y="1773936"/>
            <a:ext cx="2651760" cy="548640"/>
          </a:xfrm>
          <a:prstGeom prst="rect">
            <a:avLst/>
          </a:prstGeom>
          <a:noFill/>
          <a:ln/>
        </p:spPr>
        <p:txBody>
          <a:bodyPr wrap="square" lIns="0" tIns="0" rIns="0" bIns="0" rtlCol="0" anchor="t"/>
          <a:lstStyle/>
          <a:p>
            <a:pPr marL="0" indent="0">
              <a:buNone/>
            </a:pPr>
            <a:r>
              <a:rPr lang="en-US" sz="1100" dirty="0">
                <a:solidFill>
                  <a:srgbClr val="474F70"/>
                </a:solidFill>
                <a:latin typeface="Calibri" pitchFamily="34" charset="0"/>
                <a:ea typeface="Calibri" pitchFamily="34" charset="-122"/>
                <a:cs typeface="Calibri" pitchFamily="34" charset="-120"/>
              </a:rPr>
              <a:t>de los pacientes son seropositivos (FR y/o ACPA) al diagnóstico: el resto es seronegativo</a:t>
            </a:r>
            <a:endParaRPr lang="en-US" sz="1100" dirty="0"/>
          </a:p>
        </p:txBody>
      </p:sp>
      <p:sp>
        <p:nvSpPr>
          <p:cNvPr id="8" name="Text 6"/>
          <p:cNvSpPr txBox="1"/>
          <p:nvPr/>
        </p:nvSpPr>
        <p:spPr>
          <a:xfrm>
            <a:off x="457200" y="2377440"/>
            <a:ext cx="2651760" cy="548640"/>
          </a:xfrm>
          <a:prstGeom prst="rect">
            <a:avLst/>
          </a:prstGeom>
          <a:noFill/>
          <a:ln/>
        </p:spPr>
        <p:txBody>
          <a:bodyPr wrap="square" lIns="0" tIns="0" rIns="0" bIns="0" rtlCol="0" anchor="b"/>
          <a:lstStyle/>
          <a:p>
            <a:pPr marL="0" indent="0">
              <a:buNone/>
            </a:pPr>
            <a:r>
              <a:rPr lang="en-US" sz="3400" b="1" dirty="0">
                <a:solidFill>
                  <a:srgbClr val="8A5E00"/>
                </a:solidFill>
                <a:latin typeface="Calibri" pitchFamily="34" charset="0"/>
                <a:ea typeface="Calibri" pitchFamily="34" charset="-122"/>
                <a:cs typeface="Calibri" pitchFamily="34" charset="-120"/>
              </a:rPr>
              <a:t>12 %</a:t>
            </a:r>
            <a:endParaRPr lang="en-US" sz="3400" dirty="0"/>
          </a:p>
        </p:txBody>
      </p:sp>
      <p:sp>
        <p:nvSpPr>
          <p:cNvPr id="9" name="Text 7"/>
          <p:cNvSpPr txBox="1"/>
          <p:nvPr/>
        </p:nvSpPr>
        <p:spPr>
          <a:xfrm>
            <a:off x="457200" y="2962656"/>
            <a:ext cx="2651760" cy="548640"/>
          </a:xfrm>
          <a:prstGeom prst="rect">
            <a:avLst/>
          </a:prstGeom>
          <a:noFill/>
          <a:ln/>
        </p:spPr>
        <p:txBody>
          <a:bodyPr wrap="square" lIns="0" tIns="0" rIns="0" bIns="0" rtlCol="0" anchor="t"/>
          <a:lstStyle/>
          <a:p>
            <a:pPr marL="0" indent="0">
              <a:buNone/>
            </a:pPr>
            <a:r>
              <a:rPr lang="en-US" sz="1100" dirty="0">
                <a:solidFill>
                  <a:srgbClr val="474F70"/>
                </a:solidFill>
                <a:latin typeface="Calibri" pitchFamily="34" charset="0"/>
                <a:ea typeface="Calibri" pitchFamily="34" charset="-122"/>
                <a:cs typeface="Calibri" pitchFamily="34" charset="-120"/>
              </a:rPr>
              <a:t>de los seronegativos se vuelven seropositivos en los 3 años siguientes</a:t>
            </a:r>
            <a:endParaRPr lang="en-US" sz="1100" dirty="0"/>
          </a:p>
        </p:txBody>
      </p:sp>
      <p:sp>
        <p:nvSpPr>
          <p:cNvPr id="10" name="Text 8"/>
          <p:cNvSpPr txBox="1"/>
          <p:nvPr/>
        </p:nvSpPr>
        <p:spPr>
          <a:xfrm>
            <a:off x="457200" y="3566160"/>
            <a:ext cx="2651760" cy="548640"/>
          </a:xfrm>
          <a:prstGeom prst="rect">
            <a:avLst/>
          </a:prstGeom>
          <a:noFill/>
          <a:ln/>
        </p:spPr>
        <p:txBody>
          <a:bodyPr wrap="square" lIns="0" tIns="0" rIns="0" bIns="0" rtlCol="0" anchor="b"/>
          <a:lstStyle/>
          <a:p>
            <a:pPr marL="0" indent="0">
              <a:buNone/>
            </a:pPr>
            <a:r>
              <a:rPr lang="en-US" sz="3400" b="1" dirty="0">
                <a:solidFill>
                  <a:srgbClr val="0C8368"/>
                </a:solidFill>
                <a:latin typeface="Calibri" pitchFamily="34" charset="0"/>
                <a:ea typeface="Calibri" pitchFamily="34" charset="-122"/>
                <a:cs typeface="Calibri" pitchFamily="34" charset="-120"/>
              </a:rPr>
              <a:t>25 %</a:t>
            </a:r>
            <a:endParaRPr lang="en-US" sz="3400" dirty="0"/>
          </a:p>
        </p:txBody>
      </p:sp>
      <p:sp>
        <p:nvSpPr>
          <p:cNvPr id="11" name="Text 9"/>
          <p:cNvSpPr txBox="1"/>
          <p:nvPr/>
        </p:nvSpPr>
        <p:spPr>
          <a:xfrm>
            <a:off x="457200" y="4151376"/>
            <a:ext cx="2651760" cy="548640"/>
          </a:xfrm>
          <a:prstGeom prst="rect">
            <a:avLst/>
          </a:prstGeom>
          <a:noFill/>
          <a:ln/>
        </p:spPr>
        <p:txBody>
          <a:bodyPr wrap="square" lIns="0" tIns="0" rIns="0" bIns="0" rtlCol="0" anchor="t"/>
          <a:lstStyle/>
          <a:p>
            <a:pPr marL="0" indent="0">
              <a:buNone/>
            </a:pPr>
            <a:r>
              <a:rPr lang="en-US" sz="1100" dirty="0">
                <a:solidFill>
                  <a:srgbClr val="474F70"/>
                </a:solidFill>
                <a:latin typeface="Calibri" pitchFamily="34" charset="0"/>
                <a:ea typeface="Calibri" pitchFamily="34" charset="-122"/>
                <a:cs typeface="Calibri" pitchFamily="34" charset="-120"/>
              </a:rPr>
              <a:t>tiene reactantes de fase aguda elevados y anemia en el primer año</a:t>
            </a:r>
            <a:endParaRPr lang="en-US" sz="1100" dirty="0"/>
          </a:p>
        </p:txBody>
      </p:sp>
      <p:sp>
        <p:nvSpPr>
          <p:cNvPr id="12" name="Shape 10"/>
          <p:cNvSpPr/>
          <p:nvPr/>
        </p:nvSpPr>
        <p:spPr>
          <a:xfrm>
            <a:off x="3383280" y="1188720"/>
            <a:ext cx="5303520" cy="1965960"/>
          </a:xfrm>
          <a:prstGeom prst="roundRect">
            <a:avLst>
              <a:gd name="adj" fmla="val 4651"/>
            </a:avLst>
          </a:prstGeom>
          <a:solidFill>
            <a:srgbClr val="FF4D6D">
              <a:alpha val="12000"/>
            </a:srgbClr>
          </a:solidFill>
          <a:ln w="15875">
            <a:solidFill>
              <a:srgbClr val="FF4D6D"/>
            </a:solidFill>
            <a:prstDash val="solid"/>
          </a:ln>
        </p:spPr>
        <p:txBody>
          <a:bodyPr/>
          <a:lstStyle/>
          <a:p>
            <a:endParaRPr lang="es-CO"/>
          </a:p>
        </p:txBody>
      </p:sp>
      <p:sp>
        <p:nvSpPr>
          <p:cNvPr id="13" name="Text 11"/>
          <p:cNvSpPr txBox="1"/>
          <p:nvPr/>
        </p:nvSpPr>
        <p:spPr>
          <a:xfrm>
            <a:off x="3566160" y="1261872"/>
            <a:ext cx="4937760" cy="320040"/>
          </a:xfrm>
          <a:prstGeom prst="rect">
            <a:avLst/>
          </a:prstGeom>
          <a:noFill/>
          <a:ln/>
        </p:spPr>
        <p:txBody>
          <a:bodyPr wrap="square" lIns="0" tIns="0" rIns="0" bIns="0" rtlCol="0" anchor="t"/>
          <a:lstStyle/>
          <a:p>
            <a:pPr marL="0" indent="0">
              <a:buNone/>
            </a:pPr>
            <a:r>
              <a:rPr lang="en-US" sz="1250" b="1" dirty="0">
                <a:solidFill>
                  <a:srgbClr val="C81E43"/>
                </a:solidFill>
                <a:latin typeface="Calibri" pitchFamily="34" charset="0"/>
                <a:ea typeface="Calibri" pitchFamily="34" charset="-122"/>
                <a:cs typeface="Calibri" pitchFamily="34" charset="-120"/>
              </a:rPr>
              <a:t>Ejemplo con anti-CCP negativo (razón de verosimilitud negativa 0,36)</a:t>
            </a:r>
            <a:endParaRPr lang="en-US" sz="1250" dirty="0"/>
          </a:p>
        </p:txBody>
      </p:sp>
      <p:sp>
        <p:nvSpPr>
          <p:cNvPr id="14" name="Text 12"/>
          <p:cNvSpPr txBox="1"/>
          <p:nvPr/>
        </p:nvSpPr>
        <p:spPr>
          <a:xfrm>
            <a:off x="3566160" y="1600200"/>
            <a:ext cx="4937760" cy="777240"/>
          </a:xfrm>
          <a:prstGeom prst="rect">
            <a:avLst/>
          </a:prstGeom>
          <a:noFill/>
          <a:ln/>
        </p:spPr>
        <p:txBody>
          <a:bodyPr wrap="square" lIns="0" tIns="0" rIns="0" bIns="0" rtlCol="0" anchor="ctr"/>
          <a:lstStyle/>
          <a:p>
            <a:pPr marL="0" indent="0">
              <a:buNone/>
            </a:pPr>
            <a:r>
              <a:rPr lang="en-US" sz="3400" b="1" dirty="0">
                <a:solidFill>
                  <a:srgbClr val="15193A"/>
                </a:solidFill>
                <a:latin typeface="Calibri" pitchFamily="34" charset="0"/>
                <a:ea typeface="Calibri" pitchFamily="34" charset="-122"/>
                <a:cs typeface="Calibri" pitchFamily="34" charset="-120"/>
              </a:rPr>
              <a:t>50 %</a:t>
            </a:r>
            <a:r>
              <a:rPr lang="en-US" sz="1300" dirty="0">
                <a:solidFill>
                  <a:srgbClr val="474F70"/>
                </a:solidFill>
                <a:latin typeface="Calibri" pitchFamily="34" charset="0"/>
                <a:ea typeface="Calibri" pitchFamily="34" charset="-122"/>
                <a:cs typeface="Calibri" pitchFamily="34" charset="-120"/>
              </a:rPr>
              <a:t>  sospecha clínica  →  </a:t>
            </a:r>
            <a:r>
              <a:rPr lang="en-US" sz="3400" b="1" dirty="0">
                <a:solidFill>
                  <a:srgbClr val="C81E43"/>
                </a:solidFill>
                <a:latin typeface="Calibri" pitchFamily="34" charset="0"/>
                <a:ea typeface="Calibri" pitchFamily="34" charset="-122"/>
                <a:cs typeface="Calibri" pitchFamily="34" charset="-120"/>
              </a:rPr>
              <a:t>26 %</a:t>
            </a:r>
            <a:endParaRPr lang="en-US" sz="1300" dirty="0"/>
          </a:p>
        </p:txBody>
      </p:sp>
      <p:sp>
        <p:nvSpPr>
          <p:cNvPr id="15" name="Text 13"/>
          <p:cNvSpPr txBox="1"/>
          <p:nvPr/>
        </p:nvSpPr>
        <p:spPr>
          <a:xfrm>
            <a:off x="3566160" y="2423160"/>
            <a:ext cx="4937760" cy="640080"/>
          </a:xfrm>
          <a:prstGeom prst="rect">
            <a:avLst/>
          </a:prstGeom>
          <a:noFill/>
          <a:ln/>
        </p:spPr>
        <p:txBody>
          <a:bodyPr wrap="square" lIns="0" tIns="0" rIns="0" bIns="0" rtlCol="0" anchor="t"/>
          <a:lstStyle/>
          <a:p>
            <a:pPr marL="0" indent="0">
              <a:buNone/>
            </a:pPr>
            <a:r>
              <a:rPr lang="en-US" sz="1200" dirty="0">
                <a:solidFill>
                  <a:srgbClr val="15193A"/>
                </a:solidFill>
                <a:latin typeface="Calibri" pitchFamily="34" charset="0"/>
                <a:ea typeface="Calibri" pitchFamily="34" charset="-122"/>
                <a:cs typeface="Calibri" pitchFamily="34" charset="-120"/>
              </a:rPr>
              <a:t>Uno de cada cuatro pacientes con sinovitis y anti-CCP negativo seguiría teniendo AR.</a:t>
            </a:r>
            <a:endParaRPr lang="en-US" sz="1200" dirty="0"/>
          </a:p>
        </p:txBody>
      </p:sp>
      <p:sp>
        <p:nvSpPr>
          <p:cNvPr id="16" name="Shape 14"/>
          <p:cNvSpPr/>
          <p:nvPr/>
        </p:nvSpPr>
        <p:spPr>
          <a:xfrm>
            <a:off x="3383280" y="3291840"/>
            <a:ext cx="5303520" cy="1417320"/>
          </a:xfrm>
          <a:prstGeom prst="roundRect">
            <a:avLst>
              <a:gd name="adj" fmla="val 6452"/>
            </a:avLst>
          </a:prstGeom>
          <a:solidFill>
            <a:srgbClr val="F1F3FB"/>
          </a:solidFill>
          <a:ln w="9525">
            <a:solidFill>
              <a:srgbClr val="D8DEEF"/>
            </a:solidFill>
            <a:prstDash val="solid"/>
          </a:ln>
        </p:spPr>
        <p:txBody>
          <a:bodyPr/>
          <a:lstStyle/>
          <a:p>
            <a:endParaRPr lang="es-CO"/>
          </a:p>
        </p:txBody>
      </p:sp>
      <p:sp>
        <p:nvSpPr>
          <p:cNvPr id="17" name="Text 15"/>
          <p:cNvSpPr txBox="1"/>
          <p:nvPr/>
        </p:nvSpPr>
        <p:spPr>
          <a:xfrm>
            <a:off x="3566160" y="3364992"/>
            <a:ext cx="4937760" cy="274320"/>
          </a:xfrm>
          <a:prstGeom prst="rect">
            <a:avLst/>
          </a:prstGeom>
          <a:noFill/>
          <a:ln/>
        </p:spPr>
        <p:txBody>
          <a:bodyPr wrap="square" lIns="0" tIns="0" rIns="0" bIns="0" rtlCol="0" anchor="t"/>
          <a:lstStyle/>
          <a:p>
            <a:pPr marL="0" indent="0">
              <a:buNone/>
            </a:pPr>
            <a:r>
              <a:rPr lang="en-US" sz="1250" b="1" dirty="0">
                <a:solidFill>
                  <a:srgbClr val="0C8368"/>
                </a:solidFill>
                <a:latin typeface="Calibri" pitchFamily="34" charset="0"/>
                <a:ea typeface="Calibri" pitchFamily="34" charset="-122"/>
                <a:cs typeface="Calibri" pitchFamily="34" charset="-120"/>
              </a:rPr>
              <a:t>NICE recomienda</a:t>
            </a:r>
            <a:endParaRPr lang="en-US" sz="1250" dirty="0"/>
          </a:p>
        </p:txBody>
      </p:sp>
      <p:sp>
        <p:nvSpPr>
          <p:cNvPr id="18" name="Text 16"/>
          <p:cNvSpPr txBox="1"/>
          <p:nvPr/>
        </p:nvSpPr>
        <p:spPr>
          <a:xfrm>
            <a:off x="3566160" y="3657600"/>
            <a:ext cx="4983480" cy="1005840"/>
          </a:xfrm>
          <a:prstGeom prst="rect">
            <a:avLst/>
          </a:prstGeom>
          <a:noFill/>
          <a:ln/>
        </p:spPr>
        <p:txBody>
          <a:bodyPr wrap="square" lIns="0" tIns="0" rIns="0" bIns="0" rtlCol="0" anchor="t"/>
          <a:lstStyle/>
          <a:p>
            <a:pPr marL="165100" indent="-165100">
              <a:spcAft>
                <a:spcPts val="400"/>
              </a:spcAft>
              <a:buSzPct val="100000"/>
              <a:buChar char="•"/>
            </a:pPr>
            <a:r>
              <a:rPr lang="en-US" sz="1150" dirty="0">
                <a:solidFill>
                  <a:srgbClr val="15193A"/>
                </a:solidFill>
                <a:latin typeface="Calibri" pitchFamily="34" charset="0"/>
                <a:ea typeface="Calibri" pitchFamily="34" charset="-122"/>
                <a:cs typeface="Calibri" pitchFamily="34" charset="-120"/>
              </a:rPr>
              <a:t>Remitir con urgencia ante sinovitis persistente aunque FR y reactantes sean normales</a:t>
            </a:r>
            <a:endParaRPr lang="en-US" sz="1150" dirty="0"/>
          </a:p>
          <a:p>
            <a:pPr marL="165100" indent="-165100">
              <a:spcAft>
                <a:spcPts val="400"/>
              </a:spcAft>
              <a:buSzPct val="100000"/>
              <a:buChar char="•"/>
            </a:pPr>
            <a:r>
              <a:rPr lang="en-US" sz="1150" dirty="0">
                <a:solidFill>
                  <a:srgbClr val="15193A"/>
                </a:solidFill>
                <a:latin typeface="Calibri" pitchFamily="34" charset="0"/>
                <a:ea typeface="Calibri" pitchFamily="34" charset="-122"/>
                <a:cs typeface="Calibri" pitchFamily="34" charset="-120"/>
              </a:rPr>
              <a:t>Remisión en ≤ 3 días hábiles y valoración especializada en ≤ 3 semanas (QS33)</a:t>
            </a:r>
            <a:endParaRPr lang="en-US" sz="11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4CC9F0">
              <a:alpha val="12000"/>
            </a:srgbClr>
          </a:solidFill>
          <a:ln w="15875">
            <a:solidFill>
              <a:srgbClr val="4CC9F0"/>
            </a:solidFill>
            <a:prstDash val="solid"/>
          </a:ln>
        </p:spPr>
        <p:txBody>
          <a:bodyPr/>
          <a:lstStyle/>
          <a:p>
            <a:endParaRPr lang="es-CO"/>
          </a:p>
        </p:txBody>
      </p:sp>
      <p:sp>
        <p:nvSpPr>
          <p:cNvPr id="3" name="Text 1"/>
          <p:cNvSpPr txBox="1"/>
          <p:nvPr/>
        </p:nvSpPr>
        <p:spPr>
          <a:xfrm>
            <a:off x="457200" y="731520"/>
            <a:ext cx="2651760" cy="320040"/>
          </a:xfrm>
          <a:prstGeom prst="rect">
            <a:avLst/>
          </a:prstGeom>
          <a:noFill/>
          <a:ln/>
        </p:spPr>
        <p:txBody>
          <a:bodyPr wrap="square" lIns="0" tIns="0" rIns="0" bIns="0" rtlCol="0" anchor="t"/>
          <a:lstStyle/>
          <a:p>
            <a:pPr marL="0" indent="0" algn="ctr">
              <a:buNone/>
            </a:pPr>
            <a:r>
              <a:rPr lang="en-US" sz="1400" b="1" kern="0" spc="800" dirty="0">
                <a:solidFill>
                  <a:srgbClr val="0A6F98"/>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marL="0" indent="0" algn="ctr">
              <a:buNone/>
            </a:pPr>
            <a:r>
              <a:rPr lang="en-US" sz="11000" b="1" dirty="0">
                <a:solidFill>
                  <a:srgbClr val="15193A"/>
                </a:solidFill>
                <a:latin typeface="Calibri" pitchFamily="34" charset="0"/>
                <a:ea typeface="Calibri" pitchFamily="34" charset="-122"/>
                <a:cs typeface="Calibri" pitchFamily="34" charset="-120"/>
              </a:rPr>
              <a:t>04</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marL="0" indent="0" algn="ctr">
              <a:buNone/>
            </a:pPr>
            <a:r>
              <a:rPr lang="en-US" sz="1300" dirty="0">
                <a:solidFill>
                  <a:srgbClr val="474F70"/>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4CC9F0"/>
          </a:solidFill>
          <a:ln w="19050">
            <a:solidFill>
              <a:srgbClr val="4CC9F0"/>
            </a:solidFill>
            <a:prstDash val="solid"/>
          </a:ln>
        </p:spPr>
        <p:txBody>
          <a:bodyPr/>
          <a:lstStyle/>
          <a:p>
            <a:endParaRPr lang="es-CO"/>
          </a:p>
        </p:txBody>
      </p:sp>
      <p:pic>
        <p:nvPicPr>
          <p:cNvPr id="7" name="Image 0" descr="preencoded.png"/>
          <p:cNvPicPr>
            <a:picLocks noChangeAspect="1"/>
          </p:cNvPicPr>
          <p:nvPr/>
        </p:nvPicPr>
        <p:blipFill>
          <a:blip r:embed="rId4"/>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marL="0" indent="0">
              <a:buNone/>
            </a:pPr>
            <a:r>
              <a:rPr lang="en-US" sz="2500" b="1" dirty="0">
                <a:solidFill>
                  <a:srgbClr val="15193A"/>
                </a:solidFill>
                <a:latin typeface="Calibri" pitchFamily="34" charset="0"/>
                <a:ea typeface="Calibri" pitchFamily="34" charset="-122"/>
                <a:cs typeface="Calibri" pitchFamily="34" charset="-120"/>
              </a:rPr>
              <a:t>Un anti-CCP positivo modifica la probabilidad: necesita contexto clínico</a:t>
            </a:r>
            <a:endParaRPr lang="en-US" sz="2500" dirty="0"/>
          </a:p>
        </p:txBody>
      </p:sp>
      <p:sp>
        <p:nvSpPr>
          <p:cNvPr id="9" name="Shape 6"/>
          <p:cNvSpPr/>
          <p:nvPr/>
        </p:nvSpPr>
        <p:spPr>
          <a:xfrm>
            <a:off x="3429000" y="2057400"/>
            <a:ext cx="1097280" cy="0"/>
          </a:xfrm>
          <a:prstGeom prst="line">
            <a:avLst/>
          </a:prstGeom>
          <a:noFill/>
          <a:ln w="38100">
            <a:solidFill>
              <a:srgbClr val="4CC9F0"/>
            </a:solidFill>
            <a:prstDash val="solid"/>
          </a:ln>
        </p:spPr>
        <p:txBody>
          <a:bodyPr/>
          <a:lstStyle/>
          <a:p>
            <a:endParaRPr lang="es-CO"/>
          </a:p>
        </p:txBody>
      </p:sp>
      <p:sp>
        <p:nvSpPr>
          <p:cNvPr id="10" name="Text 7"/>
          <p:cNvSpPr txBox="1"/>
          <p:nvPr/>
        </p:nvSpPr>
        <p:spPr>
          <a:xfrm>
            <a:off x="3429000" y="2240280"/>
            <a:ext cx="5257800" cy="1920240"/>
          </a:xfrm>
          <a:prstGeom prst="rect">
            <a:avLst/>
          </a:prstGeom>
          <a:noFill/>
          <a:ln/>
        </p:spPr>
        <p:txBody>
          <a:bodyPr wrap="square" lIns="0" tIns="0" rIns="0" bIns="0" rtlCol="0" anchor="t"/>
          <a:lstStyle/>
          <a:p>
            <a:pPr marL="0" indent="0">
              <a:buNone/>
            </a:pPr>
            <a:r>
              <a:rPr lang="en-US" sz="1500" dirty="0">
                <a:solidFill>
                  <a:srgbClr val="2A3150"/>
                </a:solidFill>
                <a:latin typeface="Calibri" pitchFamily="34" charset="0"/>
                <a:ea typeface="Calibri" pitchFamily="34" charset="-122"/>
                <a:cs typeface="Calibri" pitchFamily="34" charset="-120"/>
              </a:rPr>
              <a:t>En un metaanálisis clásico, el anti-CCP tuvo sensibilidad de 67 %, especificidad de 95 % y razón de verosimilitud positiva de 12,46. Los anticuerpos pueden preceder a la artritis: una positividad aislada exige evaluación y seguimiento, sin etiquetar automáticamente como AR.</a:t>
            </a:r>
            <a:endParaRPr lang="en-US" sz="1500" dirty="0"/>
          </a:p>
        </p:txBody>
      </p:sp>
      <p:sp>
        <p:nvSpPr>
          <p:cNvPr id="11" name="Text 8"/>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[5] Nishimura K, et al. Ann Intern Med 2007 · [1] Smolen JS, et al. JAMA 2026</a:t>
            </a:r>
            <a:endParaRPr lang="en-US" sz="8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4CC9F0"/>
          </a:solidFill>
          <a:ln w="12700">
            <a:solidFill>
              <a:srgbClr val="4CC9F0"/>
            </a:solidFill>
            <a:prstDash val="solid"/>
          </a:ln>
        </p:spPr>
        <p:txBody>
          <a:bodyPr/>
          <a:lstStyle/>
          <a:p>
            <a:endParaRPr lang="es-CO"/>
          </a:p>
        </p:txBody>
      </p:sp>
      <p:sp>
        <p:nvSpPr>
          <p:cNvPr id="3" name="Text 1"/>
          <p:cNvSpPr txBox="1"/>
          <p:nvPr/>
        </p:nvSpPr>
        <p:spPr>
          <a:xfrm>
            <a:off x="685800" y="219456"/>
            <a:ext cx="7772400" cy="256032"/>
          </a:xfrm>
          <a:prstGeom prst="rect">
            <a:avLst/>
          </a:prstGeom>
          <a:noFill/>
          <a:ln/>
        </p:spPr>
        <p:txBody>
          <a:bodyPr wrap="square" lIns="0" tIns="0" rIns="0" bIns="0" rtlCol="0" anchor="ctr"/>
          <a:lstStyle/>
          <a:p>
            <a:pPr marL="0" indent="0">
              <a:buNone/>
            </a:pPr>
            <a:r>
              <a:rPr lang="en-US" sz="1050" b="1" kern="0" spc="400" dirty="0">
                <a:solidFill>
                  <a:srgbClr val="0A6F98"/>
                </a:solidFill>
                <a:latin typeface="Calibri" pitchFamily="34" charset="0"/>
                <a:ea typeface="Calibri" pitchFamily="34" charset="-122"/>
                <a:cs typeface="Calibri" pitchFamily="34" charset="-120"/>
              </a:rPr>
              <a:t>PERLA 4 · ANTI-CCP FRENTE A FACTOR REUMATOIDE</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600" b="1" dirty="0">
                <a:solidFill>
                  <a:srgbClr val="15193A"/>
                </a:solidFill>
                <a:latin typeface="Calibri" pitchFamily="34" charset="0"/>
                <a:ea typeface="Calibri" pitchFamily="34" charset="-122"/>
                <a:cs typeface="Calibri" pitchFamily="34" charset="-120"/>
              </a:rPr>
              <a:t>Rendimiento diagnóstico (metaanálisis, 86 estudios)</a:t>
            </a:r>
            <a:endParaRPr lang="en-US" sz="2600" dirty="0"/>
          </a:p>
        </p:txBody>
      </p:sp>
      <p:sp>
        <p:nvSpPr>
          <p:cNvPr id="5" name="Text 3"/>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[5] Nishimura K, et al. Ann Intern Med 2007</a:t>
            </a:r>
            <a:endParaRPr lang="en-US" sz="850" dirty="0"/>
          </a:p>
        </p:txBody>
      </p:sp>
      <p:graphicFrame>
        <p:nvGraphicFramePr>
          <p:cNvPr id="6" name="Chart 0"/>
          <p:cNvGraphicFramePr/>
          <p:nvPr/>
        </p:nvGraphicFramePr>
        <p:xfrm>
          <a:off x="365760" y="1143000"/>
          <a:ext cx="4754880" cy="329184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4"/>
          <p:cNvSpPr/>
          <p:nvPr/>
        </p:nvSpPr>
        <p:spPr>
          <a:xfrm>
            <a:off x="5349240" y="1188720"/>
            <a:ext cx="1600200" cy="2011680"/>
          </a:xfrm>
          <a:prstGeom prst="roundRect">
            <a:avLst>
              <a:gd name="adj" fmla="val 5714"/>
            </a:avLst>
          </a:prstGeom>
          <a:solidFill>
            <a:srgbClr val="4CC9F0">
              <a:alpha val="12000"/>
            </a:srgbClr>
          </a:solidFill>
          <a:ln w="15875">
            <a:solidFill>
              <a:srgbClr val="4CC9F0"/>
            </a:solidFill>
            <a:prstDash val="solid"/>
          </a:ln>
        </p:spPr>
        <p:txBody>
          <a:bodyPr/>
          <a:lstStyle/>
          <a:p>
            <a:endParaRPr lang="es-CO"/>
          </a:p>
        </p:txBody>
      </p:sp>
      <p:sp>
        <p:nvSpPr>
          <p:cNvPr id="8" name="Text 5"/>
          <p:cNvSpPr txBox="1"/>
          <p:nvPr/>
        </p:nvSpPr>
        <p:spPr>
          <a:xfrm>
            <a:off x="5349240" y="1280160"/>
            <a:ext cx="1600200" cy="274320"/>
          </a:xfrm>
          <a:prstGeom prst="rect">
            <a:avLst/>
          </a:prstGeom>
          <a:noFill/>
          <a:ln/>
        </p:spPr>
        <p:txBody>
          <a:bodyPr wrap="square" lIns="0" tIns="0" rIns="0" bIns="0" rtlCol="0" anchor="t"/>
          <a:lstStyle/>
          <a:p>
            <a:pPr marL="0" indent="0" algn="ctr">
              <a:buNone/>
            </a:pPr>
            <a:r>
              <a:rPr lang="en-US" sz="1050" b="1" dirty="0">
                <a:solidFill>
                  <a:srgbClr val="0A6F98"/>
                </a:solidFill>
                <a:latin typeface="Calibri" pitchFamily="34" charset="0"/>
                <a:ea typeface="Calibri" pitchFamily="34" charset="-122"/>
                <a:cs typeface="Calibri" pitchFamily="34" charset="-120"/>
              </a:rPr>
              <a:t>RV+ anti-CCP</a:t>
            </a:r>
            <a:endParaRPr lang="en-US" sz="1050" dirty="0"/>
          </a:p>
        </p:txBody>
      </p:sp>
      <p:sp>
        <p:nvSpPr>
          <p:cNvPr id="9" name="Text 6"/>
          <p:cNvSpPr txBox="1"/>
          <p:nvPr/>
        </p:nvSpPr>
        <p:spPr>
          <a:xfrm>
            <a:off x="5349240" y="1600200"/>
            <a:ext cx="1600200" cy="731520"/>
          </a:xfrm>
          <a:prstGeom prst="rect">
            <a:avLst/>
          </a:prstGeom>
          <a:noFill/>
          <a:ln/>
        </p:spPr>
        <p:txBody>
          <a:bodyPr wrap="square" lIns="0" tIns="0" rIns="0" bIns="0" rtlCol="0" anchor="ctr"/>
          <a:lstStyle/>
          <a:p>
            <a:pPr marL="0" indent="0" algn="ctr">
              <a:buNone/>
            </a:pPr>
            <a:r>
              <a:rPr lang="en-US" sz="3200" b="1" dirty="0">
                <a:solidFill>
                  <a:srgbClr val="15193A"/>
                </a:solidFill>
                <a:latin typeface="Calibri" pitchFamily="34" charset="0"/>
                <a:ea typeface="Calibri" pitchFamily="34" charset="-122"/>
                <a:cs typeface="Calibri" pitchFamily="34" charset="-120"/>
              </a:rPr>
              <a:t>12,46</a:t>
            </a:r>
            <a:endParaRPr lang="en-US" sz="3200" dirty="0"/>
          </a:p>
        </p:txBody>
      </p:sp>
      <p:sp>
        <p:nvSpPr>
          <p:cNvPr id="10" name="Text 7"/>
          <p:cNvSpPr txBox="1"/>
          <p:nvPr/>
        </p:nvSpPr>
        <p:spPr>
          <a:xfrm>
            <a:off x="5349240" y="2514600"/>
            <a:ext cx="1600200" cy="365760"/>
          </a:xfrm>
          <a:prstGeom prst="rect">
            <a:avLst/>
          </a:prstGeom>
          <a:noFill/>
          <a:ln/>
        </p:spPr>
        <p:txBody>
          <a:bodyPr wrap="square" lIns="0" tIns="0" rIns="0" bIns="0" rtlCol="0" anchor="t"/>
          <a:lstStyle/>
          <a:p>
            <a:pPr marL="0" indent="0" algn="ctr">
              <a:buNone/>
            </a:pPr>
            <a:r>
              <a:rPr lang="en-US" sz="1300" dirty="0">
                <a:solidFill>
                  <a:srgbClr val="474F70"/>
                </a:solidFill>
                <a:latin typeface="Calibri" pitchFamily="34" charset="0"/>
                <a:ea typeface="Calibri" pitchFamily="34" charset="-122"/>
                <a:cs typeface="Calibri" pitchFamily="34" charset="-120"/>
              </a:rPr>
              <a:t>RV− 0,36</a:t>
            </a:r>
            <a:endParaRPr lang="en-US" sz="1300" dirty="0"/>
          </a:p>
        </p:txBody>
      </p:sp>
      <p:sp>
        <p:nvSpPr>
          <p:cNvPr id="11" name="Shape 8"/>
          <p:cNvSpPr/>
          <p:nvPr/>
        </p:nvSpPr>
        <p:spPr>
          <a:xfrm>
            <a:off x="7086600" y="1188720"/>
            <a:ext cx="1600200" cy="2011680"/>
          </a:xfrm>
          <a:prstGeom prst="roundRect">
            <a:avLst>
              <a:gd name="adj" fmla="val 5714"/>
            </a:avLst>
          </a:prstGeom>
          <a:solidFill>
            <a:srgbClr val="7F88B5">
              <a:alpha val="12000"/>
            </a:srgbClr>
          </a:solidFill>
          <a:ln w="15875">
            <a:solidFill>
              <a:srgbClr val="7F88B5"/>
            </a:solidFill>
            <a:prstDash val="solid"/>
          </a:ln>
        </p:spPr>
        <p:txBody>
          <a:bodyPr/>
          <a:lstStyle/>
          <a:p>
            <a:endParaRPr lang="es-CO"/>
          </a:p>
        </p:txBody>
      </p:sp>
      <p:sp>
        <p:nvSpPr>
          <p:cNvPr id="12" name="Text 9"/>
          <p:cNvSpPr txBox="1"/>
          <p:nvPr/>
        </p:nvSpPr>
        <p:spPr>
          <a:xfrm>
            <a:off x="7086600" y="1280160"/>
            <a:ext cx="1600200" cy="274320"/>
          </a:xfrm>
          <a:prstGeom prst="rect">
            <a:avLst/>
          </a:prstGeom>
          <a:noFill/>
          <a:ln/>
        </p:spPr>
        <p:txBody>
          <a:bodyPr wrap="square" lIns="0" tIns="0" rIns="0" bIns="0" rtlCol="0" anchor="t"/>
          <a:lstStyle/>
          <a:p>
            <a:pPr marL="0" indent="0" algn="ctr">
              <a:buNone/>
            </a:pPr>
            <a:r>
              <a:rPr lang="en-US" sz="1050" b="1" dirty="0">
                <a:solidFill>
                  <a:srgbClr val="474F70"/>
                </a:solidFill>
                <a:latin typeface="Calibri" pitchFamily="34" charset="0"/>
                <a:ea typeface="Calibri" pitchFamily="34" charset="-122"/>
                <a:cs typeface="Calibri" pitchFamily="34" charset="-120"/>
              </a:rPr>
              <a:t>RV+ FR IgM</a:t>
            </a:r>
            <a:endParaRPr lang="en-US" sz="1050" dirty="0"/>
          </a:p>
        </p:txBody>
      </p:sp>
      <p:sp>
        <p:nvSpPr>
          <p:cNvPr id="13" name="Text 10"/>
          <p:cNvSpPr txBox="1"/>
          <p:nvPr/>
        </p:nvSpPr>
        <p:spPr>
          <a:xfrm>
            <a:off x="7086600" y="1600200"/>
            <a:ext cx="1600200" cy="731520"/>
          </a:xfrm>
          <a:prstGeom prst="rect">
            <a:avLst/>
          </a:prstGeom>
          <a:noFill/>
          <a:ln/>
        </p:spPr>
        <p:txBody>
          <a:bodyPr wrap="square" lIns="0" tIns="0" rIns="0" bIns="0" rtlCol="0" anchor="ctr"/>
          <a:lstStyle/>
          <a:p>
            <a:pPr marL="0" indent="0" algn="ctr">
              <a:buNone/>
            </a:pPr>
            <a:r>
              <a:rPr lang="en-US" sz="3200" b="1" dirty="0">
                <a:solidFill>
                  <a:srgbClr val="15193A"/>
                </a:solidFill>
                <a:latin typeface="Calibri" pitchFamily="34" charset="0"/>
                <a:ea typeface="Calibri" pitchFamily="34" charset="-122"/>
                <a:cs typeface="Calibri" pitchFamily="34" charset="-120"/>
              </a:rPr>
              <a:t>4,86</a:t>
            </a:r>
            <a:endParaRPr lang="en-US" sz="3200" dirty="0"/>
          </a:p>
        </p:txBody>
      </p:sp>
      <p:sp>
        <p:nvSpPr>
          <p:cNvPr id="14" name="Text 11"/>
          <p:cNvSpPr txBox="1"/>
          <p:nvPr/>
        </p:nvSpPr>
        <p:spPr>
          <a:xfrm>
            <a:off x="7086600" y="2514600"/>
            <a:ext cx="1600200" cy="365760"/>
          </a:xfrm>
          <a:prstGeom prst="rect">
            <a:avLst/>
          </a:prstGeom>
          <a:noFill/>
          <a:ln/>
        </p:spPr>
        <p:txBody>
          <a:bodyPr wrap="square" lIns="0" tIns="0" rIns="0" bIns="0" rtlCol="0" anchor="t"/>
          <a:lstStyle/>
          <a:p>
            <a:pPr marL="0" indent="0" algn="ctr">
              <a:buNone/>
            </a:pPr>
            <a:r>
              <a:rPr lang="en-US" sz="1300" dirty="0">
                <a:solidFill>
                  <a:srgbClr val="474F70"/>
                </a:solidFill>
                <a:latin typeface="Calibri" pitchFamily="34" charset="0"/>
                <a:ea typeface="Calibri" pitchFamily="34" charset="-122"/>
                <a:cs typeface="Calibri" pitchFamily="34" charset="-120"/>
              </a:rPr>
              <a:t>RV− 0,38</a:t>
            </a:r>
            <a:endParaRPr lang="en-US" sz="1300" dirty="0"/>
          </a:p>
        </p:txBody>
      </p:sp>
      <p:sp>
        <p:nvSpPr>
          <p:cNvPr id="15" name="Shape 12"/>
          <p:cNvSpPr/>
          <p:nvPr/>
        </p:nvSpPr>
        <p:spPr>
          <a:xfrm>
            <a:off x="5349240" y="3383280"/>
            <a:ext cx="3337560" cy="1325880"/>
          </a:xfrm>
          <a:prstGeom prst="roundRect">
            <a:avLst>
              <a:gd name="adj" fmla="val 6897"/>
            </a:avLst>
          </a:prstGeom>
          <a:solidFill>
            <a:srgbClr val="4CC9F0">
              <a:alpha val="12000"/>
            </a:srgbClr>
          </a:solidFill>
          <a:ln w="15875">
            <a:solidFill>
              <a:srgbClr val="4CC9F0"/>
            </a:solidFill>
            <a:prstDash val="solid"/>
          </a:ln>
        </p:spPr>
        <p:txBody>
          <a:bodyPr/>
          <a:lstStyle/>
          <a:p>
            <a:endParaRPr lang="es-CO"/>
          </a:p>
        </p:txBody>
      </p:sp>
      <p:sp>
        <p:nvSpPr>
          <p:cNvPr id="16" name="Text 13"/>
          <p:cNvSpPr txBox="1"/>
          <p:nvPr/>
        </p:nvSpPr>
        <p:spPr>
          <a:xfrm>
            <a:off x="5513832" y="3383280"/>
            <a:ext cx="3008376" cy="1325880"/>
          </a:xfrm>
          <a:prstGeom prst="rect">
            <a:avLst/>
          </a:prstGeom>
          <a:noFill/>
          <a:ln/>
        </p:spPr>
        <p:txBody>
          <a:bodyPr wrap="square" lIns="0" tIns="0" rIns="0" bIns="0" rtlCol="0" anchor="ctr"/>
          <a:lstStyle/>
          <a:p>
            <a:pPr marL="0" indent="0">
              <a:buNone/>
            </a:pPr>
            <a:r>
              <a:rPr lang="en-US" sz="1150" b="1" dirty="0">
                <a:solidFill>
                  <a:srgbClr val="0A6F98"/>
                </a:solidFill>
                <a:latin typeface="Calibri" pitchFamily="34" charset="0"/>
                <a:ea typeface="Calibri" pitchFamily="34" charset="-122"/>
                <a:cs typeface="Calibri" pitchFamily="34" charset="-120"/>
              </a:rPr>
              <a:t>Conclusión de los autores:  </a:t>
            </a:r>
            <a:r>
              <a:rPr lang="en-US" sz="1150" dirty="0">
                <a:solidFill>
                  <a:srgbClr val="15193A"/>
                </a:solidFill>
                <a:latin typeface="Calibri" pitchFamily="34" charset="0"/>
                <a:ea typeface="Calibri" pitchFamily="34" charset="-122"/>
                <a:cs typeface="Calibri" pitchFamily="34" charset="-120"/>
              </a:rPr>
              <a:t>el anti-CCP es más específico que el FR y podría predecir mejor la enfermedad erosiva; la sensibilidad es similar.</a:t>
            </a:r>
            <a:endParaRPr lang="en-US" sz="11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4CC9F0"/>
          </a:solidFill>
          <a:ln w="12700">
            <a:solidFill>
              <a:srgbClr val="4CC9F0"/>
            </a:solidFill>
            <a:prstDash val="solid"/>
          </a:ln>
        </p:spPr>
        <p:txBody>
          <a:bodyPr/>
          <a:lstStyle/>
          <a:p>
            <a:endParaRPr lang="es-CO"/>
          </a:p>
        </p:txBody>
      </p:sp>
      <p:sp>
        <p:nvSpPr>
          <p:cNvPr id="3" name="Text 1"/>
          <p:cNvSpPr txBox="1"/>
          <p:nvPr/>
        </p:nvSpPr>
        <p:spPr>
          <a:xfrm>
            <a:off x="685800" y="219456"/>
            <a:ext cx="7772400" cy="256032"/>
          </a:xfrm>
          <a:prstGeom prst="rect">
            <a:avLst/>
          </a:prstGeom>
          <a:noFill/>
          <a:ln/>
        </p:spPr>
        <p:txBody>
          <a:bodyPr wrap="square" lIns="0" tIns="0" rIns="0" bIns="0" rtlCol="0" anchor="ctr"/>
          <a:lstStyle/>
          <a:p>
            <a:pPr marL="0" indent="0">
              <a:buNone/>
            </a:pPr>
            <a:r>
              <a:rPr lang="en-US" sz="1050" b="1" kern="0" spc="400" dirty="0">
                <a:solidFill>
                  <a:srgbClr val="0A6F98"/>
                </a:solidFill>
                <a:latin typeface="Calibri" pitchFamily="34" charset="0"/>
                <a:ea typeface="Calibri" pitchFamily="34" charset="-122"/>
                <a:cs typeface="Calibri" pitchFamily="34" charset="-120"/>
              </a:rPr>
              <a:t>PERLA 4 · EL MISMO RESULTADO, DISTINTO SIGNIFICADO</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600" b="1" dirty="0">
                <a:solidFill>
                  <a:srgbClr val="15193A"/>
                </a:solidFill>
                <a:latin typeface="Calibri" pitchFamily="34" charset="0"/>
                <a:ea typeface="Calibri" pitchFamily="34" charset="-122"/>
                <a:cs typeface="Calibri" pitchFamily="34" charset="-120"/>
              </a:rPr>
              <a:t>Probabilidad de AR tras un anti-CCP positivo</a:t>
            </a:r>
            <a:endParaRPr lang="en-US" sz="2600" dirty="0"/>
          </a:p>
        </p:txBody>
      </p:sp>
      <p:sp>
        <p:nvSpPr>
          <p:cNvPr id="5" name="Text 3"/>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[5] Nishimura K, et al. Ann Intern Med 2007 · [1] Smolen JS, et al. JAMA 2026</a:t>
            </a:r>
            <a:endParaRPr lang="en-US" sz="850" dirty="0"/>
          </a:p>
        </p:txBody>
      </p:sp>
      <p:graphicFrame>
        <p:nvGraphicFramePr>
          <p:cNvPr id="6" name="Chart 0"/>
          <p:cNvGraphicFramePr/>
          <p:nvPr/>
        </p:nvGraphicFramePr>
        <p:xfrm>
          <a:off x="365760" y="1143000"/>
          <a:ext cx="5486400" cy="329184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4"/>
          <p:cNvSpPr txBox="1"/>
          <p:nvPr/>
        </p:nvSpPr>
        <p:spPr>
          <a:xfrm>
            <a:off x="457200" y="4434840"/>
            <a:ext cx="5486400" cy="274320"/>
          </a:xfrm>
          <a:prstGeom prst="rect">
            <a:avLst/>
          </a:prstGeom>
          <a:noFill/>
          <a:ln/>
        </p:spPr>
        <p:txBody>
          <a:bodyPr wrap="square" lIns="0" tIns="0" rIns="0" bIns="0" rtlCol="0" anchor="t"/>
          <a:lstStyle/>
          <a:p>
            <a:pPr marL="0" indent="0">
              <a:buNone/>
            </a:pPr>
            <a:r>
              <a:rPr lang="en-US" sz="950" i="1" dirty="0">
                <a:solidFill>
                  <a:srgbClr val="565E82"/>
                </a:solidFill>
                <a:latin typeface="Calibri" pitchFamily="34" charset="0"/>
                <a:ea typeface="Calibri" pitchFamily="34" charset="-122"/>
                <a:cs typeface="Calibri" pitchFamily="34" charset="-120"/>
              </a:rPr>
              <a:t>Cálculo ilustrativo con RV+ 12,46 (teorema de Bayes); las probabilidades previas son ejemplos.</a:t>
            </a:r>
            <a:endParaRPr lang="en-US" sz="950" dirty="0"/>
          </a:p>
        </p:txBody>
      </p:sp>
      <p:sp>
        <p:nvSpPr>
          <p:cNvPr id="8" name="Shape 5"/>
          <p:cNvSpPr/>
          <p:nvPr/>
        </p:nvSpPr>
        <p:spPr>
          <a:xfrm>
            <a:off x="6080760" y="1188720"/>
            <a:ext cx="2606040" cy="3520440"/>
          </a:xfrm>
          <a:prstGeom prst="roundRect">
            <a:avLst>
              <a:gd name="adj" fmla="val 3509"/>
            </a:avLst>
          </a:prstGeom>
          <a:solidFill>
            <a:srgbClr val="FFB703">
              <a:alpha val="12000"/>
            </a:srgbClr>
          </a:solidFill>
          <a:ln w="15875">
            <a:solidFill>
              <a:srgbClr val="FFB703"/>
            </a:solidFill>
            <a:prstDash val="solid"/>
          </a:ln>
        </p:spPr>
        <p:txBody>
          <a:bodyPr/>
          <a:lstStyle/>
          <a:p>
            <a:endParaRPr lang="es-CO"/>
          </a:p>
        </p:txBody>
      </p:sp>
      <p:sp>
        <p:nvSpPr>
          <p:cNvPr id="9" name="Text 6"/>
          <p:cNvSpPr txBox="1"/>
          <p:nvPr/>
        </p:nvSpPr>
        <p:spPr>
          <a:xfrm>
            <a:off x="6217920" y="1280160"/>
            <a:ext cx="2377440" cy="365760"/>
          </a:xfrm>
          <a:prstGeom prst="rect">
            <a:avLst/>
          </a:prstGeom>
          <a:noFill/>
          <a:ln/>
        </p:spPr>
        <p:txBody>
          <a:bodyPr wrap="square" lIns="0" tIns="0" rIns="0" bIns="0" rtlCol="0" anchor="t"/>
          <a:lstStyle/>
          <a:p>
            <a:pPr marL="0" indent="0">
              <a:buNone/>
            </a:pPr>
            <a:r>
              <a:rPr lang="en-US" sz="1300" b="1" dirty="0">
                <a:solidFill>
                  <a:srgbClr val="8A5E00"/>
                </a:solidFill>
                <a:latin typeface="Calibri" pitchFamily="34" charset="0"/>
                <a:ea typeface="Calibri" pitchFamily="34" charset="-122"/>
                <a:cs typeface="Calibri" pitchFamily="34" charset="-120"/>
              </a:rPr>
              <a:t>Los anticuerpos se adelantan</a:t>
            </a:r>
            <a:endParaRPr lang="en-US" sz="1300" dirty="0"/>
          </a:p>
        </p:txBody>
      </p:sp>
      <p:sp>
        <p:nvSpPr>
          <p:cNvPr id="10" name="Text 7"/>
          <p:cNvSpPr txBox="1"/>
          <p:nvPr/>
        </p:nvSpPr>
        <p:spPr>
          <a:xfrm>
            <a:off x="6217920" y="1600200"/>
            <a:ext cx="2377440" cy="548640"/>
          </a:xfrm>
          <a:prstGeom prst="rect">
            <a:avLst/>
          </a:prstGeom>
          <a:noFill/>
          <a:ln/>
        </p:spPr>
        <p:txBody>
          <a:bodyPr wrap="square" lIns="0" tIns="0" rIns="0" bIns="0" rtlCol="0" anchor="b"/>
          <a:lstStyle/>
          <a:p>
            <a:pPr marL="0" indent="0">
              <a:buNone/>
            </a:pPr>
            <a:r>
              <a:rPr lang="en-US" sz="2600" b="1" dirty="0">
                <a:solidFill>
                  <a:srgbClr val="8A5E00"/>
                </a:solidFill>
                <a:latin typeface="Calibri" pitchFamily="34" charset="0"/>
                <a:ea typeface="Calibri" pitchFamily="34" charset="-122"/>
                <a:cs typeface="Calibri" pitchFamily="34" charset="-120"/>
              </a:rPr>
              <a:t>≈ 14 años</a:t>
            </a:r>
            <a:endParaRPr lang="en-US" sz="2600" dirty="0"/>
          </a:p>
        </p:txBody>
      </p:sp>
      <p:sp>
        <p:nvSpPr>
          <p:cNvPr id="11" name="Text 8"/>
          <p:cNvSpPr txBox="1"/>
          <p:nvPr/>
        </p:nvSpPr>
        <p:spPr>
          <a:xfrm>
            <a:off x="6217920" y="2185416"/>
            <a:ext cx="2377440" cy="548640"/>
          </a:xfrm>
          <a:prstGeom prst="rect">
            <a:avLst/>
          </a:prstGeom>
          <a:noFill/>
          <a:ln/>
        </p:spPr>
        <p:txBody>
          <a:bodyPr wrap="square" lIns="0" tIns="0" rIns="0" bIns="0" rtlCol="0" anchor="t"/>
          <a:lstStyle/>
          <a:p>
            <a:pPr marL="0" indent="0">
              <a:buNone/>
            </a:pPr>
            <a:r>
              <a:rPr lang="en-US" sz="1100" dirty="0">
                <a:solidFill>
                  <a:srgbClr val="474F70"/>
                </a:solidFill>
                <a:latin typeface="Calibri" pitchFamily="34" charset="0"/>
                <a:ea typeface="Calibri" pitchFamily="34" charset="-122"/>
                <a:cs typeface="Calibri" pitchFamily="34" charset="-120"/>
              </a:rPr>
              <a:t>antes de los síntomas pueden detectarse ACPA</a:t>
            </a:r>
            <a:endParaRPr lang="en-US" sz="1100" dirty="0"/>
          </a:p>
        </p:txBody>
      </p:sp>
      <p:sp>
        <p:nvSpPr>
          <p:cNvPr id="12" name="Text 9"/>
          <p:cNvSpPr txBox="1"/>
          <p:nvPr/>
        </p:nvSpPr>
        <p:spPr>
          <a:xfrm>
            <a:off x="6217920" y="2697480"/>
            <a:ext cx="2377440" cy="548640"/>
          </a:xfrm>
          <a:prstGeom prst="rect">
            <a:avLst/>
          </a:prstGeom>
          <a:noFill/>
          <a:ln/>
        </p:spPr>
        <p:txBody>
          <a:bodyPr wrap="square" lIns="0" tIns="0" rIns="0" bIns="0" rtlCol="0" anchor="b"/>
          <a:lstStyle/>
          <a:p>
            <a:pPr marL="0" indent="0">
              <a:buNone/>
            </a:pPr>
            <a:r>
              <a:rPr lang="en-US" sz="2600" b="1" dirty="0">
                <a:solidFill>
                  <a:srgbClr val="8A5E00"/>
                </a:solidFill>
                <a:latin typeface="Calibri" pitchFamily="34" charset="0"/>
                <a:ea typeface="Calibri" pitchFamily="34" charset="-122"/>
                <a:cs typeface="Calibri" pitchFamily="34" charset="-120"/>
              </a:rPr>
              <a:t>≈ 10 años</a:t>
            </a:r>
            <a:endParaRPr lang="en-US" sz="2600" dirty="0"/>
          </a:p>
        </p:txBody>
      </p:sp>
      <p:sp>
        <p:nvSpPr>
          <p:cNvPr id="13" name="Text 10"/>
          <p:cNvSpPr txBox="1"/>
          <p:nvPr/>
        </p:nvSpPr>
        <p:spPr>
          <a:xfrm>
            <a:off x="6217920" y="3282696"/>
            <a:ext cx="2377440" cy="548640"/>
          </a:xfrm>
          <a:prstGeom prst="rect">
            <a:avLst/>
          </a:prstGeom>
          <a:noFill/>
          <a:ln/>
        </p:spPr>
        <p:txBody>
          <a:bodyPr wrap="square" lIns="0" tIns="0" rIns="0" bIns="0" rtlCol="0" anchor="t"/>
          <a:lstStyle/>
          <a:p>
            <a:pPr marL="0" indent="0">
              <a:buNone/>
            </a:pPr>
            <a:r>
              <a:rPr lang="en-US" sz="1100" dirty="0">
                <a:solidFill>
                  <a:srgbClr val="474F70"/>
                </a:solidFill>
                <a:latin typeface="Calibri" pitchFamily="34" charset="0"/>
                <a:ea typeface="Calibri" pitchFamily="34" charset="-122"/>
                <a:cs typeface="Calibri" pitchFamily="34" charset="-120"/>
              </a:rPr>
              <a:t>antes puede aparecer el factor reumatoide</a:t>
            </a:r>
            <a:endParaRPr lang="en-US" sz="1100" dirty="0"/>
          </a:p>
        </p:txBody>
      </p:sp>
      <p:sp>
        <p:nvSpPr>
          <p:cNvPr id="14" name="Text 11"/>
          <p:cNvSpPr txBox="1"/>
          <p:nvPr/>
        </p:nvSpPr>
        <p:spPr>
          <a:xfrm>
            <a:off x="6217920" y="3840480"/>
            <a:ext cx="2377440" cy="731520"/>
          </a:xfrm>
          <a:prstGeom prst="rect">
            <a:avLst/>
          </a:prstGeom>
          <a:noFill/>
          <a:ln/>
        </p:spPr>
        <p:txBody>
          <a:bodyPr wrap="square" lIns="0" tIns="0" rIns="0" bIns="0" rtlCol="0" anchor="t"/>
          <a:lstStyle/>
          <a:p>
            <a:pPr marL="0" indent="0">
              <a:buNone/>
            </a:pPr>
            <a:r>
              <a:rPr lang="en-US" sz="1150" b="1" dirty="0">
                <a:solidFill>
                  <a:srgbClr val="15193A"/>
                </a:solidFill>
                <a:latin typeface="Calibri" pitchFamily="34" charset="0"/>
                <a:ea typeface="Calibri" pitchFamily="34" charset="-122"/>
                <a:cs typeface="Calibri" pitchFamily="34" charset="-120"/>
              </a:rPr>
              <a:t>Seropositivo sin sinovitis = pre-AR: evaluar y seguir, no etiquetar.</a:t>
            </a:r>
            <a:endParaRPr lang="en-US" sz="11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4CC9F0">
              <a:alpha val="12000"/>
            </a:srgbClr>
          </a:solidFill>
          <a:ln w="15875">
            <a:solidFill>
              <a:srgbClr val="4CC9F0"/>
            </a:solidFill>
            <a:prstDash val="solid"/>
          </a:ln>
        </p:spPr>
        <p:txBody>
          <a:bodyPr/>
          <a:lstStyle/>
          <a:p>
            <a:endParaRPr lang="es-CO"/>
          </a:p>
        </p:txBody>
      </p:sp>
      <p:sp>
        <p:nvSpPr>
          <p:cNvPr id="3" name="Text 1"/>
          <p:cNvSpPr txBox="1"/>
          <p:nvPr/>
        </p:nvSpPr>
        <p:spPr>
          <a:xfrm>
            <a:off x="457200" y="731520"/>
            <a:ext cx="2651760" cy="320040"/>
          </a:xfrm>
          <a:prstGeom prst="rect">
            <a:avLst/>
          </a:prstGeom>
          <a:noFill/>
          <a:ln/>
        </p:spPr>
        <p:txBody>
          <a:bodyPr wrap="square" lIns="0" tIns="0" rIns="0" bIns="0" rtlCol="0" anchor="t"/>
          <a:lstStyle/>
          <a:p>
            <a:pPr marL="0" indent="0" algn="ctr">
              <a:buNone/>
            </a:pPr>
            <a:r>
              <a:rPr lang="en-US" sz="1400" b="1" kern="0" spc="800" dirty="0">
                <a:solidFill>
                  <a:srgbClr val="0A6F98"/>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marL="0" indent="0" algn="ctr">
              <a:buNone/>
            </a:pPr>
            <a:r>
              <a:rPr lang="en-US" sz="11000" b="1" dirty="0">
                <a:solidFill>
                  <a:srgbClr val="15193A"/>
                </a:solidFill>
                <a:latin typeface="Calibri" pitchFamily="34" charset="0"/>
                <a:ea typeface="Calibri" pitchFamily="34" charset="-122"/>
                <a:cs typeface="Calibri" pitchFamily="34" charset="-120"/>
              </a:rPr>
              <a:t>05</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marL="0" indent="0" algn="ctr">
              <a:buNone/>
            </a:pPr>
            <a:r>
              <a:rPr lang="en-US" sz="1300" dirty="0">
                <a:solidFill>
                  <a:srgbClr val="474F70"/>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4CC9F0"/>
          </a:solidFill>
          <a:ln w="19050">
            <a:solidFill>
              <a:srgbClr val="4CC9F0"/>
            </a:solidFill>
            <a:prstDash val="solid"/>
          </a:ln>
        </p:spPr>
        <p:txBody>
          <a:bodyPr/>
          <a:lstStyle/>
          <a:p>
            <a:endParaRPr lang="es-CO"/>
          </a:p>
        </p:txBody>
      </p:sp>
      <p:pic>
        <p:nvPicPr>
          <p:cNvPr id="7" name="Image 0" descr="preencoded.png"/>
          <p:cNvPicPr>
            <a:picLocks noChangeAspect="1"/>
          </p:cNvPicPr>
          <p:nvPr/>
        </p:nvPicPr>
        <p:blipFill>
          <a:blip r:embed="rId4"/>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marL="0" indent="0">
              <a:buNone/>
            </a:pPr>
            <a:r>
              <a:rPr lang="en-US" sz="2500" b="1" dirty="0">
                <a:solidFill>
                  <a:srgbClr val="15193A"/>
                </a:solidFill>
                <a:latin typeface="Calibri" pitchFamily="34" charset="0"/>
                <a:ea typeface="Calibri" pitchFamily="34" charset="-122"/>
                <a:cs typeface="Calibri" pitchFamily="34" charset="-120"/>
              </a:rPr>
              <a:t>Los criterios ACR/EULAR 2010 clasifican y apoyan el juicio clínico</a:t>
            </a:r>
            <a:endParaRPr lang="en-US" sz="2500" dirty="0"/>
          </a:p>
        </p:txBody>
      </p:sp>
      <p:sp>
        <p:nvSpPr>
          <p:cNvPr id="9" name="Shape 6"/>
          <p:cNvSpPr/>
          <p:nvPr/>
        </p:nvSpPr>
        <p:spPr>
          <a:xfrm>
            <a:off x="3429000" y="2057400"/>
            <a:ext cx="1097280" cy="0"/>
          </a:xfrm>
          <a:prstGeom prst="line">
            <a:avLst/>
          </a:prstGeom>
          <a:noFill/>
          <a:ln w="38100">
            <a:solidFill>
              <a:srgbClr val="4CC9F0"/>
            </a:solidFill>
            <a:prstDash val="solid"/>
          </a:ln>
        </p:spPr>
        <p:txBody>
          <a:bodyPr/>
          <a:lstStyle/>
          <a:p>
            <a:endParaRPr lang="es-CO"/>
          </a:p>
        </p:txBody>
      </p:sp>
      <p:sp>
        <p:nvSpPr>
          <p:cNvPr id="10" name="Text 7"/>
          <p:cNvSpPr txBox="1"/>
          <p:nvPr/>
        </p:nvSpPr>
        <p:spPr>
          <a:xfrm>
            <a:off x="3429000" y="2240280"/>
            <a:ext cx="5257800" cy="1920240"/>
          </a:xfrm>
          <a:prstGeom prst="rect">
            <a:avLst/>
          </a:prstGeom>
          <a:noFill/>
          <a:ln/>
        </p:spPr>
        <p:txBody>
          <a:bodyPr wrap="square" lIns="0" tIns="0" rIns="0" bIns="0" rtlCol="0" anchor="t"/>
          <a:lstStyle/>
          <a:p>
            <a:pPr marL="0" indent="0">
              <a:buNone/>
            </a:pPr>
            <a:r>
              <a:rPr lang="en-US" sz="1500" dirty="0">
                <a:solidFill>
                  <a:srgbClr val="2A3150"/>
                </a:solidFill>
                <a:latin typeface="Calibri" pitchFamily="34" charset="0"/>
                <a:ea typeface="Calibri" pitchFamily="34" charset="-122"/>
                <a:cs typeface="Calibri" pitchFamily="34" charset="-120"/>
              </a:rPr>
              <a:t>Se aplican ante al menos una articulación con sinovitis clínica sin una explicación alternativa mejor. Una puntuación ≥ 6/10 permite clasificar como AR; una menor puede corresponder a enfermedad temprana. Las seis semanas de síntomas aportan un punto: no son un requisito para derivar.</a:t>
            </a:r>
            <a:endParaRPr lang="en-US" sz="1500" dirty="0"/>
          </a:p>
        </p:txBody>
      </p:sp>
      <p:sp>
        <p:nvSpPr>
          <p:cNvPr id="11" name="Text 8"/>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[6] Aletaha D, et al. Ann Rheum Dis 2010</a:t>
            </a:r>
            <a:endParaRPr lang="en-US" sz="8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4CC9F0"/>
          </a:solidFill>
          <a:ln w="12700">
            <a:solidFill>
              <a:srgbClr val="4CC9F0"/>
            </a:solidFill>
            <a:prstDash val="solid"/>
          </a:ln>
        </p:spPr>
        <p:txBody>
          <a:bodyPr/>
          <a:lstStyle/>
          <a:p>
            <a:endParaRPr lang="es-CO"/>
          </a:p>
        </p:txBody>
      </p:sp>
      <p:sp>
        <p:nvSpPr>
          <p:cNvPr id="3" name="Text 1"/>
          <p:cNvSpPr txBox="1"/>
          <p:nvPr/>
        </p:nvSpPr>
        <p:spPr>
          <a:xfrm>
            <a:off x="685800" y="219456"/>
            <a:ext cx="7772400" cy="256032"/>
          </a:xfrm>
          <a:prstGeom prst="rect">
            <a:avLst/>
          </a:prstGeom>
          <a:noFill/>
          <a:ln/>
        </p:spPr>
        <p:txBody>
          <a:bodyPr wrap="square" lIns="0" tIns="0" rIns="0" bIns="0" rtlCol="0" anchor="ctr"/>
          <a:lstStyle/>
          <a:p>
            <a:pPr marL="0" indent="0">
              <a:buNone/>
            </a:pPr>
            <a:r>
              <a:rPr lang="en-US" sz="1050" b="1" kern="0" spc="400" dirty="0">
                <a:solidFill>
                  <a:srgbClr val="0A6F98"/>
                </a:solidFill>
                <a:latin typeface="Calibri" pitchFamily="34" charset="0"/>
                <a:ea typeface="Calibri" pitchFamily="34" charset="-122"/>
                <a:cs typeface="Calibri" pitchFamily="34" charset="-120"/>
              </a:rPr>
              <a:t>PERLA 5 · CRITERIOS ACR/EULAR 2010</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600" b="1" dirty="0">
                <a:solidFill>
                  <a:srgbClr val="15193A"/>
                </a:solidFill>
                <a:latin typeface="Calibri" pitchFamily="34" charset="0"/>
                <a:ea typeface="Calibri" pitchFamily="34" charset="-122"/>
                <a:cs typeface="Calibri" pitchFamily="34" charset="-120"/>
              </a:rPr>
              <a:t>Cómo se suman los 10 puntos</a:t>
            </a:r>
            <a:endParaRPr lang="en-US" sz="2600" dirty="0"/>
          </a:p>
        </p:txBody>
      </p:sp>
      <p:sp>
        <p:nvSpPr>
          <p:cNvPr id="5" name="Text 3"/>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[6] Aletaha D, et al. Ann Rheum Dis 2010</a:t>
            </a:r>
            <a:endParaRPr lang="en-US" sz="850" dirty="0"/>
          </a:p>
        </p:txBody>
      </p:sp>
      <p:sp>
        <p:nvSpPr>
          <p:cNvPr id="6" name="Shape 4"/>
          <p:cNvSpPr/>
          <p:nvPr/>
        </p:nvSpPr>
        <p:spPr>
          <a:xfrm>
            <a:off x="457200" y="1143000"/>
            <a:ext cx="1664208" cy="2697480"/>
          </a:xfrm>
          <a:prstGeom prst="roundRect">
            <a:avLst>
              <a:gd name="adj" fmla="val 5495"/>
            </a:avLst>
          </a:prstGeom>
          <a:solidFill>
            <a:srgbClr val="4CC9F0">
              <a:alpha val="12000"/>
            </a:srgbClr>
          </a:solidFill>
          <a:ln w="15875">
            <a:solidFill>
              <a:srgbClr val="4CC9F0"/>
            </a:solidFill>
            <a:prstDash val="solid"/>
          </a:ln>
        </p:spPr>
        <p:txBody>
          <a:bodyPr/>
          <a:lstStyle/>
          <a:p>
            <a:endParaRPr lang="es-CO"/>
          </a:p>
        </p:txBody>
      </p:sp>
      <p:sp>
        <p:nvSpPr>
          <p:cNvPr id="7" name="Text 5"/>
          <p:cNvSpPr txBox="1"/>
          <p:nvPr/>
        </p:nvSpPr>
        <p:spPr>
          <a:xfrm>
            <a:off x="548640" y="1207008"/>
            <a:ext cx="1481328" cy="292608"/>
          </a:xfrm>
          <a:prstGeom prst="rect">
            <a:avLst/>
          </a:prstGeom>
          <a:noFill/>
          <a:ln/>
        </p:spPr>
        <p:txBody>
          <a:bodyPr wrap="square" lIns="0" tIns="0" rIns="0" bIns="0" rtlCol="0" anchor="t"/>
          <a:lstStyle/>
          <a:p>
            <a:pPr marL="0" indent="0">
              <a:buNone/>
            </a:pPr>
            <a:r>
              <a:rPr lang="en-US" sz="1300" b="1" dirty="0">
                <a:solidFill>
                  <a:srgbClr val="0A6F98"/>
                </a:solidFill>
                <a:latin typeface="Calibri" pitchFamily="34" charset="0"/>
                <a:ea typeface="Calibri" pitchFamily="34" charset="-122"/>
                <a:cs typeface="Calibri" pitchFamily="34" charset="-120"/>
              </a:rPr>
              <a:t>Articulaciones</a:t>
            </a:r>
            <a:endParaRPr lang="en-US" sz="1300" dirty="0"/>
          </a:p>
        </p:txBody>
      </p:sp>
      <p:sp>
        <p:nvSpPr>
          <p:cNvPr id="8" name="Text 6"/>
          <p:cNvSpPr txBox="1"/>
          <p:nvPr/>
        </p:nvSpPr>
        <p:spPr>
          <a:xfrm>
            <a:off x="548640" y="1481328"/>
            <a:ext cx="1481328" cy="228600"/>
          </a:xfrm>
          <a:prstGeom prst="rect">
            <a:avLst/>
          </a:prstGeom>
          <a:noFill/>
          <a:ln/>
        </p:spPr>
        <p:txBody>
          <a:bodyPr wrap="square" lIns="0" tIns="0" rIns="0" bIns="0" rtlCol="0" anchor="t"/>
          <a:lstStyle/>
          <a:p>
            <a:pPr marL="0" indent="0">
              <a:buNone/>
            </a:pPr>
            <a:r>
              <a:rPr lang="en-US" sz="1000" dirty="0">
                <a:solidFill>
                  <a:srgbClr val="474F70"/>
                </a:solidFill>
                <a:latin typeface="Calibri" pitchFamily="34" charset="0"/>
                <a:ea typeface="Calibri" pitchFamily="34" charset="-122"/>
                <a:cs typeface="Calibri" pitchFamily="34" charset="-120"/>
              </a:rPr>
              <a:t>0–5 puntos</a:t>
            </a:r>
            <a:endParaRPr lang="en-US" sz="1000" dirty="0"/>
          </a:p>
        </p:txBody>
      </p:sp>
      <p:sp>
        <p:nvSpPr>
          <p:cNvPr id="9" name="Text 7"/>
          <p:cNvSpPr txBox="1"/>
          <p:nvPr/>
        </p:nvSpPr>
        <p:spPr>
          <a:xfrm>
            <a:off x="548640" y="1783080"/>
            <a:ext cx="1097280" cy="365760"/>
          </a:xfrm>
          <a:prstGeom prst="rect">
            <a:avLst/>
          </a:prstGeom>
          <a:noFill/>
          <a:ln/>
        </p:spPr>
        <p:txBody>
          <a:bodyPr wrap="square" lIns="0" tIns="0" rIns="0" bIns="0" rtlCol="0" anchor="ctr"/>
          <a:lstStyle/>
          <a:p>
            <a:pPr marL="0" indent="0">
              <a:buNone/>
            </a:pPr>
            <a:r>
              <a:rPr lang="en-US" sz="950" dirty="0">
                <a:solidFill>
                  <a:srgbClr val="15193A"/>
                </a:solidFill>
                <a:latin typeface="Calibri" pitchFamily="34" charset="0"/>
                <a:ea typeface="Calibri" pitchFamily="34" charset="-122"/>
                <a:cs typeface="Calibri" pitchFamily="34" charset="-120"/>
              </a:rPr>
              <a:t>1 grande</a:t>
            </a:r>
            <a:endParaRPr lang="en-US" sz="950" dirty="0"/>
          </a:p>
        </p:txBody>
      </p:sp>
      <p:sp>
        <p:nvSpPr>
          <p:cNvPr id="10" name="Shape 8"/>
          <p:cNvSpPr/>
          <p:nvPr/>
        </p:nvSpPr>
        <p:spPr>
          <a:xfrm>
            <a:off x="1664208" y="1837944"/>
            <a:ext cx="365760" cy="256032"/>
          </a:xfrm>
          <a:prstGeom prst="roundRect">
            <a:avLst>
              <a:gd name="adj" fmla="val 50000"/>
            </a:avLst>
          </a:prstGeom>
          <a:solidFill>
            <a:srgbClr val="4CC9F0"/>
          </a:solidFill>
          <a:ln w="12700">
            <a:solidFill>
              <a:srgbClr val="4CC9F0"/>
            </a:solidFill>
            <a:prstDash val="solid"/>
          </a:ln>
        </p:spPr>
        <p:txBody>
          <a:bodyPr/>
          <a:lstStyle/>
          <a:p>
            <a:endParaRPr lang="es-CO"/>
          </a:p>
        </p:txBody>
      </p:sp>
      <p:sp>
        <p:nvSpPr>
          <p:cNvPr id="11" name="Text 9"/>
          <p:cNvSpPr txBox="1"/>
          <p:nvPr/>
        </p:nvSpPr>
        <p:spPr>
          <a:xfrm>
            <a:off x="1664208" y="1837944"/>
            <a:ext cx="365760" cy="256032"/>
          </a:xfrm>
          <a:prstGeom prst="rect">
            <a:avLst/>
          </a:prstGeom>
          <a:noFill/>
          <a:ln/>
        </p:spPr>
        <p:txBody>
          <a:bodyPr wrap="square" lIns="0" tIns="0" rIns="0" bIns="0" rtlCol="0" anchor="ctr"/>
          <a:lstStyle/>
          <a:p>
            <a:pPr marL="0" indent="0" algn="ctr">
              <a:buNone/>
            </a:pPr>
            <a:r>
              <a:rPr lang="en-US" sz="1050" b="1" dirty="0">
                <a:solidFill>
                  <a:srgbClr val="0A0E24"/>
                </a:solidFill>
                <a:latin typeface="Calibri" pitchFamily="34" charset="0"/>
                <a:ea typeface="Calibri" pitchFamily="34" charset="-122"/>
                <a:cs typeface="Calibri" pitchFamily="34" charset="-120"/>
              </a:rPr>
              <a:t>0</a:t>
            </a:r>
            <a:endParaRPr lang="en-US" sz="1050" dirty="0"/>
          </a:p>
        </p:txBody>
      </p:sp>
      <p:sp>
        <p:nvSpPr>
          <p:cNvPr id="12" name="Text 10"/>
          <p:cNvSpPr txBox="1"/>
          <p:nvPr/>
        </p:nvSpPr>
        <p:spPr>
          <a:xfrm>
            <a:off x="548640" y="2176272"/>
            <a:ext cx="1097280" cy="365760"/>
          </a:xfrm>
          <a:prstGeom prst="rect">
            <a:avLst/>
          </a:prstGeom>
          <a:noFill/>
          <a:ln/>
        </p:spPr>
        <p:txBody>
          <a:bodyPr wrap="square" lIns="0" tIns="0" rIns="0" bIns="0" rtlCol="0" anchor="ctr"/>
          <a:lstStyle/>
          <a:p>
            <a:pPr marL="0" indent="0">
              <a:buNone/>
            </a:pPr>
            <a:r>
              <a:rPr lang="en-US" sz="950" dirty="0">
                <a:solidFill>
                  <a:srgbClr val="15193A"/>
                </a:solidFill>
                <a:latin typeface="Calibri" pitchFamily="34" charset="0"/>
                <a:ea typeface="Calibri" pitchFamily="34" charset="-122"/>
                <a:cs typeface="Calibri" pitchFamily="34" charset="-120"/>
              </a:rPr>
              <a:t>2–10 grandes</a:t>
            </a:r>
            <a:endParaRPr lang="en-US" sz="950" dirty="0"/>
          </a:p>
        </p:txBody>
      </p:sp>
      <p:sp>
        <p:nvSpPr>
          <p:cNvPr id="13" name="Shape 11"/>
          <p:cNvSpPr/>
          <p:nvPr/>
        </p:nvSpPr>
        <p:spPr>
          <a:xfrm>
            <a:off x="1664208" y="2231136"/>
            <a:ext cx="365760" cy="256032"/>
          </a:xfrm>
          <a:prstGeom prst="roundRect">
            <a:avLst>
              <a:gd name="adj" fmla="val 50000"/>
            </a:avLst>
          </a:prstGeom>
          <a:solidFill>
            <a:srgbClr val="4CC9F0"/>
          </a:solidFill>
          <a:ln w="12700">
            <a:solidFill>
              <a:srgbClr val="4CC9F0"/>
            </a:solidFill>
            <a:prstDash val="solid"/>
          </a:ln>
        </p:spPr>
        <p:txBody>
          <a:bodyPr/>
          <a:lstStyle/>
          <a:p>
            <a:endParaRPr lang="es-CO"/>
          </a:p>
        </p:txBody>
      </p:sp>
      <p:sp>
        <p:nvSpPr>
          <p:cNvPr id="14" name="Text 12"/>
          <p:cNvSpPr txBox="1"/>
          <p:nvPr/>
        </p:nvSpPr>
        <p:spPr>
          <a:xfrm>
            <a:off x="1664208" y="2231136"/>
            <a:ext cx="365760" cy="256032"/>
          </a:xfrm>
          <a:prstGeom prst="rect">
            <a:avLst/>
          </a:prstGeom>
          <a:noFill/>
          <a:ln/>
        </p:spPr>
        <p:txBody>
          <a:bodyPr wrap="square" lIns="0" tIns="0" rIns="0" bIns="0" rtlCol="0" anchor="ctr"/>
          <a:lstStyle/>
          <a:p>
            <a:pPr marL="0" indent="0" algn="ctr">
              <a:buNone/>
            </a:pPr>
            <a:r>
              <a:rPr lang="en-US" sz="1050" b="1" dirty="0">
                <a:solidFill>
                  <a:srgbClr val="0A0E24"/>
                </a:solidFill>
                <a:latin typeface="Calibri" pitchFamily="34" charset="0"/>
                <a:ea typeface="Calibri" pitchFamily="34" charset="-122"/>
                <a:cs typeface="Calibri" pitchFamily="34" charset="-120"/>
              </a:rPr>
              <a:t>1</a:t>
            </a:r>
            <a:endParaRPr lang="en-US" sz="1050" dirty="0"/>
          </a:p>
        </p:txBody>
      </p:sp>
      <p:sp>
        <p:nvSpPr>
          <p:cNvPr id="15" name="Text 13"/>
          <p:cNvSpPr txBox="1"/>
          <p:nvPr/>
        </p:nvSpPr>
        <p:spPr>
          <a:xfrm>
            <a:off x="548640" y="2569464"/>
            <a:ext cx="1097280" cy="365760"/>
          </a:xfrm>
          <a:prstGeom prst="rect">
            <a:avLst/>
          </a:prstGeom>
          <a:noFill/>
          <a:ln/>
        </p:spPr>
        <p:txBody>
          <a:bodyPr wrap="square" lIns="0" tIns="0" rIns="0" bIns="0" rtlCol="0" anchor="ctr"/>
          <a:lstStyle/>
          <a:p>
            <a:pPr marL="0" indent="0">
              <a:buNone/>
            </a:pPr>
            <a:r>
              <a:rPr lang="en-US" sz="950" dirty="0">
                <a:solidFill>
                  <a:srgbClr val="15193A"/>
                </a:solidFill>
                <a:latin typeface="Calibri" pitchFamily="34" charset="0"/>
                <a:ea typeface="Calibri" pitchFamily="34" charset="-122"/>
                <a:cs typeface="Calibri" pitchFamily="34" charset="-120"/>
              </a:rPr>
              <a:t>1–3 pequeñas</a:t>
            </a:r>
            <a:endParaRPr lang="en-US" sz="950" dirty="0"/>
          </a:p>
        </p:txBody>
      </p:sp>
      <p:sp>
        <p:nvSpPr>
          <p:cNvPr id="16" name="Shape 14"/>
          <p:cNvSpPr/>
          <p:nvPr/>
        </p:nvSpPr>
        <p:spPr>
          <a:xfrm>
            <a:off x="1664208" y="2624328"/>
            <a:ext cx="365760" cy="256032"/>
          </a:xfrm>
          <a:prstGeom prst="roundRect">
            <a:avLst>
              <a:gd name="adj" fmla="val 50000"/>
            </a:avLst>
          </a:prstGeom>
          <a:solidFill>
            <a:srgbClr val="4CC9F0"/>
          </a:solidFill>
          <a:ln w="12700">
            <a:solidFill>
              <a:srgbClr val="4CC9F0"/>
            </a:solidFill>
            <a:prstDash val="solid"/>
          </a:ln>
        </p:spPr>
        <p:txBody>
          <a:bodyPr/>
          <a:lstStyle/>
          <a:p>
            <a:endParaRPr lang="es-CO"/>
          </a:p>
        </p:txBody>
      </p:sp>
      <p:sp>
        <p:nvSpPr>
          <p:cNvPr id="17" name="Text 15"/>
          <p:cNvSpPr txBox="1"/>
          <p:nvPr/>
        </p:nvSpPr>
        <p:spPr>
          <a:xfrm>
            <a:off x="1664208" y="2624328"/>
            <a:ext cx="365760" cy="256032"/>
          </a:xfrm>
          <a:prstGeom prst="rect">
            <a:avLst/>
          </a:prstGeom>
          <a:noFill/>
          <a:ln/>
        </p:spPr>
        <p:txBody>
          <a:bodyPr wrap="square" lIns="0" tIns="0" rIns="0" bIns="0" rtlCol="0" anchor="ctr"/>
          <a:lstStyle/>
          <a:p>
            <a:pPr marL="0" indent="0" algn="ctr">
              <a:buNone/>
            </a:pPr>
            <a:r>
              <a:rPr lang="en-US" sz="1050" b="1" dirty="0">
                <a:solidFill>
                  <a:srgbClr val="0A0E24"/>
                </a:solidFill>
                <a:latin typeface="Calibri" pitchFamily="34" charset="0"/>
                <a:ea typeface="Calibri" pitchFamily="34" charset="-122"/>
                <a:cs typeface="Calibri" pitchFamily="34" charset="-120"/>
              </a:rPr>
              <a:t>2</a:t>
            </a:r>
            <a:endParaRPr lang="en-US" sz="1050" dirty="0"/>
          </a:p>
        </p:txBody>
      </p:sp>
      <p:sp>
        <p:nvSpPr>
          <p:cNvPr id="18" name="Text 16"/>
          <p:cNvSpPr txBox="1"/>
          <p:nvPr/>
        </p:nvSpPr>
        <p:spPr>
          <a:xfrm>
            <a:off x="548640" y="2962656"/>
            <a:ext cx="1097280" cy="365760"/>
          </a:xfrm>
          <a:prstGeom prst="rect">
            <a:avLst/>
          </a:prstGeom>
          <a:noFill/>
          <a:ln/>
        </p:spPr>
        <p:txBody>
          <a:bodyPr wrap="square" lIns="0" tIns="0" rIns="0" bIns="0" rtlCol="0" anchor="ctr"/>
          <a:lstStyle/>
          <a:p>
            <a:pPr marL="0" indent="0">
              <a:buNone/>
            </a:pPr>
            <a:r>
              <a:rPr lang="en-US" sz="950" dirty="0">
                <a:solidFill>
                  <a:srgbClr val="15193A"/>
                </a:solidFill>
                <a:latin typeface="Calibri" pitchFamily="34" charset="0"/>
                <a:ea typeface="Calibri" pitchFamily="34" charset="-122"/>
                <a:cs typeface="Calibri" pitchFamily="34" charset="-120"/>
              </a:rPr>
              <a:t>4–10 pequeñas</a:t>
            </a:r>
            <a:endParaRPr lang="en-US" sz="950" dirty="0"/>
          </a:p>
        </p:txBody>
      </p:sp>
      <p:sp>
        <p:nvSpPr>
          <p:cNvPr id="19" name="Shape 17"/>
          <p:cNvSpPr/>
          <p:nvPr/>
        </p:nvSpPr>
        <p:spPr>
          <a:xfrm>
            <a:off x="1664208" y="3017520"/>
            <a:ext cx="365760" cy="256032"/>
          </a:xfrm>
          <a:prstGeom prst="roundRect">
            <a:avLst>
              <a:gd name="adj" fmla="val 50000"/>
            </a:avLst>
          </a:prstGeom>
          <a:solidFill>
            <a:srgbClr val="4CC9F0"/>
          </a:solidFill>
          <a:ln w="12700">
            <a:solidFill>
              <a:srgbClr val="4CC9F0"/>
            </a:solidFill>
            <a:prstDash val="solid"/>
          </a:ln>
        </p:spPr>
        <p:txBody>
          <a:bodyPr/>
          <a:lstStyle/>
          <a:p>
            <a:endParaRPr lang="es-CO"/>
          </a:p>
        </p:txBody>
      </p:sp>
      <p:sp>
        <p:nvSpPr>
          <p:cNvPr id="20" name="Text 18"/>
          <p:cNvSpPr txBox="1"/>
          <p:nvPr/>
        </p:nvSpPr>
        <p:spPr>
          <a:xfrm>
            <a:off x="1664208" y="3017520"/>
            <a:ext cx="365760" cy="256032"/>
          </a:xfrm>
          <a:prstGeom prst="rect">
            <a:avLst/>
          </a:prstGeom>
          <a:noFill/>
          <a:ln/>
        </p:spPr>
        <p:txBody>
          <a:bodyPr wrap="square" lIns="0" tIns="0" rIns="0" bIns="0" rtlCol="0" anchor="ctr"/>
          <a:lstStyle/>
          <a:p>
            <a:pPr marL="0" indent="0" algn="ctr">
              <a:buNone/>
            </a:pPr>
            <a:r>
              <a:rPr lang="en-US" sz="1050" b="1" dirty="0">
                <a:solidFill>
                  <a:srgbClr val="0A0E24"/>
                </a:solidFill>
                <a:latin typeface="Calibri" pitchFamily="34" charset="0"/>
                <a:ea typeface="Calibri" pitchFamily="34" charset="-122"/>
                <a:cs typeface="Calibri" pitchFamily="34" charset="-120"/>
              </a:rPr>
              <a:t>3</a:t>
            </a:r>
            <a:endParaRPr lang="en-US" sz="1050" dirty="0"/>
          </a:p>
        </p:txBody>
      </p:sp>
      <p:sp>
        <p:nvSpPr>
          <p:cNvPr id="21" name="Text 19"/>
          <p:cNvSpPr txBox="1"/>
          <p:nvPr/>
        </p:nvSpPr>
        <p:spPr>
          <a:xfrm>
            <a:off x="548640" y="3355848"/>
            <a:ext cx="1097280" cy="365760"/>
          </a:xfrm>
          <a:prstGeom prst="rect">
            <a:avLst/>
          </a:prstGeom>
          <a:noFill/>
          <a:ln/>
        </p:spPr>
        <p:txBody>
          <a:bodyPr wrap="square" lIns="0" tIns="0" rIns="0" bIns="0" rtlCol="0" anchor="ctr"/>
          <a:lstStyle/>
          <a:p>
            <a:pPr marL="0" indent="0">
              <a:buNone/>
            </a:pPr>
            <a:r>
              <a:rPr lang="en-US" sz="950" dirty="0">
                <a:solidFill>
                  <a:srgbClr val="15193A"/>
                </a:solidFill>
                <a:latin typeface="Calibri" pitchFamily="34" charset="0"/>
                <a:ea typeface="Calibri" pitchFamily="34" charset="-122"/>
                <a:cs typeface="Calibri" pitchFamily="34" charset="-120"/>
              </a:rPr>
              <a:t>&gt; 10 (≥ 1 pequeña)</a:t>
            </a:r>
            <a:endParaRPr lang="en-US" sz="950" dirty="0"/>
          </a:p>
        </p:txBody>
      </p:sp>
      <p:sp>
        <p:nvSpPr>
          <p:cNvPr id="22" name="Shape 20"/>
          <p:cNvSpPr/>
          <p:nvPr/>
        </p:nvSpPr>
        <p:spPr>
          <a:xfrm>
            <a:off x="1664208" y="3410712"/>
            <a:ext cx="365760" cy="256032"/>
          </a:xfrm>
          <a:prstGeom prst="roundRect">
            <a:avLst>
              <a:gd name="adj" fmla="val 50000"/>
            </a:avLst>
          </a:prstGeom>
          <a:solidFill>
            <a:srgbClr val="4CC9F0"/>
          </a:solidFill>
          <a:ln w="12700">
            <a:solidFill>
              <a:srgbClr val="4CC9F0"/>
            </a:solidFill>
            <a:prstDash val="solid"/>
          </a:ln>
        </p:spPr>
        <p:txBody>
          <a:bodyPr/>
          <a:lstStyle/>
          <a:p>
            <a:endParaRPr lang="es-CO"/>
          </a:p>
        </p:txBody>
      </p:sp>
      <p:sp>
        <p:nvSpPr>
          <p:cNvPr id="23" name="Text 21"/>
          <p:cNvSpPr txBox="1"/>
          <p:nvPr/>
        </p:nvSpPr>
        <p:spPr>
          <a:xfrm>
            <a:off x="1664208" y="3410712"/>
            <a:ext cx="365760" cy="256032"/>
          </a:xfrm>
          <a:prstGeom prst="rect">
            <a:avLst/>
          </a:prstGeom>
          <a:noFill/>
          <a:ln/>
        </p:spPr>
        <p:txBody>
          <a:bodyPr wrap="square" lIns="0" tIns="0" rIns="0" bIns="0" rtlCol="0" anchor="ctr"/>
          <a:lstStyle/>
          <a:p>
            <a:pPr marL="0" indent="0" algn="ctr">
              <a:buNone/>
            </a:pPr>
            <a:r>
              <a:rPr lang="en-US" sz="1050" b="1" dirty="0">
                <a:solidFill>
                  <a:srgbClr val="0A0E24"/>
                </a:solidFill>
                <a:latin typeface="Calibri" pitchFamily="34" charset="0"/>
                <a:ea typeface="Calibri" pitchFamily="34" charset="-122"/>
                <a:cs typeface="Calibri" pitchFamily="34" charset="-120"/>
              </a:rPr>
              <a:t>5</a:t>
            </a:r>
            <a:endParaRPr lang="en-US" sz="1050" dirty="0"/>
          </a:p>
        </p:txBody>
      </p:sp>
      <p:sp>
        <p:nvSpPr>
          <p:cNvPr id="24" name="Shape 22"/>
          <p:cNvSpPr/>
          <p:nvPr/>
        </p:nvSpPr>
        <p:spPr>
          <a:xfrm>
            <a:off x="2240280" y="1143000"/>
            <a:ext cx="1664208" cy="2697480"/>
          </a:xfrm>
          <a:prstGeom prst="roundRect">
            <a:avLst>
              <a:gd name="adj" fmla="val 5495"/>
            </a:avLst>
          </a:prstGeom>
          <a:solidFill>
            <a:srgbClr val="A78BFA">
              <a:alpha val="12000"/>
            </a:srgbClr>
          </a:solidFill>
          <a:ln w="15875">
            <a:solidFill>
              <a:srgbClr val="A78BFA"/>
            </a:solidFill>
            <a:prstDash val="solid"/>
          </a:ln>
        </p:spPr>
        <p:txBody>
          <a:bodyPr/>
          <a:lstStyle/>
          <a:p>
            <a:endParaRPr lang="es-CO"/>
          </a:p>
        </p:txBody>
      </p:sp>
      <p:sp>
        <p:nvSpPr>
          <p:cNvPr id="25" name="Text 23"/>
          <p:cNvSpPr txBox="1"/>
          <p:nvPr/>
        </p:nvSpPr>
        <p:spPr>
          <a:xfrm>
            <a:off x="2331720" y="1207008"/>
            <a:ext cx="1481328" cy="292608"/>
          </a:xfrm>
          <a:prstGeom prst="rect">
            <a:avLst/>
          </a:prstGeom>
          <a:noFill/>
          <a:ln/>
        </p:spPr>
        <p:txBody>
          <a:bodyPr wrap="square" lIns="0" tIns="0" rIns="0" bIns="0" rtlCol="0" anchor="t"/>
          <a:lstStyle/>
          <a:p>
            <a:pPr marL="0" indent="0">
              <a:buNone/>
            </a:pPr>
            <a:r>
              <a:rPr lang="en-US" sz="1300" b="1" dirty="0">
                <a:solidFill>
                  <a:srgbClr val="6A4CCF"/>
                </a:solidFill>
                <a:latin typeface="Calibri" pitchFamily="34" charset="0"/>
                <a:ea typeface="Calibri" pitchFamily="34" charset="-122"/>
                <a:cs typeface="Calibri" pitchFamily="34" charset="-120"/>
              </a:rPr>
              <a:t>Serología</a:t>
            </a:r>
            <a:endParaRPr lang="en-US" sz="1300" dirty="0"/>
          </a:p>
        </p:txBody>
      </p:sp>
      <p:sp>
        <p:nvSpPr>
          <p:cNvPr id="26" name="Text 24"/>
          <p:cNvSpPr txBox="1"/>
          <p:nvPr/>
        </p:nvSpPr>
        <p:spPr>
          <a:xfrm>
            <a:off x="2331720" y="1481328"/>
            <a:ext cx="1481328" cy="228600"/>
          </a:xfrm>
          <a:prstGeom prst="rect">
            <a:avLst/>
          </a:prstGeom>
          <a:noFill/>
          <a:ln/>
        </p:spPr>
        <p:txBody>
          <a:bodyPr wrap="square" lIns="0" tIns="0" rIns="0" bIns="0" rtlCol="0" anchor="t"/>
          <a:lstStyle/>
          <a:p>
            <a:pPr marL="0" indent="0">
              <a:buNone/>
            </a:pPr>
            <a:r>
              <a:rPr lang="en-US" sz="1000" dirty="0">
                <a:solidFill>
                  <a:srgbClr val="474F70"/>
                </a:solidFill>
                <a:latin typeface="Calibri" pitchFamily="34" charset="0"/>
                <a:ea typeface="Calibri" pitchFamily="34" charset="-122"/>
                <a:cs typeface="Calibri" pitchFamily="34" charset="-120"/>
              </a:rPr>
              <a:t>0–3 puntos</a:t>
            </a:r>
            <a:endParaRPr lang="en-US" sz="1000" dirty="0"/>
          </a:p>
        </p:txBody>
      </p:sp>
      <p:sp>
        <p:nvSpPr>
          <p:cNvPr id="27" name="Text 25"/>
          <p:cNvSpPr txBox="1"/>
          <p:nvPr/>
        </p:nvSpPr>
        <p:spPr>
          <a:xfrm>
            <a:off x="2331720" y="1783080"/>
            <a:ext cx="1097280" cy="365760"/>
          </a:xfrm>
          <a:prstGeom prst="rect">
            <a:avLst/>
          </a:prstGeom>
          <a:noFill/>
          <a:ln/>
        </p:spPr>
        <p:txBody>
          <a:bodyPr wrap="square" lIns="0" tIns="0" rIns="0" bIns="0" rtlCol="0" anchor="ctr"/>
          <a:lstStyle/>
          <a:p>
            <a:pPr marL="0" indent="0">
              <a:buNone/>
            </a:pPr>
            <a:r>
              <a:rPr lang="en-US" sz="950" dirty="0">
                <a:solidFill>
                  <a:srgbClr val="15193A"/>
                </a:solidFill>
                <a:latin typeface="Calibri" pitchFamily="34" charset="0"/>
                <a:ea typeface="Calibri" pitchFamily="34" charset="-122"/>
                <a:cs typeface="Calibri" pitchFamily="34" charset="-120"/>
              </a:rPr>
              <a:t>FR y ACPA negativos</a:t>
            </a:r>
            <a:endParaRPr lang="en-US" sz="950" dirty="0"/>
          </a:p>
        </p:txBody>
      </p:sp>
      <p:sp>
        <p:nvSpPr>
          <p:cNvPr id="28" name="Shape 26"/>
          <p:cNvSpPr/>
          <p:nvPr/>
        </p:nvSpPr>
        <p:spPr>
          <a:xfrm>
            <a:off x="3447288" y="1837944"/>
            <a:ext cx="365760" cy="256032"/>
          </a:xfrm>
          <a:prstGeom prst="roundRect">
            <a:avLst>
              <a:gd name="adj" fmla="val 50000"/>
            </a:avLst>
          </a:prstGeom>
          <a:solidFill>
            <a:srgbClr val="A78BFA"/>
          </a:solidFill>
          <a:ln w="12700">
            <a:solidFill>
              <a:srgbClr val="A78BFA"/>
            </a:solidFill>
            <a:prstDash val="solid"/>
          </a:ln>
        </p:spPr>
        <p:txBody>
          <a:bodyPr/>
          <a:lstStyle/>
          <a:p>
            <a:endParaRPr lang="es-CO"/>
          </a:p>
        </p:txBody>
      </p:sp>
      <p:sp>
        <p:nvSpPr>
          <p:cNvPr id="29" name="Text 27"/>
          <p:cNvSpPr txBox="1"/>
          <p:nvPr/>
        </p:nvSpPr>
        <p:spPr>
          <a:xfrm>
            <a:off x="3447288" y="1837944"/>
            <a:ext cx="365760" cy="256032"/>
          </a:xfrm>
          <a:prstGeom prst="rect">
            <a:avLst/>
          </a:prstGeom>
          <a:noFill/>
          <a:ln/>
        </p:spPr>
        <p:txBody>
          <a:bodyPr wrap="square" lIns="0" tIns="0" rIns="0" bIns="0" rtlCol="0" anchor="ctr"/>
          <a:lstStyle/>
          <a:p>
            <a:pPr marL="0" indent="0" algn="ctr">
              <a:buNone/>
            </a:pPr>
            <a:r>
              <a:rPr lang="en-US" sz="1050" b="1" dirty="0">
                <a:solidFill>
                  <a:srgbClr val="0A0E24"/>
                </a:solidFill>
                <a:latin typeface="Calibri" pitchFamily="34" charset="0"/>
                <a:ea typeface="Calibri" pitchFamily="34" charset="-122"/>
                <a:cs typeface="Calibri" pitchFamily="34" charset="-120"/>
              </a:rPr>
              <a:t>0</a:t>
            </a:r>
            <a:endParaRPr lang="en-US" sz="1050" dirty="0"/>
          </a:p>
        </p:txBody>
      </p:sp>
      <p:sp>
        <p:nvSpPr>
          <p:cNvPr id="30" name="Text 28"/>
          <p:cNvSpPr txBox="1"/>
          <p:nvPr/>
        </p:nvSpPr>
        <p:spPr>
          <a:xfrm>
            <a:off x="2331720" y="2176272"/>
            <a:ext cx="1097280" cy="365760"/>
          </a:xfrm>
          <a:prstGeom prst="rect">
            <a:avLst/>
          </a:prstGeom>
          <a:noFill/>
          <a:ln/>
        </p:spPr>
        <p:txBody>
          <a:bodyPr wrap="square" lIns="0" tIns="0" rIns="0" bIns="0" rtlCol="0" anchor="ctr"/>
          <a:lstStyle/>
          <a:p>
            <a:pPr marL="0" indent="0">
              <a:buNone/>
            </a:pPr>
            <a:r>
              <a:rPr lang="en-US" sz="950" dirty="0">
                <a:solidFill>
                  <a:srgbClr val="15193A"/>
                </a:solidFill>
                <a:latin typeface="Calibri" pitchFamily="34" charset="0"/>
                <a:ea typeface="Calibri" pitchFamily="34" charset="-122"/>
                <a:cs typeface="Calibri" pitchFamily="34" charset="-120"/>
              </a:rPr>
              <a:t>FR o ACPA positivo bajo</a:t>
            </a:r>
            <a:endParaRPr lang="en-US" sz="950" dirty="0"/>
          </a:p>
        </p:txBody>
      </p:sp>
      <p:sp>
        <p:nvSpPr>
          <p:cNvPr id="31" name="Shape 29"/>
          <p:cNvSpPr/>
          <p:nvPr/>
        </p:nvSpPr>
        <p:spPr>
          <a:xfrm>
            <a:off x="3447288" y="2231136"/>
            <a:ext cx="365760" cy="256032"/>
          </a:xfrm>
          <a:prstGeom prst="roundRect">
            <a:avLst>
              <a:gd name="adj" fmla="val 50000"/>
            </a:avLst>
          </a:prstGeom>
          <a:solidFill>
            <a:srgbClr val="A78BFA"/>
          </a:solidFill>
          <a:ln w="12700">
            <a:solidFill>
              <a:srgbClr val="A78BFA"/>
            </a:solidFill>
            <a:prstDash val="solid"/>
          </a:ln>
        </p:spPr>
        <p:txBody>
          <a:bodyPr/>
          <a:lstStyle/>
          <a:p>
            <a:endParaRPr lang="es-CO"/>
          </a:p>
        </p:txBody>
      </p:sp>
      <p:sp>
        <p:nvSpPr>
          <p:cNvPr id="32" name="Text 30"/>
          <p:cNvSpPr txBox="1"/>
          <p:nvPr/>
        </p:nvSpPr>
        <p:spPr>
          <a:xfrm>
            <a:off x="3447288" y="2231136"/>
            <a:ext cx="365760" cy="256032"/>
          </a:xfrm>
          <a:prstGeom prst="rect">
            <a:avLst/>
          </a:prstGeom>
          <a:noFill/>
          <a:ln/>
        </p:spPr>
        <p:txBody>
          <a:bodyPr wrap="square" lIns="0" tIns="0" rIns="0" bIns="0" rtlCol="0" anchor="ctr"/>
          <a:lstStyle/>
          <a:p>
            <a:pPr marL="0" indent="0" algn="ctr">
              <a:buNone/>
            </a:pPr>
            <a:r>
              <a:rPr lang="en-US" sz="1050" b="1" dirty="0">
                <a:solidFill>
                  <a:srgbClr val="0A0E24"/>
                </a:solidFill>
                <a:latin typeface="Calibri" pitchFamily="34" charset="0"/>
                <a:ea typeface="Calibri" pitchFamily="34" charset="-122"/>
                <a:cs typeface="Calibri" pitchFamily="34" charset="-120"/>
              </a:rPr>
              <a:t>2</a:t>
            </a:r>
            <a:endParaRPr lang="en-US" sz="1050" dirty="0"/>
          </a:p>
        </p:txBody>
      </p:sp>
      <p:sp>
        <p:nvSpPr>
          <p:cNvPr id="33" name="Text 31"/>
          <p:cNvSpPr txBox="1"/>
          <p:nvPr/>
        </p:nvSpPr>
        <p:spPr>
          <a:xfrm>
            <a:off x="2331720" y="2569464"/>
            <a:ext cx="1097280" cy="365760"/>
          </a:xfrm>
          <a:prstGeom prst="rect">
            <a:avLst/>
          </a:prstGeom>
          <a:noFill/>
          <a:ln/>
        </p:spPr>
        <p:txBody>
          <a:bodyPr wrap="square" lIns="0" tIns="0" rIns="0" bIns="0" rtlCol="0" anchor="ctr"/>
          <a:lstStyle/>
          <a:p>
            <a:pPr marL="0" indent="0">
              <a:buNone/>
            </a:pPr>
            <a:r>
              <a:rPr lang="en-US" sz="950" dirty="0">
                <a:solidFill>
                  <a:srgbClr val="15193A"/>
                </a:solidFill>
                <a:latin typeface="Calibri" pitchFamily="34" charset="0"/>
                <a:ea typeface="Calibri" pitchFamily="34" charset="-122"/>
                <a:cs typeface="Calibri" pitchFamily="34" charset="-120"/>
              </a:rPr>
              <a:t>FR o ACPA positivo alto</a:t>
            </a:r>
            <a:endParaRPr lang="en-US" sz="950" dirty="0"/>
          </a:p>
        </p:txBody>
      </p:sp>
      <p:sp>
        <p:nvSpPr>
          <p:cNvPr id="34" name="Shape 32"/>
          <p:cNvSpPr/>
          <p:nvPr/>
        </p:nvSpPr>
        <p:spPr>
          <a:xfrm>
            <a:off x="3447288" y="2624328"/>
            <a:ext cx="365760" cy="256032"/>
          </a:xfrm>
          <a:prstGeom prst="roundRect">
            <a:avLst>
              <a:gd name="adj" fmla="val 50000"/>
            </a:avLst>
          </a:prstGeom>
          <a:solidFill>
            <a:srgbClr val="A78BFA"/>
          </a:solidFill>
          <a:ln w="12700">
            <a:solidFill>
              <a:srgbClr val="A78BFA"/>
            </a:solidFill>
            <a:prstDash val="solid"/>
          </a:ln>
        </p:spPr>
        <p:txBody>
          <a:bodyPr/>
          <a:lstStyle/>
          <a:p>
            <a:endParaRPr lang="es-CO"/>
          </a:p>
        </p:txBody>
      </p:sp>
      <p:sp>
        <p:nvSpPr>
          <p:cNvPr id="35" name="Text 33"/>
          <p:cNvSpPr txBox="1"/>
          <p:nvPr/>
        </p:nvSpPr>
        <p:spPr>
          <a:xfrm>
            <a:off x="3447288" y="2624328"/>
            <a:ext cx="365760" cy="256032"/>
          </a:xfrm>
          <a:prstGeom prst="rect">
            <a:avLst/>
          </a:prstGeom>
          <a:noFill/>
          <a:ln/>
        </p:spPr>
        <p:txBody>
          <a:bodyPr wrap="square" lIns="0" tIns="0" rIns="0" bIns="0" rtlCol="0" anchor="ctr"/>
          <a:lstStyle/>
          <a:p>
            <a:pPr marL="0" indent="0" algn="ctr">
              <a:buNone/>
            </a:pPr>
            <a:r>
              <a:rPr lang="en-US" sz="1050" b="1" dirty="0">
                <a:solidFill>
                  <a:srgbClr val="0A0E24"/>
                </a:solidFill>
                <a:latin typeface="Calibri" pitchFamily="34" charset="0"/>
                <a:ea typeface="Calibri" pitchFamily="34" charset="-122"/>
                <a:cs typeface="Calibri" pitchFamily="34" charset="-120"/>
              </a:rPr>
              <a:t>3</a:t>
            </a:r>
            <a:endParaRPr lang="en-US" sz="1050" dirty="0"/>
          </a:p>
        </p:txBody>
      </p:sp>
      <p:sp>
        <p:nvSpPr>
          <p:cNvPr id="36" name="Shape 34"/>
          <p:cNvSpPr/>
          <p:nvPr/>
        </p:nvSpPr>
        <p:spPr>
          <a:xfrm>
            <a:off x="4023360" y="1143000"/>
            <a:ext cx="1664208" cy="2697480"/>
          </a:xfrm>
          <a:prstGeom prst="roundRect">
            <a:avLst>
              <a:gd name="adj" fmla="val 5495"/>
            </a:avLst>
          </a:prstGeom>
          <a:solidFill>
            <a:srgbClr val="FFB703">
              <a:alpha val="12000"/>
            </a:srgbClr>
          </a:solidFill>
          <a:ln w="15875">
            <a:solidFill>
              <a:srgbClr val="FFB703"/>
            </a:solidFill>
            <a:prstDash val="solid"/>
          </a:ln>
        </p:spPr>
        <p:txBody>
          <a:bodyPr/>
          <a:lstStyle/>
          <a:p>
            <a:endParaRPr lang="es-CO"/>
          </a:p>
        </p:txBody>
      </p:sp>
      <p:sp>
        <p:nvSpPr>
          <p:cNvPr id="37" name="Text 35"/>
          <p:cNvSpPr txBox="1"/>
          <p:nvPr/>
        </p:nvSpPr>
        <p:spPr>
          <a:xfrm>
            <a:off x="4114800" y="1207008"/>
            <a:ext cx="1481328" cy="292608"/>
          </a:xfrm>
          <a:prstGeom prst="rect">
            <a:avLst/>
          </a:prstGeom>
          <a:noFill/>
          <a:ln/>
        </p:spPr>
        <p:txBody>
          <a:bodyPr wrap="square" lIns="0" tIns="0" rIns="0" bIns="0" rtlCol="0" anchor="t"/>
          <a:lstStyle/>
          <a:p>
            <a:pPr marL="0" indent="0">
              <a:buNone/>
            </a:pPr>
            <a:r>
              <a:rPr lang="en-US" sz="1300" b="1" dirty="0">
                <a:solidFill>
                  <a:srgbClr val="8A5E00"/>
                </a:solidFill>
                <a:latin typeface="Calibri" pitchFamily="34" charset="0"/>
                <a:ea typeface="Calibri" pitchFamily="34" charset="-122"/>
                <a:cs typeface="Calibri" pitchFamily="34" charset="-120"/>
              </a:rPr>
              <a:t>Duración</a:t>
            </a:r>
            <a:endParaRPr lang="en-US" sz="1300" dirty="0"/>
          </a:p>
        </p:txBody>
      </p:sp>
      <p:sp>
        <p:nvSpPr>
          <p:cNvPr id="38" name="Text 36"/>
          <p:cNvSpPr txBox="1"/>
          <p:nvPr/>
        </p:nvSpPr>
        <p:spPr>
          <a:xfrm>
            <a:off x="4114800" y="1481328"/>
            <a:ext cx="1481328" cy="228600"/>
          </a:xfrm>
          <a:prstGeom prst="rect">
            <a:avLst/>
          </a:prstGeom>
          <a:noFill/>
          <a:ln/>
        </p:spPr>
        <p:txBody>
          <a:bodyPr wrap="square" lIns="0" tIns="0" rIns="0" bIns="0" rtlCol="0" anchor="t"/>
          <a:lstStyle/>
          <a:p>
            <a:pPr marL="0" indent="0">
              <a:buNone/>
            </a:pPr>
            <a:r>
              <a:rPr lang="en-US" sz="1000" dirty="0">
                <a:solidFill>
                  <a:srgbClr val="474F70"/>
                </a:solidFill>
                <a:latin typeface="Calibri" pitchFamily="34" charset="0"/>
                <a:ea typeface="Calibri" pitchFamily="34" charset="-122"/>
                <a:cs typeface="Calibri" pitchFamily="34" charset="-120"/>
              </a:rPr>
              <a:t>0–1 puntos</a:t>
            </a:r>
            <a:endParaRPr lang="en-US" sz="1000" dirty="0"/>
          </a:p>
        </p:txBody>
      </p:sp>
      <p:sp>
        <p:nvSpPr>
          <p:cNvPr id="39" name="Text 37"/>
          <p:cNvSpPr txBox="1"/>
          <p:nvPr/>
        </p:nvSpPr>
        <p:spPr>
          <a:xfrm>
            <a:off x="4114800" y="1783080"/>
            <a:ext cx="1097280" cy="365760"/>
          </a:xfrm>
          <a:prstGeom prst="rect">
            <a:avLst/>
          </a:prstGeom>
          <a:noFill/>
          <a:ln/>
        </p:spPr>
        <p:txBody>
          <a:bodyPr wrap="square" lIns="0" tIns="0" rIns="0" bIns="0" rtlCol="0" anchor="ctr"/>
          <a:lstStyle/>
          <a:p>
            <a:pPr marL="0" indent="0">
              <a:buNone/>
            </a:pPr>
            <a:r>
              <a:rPr lang="en-US" sz="950" dirty="0">
                <a:solidFill>
                  <a:srgbClr val="15193A"/>
                </a:solidFill>
                <a:latin typeface="Calibri" pitchFamily="34" charset="0"/>
                <a:ea typeface="Calibri" pitchFamily="34" charset="-122"/>
                <a:cs typeface="Calibri" pitchFamily="34" charset="-120"/>
              </a:rPr>
              <a:t>&lt; 6 semanas</a:t>
            </a:r>
            <a:endParaRPr lang="en-US" sz="950" dirty="0"/>
          </a:p>
        </p:txBody>
      </p:sp>
      <p:sp>
        <p:nvSpPr>
          <p:cNvPr id="40" name="Shape 38"/>
          <p:cNvSpPr/>
          <p:nvPr/>
        </p:nvSpPr>
        <p:spPr>
          <a:xfrm>
            <a:off x="5230368" y="1837944"/>
            <a:ext cx="365760" cy="256032"/>
          </a:xfrm>
          <a:prstGeom prst="roundRect">
            <a:avLst>
              <a:gd name="adj" fmla="val 50000"/>
            </a:avLst>
          </a:prstGeom>
          <a:solidFill>
            <a:srgbClr val="FFB703"/>
          </a:solidFill>
          <a:ln w="12700">
            <a:solidFill>
              <a:srgbClr val="FFB703"/>
            </a:solidFill>
            <a:prstDash val="solid"/>
          </a:ln>
        </p:spPr>
        <p:txBody>
          <a:bodyPr/>
          <a:lstStyle/>
          <a:p>
            <a:endParaRPr lang="es-CO"/>
          </a:p>
        </p:txBody>
      </p:sp>
      <p:sp>
        <p:nvSpPr>
          <p:cNvPr id="41" name="Text 39"/>
          <p:cNvSpPr txBox="1"/>
          <p:nvPr/>
        </p:nvSpPr>
        <p:spPr>
          <a:xfrm>
            <a:off x="5230368" y="1837944"/>
            <a:ext cx="365760" cy="256032"/>
          </a:xfrm>
          <a:prstGeom prst="rect">
            <a:avLst/>
          </a:prstGeom>
          <a:noFill/>
          <a:ln/>
        </p:spPr>
        <p:txBody>
          <a:bodyPr wrap="square" lIns="0" tIns="0" rIns="0" bIns="0" rtlCol="0" anchor="ctr"/>
          <a:lstStyle/>
          <a:p>
            <a:pPr marL="0" indent="0" algn="ctr">
              <a:buNone/>
            </a:pPr>
            <a:r>
              <a:rPr lang="en-US" sz="1050" b="1" dirty="0">
                <a:solidFill>
                  <a:srgbClr val="0A0E24"/>
                </a:solidFill>
                <a:latin typeface="Calibri" pitchFamily="34" charset="0"/>
                <a:ea typeface="Calibri" pitchFamily="34" charset="-122"/>
                <a:cs typeface="Calibri" pitchFamily="34" charset="-120"/>
              </a:rPr>
              <a:t>0</a:t>
            </a:r>
            <a:endParaRPr lang="en-US" sz="1050" dirty="0"/>
          </a:p>
        </p:txBody>
      </p:sp>
      <p:sp>
        <p:nvSpPr>
          <p:cNvPr id="42" name="Text 40"/>
          <p:cNvSpPr txBox="1"/>
          <p:nvPr/>
        </p:nvSpPr>
        <p:spPr>
          <a:xfrm>
            <a:off x="4114800" y="2176272"/>
            <a:ext cx="1097280" cy="365760"/>
          </a:xfrm>
          <a:prstGeom prst="rect">
            <a:avLst/>
          </a:prstGeom>
          <a:noFill/>
          <a:ln/>
        </p:spPr>
        <p:txBody>
          <a:bodyPr wrap="square" lIns="0" tIns="0" rIns="0" bIns="0" rtlCol="0" anchor="ctr"/>
          <a:lstStyle/>
          <a:p>
            <a:pPr marL="0" indent="0">
              <a:buNone/>
            </a:pPr>
            <a:r>
              <a:rPr lang="en-US" sz="950" dirty="0">
                <a:solidFill>
                  <a:srgbClr val="15193A"/>
                </a:solidFill>
                <a:latin typeface="Calibri" pitchFamily="34" charset="0"/>
                <a:ea typeface="Calibri" pitchFamily="34" charset="-122"/>
                <a:cs typeface="Calibri" pitchFamily="34" charset="-120"/>
              </a:rPr>
              <a:t>≥ 6 semanas</a:t>
            </a:r>
            <a:endParaRPr lang="en-US" sz="950" dirty="0"/>
          </a:p>
        </p:txBody>
      </p:sp>
      <p:sp>
        <p:nvSpPr>
          <p:cNvPr id="43" name="Shape 41"/>
          <p:cNvSpPr/>
          <p:nvPr/>
        </p:nvSpPr>
        <p:spPr>
          <a:xfrm>
            <a:off x="5230368" y="2231136"/>
            <a:ext cx="365760" cy="256032"/>
          </a:xfrm>
          <a:prstGeom prst="roundRect">
            <a:avLst>
              <a:gd name="adj" fmla="val 50000"/>
            </a:avLst>
          </a:prstGeom>
          <a:solidFill>
            <a:srgbClr val="FFB703"/>
          </a:solidFill>
          <a:ln w="12700">
            <a:solidFill>
              <a:srgbClr val="FFB703"/>
            </a:solidFill>
            <a:prstDash val="solid"/>
          </a:ln>
        </p:spPr>
        <p:txBody>
          <a:bodyPr/>
          <a:lstStyle/>
          <a:p>
            <a:endParaRPr lang="es-CO"/>
          </a:p>
        </p:txBody>
      </p:sp>
      <p:sp>
        <p:nvSpPr>
          <p:cNvPr id="44" name="Text 42"/>
          <p:cNvSpPr txBox="1"/>
          <p:nvPr/>
        </p:nvSpPr>
        <p:spPr>
          <a:xfrm>
            <a:off x="5230368" y="2231136"/>
            <a:ext cx="365760" cy="256032"/>
          </a:xfrm>
          <a:prstGeom prst="rect">
            <a:avLst/>
          </a:prstGeom>
          <a:noFill/>
          <a:ln/>
        </p:spPr>
        <p:txBody>
          <a:bodyPr wrap="square" lIns="0" tIns="0" rIns="0" bIns="0" rtlCol="0" anchor="ctr"/>
          <a:lstStyle/>
          <a:p>
            <a:pPr marL="0" indent="0" algn="ctr">
              <a:buNone/>
            </a:pPr>
            <a:r>
              <a:rPr lang="en-US" sz="1050" b="1" dirty="0">
                <a:solidFill>
                  <a:srgbClr val="0A0E24"/>
                </a:solidFill>
                <a:latin typeface="Calibri" pitchFamily="34" charset="0"/>
                <a:ea typeface="Calibri" pitchFamily="34" charset="-122"/>
                <a:cs typeface="Calibri" pitchFamily="34" charset="-120"/>
              </a:rPr>
              <a:t>1</a:t>
            </a:r>
            <a:endParaRPr lang="en-US" sz="1050" dirty="0"/>
          </a:p>
        </p:txBody>
      </p:sp>
      <p:sp>
        <p:nvSpPr>
          <p:cNvPr id="45" name="Shape 43"/>
          <p:cNvSpPr/>
          <p:nvPr/>
        </p:nvSpPr>
        <p:spPr>
          <a:xfrm>
            <a:off x="5806440" y="1143000"/>
            <a:ext cx="1664208" cy="2697480"/>
          </a:xfrm>
          <a:prstGeom prst="roundRect">
            <a:avLst>
              <a:gd name="adj" fmla="val 5495"/>
            </a:avLst>
          </a:prstGeom>
          <a:solidFill>
            <a:srgbClr val="21D3A8">
              <a:alpha val="12000"/>
            </a:srgbClr>
          </a:solidFill>
          <a:ln w="15875">
            <a:solidFill>
              <a:srgbClr val="21D3A8"/>
            </a:solidFill>
            <a:prstDash val="solid"/>
          </a:ln>
        </p:spPr>
        <p:txBody>
          <a:bodyPr/>
          <a:lstStyle/>
          <a:p>
            <a:endParaRPr lang="es-CO"/>
          </a:p>
        </p:txBody>
      </p:sp>
      <p:sp>
        <p:nvSpPr>
          <p:cNvPr id="46" name="Text 44"/>
          <p:cNvSpPr txBox="1"/>
          <p:nvPr/>
        </p:nvSpPr>
        <p:spPr>
          <a:xfrm>
            <a:off x="5897880" y="1207008"/>
            <a:ext cx="1481328" cy="292608"/>
          </a:xfrm>
          <a:prstGeom prst="rect">
            <a:avLst/>
          </a:prstGeom>
          <a:noFill/>
          <a:ln/>
        </p:spPr>
        <p:txBody>
          <a:bodyPr wrap="square" lIns="0" tIns="0" rIns="0" bIns="0" rtlCol="0" anchor="t"/>
          <a:lstStyle/>
          <a:p>
            <a:pPr marL="0" indent="0">
              <a:buNone/>
            </a:pPr>
            <a:r>
              <a:rPr lang="en-US" sz="1300" b="1" dirty="0">
                <a:solidFill>
                  <a:srgbClr val="0C8368"/>
                </a:solidFill>
                <a:latin typeface="Calibri" pitchFamily="34" charset="0"/>
                <a:ea typeface="Calibri" pitchFamily="34" charset="-122"/>
                <a:cs typeface="Calibri" pitchFamily="34" charset="-120"/>
              </a:rPr>
              <a:t>Fase aguda</a:t>
            </a:r>
            <a:endParaRPr lang="en-US" sz="1300" dirty="0"/>
          </a:p>
        </p:txBody>
      </p:sp>
      <p:sp>
        <p:nvSpPr>
          <p:cNvPr id="47" name="Text 45"/>
          <p:cNvSpPr txBox="1"/>
          <p:nvPr/>
        </p:nvSpPr>
        <p:spPr>
          <a:xfrm>
            <a:off x="5897880" y="1481328"/>
            <a:ext cx="1481328" cy="228600"/>
          </a:xfrm>
          <a:prstGeom prst="rect">
            <a:avLst/>
          </a:prstGeom>
          <a:noFill/>
          <a:ln/>
        </p:spPr>
        <p:txBody>
          <a:bodyPr wrap="square" lIns="0" tIns="0" rIns="0" bIns="0" rtlCol="0" anchor="t"/>
          <a:lstStyle/>
          <a:p>
            <a:pPr marL="0" indent="0">
              <a:buNone/>
            </a:pPr>
            <a:r>
              <a:rPr lang="en-US" sz="1000" dirty="0">
                <a:solidFill>
                  <a:srgbClr val="474F70"/>
                </a:solidFill>
                <a:latin typeface="Calibri" pitchFamily="34" charset="0"/>
                <a:ea typeface="Calibri" pitchFamily="34" charset="-122"/>
                <a:cs typeface="Calibri" pitchFamily="34" charset="-120"/>
              </a:rPr>
              <a:t>0–1 puntos</a:t>
            </a:r>
            <a:endParaRPr lang="en-US" sz="1000" dirty="0"/>
          </a:p>
        </p:txBody>
      </p:sp>
      <p:sp>
        <p:nvSpPr>
          <p:cNvPr id="48" name="Text 46"/>
          <p:cNvSpPr txBox="1"/>
          <p:nvPr/>
        </p:nvSpPr>
        <p:spPr>
          <a:xfrm>
            <a:off x="5897880" y="1783080"/>
            <a:ext cx="1097280" cy="365760"/>
          </a:xfrm>
          <a:prstGeom prst="rect">
            <a:avLst/>
          </a:prstGeom>
          <a:noFill/>
          <a:ln/>
        </p:spPr>
        <p:txBody>
          <a:bodyPr wrap="square" lIns="0" tIns="0" rIns="0" bIns="0" rtlCol="0" anchor="ctr"/>
          <a:lstStyle/>
          <a:p>
            <a:pPr marL="0" indent="0">
              <a:buNone/>
            </a:pPr>
            <a:r>
              <a:rPr lang="en-US" sz="950" dirty="0">
                <a:solidFill>
                  <a:srgbClr val="15193A"/>
                </a:solidFill>
                <a:latin typeface="Calibri" pitchFamily="34" charset="0"/>
                <a:ea typeface="Calibri" pitchFamily="34" charset="-122"/>
                <a:cs typeface="Calibri" pitchFamily="34" charset="-120"/>
              </a:rPr>
              <a:t>PCR y VSG normales</a:t>
            </a:r>
            <a:endParaRPr lang="en-US" sz="950" dirty="0"/>
          </a:p>
        </p:txBody>
      </p:sp>
      <p:sp>
        <p:nvSpPr>
          <p:cNvPr id="49" name="Shape 47"/>
          <p:cNvSpPr/>
          <p:nvPr/>
        </p:nvSpPr>
        <p:spPr>
          <a:xfrm>
            <a:off x="7013448" y="1837944"/>
            <a:ext cx="365760" cy="256032"/>
          </a:xfrm>
          <a:prstGeom prst="roundRect">
            <a:avLst>
              <a:gd name="adj" fmla="val 50000"/>
            </a:avLst>
          </a:prstGeom>
          <a:solidFill>
            <a:srgbClr val="21D3A8"/>
          </a:solidFill>
          <a:ln w="12700">
            <a:solidFill>
              <a:srgbClr val="21D3A8"/>
            </a:solidFill>
            <a:prstDash val="solid"/>
          </a:ln>
        </p:spPr>
        <p:txBody>
          <a:bodyPr/>
          <a:lstStyle/>
          <a:p>
            <a:endParaRPr lang="es-CO"/>
          </a:p>
        </p:txBody>
      </p:sp>
      <p:sp>
        <p:nvSpPr>
          <p:cNvPr id="50" name="Text 48"/>
          <p:cNvSpPr txBox="1"/>
          <p:nvPr/>
        </p:nvSpPr>
        <p:spPr>
          <a:xfrm>
            <a:off x="7013448" y="1837944"/>
            <a:ext cx="365760" cy="256032"/>
          </a:xfrm>
          <a:prstGeom prst="rect">
            <a:avLst/>
          </a:prstGeom>
          <a:noFill/>
          <a:ln/>
        </p:spPr>
        <p:txBody>
          <a:bodyPr wrap="square" lIns="0" tIns="0" rIns="0" bIns="0" rtlCol="0" anchor="ctr"/>
          <a:lstStyle/>
          <a:p>
            <a:pPr marL="0" indent="0" algn="ctr">
              <a:buNone/>
            </a:pPr>
            <a:r>
              <a:rPr lang="en-US" sz="1050" b="1" dirty="0">
                <a:solidFill>
                  <a:srgbClr val="0A0E24"/>
                </a:solidFill>
                <a:latin typeface="Calibri" pitchFamily="34" charset="0"/>
                <a:ea typeface="Calibri" pitchFamily="34" charset="-122"/>
                <a:cs typeface="Calibri" pitchFamily="34" charset="-120"/>
              </a:rPr>
              <a:t>0</a:t>
            </a:r>
            <a:endParaRPr lang="en-US" sz="1050" dirty="0"/>
          </a:p>
        </p:txBody>
      </p:sp>
      <p:sp>
        <p:nvSpPr>
          <p:cNvPr id="51" name="Text 49"/>
          <p:cNvSpPr txBox="1"/>
          <p:nvPr/>
        </p:nvSpPr>
        <p:spPr>
          <a:xfrm>
            <a:off x="5897880" y="2176272"/>
            <a:ext cx="1097280" cy="365760"/>
          </a:xfrm>
          <a:prstGeom prst="rect">
            <a:avLst/>
          </a:prstGeom>
          <a:noFill/>
          <a:ln/>
        </p:spPr>
        <p:txBody>
          <a:bodyPr wrap="square" lIns="0" tIns="0" rIns="0" bIns="0" rtlCol="0" anchor="ctr"/>
          <a:lstStyle/>
          <a:p>
            <a:pPr marL="0" indent="0">
              <a:buNone/>
            </a:pPr>
            <a:r>
              <a:rPr lang="en-US" sz="950" dirty="0">
                <a:solidFill>
                  <a:srgbClr val="15193A"/>
                </a:solidFill>
                <a:latin typeface="Calibri" pitchFamily="34" charset="0"/>
                <a:ea typeface="Calibri" pitchFamily="34" charset="-122"/>
                <a:cs typeface="Calibri" pitchFamily="34" charset="-120"/>
              </a:rPr>
              <a:t>PCR o VSG anormal</a:t>
            </a:r>
            <a:endParaRPr lang="en-US" sz="950" dirty="0"/>
          </a:p>
        </p:txBody>
      </p:sp>
      <p:sp>
        <p:nvSpPr>
          <p:cNvPr id="52" name="Shape 50"/>
          <p:cNvSpPr/>
          <p:nvPr/>
        </p:nvSpPr>
        <p:spPr>
          <a:xfrm>
            <a:off x="7013448" y="2231136"/>
            <a:ext cx="365760" cy="256032"/>
          </a:xfrm>
          <a:prstGeom prst="roundRect">
            <a:avLst>
              <a:gd name="adj" fmla="val 50000"/>
            </a:avLst>
          </a:prstGeom>
          <a:solidFill>
            <a:srgbClr val="21D3A8"/>
          </a:solidFill>
          <a:ln w="12700">
            <a:solidFill>
              <a:srgbClr val="21D3A8"/>
            </a:solidFill>
            <a:prstDash val="solid"/>
          </a:ln>
        </p:spPr>
        <p:txBody>
          <a:bodyPr/>
          <a:lstStyle/>
          <a:p>
            <a:endParaRPr lang="es-CO"/>
          </a:p>
        </p:txBody>
      </p:sp>
      <p:sp>
        <p:nvSpPr>
          <p:cNvPr id="53" name="Text 51"/>
          <p:cNvSpPr txBox="1"/>
          <p:nvPr/>
        </p:nvSpPr>
        <p:spPr>
          <a:xfrm>
            <a:off x="7013448" y="2231136"/>
            <a:ext cx="365760" cy="256032"/>
          </a:xfrm>
          <a:prstGeom prst="rect">
            <a:avLst/>
          </a:prstGeom>
          <a:noFill/>
          <a:ln/>
        </p:spPr>
        <p:txBody>
          <a:bodyPr wrap="square" lIns="0" tIns="0" rIns="0" bIns="0" rtlCol="0" anchor="ctr"/>
          <a:lstStyle/>
          <a:p>
            <a:pPr marL="0" indent="0" algn="ctr">
              <a:buNone/>
            </a:pPr>
            <a:r>
              <a:rPr lang="en-US" sz="1050" b="1" dirty="0">
                <a:solidFill>
                  <a:srgbClr val="0A0E24"/>
                </a:solidFill>
                <a:latin typeface="Calibri" pitchFamily="34" charset="0"/>
                <a:ea typeface="Calibri" pitchFamily="34" charset="-122"/>
                <a:cs typeface="Calibri" pitchFamily="34" charset="-120"/>
              </a:rPr>
              <a:t>1</a:t>
            </a:r>
            <a:endParaRPr lang="en-US" sz="1050" dirty="0"/>
          </a:p>
        </p:txBody>
      </p:sp>
      <p:sp>
        <p:nvSpPr>
          <p:cNvPr id="54" name="Shape 52"/>
          <p:cNvSpPr/>
          <p:nvPr/>
        </p:nvSpPr>
        <p:spPr>
          <a:xfrm>
            <a:off x="7644384" y="1837944"/>
            <a:ext cx="1051560" cy="1517904"/>
          </a:xfrm>
          <a:prstGeom prst="roundRect">
            <a:avLst>
              <a:gd name="adj" fmla="val 8696"/>
            </a:avLst>
          </a:prstGeom>
          <a:solidFill>
            <a:srgbClr val="FF4D6D">
              <a:alpha val="12000"/>
            </a:srgbClr>
          </a:solidFill>
          <a:ln w="15875">
            <a:solidFill>
              <a:srgbClr val="FF4D6D"/>
            </a:solidFill>
            <a:prstDash val="solid"/>
          </a:ln>
        </p:spPr>
        <p:txBody>
          <a:bodyPr/>
          <a:lstStyle/>
          <a:p>
            <a:endParaRPr lang="es-CO"/>
          </a:p>
        </p:txBody>
      </p:sp>
      <p:sp>
        <p:nvSpPr>
          <p:cNvPr id="55" name="Text 53"/>
          <p:cNvSpPr txBox="1"/>
          <p:nvPr/>
        </p:nvSpPr>
        <p:spPr>
          <a:xfrm>
            <a:off x="7644384" y="1938528"/>
            <a:ext cx="1051560" cy="822960"/>
          </a:xfrm>
          <a:prstGeom prst="rect">
            <a:avLst/>
          </a:prstGeom>
          <a:noFill/>
          <a:ln/>
        </p:spPr>
        <p:txBody>
          <a:bodyPr wrap="square" lIns="0" tIns="0" rIns="0" bIns="0" rtlCol="0" anchor="ctr"/>
          <a:lstStyle/>
          <a:p>
            <a:pPr marL="0" indent="0" algn="ctr">
              <a:buNone/>
            </a:pPr>
            <a:r>
              <a:rPr lang="en-US" sz="3400" b="1" dirty="0">
                <a:solidFill>
                  <a:srgbClr val="C81E43"/>
                </a:solidFill>
                <a:latin typeface="Calibri" pitchFamily="34" charset="0"/>
                <a:ea typeface="Calibri" pitchFamily="34" charset="-122"/>
                <a:cs typeface="Calibri" pitchFamily="34" charset="-120"/>
              </a:rPr>
              <a:t>≥ 6</a:t>
            </a:r>
            <a:endParaRPr lang="en-US" sz="3400" dirty="0"/>
          </a:p>
        </p:txBody>
      </p:sp>
      <p:sp>
        <p:nvSpPr>
          <p:cNvPr id="56" name="Text 54"/>
          <p:cNvSpPr txBox="1"/>
          <p:nvPr/>
        </p:nvSpPr>
        <p:spPr>
          <a:xfrm>
            <a:off x="7690104" y="2761488"/>
            <a:ext cx="960120" cy="822960"/>
          </a:xfrm>
          <a:prstGeom prst="rect">
            <a:avLst/>
          </a:prstGeom>
          <a:noFill/>
          <a:ln/>
        </p:spPr>
        <p:txBody>
          <a:bodyPr wrap="square" lIns="0" tIns="0" rIns="0" bIns="0" rtlCol="0" anchor="t"/>
          <a:lstStyle/>
          <a:p>
            <a:pPr marL="0" indent="0" algn="ctr">
              <a:buNone/>
            </a:pPr>
            <a:r>
              <a:rPr lang="en-US" sz="1100" dirty="0">
                <a:solidFill>
                  <a:srgbClr val="15193A"/>
                </a:solidFill>
                <a:latin typeface="Calibri" pitchFamily="34" charset="0"/>
                <a:ea typeface="Calibri" pitchFamily="34" charset="-122"/>
                <a:cs typeface="Calibri" pitchFamily="34" charset="-120"/>
              </a:rPr>
              <a:t>de 10</a:t>
            </a:r>
            <a:endParaRPr lang="en-US" sz="1100" dirty="0"/>
          </a:p>
        </p:txBody>
      </p:sp>
      <p:sp>
        <p:nvSpPr>
          <p:cNvPr id="57" name="Shape 55"/>
          <p:cNvSpPr/>
          <p:nvPr/>
        </p:nvSpPr>
        <p:spPr>
          <a:xfrm>
            <a:off x="457200" y="3977640"/>
            <a:ext cx="3447288" cy="731520"/>
          </a:xfrm>
          <a:prstGeom prst="roundRect">
            <a:avLst>
              <a:gd name="adj" fmla="val 12500"/>
            </a:avLst>
          </a:prstGeom>
          <a:solidFill>
            <a:srgbClr val="F1F3FB"/>
          </a:solidFill>
          <a:ln w="9525">
            <a:solidFill>
              <a:srgbClr val="D8DEEF"/>
            </a:solidFill>
            <a:prstDash val="solid"/>
          </a:ln>
        </p:spPr>
        <p:txBody>
          <a:bodyPr/>
          <a:lstStyle/>
          <a:p>
            <a:endParaRPr lang="es-CO"/>
          </a:p>
        </p:txBody>
      </p:sp>
      <p:sp>
        <p:nvSpPr>
          <p:cNvPr id="58" name="Text 56"/>
          <p:cNvSpPr txBox="1"/>
          <p:nvPr/>
        </p:nvSpPr>
        <p:spPr>
          <a:xfrm>
            <a:off x="566927" y="3977640"/>
            <a:ext cx="3173799" cy="731520"/>
          </a:xfrm>
          <a:prstGeom prst="rect">
            <a:avLst/>
          </a:prstGeom>
          <a:noFill/>
          <a:ln/>
        </p:spPr>
        <p:txBody>
          <a:bodyPr wrap="square" lIns="0" tIns="0" rIns="0" bIns="0" rtlCol="0" anchor="ctr"/>
          <a:lstStyle/>
          <a:p>
            <a:pPr marL="0" indent="0" algn="ctr">
              <a:buNone/>
            </a:pPr>
            <a:r>
              <a:rPr lang="en-US" sz="1400" b="1" dirty="0">
                <a:solidFill>
                  <a:srgbClr val="0C8368"/>
                </a:solidFill>
                <a:latin typeface="Calibri" pitchFamily="34" charset="0"/>
                <a:ea typeface="Calibri" pitchFamily="34" charset="-122"/>
                <a:cs typeface="Calibri" pitchFamily="34" charset="-120"/>
              </a:rPr>
              <a:t>Entrada: </a:t>
            </a:r>
            <a:r>
              <a:rPr lang="en-US" sz="1400" dirty="0">
                <a:solidFill>
                  <a:srgbClr val="15193A"/>
                </a:solidFill>
                <a:latin typeface="Calibri" pitchFamily="34" charset="0"/>
                <a:ea typeface="Calibri" pitchFamily="34" charset="-122"/>
                <a:cs typeface="Calibri" pitchFamily="34" charset="-120"/>
              </a:rPr>
              <a:t>≥ 1 articulación con sinovitis clínica y sin otra explicación mejor.</a:t>
            </a:r>
            <a:endParaRPr lang="en-US" sz="1400" dirty="0"/>
          </a:p>
        </p:txBody>
      </p:sp>
      <p:sp>
        <p:nvSpPr>
          <p:cNvPr id="59" name="Shape 57"/>
          <p:cNvSpPr/>
          <p:nvPr/>
        </p:nvSpPr>
        <p:spPr>
          <a:xfrm>
            <a:off x="4832606" y="3936492"/>
            <a:ext cx="2624328" cy="731520"/>
          </a:xfrm>
          <a:prstGeom prst="roundRect">
            <a:avLst>
              <a:gd name="adj" fmla="val 12500"/>
            </a:avLst>
          </a:prstGeom>
          <a:solidFill>
            <a:srgbClr val="F1F3FB"/>
          </a:solidFill>
          <a:ln w="9525">
            <a:solidFill>
              <a:srgbClr val="D8DEEF"/>
            </a:solidFill>
            <a:prstDash val="solid"/>
          </a:ln>
        </p:spPr>
        <p:txBody>
          <a:bodyPr/>
          <a:lstStyle/>
          <a:p>
            <a:endParaRPr lang="es-CO"/>
          </a:p>
        </p:txBody>
      </p:sp>
      <p:sp>
        <p:nvSpPr>
          <p:cNvPr id="60" name="Text 58"/>
          <p:cNvSpPr txBox="1"/>
          <p:nvPr/>
        </p:nvSpPr>
        <p:spPr>
          <a:xfrm>
            <a:off x="4942334" y="3936492"/>
            <a:ext cx="2423160" cy="731520"/>
          </a:xfrm>
          <a:prstGeom prst="rect">
            <a:avLst/>
          </a:prstGeom>
          <a:noFill/>
          <a:ln/>
        </p:spPr>
        <p:txBody>
          <a:bodyPr wrap="square" lIns="0" tIns="0" rIns="0" bIns="0" rtlCol="0" anchor="ctr"/>
          <a:lstStyle/>
          <a:p>
            <a:pPr marL="0" indent="0">
              <a:buNone/>
            </a:pPr>
            <a:r>
              <a:rPr lang="en-US" sz="1100" b="1" dirty="0">
                <a:solidFill>
                  <a:srgbClr val="8A5E00"/>
                </a:solidFill>
                <a:latin typeface="Calibri" pitchFamily="34" charset="0"/>
                <a:ea typeface="Calibri" pitchFamily="34" charset="-122"/>
                <a:cs typeface="Calibri" pitchFamily="34" charset="-120"/>
              </a:rPr>
              <a:t>&lt; 6 puntos </a:t>
            </a:r>
            <a:r>
              <a:rPr lang="en-US" sz="1100" dirty="0">
                <a:solidFill>
                  <a:srgbClr val="15193A"/>
                </a:solidFill>
                <a:latin typeface="Calibri" pitchFamily="34" charset="0"/>
                <a:ea typeface="Calibri" pitchFamily="34" charset="-122"/>
                <a:cs typeface="Calibri" pitchFamily="34" charset="-120"/>
              </a:rPr>
              <a:t>no descarta: puede ser AR temprana que aún no suma.</a:t>
            </a:r>
            <a:endParaRPr lang="en-US" sz="1100" dirty="0"/>
          </a:p>
        </p:txBody>
      </p:sp>
      <p:sp>
        <p:nvSpPr>
          <p:cNvPr id="63"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FF4D6D">
              <a:alpha val="12000"/>
            </a:srgbClr>
          </a:solidFill>
          <a:ln w="15875">
            <a:solidFill>
              <a:srgbClr val="FF4D6D"/>
            </a:solidFill>
            <a:prstDash val="solid"/>
          </a:ln>
        </p:spPr>
        <p:txBody>
          <a:bodyPr/>
          <a:lstStyle/>
          <a:p>
            <a:endParaRPr lang="es-CO"/>
          </a:p>
        </p:txBody>
      </p:sp>
      <p:sp>
        <p:nvSpPr>
          <p:cNvPr id="3" name="Text 1"/>
          <p:cNvSpPr txBox="1"/>
          <p:nvPr/>
        </p:nvSpPr>
        <p:spPr>
          <a:xfrm>
            <a:off x="457200" y="731520"/>
            <a:ext cx="2651760" cy="320040"/>
          </a:xfrm>
          <a:prstGeom prst="rect">
            <a:avLst/>
          </a:prstGeom>
          <a:noFill/>
          <a:ln/>
        </p:spPr>
        <p:txBody>
          <a:bodyPr wrap="square" lIns="0" tIns="0" rIns="0" bIns="0" rtlCol="0" anchor="t"/>
          <a:lstStyle/>
          <a:p>
            <a:pPr marL="0" indent="0" algn="ctr">
              <a:buNone/>
            </a:pPr>
            <a:r>
              <a:rPr lang="en-US" sz="1400" b="1" kern="0" spc="800" dirty="0">
                <a:solidFill>
                  <a:srgbClr val="C81E43"/>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marL="0" indent="0" algn="ctr">
              <a:buNone/>
            </a:pPr>
            <a:r>
              <a:rPr lang="en-US" sz="11000" b="1" dirty="0">
                <a:solidFill>
                  <a:srgbClr val="15193A"/>
                </a:solidFill>
                <a:latin typeface="Calibri" pitchFamily="34" charset="0"/>
                <a:ea typeface="Calibri" pitchFamily="34" charset="-122"/>
                <a:cs typeface="Calibri" pitchFamily="34" charset="-120"/>
              </a:rPr>
              <a:t>06</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marL="0" indent="0" algn="ctr">
              <a:buNone/>
            </a:pPr>
            <a:r>
              <a:rPr lang="en-US" sz="1300" dirty="0">
                <a:solidFill>
                  <a:srgbClr val="474F70"/>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FF4D6D"/>
          </a:solidFill>
          <a:ln w="19050">
            <a:solidFill>
              <a:srgbClr val="FF4D6D"/>
            </a:solidFill>
            <a:prstDash val="solid"/>
          </a:ln>
        </p:spPr>
        <p:txBody>
          <a:bodyPr/>
          <a:lstStyle/>
          <a:p>
            <a:endParaRPr lang="es-CO"/>
          </a:p>
        </p:txBody>
      </p:sp>
      <p:pic>
        <p:nvPicPr>
          <p:cNvPr id="7" name="Image 0" descr="preencoded.png"/>
          <p:cNvPicPr>
            <a:picLocks noChangeAspect="1"/>
          </p:cNvPicPr>
          <p:nvPr/>
        </p:nvPicPr>
        <p:blipFill>
          <a:blip r:embed="rId4"/>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marL="0" indent="0">
              <a:buNone/>
            </a:pPr>
            <a:r>
              <a:rPr lang="en-US" sz="2500" b="1" dirty="0">
                <a:solidFill>
                  <a:srgbClr val="15193A"/>
                </a:solidFill>
                <a:latin typeface="Calibri" pitchFamily="34" charset="0"/>
                <a:ea typeface="Calibri" pitchFamily="34" charset="-122"/>
                <a:cs typeface="Calibri" pitchFamily="34" charset="-120"/>
              </a:rPr>
              <a:t>La oportunidad terapéutica comienza con la primera consulta</a:t>
            </a:r>
            <a:endParaRPr lang="en-US" sz="2500" dirty="0"/>
          </a:p>
        </p:txBody>
      </p:sp>
      <p:sp>
        <p:nvSpPr>
          <p:cNvPr id="9" name="Shape 6"/>
          <p:cNvSpPr/>
          <p:nvPr/>
        </p:nvSpPr>
        <p:spPr>
          <a:xfrm>
            <a:off x="3429000" y="2057400"/>
            <a:ext cx="1097280" cy="0"/>
          </a:xfrm>
          <a:prstGeom prst="line">
            <a:avLst/>
          </a:prstGeom>
          <a:noFill/>
          <a:ln w="38100">
            <a:solidFill>
              <a:srgbClr val="FF4D6D"/>
            </a:solidFill>
            <a:prstDash val="solid"/>
          </a:ln>
        </p:spPr>
        <p:txBody>
          <a:bodyPr/>
          <a:lstStyle/>
          <a:p>
            <a:endParaRPr lang="es-CO"/>
          </a:p>
        </p:txBody>
      </p:sp>
      <p:sp>
        <p:nvSpPr>
          <p:cNvPr id="10" name="Text 7"/>
          <p:cNvSpPr txBox="1"/>
          <p:nvPr/>
        </p:nvSpPr>
        <p:spPr>
          <a:xfrm>
            <a:off x="3429000" y="2240280"/>
            <a:ext cx="5257800" cy="1920240"/>
          </a:xfrm>
          <a:prstGeom prst="rect">
            <a:avLst/>
          </a:prstGeom>
          <a:noFill/>
          <a:ln/>
        </p:spPr>
        <p:txBody>
          <a:bodyPr wrap="square" lIns="0" tIns="0" rIns="0" bIns="0" rtlCol="0" anchor="t"/>
          <a:lstStyle/>
          <a:p>
            <a:pPr marL="0" indent="0" algn="just">
              <a:buNone/>
            </a:pPr>
            <a:r>
              <a:rPr lang="en-US" sz="1500" dirty="0">
                <a:solidFill>
                  <a:srgbClr val="2A3150"/>
                </a:solidFill>
                <a:latin typeface="Calibri" pitchFamily="34" charset="0"/>
                <a:ea typeface="Calibri" pitchFamily="34" charset="-122"/>
                <a:cs typeface="Calibri" pitchFamily="34" charset="-120"/>
              </a:rPr>
              <a:t>Ante artritis inflamatoria reciente, procura valoración por reumatología dentro de las primeras seis semanas desde el inicio de los síntomas. Solicita estudios mientras gestionas la remisión. Una radiografía normal es compatible con AR temprana; la ecografía puede ayudar cuando la exploración es dudosa.</a:t>
            </a:r>
            <a:endParaRPr lang="en-US" sz="1500" dirty="0"/>
          </a:p>
        </p:txBody>
      </p:sp>
      <p:sp>
        <p:nvSpPr>
          <p:cNvPr id="11" name="Text 8"/>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[7] Combe B, et al. Ann Rheum Dis 2017 · [3] NICE NG100, 2018 · [1] Smolen JS, et al. JAMA 2026</a:t>
            </a:r>
            <a:endParaRPr lang="en-US" sz="8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FF4D6D"/>
          </a:solidFill>
          <a:ln w="12700">
            <a:solidFill>
              <a:srgbClr val="FF4D6D"/>
            </a:solidFill>
            <a:prstDash val="solid"/>
          </a:ln>
        </p:spPr>
        <p:txBody>
          <a:bodyPr/>
          <a:lstStyle/>
          <a:p>
            <a:endParaRPr lang="es-CO"/>
          </a:p>
        </p:txBody>
      </p:sp>
      <p:sp>
        <p:nvSpPr>
          <p:cNvPr id="3" name="Text 1"/>
          <p:cNvSpPr txBox="1"/>
          <p:nvPr/>
        </p:nvSpPr>
        <p:spPr>
          <a:xfrm>
            <a:off x="685800" y="219456"/>
            <a:ext cx="7772400" cy="256032"/>
          </a:xfrm>
          <a:prstGeom prst="rect">
            <a:avLst/>
          </a:prstGeom>
          <a:noFill/>
          <a:ln/>
        </p:spPr>
        <p:txBody>
          <a:bodyPr wrap="square" lIns="0" tIns="0" rIns="0" bIns="0" rtlCol="0" anchor="ctr"/>
          <a:lstStyle/>
          <a:p>
            <a:pPr marL="0" indent="0">
              <a:buNone/>
            </a:pPr>
            <a:r>
              <a:rPr lang="en-US" sz="1050" b="1" kern="0" spc="400" dirty="0">
                <a:solidFill>
                  <a:srgbClr val="C81E43"/>
                </a:solidFill>
                <a:latin typeface="Calibri" pitchFamily="34" charset="0"/>
                <a:ea typeface="Calibri" pitchFamily="34" charset="-122"/>
                <a:cs typeface="Calibri" pitchFamily="34" charset="-120"/>
              </a:rPr>
              <a:t>PERLA 6 · RELOJ DE LA ARTRITIS TEMPRANA</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600" b="1" dirty="0">
                <a:solidFill>
                  <a:srgbClr val="15193A"/>
                </a:solidFill>
                <a:latin typeface="Calibri" pitchFamily="34" charset="0"/>
                <a:ea typeface="Calibri" pitchFamily="34" charset="-122"/>
                <a:cs typeface="Calibri" pitchFamily="34" charset="-120"/>
              </a:rPr>
              <a:t>De los síntomas al reumatólogo en 6 semanas</a:t>
            </a:r>
            <a:endParaRPr lang="en-US" sz="2600" dirty="0"/>
          </a:p>
        </p:txBody>
      </p:sp>
      <p:sp>
        <p:nvSpPr>
          <p:cNvPr id="5" name="Text 3"/>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[7] Combe B, et al. Ann Rheum Dis 2017 · [4] NICE QS33 · [1] Smolen JS, et al. JAMA 2026</a:t>
            </a:r>
            <a:endParaRPr lang="en-US" sz="850" dirty="0"/>
          </a:p>
        </p:txBody>
      </p:sp>
      <p:sp>
        <p:nvSpPr>
          <p:cNvPr id="6" name="Shape 4"/>
          <p:cNvSpPr/>
          <p:nvPr/>
        </p:nvSpPr>
        <p:spPr>
          <a:xfrm>
            <a:off x="822960" y="1828800"/>
            <a:ext cx="6995160" cy="0"/>
          </a:xfrm>
          <a:prstGeom prst="line">
            <a:avLst/>
          </a:prstGeom>
          <a:noFill/>
          <a:ln w="50800">
            <a:solidFill>
              <a:srgbClr val="CED5EA"/>
            </a:solidFill>
            <a:prstDash val="solid"/>
          </a:ln>
        </p:spPr>
        <p:txBody>
          <a:bodyPr/>
          <a:lstStyle/>
          <a:p>
            <a:endParaRPr lang="es-CO"/>
          </a:p>
        </p:txBody>
      </p:sp>
      <p:sp>
        <p:nvSpPr>
          <p:cNvPr id="7" name="Shape 5"/>
          <p:cNvSpPr/>
          <p:nvPr/>
        </p:nvSpPr>
        <p:spPr>
          <a:xfrm>
            <a:off x="667512" y="1673352"/>
            <a:ext cx="310896" cy="310896"/>
          </a:xfrm>
          <a:prstGeom prst="ellipse">
            <a:avLst/>
          </a:prstGeom>
          <a:solidFill>
            <a:srgbClr val="AEB6DA"/>
          </a:solidFill>
          <a:ln w="25400">
            <a:solidFill>
              <a:srgbClr val="D8DEEF"/>
            </a:solidFill>
            <a:prstDash val="solid"/>
          </a:ln>
        </p:spPr>
        <p:txBody>
          <a:bodyPr/>
          <a:lstStyle/>
          <a:p>
            <a:endParaRPr lang="es-CO"/>
          </a:p>
        </p:txBody>
      </p:sp>
      <p:sp>
        <p:nvSpPr>
          <p:cNvPr id="8" name="Text 6"/>
          <p:cNvSpPr txBox="1"/>
          <p:nvPr/>
        </p:nvSpPr>
        <p:spPr>
          <a:xfrm>
            <a:off x="-91440" y="1188720"/>
            <a:ext cx="1828800" cy="365760"/>
          </a:xfrm>
          <a:prstGeom prst="rect">
            <a:avLst/>
          </a:prstGeom>
          <a:noFill/>
          <a:ln/>
        </p:spPr>
        <p:txBody>
          <a:bodyPr wrap="square" lIns="0" tIns="0" rIns="0" bIns="0" rtlCol="0" anchor="t"/>
          <a:lstStyle/>
          <a:p>
            <a:pPr marL="0" indent="0" algn="ctr">
              <a:buNone/>
            </a:pPr>
            <a:r>
              <a:rPr lang="en-US" sz="1300" b="1" dirty="0">
                <a:solidFill>
                  <a:srgbClr val="474F70"/>
                </a:solidFill>
                <a:latin typeface="Calibri" pitchFamily="34" charset="0"/>
                <a:ea typeface="Calibri" pitchFamily="34" charset="-122"/>
                <a:cs typeface="Calibri" pitchFamily="34" charset="-120"/>
              </a:rPr>
              <a:t>Semana 0</a:t>
            </a:r>
            <a:endParaRPr lang="en-US" sz="1300" dirty="0"/>
          </a:p>
        </p:txBody>
      </p:sp>
      <p:sp>
        <p:nvSpPr>
          <p:cNvPr id="9" name="Text 7"/>
          <p:cNvSpPr txBox="1"/>
          <p:nvPr/>
        </p:nvSpPr>
        <p:spPr>
          <a:xfrm>
            <a:off x="-91440" y="2103120"/>
            <a:ext cx="1828800" cy="548640"/>
          </a:xfrm>
          <a:prstGeom prst="rect">
            <a:avLst/>
          </a:prstGeom>
          <a:noFill/>
          <a:ln/>
        </p:spPr>
        <p:txBody>
          <a:bodyPr wrap="square" lIns="0" tIns="0" rIns="0" bIns="0" rtlCol="0" anchor="t"/>
          <a:lstStyle/>
          <a:p>
            <a:pPr marL="0" indent="0" algn="ctr">
              <a:buNone/>
            </a:pPr>
            <a:r>
              <a:rPr lang="en-US" sz="1050" dirty="0">
                <a:solidFill>
                  <a:srgbClr val="15193A"/>
                </a:solidFill>
                <a:latin typeface="Calibri" pitchFamily="34" charset="0"/>
                <a:ea typeface="Calibri" pitchFamily="34" charset="-122"/>
                <a:cs typeface="Calibri" pitchFamily="34" charset="-120"/>
              </a:rPr>
              <a:t>Inicio de síntomas</a:t>
            </a:r>
            <a:endParaRPr lang="en-US" sz="1050" dirty="0"/>
          </a:p>
        </p:txBody>
      </p:sp>
      <p:sp>
        <p:nvSpPr>
          <p:cNvPr id="10" name="Shape 8"/>
          <p:cNvSpPr/>
          <p:nvPr/>
        </p:nvSpPr>
        <p:spPr>
          <a:xfrm>
            <a:off x="2770632" y="1673352"/>
            <a:ext cx="310896" cy="310896"/>
          </a:xfrm>
          <a:prstGeom prst="ellipse">
            <a:avLst/>
          </a:prstGeom>
          <a:solidFill>
            <a:srgbClr val="FFB703"/>
          </a:solidFill>
          <a:ln w="25400">
            <a:solidFill>
              <a:srgbClr val="D8DEEF"/>
            </a:solidFill>
            <a:prstDash val="solid"/>
          </a:ln>
        </p:spPr>
        <p:txBody>
          <a:bodyPr/>
          <a:lstStyle/>
          <a:p>
            <a:endParaRPr lang="es-CO"/>
          </a:p>
        </p:txBody>
      </p:sp>
      <p:sp>
        <p:nvSpPr>
          <p:cNvPr id="11" name="Text 9"/>
          <p:cNvSpPr txBox="1"/>
          <p:nvPr/>
        </p:nvSpPr>
        <p:spPr>
          <a:xfrm>
            <a:off x="2011680" y="1188720"/>
            <a:ext cx="1828800" cy="365760"/>
          </a:xfrm>
          <a:prstGeom prst="rect">
            <a:avLst/>
          </a:prstGeom>
          <a:noFill/>
          <a:ln/>
        </p:spPr>
        <p:txBody>
          <a:bodyPr wrap="square" lIns="0" tIns="0" rIns="0" bIns="0" rtlCol="0" anchor="t"/>
          <a:lstStyle/>
          <a:p>
            <a:pPr marL="0" indent="0" algn="ctr">
              <a:buNone/>
            </a:pPr>
            <a:r>
              <a:rPr lang="en-US" sz="1300" b="1" dirty="0">
                <a:solidFill>
                  <a:srgbClr val="8A5E00"/>
                </a:solidFill>
                <a:latin typeface="Calibri" pitchFamily="34" charset="0"/>
                <a:ea typeface="Calibri" pitchFamily="34" charset="-122"/>
                <a:cs typeface="Calibri" pitchFamily="34" charset="-120"/>
              </a:rPr>
              <a:t>Primera consulta</a:t>
            </a:r>
            <a:endParaRPr lang="en-US" sz="1300" dirty="0"/>
          </a:p>
        </p:txBody>
      </p:sp>
      <p:sp>
        <p:nvSpPr>
          <p:cNvPr id="12" name="Text 10"/>
          <p:cNvSpPr txBox="1"/>
          <p:nvPr/>
        </p:nvSpPr>
        <p:spPr>
          <a:xfrm>
            <a:off x="2011680" y="2103120"/>
            <a:ext cx="1828800" cy="548640"/>
          </a:xfrm>
          <a:prstGeom prst="rect">
            <a:avLst/>
          </a:prstGeom>
          <a:noFill/>
          <a:ln/>
        </p:spPr>
        <p:txBody>
          <a:bodyPr wrap="square" lIns="0" tIns="0" rIns="0" bIns="0" rtlCol="0" anchor="t"/>
          <a:lstStyle/>
          <a:p>
            <a:pPr marL="0" indent="0" algn="ctr">
              <a:buNone/>
            </a:pPr>
            <a:r>
              <a:rPr lang="en-US" sz="1050" dirty="0">
                <a:solidFill>
                  <a:srgbClr val="15193A"/>
                </a:solidFill>
                <a:latin typeface="Calibri" pitchFamily="34" charset="0"/>
                <a:ea typeface="Calibri" pitchFamily="34" charset="-122"/>
                <a:cs typeface="Calibri" pitchFamily="34" charset="-120"/>
              </a:rPr>
              <a:t>Sospecha de sinovitis → remitir y pedir estudios</a:t>
            </a:r>
            <a:endParaRPr lang="en-US" sz="1050" dirty="0"/>
          </a:p>
        </p:txBody>
      </p:sp>
      <p:sp>
        <p:nvSpPr>
          <p:cNvPr id="13" name="Shape 11"/>
          <p:cNvSpPr/>
          <p:nvPr/>
        </p:nvSpPr>
        <p:spPr>
          <a:xfrm>
            <a:off x="5148072" y="1673352"/>
            <a:ext cx="310896" cy="310896"/>
          </a:xfrm>
          <a:prstGeom prst="ellipse">
            <a:avLst/>
          </a:prstGeom>
          <a:solidFill>
            <a:srgbClr val="FFB703"/>
          </a:solidFill>
          <a:ln w="25400">
            <a:solidFill>
              <a:srgbClr val="D8DEEF"/>
            </a:solidFill>
            <a:prstDash val="solid"/>
          </a:ln>
        </p:spPr>
        <p:txBody>
          <a:bodyPr/>
          <a:lstStyle/>
          <a:p>
            <a:endParaRPr lang="es-CO"/>
          </a:p>
        </p:txBody>
      </p:sp>
      <p:sp>
        <p:nvSpPr>
          <p:cNvPr id="14" name="Text 12"/>
          <p:cNvSpPr txBox="1"/>
          <p:nvPr/>
        </p:nvSpPr>
        <p:spPr>
          <a:xfrm>
            <a:off x="4389120" y="1188720"/>
            <a:ext cx="1828800" cy="365760"/>
          </a:xfrm>
          <a:prstGeom prst="rect">
            <a:avLst/>
          </a:prstGeom>
          <a:noFill/>
          <a:ln/>
        </p:spPr>
        <p:txBody>
          <a:bodyPr wrap="square" lIns="0" tIns="0" rIns="0" bIns="0" rtlCol="0" anchor="t"/>
          <a:lstStyle/>
          <a:p>
            <a:pPr marL="0" indent="0" algn="ctr">
              <a:buNone/>
            </a:pPr>
            <a:r>
              <a:rPr lang="en-US" sz="1300" b="1" dirty="0">
                <a:solidFill>
                  <a:srgbClr val="8A5E00"/>
                </a:solidFill>
                <a:latin typeface="Calibri" pitchFamily="34" charset="0"/>
                <a:ea typeface="Calibri" pitchFamily="34" charset="-122"/>
                <a:cs typeface="Calibri" pitchFamily="34" charset="-120"/>
              </a:rPr>
              <a:t>Remisión</a:t>
            </a:r>
            <a:endParaRPr lang="en-US" sz="1300" dirty="0"/>
          </a:p>
        </p:txBody>
      </p:sp>
      <p:sp>
        <p:nvSpPr>
          <p:cNvPr id="15" name="Text 13"/>
          <p:cNvSpPr txBox="1"/>
          <p:nvPr/>
        </p:nvSpPr>
        <p:spPr>
          <a:xfrm>
            <a:off x="4389120" y="2103120"/>
            <a:ext cx="1828800" cy="548640"/>
          </a:xfrm>
          <a:prstGeom prst="rect">
            <a:avLst/>
          </a:prstGeom>
          <a:noFill/>
          <a:ln/>
        </p:spPr>
        <p:txBody>
          <a:bodyPr wrap="square" lIns="0" tIns="0" rIns="0" bIns="0" rtlCol="0" anchor="t"/>
          <a:lstStyle/>
          <a:p>
            <a:pPr marL="0" indent="0" algn="ctr">
              <a:buNone/>
            </a:pPr>
            <a:r>
              <a:rPr lang="en-US" sz="1050" dirty="0">
                <a:solidFill>
                  <a:srgbClr val="15193A"/>
                </a:solidFill>
                <a:latin typeface="Calibri" pitchFamily="34" charset="0"/>
                <a:ea typeface="Calibri" pitchFamily="34" charset="-122"/>
                <a:cs typeface="Calibri" pitchFamily="34" charset="-120"/>
              </a:rPr>
              <a:t>NICE: en ≤ 3 días hábiles</a:t>
            </a:r>
            <a:endParaRPr lang="en-US" sz="1050" dirty="0"/>
          </a:p>
        </p:txBody>
      </p:sp>
      <p:sp>
        <p:nvSpPr>
          <p:cNvPr id="16" name="Shape 14"/>
          <p:cNvSpPr/>
          <p:nvPr/>
        </p:nvSpPr>
        <p:spPr>
          <a:xfrm>
            <a:off x="7662672" y="1673352"/>
            <a:ext cx="310896" cy="310896"/>
          </a:xfrm>
          <a:prstGeom prst="ellipse">
            <a:avLst/>
          </a:prstGeom>
          <a:solidFill>
            <a:srgbClr val="FF4D6D"/>
          </a:solidFill>
          <a:ln w="25400">
            <a:solidFill>
              <a:srgbClr val="D8DEEF"/>
            </a:solidFill>
            <a:prstDash val="solid"/>
          </a:ln>
        </p:spPr>
        <p:txBody>
          <a:bodyPr/>
          <a:lstStyle/>
          <a:p>
            <a:endParaRPr lang="es-CO"/>
          </a:p>
        </p:txBody>
      </p:sp>
      <p:sp>
        <p:nvSpPr>
          <p:cNvPr id="17" name="Text 15"/>
          <p:cNvSpPr txBox="1"/>
          <p:nvPr/>
        </p:nvSpPr>
        <p:spPr>
          <a:xfrm>
            <a:off x="6903720" y="1188720"/>
            <a:ext cx="1828800" cy="365760"/>
          </a:xfrm>
          <a:prstGeom prst="rect">
            <a:avLst/>
          </a:prstGeom>
          <a:noFill/>
          <a:ln/>
        </p:spPr>
        <p:txBody>
          <a:bodyPr wrap="square" lIns="0" tIns="0" rIns="0" bIns="0" rtlCol="0" anchor="t"/>
          <a:lstStyle/>
          <a:p>
            <a:pPr marL="0" indent="0" algn="ctr">
              <a:buNone/>
            </a:pPr>
            <a:r>
              <a:rPr lang="en-US" sz="1300" b="1" dirty="0">
                <a:solidFill>
                  <a:srgbClr val="C81E43"/>
                </a:solidFill>
                <a:latin typeface="Calibri" pitchFamily="34" charset="0"/>
                <a:ea typeface="Calibri" pitchFamily="34" charset="-122"/>
                <a:cs typeface="Calibri" pitchFamily="34" charset="-120"/>
              </a:rPr>
              <a:t>Semana 6</a:t>
            </a:r>
            <a:endParaRPr lang="en-US" sz="1300" dirty="0"/>
          </a:p>
        </p:txBody>
      </p:sp>
      <p:sp>
        <p:nvSpPr>
          <p:cNvPr id="18" name="Text 16"/>
          <p:cNvSpPr txBox="1"/>
          <p:nvPr/>
        </p:nvSpPr>
        <p:spPr>
          <a:xfrm>
            <a:off x="6903720" y="2103120"/>
            <a:ext cx="1828800" cy="548640"/>
          </a:xfrm>
          <a:prstGeom prst="rect">
            <a:avLst/>
          </a:prstGeom>
          <a:noFill/>
          <a:ln/>
        </p:spPr>
        <p:txBody>
          <a:bodyPr wrap="square" lIns="0" tIns="0" rIns="0" bIns="0" rtlCol="0" anchor="t"/>
          <a:lstStyle/>
          <a:p>
            <a:pPr marL="0" indent="0" algn="ctr">
              <a:buNone/>
            </a:pPr>
            <a:r>
              <a:rPr lang="en-US" sz="1050" dirty="0">
                <a:solidFill>
                  <a:srgbClr val="15193A"/>
                </a:solidFill>
                <a:latin typeface="Calibri" pitchFamily="34" charset="0"/>
                <a:ea typeface="Calibri" pitchFamily="34" charset="-122"/>
                <a:cs typeface="Calibri" pitchFamily="34" charset="-120"/>
              </a:rPr>
              <a:t>Valoración por reumatología (EULAR)</a:t>
            </a:r>
            <a:endParaRPr lang="en-US" sz="1050" dirty="0"/>
          </a:p>
        </p:txBody>
      </p:sp>
      <p:sp>
        <p:nvSpPr>
          <p:cNvPr id="19" name="Shape 17"/>
          <p:cNvSpPr/>
          <p:nvPr/>
        </p:nvSpPr>
        <p:spPr>
          <a:xfrm>
            <a:off x="457200" y="2834640"/>
            <a:ext cx="4023360" cy="1874520"/>
          </a:xfrm>
          <a:prstGeom prst="roundRect">
            <a:avLst>
              <a:gd name="adj" fmla="val 4878"/>
            </a:avLst>
          </a:prstGeom>
          <a:solidFill>
            <a:srgbClr val="F1F3FB"/>
          </a:solidFill>
          <a:ln w="9525">
            <a:solidFill>
              <a:srgbClr val="D8DEEF"/>
            </a:solidFill>
            <a:prstDash val="solid"/>
          </a:ln>
        </p:spPr>
        <p:txBody>
          <a:bodyPr/>
          <a:lstStyle/>
          <a:p>
            <a:endParaRPr lang="es-CO"/>
          </a:p>
        </p:txBody>
      </p:sp>
      <p:sp>
        <p:nvSpPr>
          <p:cNvPr id="20" name="Text 18"/>
          <p:cNvSpPr txBox="1"/>
          <p:nvPr/>
        </p:nvSpPr>
        <p:spPr>
          <a:xfrm>
            <a:off x="640080" y="2907792"/>
            <a:ext cx="3657600" cy="320040"/>
          </a:xfrm>
          <a:prstGeom prst="rect">
            <a:avLst/>
          </a:prstGeom>
          <a:noFill/>
          <a:ln/>
        </p:spPr>
        <p:txBody>
          <a:bodyPr wrap="square" lIns="0" tIns="0" rIns="0" bIns="0" rtlCol="0" anchor="t"/>
          <a:lstStyle/>
          <a:p>
            <a:pPr marL="0" indent="0">
              <a:buNone/>
            </a:pPr>
            <a:r>
              <a:rPr lang="en-US" sz="1350" b="1" dirty="0">
                <a:solidFill>
                  <a:srgbClr val="8A5E00"/>
                </a:solidFill>
                <a:latin typeface="Calibri" pitchFamily="34" charset="0"/>
                <a:ea typeface="Calibri" pitchFamily="34" charset="-122"/>
                <a:cs typeface="Calibri" pitchFamily="34" charset="-120"/>
              </a:rPr>
              <a:t>Estudios mientras remites</a:t>
            </a:r>
            <a:endParaRPr lang="en-US" sz="1350" dirty="0"/>
          </a:p>
        </p:txBody>
      </p:sp>
      <p:sp>
        <p:nvSpPr>
          <p:cNvPr id="21" name="Text 19"/>
          <p:cNvSpPr txBox="1"/>
          <p:nvPr/>
        </p:nvSpPr>
        <p:spPr>
          <a:xfrm>
            <a:off x="640080" y="3246120"/>
            <a:ext cx="3703320" cy="1417320"/>
          </a:xfrm>
          <a:prstGeom prst="rect">
            <a:avLst/>
          </a:prstGeom>
          <a:noFill/>
          <a:ln/>
        </p:spPr>
        <p:txBody>
          <a:bodyPr wrap="square" lIns="0" tIns="0" rIns="0" bIns="0" rtlCol="0" anchor="t"/>
          <a:lstStyle/>
          <a:p>
            <a:pPr marL="165100" indent="-165100">
              <a:spcAft>
                <a:spcPts val="400"/>
              </a:spcAft>
              <a:buSzPct val="100000"/>
              <a:buChar char="•"/>
            </a:pPr>
            <a:r>
              <a:rPr lang="en-US" sz="1150" dirty="0">
                <a:solidFill>
                  <a:srgbClr val="15193A"/>
                </a:solidFill>
                <a:latin typeface="Calibri" pitchFamily="34" charset="0"/>
                <a:ea typeface="Calibri" pitchFamily="34" charset="-122"/>
                <a:cs typeface="Calibri" pitchFamily="34" charset="-120"/>
              </a:rPr>
              <a:t>Hemograma, VSG y PCR</a:t>
            </a:r>
            <a:endParaRPr lang="en-US" sz="1150" dirty="0"/>
          </a:p>
          <a:p>
            <a:pPr marL="165100" indent="-165100">
              <a:spcAft>
                <a:spcPts val="400"/>
              </a:spcAft>
              <a:buSzPct val="100000"/>
              <a:buChar char="•"/>
            </a:pPr>
            <a:r>
              <a:rPr lang="en-US" sz="1150" dirty="0">
                <a:solidFill>
                  <a:srgbClr val="15193A"/>
                </a:solidFill>
                <a:latin typeface="Calibri" pitchFamily="34" charset="0"/>
                <a:ea typeface="Calibri" pitchFamily="34" charset="-122"/>
                <a:cs typeface="Calibri" pitchFamily="34" charset="-120"/>
              </a:rPr>
              <a:t>Factor reumatoide y anti-CCP</a:t>
            </a:r>
            <a:endParaRPr lang="en-US" sz="1150" dirty="0"/>
          </a:p>
          <a:p>
            <a:pPr marL="165100" indent="-165100">
              <a:spcAft>
                <a:spcPts val="400"/>
              </a:spcAft>
              <a:buSzPct val="100000"/>
              <a:buChar char="•"/>
            </a:pPr>
            <a:r>
              <a:rPr lang="en-US" sz="1150" dirty="0">
                <a:solidFill>
                  <a:srgbClr val="15193A"/>
                </a:solidFill>
                <a:latin typeface="Calibri" pitchFamily="34" charset="0"/>
                <a:ea typeface="Calibri" pitchFamily="34" charset="-122"/>
                <a:cs typeface="Calibri" pitchFamily="34" charset="-120"/>
              </a:rPr>
              <a:t>Función renal y hepática (pensando en el tratamiento)</a:t>
            </a:r>
            <a:endParaRPr lang="en-US" sz="1150" dirty="0"/>
          </a:p>
          <a:p>
            <a:pPr marL="165100" indent="-165100">
              <a:spcAft>
                <a:spcPts val="400"/>
              </a:spcAft>
              <a:buSzPct val="100000"/>
              <a:buChar char="•"/>
            </a:pPr>
            <a:r>
              <a:rPr lang="en-US" sz="1150" dirty="0">
                <a:solidFill>
                  <a:srgbClr val="15193A"/>
                </a:solidFill>
                <a:latin typeface="Calibri" pitchFamily="34" charset="0"/>
                <a:ea typeface="Calibri" pitchFamily="34" charset="-122"/>
                <a:cs typeface="Calibri" pitchFamily="34" charset="-120"/>
              </a:rPr>
              <a:t>Radiografía de manos y pies</a:t>
            </a:r>
            <a:endParaRPr lang="en-US" sz="1150" dirty="0"/>
          </a:p>
        </p:txBody>
      </p:sp>
      <p:sp>
        <p:nvSpPr>
          <p:cNvPr id="22" name="Shape 20"/>
          <p:cNvSpPr/>
          <p:nvPr/>
        </p:nvSpPr>
        <p:spPr>
          <a:xfrm>
            <a:off x="4663440" y="2834640"/>
            <a:ext cx="4023360" cy="1874520"/>
          </a:xfrm>
          <a:prstGeom prst="roundRect">
            <a:avLst>
              <a:gd name="adj" fmla="val 4878"/>
            </a:avLst>
          </a:prstGeom>
          <a:solidFill>
            <a:srgbClr val="F1F3FB"/>
          </a:solidFill>
          <a:ln w="9525">
            <a:solidFill>
              <a:srgbClr val="D8DEEF"/>
            </a:solidFill>
            <a:prstDash val="solid"/>
          </a:ln>
        </p:spPr>
        <p:txBody>
          <a:bodyPr/>
          <a:lstStyle/>
          <a:p>
            <a:endParaRPr lang="es-CO"/>
          </a:p>
        </p:txBody>
      </p:sp>
      <p:sp>
        <p:nvSpPr>
          <p:cNvPr id="23" name="Text 21"/>
          <p:cNvSpPr txBox="1"/>
          <p:nvPr/>
        </p:nvSpPr>
        <p:spPr>
          <a:xfrm>
            <a:off x="4846320" y="2907792"/>
            <a:ext cx="3657600" cy="320040"/>
          </a:xfrm>
          <a:prstGeom prst="rect">
            <a:avLst/>
          </a:prstGeom>
          <a:noFill/>
          <a:ln/>
        </p:spPr>
        <p:txBody>
          <a:bodyPr wrap="square" lIns="0" tIns="0" rIns="0" bIns="0" rtlCol="0" anchor="t"/>
          <a:lstStyle/>
          <a:p>
            <a:pPr marL="0" indent="0">
              <a:buNone/>
            </a:pPr>
            <a:r>
              <a:rPr lang="en-US" sz="1350" b="1" dirty="0">
                <a:solidFill>
                  <a:srgbClr val="0A6F98"/>
                </a:solidFill>
                <a:latin typeface="Calibri" pitchFamily="34" charset="0"/>
                <a:ea typeface="Calibri" pitchFamily="34" charset="-122"/>
                <a:cs typeface="Calibri" pitchFamily="34" charset="-120"/>
              </a:rPr>
              <a:t>Imagen: qué esperar</a:t>
            </a:r>
            <a:endParaRPr lang="en-US" sz="1350" dirty="0"/>
          </a:p>
        </p:txBody>
      </p:sp>
      <p:sp>
        <p:nvSpPr>
          <p:cNvPr id="24" name="Text 22"/>
          <p:cNvSpPr txBox="1"/>
          <p:nvPr/>
        </p:nvSpPr>
        <p:spPr>
          <a:xfrm>
            <a:off x="4846320" y="3246120"/>
            <a:ext cx="3703320" cy="1417320"/>
          </a:xfrm>
          <a:prstGeom prst="rect">
            <a:avLst/>
          </a:prstGeom>
          <a:noFill/>
          <a:ln/>
        </p:spPr>
        <p:txBody>
          <a:bodyPr wrap="square" lIns="0" tIns="0" rIns="0" bIns="0" rtlCol="0" anchor="t"/>
          <a:lstStyle/>
          <a:p>
            <a:pPr marL="165100" indent="-165100">
              <a:spcAft>
                <a:spcPts val="400"/>
              </a:spcAft>
              <a:buSzPct val="100000"/>
              <a:buChar char="•"/>
            </a:pPr>
            <a:r>
              <a:rPr lang="en-US" sz="1150" b="1" dirty="0">
                <a:solidFill>
                  <a:srgbClr val="0A6F98"/>
                </a:solidFill>
                <a:latin typeface="Calibri" pitchFamily="34" charset="0"/>
                <a:ea typeface="Calibri" pitchFamily="34" charset="-122"/>
                <a:cs typeface="Calibri" pitchFamily="34" charset="-120"/>
              </a:rPr>
              <a:t>Radiografía normal </a:t>
            </a:r>
            <a:r>
              <a:rPr lang="en-US" sz="1150" dirty="0">
                <a:solidFill>
                  <a:srgbClr val="15193A"/>
                </a:solidFill>
                <a:latin typeface="Calibri" pitchFamily="34" charset="0"/>
                <a:ea typeface="Calibri" pitchFamily="34" charset="-122"/>
                <a:cs typeface="Calibri" pitchFamily="34" charset="-120"/>
              </a:rPr>
              <a:t>es lo habitual en la AR temprana; no descarta</a:t>
            </a:r>
            <a:endParaRPr lang="en-US" sz="1150" dirty="0"/>
          </a:p>
          <a:p>
            <a:pPr marL="165100" indent="-165100">
              <a:spcAft>
                <a:spcPts val="400"/>
              </a:spcAft>
              <a:buSzPct val="100000"/>
              <a:buChar char="•"/>
            </a:pPr>
            <a:r>
              <a:rPr lang="en-US" sz="1150" b="1" dirty="0">
                <a:solidFill>
                  <a:srgbClr val="0A6F98"/>
                </a:solidFill>
                <a:latin typeface="Calibri" pitchFamily="34" charset="0"/>
                <a:ea typeface="Calibri" pitchFamily="34" charset="-122"/>
                <a:cs typeface="Calibri" pitchFamily="34" charset="-120"/>
              </a:rPr>
              <a:t>Ecografía </a:t>
            </a:r>
            <a:r>
              <a:rPr lang="en-US" sz="1150" dirty="0">
                <a:solidFill>
                  <a:srgbClr val="15193A"/>
                </a:solidFill>
                <a:latin typeface="Calibri" pitchFamily="34" charset="0"/>
                <a:ea typeface="Calibri" pitchFamily="34" charset="-122"/>
                <a:cs typeface="Calibri" pitchFamily="34" charset="-120"/>
              </a:rPr>
              <a:t>útil cuando la exploración es dudosa (detecta sinovitis y tenosinovitis)</a:t>
            </a:r>
            <a:endParaRPr lang="en-US" sz="1150" dirty="0"/>
          </a:p>
          <a:p>
            <a:pPr marL="165100" indent="-165100">
              <a:spcAft>
                <a:spcPts val="400"/>
              </a:spcAft>
              <a:buSzPct val="100000"/>
              <a:buChar char="•"/>
            </a:pPr>
            <a:r>
              <a:rPr lang="en-US" sz="1150" b="1" dirty="0">
                <a:solidFill>
                  <a:srgbClr val="0A6F98"/>
                </a:solidFill>
                <a:latin typeface="Calibri" pitchFamily="34" charset="0"/>
                <a:ea typeface="Calibri" pitchFamily="34" charset="-122"/>
                <a:cs typeface="Calibri" pitchFamily="34" charset="-120"/>
              </a:rPr>
              <a:t>La radiografía basal </a:t>
            </a:r>
            <a:r>
              <a:rPr lang="en-US" sz="1150" dirty="0">
                <a:solidFill>
                  <a:srgbClr val="15193A"/>
                </a:solidFill>
                <a:latin typeface="Calibri" pitchFamily="34" charset="0"/>
                <a:ea typeface="Calibri" pitchFamily="34" charset="-122"/>
                <a:cs typeface="Calibri" pitchFamily="34" charset="-120"/>
              </a:rPr>
              <a:t>sirve para comparar la progresión</a:t>
            </a:r>
            <a:endParaRPr lang="en-US" sz="11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FF4D6D">
              <a:alpha val="12000"/>
            </a:srgbClr>
          </a:solidFill>
          <a:ln w="15875">
            <a:solidFill>
              <a:srgbClr val="FF4D6D"/>
            </a:solidFill>
            <a:prstDash val="solid"/>
          </a:ln>
        </p:spPr>
        <p:txBody>
          <a:bodyPr/>
          <a:lstStyle/>
          <a:p>
            <a:endParaRPr lang="es-CO"/>
          </a:p>
        </p:txBody>
      </p:sp>
      <p:sp>
        <p:nvSpPr>
          <p:cNvPr id="3" name="Text 1"/>
          <p:cNvSpPr txBox="1"/>
          <p:nvPr/>
        </p:nvSpPr>
        <p:spPr>
          <a:xfrm>
            <a:off x="457200" y="731520"/>
            <a:ext cx="2651760" cy="320040"/>
          </a:xfrm>
          <a:prstGeom prst="rect">
            <a:avLst/>
          </a:prstGeom>
          <a:noFill/>
          <a:ln/>
        </p:spPr>
        <p:txBody>
          <a:bodyPr wrap="square" lIns="0" tIns="0" rIns="0" bIns="0" rtlCol="0" anchor="t"/>
          <a:lstStyle/>
          <a:p>
            <a:pPr marL="0" indent="0" algn="ctr">
              <a:buNone/>
            </a:pPr>
            <a:r>
              <a:rPr lang="en-US" sz="1400" b="1" kern="0" spc="800" dirty="0">
                <a:solidFill>
                  <a:srgbClr val="C81E43"/>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marL="0" indent="0" algn="ctr">
              <a:buNone/>
            </a:pPr>
            <a:r>
              <a:rPr lang="en-US" sz="11000" b="1" dirty="0">
                <a:solidFill>
                  <a:srgbClr val="15193A"/>
                </a:solidFill>
                <a:latin typeface="Calibri" pitchFamily="34" charset="0"/>
                <a:ea typeface="Calibri" pitchFamily="34" charset="-122"/>
                <a:cs typeface="Calibri" pitchFamily="34" charset="-120"/>
              </a:rPr>
              <a:t>07</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marL="0" indent="0" algn="ctr">
              <a:buNone/>
            </a:pPr>
            <a:r>
              <a:rPr lang="en-US" sz="1300" dirty="0">
                <a:solidFill>
                  <a:srgbClr val="474F70"/>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FF4D6D"/>
          </a:solidFill>
          <a:ln w="19050">
            <a:solidFill>
              <a:srgbClr val="FF4D6D"/>
            </a:solidFill>
            <a:prstDash val="solid"/>
          </a:ln>
        </p:spPr>
        <p:txBody>
          <a:bodyPr/>
          <a:lstStyle/>
          <a:p>
            <a:endParaRPr lang="es-CO"/>
          </a:p>
        </p:txBody>
      </p:sp>
      <p:pic>
        <p:nvPicPr>
          <p:cNvPr id="7" name="Image 0" descr="preencoded.png"/>
          <p:cNvPicPr>
            <a:picLocks noChangeAspect="1"/>
          </p:cNvPicPr>
          <p:nvPr/>
        </p:nvPicPr>
        <p:blipFill>
          <a:blip r:embed="rId4"/>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marL="0" indent="0">
              <a:buNone/>
            </a:pPr>
            <a:r>
              <a:rPr lang="en-US" sz="2500" b="1" dirty="0">
                <a:solidFill>
                  <a:srgbClr val="15193A"/>
                </a:solidFill>
                <a:latin typeface="Calibri" pitchFamily="34" charset="0"/>
                <a:ea typeface="Calibri" pitchFamily="34" charset="-122"/>
                <a:cs typeface="Calibri" pitchFamily="34" charset="-120"/>
              </a:rPr>
              <a:t>Una articulación agudamente caliente exige descartar infección</a:t>
            </a:r>
            <a:endParaRPr lang="en-US" sz="2500" dirty="0"/>
          </a:p>
        </p:txBody>
      </p:sp>
      <p:sp>
        <p:nvSpPr>
          <p:cNvPr id="9" name="Shape 6"/>
          <p:cNvSpPr/>
          <p:nvPr/>
        </p:nvSpPr>
        <p:spPr>
          <a:xfrm>
            <a:off x="3429000" y="2057400"/>
            <a:ext cx="1097280" cy="0"/>
          </a:xfrm>
          <a:prstGeom prst="line">
            <a:avLst/>
          </a:prstGeom>
          <a:noFill/>
          <a:ln w="38100">
            <a:solidFill>
              <a:srgbClr val="FF4D6D"/>
            </a:solidFill>
            <a:prstDash val="solid"/>
          </a:ln>
        </p:spPr>
        <p:txBody>
          <a:bodyPr/>
          <a:lstStyle/>
          <a:p>
            <a:endParaRPr lang="es-CO"/>
          </a:p>
        </p:txBody>
      </p:sp>
      <p:sp>
        <p:nvSpPr>
          <p:cNvPr id="10" name="Text 7"/>
          <p:cNvSpPr txBox="1"/>
          <p:nvPr/>
        </p:nvSpPr>
        <p:spPr>
          <a:xfrm>
            <a:off x="3429000" y="2240280"/>
            <a:ext cx="5257800" cy="1920240"/>
          </a:xfrm>
          <a:prstGeom prst="rect">
            <a:avLst/>
          </a:prstGeom>
          <a:noFill/>
          <a:ln/>
        </p:spPr>
        <p:txBody>
          <a:bodyPr wrap="square" lIns="0" tIns="0" rIns="0" bIns="0" rtlCol="0" anchor="t"/>
          <a:lstStyle/>
          <a:p>
            <a:pPr marL="0" indent="0">
              <a:buNone/>
            </a:pPr>
            <a:r>
              <a:rPr lang="en-US" sz="1500" dirty="0">
                <a:solidFill>
                  <a:srgbClr val="2A3150"/>
                </a:solidFill>
                <a:latin typeface="Calibri" pitchFamily="34" charset="0"/>
                <a:ea typeface="Calibri" pitchFamily="34" charset="-122"/>
                <a:cs typeface="Calibri" pitchFamily="34" charset="-120"/>
              </a:rPr>
              <a:t>También en quien ya tiene AR. Una monoartritis intensa obliga a considerar artrocentesis y estudio del líquido sinovial. La ausencia de fiebre y la presencia de cristales no excluyen artritis séptica: evita asumir que todo episodio es un brote.</a:t>
            </a:r>
            <a:endParaRPr lang="en-US" sz="1500" dirty="0"/>
          </a:p>
        </p:txBody>
      </p:sp>
      <p:sp>
        <p:nvSpPr>
          <p:cNvPr id="11" name="Text 8"/>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[9] Ravn C, et al. J Bone Jt Infect 2023 (SANJO) · [1] Smolen JS, et al. JAMA 2026</a:t>
            </a:r>
            <a:endParaRPr lang="en-US" sz="8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FF4D6D"/>
          </a:solidFill>
          <a:ln w="12700">
            <a:solidFill>
              <a:srgbClr val="FF4D6D"/>
            </a:solidFill>
            <a:prstDash val="solid"/>
          </a:ln>
        </p:spPr>
        <p:txBody>
          <a:bodyPr/>
          <a:lstStyle/>
          <a:p>
            <a:endParaRPr lang="es-CO"/>
          </a:p>
        </p:txBody>
      </p:sp>
      <p:sp>
        <p:nvSpPr>
          <p:cNvPr id="3" name="Text 1"/>
          <p:cNvSpPr txBox="1"/>
          <p:nvPr/>
        </p:nvSpPr>
        <p:spPr>
          <a:xfrm>
            <a:off x="685800" y="219456"/>
            <a:ext cx="7772400" cy="256032"/>
          </a:xfrm>
          <a:prstGeom prst="rect">
            <a:avLst/>
          </a:prstGeom>
          <a:noFill/>
          <a:ln/>
        </p:spPr>
        <p:txBody>
          <a:bodyPr wrap="square" lIns="0" tIns="0" rIns="0" bIns="0" rtlCol="0" anchor="ctr"/>
          <a:lstStyle/>
          <a:p>
            <a:pPr marL="0" indent="0">
              <a:buNone/>
            </a:pPr>
            <a:r>
              <a:rPr lang="en-US" sz="1050" b="1" kern="0" spc="400" dirty="0">
                <a:solidFill>
                  <a:srgbClr val="C81E43"/>
                </a:solidFill>
                <a:latin typeface="Calibri" pitchFamily="34" charset="0"/>
                <a:ea typeface="Calibri" pitchFamily="34" charset="-122"/>
                <a:cs typeface="Calibri" pitchFamily="34" charset="-120"/>
              </a:rPr>
              <a:t>PERLA 7 · LA ARTICULACIÓN SÉPTICA</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600" b="1" dirty="0">
                <a:solidFill>
                  <a:srgbClr val="15193A"/>
                </a:solidFill>
                <a:latin typeface="Calibri" pitchFamily="34" charset="0"/>
                <a:ea typeface="Calibri" pitchFamily="34" charset="-122"/>
                <a:cs typeface="Calibri" pitchFamily="34" charset="-120"/>
              </a:rPr>
              <a:t>Mitos peligrosos y qué hacer</a:t>
            </a:r>
            <a:endParaRPr lang="en-US" sz="2600" dirty="0"/>
          </a:p>
        </p:txBody>
      </p:sp>
      <p:sp>
        <p:nvSpPr>
          <p:cNvPr id="5" name="Text 3"/>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[9] Ravn C, et al. J Bone Jt Infect 2023 (SANJO) · [1] Smolen JS, et al. JAMA 2026</a:t>
            </a:r>
            <a:endParaRPr lang="en-US" sz="850" dirty="0"/>
          </a:p>
        </p:txBody>
      </p:sp>
      <p:sp>
        <p:nvSpPr>
          <p:cNvPr id="6" name="Shape 4"/>
          <p:cNvSpPr/>
          <p:nvPr/>
        </p:nvSpPr>
        <p:spPr>
          <a:xfrm>
            <a:off x="457200" y="1188720"/>
            <a:ext cx="4023360" cy="804672"/>
          </a:xfrm>
          <a:prstGeom prst="roundRect">
            <a:avLst>
              <a:gd name="adj" fmla="val 11364"/>
            </a:avLst>
          </a:prstGeom>
          <a:solidFill>
            <a:srgbClr val="FF4D6D">
              <a:alpha val="12000"/>
            </a:srgbClr>
          </a:solidFill>
          <a:ln w="15875">
            <a:solidFill>
              <a:srgbClr val="FF4D6D"/>
            </a:solidFill>
            <a:prstDash val="solid"/>
          </a:ln>
        </p:spPr>
        <p:txBody>
          <a:bodyPr/>
          <a:lstStyle/>
          <a:p>
            <a:endParaRPr lang="es-CO"/>
          </a:p>
        </p:txBody>
      </p:sp>
      <p:sp>
        <p:nvSpPr>
          <p:cNvPr id="7" name="Text 5"/>
          <p:cNvSpPr txBox="1"/>
          <p:nvPr/>
        </p:nvSpPr>
        <p:spPr>
          <a:xfrm>
            <a:off x="640080" y="1188720"/>
            <a:ext cx="3749040" cy="804672"/>
          </a:xfrm>
          <a:prstGeom prst="rect">
            <a:avLst/>
          </a:prstGeom>
          <a:noFill/>
          <a:ln/>
        </p:spPr>
        <p:txBody>
          <a:bodyPr wrap="square" lIns="0" tIns="0" rIns="0" bIns="0" rtlCol="0" anchor="ctr"/>
          <a:lstStyle/>
          <a:p>
            <a:pPr marL="0" indent="0">
              <a:buNone/>
            </a:pPr>
            <a:r>
              <a:rPr lang="en-US" sz="1400" b="1" dirty="0">
                <a:solidFill>
                  <a:srgbClr val="C81E43"/>
                </a:solidFill>
                <a:latin typeface="Calibri" pitchFamily="34" charset="0"/>
                <a:ea typeface="Calibri" pitchFamily="34" charset="-122"/>
                <a:cs typeface="Calibri" pitchFamily="34" charset="-120"/>
              </a:rPr>
              <a:t>✕  "No tiene fiebre"</a:t>
            </a:r>
            <a:endParaRPr lang="en-US" sz="1300" dirty="0"/>
          </a:p>
          <a:p>
            <a:pPr marL="0" indent="0">
              <a:buNone/>
            </a:pPr>
            <a:r>
              <a:rPr lang="en-US" sz="1150" dirty="0">
                <a:solidFill>
                  <a:srgbClr val="15193A"/>
                </a:solidFill>
                <a:latin typeface="Calibri" pitchFamily="34" charset="0"/>
                <a:ea typeface="Calibri" pitchFamily="34" charset="-122"/>
                <a:cs typeface="Calibri" pitchFamily="34" charset="-120"/>
              </a:rPr>
              <a:t>La ausencia de fiebre no excluye artritis séptica.</a:t>
            </a:r>
            <a:endParaRPr lang="en-US" sz="1300" dirty="0"/>
          </a:p>
        </p:txBody>
      </p:sp>
      <p:sp>
        <p:nvSpPr>
          <p:cNvPr id="8" name="Shape 6"/>
          <p:cNvSpPr/>
          <p:nvPr/>
        </p:nvSpPr>
        <p:spPr>
          <a:xfrm>
            <a:off x="457200" y="2103120"/>
            <a:ext cx="4023360" cy="804672"/>
          </a:xfrm>
          <a:prstGeom prst="roundRect">
            <a:avLst>
              <a:gd name="adj" fmla="val 11364"/>
            </a:avLst>
          </a:prstGeom>
          <a:solidFill>
            <a:srgbClr val="FF4D6D">
              <a:alpha val="12000"/>
            </a:srgbClr>
          </a:solidFill>
          <a:ln w="15875">
            <a:solidFill>
              <a:srgbClr val="FF4D6D"/>
            </a:solidFill>
            <a:prstDash val="solid"/>
          </a:ln>
        </p:spPr>
        <p:txBody>
          <a:bodyPr/>
          <a:lstStyle/>
          <a:p>
            <a:endParaRPr lang="es-CO"/>
          </a:p>
        </p:txBody>
      </p:sp>
      <p:sp>
        <p:nvSpPr>
          <p:cNvPr id="9" name="Text 7"/>
          <p:cNvSpPr txBox="1"/>
          <p:nvPr/>
        </p:nvSpPr>
        <p:spPr>
          <a:xfrm>
            <a:off x="640080" y="2103120"/>
            <a:ext cx="3749040" cy="804672"/>
          </a:xfrm>
          <a:prstGeom prst="rect">
            <a:avLst/>
          </a:prstGeom>
          <a:noFill/>
          <a:ln/>
        </p:spPr>
        <p:txBody>
          <a:bodyPr wrap="square" lIns="0" tIns="0" rIns="0" bIns="0" rtlCol="0" anchor="ctr"/>
          <a:lstStyle/>
          <a:p>
            <a:pPr marL="0" indent="0">
              <a:buNone/>
            </a:pPr>
            <a:r>
              <a:rPr lang="en-US" sz="1400" b="1" dirty="0">
                <a:solidFill>
                  <a:srgbClr val="C81E43"/>
                </a:solidFill>
                <a:latin typeface="Calibri" pitchFamily="34" charset="0"/>
                <a:ea typeface="Calibri" pitchFamily="34" charset="-122"/>
                <a:cs typeface="Calibri" pitchFamily="34" charset="-120"/>
              </a:rPr>
              <a:t>✕  "Tiene cristales"</a:t>
            </a:r>
            <a:endParaRPr lang="en-US" sz="1300" dirty="0"/>
          </a:p>
          <a:p>
            <a:pPr marL="0" indent="0">
              <a:buNone/>
            </a:pPr>
            <a:r>
              <a:rPr lang="en-US" sz="1150" dirty="0">
                <a:solidFill>
                  <a:srgbClr val="15193A"/>
                </a:solidFill>
                <a:latin typeface="Calibri" pitchFamily="34" charset="0"/>
                <a:ea typeface="Calibri" pitchFamily="34" charset="-122"/>
                <a:cs typeface="Calibri" pitchFamily="34" charset="-120"/>
              </a:rPr>
              <a:t>La gota o la pseudogota pueden coexistir con infección.</a:t>
            </a:r>
            <a:endParaRPr lang="en-US" sz="1300" dirty="0"/>
          </a:p>
        </p:txBody>
      </p:sp>
      <p:sp>
        <p:nvSpPr>
          <p:cNvPr id="10" name="Shape 8"/>
          <p:cNvSpPr/>
          <p:nvPr/>
        </p:nvSpPr>
        <p:spPr>
          <a:xfrm>
            <a:off x="457200" y="3017520"/>
            <a:ext cx="4023360" cy="804672"/>
          </a:xfrm>
          <a:prstGeom prst="roundRect">
            <a:avLst>
              <a:gd name="adj" fmla="val 11364"/>
            </a:avLst>
          </a:prstGeom>
          <a:solidFill>
            <a:srgbClr val="FF4D6D">
              <a:alpha val="12000"/>
            </a:srgbClr>
          </a:solidFill>
          <a:ln w="15875">
            <a:solidFill>
              <a:srgbClr val="FF4D6D"/>
            </a:solidFill>
            <a:prstDash val="solid"/>
          </a:ln>
        </p:spPr>
        <p:txBody>
          <a:bodyPr/>
          <a:lstStyle/>
          <a:p>
            <a:endParaRPr lang="es-CO"/>
          </a:p>
        </p:txBody>
      </p:sp>
      <p:sp>
        <p:nvSpPr>
          <p:cNvPr id="11" name="Text 9"/>
          <p:cNvSpPr txBox="1"/>
          <p:nvPr/>
        </p:nvSpPr>
        <p:spPr>
          <a:xfrm>
            <a:off x="640080" y="3017520"/>
            <a:ext cx="3749040" cy="804672"/>
          </a:xfrm>
          <a:prstGeom prst="rect">
            <a:avLst/>
          </a:prstGeom>
          <a:noFill/>
          <a:ln/>
        </p:spPr>
        <p:txBody>
          <a:bodyPr wrap="square" lIns="0" tIns="0" rIns="0" bIns="0" rtlCol="0" anchor="ctr"/>
          <a:lstStyle/>
          <a:p>
            <a:pPr marL="0" indent="0">
              <a:buNone/>
            </a:pPr>
            <a:r>
              <a:rPr lang="en-US" sz="1400" b="1" dirty="0">
                <a:solidFill>
                  <a:srgbClr val="C81E43"/>
                </a:solidFill>
                <a:latin typeface="Calibri" pitchFamily="34" charset="0"/>
                <a:ea typeface="Calibri" pitchFamily="34" charset="-122"/>
                <a:cs typeface="Calibri" pitchFamily="34" charset="-120"/>
              </a:rPr>
              <a:t>✕  "Es un brote de su AR"</a:t>
            </a:r>
            <a:endParaRPr lang="en-US" sz="1300" dirty="0"/>
          </a:p>
          <a:p>
            <a:pPr marL="0" indent="0">
              <a:buNone/>
            </a:pPr>
            <a:r>
              <a:rPr lang="en-US" sz="1150" dirty="0">
                <a:solidFill>
                  <a:srgbClr val="15193A"/>
                </a:solidFill>
                <a:latin typeface="Calibri" pitchFamily="34" charset="0"/>
                <a:ea typeface="Calibri" pitchFamily="34" charset="-122"/>
                <a:cs typeface="Calibri" pitchFamily="34" charset="-120"/>
              </a:rPr>
              <a:t>El paciente con AR, sobre todo inmunosuprimido, también se infecta.</a:t>
            </a:r>
            <a:endParaRPr lang="en-US" sz="1300" dirty="0"/>
          </a:p>
        </p:txBody>
      </p:sp>
      <p:sp>
        <p:nvSpPr>
          <p:cNvPr id="12" name="Text 10"/>
          <p:cNvSpPr txBox="1"/>
          <p:nvPr/>
        </p:nvSpPr>
        <p:spPr>
          <a:xfrm>
            <a:off x="457200" y="3977640"/>
            <a:ext cx="4023360" cy="731520"/>
          </a:xfrm>
          <a:prstGeom prst="rect">
            <a:avLst/>
          </a:prstGeom>
          <a:noFill/>
          <a:ln/>
        </p:spPr>
        <p:txBody>
          <a:bodyPr wrap="square" lIns="0" tIns="0" rIns="0" bIns="0" rtlCol="0" anchor="t"/>
          <a:lstStyle/>
          <a:p>
            <a:pPr marL="0" indent="0">
              <a:buNone/>
            </a:pPr>
            <a:r>
              <a:rPr lang="en-US" sz="1100" i="1" dirty="0">
                <a:solidFill>
                  <a:srgbClr val="474F70"/>
                </a:solidFill>
                <a:latin typeface="Calibri" pitchFamily="34" charset="0"/>
                <a:ea typeface="Calibri" pitchFamily="34" charset="-122"/>
                <a:cs typeface="Calibri" pitchFamily="34" charset="-120"/>
              </a:rPr>
              <a:t>Riesgo con terapias dirigidas: infección grave a 12 meses 5,9 % con biológicos vs 1,5 % en la población general.</a:t>
            </a:r>
            <a:endParaRPr lang="en-US" sz="1100" dirty="0"/>
          </a:p>
        </p:txBody>
      </p:sp>
      <p:sp>
        <p:nvSpPr>
          <p:cNvPr id="13" name="Shape 11"/>
          <p:cNvSpPr/>
          <p:nvPr/>
        </p:nvSpPr>
        <p:spPr>
          <a:xfrm>
            <a:off x="4663440" y="1188720"/>
            <a:ext cx="4023360" cy="3520440"/>
          </a:xfrm>
          <a:prstGeom prst="roundRect">
            <a:avLst>
              <a:gd name="adj" fmla="val 2597"/>
            </a:avLst>
          </a:prstGeom>
          <a:solidFill>
            <a:srgbClr val="21D3A8">
              <a:alpha val="12000"/>
            </a:srgbClr>
          </a:solidFill>
          <a:ln w="15875">
            <a:solidFill>
              <a:srgbClr val="21D3A8"/>
            </a:solidFill>
            <a:prstDash val="solid"/>
          </a:ln>
        </p:spPr>
        <p:txBody>
          <a:bodyPr/>
          <a:lstStyle/>
          <a:p>
            <a:endParaRPr lang="es-CO"/>
          </a:p>
        </p:txBody>
      </p:sp>
      <p:sp>
        <p:nvSpPr>
          <p:cNvPr id="14" name="Text 12"/>
          <p:cNvSpPr txBox="1"/>
          <p:nvPr/>
        </p:nvSpPr>
        <p:spPr>
          <a:xfrm>
            <a:off x="4846320" y="1280160"/>
            <a:ext cx="3657600" cy="365760"/>
          </a:xfrm>
          <a:prstGeom prst="rect">
            <a:avLst/>
          </a:prstGeom>
          <a:noFill/>
          <a:ln/>
        </p:spPr>
        <p:txBody>
          <a:bodyPr wrap="square" lIns="0" tIns="0" rIns="0" bIns="0" rtlCol="0" anchor="t"/>
          <a:lstStyle/>
          <a:p>
            <a:pPr marL="0" indent="0">
              <a:buNone/>
            </a:pPr>
            <a:r>
              <a:rPr lang="en-US" sz="1400" b="1" dirty="0">
                <a:solidFill>
                  <a:srgbClr val="0C8368"/>
                </a:solidFill>
                <a:latin typeface="Calibri" pitchFamily="34" charset="0"/>
                <a:ea typeface="Calibri" pitchFamily="34" charset="-122"/>
                <a:cs typeface="Calibri" pitchFamily="34" charset="-120"/>
              </a:rPr>
              <a:t>Qué hacer ante una monoartritis aguda</a:t>
            </a:r>
            <a:endParaRPr lang="en-US" sz="1400" dirty="0"/>
          </a:p>
        </p:txBody>
      </p:sp>
      <p:sp>
        <p:nvSpPr>
          <p:cNvPr id="15" name="Shape 13"/>
          <p:cNvSpPr/>
          <p:nvPr/>
        </p:nvSpPr>
        <p:spPr>
          <a:xfrm>
            <a:off x="4846320" y="1856232"/>
            <a:ext cx="411480" cy="411480"/>
          </a:xfrm>
          <a:prstGeom prst="ellipse">
            <a:avLst/>
          </a:prstGeom>
          <a:solidFill>
            <a:srgbClr val="21D3A8"/>
          </a:solidFill>
          <a:ln w="12700">
            <a:solidFill>
              <a:srgbClr val="21D3A8"/>
            </a:solidFill>
            <a:prstDash val="solid"/>
          </a:ln>
        </p:spPr>
        <p:txBody>
          <a:bodyPr/>
          <a:lstStyle/>
          <a:p>
            <a:endParaRPr lang="es-CO"/>
          </a:p>
        </p:txBody>
      </p:sp>
      <p:sp>
        <p:nvSpPr>
          <p:cNvPr id="16" name="Text 14"/>
          <p:cNvSpPr txBox="1"/>
          <p:nvPr/>
        </p:nvSpPr>
        <p:spPr>
          <a:xfrm>
            <a:off x="4846320" y="1856232"/>
            <a:ext cx="411480" cy="411480"/>
          </a:xfrm>
          <a:prstGeom prst="rect">
            <a:avLst/>
          </a:prstGeom>
          <a:noFill/>
          <a:ln/>
        </p:spPr>
        <p:txBody>
          <a:bodyPr wrap="square" lIns="0" tIns="0" rIns="0" bIns="0" rtlCol="0" anchor="ctr"/>
          <a:lstStyle/>
          <a:p>
            <a:pPr marL="0" indent="0" algn="ctr">
              <a:buNone/>
            </a:pPr>
            <a:r>
              <a:rPr lang="en-US" sz="1300" b="1" dirty="0">
                <a:solidFill>
                  <a:srgbClr val="0A0E24"/>
                </a:solidFill>
                <a:latin typeface="Calibri" pitchFamily="34" charset="0"/>
                <a:ea typeface="Calibri" pitchFamily="34" charset="-122"/>
                <a:cs typeface="Calibri" pitchFamily="34" charset="-120"/>
              </a:rPr>
              <a:t>1</a:t>
            </a:r>
            <a:endParaRPr lang="en-US" sz="1300" dirty="0"/>
          </a:p>
        </p:txBody>
      </p:sp>
      <p:sp>
        <p:nvSpPr>
          <p:cNvPr id="17" name="Text 15"/>
          <p:cNvSpPr txBox="1"/>
          <p:nvPr/>
        </p:nvSpPr>
        <p:spPr>
          <a:xfrm>
            <a:off x="5394960" y="1783080"/>
            <a:ext cx="3154680" cy="566928"/>
          </a:xfrm>
          <a:prstGeom prst="rect">
            <a:avLst/>
          </a:prstGeom>
          <a:noFill/>
          <a:ln/>
        </p:spPr>
        <p:txBody>
          <a:bodyPr wrap="square" lIns="0" tIns="0" rIns="0" bIns="0" rtlCol="0" anchor="ctr"/>
          <a:lstStyle/>
          <a:p>
            <a:pPr marL="0" indent="0">
              <a:buNone/>
            </a:pPr>
            <a:r>
              <a:rPr lang="en-US" sz="1200" dirty="0">
                <a:solidFill>
                  <a:srgbClr val="15193A"/>
                </a:solidFill>
                <a:latin typeface="Calibri" pitchFamily="34" charset="0"/>
                <a:ea typeface="Calibri" pitchFamily="34" charset="-122"/>
                <a:cs typeface="Calibri" pitchFamily="34" charset="-120"/>
              </a:rPr>
              <a:t>Artrocentesis antes de antibióticos, si es posible</a:t>
            </a:r>
            <a:endParaRPr lang="en-US" sz="1200" dirty="0"/>
          </a:p>
        </p:txBody>
      </p:sp>
      <p:sp>
        <p:nvSpPr>
          <p:cNvPr id="18" name="Shape 16"/>
          <p:cNvSpPr/>
          <p:nvPr/>
        </p:nvSpPr>
        <p:spPr>
          <a:xfrm>
            <a:off x="4846320" y="2569464"/>
            <a:ext cx="411480" cy="411480"/>
          </a:xfrm>
          <a:prstGeom prst="ellipse">
            <a:avLst/>
          </a:prstGeom>
          <a:solidFill>
            <a:srgbClr val="21D3A8"/>
          </a:solidFill>
          <a:ln w="12700">
            <a:solidFill>
              <a:srgbClr val="21D3A8"/>
            </a:solidFill>
            <a:prstDash val="solid"/>
          </a:ln>
        </p:spPr>
        <p:txBody>
          <a:bodyPr/>
          <a:lstStyle/>
          <a:p>
            <a:endParaRPr lang="es-CO"/>
          </a:p>
        </p:txBody>
      </p:sp>
      <p:sp>
        <p:nvSpPr>
          <p:cNvPr id="19" name="Text 17"/>
          <p:cNvSpPr txBox="1"/>
          <p:nvPr/>
        </p:nvSpPr>
        <p:spPr>
          <a:xfrm>
            <a:off x="4846320" y="2569464"/>
            <a:ext cx="411480" cy="411480"/>
          </a:xfrm>
          <a:prstGeom prst="rect">
            <a:avLst/>
          </a:prstGeom>
          <a:noFill/>
          <a:ln/>
        </p:spPr>
        <p:txBody>
          <a:bodyPr wrap="square" lIns="0" tIns="0" rIns="0" bIns="0" rtlCol="0" anchor="ctr"/>
          <a:lstStyle/>
          <a:p>
            <a:pPr marL="0" indent="0" algn="ctr">
              <a:buNone/>
            </a:pPr>
            <a:r>
              <a:rPr lang="en-US" sz="1300" b="1" dirty="0">
                <a:solidFill>
                  <a:srgbClr val="0A0E24"/>
                </a:solidFill>
                <a:latin typeface="Calibri" pitchFamily="34" charset="0"/>
                <a:ea typeface="Calibri" pitchFamily="34" charset="-122"/>
                <a:cs typeface="Calibri" pitchFamily="34" charset="-120"/>
              </a:rPr>
              <a:t>2</a:t>
            </a:r>
            <a:endParaRPr lang="en-US" sz="1300" dirty="0"/>
          </a:p>
        </p:txBody>
      </p:sp>
      <p:sp>
        <p:nvSpPr>
          <p:cNvPr id="20" name="Text 18"/>
          <p:cNvSpPr txBox="1"/>
          <p:nvPr/>
        </p:nvSpPr>
        <p:spPr>
          <a:xfrm>
            <a:off x="5394960" y="2496312"/>
            <a:ext cx="3154680" cy="566928"/>
          </a:xfrm>
          <a:prstGeom prst="rect">
            <a:avLst/>
          </a:prstGeom>
          <a:noFill/>
          <a:ln/>
        </p:spPr>
        <p:txBody>
          <a:bodyPr wrap="square" lIns="0" tIns="0" rIns="0" bIns="0" rtlCol="0" anchor="ctr"/>
          <a:lstStyle/>
          <a:p>
            <a:pPr marL="0" indent="0">
              <a:buNone/>
            </a:pPr>
            <a:r>
              <a:rPr lang="en-US" sz="1200" dirty="0">
                <a:solidFill>
                  <a:srgbClr val="15193A"/>
                </a:solidFill>
                <a:latin typeface="Calibri" pitchFamily="34" charset="0"/>
                <a:ea typeface="Calibri" pitchFamily="34" charset="-122"/>
                <a:cs typeface="Calibri" pitchFamily="34" charset="-120"/>
              </a:rPr>
              <a:t>Líquido sinovial: recuento celular, Gram, cultivo y cristales</a:t>
            </a:r>
            <a:endParaRPr lang="en-US" sz="1200" dirty="0"/>
          </a:p>
        </p:txBody>
      </p:sp>
      <p:sp>
        <p:nvSpPr>
          <p:cNvPr id="21" name="Shape 19"/>
          <p:cNvSpPr/>
          <p:nvPr/>
        </p:nvSpPr>
        <p:spPr>
          <a:xfrm>
            <a:off x="4846320" y="3282696"/>
            <a:ext cx="411480" cy="411480"/>
          </a:xfrm>
          <a:prstGeom prst="ellipse">
            <a:avLst/>
          </a:prstGeom>
          <a:solidFill>
            <a:srgbClr val="21D3A8"/>
          </a:solidFill>
          <a:ln w="12700">
            <a:solidFill>
              <a:srgbClr val="21D3A8"/>
            </a:solidFill>
            <a:prstDash val="solid"/>
          </a:ln>
        </p:spPr>
        <p:txBody>
          <a:bodyPr/>
          <a:lstStyle/>
          <a:p>
            <a:endParaRPr lang="es-CO"/>
          </a:p>
        </p:txBody>
      </p:sp>
      <p:sp>
        <p:nvSpPr>
          <p:cNvPr id="22" name="Text 20"/>
          <p:cNvSpPr txBox="1"/>
          <p:nvPr/>
        </p:nvSpPr>
        <p:spPr>
          <a:xfrm>
            <a:off x="4846320" y="3282696"/>
            <a:ext cx="411480" cy="411480"/>
          </a:xfrm>
          <a:prstGeom prst="rect">
            <a:avLst/>
          </a:prstGeom>
          <a:noFill/>
          <a:ln/>
        </p:spPr>
        <p:txBody>
          <a:bodyPr wrap="square" lIns="0" tIns="0" rIns="0" bIns="0" rtlCol="0" anchor="ctr"/>
          <a:lstStyle/>
          <a:p>
            <a:pPr marL="0" indent="0" algn="ctr">
              <a:buNone/>
            </a:pPr>
            <a:r>
              <a:rPr lang="en-US" sz="1300" b="1" dirty="0">
                <a:solidFill>
                  <a:srgbClr val="0A0E24"/>
                </a:solidFill>
                <a:latin typeface="Calibri" pitchFamily="34" charset="0"/>
                <a:ea typeface="Calibri" pitchFamily="34" charset="-122"/>
                <a:cs typeface="Calibri" pitchFamily="34" charset="-120"/>
              </a:rPr>
              <a:t>3</a:t>
            </a:r>
            <a:endParaRPr lang="en-US" sz="1300" dirty="0"/>
          </a:p>
        </p:txBody>
      </p:sp>
      <p:sp>
        <p:nvSpPr>
          <p:cNvPr id="23" name="Text 21"/>
          <p:cNvSpPr txBox="1"/>
          <p:nvPr/>
        </p:nvSpPr>
        <p:spPr>
          <a:xfrm>
            <a:off x="5394960" y="3209544"/>
            <a:ext cx="3154680" cy="566928"/>
          </a:xfrm>
          <a:prstGeom prst="rect">
            <a:avLst/>
          </a:prstGeom>
          <a:noFill/>
          <a:ln/>
        </p:spPr>
        <p:txBody>
          <a:bodyPr wrap="square" lIns="0" tIns="0" rIns="0" bIns="0" rtlCol="0" anchor="ctr"/>
          <a:lstStyle/>
          <a:p>
            <a:pPr marL="0" indent="0">
              <a:buNone/>
            </a:pPr>
            <a:r>
              <a:rPr lang="en-US" sz="1200" dirty="0">
                <a:solidFill>
                  <a:srgbClr val="15193A"/>
                </a:solidFill>
                <a:latin typeface="Calibri" pitchFamily="34" charset="0"/>
                <a:ea typeface="Calibri" pitchFamily="34" charset="-122"/>
                <a:cs typeface="Calibri" pitchFamily="34" charset="-120"/>
              </a:rPr>
              <a:t>Hemocultivos</a:t>
            </a:r>
            <a:endParaRPr lang="en-US" sz="1200" dirty="0"/>
          </a:p>
        </p:txBody>
      </p:sp>
      <p:sp>
        <p:nvSpPr>
          <p:cNvPr id="24" name="Shape 22"/>
          <p:cNvSpPr/>
          <p:nvPr/>
        </p:nvSpPr>
        <p:spPr>
          <a:xfrm>
            <a:off x="4846320" y="3995928"/>
            <a:ext cx="411480" cy="411480"/>
          </a:xfrm>
          <a:prstGeom prst="ellipse">
            <a:avLst/>
          </a:prstGeom>
          <a:solidFill>
            <a:srgbClr val="21D3A8"/>
          </a:solidFill>
          <a:ln w="12700">
            <a:solidFill>
              <a:srgbClr val="21D3A8"/>
            </a:solidFill>
            <a:prstDash val="solid"/>
          </a:ln>
        </p:spPr>
        <p:txBody>
          <a:bodyPr/>
          <a:lstStyle/>
          <a:p>
            <a:endParaRPr lang="es-CO"/>
          </a:p>
        </p:txBody>
      </p:sp>
      <p:sp>
        <p:nvSpPr>
          <p:cNvPr id="25" name="Text 23"/>
          <p:cNvSpPr txBox="1"/>
          <p:nvPr/>
        </p:nvSpPr>
        <p:spPr>
          <a:xfrm>
            <a:off x="4846320" y="3995928"/>
            <a:ext cx="411480" cy="411480"/>
          </a:xfrm>
          <a:prstGeom prst="rect">
            <a:avLst/>
          </a:prstGeom>
          <a:noFill/>
          <a:ln/>
        </p:spPr>
        <p:txBody>
          <a:bodyPr wrap="square" lIns="0" tIns="0" rIns="0" bIns="0" rtlCol="0" anchor="ctr"/>
          <a:lstStyle/>
          <a:p>
            <a:pPr marL="0" indent="0" algn="ctr">
              <a:buNone/>
            </a:pPr>
            <a:r>
              <a:rPr lang="en-US" sz="1300" b="1" dirty="0">
                <a:solidFill>
                  <a:srgbClr val="0A0E24"/>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5394960" y="3922776"/>
            <a:ext cx="3154680" cy="566928"/>
          </a:xfrm>
          <a:prstGeom prst="rect">
            <a:avLst/>
          </a:prstGeom>
          <a:noFill/>
          <a:ln/>
        </p:spPr>
        <p:txBody>
          <a:bodyPr wrap="square" lIns="0" tIns="0" rIns="0" bIns="0" rtlCol="0" anchor="ctr"/>
          <a:lstStyle/>
          <a:p>
            <a:pPr marL="0" indent="0">
              <a:buNone/>
            </a:pPr>
            <a:r>
              <a:rPr lang="en-US" sz="1200" dirty="0">
                <a:solidFill>
                  <a:srgbClr val="15193A"/>
                </a:solidFill>
                <a:latin typeface="Calibri" pitchFamily="34" charset="0"/>
                <a:ea typeface="Calibri" pitchFamily="34" charset="-122"/>
                <a:cs typeface="Calibri" pitchFamily="34" charset="-120"/>
              </a:rPr>
              <a:t>Remitir o hospitalizar; no infiltrar esteroide sin descartar infección</a:t>
            </a:r>
            <a:endParaRPr lang="en-US" sz="1200" dirty="0"/>
          </a:p>
        </p:txBody>
      </p:sp>
      <p:sp>
        <p:nvSpPr>
          <p:cNvPr id="27"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21D3A8">
              <a:alpha val="12000"/>
            </a:srgbClr>
          </a:solidFill>
          <a:ln w="15875">
            <a:solidFill>
              <a:srgbClr val="21D3A8"/>
            </a:solidFill>
            <a:prstDash val="solid"/>
          </a:ln>
        </p:spPr>
        <p:txBody>
          <a:bodyPr/>
          <a:lstStyle/>
          <a:p>
            <a:endParaRPr lang="es-CO"/>
          </a:p>
        </p:txBody>
      </p:sp>
      <p:sp>
        <p:nvSpPr>
          <p:cNvPr id="3" name="Text 1"/>
          <p:cNvSpPr txBox="1"/>
          <p:nvPr/>
        </p:nvSpPr>
        <p:spPr>
          <a:xfrm>
            <a:off x="457200" y="731520"/>
            <a:ext cx="2651760" cy="320040"/>
          </a:xfrm>
          <a:prstGeom prst="rect">
            <a:avLst/>
          </a:prstGeom>
          <a:noFill/>
          <a:ln/>
        </p:spPr>
        <p:txBody>
          <a:bodyPr wrap="square" lIns="0" tIns="0" rIns="0" bIns="0" rtlCol="0" anchor="t"/>
          <a:lstStyle/>
          <a:p>
            <a:pPr marL="0" indent="0" algn="ctr">
              <a:buNone/>
            </a:pPr>
            <a:r>
              <a:rPr lang="en-US" sz="1400" b="1" kern="0" spc="800" dirty="0">
                <a:solidFill>
                  <a:srgbClr val="0C8368"/>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marL="0" indent="0" algn="ctr">
              <a:buNone/>
            </a:pPr>
            <a:r>
              <a:rPr lang="en-US" sz="11000" b="1" dirty="0">
                <a:solidFill>
                  <a:srgbClr val="15193A"/>
                </a:solidFill>
                <a:latin typeface="Calibri" pitchFamily="34" charset="0"/>
                <a:ea typeface="Calibri" pitchFamily="34" charset="-122"/>
                <a:cs typeface="Calibri" pitchFamily="34" charset="-120"/>
              </a:rPr>
              <a:t>08</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marL="0" indent="0" algn="ctr">
              <a:buNone/>
            </a:pPr>
            <a:r>
              <a:rPr lang="en-US" sz="1300" dirty="0">
                <a:solidFill>
                  <a:srgbClr val="474F70"/>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21D3A8"/>
          </a:solidFill>
          <a:ln w="19050">
            <a:solidFill>
              <a:srgbClr val="21D3A8"/>
            </a:solidFill>
            <a:prstDash val="solid"/>
          </a:ln>
        </p:spPr>
        <p:txBody>
          <a:bodyPr/>
          <a:lstStyle/>
          <a:p>
            <a:endParaRPr lang="es-CO"/>
          </a:p>
        </p:txBody>
      </p:sp>
      <p:pic>
        <p:nvPicPr>
          <p:cNvPr id="7" name="Image 0" descr="preencoded.png"/>
          <p:cNvPicPr>
            <a:picLocks noChangeAspect="1"/>
          </p:cNvPicPr>
          <p:nvPr/>
        </p:nvPicPr>
        <p:blipFill>
          <a:blip r:embed="rId4"/>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marL="0" indent="0">
              <a:buNone/>
            </a:pPr>
            <a:r>
              <a:rPr lang="en-US" sz="2500" b="1" dirty="0">
                <a:solidFill>
                  <a:srgbClr val="15193A"/>
                </a:solidFill>
                <a:latin typeface="Calibri" pitchFamily="34" charset="0"/>
                <a:ea typeface="Calibri" pitchFamily="34" charset="-122"/>
                <a:cs typeface="Calibri" pitchFamily="34" charset="-120"/>
              </a:rPr>
              <a:t>El metotrexato continúa siendo el fármaco inicial de referencia</a:t>
            </a:r>
            <a:endParaRPr lang="en-US" sz="2500" dirty="0"/>
          </a:p>
        </p:txBody>
      </p:sp>
      <p:sp>
        <p:nvSpPr>
          <p:cNvPr id="9" name="Shape 6"/>
          <p:cNvSpPr/>
          <p:nvPr/>
        </p:nvSpPr>
        <p:spPr>
          <a:xfrm>
            <a:off x="3429000" y="2057400"/>
            <a:ext cx="1097280" cy="0"/>
          </a:xfrm>
          <a:prstGeom prst="line">
            <a:avLst/>
          </a:prstGeom>
          <a:noFill/>
          <a:ln w="38100">
            <a:solidFill>
              <a:srgbClr val="21D3A8"/>
            </a:solidFill>
            <a:prstDash val="solid"/>
          </a:ln>
        </p:spPr>
        <p:txBody>
          <a:bodyPr/>
          <a:lstStyle/>
          <a:p>
            <a:endParaRPr lang="es-CO"/>
          </a:p>
        </p:txBody>
      </p:sp>
      <p:sp>
        <p:nvSpPr>
          <p:cNvPr id="10" name="Text 7"/>
          <p:cNvSpPr txBox="1"/>
          <p:nvPr/>
        </p:nvSpPr>
        <p:spPr>
          <a:xfrm>
            <a:off x="3429000" y="2240280"/>
            <a:ext cx="5257800" cy="1920240"/>
          </a:xfrm>
          <a:prstGeom prst="rect">
            <a:avLst/>
          </a:prstGeom>
          <a:noFill/>
          <a:ln/>
        </p:spPr>
        <p:txBody>
          <a:bodyPr wrap="square" lIns="0" tIns="0" rIns="0" bIns="0" rtlCol="0" anchor="t"/>
          <a:lstStyle/>
          <a:p>
            <a:pPr marL="0" indent="0">
              <a:buNone/>
            </a:pPr>
            <a:r>
              <a:rPr lang="en-US" sz="1500" dirty="0">
                <a:solidFill>
                  <a:srgbClr val="2A3150"/>
                </a:solidFill>
                <a:latin typeface="Calibri" pitchFamily="34" charset="0"/>
                <a:ea typeface="Calibri" pitchFamily="34" charset="-122"/>
                <a:cs typeface="Calibri" pitchFamily="34" charset="-120"/>
              </a:rPr>
              <a:t>Salvo contraindicaciones, sigue siendo fundamental. La perla de seguridad para todo médico: administración SEMANAL, con suplementación de folato y vigilancia hematológica, hepática y renal. Confundir una pauta semanal con diaria puede causar toxicidad grave.</a:t>
            </a:r>
            <a:endParaRPr lang="en-US" sz="1500" dirty="0"/>
          </a:p>
        </p:txBody>
      </p:sp>
      <p:sp>
        <p:nvSpPr>
          <p:cNvPr id="11" name="Text 8"/>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[1] Smolen JS, et al. JAMA 2026 · [2] Smolen JS, et al. EULAR 2025. Ann Rheum Dis 2026</a:t>
            </a:r>
            <a:endParaRPr lang="en-US" sz="8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21D3A8"/>
          </a:solidFill>
          <a:ln w="12700">
            <a:solidFill>
              <a:srgbClr val="21D3A8"/>
            </a:solidFill>
            <a:prstDash val="solid"/>
          </a:ln>
        </p:spPr>
        <p:txBody>
          <a:bodyPr/>
          <a:lstStyle/>
          <a:p>
            <a:endParaRPr lang="es-CO"/>
          </a:p>
        </p:txBody>
      </p:sp>
      <p:sp>
        <p:nvSpPr>
          <p:cNvPr id="3" name="Text 1"/>
          <p:cNvSpPr txBox="1"/>
          <p:nvPr/>
        </p:nvSpPr>
        <p:spPr>
          <a:xfrm>
            <a:off x="685800" y="219456"/>
            <a:ext cx="7772400" cy="256032"/>
          </a:xfrm>
          <a:prstGeom prst="rect">
            <a:avLst/>
          </a:prstGeom>
          <a:noFill/>
          <a:ln/>
        </p:spPr>
        <p:txBody>
          <a:bodyPr wrap="square" lIns="0" tIns="0" rIns="0" bIns="0" rtlCol="0" anchor="ctr"/>
          <a:lstStyle/>
          <a:p>
            <a:pPr marL="0" indent="0">
              <a:buNone/>
            </a:pPr>
            <a:r>
              <a:rPr lang="en-US" sz="1050" b="1" kern="0" spc="400" dirty="0">
                <a:solidFill>
                  <a:srgbClr val="0C8368"/>
                </a:solidFill>
                <a:latin typeface="Calibri" pitchFamily="34" charset="0"/>
                <a:ea typeface="Calibri" pitchFamily="34" charset="-122"/>
                <a:cs typeface="Calibri" pitchFamily="34" charset="-120"/>
              </a:rPr>
              <a:t>PERLA 8 · METOTREXATO SIN ERRORES</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600" b="1" dirty="0">
                <a:solidFill>
                  <a:srgbClr val="15193A"/>
                </a:solidFill>
                <a:latin typeface="Calibri" pitchFamily="34" charset="0"/>
                <a:ea typeface="Calibri" pitchFamily="34" charset="-122"/>
                <a:cs typeface="Calibri" pitchFamily="34" charset="-120"/>
              </a:rPr>
              <a:t>Una vez por semana, el mismo día</a:t>
            </a:r>
            <a:endParaRPr lang="en-US" sz="2600" dirty="0"/>
          </a:p>
        </p:txBody>
      </p:sp>
      <p:sp>
        <p:nvSpPr>
          <p:cNvPr id="5" name="Text 3"/>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[1] Smolen JS, et al. JAMA 2026 · [2] Smolen JS, et al. EULAR 2025. Ann Rheum Dis 2026</a:t>
            </a:r>
            <a:endParaRPr lang="en-US" sz="850" dirty="0"/>
          </a:p>
        </p:txBody>
      </p:sp>
      <p:sp>
        <p:nvSpPr>
          <p:cNvPr id="6" name="Shape 4"/>
          <p:cNvSpPr/>
          <p:nvPr/>
        </p:nvSpPr>
        <p:spPr>
          <a:xfrm>
            <a:off x="457200" y="1188720"/>
            <a:ext cx="1051560" cy="1188720"/>
          </a:xfrm>
          <a:prstGeom prst="roundRect">
            <a:avLst>
              <a:gd name="adj" fmla="val 8696"/>
            </a:avLst>
          </a:prstGeom>
          <a:solidFill>
            <a:srgbClr val="21D3A8"/>
          </a:solidFill>
          <a:ln w="12700">
            <a:solidFill>
              <a:srgbClr val="21D3A8"/>
            </a:solidFill>
            <a:prstDash val="solid"/>
          </a:ln>
        </p:spPr>
        <p:txBody>
          <a:bodyPr/>
          <a:lstStyle/>
          <a:p>
            <a:endParaRPr lang="es-CO"/>
          </a:p>
        </p:txBody>
      </p:sp>
      <p:sp>
        <p:nvSpPr>
          <p:cNvPr id="7" name="Text 5"/>
          <p:cNvSpPr txBox="1"/>
          <p:nvPr/>
        </p:nvSpPr>
        <p:spPr>
          <a:xfrm>
            <a:off x="457200" y="1234440"/>
            <a:ext cx="1051560" cy="320040"/>
          </a:xfrm>
          <a:prstGeom prst="rect">
            <a:avLst/>
          </a:prstGeom>
          <a:noFill/>
          <a:ln/>
        </p:spPr>
        <p:txBody>
          <a:bodyPr wrap="square" lIns="0" tIns="0" rIns="0" bIns="0" rtlCol="0" anchor="t"/>
          <a:lstStyle/>
          <a:p>
            <a:pPr marL="0" indent="0" algn="ctr">
              <a:buNone/>
            </a:pPr>
            <a:r>
              <a:rPr lang="en-US" sz="1300" b="1" dirty="0">
                <a:solidFill>
                  <a:srgbClr val="0A0E24"/>
                </a:solidFill>
                <a:latin typeface="Calibri" pitchFamily="34" charset="0"/>
                <a:ea typeface="Calibri" pitchFamily="34" charset="-122"/>
                <a:cs typeface="Calibri" pitchFamily="34" charset="-120"/>
              </a:rPr>
              <a:t>Lun</a:t>
            </a:r>
            <a:endParaRPr lang="en-US" sz="1300" dirty="0"/>
          </a:p>
        </p:txBody>
      </p:sp>
      <p:sp>
        <p:nvSpPr>
          <p:cNvPr id="8" name="Text 6"/>
          <p:cNvSpPr txBox="1"/>
          <p:nvPr/>
        </p:nvSpPr>
        <p:spPr>
          <a:xfrm>
            <a:off x="457200" y="1554480"/>
            <a:ext cx="1051560" cy="457200"/>
          </a:xfrm>
          <a:prstGeom prst="rect">
            <a:avLst/>
          </a:prstGeom>
          <a:noFill/>
          <a:ln/>
        </p:spPr>
        <p:txBody>
          <a:bodyPr wrap="square" lIns="0" tIns="0" rIns="0" bIns="0" rtlCol="0" anchor="ctr"/>
          <a:lstStyle/>
          <a:p>
            <a:pPr marL="0" indent="0" algn="ctr">
              <a:buNone/>
            </a:pPr>
            <a:r>
              <a:rPr lang="en-US" sz="2000" b="1" dirty="0">
                <a:solidFill>
                  <a:srgbClr val="0A0E24"/>
                </a:solidFill>
                <a:latin typeface="Calibri" pitchFamily="34" charset="0"/>
                <a:ea typeface="Calibri" pitchFamily="34" charset="-122"/>
                <a:cs typeface="Calibri" pitchFamily="34" charset="-120"/>
              </a:rPr>
              <a:t>MTX</a:t>
            </a:r>
            <a:endParaRPr lang="en-US" sz="2000" dirty="0"/>
          </a:p>
        </p:txBody>
      </p:sp>
      <p:sp>
        <p:nvSpPr>
          <p:cNvPr id="9" name="Shape 7"/>
          <p:cNvSpPr/>
          <p:nvPr/>
        </p:nvSpPr>
        <p:spPr>
          <a:xfrm>
            <a:off x="1645920" y="1188720"/>
            <a:ext cx="1051560" cy="1188720"/>
          </a:xfrm>
          <a:prstGeom prst="roundRect">
            <a:avLst>
              <a:gd name="adj" fmla="val 8696"/>
            </a:avLst>
          </a:prstGeom>
          <a:solidFill>
            <a:srgbClr val="F1F3FB"/>
          </a:solidFill>
          <a:ln w="12700">
            <a:solidFill>
              <a:srgbClr val="CED5EA"/>
            </a:solidFill>
            <a:prstDash val="solid"/>
          </a:ln>
        </p:spPr>
        <p:txBody>
          <a:bodyPr/>
          <a:lstStyle/>
          <a:p>
            <a:endParaRPr lang="es-CO"/>
          </a:p>
        </p:txBody>
      </p:sp>
      <p:sp>
        <p:nvSpPr>
          <p:cNvPr id="10" name="Text 8"/>
          <p:cNvSpPr txBox="1"/>
          <p:nvPr/>
        </p:nvSpPr>
        <p:spPr>
          <a:xfrm>
            <a:off x="1645920" y="1234440"/>
            <a:ext cx="1051560" cy="320040"/>
          </a:xfrm>
          <a:prstGeom prst="rect">
            <a:avLst/>
          </a:prstGeom>
          <a:noFill/>
          <a:ln/>
        </p:spPr>
        <p:txBody>
          <a:bodyPr wrap="square" lIns="0" tIns="0" rIns="0" bIns="0" rtlCol="0" anchor="t"/>
          <a:lstStyle/>
          <a:p>
            <a:pPr marL="0" indent="0" algn="ctr">
              <a:buNone/>
            </a:pPr>
            <a:r>
              <a:rPr lang="en-US" sz="1300" b="1" dirty="0">
                <a:solidFill>
                  <a:srgbClr val="474F70"/>
                </a:solidFill>
                <a:latin typeface="Calibri" pitchFamily="34" charset="0"/>
                <a:ea typeface="Calibri" pitchFamily="34" charset="-122"/>
                <a:cs typeface="Calibri" pitchFamily="34" charset="-120"/>
              </a:rPr>
              <a:t>Mar</a:t>
            </a:r>
            <a:endParaRPr lang="en-US" sz="1300" dirty="0"/>
          </a:p>
        </p:txBody>
      </p:sp>
      <p:sp>
        <p:nvSpPr>
          <p:cNvPr id="11" name="Text 9"/>
          <p:cNvSpPr txBox="1"/>
          <p:nvPr/>
        </p:nvSpPr>
        <p:spPr>
          <a:xfrm>
            <a:off x="1645920" y="1554480"/>
            <a:ext cx="1051560" cy="457200"/>
          </a:xfrm>
          <a:prstGeom prst="rect">
            <a:avLst/>
          </a:prstGeom>
          <a:noFill/>
          <a:ln/>
        </p:spPr>
        <p:txBody>
          <a:bodyPr wrap="square" lIns="0" tIns="0" rIns="0" bIns="0" rtlCol="0" anchor="ctr"/>
          <a:lstStyle/>
          <a:p>
            <a:pPr marL="0" indent="0" algn="ctr">
              <a:buNone/>
            </a:pPr>
            <a:r>
              <a:rPr lang="en-US" sz="1800" b="1" dirty="0">
                <a:solidFill>
                  <a:srgbClr val="565E82"/>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2834640" y="1188720"/>
            <a:ext cx="1051560" cy="1188720"/>
          </a:xfrm>
          <a:prstGeom prst="roundRect">
            <a:avLst>
              <a:gd name="adj" fmla="val 8696"/>
            </a:avLst>
          </a:prstGeom>
          <a:solidFill>
            <a:srgbClr val="F1F3FB"/>
          </a:solidFill>
          <a:ln w="12700">
            <a:solidFill>
              <a:srgbClr val="CED5EA"/>
            </a:solidFill>
            <a:prstDash val="solid"/>
          </a:ln>
        </p:spPr>
        <p:txBody>
          <a:bodyPr/>
          <a:lstStyle/>
          <a:p>
            <a:endParaRPr lang="es-CO"/>
          </a:p>
        </p:txBody>
      </p:sp>
      <p:sp>
        <p:nvSpPr>
          <p:cNvPr id="13" name="Text 11"/>
          <p:cNvSpPr txBox="1"/>
          <p:nvPr/>
        </p:nvSpPr>
        <p:spPr>
          <a:xfrm>
            <a:off x="2834640" y="1234440"/>
            <a:ext cx="1051560" cy="320040"/>
          </a:xfrm>
          <a:prstGeom prst="rect">
            <a:avLst/>
          </a:prstGeom>
          <a:noFill/>
          <a:ln/>
        </p:spPr>
        <p:txBody>
          <a:bodyPr wrap="square" lIns="0" tIns="0" rIns="0" bIns="0" rtlCol="0" anchor="t"/>
          <a:lstStyle/>
          <a:p>
            <a:pPr marL="0" indent="0" algn="ctr">
              <a:buNone/>
            </a:pPr>
            <a:r>
              <a:rPr lang="en-US" sz="1300" b="1" dirty="0">
                <a:solidFill>
                  <a:srgbClr val="474F70"/>
                </a:solidFill>
                <a:latin typeface="Calibri" pitchFamily="34" charset="0"/>
                <a:ea typeface="Calibri" pitchFamily="34" charset="-122"/>
                <a:cs typeface="Calibri" pitchFamily="34" charset="-120"/>
              </a:rPr>
              <a:t>Mié</a:t>
            </a:r>
            <a:endParaRPr lang="en-US" sz="1300" dirty="0"/>
          </a:p>
        </p:txBody>
      </p:sp>
      <p:sp>
        <p:nvSpPr>
          <p:cNvPr id="14" name="Text 12"/>
          <p:cNvSpPr txBox="1"/>
          <p:nvPr/>
        </p:nvSpPr>
        <p:spPr>
          <a:xfrm>
            <a:off x="2834640" y="1554480"/>
            <a:ext cx="1051560" cy="457200"/>
          </a:xfrm>
          <a:prstGeom prst="rect">
            <a:avLst/>
          </a:prstGeom>
          <a:noFill/>
          <a:ln/>
        </p:spPr>
        <p:txBody>
          <a:bodyPr wrap="square" lIns="0" tIns="0" rIns="0" bIns="0" rtlCol="0" anchor="ctr"/>
          <a:lstStyle/>
          <a:p>
            <a:pPr marL="0" indent="0" algn="ctr">
              <a:buNone/>
            </a:pPr>
            <a:r>
              <a:rPr lang="en-US" sz="1800" b="1" dirty="0">
                <a:solidFill>
                  <a:srgbClr val="565E82"/>
                </a:solidFill>
                <a:latin typeface="Calibri" pitchFamily="34" charset="0"/>
                <a:ea typeface="Calibri" pitchFamily="34" charset="-122"/>
                <a:cs typeface="Calibri" pitchFamily="34" charset="-120"/>
              </a:rPr>
              <a:t>—</a:t>
            </a:r>
            <a:endParaRPr lang="en-US" sz="1800" dirty="0"/>
          </a:p>
        </p:txBody>
      </p:sp>
      <p:sp>
        <p:nvSpPr>
          <p:cNvPr id="15" name="Text 13"/>
          <p:cNvSpPr txBox="1"/>
          <p:nvPr/>
        </p:nvSpPr>
        <p:spPr>
          <a:xfrm>
            <a:off x="2834640" y="2011680"/>
            <a:ext cx="1051560" cy="274320"/>
          </a:xfrm>
          <a:prstGeom prst="rect">
            <a:avLst/>
          </a:prstGeom>
          <a:noFill/>
          <a:ln/>
        </p:spPr>
        <p:txBody>
          <a:bodyPr wrap="square" lIns="0" tIns="0" rIns="0" bIns="0" rtlCol="0" anchor="t"/>
          <a:lstStyle/>
          <a:p>
            <a:pPr marL="0" indent="0" algn="ctr">
              <a:buNone/>
            </a:pPr>
            <a:r>
              <a:rPr lang="en-US" sz="1000" b="1" dirty="0">
                <a:solidFill>
                  <a:srgbClr val="8A5E00"/>
                </a:solidFill>
                <a:latin typeface="Calibri" pitchFamily="34" charset="0"/>
                <a:ea typeface="Calibri" pitchFamily="34" charset="-122"/>
                <a:cs typeface="Calibri" pitchFamily="34" charset="-120"/>
              </a:rPr>
              <a:t>Folato</a:t>
            </a:r>
            <a:endParaRPr lang="en-US" sz="1000" dirty="0"/>
          </a:p>
        </p:txBody>
      </p:sp>
      <p:sp>
        <p:nvSpPr>
          <p:cNvPr id="16" name="Shape 14"/>
          <p:cNvSpPr/>
          <p:nvPr/>
        </p:nvSpPr>
        <p:spPr>
          <a:xfrm>
            <a:off x="4023360" y="1188720"/>
            <a:ext cx="1051560" cy="1188720"/>
          </a:xfrm>
          <a:prstGeom prst="roundRect">
            <a:avLst>
              <a:gd name="adj" fmla="val 8696"/>
            </a:avLst>
          </a:prstGeom>
          <a:solidFill>
            <a:srgbClr val="F1F3FB"/>
          </a:solidFill>
          <a:ln w="12700">
            <a:solidFill>
              <a:srgbClr val="CED5EA"/>
            </a:solidFill>
            <a:prstDash val="solid"/>
          </a:ln>
        </p:spPr>
        <p:txBody>
          <a:bodyPr/>
          <a:lstStyle/>
          <a:p>
            <a:endParaRPr lang="es-CO"/>
          </a:p>
        </p:txBody>
      </p:sp>
      <p:sp>
        <p:nvSpPr>
          <p:cNvPr id="17" name="Text 15"/>
          <p:cNvSpPr txBox="1"/>
          <p:nvPr/>
        </p:nvSpPr>
        <p:spPr>
          <a:xfrm>
            <a:off x="4023360" y="1234440"/>
            <a:ext cx="1051560" cy="320040"/>
          </a:xfrm>
          <a:prstGeom prst="rect">
            <a:avLst/>
          </a:prstGeom>
          <a:noFill/>
          <a:ln/>
        </p:spPr>
        <p:txBody>
          <a:bodyPr wrap="square" lIns="0" tIns="0" rIns="0" bIns="0" rtlCol="0" anchor="t"/>
          <a:lstStyle/>
          <a:p>
            <a:pPr marL="0" indent="0" algn="ctr">
              <a:buNone/>
            </a:pPr>
            <a:r>
              <a:rPr lang="en-US" sz="1300" b="1" dirty="0">
                <a:solidFill>
                  <a:srgbClr val="474F70"/>
                </a:solidFill>
                <a:latin typeface="Calibri" pitchFamily="34" charset="0"/>
                <a:ea typeface="Calibri" pitchFamily="34" charset="-122"/>
                <a:cs typeface="Calibri" pitchFamily="34" charset="-120"/>
              </a:rPr>
              <a:t>Jue</a:t>
            </a:r>
            <a:endParaRPr lang="en-US" sz="1300" dirty="0"/>
          </a:p>
        </p:txBody>
      </p:sp>
      <p:sp>
        <p:nvSpPr>
          <p:cNvPr id="18" name="Text 16"/>
          <p:cNvSpPr txBox="1"/>
          <p:nvPr/>
        </p:nvSpPr>
        <p:spPr>
          <a:xfrm>
            <a:off x="4023360" y="1554480"/>
            <a:ext cx="1051560" cy="457200"/>
          </a:xfrm>
          <a:prstGeom prst="rect">
            <a:avLst/>
          </a:prstGeom>
          <a:noFill/>
          <a:ln/>
        </p:spPr>
        <p:txBody>
          <a:bodyPr wrap="square" lIns="0" tIns="0" rIns="0" bIns="0" rtlCol="0" anchor="ctr"/>
          <a:lstStyle/>
          <a:p>
            <a:pPr marL="0" indent="0" algn="ctr">
              <a:buNone/>
            </a:pPr>
            <a:r>
              <a:rPr lang="en-US" sz="1800" b="1" dirty="0">
                <a:solidFill>
                  <a:srgbClr val="565E82"/>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5212080" y="1188720"/>
            <a:ext cx="1051560" cy="1188720"/>
          </a:xfrm>
          <a:prstGeom prst="roundRect">
            <a:avLst>
              <a:gd name="adj" fmla="val 8696"/>
            </a:avLst>
          </a:prstGeom>
          <a:solidFill>
            <a:srgbClr val="F1F3FB"/>
          </a:solidFill>
          <a:ln w="12700">
            <a:solidFill>
              <a:srgbClr val="CED5EA"/>
            </a:solidFill>
            <a:prstDash val="solid"/>
          </a:ln>
        </p:spPr>
        <p:txBody>
          <a:bodyPr/>
          <a:lstStyle/>
          <a:p>
            <a:endParaRPr lang="es-CO"/>
          </a:p>
        </p:txBody>
      </p:sp>
      <p:sp>
        <p:nvSpPr>
          <p:cNvPr id="20" name="Text 18"/>
          <p:cNvSpPr txBox="1"/>
          <p:nvPr/>
        </p:nvSpPr>
        <p:spPr>
          <a:xfrm>
            <a:off x="5212080" y="1234440"/>
            <a:ext cx="1051560" cy="320040"/>
          </a:xfrm>
          <a:prstGeom prst="rect">
            <a:avLst/>
          </a:prstGeom>
          <a:noFill/>
          <a:ln/>
        </p:spPr>
        <p:txBody>
          <a:bodyPr wrap="square" lIns="0" tIns="0" rIns="0" bIns="0" rtlCol="0" anchor="t"/>
          <a:lstStyle/>
          <a:p>
            <a:pPr marL="0" indent="0" algn="ctr">
              <a:buNone/>
            </a:pPr>
            <a:r>
              <a:rPr lang="en-US" sz="1300" b="1" dirty="0">
                <a:solidFill>
                  <a:srgbClr val="474F70"/>
                </a:solidFill>
                <a:latin typeface="Calibri" pitchFamily="34" charset="0"/>
                <a:ea typeface="Calibri" pitchFamily="34" charset="-122"/>
                <a:cs typeface="Calibri" pitchFamily="34" charset="-120"/>
              </a:rPr>
              <a:t>Vie</a:t>
            </a:r>
            <a:endParaRPr lang="en-US" sz="1300" dirty="0"/>
          </a:p>
        </p:txBody>
      </p:sp>
      <p:sp>
        <p:nvSpPr>
          <p:cNvPr id="21" name="Text 19"/>
          <p:cNvSpPr txBox="1"/>
          <p:nvPr/>
        </p:nvSpPr>
        <p:spPr>
          <a:xfrm>
            <a:off x="5212080" y="1554480"/>
            <a:ext cx="1051560" cy="457200"/>
          </a:xfrm>
          <a:prstGeom prst="rect">
            <a:avLst/>
          </a:prstGeom>
          <a:noFill/>
          <a:ln/>
        </p:spPr>
        <p:txBody>
          <a:bodyPr wrap="square" lIns="0" tIns="0" rIns="0" bIns="0" rtlCol="0" anchor="ctr"/>
          <a:lstStyle/>
          <a:p>
            <a:pPr marL="0" indent="0" algn="ctr">
              <a:buNone/>
            </a:pPr>
            <a:r>
              <a:rPr lang="en-US" sz="1800" b="1" dirty="0">
                <a:solidFill>
                  <a:srgbClr val="565E82"/>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6400800" y="1188720"/>
            <a:ext cx="1051560" cy="1188720"/>
          </a:xfrm>
          <a:prstGeom prst="roundRect">
            <a:avLst>
              <a:gd name="adj" fmla="val 8696"/>
            </a:avLst>
          </a:prstGeom>
          <a:solidFill>
            <a:srgbClr val="F1F3FB"/>
          </a:solidFill>
          <a:ln w="12700">
            <a:solidFill>
              <a:srgbClr val="CED5EA"/>
            </a:solidFill>
            <a:prstDash val="solid"/>
          </a:ln>
        </p:spPr>
        <p:txBody>
          <a:bodyPr/>
          <a:lstStyle/>
          <a:p>
            <a:endParaRPr lang="es-CO"/>
          </a:p>
        </p:txBody>
      </p:sp>
      <p:sp>
        <p:nvSpPr>
          <p:cNvPr id="23" name="Text 21"/>
          <p:cNvSpPr txBox="1"/>
          <p:nvPr/>
        </p:nvSpPr>
        <p:spPr>
          <a:xfrm>
            <a:off x="6400800" y="1234440"/>
            <a:ext cx="1051560" cy="320040"/>
          </a:xfrm>
          <a:prstGeom prst="rect">
            <a:avLst/>
          </a:prstGeom>
          <a:noFill/>
          <a:ln/>
        </p:spPr>
        <p:txBody>
          <a:bodyPr wrap="square" lIns="0" tIns="0" rIns="0" bIns="0" rtlCol="0" anchor="t"/>
          <a:lstStyle/>
          <a:p>
            <a:pPr marL="0" indent="0" algn="ctr">
              <a:buNone/>
            </a:pPr>
            <a:r>
              <a:rPr lang="en-US" sz="1300" b="1" dirty="0">
                <a:solidFill>
                  <a:srgbClr val="474F70"/>
                </a:solidFill>
                <a:latin typeface="Calibri" pitchFamily="34" charset="0"/>
                <a:ea typeface="Calibri" pitchFamily="34" charset="-122"/>
                <a:cs typeface="Calibri" pitchFamily="34" charset="-120"/>
              </a:rPr>
              <a:t>Sáb</a:t>
            </a:r>
            <a:endParaRPr lang="en-US" sz="1300" dirty="0"/>
          </a:p>
        </p:txBody>
      </p:sp>
      <p:sp>
        <p:nvSpPr>
          <p:cNvPr id="24" name="Text 22"/>
          <p:cNvSpPr txBox="1"/>
          <p:nvPr/>
        </p:nvSpPr>
        <p:spPr>
          <a:xfrm>
            <a:off x="6400800" y="1554480"/>
            <a:ext cx="1051560" cy="457200"/>
          </a:xfrm>
          <a:prstGeom prst="rect">
            <a:avLst/>
          </a:prstGeom>
          <a:noFill/>
          <a:ln/>
        </p:spPr>
        <p:txBody>
          <a:bodyPr wrap="square" lIns="0" tIns="0" rIns="0" bIns="0" rtlCol="0" anchor="ctr"/>
          <a:lstStyle/>
          <a:p>
            <a:pPr marL="0" indent="0" algn="ctr">
              <a:buNone/>
            </a:pPr>
            <a:r>
              <a:rPr lang="en-US" sz="1800" b="1" dirty="0">
                <a:solidFill>
                  <a:srgbClr val="565E82"/>
                </a:solidFill>
                <a:latin typeface="Calibri" pitchFamily="34" charset="0"/>
                <a:ea typeface="Calibri" pitchFamily="34" charset="-122"/>
                <a:cs typeface="Calibri" pitchFamily="34" charset="-120"/>
              </a:rPr>
              <a:t>—</a:t>
            </a:r>
            <a:endParaRPr lang="en-US" sz="1800" dirty="0"/>
          </a:p>
        </p:txBody>
      </p:sp>
      <p:sp>
        <p:nvSpPr>
          <p:cNvPr id="25" name="Shape 23"/>
          <p:cNvSpPr/>
          <p:nvPr/>
        </p:nvSpPr>
        <p:spPr>
          <a:xfrm>
            <a:off x="7589520" y="1188720"/>
            <a:ext cx="1051560" cy="1188720"/>
          </a:xfrm>
          <a:prstGeom prst="roundRect">
            <a:avLst>
              <a:gd name="adj" fmla="val 8696"/>
            </a:avLst>
          </a:prstGeom>
          <a:solidFill>
            <a:srgbClr val="F1F3FB"/>
          </a:solidFill>
          <a:ln w="12700">
            <a:solidFill>
              <a:srgbClr val="CED5EA"/>
            </a:solidFill>
            <a:prstDash val="solid"/>
          </a:ln>
        </p:spPr>
        <p:txBody>
          <a:bodyPr/>
          <a:lstStyle/>
          <a:p>
            <a:endParaRPr lang="es-CO"/>
          </a:p>
        </p:txBody>
      </p:sp>
      <p:sp>
        <p:nvSpPr>
          <p:cNvPr id="26" name="Text 24"/>
          <p:cNvSpPr txBox="1"/>
          <p:nvPr/>
        </p:nvSpPr>
        <p:spPr>
          <a:xfrm>
            <a:off x="7589520" y="1234440"/>
            <a:ext cx="1051560" cy="320040"/>
          </a:xfrm>
          <a:prstGeom prst="rect">
            <a:avLst/>
          </a:prstGeom>
          <a:noFill/>
          <a:ln/>
        </p:spPr>
        <p:txBody>
          <a:bodyPr wrap="square" lIns="0" tIns="0" rIns="0" bIns="0" rtlCol="0" anchor="t"/>
          <a:lstStyle/>
          <a:p>
            <a:pPr marL="0" indent="0" algn="ctr">
              <a:buNone/>
            </a:pPr>
            <a:r>
              <a:rPr lang="en-US" sz="1300" b="1" dirty="0">
                <a:solidFill>
                  <a:srgbClr val="474F70"/>
                </a:solidFill>
                <a:latin typeface="Calibri" pitchFamily="34" charset="0"/>
                <a:ea typeface="Calibri" pitchFamily="34" charset="-122"/>
                <a:cs typeface="Calibri" pitchFamily="34" charset="-120"/>
              </a:rPr>
              <a:t>Dom</a:t>
            </a:r>
            <a:endParaRPr lang="en-US" sz="1300" dirty="0"/>
          </a:p>
        </p:txBody>
      </p:sp>
      <p:sp>
        <p:nvSpPr>
          <p:cNvPr id="27" name="Text 25"/>
          <p:cNvSpPr txBox="1"/>
          <p:nvPr/>
        </p:nvSpPr>
        <p:spPr>
          <a:xfrm>
            <a:off x="7589520" y="1554480"/>
            <a:ext cx="1051560" cy="457200"/>
          </a:xfrm>
          <a:prstGeom prst="rect">
            <a:avLst/>
          </a:prstGeom>
          <a:noFill/>
          <a:ln/>
        </p:spPr>
        <p:txBody>
          <a:bodyPr wrap="square" lIns="0" tIns="0" rIns="0" bIns="0" rtlCol="0" anchor="ctr"/>
          <a:lstStyle/>
          <a:p>
            <a:pPr marL="0" indent="0" algn="ctr">
              <a:buNone/>
            </a:pPr>
            <a:r>
              <a:rPr lang="en-US" sz="1800" b="1" dirty="0">
                <a:solidFill>
                  <a:srgbClr val="565E82"/>
                </a:solidFill>
                <a:latin typeface="Calibri" pitchFamily="34" charset="0"/>
                <a:ea typeface="Calibri" pitchFamily="34" charset="-122"/>
                <a:cs typeface="Calibri" pitchFamily="34" charset="-120"/>
              </a:rPr>
              <a:t>—</a:t>
            </a:r>
            <a:endParaRPr lang="en-US" sz="1800" dirty="0"/>
          </a:p>
        </p:txBody>
      </p:sp>
      <p:sp>
        <p:nvSpPr>
          <p:cNvPr id="28" name="Text 26"/>
          <p:cNvSpPr txBox="1"/>
          <p:nvPr/>
        </p:nvSpPr>
        <p:spPr>
          <a:xfrm>
            <a:off x="457200" y="2423160"/>
            <a:ext cx="8229600" cy="256032"/>
          </a:xfrm>
          <a:prstGeom prst="rect">
            <a:avLst/>
          </a:prstGeom>
          <a:noFill/>
          <a:ln/>
        </p:spPr>
        <p:txBody>
          <a:bodyPr wrap="square" lIns="0" tIns="0" rIns="0" bIns="0" rtlCol="0" anchor="t"/>
          <a:lstStyle/>
          <a:p>
            <a:pPr marL="0" indent="0">
              <a:buNone/>
            </a:pPr>
            <a:r>
              <a:rPr lang="en-US" sz="950" i="1" dirty="0">
                <a:solidFill>
                  <a:srgbClr val="565E82"/>
                </a:solidFill>
                <a:latin typeface="Calibri" pitchFamily="34" charset="0"/>
                <a:ea typeface="Calibri" pitchFamily="34" charset="-122"/>
                <a:cs typeface="Calibri" pitchFamily="34" charset="-120"/>
              </a:rPr>
              <a:t>Ejemplo de calendario: el ácido fólico se da en otro(s) día(s) según el esquema elegido.</a:t>
            </a:r>
            <a:endParaRPr lang="en-US" sz="950" dirty="0"/>
          </a:p>
        </p:txBody>
      </p:sp>
      <p:sp>
        <p:nvSpPr>
          <p:cNvPr id="29" name="Shape 27"/>
          <p:cNvSpPr/>
          <p:nvPr/>
        </p:nvSpPr>
        <p:spPr>
          <a:xfrm>
            <a:off x="457200" y="2743200"/>
            <a:ext cx="2697480" cy="1965960"/>
          </a:xfrm>
          <a:prstGeom prst="roundRect">
            <a:avLst>
              <a:gd name="adj" fmla="val 4651"/>
            </a:avLst>
          </a:prstGeom>
          <a:solidFill>
            <a:srgbClr val="F1F3FB"/>
          </a:solidFill>
          <a:ln w="9525">
            <a:solidFill>
              <a:srgbClr val="D8DEEF"/>
            </a:solidFill>
            <a:prstDash val="solid"/>
          </a:ln>
        </p:spPr>
        <p:txBody>
          <a:bodyPr/>
          <a:lstStyle/>
          <a:p>
            <a:endParaRPr lang="es-CO"/>
          </a:p>
        </p:txBody>
      </p:sp>
      <p:sp>
        <p:nvSpPr>
          <p:cNvPr id="30" name="Text 28"/>
          <p:cNvSpPr txBox="1"/>
          <p:nvPr/>
        </p:nvSpPr>
        <p:spPr>
          <a:xfrm>
            <a:off x="594360" y="2816352"/>
            <a:ext cx="2468880" cy="292608"/>
          </a:xfrm>
          <a:prstGeom prst="rect">
            <a:avLst/>
          </a:prstGeom>
          <a:noFill/>
          <a:ln/>
        </p:spPr>
        <p:txBody>
          <a:bodyPr wrap="square" lIns="0" tIns="0" rIns="0" bIns="0" rtlCol="0" anchor="t"/>
          <a:lstStyle/>
          <a:p>
            <a:pPr marL="0" indent="0">
              <a:buNone/>
            </a:pPr>
            <a:r>
              <a:rPr lang="en-US" sz="1300" b="1" dirty="0">
                <a:solidFill>
                  <a:srgbClr val="0C8368"/>
                </a:solidFill>
                <a:latin typeface="Calibri" pitchFamily="34" charset="0"/>
                <a:ea typeface="Calibri" pitchFamily="34" charset="-122"/>
                <a:cs typeface="Calibri" pitchFamily="34" charset="-120"/>
              </a:rPr>
              <a:t>Dosis (EULAR)</a:t>
            </a:r>
            <a:endParaRPr lang="en-US" sz="1300" dirty="0"/>
          </a:p>
        </p:txBody>
      </p:sp>
      <p:sp>
        <p:nvSpPr>
          <p:cNvPr id="31" name="Text 29"/>
          <p:cNvSpPr txBox="1"/>
          <p:nvPr/>
        </p:nvSpPr>
        <p:spPr>
          <a:xfrm>
            <a:off x="594360" y="3108960"/>
            <a:ext cx="2468880" cy="1554480"/>
          </a:xfrm>
          <a:prstGeom prst="rect">
            <a:avLst/>
          </a:prstGeom>
          <a:noFill/>
          <a:ln/>
        </p:spPr>
        <p:txBody>
          <a:bodyPr wrap="square" lIns="0" tIns="0" rIns="0" bIns="0" rtlCol="0" anchor="t"/>
          <a:lstStyle/>
          <a:p>
            <a:pPr marL="0" indent="0">
              <a:buNone/>
            </a:pPr>
            <a:r>
              <a:rPr lang="en-US" sz="1800" b="1" dirty="0">
                <a:solidFill>
                  <a:srgbClr val="15193A"/>
                </a:solidFill>
                <a:latin typeface="Calibri" pitchFamily="34" charset="0"/>
                <a:ea typeface="Calibri" pitchFamily="34" charset="-122"/>
                <a:cs typeface="Calibri" pitchFamily="34" charset="-120"/>
              </a:rPr>
              <a:t>7,5–10 mg</a:t>
            </a:r>
            <a:endParaRPr lang="en-US" sz="1300" dirty="0"/>
          </a:p>
          <a:p>
            <a:pPr marL="0" indent="0">
              <a:buNone/>
            </a:pPr>
            <a:r>
              <a:rPr lang="en-US" sz="1050" dirty="0">
                <a:solidFill>
                  <a:srgbClr val="474F70"/>
                </a:solidFill>
                <a:latin typeface="Calibri" pitchFamily="34" charset="0"/>
                <a:ea typeface="Calibri" pitchFamily="34" charset="-122"/>
                <a:cs typeface="Calibri" pitchFamily="34" charset="-120"/>
              </a:rPr>
              <a:t>semanal al inicio</a:t>
            </a:r>
            <a:endParaRPr lang="en-US" sz="1300" dirty="0"/>
          </a:p>
          <a:p>
            <a:pPr marL="0" indent="0">
              <a:buNone/>
            </a:pPr>
            <a:r>
              <a:rPr lang="en-US" sz="1800" b="1" dirty="0">
                <a:solidFill>
                  <a:srgbClr val="15193A"/>
                </a:solidFill>
                <a:latin typeface="Calibri" pitchFamily="34" charset="0"/>
                <a:ea typeface="Calibri" pitchFamily="34" charset="-122"/>
                <a:cs typeface="Calibri" pitchFamily="34" charset="-120"/>
              </a:rPr>
              <a:t>20–25 mg</a:t>
            </a:r>
            <a:endParaRPr lang="en-US" sz="1300" dirty="0"/>
          </a:p>
          <a:p>
            <a:pPr marL="0" indent="0">
              <a:buNone/>
            </a:pPr>
            <a:r>
              <a:rPr lang="en-US" sz="1050" dirty="0">
                <a:solidFill>
                  <a:srgbClr val="474F70"/>
                </a:solidFill>
                <a:latin typeface="Calibri" pitchFamily="34" charset="0"/>
                <a:ea typeface="Calibri" pitchFamily="34" charset="-122"/>
                <a:cs typeface="Calibri" pitchFamily="34" charset="-120"/>
              </a:rPr>
              <a:t>semanal (0,3 mg/kg) en 4–8 semanas</a:t>
            </a:r>
            <a:endParaRPr lang="en-US" sz="1300" dirty="0"/>
          </a:p>
        </p:txBody>
      </p:sp>
      <p:sp>
        <p:nvSpPr>
          <p:cNvPr id="32" name="Shape 30"/>
          <p:cNvSpPr/>
          <p:nvPr/>
        </p:nvSpPr>
        <p:spPr>
          <a:xfrm>
            <a:off x="3246120" y="2743200"/>
            <a:ext cx="2697480" cy="1965960"/>
          </a:xfrm>
          <a:prstGeom prst="roundRect">
            <a:avLst>
              <a:gd name="adj" fmla="val 4651"/>
            </a:avLst>
          </a:prstGeom>
          <a:solidFill>
            <a:srgbClr val="F1F3FB"/>
          </a:solidFill>
          <a:ln w="9525">
            <a:solidFill>
              <a:srgbClr val="D8DEEF"/>
            </a:solidFill>
            <a:prstDash val="solid"/>
          </a:ln>
        </p:spPr>
        <p:txBody>
          <a:bodyPr/>
          <a:lstStyle/>
          <a:p>
            <a:endParaRPr lang="es-CO"/>
          </a:p>
        </p:txBody>
      </p:sp>
      <p:sp>
        <p:nvSpPr>
          <p:cNvPr id="33" name="Text 31"/>
          <p:cNvSpPr txBox="1"/>
          <p:nvPr/>
        </p:nvSpPr>
        <p:spPr>
          <a:xfrm>
            <a:off x="3383280" y="2816352"/>
            <a:ext cx="2468880" cy="292608"/>
          </a:xfrm>
          <a:prstGeom prst="rect">
            <a:avLst/>
          </a:prstGeom>
          <a:noFill/>
          <a:ln/>
        </p:spPr>
        <p:txBody>
          <a:bodyPr wrap="square" lIns="0" tIns="0" rIns="0" bIns="0" rtlCol="0" anchor="t"/>
          <a:lstStyle/>
          <a:p>
            <a:pPr marL="0" indent="0">
              <a:buNone/>
            </a:pPr>
            <a:r>
              <a:rPr lang="en-US" sz="1300" b="1" dirty="0">
                <a:solidFill>
                  <a:srgbClr val="0A6F98"/>
                </a:solidFill>
                <a:latin typeface="Calibri" pitchFamily="34" charset="0"/>
                <a:ea typeface="Calibri" pitchFamily="34" charset="-122"/>
                <a:cs typeface="Calibri" pitchFamily="34" charset="-120"/>
              </a:rPr>
              <a:t>Vigilancia</a:t>
            </a:r>
            <a:endParaRPr lang="en-US" sz="1300" dirty="0"/>
          </a:p>
        </p:txBody>
      </p:sp>
      <p:sp>
        <p:nvSpPr>
          <p:cNvPr id="34" name="Text 32"/>
          <p:cNvSpPr txBox="1"/>
          <p:nvPr/>
        </p:nvSpPr>
        <p:spPr>
          <a:xfrm>
            <a:off x="3383280" y="3154680"/>
            <a:ext cx="2468880" cy="1508760"/>
          </a:xfrm>
          <a:prstGeom prst="rect">
            <a:avLst/>
          </a:prstGeom>
          <a:noFill/>
          <a:ln/>
        </p:spPr>
        <p:txBody>
          <a:bodyPr wrap="square" lIns="0" tIns="0" rIns="0" bIns="0" rtlCol="0" anchor="t"/>
          <a:lstStyle/>
          <a:p>
            <a:pPr marL="165100" indent="-165100">
              <a:spcAft>
                <a:spcPts val="300"/>
              </a:spcAft>
              <a:buSzPct val="100000"/>
              <a:buChar char="•"/>
            </a:pPr>
            <a:r>
              <a:rPr lang="en-US" sz="1150" dirty="0">
                <a:solidFill>
                  <a:srgbClr val="15193A"/>
                </a:solidFill>
                <a:latin typeface="Calibri" pitchFamily="34" charset="0"/>
                <a:ea typeface="Calibri" pitchFamily="34" charset="-122"/>
                <a:cs typeface="Calibri" pitchFamily="34" charset="-120"/>
              </a:rPr>
              <a:t>Hemograma</a:t>
            </a:r>
            <a:endParaRPr lang="en-US" sz="1150" dirty="0"/>
          </a:p>
          <a:p>
            <a:pPr marL="165100" indent="-165100">
              <a:spcAft>
                <a:spcPts val="300"/>
              </a:spcAft>
              <a:buSzPct val="100000"/>
              <a:buChar char="•"/>
            </a:pPr>
            <a:r>
              <a:rPr lang="en-US" sz="1150" dirty="0">
                <a:solidFill>
                  <a:srgbClr val="15193A"/>
                </a:solidFill>
                <a:latin typeface="Calibri" pitchFamily="34" charset="0"/>
                <a:ea typeface="Calibri" pitchFamily="34" charset="-122"/>
                <a:cs typeface="Calibri" pitchFamily="34" charset="-120"/>
              </a:rPr>
              <a:t>Transaminasas</a:t>
            </a:r>
            <a:endParaRPr lang="en-US" sz="1150" dirty="0"/>
          </a:p>
          <a:p>
            <a:pPr marL="165100" indent="-165100">
              <a:spcAft>
                <a:spcPts val="300"/>
              </a:spcAft>
              <a:buSzPct val="100000"/>
              <a:buChar char="•"/>
            </a:pPr>
            <a:r>
              <a:rPr lang="en-US" sz="1150" dirty="0">
                <a:solidFill>
                  <a:srgbClr val="15193A"/>
                </a:solidFill>
                <a:latin typeface="Calibri" pitchFamily="34" charset="0"/>
                <a:ea typeface="Calibri" pitchFamily="34" charset="-122"/>
                <a:cs typeface="Calibri" pitchFamily="34" charset="-120"/>
              </a:rPr>
              <a:t>Creatinina</a:t>
            </a:r>
            <a:endParaRPr lang="en-US" sz="1150" dirty="0"/>
          </a:p>
          <a:p>
            <a:pPr marL="165100" indent="-165100">
              <a:spcAft>
                <a:spcPts val="300"/>
              </a:spcAft>
              <a:buSzPct val="100000"/>
              <a:buChar char="•"/>
            </a:pPr>
            <a:r>
              <a:rPr lang="en-US" sz="1150" dirty="0">
                <a:solidFill>
                  <a:srgbClr val="15193A"/>
                </a:solidFill>
                <a:latin typeface="Calibri" pitchFamily="34" charset="0"/>
                <a:ea typeface="Calibri" pitchFamily="34" charset="-122"/>
                <a:cs typeface="Calibri" pitchFamily="34" charset="-120"/>
              </a:rPr>
              <a:t>Síntomas respiratorios (neumonitis ~1 %)</a:t>
            </a:r>
            <a:endParaRPr lang="en-US" sz="1150" dirty="0"/>
          </a:p>
        </p:txBody>
      </p:sp>
      <p:sp>
        <p:nvSpPr>
          <p:cNvPr id="35" name="Shape 33"/>
          <p:cNvSpPr/>
          <p:nvPr/>
        </p:nvSpPr>
        <p:spPr>
          <a:xfrm>
            <a:off x="6035040" y="2743200"/>
            <a:ext cx="2651760" cy="1965960"/>
          </a:xfrm>
          <a:prstGeom prst="roundRect">
            <a:avLst>
              <a:gd name="adj" fmla="val 4651"/>
            </a:avLst>
          </a:prstGeom>
          <a:solidFill>
            <a:srgbClr val="FF4D6D">
              <a:alpha val="12000"/>
            </a:srgbClr>
          </a:solidFill>
          <a:ln w="15875">
            <a:solidFill>
              <a:srgbClr val="FF4D6D"/>
            </a:solidFill>
            <a:prstDash val="solid"/>
          </a:ln>
        </p:spPr>
        <p:txBody>
          <a:bodyPr/>
          <a:lstStyle/>
          <a:p>
            <a:endParaRPr lang="es-CO"/>
          </a:p>
        </p:txBody>
      </p:sp>
      <p:sp>
        <p:nvSpPr>
          <p:cNvPr id="36" name="Text 34"/>
          <p:cNvSpPr txBox="1"/>
          <p:nvPr/>
        </p:nvSpPr>
        <p:spPr>
          <a:xfrm>
            <a:off x="6172200" y="2816352"/>
            <a:ext cx="2423160" cy="292608"/>
          </a:xfrm>
          <a:prstGeom prst="rect">
            <a:avLst/>
          </a:prstGeom>
          <a:noFill/>
          <a:ln/>
        </p:spPr>
        <p:txBody>
          <a:bodyPr wrap="square" lIns="0" tIns="0" rIns="0" bIns="0" rtlCol="0" anchor="t"/>
          <a:lstStyle/>
          <a:p>
            <a:pPr marL="0" indent="0">
              <a:buNone/>
            </a:pPr>
            <a:r>
              <a:rPr lang="en-US" sz="1300" b="1" dirty="0">
                <a:solidFill>
                  <a:srgbClr val="C81E43"/>
                </a:solidFill>
                <a:latin typeface="Calibri" pitchFamily="34" charset="0"/>
                <a:ea typeface="Calibri" pitchFamily="34" charset="-122"/>
                <a:cs typeface="Calibri" pitchFamily="34" charset="-120"/>
              </a:rPr>
              <a:t>Contraindicaciones</a:t>
            </a:r>
            <a:endParaRPr lang="en-US" sz="1300" dirty="0"/>
          </a:p>
        </p:txBody>
      </p:sp>
      <p:sp>
        <p:nvSpPr>
          <p:cNvPr id="37" name="Text 35"/>
          <p:cNvSpPr txBox="1"/>
          <p:nvPr/>
        </p:nvSpPr>
        <p:spPr>
          <a:xfrm>
            <a:off x="6172200" y="3154680"/>
            <a:ext cx="2423160" cy="1508760"/>
          </a:xfrm>
          <a:prstGeom prst="rect">
            <a:avLst/>
          </a:prstGeom>
          <a:noFill/>
          <a:ln/>
        </p:spPr>
        <p:txBody>
          <a:bodyPr wrap="square" lIns="0" tIns="0" rIns="0" bIns="0" rtlCol="0" anchor="t"/>
          <a:lstStyle/>
          <a:p>
            <a:pPr marL="165100" indent="-165100">
              <a:spcAft>
                <a:spcPts val="300"/>
              </a:spcAft>
              <a:buSzPct val="100000"/>
              <a:buChar char="•"/>
            </a:pPr>
            <a:r>
              <a:rPr lang="en-US" sz="1150" dirty="0">
                <a:solidFill>
                  <a:srgbClr val="15193A"/>
                </a:solidFill>
                <a:latin typeface="Calibri" pitchFamily="34" charset="0"/>
                <a:ea typeface="Calibri" pitchFamily="34" charset="-122"/>
                <a:cs typeface="Calibri" pitchFamily="34" charset="-120"/>
              </a:rPr>
              <a:t>Insuficiencia renal</a:t>
            </a:r>
            <a:endParaRPr lang="en-US" sz="1150" dirty="0"/>
          </a:p>
          <a:p>
            <a:pPr marL="165100" indent="-165100">
              <a:spcAft>
                <a:spcPts val="300"/>
              </a:spcAft>
              <a:buSzPct val="100000"/>
              <a:buChar char="•"/>
            </a:pPr>
            <a:r>
              <a:rPr lang="en-US" sz="1150" dirty="0">
                <a:solidFill>
                  <a:srgbClr val="15193A"/>
                </a:solidFill>
                <a:latin typeface="Calibri" pitchFamily="34" charset="0"/>
                <a:ea typeface="Calibri" pitchFamily="34" charset="-122"/>
                <a:cs typeface="Calibri" pitchFamily="34" charset="-120"/>
              </a:rPr>
              <a:t>Enfermedad hepática</a:t>
            </a:r>
            <a:endParaRPr lang="en-US" sz="1150" dirty="0"/>
          </a:p>
          <a:p>
            <a:pPr marL="165100" indent="-165100">
              <a:spcAft>
                <a:spcPts val="300"/>
              </a:spcAft>
              <a:buSzPct val="100000"/>
              <a:buChar char="•"/>
            </a:pPr>
            <a:r>
              <a:rPr lang="en-US" sz="1150" dirty="0">
                <a:solidFill>
                  <a:srgbClr val="15193A"/>
                </a:solidFill>
                <a:latin typeface="Calibri" pitchFamily="34" charset="0"/>
                <a:ea typeface="Calibri" pitchFamily="34" charset="-122"/>
                <a:cs typeface="Calibri" pitchFamily="34" charset="-120"/>
              </a:rPr>
              <a:t>Consumo elevado de alcohol</a:t>
            </a:r>
            <a:endParaRPr lang="en-US" sz="1150" dirty="0"/>
          </a:p>
          <a:p>
            <a:pPr marL="165100" indent="-165100">
              <a:spcAft>
                <a:spcPts val="300"/>
              </a:spcAft>
              <a:buSzPct val="100000"/>
              <a:buChar char="•"/>
            </a:pPr>
            <a:r>
              <a:rPr lang="en-US" sz="1150" dirty="0">
                <a:solidFill>
                  <a:srgbClr val="15193A"/>
                </a:solidFill>
                <a:latin typeface="Calibri" pitchFamily="34" charset="0"/>
                <a:ea typeface="Calibri" pitchFamily="34" charset="-122"/>
                <a:cs typeface="Calibri" pitchFamily="34" charset="-120"/>
              </a:rPr>
              <a:t>Embarazo (teratogénico)</a:t>
            </a:r>
            <a:endParaRPr lang="en-US" sz="1150" dirty="0"/>
          </a:p>
        </p:txBody>
      </p:sp>
      <p:sp>
        <p:nvSpPr>
          <p:cNvPr id="38"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21D3A8">
              <a:alpha val="12000"/>
            </a:srgbClr>
          </a:solidFill>
          <a:ln w="15875">
            <a:solidFill>
              <a:srgbClr val="21D3A8"/>
            </a:solidFill>
            <a:prstDash val="solid"/>
          </a:ln>
        </p:spPr>
        <p:txBody>
          <a:bodyPr/>
          <a:lstStyle/>
          <a:p>
            <a:endParaRPr lang="es-CO"/>
          </a:p>
        </p:txBody>
      </p:sp>
      <p:sp>
        <p:nvSpPr>
          <p:cNvPr id="3" name="Text 1"/>
          <p:cNvSpPr txBox="1"/>
          <p:nvPr/>
        </p:nvSpPr>
        <p:spPr>
          <a:xfrm>
            <a:off x="457200" y="731520"/>
            <a:ext cx="2651760" cy="320040"/>
          </a:xfrm>
          <a:prstGeom prst="rect">
            <a:avLst/>
          </a:prstGeom>
          <a:noFill/>
          <a:ln/>
        </p:spPr>
        <p:txBody>
          <a:bodyPr wrap="square" lIns="0" tIns="0" rIns="0" bIns="0" rtlCol="0" anchor="t"/>
          <a:lstStyle/>
          <a:p>
            <a:pPr marL="0" indent="0" algn="ctr">
              <a:buNone/>
            </a:pPr>
            <a:r>
              <a:rPr lang="en-US" sz="1400" b="1" kern="0" spc="800" dirty="0">
                <a:solidFill>
                  <a:srgbClr val="0C8368"/>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marL="0" indent="0" algn="ctr">
              <a:buNone/>
            </a:pPr>
            <a:r>
              <a:rPr lang="en-US" sz="11000" b="1" dirty="0">
                <a:solidFill>
                  <a:srgbClr val="15193A"/>
                </a:solidFill>
                <a:latin typeface="Calibri" pitchFamily="34" charset="0"/>
                <a:ea typeface="Calibri" pitchFamily="34" charset="-122"/>
                <a:cs typeface="Calibri" pitchFamily="34" charset="-120"/>
              </a:rPr>
              <a:t>09</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marL="0" indent="0" algn="ctr">
              <a:buNone/>
            </a:pPr>
            <a:r>
              <a:rPr lang="en-US" sz="1300" dirty="0">
                <a:solidFill>
                  <a:srgbClr val="474F70"/>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21D3A8"/>
          </a:solidFill>
          <a:ln w="19050">
            <a:solidFill>
              <a:srgbClr val="21D3A8"/>
            </a:solidFill>
            <a:prstDash val="solid"/>
          </a:ln>
        </p:spPr>
        <p:txBody>
          <a:bodyPr/>
          <a:lstStyle/>
          <a:p>
            <a:endParaRPr lang="es-CO"/>
          </a:p>
        </p:txBody>
      </p:sp>
      <p:pic>
        <p:nvPicPr>
          <p:cNvPr id="7" name="Image 0" descr="preencoded.png"/>
          <p:cNvPicPr>
            <a:picLocks noChangeAspect="1"/>
          </p:cNvPicPr>
          <p:nvPr/>
        </p:nvPicPr>
        <p:blipFill>
          <a:blip r:embed="rId4"/>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marL="0" indent="0">
              <a:buNone/>
            </a:pPr>
            <a:r>
              <a:rPr lang="en-US" sz="2500" b="1" dirty="0">
                <a:solidFill>
                  <a:srgbClr val="15193A"/>
                </a:solidFill>
                <a:latin typeface="Calibri" pitchFamily="34" charset="0"/>
                <a:ea typeface="Calibri" pitchFamily="34" charset="-122"/>
                <a:cs typeface="Calibri" pitchFamily="34" charset="-120"/>
              </a:rPr>
              <a:t>El tratamiento necesita una meta y un calendario</a:t>
            </a:r>
            <a:endParaRPr lang="en-US" sz="2500" dirty="0"/>
          </a:p>
        </p:txBody>
      </p:sp>
      <p:sp>
        <p:nvSpPr>
          <p:cNvPr id="9" name="Shape 6"/>
          <p:cNvSpPr/>
          <p:nvPr/>
        </p:nvSpPr>
        <p:spPr>
          <a:xfrm>
            <a:off x="3429000" y="2057400"/>
            <a:ext cx="1097280" cy="0"/>
          </a:xfrm>
          <a:prstGeom prst="line">
            <a:avLst/>
          </a:prstGeom>
          <a:noFill/>
          <a:ln w="38100">
            <a:solidFill>
              <a:srgbClr val="21D3A8"/>
            </a:solidFill>
            <a:prstDash val="solid"/>
          </a:ln>
        </p:spPr>
        <p:txBody>
          <a:bodyPr/>
          <a:lstStyle/>
          <a:p>
            <a:endParaRPr lang="es-CO"/>
          </a:p>
        </p:txBody>
      </p:sp>
      <p:sp>
        <p:nvSpPr>
          <p:cNvPr id="10" name="Text 7"/>
          <p:cNvSpPr txBox="1"/>
          <p:nvPr/>
        </p:nvSpPr>
        <p:spPr>
          <a:xfrm>
            <a:off x="3429000" y="2240280"/>
            <a:ext cx="5257800" cy="1920240"/>
          </a:xfrm>
          <a:prstGeom prst="rect">
            <a:avLst/>
          </a:prstGeom>
          <a:noFill/>
          <a:ln/>
        </p:spPr>
        <p:txBody>
          <a:bodyPr wrap="square" lIns="0" tIns="0" rIns="0" bIns="0" rtlCol="0" anchor="t"/>
          <a:lstStyle/>
          <a:p>
            <a:pPr marL="0" indent="0">
              <a:buNone/>
            </a:pPr>
            <a:r>
              <a:rPr lang="en-US" sz="1500" dirty="0">
                <a:solidFill>
                  <a:srgbClr val="2A3150"/>
                </a:solidFill>
                <a:latin typeface="Calibri" pitchFamily="34" charset="0"/>
                <a:ea typeface="Calibri" pitchFamily="34" charset="-122"/>
                <a:cs typeface="Calibri" pitchFamily="34" charset="-120"/>
              </a:rPr>
              <a:t>Busca una mejoría sustancial a los tres meses —orientativamente, reducción ≥ 50 % de la actividad— y remisión o baja actividad a los seis meses. Evalúa con índices validados como el CDAI; persistir con actividad elevada obliga a revisar la estrategia.</a:t>
            </a:r>
            <a:endParaRPr lang="en-US" sz="1500" dirty="0"/>
          </a:p>
        </p:txBody>
      </p:sp>
      <p:sp>
        <p:nvSpPr>
          <p:cNvPr id="11" name="Text 8"/>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[1] Smolen JS, et al. JAMA 2026 · [2] Smolen JS, et al. EULAR 2025. Ann Rheum Dis 2026</a:t>
            </a:r>
            <a:endParaRPr lang="en-US" sz="8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21D3A8"/>
          </a:solidFill>
          <a:ln w="12700">
            <a:solidFill>
              <a:srgbClr val="21D3A8"/>
            </a:solidFill>
            <a:prstDash val="solid"/>
          </a:ln>
        </p:spPr>
        <p:txBody>
          <a:bodyPr/>
          <a:lstStyle/>
          <a:p>
            <a:endParaRPr lang="es-CO"/>
          </a:p>
        </p:txBody>
      </p:sp>
      <p:sp>
        <p:nvSpPr>
          <p:cNvPr id="3" name="Text 1"/>
          <p:cNvSpPr txBox="1"/>
          <p:nvPr/>
        </p:nvSpPr>
        <p:spPr>
          <a:xfrm>
            <a:off x="685800" y="219456"/>
            <a:ext cx="7772400" cy="256032"/>
          </a:xfrm>
          <a:prstGeom prst="rect">
            <a:avLst/>
          </a:prstGeom>
          <a:noFill/>
          <a:ln/>
        </p:spPr>
        <p:txBody>
          <a:bodyPr wrap="square" lIns="0" tIns="0" rIns="0" bIns="0" rtlCol="0" anchor="ctr"/>
          <a:lstStyle/>
          <a:p>
            <a:pPr marL="0" indent="0">
              <a:buNone/>
            </a:pPr>
            <a:r>
              <a:rPr lang="en-US" sz="1050" b="1" kern="0" spc="400" dirty="0">
                <a:solidFill>
                  <a:srgbClr val="0C8368"/>
                </a:solidFill>
                <a:latin typeface="Calibri" pitchFamily="34" charset="0"/>
                <a:ea typeface="Calibri" pitchFamily="34" charset="-122"/>
                <a:cs typeface="Calibri" pitchFamily="34" charset="-120"/>
              </a:rPr>
              <a:t>PERLA 9 · TRATAR HASTA EL OBJETIVO</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600" b="1" dirty="0">
                <a:solidFill>
                  <a:srgbClr val="15193A"/>
                </a:solidFill>
                <a:latin typeface="Calibri" pitchFamily="34" charset="0"/>
                <a:ea typeface="Calibri" pitchFamily="34" charset="-122"/>
                <a:cs typeface="Calibri" pitchFamily="34" charset="-120"/>
              </a:rPr>
              <a:t>Meta, calendario e índice</a:t>
            </a:r>
            <a:endParaRPr lang="en-US" sz="2600" dirty="0"/>
          </a:p>
        </p:txBody>
      </p:sp>
      <p:sp>
        <p:nvSpPr>
          <p:cNvPr id="5" name="Text 3"/>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[1] Smolen JS, et al. JAMA 2026 · [2] Smolen JS, et al. EULAR 2025. Ann Rheum Dis 2026 · [12] Grigor C, et al. TICORA. Lancet 2004</a:t>
            </a:r>
            <a:endParaRPr lang="en-US" sz="850" dirty="0"/>
          </a:p>
        </p:txBody>
      </p:sp>
      <p:sp>
        <p:nvSpPr>
          <p:cNvPr id="6" name="Shape 4"/>
          <p:cNvSpPr/>
          <p:nvPr/>
        </p:nvSpPr>
        <p:spPr>
          <a:xfrm>
            <a:off x="1280160" y="1600200"/>
            <a:ext cx="6309360" cy="0"/>
          </a:xfrm>
          <a:prstGeom prst="line">
            <a:avLst/>
          </a:prstGeom>
          <a:noFill/>
          <a:ln w="50800">
            <a:solidFill>
              <a:srgbClr val="CED5EA"/>
            </a:solidFill>
            <a:prstDash val="solid"/>
          </a:ln>
        </p:spPr>
        <p:txBody>
          <a:bodyPr/>
          <a:lstStyle/>
          <a:p>
            <a:endParaRPr lang="es-CO"/>
          </a:p>
        </p:txBody>
      </p:sp>
      <p:sp>
        <p:nvSpPr>
          <p:cNvPr id="7" name="Shape 5"/>
          <p:cNvSpPr/>
          <p:nvPr/>
        </p:nvSpPr>
        <p:spPr>
          <a:xfrm>
            <a:off x="1051560" y="1234440"/>
            <a:ext cx="731520" cy="731520"/>
          </a:xfrm>
          <a:prstGeom prst="ellipse">
            <a:avLst/>
          </a:prstGeom>
          <a:solidFill>
            <a:srgbClr val="AEB6DA"/>
          </a:solidFill>
          <a:ln w="38100">
            <a:solidFill>
              <a:srgbClr val="D8DEEF"/>
            </a:solidFill>
            <a:prstDash val="solid"/>
          </a:ln>
        </p:spPr>
        <p:txBody>
          <a:bodyPr/>
          <a:lstStyle/>
          <a:p>
            <a:endParaRPr lang="es-CO"/>
          </a:p>
        </p:txBody>
      </p:sp>
      <p:sp>
        <p:nvSpPr>
          <p:cNvPr id="8" name="Text 6"/>
          <p:cNvSpPr txBox="1"/>
          <p:nvPr/>
        </p:nvSpPr>
        <p:spPr>
          <a:xfrm>
            <a:off x="1051560" y="1234440"/>
            <a:ext cx="731520" cy="731520"/>
          </a:xfrm>
          <a:prstGeom prst="rect">
            <a:avLst/>
          </a:prstGeom>
          <a:noFill/>
          <a:ln/>
        </p:spPr>
        <p:txBody>
          <a:bodyPr wrap="square" lIns="0" tIns="0" rIns="0" bIns="0" rtlCol="0" anchor="ctr"/>
          <a:lstStyle/>
          <a:p>
            <a:pPr marL="0" indent="0" algn="ctr">
              <a:buNone/>
            </a:pPr>
            <a:r>
              <a:rPr lang="en-US" sz="2000" b="1" dirty="0">
                <a:solidFill>
                  <a:srgbClr val="0A0E24"/>
                </a:solidFill>
                <a:latin typeface="Calibri" pitchFamily="34" charset="0"/>
                <a:ea typeface="Calibri" pitchFamily="34" charset="-122"/>
                <a:cs typeface="Calibri" pitchFamily="34" charset="-120"/>
              </a:rPr>
              <a:t>1</a:t>
            </a:r>
            <a:endParaRPr lang="en-US" sz="2000" dirty="0"/>
          </a:p>
        </p:txBody>
      </p:sp>
      <p:sp>
        <p:nvSpPr>
          <p:cNvPr id="9" name="Text 7"/>
          <p:cNvSpPr txBox="1"/>
          <p:nvPr/>
        </p:nvSpPr>
        <p:spPr>
          <a:xfrm>
            <a:off x="457200" y="2011680"/>
            <a:ext cx="1920240" cy="320040"/>
          </a:xfrm>
          <a:prstGeom prst="rect">
            <a:avLst/>
          </a:prstGeom>
          <a:noFill/>
          <a:ln/>
        </p:spPr>
        <p:txBody>
          <a:bodyPr wrap="square" lIns="0" tIns="0" rIns="0" bIns="0" rtlCol="0" anchor="t"/>
          <a:lstStyle/>
          <a:p>
            <a:pPr marL="0" indent="0" algn="ctr">
              <a:buNone/>
            </a:pPr>
            <a:r>
              <a:rPr lang="en-US" sz="1400" b="1" dirty="0">
                <a:solidFill>
                  <a:srgbClr val="474F70"/>
                </a:solidFill>
                <a:latin typeface="Calibri" pitchFamily="34" charset="0"/>
                <a:ea typeface="Calibri" pitchFamily="34" charset="-122"/>
                <a:cs typeface="Calibri" pitchFamily="34" charset="-120"/>
              </a:rPr>
              <a:t>Inicio</a:t>
            </a:r>
            <a:endParaRPr lang="en-US" sz="1400" dirty="0"/>
          </a:p>
        </p:txBody>
      </p:sp>
      <p:sp>
        <p:nvSpPr>
          <p:cNvPr id="10" name="Text 8"/>
          <p:cNvSpPr txBox="1"/>
          <p:nvPr/>
        </p:nvSpPr>
        <p:spPr>
          <a:xfrm>
            <a:off x="457200" y="2331720"/>
            <a:ext cx="1920240" cy="411480"/>
          </a:xfrm>
          <a:prstGeom prst="rect">
            <a:avLst/>
          </a:prstGeom>
          <a:noFill/>
          <a:ln/>
        </p:spPr>
        <p:txBody>
          <a:bodyPr wrap="square" lIns="0" tIns="0" rIns="0" bIns="0" rtlCol="0" anchor="t"/>
          <a:lstStyle/>
          <a:p>
            <a:pPr marL="0" indent="0" algn="ctr">
              <a:buNone/>
            </a:pPr>
            <a:r>
              <a:rPr lang="en-US" sz="1100" dirty="0">
                <a:solidFill>
                  <a:srgbClr val="15193A"/>
                </a:solidFill>
                <a:latin typeface="Calibri" pitchFamily="34" charset="0"/>
                <a:ea typeface="Calibri" pitchFamily="34" charset="-122"/>
                <a:cs typeface="Calibri" pitchFamily="34" charset="-120"/>
              </a:rPr>
              <a:t>FAME + medición basal</a:t>
            </a:r>
            <a:endParaRPr lang="en-US" sz="1100" dirty="0"/>
          </a:p>
        </p:txBody>
      </p:sp>
      <p:sp>
        <p:nvSpPr>
          <p:cNvPr id="11" name="Shape 9"/>
          <p:cNvSpPr/>
          <p:nvPr/>
        </p:nvSpPr>
        <p:spPr>
          <a:xfrm>
            <a:off x="3154680" y="1234440"/>
            <a:ext cx="731520" cy="731520"/>
          </a:xfrm>
          <a:prstGeom prst="ellipse">
            <a:avLst/>
          </a:prstGeom>
          <a:solidFill>
            <a:srgbClr val="4CC9F0"/>
          </a:solidFill>
          <a:ln w="38100">
            <a:solidFill>
              <a:srgbClr val="D8DEEF"/>
            </a:solidFill>
            <a:prstDash val="solid"/>
          </a:ln>
        </p:spPr>
        <p:txBody>
          <a:bodyPr/>
          <a:lstStyle/>
          <a:p>
            <a:endParaRPr lang="es-CO"/>
          </a:p>
        </p:txBody>
      </p:sp>
      <p:sp>
        <p:nvSpPr>
          <p:cNvPr id="12" name="Text 10"/>
          <p:cNvSpPr txBox="1"/>
          <p:nvPr/>
        </p:nvSpPr>
        <p:spPr>
          <a:xfrm>
            <a:off x="3154680" y="1234440"/>
            <a:ext cx="731520" cy="731520"/>
          </a:xfrm>
          <a:prstGeom prst="rect">
            <a:avLst/>
          </a:prstGeom>
          <a:noFill/>
          <a:ln/>
        </p:spPr>
        <p:txBody>
          <a:bodyPr wrap="square" lIns="0" tIns="0" rIns="0" bIns="0" rtlCol="0" anchor="ctr"/>
          <a:lstStyle/>
          <a:p>
            <a:pPr marL="0" indent="0" algn="ctr">
              <a:buNone/>
            </a:pPr>
            <a:r>
              <a:rPr lang="en-US" sz="2000" b="1" dirty="0">
                <a:solidFill>
                  <a:srgbClr val="0A0E24"/>
                </a:solidFill>
                <a:latin typeface="Calibri" pitchFamily="34" charset="0"/>
                <a:ea typeface="Calibri" pitchFamily="34" charset="-122"/>
                <a:cs typeface="Calibri" pitchFamily="34" charset="-120"/>
              </a:rPr>
              <a:t>2</a:t>
            </a:r>
            <a:endParaRPr lang="en-US" sz="2000" dirty="0"/>
          </a:p>
        </p:txBody>
      </p:sp>
      <p:sp>
        <p:nvSpPr>
          <p:cNvPr id="13" name="Text 11"/>
          <p:cNvSpPr txBox="1"/>
          <p:nvPr/>
        </p:nvSpPr>
        <p:spPr>
          <a:xfrm>
            <a:off x="2560320" y="2011680"/>
            <a:ext cx="1920240" cy="320040"/>
          </a:xfrm>
          <a:prstGeom prst="rect">
            <a:avLst/>
          </a:prstGeom>
          <a:noFill/>
          <a:ln/>
        </p:spPr>
        <p:txBody>
          <a:bodyPr wrap="square" lIns="0" tIns="0" rIns="0" bIns="0" rtlCol="0" anchor="t"/>
          <a:lstStyle/>
          <a:p>
            <a:pPr marL="0" indent="0" algn="ctr">
              <a:buNone/>
            </a:pPr>
            <a:r>
              <a:rPr lang="en-US" sz="1400" b="1" dirty="0">
                <a:solidFill>
                  <a:srgbClr val="0A6F98"/>
                </a:solidFill>
                <a:latin typeface="Calibri" pitchFamily="34" charset="0"/>
                <a:ea typeface="Calibri" pitchFamily="34" charset="-122"/>
                <a:cs typeface="Calibri" pitchFamily="34" charset="-120"/>
              </a:rPr>
              <a:t>Cada 1–3 meses</a:t>
            </a:r>
            <a:endParaRPr lang="en-US" sz="1400" dirty="0"/>
          </a:p>
        </p:txBody>
      </p:sp>
      <p:sp>
        <p:nvSpPr>
          <p:cNvPr id="14" name="Text 12"/>
          <p:cNvSpPr txBox="1"/>
          <p:nvPr/>
        </p:nvSpPr>
        <p:spPr>
          <a:xfrm>
            <a:off x="2560320" y="2331720"/>
            <a:ext cx="1920240" cy="411480"/>
          </a:xfrm>
          <a:prstGeom prst="rect">
            <a:avLst/>
          </a:prstGeom>
          <a:noFill/>
          <a:ln/>
        </p:spPr>
        <p:txBody>
          <a:bodyPr wrap="square" lIns="0" tIns="0" rIns="0" bIns="0" rtlCol="0" anchor="t"/>
          <a:lstStyle/>
          <a:p>
            <a:pPr marL="0" indent="0" algn="ctr">
              <a:buNone/>
            </a:pPr>
            <a:r>
              <a:rPr lang="en-US" sz="1100" dirty="0">
                <a:solidFill>
                  <a:srgbClr val="15193A"/>
                </a:solidFill>
                <a:latin typeface="Calibri" pitchFamily="34" charset="0"/>
                <a:ea typeface="Calibri" pitchFamily="34" charset="-122"/>
                <a:cs typeface="Calibri" pitchFamily="34" charset="-120"/>
              </a:rPr>
              <a:t>CDAI en cada control</a:t>
            </a:r>
            <a:endParaRPr lang="en-US" sz="1100" dirty="0"/>
          </a:p>
        </p:txBody>
      </p:sp>
      <p:sp>
        <p:nvSpPr>
          <p:cNvPr id="15" name="Shape 13"/>
          <p:cNvSpPr/>
          <p:nvPr/>
        </p:nvSpPr>
        <p:spPr>
          <a:xfrm>
            <a:off x="5257800" y="1234440"/>
            <a:ext cx="731520" cy="731520"/>
          </a:xfrm>
          <a:prstGeom prst="ellipse">
            <a:avLst/>
          </a:prstGeom>
          <a:solidFill>
            <a:srgbClr val="FFB703"/>
          </a:solidFill>
          <a:ln w="38100">
            <a:solidFill>
              <a:srgbClr val="D8DEEF"/>
            </a:solidFill>
            <a:prstDash val="solid"/>
          </a:ln>
        </p:spPr>
        <p:txBody>
          <a:bodyPr/>
          <a:lstStyle/>
          <a:p>
            <a:endParaRPr lang="es-CO"/>
          </a:p>
        </p:txBody>
      </p:sp>
      <p:sp>
        <p:nvSpPr>
          <p:cNvPr id="16" name="Text 14"/>
          <p:cNvSpPr txBox="1"/>
          <p:nvPr/>
        </p:nvSpPr>
        <p:spPr>
          <a:xfrm>
            <a:off x="5257800" y="1234440"/>
            <a:ext cx="731520" cy="731520"/>
          </a:xfrm>
          <a:prstGeom prst="rect">
            <a:avLst/>
          </a:prstGeom>
          <a:noFill/>
          <a:ln/>
        </p:spPr>
        <p:txBody>
          <a:bodyPr wrap="square" lIns="0" tIns="0" rIns="0" bIns="0" rtlCol="0" anchor="ctr"/>
          <a:lstStyle/>
          <a:p>
            <a:pPr marL="0" indent="0" algn="ctr">
              <a:buNone/>
            </a:pPr>
            <a:r>
              <a:rPr lang="en-US" sz="2000" b="1" dirty="0">
                <a:solidFill>
                  <a:srgbClr val="0A0E24"/>
                </a:solidFill>
                <a:latin typeface="Calibri" pitchFamily="34" charset="0"/>
                <a:ea typeface="Calibri" pitchFamily="34" charset="-122"/>
                <a:cs typeface="Calibri" pitchFamily="34" charset="-120"/>
              </a:rPr>
              <a:t>3</a:t>
            </a:r>
            <a:endParaRPr lang="en-US" sz="2000" dirty="0"/>
          </a:p>
        </p:txBody>
      </p:sp>
      <p:sp>
        <p:nvSpPr>
          <p:cNvPr id="17" name="Text 15"/>
          <p:cNvSpPr txBox="1"/>
          <p:nvPr/>
        </p:nvSpPr>
        <p:spPr>
          <a:xfrm>
            <a:off x="4663440" y="2011680"/>
            <a:ext cx="1920240" cy="320040"/>
          </a:xfrm>
          <a:prstGeom prst="rect">
            <a:avLst/>
          </a:prstGeom>
          <a:noFill/>
          <a:ln/>
        </p:spPr>
        <p:txBody>
          <a:bodyPr wrap="square" lIns="0" tIns="0" rIns="0" bIns="0" rtlCol="0" anchor="t"/>
          <a:lstStyle/>
          <a:p>
            <a:pPr marL="0" indent="0" algn="ctr">
              <a:buNone/>
            </a:pPr>
            <a:r>
              <a:rPr lang="en-US" sz="1400" b="1" dirty="0">
                <a:solidFill>
                  <a:srgbClr val="8A5E00"/>
                </a:solidFill>
                <a:latin typeface="Calibri" pitchFamily="34" charset="0"/>
                <a:ea typeface="Calibri" pitchFamily="34" charset="-122"/>
                <a:cs typeface="Calibri" pitchFamily="34" charset="-120"/>
              </a:rPr>
              <a:t>Mes 3</a:t>
            </a:r>
            <a:endParaRPr lang="en-US" sz="1400" dirty="0"/>
          </a:p>
        </p:txBody>
      </p:sp>
      <p:sp>
        <p:nvSpPr>
          <p:cNvPr id="18" name="Text 16"/>
          <p:cNvSpPr txBox="1"/>
          <p:nvPr/>
        </p:nvSpPr>
        <p:spPr>
          <a:xfrm>
            <a:off x="4663440" y="2331720"/>
            <a:ext cx="1920240" cy="411480"/>
          </a:xfrm>
          <a:prstGeom prst="rect">
            <a:avLst/>
          </a:prstGeom>
          <a:noFill/>
          <a:ln/>
        </p:spPr>
        <p:txBody>
          <a:bodyPr wrap="square" lIns="0" tIns="0" rIns="0" bIns="0" rtlCol="0" anchor="t"/>
          <a:lstStyle/>
          <a:p>
            <a:pPr marL="0" indent="0" algn="ctr">
              <a:buNone/>
            </a:pPr>
            <a:r>
              <a:rPr lang="en-US" sz="1100" dirty="0">
                <a:solidFill>
                  <a:srgbClr val="15193A"/>
                </a:solidFill>
                <a:latin typeface="Calibri" pitchFamily="34" charset="0"/>
                <a:ea typeface="Calibri" pitchFamily="34" charset="-122"/>
                <a:cs typeface="Calibri" pitchFamily="34" charset="-120"/>
              </a:rPr>
              <a:t>Mejoría ≥ 50 %</a:t>
            </a:r>
            <a:endParaRPr lang="en-US" sz="1100" dirty="0"/>
          </a:p>
        </p:txBody>
      </p:sp>
      <p:sp>
        <p:nvSpPr>
          <p:cNvPr id="19" name="Shape 17"/>
          <p:cNvSpPr/>
          <p:nvPr/>
        </p:nvSpPr>
        <p:spPr>
          <a:xfrm>
            <a:off x="7360920" y="1234440"/>
            <a:ext cx="731520" cy="731520"/>
          </a:xfrm>
          <a:prstGeom prst="ellipse">
            <a:avLst/>
          </a:prstGeom>
          <a:solidFill>
            <a:srgbClr val="21D3A8"/>
          </a:solidFill>
          <a:ln w="38100">
            <a:solidFill>
              <a:srgbClr val="D8DEEF"/>
            </a:solidFill>
            <a:prstDash val="solid"/>
          </a:ln>
        </p:spPr>
        <p:txBody>
          <a:bodyPr/>
          <a:lstStyle/>
          <a:p>
            <a:endParaRPr lang="es-CO"/>
          </a:p>
        </p:txBody>
      </p:sp>
      <p:sp>
        <p:nvSpPr>
          <p:cNvPr id="20" name="Text 18"/>
          <p:cNvSpPr txBox="1"/>
          <p:nvPr/>
        </p:nvSpPr>
        <p:spPr>
          <a:xfrm>
            <a:off x="7360920" y="1234440"/>
            <a:ext cx="731520" cy="731520"/>
          </a:xfrm>
          <a:prstGeom prst="rect">
            <a:avLst/>
          </a:prstGeom>
          <a:noFill/>
          <a:ln/>
        </p:spPr>
        <p:txBody>
          <a:bodyPr wrap="square" lIns="0" tIns="0" rIns="0" bIns="0" rtlCol="0" anchor="ctr"/>
          <a:lstStyle/>
          <a:p>
            <a:pPr marL="0" indent="0" algn="ctr">
              <a:buNone/>
            </a:pPr>
            <a:r>
              <a:rPr lang="en-US" sz="2000" b="1" dirty="0">
                <a:solidFill>
                  <a:srgbClr val="0A0E24"/>
                </a:solidFill>
                <a:latin typeface="Calibri" pitchFamily="34" charset="0"/>
                <a:ea typeface="Calibri" pitchFamily="34" charset="-122"/>
                <a:cs typeface="Calibri" pitchFamily="34" charset="-120"/>
              </a:rPr>
              <a:t>4</a:t>
            </a:r>
            <a:endParaRPr lang="en-US" sz="2000" dirty="0"/>
          </a:p>
        </p:txBody>
      </p:sp>
      <p:sp>
        <p:nvSpPr>
          <p:cNvPr id="21" name="Text 19"/>
          <p:cNvSpPr txBox="1"/>
          <p:nvPr/>
        </p:nvSpPr>
        <p:spPr>
          <a:xfrm>
            <a:off x="6766560" y="2011680"/>
            <a:ext cx="1920240" cy="320040"/>
          </a:xfrm>
          <a:prstGeom prst="rect">
            <a:avLst/>
          </a:prstGeom>
          <a:noFill/>
          <a:ln/>
        </p:spPr>
        <p:txBody>
          <a:bodyPr wrap="square" lIns="0" tIns="0" rIns="0" bIns="0" rtlCol="0" anchor="t"/>
          <a:lstStyle/>
          <a:p>
            <a:pPr marL="0" indent="0" algn="ctr">
              <a:buNone/>
            </a:pPr>
            <a:r>
              <a:rPr lang="en-US" sz="1400" b="1" dirty="0">
                <a:solidFill>
                  <a:srgbClr val="0C8368"/>
                </a:solidFill>
                <a:latin typeface="Calibri" pitchFamily="34" charset="0"/>
                <a:ea typeface="Calibri" pitchFamily="34" charset="-122"/>
                <a:cs typeface="Calibri" pitchFamily="34" charset="-120"/>
              </a:rPr>
              <a:t>Mes 6</a:t>
            </a:r>
            <a:endParaRPr lang="en-US" sz="1400" dirty="0"/>
          </a:p>
        </p:txBody>
      </p:sp>
      <p:sp>
        <p:nvSpPr>
          <p:cNvPr id="22" name="Text 20"/>
          <p:cNvSpPr txBox="1"/>
          <p:nvPr/>
        </p:nvSpPr>
        <p:spPr>
          <a:xfrm>
            <a:off x="6766560" y="2331720"/>
            <a:ext cx="1920240" cy="411480"/>
          </a:xfrm>
          <a:prstGeom prst="rect">
            <a:avLst/>
          </a:prstGeom>
          <a:noFill/>
          <a:ln/>
        </p:spPr>
        <p:txBody>
          <a:bodyPr wrap="square" lIns="0" tIns="0" rIns="0" bIns="0" rtlCol="0" anchor="t"/>
          <a:lstStyle/>
          <a:p>
            <a:pPr marL="0" indent="0" algn="ctr">
              <a:buNone/>
            </a:pPr>
            <a:r>
              <a:rPr lang="en-US" sz="1100" dirty="0">
                <a:solidFill>
                  <a:srgbClr val="15193A"/>
                </a:solidFill>
                <a:latin typeface="Calibri" pitchFamily="34" charset="0"/>
                <a:ea typeface="Calibri" pitchFamily="34" charset="-122"/>
                <a:cs typeface="Calibri" pitchFamily="34" charset="-120"/>
              </a:rPr>
              <a:t>Remisión o baja actividad</a:t>
            </a:r>
            <a:endParaRPr lang="en-US" sz="1100" dirty="0"/>
          </a:p>
        </p:txBody>
      </p:sp>
      <p:sp>
        <p:nvSpPr>
          <p:cNvPr id="23" name="Text 21"/>
          <p:cNvSpPr txBox="1"/>
          <p:nvPr/>
        </p:nvSpPr>
        <p:spPr>
          <a:xfrm>
            <a:off x="457200" y="2880360"/>
            <a:ext cx="8229600" cy="274320"/>
          </a:xfrm>
          <a:prstGeom prst="rect">
            <a:avLst/>
          </a:prstGeom>
          <a:noFill/>
          <a:ln/>
        </p:spPr>
        <p:txBody>
          <a:bodyPr wrap="square" lIns="0" tIns="0" rIns="0" bIns="0" rtlCol="0" anchor="t"/>
          <a:lstStyle/>
          <a:p>
            <a:pPr marL="0" indent="0">
              <a:buNone/>
            </a:pPr>
            <a:r>
              <a:rPr lang="en-US" sz="1100" b="1" dirty="0">
                <a:solidFill>
                  <a:srgbClr val="474F70"/>
                </a:solidFill>
                <a:latin typeface="Calibri" pitchFamily="34" charset="0"/>
                <a:ea typeface="Calibri" pitchFamily="34" charset="-122"/>
                <a:cs typeface="Calibri" pitchFamily="34" charset="-120"/>
              </a:rPr>
              <a:t>CDAI = NAT28 + NAD28 + evaluación global del paciente + evaluación global del médico (0–10 cada una)</a:t>
            </a:r>
            <a:endParaRPr lang="en-US" sz="1100" dirty="0"/>
          </a:p>
        </p:txBody>
      </p:sp>
      <p:sp>
        <p:nvSpPr>
          <p:cNvPr id="24" name="Shape 22"/>
          <p:cNvSpPr/>
          <p:nvPr/>
        </p:nvSpPr>
        <p:spPr>
          <a:xfrm>
            <a:off x="457200" y="3200400"/>
            <a:ext cx="1965960" cy="777240"/>
          </a:xfrm>
          <a:prstGeom prst="roundRect">
            <a:avLst>
              <a:gd name="adj" fmla="val 9412"/>
            </a:avLst>
          </a:prstGeom>
          <a:solidFill>
            <a:srgbClr val="21D3A8">
              <a:alpha val="80000"/>
            </a:srgbClr>
          </a:solidFill>
          <a:ln w="12700">
            <a:solidFill>
              <a:srgbClr val="21D3A8"/>
            </a:solidFill>
            <a:prstDash val="solid"/>
          </a:ln>
        </p:spPr>
        <p:txBody>
          <a:bodyPr/>
          <a:lstStyle/>
          <a:p>
            <a:endParaRPr lang="es-CO"/>
          </a:p>
        </p:txBody>
      </p:sp>
      <p:sp>
        <p:nvSpPr>
          <p:cNvPr id="25" name="Text 23"/>
          <p:cNvSpPr txBox="1"/>
          <p:nvPr/>
        </p:nvSpPr>
        <p:spPr>
          <a:xfrm>
            <a:off x="457200" y="3200400"/>
            <a:ext cx="1965960" cy="777240"/>
          </a:xfrm>
          <a:prstGeom prst="rect">
            <a:avLst/>
          </a:prstGeom>
          <a:noFill/>
          <a:ln/>
        </p:spPr>
        <p:txBody>
          <a:bodyPr wrap="square" lIns="0" tIns="0" rIns="0" bIns="0" rtlCol="0" anchor="ctr"/>
          <a:lstStyle/>
          <a:p>
            <a:pPr marL="0" indent="0" algn="ctr">
              <a:buNone/>
            </a:pPr>
            <a:r>
              <a:rPr lang="en-US" sz="1800" b="1" dirty="0">
                <a:solidFill>
                  <a:srgbClr val="0A0E24"/>
                </a:solidFill>
                <a:latin typeface="Calibri" pitchFamily="34" charset="0"/>
                <a:ea typeface="Calibri" pitchFamily="34" charset="-122"/>
                <a:cs typeface="Calibri" pitchFamily="34" charset="-120"/>
              </a:rPr>
              <a:t>≤ 2,8</a:t>
            </a:r>
            <a:endParaRPr lang="en-US" sz="1300" dirty="0"/>
          </a:p>
          <a:p>
            <a:pPr marL="0" indent="0" algn="ctr">
              <a:buNone/>
            </a:pPr>
            <a:r>
              <a:rPr lang="en-US" sz="1100" dirty="0">
                <a:solidFill>
                  <a:srgbClr val="0A0E24"/>
                </a:solidFill>
                <a:latin typeface="Calibri" pitchFamily="34" charset="0"/>
                <a:ea typeface="Calibri" pitchFamily="34" charset="-122"/>
                <a:cs typeface="Calibri" pitchFamily="34" charset="-120"/>
              </a:rPr>
              <a:t>Remisión</a:t>
            </a:r>
            <a:endParaRPr lang="en-US" sz="1300" dirty="0"/>
          </a:p>
        </p:txBody>
      </p:sp>
      <p:sp>
        <p:nvSpPr>
          <p:cNvPr id="26" name="Shape 24"/>
          <p:cNvSpPr/>
          <p:nvPr/>
        </p:nvSpPr>
        <p:spPr>
          <a:xfrm>
            <a:off x="2560320" y="3200400"/>
            <a:ext cx="1965960" cy="777240"/>
          </a:xfrm>
          <a:prstGeom prst="roundRect">
            <a:avLst>
              <a:gd name="adj" fmla="val 9412"/>
            </a:avLst>
          </a:prstGeom>
          <a:solidFill>
            <a:srgbClr val="7FD6B9">
              <a:alpha val="80000"/>
            </a:srgbClr>
          </a:solidFill>
          <a:ln w="12700">
            <a:solidFill>
              <a:srgbClr val="7FD6B9"/>
            </a:solidFill>
            <a:prstDash val="solid"/>
          </a:ln>
        </p:spPr>
        <p:txBody>
          <a:bodyPr/>
          <a:lstStyle/>
          <a:p>
            <a:endParaRPr lang="es-CO"/>
          </a:p>
        </p:txBody>
      </p:sp>
      <p:sp>
        <p:nvSpPr>
          <p:cNvPr id="27" name="Text 25"/>
          <p:cNvSpPr txBox="1"/>
          <p:nvPr/>
        </p:nvSpPr>
        <p:spPr>
          <a:xfrm>
            <a:off x="2560320" y="3200400"/>
            <a:ext cx="1965960" cy="777240"/>
          </a:xfrm>
          <a:prstGeom prst="rect">
            <a:avLst/>
          </a:prstGeom>
          <a:noFill/>
          <a:ln/>
        </p:spPr>
        <p:txBody>
          <a:bodyPr wrap="square" lIns="0" tIns="0" rIns="0" bIns="0" rtlCol="0" anchor="ctr"/>
          <a:lstStyle/>
          <a:p>
            <a:pPr marL="0" indent="0" algn="ctr">
              <a:buNone/>
            </a:pPr>
            <a:r>
              <a:rPr lang="en-US" sz="1800" b="1" dirty="0">
                <a:solidFill>
                  <a:srgbClr val="0A0E24"/>
                </a:solidFill>
                <a:latin typeface="Calibri" pitchFamily="34" charset="0"/>
                <a:ea typeface="Calibri" pitchFamily="34" charset="-122"/>
                <a:cs typeface="Calibri" pitchFamily="34" charset="-120"/>
              </a:rPr>
              <a:t>&gt; 2,8–10</a:t>
            </a:r>
            <a:endParaRPr lang="en-US" sz="1300" dirty="0"/>
          </a:p>
          <a:p>
            <a:pPr marL="0" indent="0" algn="ctr">
              <a:buNone/>
            </a:pPr>
            <a:r>
              <a:rPr lang="en-US" sz="1100" dirty="0">
                <a:solidFill>
                  <a:srgbClr val="0A0E24"/>
                </a:solidFill>
                <a:latin typeface="Calibri" pitchFamily="34" charset="0"/>
                <a:ea typeface="Calibri" pitchFamily="34" charset="-122"/>
                <a:cs typeface="Calibri" pitchFamily="34" charset="-120"/>
              </a:rPr>
              <a:t>Baja</a:t>
            </a:r>
            <a:endParaRPr lang="en-US" sz="1300" dirty="0"/>
          </a:p>
        </p:txBody>
      </p:sp>
      <p:sp>
        <p:nvSpPr>
          <p:cNvPr id="28" name="Shape 26"/>
          <p:cNvSpPr/>
          <p:nvPr/>
        </p:nvSpPr>
        <p:spPr>
          <a:xfrm>
            <a:off x="4663440" y="3200400"/>
            <a:ext cx="1965960" cy="777240"/>
          </a:xfrm>
          <a:prstGeom prst="roundRect">
            <a:avLst>
              <a:gd name="adj" fmla="val 9412"/>
            </a:avLst>
          </a:prstGeom>
          <a:solidFill>
            <a:srgbClr val="FFB703">
              <a:alpha val="80000"/>
            </a:srgbClr>
          </a:solidFill>
          <a:ln w="12700">
            <a:solidFill>
              <a:srgbClr val="FFB703"/>
            </a:solidFill>
            <a:prstDash val="solid"/>
          </a:ln>
        </p:spPr>
        <p:txBody>
          <a:bodyPr/>
          <a:lstStyle/>
          <a:p>
            <a:endParaRPr lang="es-CO"/>
          </a:p>
        </p:txBody>
      </p:sp>
      <p:sp>
        <p:nvSpPr>
          <p:cNvPr id="29" name="Text 27"/>
          <p:cNvSpPr txBox="1"/>
          <p:nvPr/>
        </p:nvSpPr>
        <p:spPr>
          <a:xfrm>
            <a:off x="4663440" y="3200400"/>
            <a:ext cx="1965960" cy="777240"/>
          </a:xfrm>
          <a:prstGeom prst="rect">
            <a:avLst/>
          </a:prstGeom>
          <a:noFill/>
          <a:ln/>
        </p:spPr>
        <p:txBody>
          <a:bodyPr wrap="square" lIns="0" tIns="0" rIns="0" bIns="0" rtlCol="0" anchor="ctr"/>
          <a:lstStyle/>
          <a:p>
            <a:pPr marL="0" indent="0" algn="ctr">
              <a:buNone/>
            </a:pPr>
            <a:r>
              <a:rPr lang="en-US" sz="1800" b="1" dirty="0">
                <a:solidFill>
                  <a:srgbClr val="0A0E24"/>
                </a:solidFill>
                <a:latin typeface="Calibri" pitchFamily="34" charset="0"/>
                <a:ea typeface="Calibri" pitchFamily="34" charset="-122"/>
                <a:cs typeface="Calibri" pitchFamily="34" charset="-120"/>
              </a:rPr>
              <a:t>&gt; 10–22</a:t>
            </a:r>
            <a:endParaRPr lang="en-US" sz="1300" dirty="0"/>
          </a:p>
          <a:p>
            <a:pPr marL="0" indent="0" algn="ctr">
              <a:buNone/>
            </a:pPr>
            <a:r>
              <a:rPr lang="en-US" sz="1100" dirty="0">
                <a:solidFill>
                  <a:srgbClr val="0A0E24"/>
                </a:solidFill>
                <a:latin typeface="Calibri" pitchFamily="34" charset="0"/>
                <a:ea typeface="Calibri" pitchFamily="34" charset="-122"/>
                <a:cs typeface="Calibri" pitchFamily="34" charset="-120"/>
              </a:rPr>
              <a:t>Moderada</a:t>
            </a:r>
            <a:endParaRPr lang="en-US" sz="1300" dirty="0"/>
          </a:p>
        </p:txBody>
      </p:sp>
      <p:sp>
        <p:nvSpPr>
          <p:cNvPr id="30" name="Shape 28"/>
          <p:cNvSpPr/>
          <p:nvPr/>
        </p:nvSpPr>
        <p:spPr>
          <a:xfrm>
            <a:off x="6766560" y="3200400"/>
            <a:ext cx="1965960" cy="777240"/>
          </a:xfrm>
          <a:prstGeom prst="roundRect">
            <a:avLst>
              <a:gd name="adj" fmla="val 9412"/>
            </a:avLst>
          </a:prstGeom>
          <a:solidFill>
            <a:srgbClr val="FF4D6D">
              <a:alpha val="80000"/>
            </a:srgbClr>
          </a:solidFill>
          <a:ln w="12700">
            <a:solidFill>
              <a:srgbClr val="FF4D6D"/>
            </a:solidFill>
            <a:prstDash val="solid"/>
          </a:ln>
        </p:spPr>
        <p:txBody>
          <a:bodyPr/>
          <a:lstStyle/>
          <a:p>
            <a:endParaRPr lang="es-CO"/>
          </a:p>
        </p:txBody>
      </p:sp>
      <p:sp>
        <p:nvSpPr>
          <p:cNvPr id="31" name="Text 29"/>
          <p:cNvSpPr txBox="1"/>
          <p:nvPr/>
        </p:nvSpPr>
        <p:spPr>
          <a:xfrm>
            <a:off x="6766560" y="3200400"/>
            <a:ext cx="1965960" cy="777240"/>
          </a:xfrm>
          <a:prstGeom prst="rect">
            <a:avLst/>
          </a:prstGeom>
          <a:noFill/>
          <a:ln/>
        </p:spPr>
        <p:txBody>
          <a:bodyPr wrap="square" lIns="0" tIns="0" rIns="0" bIns="0" rtlCol="0" anchor="ctr"/>
          <a:lstStyle/>
          <a:p>
            <a:pPr marL="0" indent="0" algn="ctr">
              <a:buNone/>
            </a:pPr>
            <a:r>
              <a:rPr lang="en-US" sz="1800" b="1" dirty="0">
                <a:solidFill>
                  <a:srgbClr val="0A0E24"/>
                </a:solidFill>
                <a:latin typeface="Calibri" pitchFamily="34" charset="0"/>
                <a:ea typeface="Calibri" pitchFamily="34" charset="-122"/>
                <a:cs typeface="Calibri" pitchFamily="34" charset="-120"/>
              </a:rPr>
              <a:t>&gt; 22</a:t>
            </a:r>
            <a:endParaRPr lang="en-US" sz="1300" dirty="0"/>
          </a:p>
          <a:p>
            <a:pPr marL="0" indent="0" algn="ctr">
              <a:buNone/>
            </a:pPr>
            <a:r>
              <a:rPr lang="en-US" sz="1100" dirty="0">
                <a:solidFill>
                  <a:srgbClr val="0A0E24"/>
                </a:solidFill>
                <a:latin typeface="Calibri" pitchFamily="34" charset="0"/>
                <a:ea typeface="Calibri" pitchFamily="34" charset="-122"/>
                <a:cs typeface="Calibri" pitchFamily="34" charset="-120"/>
              </a:rPr>
              <a:t>Alta</a:t>
            </a:r>
            <a:endParaRPr lang="en-US" sz="1300" dirty="0"/>
          </a:p>
        </p:txBody>
      </p:sp>
      <p:sp>
        <p:nvSpPr>
          <p:cNvPr id="32" name="Shape 30"/>
          <p:cNvSpPr/>
          <p:nvPr/>
        </p:nvSpPr>
        <p:spPr>
          <a:xfrm>
            <a:off x="457200" y="4114800"/>
            <a:ext cx="8229600" cy="594360"/>
          </a:xfrm>
          <a:prstGeom prst="roundRect">
            <a:avLst>
              <a:gd name="adj" fmla="val 15385"/>
            </a:avLst>
          </a:prstGeom>
          <a:solidFill>
            <a:srgbClr val="21D3A8">
              <a:alpha val="12000"/>
            </a:srgbClr>
          </a:solidFill>
          <a:ln w="15875">
            <a:solidFill>
              <a:srgbClr val="21D3A8"/>
            </a:solidFill>
            <a:prstDash val="solid"/>
          </a:ln>
        </p:spPr>
        <p:txBody>
          <a:bodyPr/>
          <a:lstStyle/>
          <a:p>
            <a:endParaRPr lang="es-CO"/>
          </a:p>
        </p:txBody>
      </p:sp>
      <p:sp>
        <p:nvSpPr>
          <p:cNvPr id="33" name="Text 31"/>
          <p:cNvSpPr txBox="1"/>
          <p:nvPr/>
        </p:nvSpPr>
        <p:spPr>
          <a:xfrm>
            <a:off x="621792" y="4114800"/>
            <a:ext cx="7900416" cy="594360"/>
          </a:xfrm>
          <a:prstGeom prst="rect">
            <a:avLst/>
          </a:prstGeom>
          <a:noFill/>
          <a:ln/>
        </p:spPr>
        <p:txBody>
          <a:bodyPr wrap="square" lIns="0" tIns="0" rIns="0" bIns="0" rtlCol="0" anchor="ctr"/>
          <a:lstStyle/>
          <a:p>
            <a:pPr marL="0" indent="0">
              <a:buNone/>
            </a:pPr>
            <a:r>
              <a:rPr lang="en-US" sz="1200" b="1" dirty="0">
                <a:solidFill>
                  <a:srgbClr val="0C8368"/>
                </a:solidFill>
                <a:latin typeface="Calibri" pitchFamily="34" charset="0"/>
                <a:ea typeface="Calibri" pitchFamily="34" charset="-122"/>
                <a:cs typeface="Calibri" pitchFamily="34" charset="-120"/>
              </a:rPr>
              <a:t>TICORA:  </a:t>
            </a:r>
            <a:r>
              <a:rPr lang="en-US" sz="1200" dirty="0">
                <a:solidFill>
                  <a:srgbClr val="15193A"/>
                </a:solidFill>
                <a:latin typeface="Calibri" pitchFamily="34" charset="0"/>
                <a:ea typeface="Calibri" pitchFamily="34" charset="-122"/>
                <a:cs typeface="Calibri" pitchFamily="34" charset="-120"/>
              </a:rPr>
              <a:t>el control mensual por metas logró ACR70 en 71 % frente a 18 % con atención habitual (OR 11).</a:t>
            </a:r>
            <a:endParaRPr lang="en-US" sz="1200" dirty="0"/>
          </a:p>
        </p:txBody>
      </p:sp>
      <p:sp>
        <p:nvSpPr>
          <p:cNvPr id="34"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21D3A8">
              <a:alpha val="12000"/>
            </a:srgbClr>
          </a:solidFill>
          <a:ln w="15875">
            <a:solidFill>
              <a:srgbClr val="21D3A8"/>
            </a:solidFill>
            <a:prstDash val="solid"/>
          </a:ln>
        </p:spPr>
        <p:txBody>
          <a:bodyPr/>
          <a:lstStyle/>
          <a:p>
            <a:endParaRPr lang="es-CO"/>
          </a:p>
        </p:txBody>
      </p:sp>
      <p:sp>
        <p:nvSpPr>
          <p:cNvPr id="3" name="Text 1"/>
          <p:cNvSpPr txBox="1"/>
          <p:nvPr/>
        </p:nvSpPr>
        <p:spPr>
          <a:xfrm>
            <a:off x="457200" y="731520"/>
            <a:ext cx="2651760" cy="320040"/>
          </a:xfrm>
          <a:prstGeom prst="rect">
            <a:avLst/>
          </a:prstGeom>
          <a:noFill/>
          <a:ln/>
        </p:spPr>
        <p:txBody>
          <a:bodyPr wrap="square" lIns="0" tIns="0" rIns="0" bIns="0" rtlCol="0" anchor="t"/>
          <a:lstStyle/>
          <a:p>
            <a:pPr marL="0" indent="0" algn="ctr">
              <a:buNone/>
            </a:pPr>
            <a:r>
              <a:rPr lang="en-US" sz="1400" b="1" kern="0" spc="800" dirty="0">
                <a:solidFill>
                  <a:srgbClr val="0C8368"/>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marL="0" indent="0" algn="ctr">
              <a:buNone/>
            </a:pPr>
            <a:r>
              <a:rPr lang="en-US" sz="11000" b="1" dirty="0">
                <a:solidFill>
                  <a:srgbClr val="15193A"/>
                </a:solidFill>
                <a:latin typeface="Calibri" pitchFamily="34" charset="0"/>
                <a:ea typeface="Calibri" pitchFamily="34" charset="-122"/>
                <a:cs typeface="Calibri" pitchFamily="34" charset="-120"/>
              </a:rPr>
              <a:t>10</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marL="0" indent="0" algn="ctr">
              <a:buNone/>
            </a:pPr>
            <a:r>
              <a:rPr lang="en-US" sz="1300" dirty="0">
                <a:solidFill>
                  <a:srgbClr val="474F70"/>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21D3A8"/>
          </a:solidFill>
          <a:ln w="19050">
            <a:solidFill>
              <a:srgbClr val="21D3A8"/>
            </a:solidFill>
            <a:prstDash val="solid"/>
          </a:ln>
        </p:spPr>
        <p:txBody>
          <a:bodyPr/>
          <a:lstStyle/>
          <a:p>
            <a:endParaRPr lang="es-CO"/>
          </a:p>
        </p:txBody>
      </p:sp>
      <p:pic>
        <p:nvPicPr>
          <p:cNvPr id="7" name="Image 0" descr="preencoded.png"/>
          <p:cNvPicPr>
            <a:picLocks noChangeAspect="1"/>
          </p:cNvPicPr>
          <p:nvPr/>
        </p:nvPicPr>
        <p:blipFill>
          <a:blip r:embed="rId4"/>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marL="0" indent="0">
              <a:buNone/>
            </a:pPr>
            <a:r>
              <a:rPr lang="en-US" sz="2500" b="1" dirty="0">
                <a:solidFill>
                  <a:srgbClr val="15193A"/>
                </a:solidFill>
                <a:latin typeface="Calibri" pitchFamily="34" charset="0"/>
                <a:ea typeface="Calibri" pitchFamily="34" charset="-122"/>
                <a:cs typeface="Calibri" pitchFamily="34" charset="-120"/>
              </a:rPr>
              <a:t>Si utilizas glucocorticoides, prescribe también el plan de retirada</a:t>
            </a:r>
            <a:endParaRPr lang="en-US" sz="2500" dirty="0"/>
          </a:p>
        </p:txBody>
      </p:sp>
      <p:sp>
        <p:nvSpPr>
          <p:cNvPr id="9" name="Shape 6"/>
          <p:cNvSpPr/>
          <p:nvPr/>
        </p:nvSpPr>
        <p:spPr>
          <a:xfrm>
            <a:off x="3429000" y="2057400"/>
            <a:ext cx="1097280" cy="0"/>
          </a:xfrm>
          <a:prstGeom prst="line">
            <a:avLst/>
          </a:prstGeom>
          <a:noFill/>
          <a:ln w="38100">
            <a:solidFill>
              <a:srgbClr val="21D3A8"/>
            </a:solidFill>
            <a:prstDash val="solid"/>
          </a:ln>
        </p:spPr>
        <p:txBody>
          <a:bodyPr/>
          <a:lstStyle/>
          <a:p>
            <a:endParaRPr lang="es-CO"/>
          </a:p>
        </p:txBody>
      </p:sp>
      <p:sp>
        <p:nvSpPr>
          <p:cNvPr id="10" name="Text 7"/>
          <p:cNvSpPr txBox="1"/>
          <p:nvPr/>
        </p:nvSpPr>
        <p:spPr>
          <a:xfrm>
            <a:off x="3429000" y="2240280"/>
            <a:ext cx="5257800" cy="1920240"/>
          </a:xfrm>
          <a:prstGeom prst="rect">
            <a:avLst/>
          </a:prstGeom>
          <a:noFill/>
          <a:ln/>
        </p:spPr>
        <p:txBody>
          <a:bodyPr wrap="square" lIns="0" tIns="0" rIns="0" bIns="0" rtlCol="0" anchor="t"/>
          <a:lstStyle/>
          <a:p>
            <a:pPr marL="0" indent="0">
              <a:buNone/>
            </a:pPr>
            <a:r>
              <a:rPr lang="en-US" sz="1500" dirty="0">
                <a:solidFill>
                  <a:srgbClr val="2A3150"/>
                </a:solidFill>
                <a:latin typeface="Calibri" pitchFamily="34" charset="0"/>
                <a:ea typeface="Calibri" pitchFamily="34" charset="-122"/>
                <a:cs typeface="Calibri" pitchFamily="34" charset="-120"/>
              </a:rPr>
              <a:t>EULAR contempla un puente breve al iniciar o cambiar el tratamiento convencional. Usa la menor exposición posible y retíralos pronto, idealmente dentro de tres meses. La dependencia persistente sugiere revisar el control de la enfermedad.</a:t>
            </a:r>
            <a:endParaRPr lang="en-US" sz="1500" dirty="0"/>
          </a:p>
        </p:txBody>
      </p:sp>
      <p:sp>
        <p:nvSpPr>
          <p:cNvPr id="11" name="Text 8"/>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[1] Smolen JS, et al. JAMA 2026 · [2] Smolen JS, et al. EULAR 2025. Ann Rheum Dis 2026 · [11] Fraenkel L, et al. ACR 2021. Arthritis Care Res 2021</a:t>
            </a:r>
            <a:endParaRPr lang="en-US" sz="8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21D3A8"/>
          </a:solidFill>
          <a:ln w="12700">
            <a:solidFill>
              <a:srgbClr val="21D3A8"/>
            </a:solidFill>
            <a:prstDash val="solid"/>
          </a:ln>
        </p:spPr>
        <p:txBody>
          <a:bodyPr/>
          <a:lstStyle/>
          <a:p>
            <a:endParaRPr lang="es-CO"/>
          </a:p>
        </p:txBody>
      </p:sp>
      <p:sp>
        <p:nvSpPr>
          <p:cNvPr id="3" name="Text 1"/>
          <p:cNvSpPr txBox="1"/>
          <p:nvPr/>
        </p:nvSpPr>
        <p:spPr>
          <a:xfrm>
            <a:off x="685800" y="219456"/>
            <a:ext cx="7772400" cy="256032"/>
          </a:xfrm>
          <a:prstGeom prst="rect">
            <a:avLst/>
          </a:prstGeom>
          <a:noFill/>
          <a:ln/>
        </p:spPr>
        <p:txBody>
          <a:bodyPr wrap="square" lIns="0" tIns="0" rIns="0" bIns="0" rtlCol="0" anchor="ctr"/>
          <a:lstStyle/>
          <a:p>
            <a:pPr marL="0" indent="0">
              <a:buNone/>
            </a:pPr>
            <a:r>
              <a:rPr lang="en-US" sz="1050" b="1" kern="0" spc="400" dirty="0">
                <a:solidFill>
                  <a:srgbClr val="0C8368"/>
                </a:solidFill>
                <a:latin typeface="Calibri" pitchFamily="34" charset="0"/>
                <a:ea typeface="Calibri" pitchFamily="34" charset="-122"/>
                <a:cs typeface="Calibri" pitchFamily="34" charset="-120"/>
              </a:rPr>
              <a:t>PERLA 10 · EL PUENTE CON FECHA DE SALIDA</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600" b="1" dirty="0">
                <a:solidFill>
                  <a:srgbClr val="15193A"/>
                </a:solidFill>
                <a:latin typeface="Calibri" pitchFamily="34" charset="0"/>
                <a:ea typeface="Calibri" pitchFamily="34" charset="-122"/>
                <a:cs typeface="Calibri" pitchFamily="34" charset="-120"/>
              </a:rPr>
              <a:t>Glucocorticoides: corto, bajo y con retirada escrita</a:t>
            </a:r>
            <a:endParaRPr lang="en-US" sz="2600" dirty="0"/>
          </a:p>
        </p:txBody>
      </p:sp>
      <p:sp>
        <p:nvSpPr>
          <p:cNvPr id="5" name="Text 3"/>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[1] Smolen JS, et al. JAMA 2026 · [2] Smolen JS, et al. EULAR 2025. Ann Rheum Dis 2026 · [11] Fraenkel L, et al. ACR 2021. Arthritis Care Res 2021</a:t>
            </a:r>
            <a:endParaRPr lang="en-US" sz="850" dirty="0"/>
          </a:p>
        </p:txBody>
      </p:sp>
      <p:sp>
        <p:nvSpPr>
          <p:cNvPr id="6" name="Text 4"/>
          <p:cNvSpPr txBox="1"/>
          <p:nvPr/>
        </p:nvSpPr>
        <p:spPr>
          <a:xfrm>
            <a:off x="457200" y="1097280"/>
            <a:ext cx="5029200" cy="274320"/>
          </a:xfrm>
          <a:prstGeom prst="rect">
            <a:avLst/>
          </a:prstGeom>
          <a:noFill/>
          <a:ln/>
        </p:spPr>
        <p:txBody>
          <a:bodyPr wrap="square" lIns="0" tIns="0" rIns="0" bIns="0" rtlCol="0" anchor="t"/>
          <a:lstStyle/>
          <a:p>
            <a:pPr marL="0" indent="0">
              <a:buNone/>
            </a:pPr>
            <a:r>
              <a:rPr lang="en-US" sz="1150" b="1" dirty="0">
                <a:solidFill>
                  <a:srgbClr val="474F70"/>
                </a:solidFill>
                <a:latin typeface="Calibri" pitchFamily="34" charset="0"/>
                <a:ea typeface="Calibri" pitchFamily="34" charset="-122"/>
                <a:cs typeface="Calibri" pitchFamily="34" charset="-120"/>
              </a:rPr>
              <a:t>Ejemplo de prednisona (mg/día) por semana</a:t>
            </a:r>
            <a:endParaRPr lang="en-US" sz="1150" dirty="0"/>
          </a:p>
        </p:txBody>
      </p:sp>
      <p:sp>
        <p:nvSpPr>
          <p:cNvPr id="7" name="Shape 5"/>
          <p:cNvSpPr/>
          <p:nvPr/>
        </p:nvSpPr>
        <p:spPr>
          <a:xfrm>
            <a:off x="640080" y="1920240"/>
            <a:ext cx="548640" cy="1737360"/>
          </a:xfrm>
          <a:prstGeom prst="roundRect">
            <a:avLst>
              <a:gd name="adj" fmla="val 8333"/>
            </a:avLst>
          </a:prstGeom>
          <a:solidFill>
            <a:srgbClr val="FFB703"/>
          </a:solidFill>
          <a:ln w="12700">
            <a:solidFill>
              <a:srgbClr val="D8DEEF">
                <a:alpha val="0"/>
              </a:srgbClr>
            </a:solidFill>
            <a:prstDash val="solid"/>
          </a:ln>
        </p:spPr>
        <p:txBody>
          <a:bodyPr/>
          <a:lstStyle/>
          <a:p>
            <a:endParaRPr lang="es-CO"/>
          </a:p>
        </p:txBody>
      </p:sp>
      <p:sp>
        <p:nvSpPr>
          <p:cNvPr id="8" name="Text 6"/>
          <p:cNvSpPr txBox="1"/>
          <p:nvPr/>
        </p:nvSpPr>
        <p:spPr>
          <a:xfrm>
            <a:off x="585216" y="1554480"/>
            <a:ext cx="658368" cy="320040"/>
          </a:xfrm>
          <a:prstGeom prst="rect">
            <a:avLst/>
          </a:prstGeom>
          <a:noFill/>
          <a:ln/>
        </p:spPr>
        <p:txBody>
          <a:bodyPr wrap="square" lIns="0" tIns="0" rIns="0" bIns="0" rtlCol="0" anchor="t"/>
          <a:lstStyle/>
          <a:p>
            <a:pPr marL="0" indent="0" algn="ctr">
              <a:buNone/>
            </a:pPr>
            <a:r>
              <a:rPr lang="en-US" sz="1100" b="1" dirty="0">
                <a:solidFill>
                  <a:srgbClr val="15193A"/>
                </a:solidFill>
                <a:latin typeface="Calibri" pitchFamily="34" charset="0"/>
                <a:ea typeface="Calibri" pitchFamily="34" charset="-122"/>
                <a:cs typeface="Calibri" pitchFamily="34" charset="-120"/>
              </a:rPr>
              <a:t>7,5</a:t>
            </a:r>
            <a:endParaRPr lang="en-US" sz="1100" dirty="0"/>
          </a:p>
        </p:txBody>
      </p:sp>
      <p:sp>
        <p:nvSpPr>
          <p:cNvPr id="9" name="Text 7"/>
          <p:cNvSpPr txBox="1"/>
          <p:nvPr/>
        </p:nvSpPr>
        <p:spPr>
          <a:xfrm>
            <a:off x="585216" y="3703320"/>
            <a:ext cx="658368" cy="274320"/>
          </a:xfrm>
          <a:prstGeom prst="rect">
            <a:avLst/>
          </a:prstGeom>
          <a:noFill/>
          <a:ln/>
        </p:spPr>
        <p:txBody>
          <a:bodyPr wrap="square" lIns="0" tIns="0" rIns="0" bIns="0" rtlCol="0" anchor="t"/>
          <a:lstStyle/>
          <a:p>
            <a:pPr marL="0" indent="0" algn="ctr">
              <a:buNone/>
            </a:pPr>
            <a:r>
              <a:rPr lang="en-US" sz="950" dirty="0">
                <a:solidFill>
                  <a:srgbClr val="474F70"/>
                </a:solidFill>
                <a:latin typeface="Calibri" pitchFamily="34" charset="0"/>
                <a:ea typeface="Calibri" pitchFamily="34" charset="-122"/>
                <a:cs typeface="Calibri" pitchFamily="34" charset="-120"/>
              </a:rPr>
              <a:t>Sem 2</a:t>
            </a:r>
            <a:endParaRPr lang="en-US" sz="950" dirty="0"/>
          </a:p>
        </p:txBody>
      </p:sp>
      <p:sp>
        <p:nvSpPr>
          <p:cNvPr id="10" name="Shape 8"/>
          <p:cNvSpPr/>
          <p:nvPr/>
        </p:nvSpPr>
        <p:spPr>
          <a:xfrm>
            <a:off x="1417320" y="1920240"/>
            <a:ext cx="548640" cy="1737360"/>
          </a:xfrm>
          <a:prstGeom prst="roundRect">
            <a:avLst>
              <a:gd name="adj" fmla="val 8333"/>
            </a:avLst>
          </a:prstGeom>
          <a:solidFill>
            <a:srgbClr val="FFB703"/>
          </a:solidFill>
          <a:ln w="12700">
            <a:solidFill>
              <a:srgbClr val="D8DEEF">
                <a:alpha val="0"/>
              </a:srgbClr>
            </a:solidFill>
            <a:prstDash val="solid"/>
          </a:ln>
        </p:spPr>
        <p:txBody>
          <a:bodyPr/>
          <a:lstStyle/>
          <a:p>
            <a:endParaRPr lang="es-CO"/>
          </a:p>
        </p:txBody>
      </p:sp>
      <p:sp>
        <p:nvSpPr>
          <p:cNvPr id="11" name="Text 9"/>
          <p:cNvSpPr txBox="1"/>
          <p:nvPr/>
        </p:nvSpPr>
        <p:spPr>
          <a:xfrm>
            <a:off x="1362456" y="1554480"/>
            <a:ext cx="658368" cy="320040"/>
          </a:xfrm>
          <a:prstGeom prst="rect">
            <a:avLst/>
          </a:prstGeom>
          <a:noFill/>
          <a:ln/>
        </p:spPr>
        <p:txBody>
          <a:bodyPr wrap="square" lIns="0" tIns="0" rIns="0" bIns="0" rtlCol="0" anchor="t"/>
          <a:lstStyle/>
          <a:p>
            <a:pPr marL="0" indent="0" algn="ctr">
              <a:buNone/>
            </a:pPr>
            <a:r>
              <a:rPr lang="en-US" sz="1100" b="1" dirty="0">
                <a:solidFill>
                  <a:srgbClr val="15193A"/>
                </a:solidFill>
                <a:latin typeface="Calibri" pitchFamily="34" charset="0"/>
                <a:ea typeface="Calibri" pitchFamily="34" charset="-122"/>
                <a:cs typeface="Calibri" pitchFamily="34" charset="-120"/>
              </a:rPr>
              <a:t>7,5</a:t>
            </a:r>
            <a:endParaRPr lang="en-US" sz="1100" dirty="0"/>
          </a:p>
        </p:txBody>
      </p:sp>
      <p:sp>
        <p:nvSpPr>
          <p:cNvPr id="12" name="Text 10"/>
          <p:cNvSpPr txBox="1"/>
          <p:nvPr/>
        </p:nvSpPr>
        <p:spPr>
          <a:xfrm>
            <a:off x="1362456" y="3703320"/>
            <a:ext cx="658368" cy="274320"/>
          </a:xfrm>
          <a:prstGeom prst="rect">
            <a:avLst/>
          </a:prstGeom>
          <a:noFill/>
          <a:ln/>
        </p:spPr>
        <p:txBody>
          <a:bodyPr wrap="square" lIns="0" tIns="0" rIns="0" bIns="0" rtlCol="0" anchor="t"/>
          <a:lstStyle/>
          <a:p>
            <a:pPr marL="0" indent="0" algn="ctr">
              <a:buNone/>
            </a:pPr>
            <a:r>
              <a:rPr lang="en-US" sz="950" dirty="0">
                <a:solidFill>
                  <a:srgbClr val="474F70"/>
                </a:solidFill>
                <a:latin typeface="Calibri" pitchFamily="34" charset="0"/>
                <a:ea typeface="Calibri" pitchFamily="34" charset="-122"/>
                <a:cs typeface="Calibri" pitchFamily="34" charset="-120"/>
              </a:rPr>
              <a:t>Sem 4</a:t>
            </a:r>
            <a:endParaRPr lang="en-US" sz="950" dirty="0"/>
          </a:p>
        </p:txBody>
      </p:sp>
      <p:sp>
        <p:nvSpPr>
          <p:cNvPr id="13" name="Shape 11"/>
          <p:cNvSpPr/>
          <p:nvPr/>
        </p:nvSpPr>
        <p:spPr>
          <a:xfrm>
            <a:off x="2194560" y="2499360"/>
            <a:ext cx="548640" cy="1158240"/>
          </a:xfrm>
          <a:prstGeom prst="roundRect">
            <a:avLst>
              <a:gd name="adj" fmla="val 8333"/>
            </a:avLst>
          </a:prstGeom>
          <a:solidFill>
            <a:srgbClr val="F4C774"/>
          </a:solidFill>
          <a:ln w="12700">
            <a:solidFill>
              <a:srgbClr val="D8DEEF">
                <a:alpha val="0"/>
              </a:srgbClr>
            </a:solidFill>
            <a:prstDash val="solid"/>
          </a:ln>
        </p:spPr>
        <p:txBody>
          <a:bodyPr/>
          <a:lstStyle/>
          <a:p>
            <a:endParaRPr lang="es-CO"/>
          </a:p>
        </p:txBody>
      </p:sp>
      <p:sp>
        <p:nvSpPr>
          <p:cNvPr id="14" name="Text 12"/>
          <p:cNvSpPr txBox="1"/>
          <p:nvPr/>
        </p:nvSpPr>
        <p:spPr>
          <a:xfrm>
            <a:off x="2139696" y="2133600"/>
            <a:ext cx="658368" cy="320040"/>
          </a:xfrm>
          <a:prstGeom prst="rect">
            <a:avLst/>
          </a:prstGeom>
          <a:noFill/>
          <a:ln/>
        </p:spPr>
        <p:txBody>
          <a:bodyPr wrap="square" lIns="0" tIns="0" rIns="0" bIns="0" rtlCol="0" anchor="t"/>
          <a:lstStyle/>
          <a:p>
            <a:pPr marL="0" indent="0" algn="ctr">
              <a:buNone/>
            </a:pPr>
            <a:r>
              <a:rPr lang="en-US" sz="1100" b="1" dirty="0">
                <a:solidFill>
                  <a:srgbClr val="15193A"/>
                </a:solidFill>
                <a:latin typeface="Calibri" pitchFamily="34" charset="0"/>
                <a:ea typeface="Calibri" pitchFamily="34" charset="-122"/>
                <a:cs typeface="Calibri" pitchFamily="34" charset="-120"/>
              </a:rPr>
              <a:t>5</a:t>
            </a:r>
            <a:endParaRPr lang="en-US" sz="1100" dirty="0"/>
          </a:p>
        </p:txBody>
      </p:sp>
      <p:sp>
        <p:nvSpPr>
          <p:cNvPr id="15" name="Text 13"/>
          <p:cNvSpPr txBox="1"/>
          <p:nvPr/>
        </p:nvSpPr>
        <p:spPr>
          <a:xfrm>
            <a:off x="2139696" y="3703320"/>
            <a:ext cx="658368" cy="274320"/>
          </a:xfrm>
          <a:prstGeom prst="rect">
            <a:avLst/>
          </a:prstGeom>
          <a:noFill/>
          <a:ln/>
        </p:spPr>
        <p:txBody>
          <a:bodyPr wrap="square" lIns="0" tIns="0" rIns="0" bIns="0" rtlCol="0" anchor="t"/>
          <a:lstStyle/>
          <a:p>
            <a:pPr marL="0" indent="0" algn="ctr">
              <a:buNone/>
            </a:pPr>
            <a:r>
              <a:rPr lang="en-US" sz="950" dirty="0">
                <a:solidFill>
                  <a:srgbClr val="474F70"/>
                </a:solidFill>
                <a:latin typeface="Calibri" pitchFamily="34" charset="0"/>
                <a:ea typeface="Calibri" pitchFamily="34" charset="-122"/>
                <a:cs typeface="Calibri" pitchFamily="34" charset="-120"/>
              </a:rPr>
              <a:t>Sem 6</a:t>
            </a:r>
            <a:endParaRPr lang="en-US" sz="950" dirty="0"/>
          </a:p>
        </p:txBody>
      </p:sp>
      <p:sp>
        <p:nvSpPr>
          <p:cNvPr id="16" name="Shape 14"/>
          <p:cNvSpPr/>
          <p:nvPr/>
        </p:nvSpPr>
        <p:spPr>
          <a:xfrm>
            <a:off x="2971800" y="2499360"/>
            <a:ext cx="548640" cy="1158240"/>
          </a:xfrm>
          <a:prstGeom prst="roundRect">
            <a:avLst>
              <a:gd name="adj" fmla="val 8333"/>
            </a:avLst>
          </a:prstGeom>
          <a:solidFill>
            <a:srgbClr val="F4C774"/>
          </a:solidFill>
          <a:ln w="12700">
            <a:solidFill>
              <a:srgbClr val="D8DEEF">
                <a:alpha val="0"/>
              </a:srgbClr>
            </a:solidFill>
            <a:prstDash val="solid"/>
          </a:ln>
        </p:spPr>
        <p:txBody>
          <a:bodyPr/>
          <a:lstStyle/>
          <a:p>
            <a:endParaRPr lang="es-CO"/>
          </a:p>
        </p:txBody>
      </p:sp>
      <p:sp>
        <p:nvSpPr>
          <p:cNvPr id="17" name="Text 15"/>
          <p:cNvSpPr txBox="1"/>
          <p:nvPr/>
        </p:nvSpPr>
        <p:spPr>
          <a:xfrm>
            <a:off x="2916936" y="2133600"/>
            <a:ext cx="658368" cy="320040"/>
          </a:xfrm>
          <a:prstGeom prst="rect">
            <a:avLst/>
          </a:prstGeom>
          <a:noFill/>
          <a:ln/>
        </p:spPr>
        <p:txBody>
          <a:bodyPr wrap="square" lIns="0" tIns="0" rIns="0" bIns="0" rtlCol="0" anchor="t"/>
          <a:lstStyle/>
          <a:p>
            <a:pPr marL="0" indent="0" algn="ctr">
              <a:buNone/>
            </a:pPr>
            <a:r>
              <a:rPr lang="en-US" sz="1100" b="1" dirty="0">
                <a:solidFill>
                  <a:srgbClr val="15193A"/>
                </a:solidFill>
                <a:latin typeface="Calibri" pitchFamily="34" charset="0"/>
                <a:ea typeface="Calibri" pitchFamily="34" charset="-122"/>
                <a:cs typeface="Calibri" pitchFamily="34" charset="-120"/>
              </a:rPr>
              <a:t>5</a:t>
            </a:r>
            <a:endParaRPr lang="en-US" sz="1100" dirty="0"/>
          </a:p>
        </p:txBody>
      </p:sp>
      <p:sp>
        <p:nvSpPr>
          <p:cNvPr id="18" name="Text 16"/>
          <p:cNvSpPr txBox="1"/>
          <p:nvPr/>
        </p:nvSpPr>
        <p:spPr>
          <a:xfrm>
            <a:off x="2916936" y="3703320"/>
            <a:ext cx="658368" cy="274320"/>
          </a:xfrm>
          <a:prstGeom prst="rect">
            <a:avLst/>
          </a:prstGeom>
          <a:noFill/>
          <a:ln/>
        </p:spPr>
        <p:txBody>
          <a:bodyPr wrap="square" lIns="0" tIns="0" rIns="0" bIns="0" rtlCol="0" anchor="t"/>
          <a:lstStyle/>
          <a:p>
            <a:pPr marL="0" indent="0" algn="ctr">
              <a:buNone/>
            </a:pPr>
            <a:r>
              <a:rPr lang="en-US" sz="950" dirty="0">
                <a:solidFill>
                  <a:srgbClr val="474F70"/>
                </a:solidFill>
                <a:latin typeface="Calibri" pitchFamily="34" charset="0"/>
                <a:ea typeface="Calibri" pitchFamily="34" charset="-122"/>
                <a:cs typeface="Calibri" pitchFamily="34" charset="-120"/>
              </a:rPr>
              <a:t>Sem 8</a:t>
            </a:r>
            <a:endParaRPr lang="en-US" sz="950" dirty="0"/>
          </a:p>
        </p:txBody>
      </p:sp>
      <p:sp>
        <p:nvSpPr>
          <p:cNvPr id="19" name="Shape 17"/>
          <p:cNvSpPr/>
          <p:nvPr/>
        </p:nvSpPr>
        <p:spPr>
          <a:xfrm>
            <a:off x="3749040" y="3078480"/>
            <a:ext cx="548640" cy="579120"/>
          </a:xfrm>
          <a:prstGeom prst="roundRect">
            <a:avLst>
              <a:gd name="adj" fmla="val 8333"/>
            </a:avLst>
          </a:prstGeom>
          <a:solidFill>
            <a:srgbClr val="21D3A8"/>
          </a:solidFill>
          <a:ln w="12700">
            <a:solidFill>
              <a:srgbClr val="D8DEEF">
                <a:alpha val="0"/>
              </a:srgbClr>
            </a:solidFill>
            <a:prstDash val="solid"/>
          </a:ln>
        </p:spPr>
        <p:txBody>
          <a:bodyPr/>
          <a:lstStyle/>
          <a:p>
            <a:endParaRPr lang="es-CO"/>
          </a:p>
        </p:txBody>
      </p:sp>
      <p:sp>
        <p:nvSpPr>
          <p:cNvPr id="20" name="Text 18"/>
          <p:cNvSpPr txBox="1"/>
          <p:nvPr/>
        </p:nvSpPr>
        <p:spPr>
          <a:xfrm>
            <a:off x="3694176" y="2712720"/>
            <a:ext cx="658368" cy="320040"/>
          </a:xfrm>
          <a:prstGeom prst="rect">
            <a:avLst/>
          </a:prstGeom>
          <a:noFill/>
          <a:ln/>
        </p:spPr>
        <p:txBody>
          <a:bodyPr wrap="square" lIns="0" tIns="0" rIns="0" bIns="0" rtlCol="0" anchor="t"/>
          <a:lstStyle/>
          <a:p>
            <a:pPr marL="0" indent="0" algn="ctr">
              <a:buNone/>
            </a:pPr>
            <a:r>
              <a:rPr lang="en-US" sz="1100" b="1" dirty="0">
                <a:solidFill>
                  <a:srgbClr val="15193A"/>
                </a:solidFill>
                <a:latin typeface="Calibri" pitchFamily="34" charset="0"/>
                <a:ea typeface="Calibri" pitchFamily="34" charset="-122"/>
                <a:cs typeface="Calibri" pitchFamily="34" charset="-120"/>
              </a:rPr>
              <a:t>2,5</a:t>
            </a:r>
            <a:endParaRPr lang="en-US" sz="1100" dirty="0"/>
          </a:p>
        </p:txBody>
      </p:sp>
      <p:sp>
        <p:nvSpPr>
          <p:cNvPr id="21" name="Text 19"/>
          <p:cNvSpPr txBox="1"/>
          <p:nvPr/>
        </p:nvSpPr>
        <p:spPr>
          <a:xfrm>
            <a:off x="3694176" y="3703320"/>
            <a:ext cx="658368" cy="274320"/>
          </a:xfrm>
          <a:prstGeom prst="rect">
            <a:avLst/>
          </a:prstGeom>
          <a:noFill/>
          <a:ln/>
        </p:spPr>
        <p:txBody>
          <a:bodyPr wrap="square" lIns="0" tIns="0" rIns="0" bIns="0" rtlCol="0" anchor="t"/>
          <a:lstStyle/>
          <a:p>
            <a:pPr marL="0" indent="0" algn="ctr">
              <a:buNone/>
            </a:pPr>
            <a:r>
              <a:rPr lang="en-US" sz="950" dirty="0">
                <a:solidFill>
                  <a:srgbClr val="474F70"/>
                </a:solidFill>
                <a:latin typeface="Calibri" pitchFamily="34" charset="0"/>
                <a:ea typeface="Calibri" pitchFamily="34" charset="-122"/>
                <a:cs typeface="Calibri" pitchFamily="34" charset="-120"/>
              </a:rPr>
              <a:t>Sem 10</a:t>
            </a:r>
            <a:endParaRPr lang="en-US" sz="950" dirty="0"/>
          </a:p>
        </p:txBody>
      </p:sp>
      <p:sp>
        <p:nvSpPr>
          <p:cNvPr id="22" name="Text 20"/>
          <p:cNvSpPr txBox="1"/>
          <p:nvPr/>
        </p:nvSpPr>
        <p:spPr>
          <a:xfrm>
            <a:off x="4471416" y="3291840"/>
            <a:ext cx="658368" cy="320040"/>
          </a:xfrm>
          <a:prstGeom prst="rect">
            <a:avLst/>
          </a:prstGeom>
          <a:noFill/>
          <a:ln/>
        </p:spPr>
        <p:txBody>
          <a:bodyPr wrap="square" lIns="0" tIns="0" rIns="0" bIns="0" rtlCol="0" anchor="t"/>
          <a:lstStyle/>
          <a:p>
            <a:pPr marL="0" indent="0" algn="ctr">
              <a:buNone/>
            </a:pPr>
            <a:r>
              <a:rPr lang="en-US" sz="1100" b="1" dirty="0">
                <a:solidFill>
                  <a:srgbClr val="15193A"/>
                </a:solidFill>
                <a:latin typeface="Calibri" pitchFamily="34" charset="0"/>
                <a:ea typeface="Calibri" pitchFamily="34" charset="-122"/>
                <a:cs typeface="Calibri" pitchFamily="34" charset="-120"/>
              </a:rPr>
              <a:t>0</a:t>
            </a:r>
            <a:endParaRPr lang="en-US" sz="1100" dirty="0"/>
          </a:p>
        </p:txBody>
      </p:sp>
      <p:sp>
        <p:nvSpPr>
          <p:cNvPr id="23" name="Text 21"/>
          <p:cNvSpPr txBox="1"/>
          <p:nvPr/>
        </p:nvSpPr>
        <p:spPr>
          <a:xfrm>
            <a:off x="4471416" y="3703320"/>
            <a:ext cx="658368" cy="274320"/>
          </a:xfrm>
          <a:prstGeom prst="rect">
            <a:avLst/>
          </a:prstGeom>
          <a:noFill/>
          <a:ln/>
        </p:spPr>
        <p:txBody>
          <a:bodyPr wrap="square" lIns="0" tIns="0" rIns="0" bIns="0" rtlCol="0" anchor="t"/>
          <a:lstStyle/>
          <a:p>
            <a:pPr marL="0" indent="0" algn="ctr">
              <a:buNone/>
            </a:pPr>
            <a:r>
              <a:rPr lang="en-US" sz="950" dirty="0">
                <a:solidFill>
                  <a:srgbClr val="474F70"/>
                </a:solidFill>
                <a:latin typeface="Calibri" pitchFamily="34" charset="0"/>
                <a:ea typeface="Calibri" pitchFamily="34" charset="-122"/>
                <a:cs typeface="Calibri" pitchFamily="34" charset="-120"/>
              </a:rPr>
              <a:t>Sem 12</a:t>
            </a:r>
            <a:endParaRPr lang="en-US" sz="950" dirty="0"/>
          </a:p>
        </p:txBody>
      </p:sp>
      <p:sp>
        <p:nvSpPr>
          <p:cNvPr id="24" name="Text 22"/>
          <p:cNvSpPr txBox="1"/>
          <p:nvPr/>
        </p:nvSpPr>
        <p:spPr>
          <a:xfrm>
            <a:off x="457200" y="4023360"/>
            <a:ext cx="5029200" cy="274320"/>
          </a:xfrm>
          <a:prstGeom prst="rect">
            <a:avLst/>
          </a:prstGeom>
          <a:noFill/>
          <a:ln/>
        </p:spPr>
        <p:txBody>
          <a:bodyPr wrap="square" lIns="0" tIns="0" rIns="0" bIns="0" rtlCol="0" anchor="t"/>
          <a:lstStyle/>
          <a:p>
            <a:pPr marL="0" indent="0">
              <a:buNone/>
            </a:pPr>
            <a:r>
              <a:rPr lang="en-US" sz="1100" i="1" dirty="0">
                <a:solidFill>
                  <a:srgbClr val="0C8368"/>
                </a:solidFill>
                <a:latin typeface="Calibri" pitchFamily="34" charset="0"/>
                <a:ea typeface="Calibri" pitchFamily="34" charset="-122"/>
                <a:cs typeface="Calibri" pitchFamily="34" charset="-120"/>
              </a:rPr>
              <a:t>Retirada completa hacia la semana 12</a:t>
            </a:r>
            <a:endParaRPr lang="en-US" sz="1100" dirty="0"/>
          </a:p>
        </p:txBody>
      </p:sp>
      <p:sp>
        <p:nvSpPr>
          <p:cNvPr id="25" name="Text 23"/>
          <p:cNvSpPr txBox="1"/>
          <p:nvPr/>
        </p:nvSpPr>
        <p:spPr>
          <a:xfrm>
            <a:off x="457200" y="4297680"/>
            <a:ext cx="5029200" cy="274320"/>
          </a:xfrm>
          <a:prstGeom prst="rect">
            <a:avLst/>
          </a:prstGeom>
          <a:noFill/>
          <a:ln/>
        </p:spPr>
        <p:txBody>
          <a:bodyPr wrap="square" lIns="0" tIns="0" rIns="0" bIns="0" rtlCol="0" anchor="t"/>
          <a:lstStyle/>
          <a:p>
            <a:pPr marL="0" indent="0">
              <a:buNone/>
            </a:pPr>
            <a:r>
              <a:rPr lang="en-US" sz="950" i="1" dirty="0">
                <a:solidFill>
                  <a:srgbClr val="565E82"/>
                </a:solidFill>
                <a:latin typeface="Calibri" pitchFamily="34" charset="0"/>
                <a:ea typeface="Calibri" pitchFamily="34" charset="-122"/>
                <a:cs typeface="Calibri" pitchFamily="34" charset="-120"/>
              </a:rPr>
              <a:t>Esquema ilustrativo: ajustar al paciente.</a:t>
            </a:r>
            <a:endParaRPr lang="en-US" sz="950" dirty="0"/>
          </a:p>
        </p:txBody>
      </p:sp>
      <p:sp>
        <p:nvSpPr>
          <p:cNvPr id="26" name="Shape 24"/>
          <p:cNvSpPr/>
          <p:nvPr/>
        </p:nvSpPr>
        <p:spPr>
          <a:xfrm>
            <a:off x="5669280" y="1188720"/>
            <a:ext cx="3017520" cy="1600200"/>
          </a:xfrm>
          <a:prstGeom prst="roundRect">
            <a:avLst>
              <a:gd name="adj" fmla="val 5714"/>
            </a:avLst>
          </a:prstGeom>
          <a:solidFill>
            <a:srgbClr val="21D3A8">
              <a:alpha val="12000"/>
            </a:srgbClr>
          </a:solidFill>
          <a:ln w="15875">
            <a:solidFill>
              <a:srgbClr val="21D3A8"/>
            </a:solidFill>
            <a:prstDash val="solid"/>
          </a:ln>
        </p:spPr>
        <p:txBody>
          <a:bodyPr/>
          <a:lstStyle/>
          <a:p>
            <a:endParaRPr lang="es-CO"/>
          </a:p>
        </p:txBody>
      </p:sp>
      <p:sp>
        <p:nvSpPr>
          <p:cNvPr id="27" name="Text 25"/>
          <p:cNvSpPr txBox="1"/>
          <p:nvPr/>
        </p:nvSpPr>
        <p:spPr>
          <a:xfrm>
            <a:off x="5806440" y="1261872"/>
            <a:ext cx="2743200" cy="292608"/>
          </a:xfrm>
          <a:prstGeom prst="rect">
            <a:avLst/>
          </a:prstGeom>
          <a:noFill/>
          <a:ln/>
        </p:spPr>
        <p:txBody>
          <a:bodyPr wrap="square" lIns="0" tIns="0" rIns="0" bIns="0" rtlCol="0" anchor="t"/>
          <a:lstStyle/>
          <a:p>
            <a:pPr marL="0" indent="0">
              <a:buNone/>
            </a:pPr>
            <a:r>
              <a:rPr lang="en-US" sz="1300" b="1" dirty="0">
                <a:solidFill>
                  <a:srgbClr val="0C8368"/>
                </a:solidFill>
                <a:latin typeface="Calibri" pitchFamily="34" charset="0"/>
                <a:ea typeface="Calibri" pitchFamily="34" charset="-122"/>
                <a:cs typeface="Calibri" pitchFamily="34" charset="-120"/>
              </a:rPr>
              <a:t>EULAR</a:t>
            </a:r>
            <a:endParaRPr lang="en-US" sz="1300" dirty="0"/>
          </a:p>
        </p:txBody>
      </p:sp>
      <p:sp>
        <p:nvSpPr>
          <p:cNvPr id="28" name="Text 26"/>
          <p:cNvSpPr txBox="1"/>
          <p:nvPr/>
        </p:nvSpPr>
        <p:spPr>
          <a:xfrm>
            <a:off x="5806440" y="1572768"/>
            <a:ext cx="2788920" cy="1188720"/>
          </a:xfrm>
          <a:prstGeom prst="rect">
            <a:avLst/>
          </a:prstGeom>
          <a:noFill/>
          <a:ln/>
        </p:spPr>
        <p:txBody>
          <a:bodyPr wrap="square" lIns="0" tIns="0" rIns="0" bIns="0" rtlCol="0" anchor="t"/>
          <a:lstStyle/>
          <a:p>
            <a:pPr marL="0" indent="0">
              <a:buNone/>
            </a:pPr>
            <a:r>
              <a:rPr lang="en-US" sz="1150" dirty="0">
                <a:solidFill>
                  <a:srgbClr val="15193A"/>
                </a:solidFill>
                <a:latin typeface="Calibri" pitchFamily="34" charset="0"/>
                <a:ea typeface="Calibri" pitchFamily="34" charset="-122"/>
                <a:cs typeface="Calibri" pitchFamily="34" charset="-120"/>
              </a:rPr>
              <a:t>Prednisona 5–7,5 mg/día por 6–12 semanas, con retirada en ≤ 3 meses, o metilprednisolona IM 80–160 mg en dosis única.</a:t>
            </a:r>
            <a:endParaRPr lang="en-US" sz="1150" dirty="0"/>
          </a:p>
        </p:txBody>
      </p:sp>
      <p:sp>
        <p:nvSpPr>
          <p:cNvPr id="31" name="Shape 29"/>
          <p:cNvSpPr/>
          <p:nvPr/>
        </p:nvSpPr>
        <p:spPr>
          <a:xfrm>
            <a:off x="5669280" y="3246120"/>
            <a:ext cx="3017520" cy="777240"/>
          </a:xfrm>
          <a:prstGeom prst="roundRect">
            <a:avLst>
              <a:gd name="adj" fmla="val 11765"/>
            </a:avLst>
          </a:prstGeom>
          <a:solidFill>
            <a:srgbClr val="FF4D6D">
              <a:alpha val="12000"/>
            </a:srgbClr>
          </a:solidFill>
          <a:ln w="15875">
            <a:solidFill>
              <a:srgbClr val="FF4D6D"/>
            </a:solidFill>
            <a:prstDash val="solid"/>
          </a:ln>
        </p:spPr>
        <p:txBody>
          <a:bodyPr/>
          <a:lstStyle/>
          <a:p>
            <a:endParaRPr lang="es-CO"/>
          </a:p>
        </p:txBody>
      </p:sp>
      <p:sp>
        <p:nvSpPr>
          <p:cNvPr id="32" name="Text 30"/>
          <p:cNvSpPr txBox="1"/>
          <p:nvPr/>
        </p:nvSpPr>
        <p:spPr>
          <a:xfrm>
            <a:off x="5806440" y="3246120"/>
            <a:ext cx="2788920" cy="777240"/>
          </a:xfrm>
          <a:prstGeom prst="rect">
            <a:avLst/>
          </a:prstGeom>
          <a:noFill/>
          <a:ln/>
        </p:spPr>
        <p:txBody>
          <a:bodyPr wrap="square" lIns="0" tIns="0" rIns="0" bIns="0" rtlCol="0" anchor="ctr"/>
          <a:lstStyle/>
          <a:p>
            <a:pPr marL="0" indent="0">
              <a:buNone/>
            </a:pPr>
            <a:r>
              <a:rPr lang="en-US" sz="1150" b="1" dirty="0">
                <a:solidFill>
                  <a:srgbClr val="15193A"/>
                </a:solidFill>
                <a:latin typeface="Calibri" pitchFamily="34" charset="0"/>
                <a:ea typeface="Calibri" pitchFamily="34" charset="-122"/>
                <a:cs typeface="Calibri" pitchFamily="34" charset="-120"/>
              </a:rPr>
              <a:t>¿No puedes retirarlo? La enfermedad no está controlada: escala el FAME.</a:t>
            </a:r>
            <a:endParaRPr lang="en-US" sz="1150" dirty="0"/>
          </a:p>
        </p:txBody>
      </p:sp>
      <p:sp>
        <p:nvSpPr>
          <p:cNvPr id="33"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21D3A8">
              <a:alpha val="12000"/>
            </a:srgbClr>
          </a:solidFill>
          <a:ln w="15875">
            <a:solidFill>
              <a:srgbClr val="21D3A8"/>
            </a:solidFill>
            <a:prstDash val="solid"/>
          </a:ln>
        </p:spPr>
        <p:txBody>
          <a:bodyPr/>
          <a:lstStyle/>
          <a:p>
            <a:endParaRPr lang="es-CO"/>
          </a:p>
        </p:txBody>
      </p:sp>
      <p:sp>
        <p:nvSpPr>
          <p:cNvPr id="3" name="Text 1"/>
          <p:cNvSpPr txBox="1"/>
          <p:nvPr/>
        </p:nvSpPr>
        <p:spPr>
          <a:xfrm>
            <a:off x="457200" y="731520"/>
            <a:ext cx="2651760" cy="320040"/>
          </a:xfrm>
          <a:prstGeom prst="rect">
            <a:avLst/>
          </a:prstGeom>
          <a:noFill/>
          <a:ln/>
        </p:spPr>
        <p:txBody>
          <a:bodyPr wrap="square" lIns="0" tIns="0" rIns="0" bIns="0" rtlCol="0" anchor="t"/>
          <a:lstStyle/>
          <a:p>
            <a:pPr marL="0" indent="0" algn="ctr">
              <a:buNone/>
            </a:pPr>
            <a:r>
              <a:rPr lang="en-US" sz="1400" b="1" kern="0" spc="800" dirty="0">
                <a:solidFill>
                  <a:srgbClr val="0C8368"/>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marL="0" indent="0" algn="ctr">
              <a:buNone/>
            </a:pPr>
            <a:r>
              <a:rPr lang="en-US" sz="11000" b="1" dirty="0">
                <a:solidFill>
                  <a:srgbClr val="15193A"/>
                </a:solidFill>
                <a:latin typeface="Calibri" pitchFamily="34" charset="0"/>
                <a:ea typeface="Calibri" pitchFamily="34" charset="-122"/>
                <a:cs typeface="Calibri" pitchFamily="34" charset="-120"/>
              </a:rPr>
              <a:t>11</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marL="0" indent="0" algn="ctr">
              <a:buNone/>
            </a:pPr>
            <a:r>
              <a:rPr lang="en-US" sz="1300" dirty="0">
                <a:solidFill>
                  <a:srgbClr val="474F70"/>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21D3A8"/>
          </a:solidFill>
          <a:ln w="19050">
            <a:solidFill>
              <a:srgbClr val="21D3A8"/>
            </a:solidFill>
            <a:prstDash val="solid"/>
          </a:ln>
        </p:spPr>
        <p:txBody>
          <a:bodyPr/>
          <a:lstStyle/>
          <a:p>
            <a:endParaRPr lang="es-CO"/>
          </a:p>
        </p:txBody>
      </p:sp>
      <p:pic>
        <p:nvPicPr>
          <p:cNvPr id="7" name="Image 0" descr="preencoded.png"/>
          <p:cNvPicPr>
            <a:picLocks noChangeAspect="1"/>
          </p:cNvPicPr>
          <p:nvPr/>
        </p:nvPicPr>
        <p:blipFill>
          <a:blip r:embed="rId4"/>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marL="0" indent="0">
              <a:buNone/>
            </a:pPr>
            <a:r>
              <a:rPr lang="en-US" sz="2500" b="1" dirty="0">
                <a:solidFill>
                  <a:srgbClr val="15193A"/>
                </a:solidFill>
                <a:latin typeface="Calibri" pitchFamily="34" charset="0"/>
                <a:ea typeface="Calibri" pitchFamily="34" charset="-122"/>
                <a:cs typeface="Calibri" pitchFamily="34" charset="-120"/>
              </a:rPr>
              <a:t>Novedad 2026: el fracaso inicial justifica avanzar</a:t>
            </a:r>
            <a:endParaRPr lang="en-US" sz="2500" dirty="0"/>
          </a:p>
        </p:txBody>
      </p:sp>
      <p:sp>
        <p:nvSpPr>
          <p:cNvPr id="9" name="Shape 6"/>
          <p:cNvSpPr/>
          <p:nvPr/>
        </p:nvSpPr>
        <p:spPr>
          <a:xfrm>
            <a:off x="3429000" y="2057400"/>
            <a:ext cx="1097280" cy="0"/>
          </a:xfrm>
          <a:prstGeom prst="line">
            <a:avLst/>
          </a:prstGeom>
          <a:noFill/>
          <a:ln w="38100">
            <a:solidFill>
              <a:srgbClr val="21D3A8"/>
            </a:solidFill>
            <a:prstDash val="solid"/>
          </a:ln>
        </p:spPr>
        <p:txBody>
          <a:bodyPr/>
          <a:lstStyle/>
          <a:p>
            <a:endParaRPr lang="es-CO"/>
          </a:p>
        </p:txBody>
      </p:sp>
      <p:sp>
        <p:nvSpPr>
          <p:cNvPr id="10" name="Text 7"/>
          <p:cNvSpPr txBox="1"/>
          <p:nvPr/>
        </p:nvSpPr>
        <p:spPr>
          <a:xfrm>
            <a:off x="3429000" y="2240280"/>
            <a:ext cx="5257800" cy="1920240"/>
          </a:xfrm>
          <a:prstGeom prst="rect">
            <a:avLst/>
          </a:prstGeom>
          <a:noFill/>
          <a:ln/>
        </p:spPr>
        <p:txBody>
          <a:bodyPr wrap="square" lIns="0" tIns="0" rIns="0" bIns="0" rtlCol="0" anchor="t"/>
          <a:lstStyle/>
          <a:p>
            <a:pPr marL="0" indent="0" algn="just">
              <a:buNone/>
            </a:pPr>
            <a:r>
              <a:rPr lang="en-US" sz="1500" dirty="0">
                <a:solidFill>
                  <a:srgbClr val="2A3150"/>
                </a:solidFill>
                <a:latin typeface="Calibri" pitchFamily="34" charset="0"/>
                <a:ea typeface="Calibri" pitchFamily="34" charset="-122"/>
                <a:cs typeface="Calibri" pitchFamily="34" charset="-120"/>
              </a:rPr>
              <a:t>La actualización EULAR 2025, publicada en 2026, elimina la necesidad de estratificar por factores de mal pronóstico tras el fracaso de la estrategia inicial. Si la respuesta es insuficiente, recomienda añadir un biológico; los inhibidores JAK requieren valorar especialmente el riesgo cardiovascular, trombótico y de malignidad.</a:t>
            </a:r>
            <a:endParaRPr lang="en-US" sz="1500" dirty="0"/>
          </a:p>
        </p:txBody>
      </p:sp>
      <p:sp>
        <p:nvSpPr>
          <p:cNvPr id="11" name="Text 8"/>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[2] Smolen JS, et al. EULAR 2025. Ann Rheum Dis 2026 · [14] Ytterberg SR, et al. ORAL Surveillance. N Engl J Med 2022</a:t>
            </a:r>
            <a:endParaRPr lang="en-US" sz="8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21D3A8"/>
          </a:solidFill>
          <a:ln w="12700">
            <a:solidFill>
              <a:srgbClr val="21D3A8"/>
            </a:solidFill>
            <a:prstDash val="solid"/>
          </a:ln>
        </p:spPr>
        <p:txBody>
          <a:bodyPr/>
          <a:lstStyle/>
          <a:p>
            <a:endParaRPr lang="es-CO"/>
          </a:p>
        </p:txBody>
      </p:sp>
      <p:sp>
        <p:nvSpPr>
          <p:cNvPr id="3" name="Text 1"/>
          <p:cNvSpPr txBox="1"/>
          <p:nvPr/>
        </p:nvSpPr>
        <p:spPr>
          <a:xfrm>
            <a:off x="685800" y="219456"/>
            <a:ext cx="7772400" cy="256032"/>
          </a:xfrm>
          <a:prstGeom prst="rect">
            <a:avLst/>
          </a:prstGeom>
          <a:noFill/>
          <a:ln/>
        </p:spPr>
        <p:txBody>
          <a:bodyPr wrap="square" lIns="0" tIns="0" rIns="0" bIns="0" rtlCol="0" anchor="ctr"/>
          <a:lstStyle/>
          <a:p>
            <a:pPr marL="0" indent="0">
              <a:buNone/>
            </a:pPr>
            <a:r>
              <a:rPr lang="en-US" sz="1050" b="1" kern="0" spc="400" dirty="0">
                <a:solidFill>
                  <a:srgbClr val="0C8368"/>
                </a:solidFill>
                <a:latin typeface="Calibri" pitchFamily="34" charset="0"/>
                <a:ea typeface="Calibri" pitchFamily="34" charset="-122"/>
                <a:cs typeface="Calibri" pitchFamily="34" charset="-120"/>
              </a:rPr>
              <a:t>PERLA 11 · QUÉ CAMBIÓ</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600" b="1" dirty="0">
                <a:solidFill>
                  <a:srgbClr val="15193A"/>
                </a:solidFill>
                <a:latin typeface="Calibri" pitchFamily="34" charset="0"/>
                <a:ea typeface="Calibri" pitchFamily="34" charset="-122"/>
                <a:cs typeface="Calibri" pitchFamily="34" charset="-120"/>
              </a:rPr>
              <a:t>EULAR 2022 frente a EULAR 2025</a:t>
            </a:r>
            <a:endParaRPr lang="en-US" sz="2600" dirty="0"/>
          </a:p>
        </p:txBody>
      </p:sp>
      <p:sp>
        <p:nvSpPr>
          <p:cNvPr id="5" name="Text 3"/>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[2] Smolen JS, et al. EULAR 2025. Ann Rheum Dis 2026</a:t>
            </a:r>
            <a:endParaRPr lang="en-US" sz="850" dirty="0"/>
          </a:p>
        </p:txBody>
      </p:sp>
      <p:sp>
        <p:nvSpPr>
          <p:cNvPr id="6" name="Shape 4"/>
          <p:cNvSpPr/>
          <p:nvPr/>
        </p:nvSpPr>
        <p:spPr>
          <a:xfrm>
            <a:off x="457200" y="1188720"/>
            <a:ext cx="3840480" cy="2377440"/>
          </a:xfrm>
          <a:prstGeom prst="roundRect">
            <a:avLst>
              <a:gd name="adj" fmla="val 3846"/>
            </a:avLst>
          </a:prstGeom>
          <a:solidFill>
            <a:srgbClr val="F1F3FB"/>
          </a:solidFill>
          <a:ln w="9525">
            <a:solidFill>
              <a:srgbClr val="D8DEEF"/>
            </a:solidFill>
            <a:prstDash val="solid"/>
          </a:ln>
        </p:spPr>
        <p:txBody>
          <a:bodyPr/>
          <a:lstStyle/>
          <a:p>
            <a:endParaRPr lang="es-CO"/>
          </a:p>
        </p:txBody>
      </p:sp>
      <p:sp>
        <p:nvSpPr>
          <p:cNvPr id="7" name="Text 5"/>
          <p:cNvSpPr txBox="1"/>
          <p:nvPr/>
        </p:nvSpPr>
        <p:spPr>
          <a:xfrm>
            <a:off x="640080" y="1280160"/>
            <a:ext cx="3474720" cy="320040"/>
          </a:xfrm>
          <a:prstGeom prst="rect">
            <a:avLst/>
          </a:prstGeom>
          <a:noFill/>
          <a:ln/>
        </p:spPr>
        <p:txBody>
          <a:bodyPr wrap="square" lIns="0" tIns="0" rIns="0" bIns="0" rtlCol="0" anchor="t"/>
          <a:lstStyle/>
          <a:p>
            <a:pPr marL="0" indent="0">
              <a:buNone/>
            </a:pPr>
            <a:r>
              <a:rPr lang="en-US" sz="1300" b="1" kern="0" spc="200" dirty="0">
                <a:solidFill>
                  <a:srgbClr val="474F70"/>
                </a:solidFill>
                <a:latin typeface="Calibri" pitchFamily="34" charset="0"/>
                <a:ea typeface="Calibri" pitchFamily="34" charset="-122"/>
                <a:cs typeface="Calibri" pitchFamily="34" charset="-120"/>
              </a:rPr>
              <a:t>ANTES · 2022</a:t>
            </a:r>
            <a:endParaRPr lang="en-US" sz="1300" dirty="0"/>
          </a:p>
        </p:txBody>
      </p:sp>
      <p:sp>
        <p:nvSpPr>
          <p:cNvPr id="8" name="Text 6"/>
          <p:cNvSpPr txBox="1"/>
          <p:nvPr/>
        </p:nvSpPr>
        <p:spPr>
          <a:xfrm>
            <a:off x="640080" y="1645920"/>
            <a:ext cx="3474720" cy="320040"/>
          </a:xfrm>
          <a:prstGeom prst="rect">
            <a:avLst/>
          </a:prstGeom>
          <a:noFill/>
          <a:ln/>
        </p:spPr>
        <p:txBody>
          <a:bodyPr wrap="square" lIns="0" tIns="0" rIns="0" bIns="0" rtlCol="0" anchor="t"/>
          <a:lstStyle/>
          <a:p>
            <a:pPr marL="0" indent="0">
              <a:buNone/>
            </a:pPr>
            <a:r>
              <a:rPr lang="en-US" sz="1200" dirty="0">
                <a:solidFill>
                  <a:srgbClr val="15193A"/>
                </a:solidFill>
                <a:latin typeface="Calibri" pitchFamily="34" charset="0"/>
                <a:ea typeface="Calibri" pitchFamily="34" charset="-122"/>
                <a:cs typeface="Calibri" pitchFamily="34" charset="-120"/>
              </a:rPr>
              <a:t>Si fallaba el FAME convencional:</a:t>
            </a:r>
            <a:endParaRPr lang="en-US" sz="1200" dirty="0"/>
          </a:p>
        </p:txBody>
      </p:sp>
      <p:sp>
        <p:nvSpPr>
          <p:cNvPr id="9" name="Text 7"/>
          <p:cNvSpPr txBox="1"/>
          <p:nvPr/>
        </p:nvSpPr>
        <p:spPr>
          <a:xfrm>
            <a:off x="640080" y="2011680"/>
            <a:ext cx="3520440" cy="1463040"/>
          </a:xfrm>
          <a:prstGeom prst="rect">
            <a:avLst/>
          </a:prstGeom>
          <a:noFill/>
          <a:ln/>
        </p:spPr>
        <p:txBody>
          <a:bodyPr wrap="square" lIns="0" tIns="0" rIns="0" bIns="0" rtlCol="0" anchor="t"/>
          <a:lstStyle/>
          <a:p>
            <a:pPr marL="165100" indent="-165100">
              <a:spcAft>
                <a:spcPts val="600"/>
              </a:spcAft>
              <a:buSzPct val="100000"/>
              <a:buChar char="•"/>
            </a:pPr>
            <a:r>
              <a:rPr lang="en-US" sz="1200" b="1" dirty="0">
                <a:solidFill>
                  <a:srgbClr val="474F70"/>
                </a:solidFill>
                <a:latin typeface="Calibri" pitchFamily="34" charset="0"/>
                <a:ea typeface="Calibri" pitchFamily="34" charset="-122"/>
                <a:cs typeface="Calibri" pitchFamily="34" charset="-120"/>
              </a:rPr>
              <a:t>Con factores de mal pronóstico: </a:t>
            </a:r>
            <a:r>
              <a:rPr lang="en-US" sz="1200" dirty="0">
                <a:solidFill>
                  <a:srgbClr val="15193A"/>
                </a:solidFill>
                <a:latin typeface="Calibri" pitchFamily="34" charset="0"/>
                <a:ea typeface="Calibri" pitchFamily="34" charset="-122"/>
                <a:cs typeface="Calibri" pitchFamily="34" charset="-120"/>
              </a:rPr>
              <a:t>añadir biológico o JAKi</a:t>
            </a:r>
            <a:endParaRPr lang="en-US" sz="1200" dirty="0"/>
          </a:p>
          <a:p>
            <a:pPr marL="165100" indent="-165100">
              <a:spcAft>
                <a:spcPts val="600"/>
              </a:spcAft>
              <a:buSzPct val="100000"/>
              <a:buChar char="•"/>
            </a:pPr>
            <a:r>
              <a:rPr lang="en-US" sz="1200" b="1" dirty="0">
                <a:solidFill>
                  <a:srgbClr val="474F70"/>
                </a:solidFill>
                <a:latin typeface="Calibri" pitchFamily="34" charset="0"/>
                <a:ea typeface="Calibri" pitchFamily="34" charset="-122"/>
                <a:cs typeface="Calibri" pitchFamily="34" charset="-120"/>
              </a:rPr>
              <a:t>Sin ellos: </a:t>
            </a:r>
            <a:r>
              <a:rPr lang="en-US" sz="1200" dirty="0">
                <a:solidFill>
                  <a:srgbClr val="15193A"/>
                </a:solidFill>
                <a:latin typeface="Calibri" pitchFamily="34" charset="0"/>
                <a:ea typeface="Calibri" pitchFamily="34" charset="-122"/>
                <a:cs typeface="Calibri" pitchFamily="34" charset="-120"/>
              </a:rPr>
              <a:t>cambiar o añadir otro FAME convencional</a:t>
            </a:r>
            <a:endParaRPr lang="en-US" sz="1200" dirty="0"/>
          </a:p>
        </p:txBody>
      </p:sp>
      <p:sp>
        <p:nvSpPr>
          <p:cNvPr id="10" name="Shape 8"/>
          <p:cNvSpPr/>
          <p:nvPr/>
        </p:nvSpPr>
        <p:spPr>
          <a:xfrm>
            <a:off x="4389120" y="2377440"/>
            <a:ext cx="365760" cy="914"/>
          </a:xfrm>
          <a:prstGeom prst="line">
            <a:avLst/>
          </a:prstGeom>
          <a:noFill/>
          <a:ln w="38100">
            <a:solidFill>
              <a:srgbClr val="21D3A8"/>
            </a:solidFill>
            <a:prstDash val="solid"/>
            <a:tailEnd type="triangle"/>
          </a:ln>
        </p:spPr>
        <p:txBody>
          <a:bodyPr/>
          <a:lstStyle/>
          <a:p>
            <a:endParaRPr lang="es-CO"/>
          </a:p>
        </p:txBody>
      </p:sp>
      <p:sp>
        <p:nvSpPr>
          <p:cNvPr id="11" name="Shape 9"/>
          <p:cNvSpPr/>
          <p:nvPr/>
        </p:nvSpPr>
        <p:spPr>
          <a:xfrm>
            <a:off x="4846320" y="1188720"/>
            <a:ext cx="3840480" cy="2377440"/>
          </a:xfrm>
          <a:prstGeom prst="roundRect">
            <a:avLst>
              <a:gd name="adj" fmla="val 3846"/>
            </a:avLst>
          </a:prstGeom>
          <a:solidFill>
            <a:srgbClr val="21D3A8">
              <a:alpha val="12000"/>
            </a:srgbClr>
          </a:solidFill>
          <a:ln w="15875">
            <a:solidFill>
              <a:srgbClr val="21D3A8"/>
            </a:solidFill>
            <a:prstDash val="solid"/>
          </a:ln>
        </p:spPr>
        <p:txBody>
          <a:bodyPr/>
          <a:lstStyle/>
          <a:p>
            <a:endParaRPr lang="es-CO"/>
          </a:p>
        </p:txBody>
      </p:sp>
      <p:sp>
        <p:nvSpPr>
          <p:cNvPr id="12" name="Text 10"/>
          <p:cNvSpPr txBox="1"/>
          <p:nvPr/>
        </p:nvSpPr>
        <p:spPr>
          <a:xfrm>
            <a:off x="5029200" y="1280160"/>
            <a:ext cx="3474720" cy="320040"/>
          </a:xfrm>
          <a:prstGeom prst="rect">
            <a:avLst/>
          </a:prstGeom>
          <a:noFill/>
          <a:ln/>
        </p:spPr>
        <p:txBody>
          <a:bodyPr wrap="square" lIns="0" tIns="0" rIns="0" bIns="0" rtlCol="0" anchor="t"/>
          <a:lstStyle/>
          <a:p>
            <a:pPr marL="0" indent="0">
              <a:buNone/>
            </a:pPr>
            <a:r>
              <a:rPr lang="en-US" sz="1300" b="1" kern="0" spc="200" dirty="0">
                <a:solidFill>
                  <a:srgbClr val="0C8368"/>
                </a:solidFill>
                <a:latin typeface="Calibri" pitchFamily="34" charset="0"/>
                <a:ea typeface="Calibri" pitchFamily="34" charset="-122"/>
                <a:cs typeface="Calibri" pitchFamily="34" charset="-120"/>
              </a:rPr>
              <a:t>AHORA · 2025</a:t>
            </a:r>
            <a:endParaRPr lang="en-US" sz="1300" dirty="0"/>
          </a:p>
        </p:txBody>
      </p:sp>
      <p:sp>
        <p:nvSpPr>
          <p:cNvPr id="13" name="Text 11"/>
          <p:cNvSpPr txBox="1"/>
          <p:nvPr/>
        </p:nvSpPr>
        <p:spPr>
          <a:xfrm>
            <a:off x="5029200" y="1645920"/>
            <a:ext cx="3520440" cy="548640"/>
          </a:xfrm>
          <a:prstGeom prst="rect">
            <a:avLst/>
          </a:prstGeom>
          <a:noFill/>
          <a:ln/>
        </p:spPr>
        <p:txBody>
          <a:bodyPr wrap="square" lIns="0" tIns="0" rIns="0" bIns="0" rtlCol="0" anchor="t"/>
          <a:lstStyle/>
          <a:p>
            <a:pPr marL="0" indent="0">
              <a:buNone/>
            </a:pPr>
            <a:r>
              <a:rPr lang="en-US" sz="1200" dirty="0">
                <a:solidFill>
                  <a:srgbClr val="15193A"/>
                </a:solidFill>
                <a:latin typeface="Calibri" pitchFamily="34" charset="0"/>
                <a:ea typeface="Calibri" pitchFamily="34" charset="-122"/>
                <a:cs typeface="Calibri" pitchFamily="34" charset="-120"/>
              </a:rPr>
              <a:t>Si no se alcanza la meta con la estrategia de FAME convencional (3–6 meses):</a:t>
            </a:r>
            <a:endParaRPr lang="en-US" sz="1200" dirty="0"/>
          </a:p>
        </p:txBody>
      </p:sp>
      <p:sp>
        <p:nvSpPr>
          <p:cNvPr id="14" name="Text 12"/>
          <p:cNvSpPr txBox="1"/>
          <p:nvPr/>
        </p:nvSpPr>
        <p:spPr>
          <a:xfrm>
            <a:off x="5029200" y="2240280"/>
            <a:ext cx="3520440" cy="1280160"/>
          </a:xfrm>
          <a:prstGeom prst="rect">
            <a:avLst/>
          </a:prstGeom>
          <a:noFill/>
          <a:ln/>
        </p:spPr>
        <p:txBody>
          <a:bodyPr wrap="square" lIns="0" tIns="0" rIns="0" bIns="0" rtlCol="0" anchor="t"/>
          <a:lstStyle/>
          <a:p>
            <a:pPr marL="165100" indent="-165100">
              <a:spcAft>
                <a:spcPts val="600"/>
              </a:spcAft>
              <a:buSzPct val="100000"/>
              <a:buChar char="•"/>
            </a:pPr>
            <a:r>
              <a:rPr lang="en-US" sz="1200" b="1" dirty="0">
                <a:solidFill>
                  <a:srgbClr val="0A6F98"/>
                </a:solidFill>
                <a:latin typeface="Calibri" pitchFamily="34" charset="0"/>
                <a:ea typeface="Calibri" pitchFamily="34" charset="-122"/>
                <a:cs typeface="Calibri" pitchFamily="34" charset="-120"/>
              </a:rPr>
              <a:t>Añadir un biológico </a:t>
            </a:r>
            <a:r>
              <a:rPr lang="en-US" sz="1200" dirty="0">
                <a:solidFill>
                  <a:srgbClr val="15193A"/>
                </a:solidFill>
                <a:latin typeface="Calibri" pitchFamily="34" charset="0"/>
                <a:ea typeface="Calibri" pitchFamily="34" charset="-122"/>
                <a:cs typeface="Calibri" pitchFamily="34" charset="-120"/>
              </a:rPr>
              <a:t>en todos los pacientes</a:t>
            </a:r>
            <a:endParaRPr lang="en-US" sz="1200" dirty="0"/>
          </a:p>
          <a:p>
            <a:pPr marL="165100" indent="-165100">
              <a:spcAft>
                <a:spcPts val="600"/>
              </a:spcAft>
              <a:buSzPct val="100000"/>
              <a:buChar char="•"/>
            </a:pPr>
            <a:r>
              <a:rPr lang="en-US" sz="1200" b="1" dirty="0">
                <a:solidFill>
                  <a:srgbClr val="0A6F98"/>
                </a:solidFill>
                <a:latin typeface="Calibri" pitchFamily="34" charset="0"/>
                <a:ea typeface="Calibri" pitchFamily="34" charset="-122"/>
                <a:cs typeface="Calibri" pitchFamily="34" charset="-120"/>
              </a:rPr>
              <a:t>JAKi: considerar </a:t>
            </a:r>
            <a:r>
              <a:rPr lang="en-US" sz="1200" dirty="0">
                <a:solidFill>
                  <a:srgbClr val="15193A"/>
                </a:solidFill>
                <a:latin typeface="Calibri" pitchFamily="34" charset="0"/>
                <a:ea typeface="Calibri" pitchFamily="34" charset="-122"/>
                <a:cs typeface="Calibri" pitchFamily="34" charset="-120"/>
              </a:rPr>
              <a:t>tras valorar riesgo de eventos cardiovasculares, cáncer y tromboembolia</a:t>
            </a:r>
            <a:endParaRPr lang="en-US" sz="1200" dirty="0"/>
          </a:p>
        </p:txBody>
      </p:sp>
      <p:sp>
        <p:nvSpPr>
          <p:cNvPr id="15" name="Shape 13"/>
          <p:cNvSpPr/>
          <p:nvPr/>
        </p:nvSpPr>
        <p:spPr>
          <a:xfrm>
            <a:off x="457200" y="3749040"/>
            <a:ext cx="2624328" cy="960120"/>
          </a:xfrm>
          <a:prstGeom prst="roundRect">
            <a:avLst>
              <a:gd name="adj" fmla="val 9524"/>
            </a:avLst>
          </a:prstGeom>
          <a:solidFill>
            <a:srgbClr val="E9ECF8"/>
          </a:solidFill>
          <a:ln w="9525">
            <a:solidFill>
              <a:srgbClr val="D8DEEF"/>
            </a:solidFill>
            <a:prstDash val="solid"/>
          </a:ln>
        </p:spPr>
        <p:txBody>
          <a:bodyPr/>
          <a:lstStyle/>
          <a:p>
            <a:endParaRPr lang="es-CO"/>
          </a:p>
        </p:txBody>
      </p:sp>
      <p:sp>
        <p:nvSpPr>
          <p:cNvPr id="16" name="Text 14"/>
          <p:cNvSpPr txBox="1"/>
          <p:nvPr/>
        </p:nvSpPr>
        <p:spPr>
          <a:xfrm>
            <a:off x="566928" y="3749040"/>
            <a:ext cx="1097280" cy="960120"/>
          </a:xfrm>
          <a:prstGeom prst="rect">
            <a:avLst/>
          </a:prstGeom>
          <a:noFill/>
          <a:ln/>
        </p:spPr>
        <p:txBody>
          <a:bodyPr wrap="square" lIns="0" tIns="0" rIns="0" bIns="0" rtlCol="0" anchor="ctr"/>
          <a:lstStyle/>
          <a:p>
            <a:pPr marL="0" indent="0">
              <a:buNone/>
            </a:pPr>
            <a:r>
              <a:rPr lang="en-US" sz="2400" b="1" dirty="0">
                <a:solidFill>
                  <a:srgbClr val="0C8368"/>
                </a:solidFill>
                <a:latin typeface="Calibri" pitchFamily="34" charset="0"/>
                <a:ea typeface="Calibri" pitchFamily="34" charset="-122"/>
                <a:cs typeface="Calibri" pitchFamily="34" charset="-120"/>
              </a:rPr>
              <a:t>9</a:t>
            </a:r>
            <a:endParaRPr lang="en-US" sz="2400" dirty="0"/>
          </a:p>
        </p:txBody>
      </p:sp>
      <p:sp>
        <p:nvSpPr>
          <p:cNvPr id="17" name="Text 15"/>
          <p:cNvSpPr txBox="1"/>
          <p:nvPr/>
        </p:nvSpPr>
        <p:spPr>
          <a:xfrm>
            <a:off x="1645920" y="3749040"/>
            <a:ext cx="1371600" cy="960120"/>
          </a:xfrm>
          <a:prstGeom prst="rect">
            <a:avLst/>
          </a:prstGeom>
          <a:noFill/>
          <a:ln/>
        </p:spPr>
        <p:txBody>
          <a:bodyPr wrap="square" lIns="0" tIns="0" rIns="0" bIns="0" rtlCol="0" anchor="ctr"/>
          <a:lstStyle/>
          <a:p>
            <a:pPr marL="0" indent="0">
              <a:buNone/>
            </a:pPr>
            <a:r>
              <a:rPr lang="en-US" sz="1000" dirty="0">
                <a:solidFill>
                  <a:srgbClr val="15193A"/>
                </a:solidFill>
                <a:latin typeface="Calibri" pitchFamily="34" charset="0"/>
                <a:ea typeface="Calibri" pitchFamily="34" charset="-122"/>
                <a:cs typeface="Calibri" pitchFamily="34" charset="-120"/>
              </a:rPr>
              <a:t>recomendaciones (antes 11) + 5 principios generales</a:t>
            </a:r>
            <a:endParaRPr lang="en-US" sz="1000" dirty="0"/>
          </a:p>
        </p:txBody>
      </p:sp>
      <p:sp>
        <p:nvSpPr>
          <p:cNvPr id="18" name="Shape 16"/>
          <p:cNvSpPr/>
          <p:nvPr/>
        </p:nvSpPr>
        <p:spPr>
          <a:xfrm>
            <a:off x="3264408" y="3749040"/>
            <a:ext cx="2624328" cy="960120"/>
          </a:xfrm>
          <a:prstGeom prst="roundRect">
            <a:avLst>
              <a:gd name="adj" fmla="val 9524"/>
            </a:avLst>
          </a:prstGeom>
          <a:solidFill>
            <a:srgbClr val="E9ECF8"/>
          </a:solidFill>
          <a:ln w="9525">
            <a:solidFill>
              <a:srgbClr val="D8DEEF"/>
            </a:solidFill>
            <a:prstDash val="solid"/>
          </a:ln>
        </p:spPr>
        <p:txBody>
          <a:bodyPr/>
          <a:lstStyle/>
          <a:p>
            <a:endParaRPr lang="es-CO"/>
          </a:p>
        </p:txBody>
      </p:sp>
      <p:sp>
        <p:nvSpPr>
          <p:cNvPr id="19" name="Text 17"/>
          <p:cNvSpPr txBox="1"/>
          <p:nvPr/>
        </p:nvSpPr>
        <p:spPr>
          <a:xfrm>
            <a:off x="3374136" y="3749040"/>
            <a:ext cx="1097280" cy="960120"/>
          </a:xfrm>
          <a:prstGeom prst="rect">
            <a:avLst/>
          </a:prstGeom>
          <a:noFill/>
          <a:ln/>
        </p:spPr>
        <p:txBody>
          <a:bodyPr wrap="square" lIns="0" tIns="0" rIns="0" bIns="0" rtlCol="0" anchor="ctr"/>
          <a:lstStyle/>
          <a:p>
            <a:pPr marL="0" indent="0">
              <a:buNone/>
            </a:pPr>
            <a:r>
              <a:rPr lang="en-US" sz="1500" b="1" dirty="0">
                <a:solidFill>
                  <a:srgbClr val="0C8368"/>
                </a:solidFill>
                <a:latin typeface="Calibri" pitchFamily="34" charset="0"/>
                <a:ea typeface="Calibri" pitchFamily="34" charset="-122"/>
                <a:cs typeface="Calibri" pitchFamily="34" charset="-120"/>
              </a:rPr>
              <a:t>≥ 50 %</a:t>
            </a:r>
            <a:endParaRPr lang="en-US" sz="1500" dirty="0"/>
          </a:p>
        </p:txBody>
      </p:sp>
      <p:sp>
        <p:nvSpPr>
          <p:cNvPr id="20" name="Text 18"/>
          <p:cNvSpPr txBox="1"/>
          <p:nvPr/>
        </p:nvSpPr>
        <p:spPr>
          <a:xfrm>
            <a:off x="4453128" y="3749040"/>
            <a:ext cx="1371600" cy="960120"/>
          </a:xfrm>
          <a:prstGeom prst="rect">
            <a:avLst/>
          </a:prstGeom>
          <a:noFill/>
          <a:ln/>
        </p:spPr>
        <p:txBody>
          <a:bodyPr wrap="square" lIns="0" tIns="0" rIns="0" bIns="0" rtlCol="0" anchor="ctr"/>
          <a:lstStyle/>
          <a:p>
            <a:pPr marL="0" indent="0">
              <a:buNone/>
            </a:pPr>
            <a:r>
              <a:rPr lang="en-US" sz="1000" dirty="0">
                <a:solidFill>
                  <a:srgbClr val="15193A"/>
                </a:solidFill>
                <a:latin typeface="Calibri" pitchFamily="34" charset="0"/>
                <a:ea typeface="Calibri" pitchFamily="34" charset="-122"/>
                <a:cs typeface="Calibri" pitchFamily="34" charset="-120"/>
              </a:rPr>
              <a:t>reducción de actividad a los 3 meses y meta a los 6</a:t>
            </a:r>
            <a:endParaRPr lang="en-US" sz="1000" dirty="0"/>
          </a:p>
        </p:txBody>
      </p:sp>
      <p:sp>
        <p:nvSpPr>
          <p:cNvPr id="21" name="Shape 19"/>
          <p:cNvSpPr/>
          <p:nvPr/>
        </p:nvSpPr>
        <p:spPr>
          <a:xfrm>
            <a:off x="6071616" y="3749040"/>
            <a:ext cx="2624328" cy="960120"/>
          </a:xfrm>
          <a:prstGeom prst="roundRect">
            <a:avLst>
              <a:gd name="adj" fmla="val 9524"/>
            </a:avLst>
          </a:prstGeom>
          <a:solidFill>
            <a:srgbClr val="E9ECF8"/>
          </a:solidFill>
          <a:ln w="9525">
            <a:solidFill>
              <a:srgbClr val="D8DEEF"/>
            </a:solidFill>
            <a:prstDash val="solid"/>
          </a:ln>
        </p:spPr>
        <p:txBody>
          <a:bodyPr/>
          <a:lstStyle/>
          <a:p>
            <a:endParaRPr lang="es-CO"/>
          </a:p>
        </p:txBody>
      </p:sp>
      <p:sp>
        <p:nvSpPr>
          <p:cNvPr id="22" name="Text 20"/>
          <p:cNvSpPr txBox="1"/>
          <p:nvPr/>
        </p:nvSpPr>
        <p:spPr>
          <a:xfrm>
            <a:off x="6181344" y="3749040"/>
            <a:ext cx="1097280" cy="960120"/>
          </a:xfrm>
          <a:prstGeom prst="rect">
            <a:avLst/>
          </a:prstGeom>
          <a:noFill/>
          <a:ln/>
        </p:spPr>
        <p:txBody>
          <a:bodyPr wrap="square" lIns="0" tIns="0" rIns="0" bIns="0" rtlCol="0" anchor="ctr"/>
          <a:lstStyle/>
          <a:p>
            <a:pPr marL="0" indent="0">
              <a:buNone/>
            </a:pPr>
            <a:r>
              <a:rPr lang="en-US" sz="1500" b="1" dirty="0">
                <a:solidFill>
                  <a:srgbClr val="0C8368"/>
                </a:solidFill>
                <a:latin typeface="Calibri" pitchFamily="34" charset="0"/>
                <a:ea typeface="Calibri" pitchFamily="34" charset="-122"/>
                <a:cs typeface="Calibri" pitchFamily="34" charset="-120"/>
              </a:rPr>
              <a:t>Remisión</a:t>
            </a:r>
            <a:endParaRPr lang="en-US" sz="1500" dirty="0"/>
          </a:p>
        </p:txBody>
      </p:sp>
      <p:sp>
        <p:nvSpPr>
          <p:cNvPr id="23" name="Text 21"/>
          <p:cNvSpPr txBox="1"/>
          <p:nvPr/>
        </p:nvSpPr>
        <p:spPr>
          <a:xfrm>
            <a:off x="7260336" y="3749040"/>
            <a:ext cx="1371600" cy="960120"/>
          </a:xfrm>
          <a:prstGeom prst="rect">
            <a:avLst/>
          </a:prstGeom>
          <a:noFill/>
          <a:ln/>
        </p:spPr>
        <p:txBody>
          <a:bodyPr wrap="square" lIns="0" tIns="0" rIns="0" bIns="0" rtlCol="0" anchor="ctr"/>
          <a:lstStyle/>
          <a:p>
            <a:pPr marL="0" indent="0">
              <a:buNone/>
            </a:pPr>
            <a:r>
              <a:rPr lang="en-US" sz="1000" dirty="0">
                <a:solidFill>
                  <a:srgbClr val="15193A"/>
                </a:solidFill>
                <a:latin typeface="Calibri" pitchFamily="34" charset="0"/>
                <a:ea typeface="Calibri" pitchFamily="34" charset="-122"/>
                <a:cs typeface="Calibri" pitchFamily="34" charset="-120"/>
              </a:rPr>
              <a:t>se prefiere continuar el FAME; reducir dosis puede considerarse</a:t>
            </a:r>
            <a:endParaRPr lang="en-US" sz="100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21D3A8"/>
          </a:solidFill>
          <a:ln w="12700">
            <a:solidFill>
              <a:srgbClr val="21D3A8"/>
            </a:solidFill>
            <a:prstDash val="solid"/>
          </a:ln>
        </p:spPr>
        <p:txBody>
          <a:bodyPr/>
          <a:lstStyle/>
          <a:p>
            <a:endParaRPr lang="es-CO"/>
          </a:p>
        </p:txBody>
      </p:sp>
      <p:sp>
        <p:nvSpPr>
          <p:cNvPr id="3" name="Text 1"/>
          <p:cNvSpPr txBox="1"/>
          <p:nvPr/>
        </p:nvSpPr>
        <p:spPr>
          <a:xfrm>
            <a:off x="685800" y="219456"/>
            <a:ext cx="7772400" cy="256032"/>
          </a:xfrm>
          <a:prstGeom prst="rect">
            <a:avLst/>
          </a:prstGeom>
          <a:noFill/>
          <a:ln/>
        </p:spPr>
        <p:txBody>
          <a:bodyPr wrap="square" lIns="0" tIns="0" rIns="0" bIns="0" rtlCol="0" anchor="ctr"/>
          <a:lstStyle/>
          <a:p>
            <a:pPr marL="0" indent="0">
              <a:buNone/>
            </a:pPr>
            <a:r>
              <a:rPr lang="en-US" sz="1050" b="1" kern="0" spc="400" dirty="0">
                <a:solidFill>
                  <a:srgbClr val="0C8368"/>
                </a:solidFill>
                <a:latin typeface="Calibri" pitchFamily="34" charset="0"/>
                <a:ea typeface="Calibri" pitchFamily="34" charset="-122"/>
                <a:cs typeface="Calibri" pitchFamily="34" charset="-120"/>
              </a:rPr>
              <a:t>PERLA 11 · POR QUÉ LA CAUTELA CON LOS JAKI</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600" b="1" dirty="0">
                <a:solidFill>
                  <a:srgbClr val="15193A"/>
                </a:solidFill>
                <a:latin typeface="Calibri" pitchFamily="34" charset="0"/>
                <a:ea typeface="Calibri" pitchFamily="34" charset="-122"/>
                <a:cs typeface="Calibri" pitchFamily="34" charset="-120"/>
              </a:rPr>
              <a:t>Seguridad de los inhibidores JAK</a:t>
            </a:r>
            <a:endParaRPr lang="en-US" sz="2600" dirty="0"/>
          </a:p>
        </p:txBody>
      </p:sp>
      <p:sp>
        <p:nvSpPr>
          <p:cNvPr id="5" name="Text 3"/>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[14] Ytterberg SR, et al. ORAL Surveillance. N Engl J Med 2022 · [1] Smolen JS, et al. JAMA 2026 · [2] Smolen JS, et al. EULAR 2025. Ann Rheum Dis 2026</a:t>
            </a:r>
            <a:endParaRPr lang="en-US" sz="850" dirty="0"/>
          </a:p>
        </p:txBody>
      </p:sp>
      <p:graphicFrame>
        <p:nvGraphicFramePr>
          <p:cNvPr id="6" name="Chart 0"/>
          <p:cNvGraphicFramePr/>
          <p:nvPr/>
        </p:nvGraphicFramePr>
        <p:xfrm>
          <a:off x="365760" y="1143000"/>
          <a:ext cx="493776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4"/>
          <p:cNvSpPr txBox="1"/>
          <p:nvPr/>
        </p:nvSpPr>
        <p:spPr>
          <a:xfrm>
            <a:off x="457200" y="4389120"/>
            <a:ext cx="4846320" cy="274320"/>
          </a:xfrm>
          <a:prstGeom prst="rect">
            <a:avLst/>
          </a:prstGeom>
          <a:noFill/>
          <a:ln/>
        </p:spPr>
        <p:txBody>
          <a:bodyPr wrap="square" lIns="0" tIns="0" rIns="0" bIns="0" rtlCol="0" anchor="t"/>
          <a:lstStyle/>
          <a:p>
            <a:pPr marL="0" indent="0">
              <a:buNone/>
            </a:pPr>
            <a:r>
              <a:rPr lang="en-US" sz="1050" i="1" dirty="0">
                <a:solidFill>
                  <a:srgbClr val="474F70"/>
                </a:solidFill>
                <a:latin typeface="Calibri" pitchFamily="34" charset="0"/>
                <a:ea typeface="Calibri" pitchFamily="34" charset="-122"/>
                <a:cs typeface="Calibri" pitchFamily="34" charset="-120"/>
              </a:rPr>
              <a:t>HR 1,33 (CV) y 1,48 (cáncer): no se demostró la no inferioridad.</a:t>
            </a:r>
            <a:endParaRPr lang="en-US" sz="1050" dirty="0"/>
          </a:p>
        </p:txBody>
      </p:sp>
      <p:sp>
        <p:nvSpPr>
          <p:cNvPr id="8" name="Shape 5"/>
          <p:cNvSpPr/>
          <p:nvPr/>
        </p:nvSpPr>
        <p:spPr>
          <a:xfrm>
            <a:off x="5532120" y="1188720"/>
            <a:ext cx="3154680" cy="1554480"/>
          </a:xfrm>
          <a:prstGeom prst="roundRect">
            <a:avLst>
              <a:gd name="adj" fmla="val 5882"/>
            </a:avLst>
          </a:prstGeom>
          <a:solidFill>
            <a:srgbClr val="FF4D6D">
              <a:alpha val="12000"/>
            </a:srgbClr>
          </a:solidFill>
          <a:ln w="15875">
            <a:solidFill>
              <a:srgbClr val="FF4D6D"/>
            </a:solidFill>
            <a:prstDash val="solid"/>
          </a:ln>
        </p:spPr>
        <p:txBody>
          <a:bodyPr/>
          <a:lstStyle/>
          <a:p>
            <a:endParaRPr lang="es-CO"/>
          </a:p>
        </p:txBody>
      </p:sp>
      <p:sp>
        <p:nvSpPr>
          <p:cNvPr id="9" name="Text 6"/>
          <p:cNvSpPr txBox="1"/>
          <p:nvPr/>
        </p:nvSpPr>
        <p:spPr>
          <a:xfrm>
            <a:off x="5669280" y="1261872"/>
            <a:ext cx="2926080" cy="292608"/>
          </a:xfrm>
          <a:prstGeom prst="rect">
            <a:avLst/>
          </a:prstGeom>
          <a:noFill/>
          <a:ln/>
        </p:spPr>
        <p:txBody>
          <a:bodyPr wrap="square" lIns="0" tIns="0" rIns="0" bIns="0" rtlCol="0" anchor="t"/>
          <a:lstStyle/>
          <a:p>
            <a:pPr marL="0" indent="0">
              <a:buNone/>
            </a:pPr>
            <a:r>
              <a:rPr lang="en-US" sz="1300" b="1" dirty="0">
                <a:solidFill>
                  <a:srgbClr val="C81E43"/>
                </a:solidFill>
                <a:latin typeface="Calibri" pitchFamily="34" charset="0"/>
                <a:ea typeface="Calibri" pitchFamily="34" charset="-122"/>
                <a:cs typeface="Calibri" pitchFamily="34" charset="-120"/>
              </a:rPr>
              <a:t>FDA (2021)</a:t>
            </a:r>
            <a:endParaRPr lang="en-US" sz="1300" dirty="0"/>
          </a:p>
        </p:txBody>
      </p:sp>
      <p:sp>
        <p:nvSpPr>
          <p:cNvPr id="10" name="Text 7"/>
          <p:cNvSpPr txBox="1"/>
          <p:nvPr/>
        </p:nvSpPr>
        <p:spPr>
          <a:xfrm>
            <a:off x="5669280" y="1572768"/>
            <a:ext cx="2926080" cy="1097280"/>
          </a:xfrm>
          <a:prstGeom prst="rect">
            <a:avLst/>
          </a:prstGeom>
          <a:noFill/>
          <a:ln/>
        </p:spPr>
        <p:txBody>
          <a:bodyPr wrap="square" lIns="0" tIns="0" rIns="0" bIns="0" rtlCol="0" anchor="t"/>
          <a:lstStyle/>
          <a:p>
            <a:pPr marL="0" indent="0">
              <a:buNone/>
            </a:pPr>
            <a:r>
              <a:rPr lang="en-US" sz="1200" dirty="0">
                <a:solidFill>
                  <a:srgbClr val="15193A"/>
                </a:solidFill>
                <a:latin typeface="Calibri" pitchFamily="34" charset="0"/>
                <a:ea typeface="Calibri" pitchFamily="34" charset="-122"/>
                <a:cs typeface="Calibri" pitchFamily="34" charset="-120"/>
              </a:rPr>
              <a:t>Reservar los JAKi para quienes fallan o no toleran ≥ 1 anti-TNF.</a:t>
            </a:r>
            <a:endParaRPr lang="en-US" sz="1200" dirty="0"/>
          </a:p>
        </p:txBody>
      </p:sp>
      <p:sp>
        <p:nvSpPr>
          <p:cNvPr id="11" name="Shape 8"/>
          <p:cNvSpPr/>
          <p:nvPr/>
        </p:nvSpPr>
        <p:spPr>
          <a:xfrm>
            <a:off x="5532120" y="2880360"/>
            <a:ext cx="3154680" cy="1463040"/>
          </a:xfrm>
          <a:prstGeom prst="roundRect">
            <a:avLst>
              <a:gd name="adj" fmla="val 5000"/>
            </a:avLst>
          </a:prstGeom>
          <a:solidFill>
            <a:srgbClr val="21D3A8">
              <a:alpha val="12000"/>
            </a:srgbClr>
          </a:solidFill>
          <a:ln w="15875">
            <a:solidFill>
              <a:srgbClr val="21D3A8"/>
            </a:solidFill>
            <a:prstDash val="solid"/>
          </a:ln>
        </p:spPr>
        <p:txBody>
          <a:bodyPr/>
          <a:lstStyle/>
          <a:p>
            <a:endParaRPr lang="es-CO"/>
          </a:p>
        </p:txBody>
      </p:sp>
      <p:sp>
        <p:nvSpPr>
          <p:cNvPr id="12" name="Text 9"/>
          <p:cNvSpPr txBox="1"/>
          <p:nvPr/>
        </p:nvSpPr>
        <p:spPr>
          <a:xfrm>
            <a:off x="5669280" y="2953512"/>
            <a:ext cx="2926080" cy="292608"/>
          </a:xfrm>
          <a:prstGeom prst="rect">
            <a:avLst/>
          </a:prstGeom>
          <a:noFill/>
          <a:ln/>
        </p:spPr>
        <p:txBody>
          <a:bodyPr wrap="square" lIns="0" tIns="0" rIns="0" bIns="0" rtlCol="0" anchor="t"/>
          <a:lstStyle/>
          <a:p>
            <a:pPr marL="0" indent="0">
              <a:buNone/>
            </a:pPr>
            <a:r>
              <a:rPr lang="en-US" sz="1300" b="1" dirty="0">
                <a:solidFill>
                  <a:srgbClr val="0C8368"/>
                </a:solidFill>
                <a:latin typeface="Calibri" pitchFamily="34" charset="0"/>
                <a:ea typeface="Calibri" pitchFamily="34" charset="-122"/>
                <a:cs typeface="Calibri" pitchFamily="34" charset="-120"/>
              </a:rPr>
              <a:t>EMA y EULAR</a:t>
            </a:r>
            <a:endParaRPr lang="en-US" sz="1300" dirty="0"/>
          </a:p>
        </p:txBody>
      </p:sp>
      <p:sp>
        <p:nvSpPr>
          <p:cNvPr id="13" name="Text 10"/>
          <p:cNvSpPr txBox="1"/>
          <p:nvPr/>
        </p:nvSpPr>
        <p:spPr>
          <a:xfrm>
            <a:off x="5669280" y="3264408"/>
            <a:ext cx="2926080" cy="1371600"/>
          </a:xfrm>
          <a:prstGeom prst="rect">
            <a:avLst/>
          </a:prstGeom>
          <a:noFill/>
          <a:ln/>
        </p:spPr>
        <p:txBody>
          <a:bodyPr wrap="square" lIns="0" tIns="0" rIns="0" bIns="0" rtlCol="0" anchor="t"/>
          <a:lstStyle/>
          <a:p>
            <a:pPr marL="0" indent="0">
              <a:buNone/>
            </a:pPr>
            <a:r>
              <a:rPr lang="en-US" sz="1200" dirty="0">
                <a:solidFill>
                  <a:srgbClr val="15193A"/>
                </a:solidFill>
                <a:latin typeface="Calibri" pitchFamily="34" charset="0"/>
                <a:ea typeface="Calibri" pitchFamily="34" charset="-122"/>
                <a:cs typeface="Calibri" pitchFamily="34" charset="-120"/>
              </a:rPr>
              <a:t>Pueden usarse tras fallo de FAME convencional en pacientes de bajo riesgo cardiovascular, trombótico y oncológico, valorados individualmente.</a:t>
            </a:r>
            <a:endParaRPr lang="en-US" sz="120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2651760" cy="4114800"/>
          </a:xfrm>
          <a:prstGeom prst="roundRect">
            <a:avLst>
              <a:gd name="adj" fmla="val 3448"/>
            </a:avLst>
          </a:prstGeom>
          <a:solidFill>
            <a:srgbClr val="A78BFA">
              <a:alpha val="12000"/>
            </a:srgbClr>
          </a:solidFill>
          <a:ln w="15875">
            <a:solidFill>
              <a:srgbClr val="A78BFA"/>
            </a:solidFill>
            <a:prstDash val="solid"/>
          </a:ln>
        </p:spPr>
        <p:txBody>
          <a:bodyPr/>
          <a:lstStyle/>
          <a:p>
            <a:endParaRPr lang="es-CO"/>
          </a:p>
        </p:txBody>
      </p:sp>
      <p:sp>
        <p:nvSpPr>
          <p:cNvPr id="3" name="Text 1"/>
          <p:cNvSpPr txBox="1"/>
          <p:nvPr/>
        </p:nvSpPr>
        <p:spPr>
          <a:xfrm>
            <a:off x="457200" y="731520"/>
            <a:ext cx="2651760" cy="320040"/>
          </a:xfrm>
          <a:prstGeom prst="rect">
            <a:avLst/>
          </a:prstGeom>
          <a:noFill/>
          <a:ln/>
        </p:spPr>
        <p:txBody>
          <a:bodyPr wrap="square" lIns="0" tIns="0" rIns="0" bIns="0" rtlCol="0" anchor="t"/>
          <a:lstStyle/>
          <a:p>
            <a:pPr marL="0" indent="0" algn="ctr">
              <a:buNone/>
            </a:pPr>
            <a:r>
              <a:rPr lang="en-US" sz="1400" b="1" kern="0" spc="800" dirty="0">
                <a:solidFill>
                  <a:srgbClr val="6A4CCF"/>
                </a:solidFill>
                <a:latin typeface="Calibri" pitchFamily="34" charset="0"/>
                <a:ea typeface="Calibri" pitchFamily="34" charset="-122"/>
                <a:cs typeface="Calibri" pitchFamily="34" charset="-120"/>
              </a:rPr>
              <a:t>PERLA</a:t>
            </a:r>
            <a:endParaRPr lang="en-US" sz="1400" dirty="0"/>
          </a:p>
        </p:txBody>
      </p:sp>
      <p:sp>
        <p:nvSpPr>
          <p:cNvPr id="4" name="Text 2"/>
          <p:cNvSpPr txBox="1"/>
          <p:nvPr/>
        </p:nvSpPr>
        <p:spPr>
          <a:xfrm>
            <a:off x="457200" y="1051560"/>
            <a:ext cx="2651760" cy="1737360"/>
          </a:xfrm>
          <a:prstGeom prst="rect">
            <a:avLst/>
          </a:prstGeom>
          <a:noFill/>
          <a:ln/>
        </p:spPr>
        <p:txBody>
          <a:bodyPr wrap="square" lIns="0" tIns="0" rIns="0" bIns="0" rtlCol="0" anchor="ctr"/>
          <a:lstStyle/>
          <a:p>
            <a:pPr marL="0" indent="0" algn="ctr">
              <a:buNone/>
            </a:pPr>
            <a:r>
              <a:rPr lang="en-US" sz="11000" b="1" dirty="0">
                <a:solidFill>
                  <a:srgbClr val="15193A"/>
                </a:solidFill>
                <a:latin typeface="Calibri" pitchFamily="34" charset="0"/>
                <a:ea typeface="Calibri" pitchFamily="34" charset="-122"/>
                <a:cs typeface="Calibri" pitchFamily="34" charset="-120"/>
              </a:rPr>
              <a:t>12</a:t>
            </a:r>
            <a:endParaRPr lang="en-US" sz="11000" dirty="0"/>
          </a:p>
        </p:txBody>
      </p:sp>
      <p:sp>
        <p:nvSpPr>
          <p:cNvPr id="5" name="Text 3"/>
          <p:cNvSpPr txBox="1"/>
          <p:nvPr/>
        </p:nvSpPr>
        <p:spPr>
          <a:xfrm>
            <a:off x="457200" y="2743200"/>
            <a:ext cx="2651760" cy="274320"/>
          </a:xfrm>
          <a:prstGeom prst="rect">
            <a:avLst/>
          </a:prstGeom>
          <a:noFill/>
          <a:ln/>
        </p:spPr>
        <p:txBody>
          <a:bodyPr wrap="square" lIns="0" tIns="0" rIns="0" bIns="0" rtlCol="0" anchor="t"/>
          <a:lstStyle/>
          <a:p>
            <a:pPr marL="0" indent="0" algn="ctr">
              <a:buNone/>
            </a:pPr>
            <a:r>
              <a:rPr lang="en-US" sz="1300" dirty="0">
                <a:solidFill>
                  <a:srgbClr val="474F70"/>
                </a:solidFill>
                <a:latin typeface="Calibri" pitchFamily="34" charset="0"/>
                <a:ea typeface="Calibri" pitchFamily="34" charset="-122"/>
                <a:cs typeface="Calibri" pitchFamily="34" charset="-120"/>
              </a:rPr>
              <a:t>de 12</a:t>
            </a:r>
            <a:endParaRPr lang="en-US" sz="1300" dirty="0"/>
          </a:p>
        </p:txBody>
      </p:sp>
      <p:sp>
        <p:nvSpPr>
          <p:cNvPr id="6" name="Shape 4"/>
          <p:cNvSpPr/>
          <p:nvPr/>
        </p:nvSpPr>
        <p:spPr>
          <a:xfrm>
            <a:off x="1325880" y="3246120"/>
            <a:ext cx="914400" cy="914400"/>
          </a:xfrm>
          <a:prstGeom prst="ellipse">
            <a:avLst/>
          </a:prstGeom>
          <a:solidFill>
            <a:srgbClr val="A78BFA"/>
          </a:solidFill>
          <a:ln w="19050">
            <a:solidFill>
              <a:srgbClr val="A78BFA"/>
            </a:solidFill>
            <a:prstDash val="solid"/>
          </a:ln>
        </p:spPr>
        <p:txBody>
          <a:bodyPr/>
          <a:lstStyle/>
          <a:p>
            <a:endParaRPr lang="es-CO"/>
          </a:p>
        </p:txBody>
      </p:sp>
      <p:pic>
        <p:nvPicPr>
          <p:cNvPr id="7" name="Image 0" descr="preencoded.png"/>
          <p:cNvPicPr>
            <a:picLocks noChangeAspect="1"/>
          </p:cNvPicPr>
          <p:nvPr/>
        </p:nvPicPr>
        <p:blipFill>
          <a:blip r:embed="rId4"/>
          <a:stretch>
            <a:fillRect/>
          </a:stretch>
        </p:blipFill>
        <p:spPr>
          <a:xfrm>
            <a:off x="1563624" y="3483864"/>
            <a:ext cx="438912" cy="438912"/>
          </a:xfrm>
          <a:prstGeom prst="rect">
            <a:avLst/>
          </a:prstGeom>
        </p:spPr>
      </p:pic>
      <p:sp>
        <p:nvSpPr>
          <p:cNvPr id="8" name="Text 5"/>
          <p:cNvSpPr txBox="1"/>
          <p:nvPr/>
        </p:nvSpPr>
        <p:spPr>
          <a:xfrm>
            <a:off x="3429000" y="548640"/>
            <a:ext cx="5257800" cy="1417320"/>
          </a:xfrm>
          <a:prstGeom prst="rect">
            <a:avLst/>
          </a:prstGeom>
          <a:noFill/>
          <a:ln/>
        </p:spPr>
        <p:txBody>
          <a:bodyPr wrap="square" lIns="0" tIns="0" rIns="0" bIns="0" rtlCol="0" anchor="ctr"/>
          <a:lstStyle/>
          <a:p>
            <a:pPr marL="0" indent="0">
              <a:buNone/>
            </a:pPr>
            <a:r>
              <a:rPr lang="en-US" sz="2500" b="1" dirty="0">
                <a:solidFill>
                  <a:srgbClr val="15193A"/>
                </a:solidFill>
                <a:latin typeface="Calibri" pitchFamily="34" charset="0"/>
                <a:ea typeface="Calibri" pitchFamily="34" charset="-122"/>
                <a:cs typeface="Calibri" pitchFamily="34" charset="-120"/>
              </a:rPr>
              <a:t>El seguimiento debe incluir el riesgo sistémico y la prevención</a:t>
            </a:r>
            <a:endParaRPr lang="en-US" sz="2500" dirty="0"/>
          </a:p>
        </p:txBody>
      </p:sp>
      <p:sp>
        <p:nvSpPr>
          <p:cNvPr id="9" name="Shape 6"/>
          <p:cNvSpPr/>
          <p:nvPr/>
        </p:nvSpPr>
        <p:spPr>
          <a:xfrm>
            <a:off x="3429000" y="2057400"/>
            <a:ext cx="1097280" cy="0"/>
          </a:xfrm>
          <a:prstGeom prst="line">
            <a:avLst/>
          </a:prstGeom>
          <a:noFill/>
          <a:ln w="38100">
            <a:solidFill>
              <a:srgbClr val="A78BFA"/>
            </a:solidFill>
            <a:prstDash val="solid"/>
          </a:ln>
        </p:spPr>
        <p:txBody>
          <a:bodyPr/>
          <a:lstStyle/>
          <a:p>
            <a:endParaRPr lang="es-CO"/>
          </a:p>
        </p:txBody>
      </p:sp>
      <p:sp>
        <p:nvSpPr>
          <p:cNvPr id="10" name="Text 7"/>
          <p:cNvSpPr txBox="1"/>
          <p:nvPr/>
        </p:nvSpPr>
        <p:spPr>
          <a:xfrm>
            <a:off x="3429000" y="2240280"/>
            <a:ext cx="5257800" cy="1920240"/>
          </a:xfrm>
          <a:prstGeom prst="rect">
            <a:avLst/>
          </a:prstGeom>
          <a:noFill/>
          <a:ln/>
        </p:spPr>
        <p:txBody>
          <a:bodyPr wrap="square" lIns="0" tIns="0" rIns="0" bIns="0" rtlCol="0" anchor="t"/>
          <a:lstStyle/>
          <a:p>
            <a:pPr marL="0" indent="0">
              <a:buNone/>
            </a:pPr>
            <a:r>
              <a:rPr lang="en-US" sz="1500" dirty="0">
                <a:solidFill>
                  <a:srgbClr val="2A3150"/>
                </a:solidFill>
                <a:latin typeface="Calibri" pitchFamily="34" charset="0"/>
                <a:ea typeface="Calibri" pitchFamily="34" charset="-122"/>
                <a:cs typeface="Calibri" pitchFamily="34" charset="-120"/>
              </a:rPr>
              <a:t>Evalúa riesgo cardiovascular, tabaquismo y síntomas pulmonares. Antes de terapias biológicas o JAK, revisa infecciones latentes y vacunas. El médico general y el internista tienen un papel central en estas medidas.</a:t>
            </a:r>
            <a:endParaRPr lang="en-US" sz="1500" dirty="0"/>
          </a:p>
        </p:txBody>
      </p:sp>
      <p:sp>
        <p:nvSpPr>
          <p:cNvPr id="11" name="Text 8"/>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[1] Smolen JS, et al. JAMA 2026 · [15] Bass AR, et al. ACR 2022 vacunación. Arthritis Care Res 2023</a:t>
            </a:r>
            <a:endParaRPr lang="en-US" sz="85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A78BFA"/>
          </a:solidFill>
          <a:ln w="12700">
            <a:solidFill>
              <a:srgbClr val="A78BFA"/>
            </a:solidFill>
            <a:prstDash val="solid"/>
          </a:ln>
        </p:spPr>
        <p:txBody>
          <a:bodyPr/>
          <a:lstStyle/>
          <a:p>
            <a:endParaRPr lang="es-CO"/>
          </a:p>
        </p:txBody>
      </p:sp>
      <p:sp>
        <p:nvSpPr>
          <p:cNvPr id="3" name="Text 1"/>
          <p:cNvSpPr txBox="1"/>
          <p:nvPr/>
        </p:nvSpPr>
        <p:spPr>
          <a:xfrm>
            <a:off x="685800" y="219456"/>
            <a:ext cx="7772400" cy="256032"/>
          </a:xfrm>
          <a:prstGeom prst="rect">
            <a:avLst/>
          </a:prstGeom>
          <a:noFill/>
          <a:ln/>
        </p:spPr>
        <p:txBody>
          <a:bodyPr wrap="square" lIns="0" tIns="0" rIns="0" bIns="0" rtlCol="0" anchor="ctr"/>
          <a:lstStyle/>
          <a:p>
            <a:pPr marL="0" indent="0">
              <a:buNone/>
            </a:pPr>
            <a:r>
              <a:rPr lang="en-US" sz="1050" b="1" kern="0" spc="400" dirty="0">
                <a:solidFill>
                  <a:srgbClr val="6A4CCF"/>
                </a:solidFill>
                <a:latin typeface="Calibri" pitchFamily="34" charset="0"/>
                <a:ea typeface="Calibri" pitchFamily="34" charset="-122"/>
                <a:cs typeface="Calibri" pitchFamily="34" charset="-120"/>
              </a:rPr>
              <a:t>PERLA 12 · LISTA DE CHEQUEO DEL INTERNISTA</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600" b="1" dirty="0">
                <a:solidFill>
                  <a:srgbClr val="15193A"/>
                </a:solidFill>
                <a:latin typeface="Calibri" pitchFamily="34" charset="0"/>
                <a:ea typeface="Calibri" pitchFamily="34" charset="-122"/>
                <a:cs typeface="Calibri" pitchFamily="34" charset="-120"/>
              </a:rPr>
              <a:t>Más allá de las articulaciones</a:t>
            </a:r>
            <a:endParaRPr lang="en-US" sz="2600" dirty="0"/>
          </a:p>
        </p:txBody>
      </p:sp>
      <p:sp>
        <p:nvSpPr>
          <p:cNvPr id="5" name="Text 3"/>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[1] Smolen JS, et al. JAMA 2026 · [15] Bass AR, et al. ACR 2022 vacunación. Arthritis Care Res 2023</a:t>
            </a:r>
            <a:endParaRPr lang="en-US" sz="850" dirty="0"/>
          </a:p>
        </p:txBody>
      </p:sp>
      <p:sp>
        <p:nvSpPr>
          <p:cNvPr id="6" name="Shape 4"/>
          <p:cNvSpPr/>
          <p:nvPr/>
        </p:nvSpPr>
        <p:spPr>
          <a:xfrm>
            <a:off x="457200" y="1188720"/>
            <a:ext cx="4023360" cy="1078992"/>
          </a:xfrm>
          <a:prstGeom prst="roundRect">
            <a:avLst>
              <a:gd name="adj" fmla="val 8475"/>
            </a:avLst>
          </a:prstGeom>
          <a:solidFill>
            <a:srgbClr val="F1F3FB"/>
          </a:solidFill>
          <a:ln w="9525">
            <a:solidFill>
              <a:srgbClr val="D8DEEF"/>
            </a:solidFill>
            <a:prstDash val="solid"/>
          </a:ln>
        </p:spPr>
        <p:txBody>
          <a:bodyPr/>
          <a:lstStyle/>
          <a:p>
            <a:endParaRPr lang="es-CO"/>
          </a:p>
        </p:txBody>
      </p:sp>
      <p:sp>
        <p:nvSpPr>
          <p:cNvPr id="7" name="Shape 5"/>
          <p:cNvSpPr/>
          <p:nvPr/>
        </p:nvSpPr>
        <p:spPr>
          <a:xfrm>
            <a:off x="594360" y="1444752"/>
            <a:ext cx="566928" cy="566928"/>
          </a:xfrm>
          <a:prstGeom prst="ellipse">
            <a:avLst/>
          </a:prstGeom>
          <a:solidFill>
            <a:srgbClr val="FF4D6D">
              <a:alpha val="20000"/>
            </a:srgbClr>
          </a:solidFill>
          <a:ln w="19050">
            <a:solidFill>
              <a:srgbClr val="FF4D6D"/>
            </a:solidFill>
            <a:prstDash val="solid"/>
          </a:ln>
        </p:spPr>
        <p:txBody>
          <a:bodyPr/>
          <a:lstStyle/>
          <a:p>
            <a:endParaRPr lang="es-CO"/>
          </a:p>
        </p:txBody>
      </p:sp>
      <p:pic>
        <p:nvPicPr>
          <p:cNvPr id="8" name="Image 0" descr="preencoded.png"/>
          <p:cNvPicPr>
            <a:picLocks noChangeAspect="1"/>
          </p:cNvPicPr>
          <p:nvPr/>
        </p:nvPicPr>
        <p:blipFill>
          <a:blip r:embed="rId4"/>
          <a:stretch>
            <a:fillRect/>
          </a:stretch>
        </p:blipFill>
        <p:spPr>
          <a:xfrm>
            <a:off x="741761" y="1592153"/>
            <a:ext cx="272125" cy="272125"/>
          </a:xfrm>
          <a:prstGeom prst="rect">
            <a:avLst/>
          </a:prstGeom>
        </p:spPr>
      </p:pic>
      <p:sp>
        <p:nvSpPr>
          <p:cNvPr id="9" name="Text 6"/>
          <p:cNvSpPr txBox="1"/>
          <p:nvPr/>
        </p:nvSpPr>
        <p:spPr>
          <a:xfrm>
            <a:off x="1298448" y="1261872"/>
            <a:ext cx="3108960" cy="301752"/>
          </a:xfrm>
          <a:prstGeom prst="rect">
            <a:avLst/>
          </a:prstGeom>
          <a:noFill/>
          <a:ln/>
        </p:spPr>
        <p:txBody>
          <a:bodyPr wrap="square" lIns="0" tIns="0" rIns="0" bIns="0" rtlCol="0" anchor="t"/>
          <a:lstStyle/>
          <a:p>
            <a:pPr marL="0" indent="0">
              <a:buNone/>
            </a:pPr>
            <a:r>
              <a:rPr lang="en-US" sz="1300" b="1" dirty="0">
                <a:solidFill>
                  <a:srgbClr val="C81E43"/>
                </a:solidFill>
                <a:latin typeface="Calibri" pitchFamily="34" charset="0"/>
                <a:ea typeface="Calibri" pitchFamily="34" charset="-122"/>
                <a:cs typeface="Calibri" pitchFamily="34" charset="-120"/>
              </a:rPr>
              <a:t>Riesgo cardiovascular</a:t>
            </a:r>
            <a:endParaRPr lang="en-US" sz="1300" dirty="0"/>
          </a:p>
        </p:txBody>
      </p:sp>
      <p:sp>
        <p:nvSpPr>
          <p:cNvPr id="10" name="Text 7"/>
          <p:cNvSpPr txBox="1"/>
          <p:nvPr/>
        </p:nvSpPr>
        <p:spPr>
          <a:xfrm>
            <a:off x="1298448" y="1572768"/>
            <a:ext cx="3108960" cy="676656"/>
          </a:xfrm>
          <a:prstGeom prst="rect">
            <a:avLst/>
          </a:prstGeom>
          <a:noFill/>
          <a:ln/>
        </p:spPr>
        <p:txBody>
          <a:bodyPr wrap="square" lIns="0" tIns="0" rIns="0" bIns="0" rtlCol="0" anchor="t"/>
          <a:lstStyle/>
          <a:p>
            <a:pPr marL="0" indent="0">
              <a:buNone/>
            </a:pPr>
            <a:r>
              <a:rPr lang="en-US" sz="1050" dirty="0">
                <a:solidFill>
                  <a:srgbClr val="15193A"/>
                </a:solidFill>
                <a:latin typeface="Calibri" pitchFamily="34" charset="0"/>
                <a:ea typeface="Calibri" pitchFamily="34" charset="-122"/>
                <a:cs typeface="Calibri" pitchFamily="34" charset="-120"/>
              </a:rPr>
              <a:t>Más infarto, insuficiencia cardíaca y ACV: control de presión, lípidos (estatinas según guías) y glucemia.</a:t>
            </a:r>
            <a:endParaRPr lang="en-US" sz="1050" dirty="0"/>
          </a:p>
        </p:txBody>
      </p:sp>
      <p:sp>
        <p:nvSpPr>
          <p:cNvPr id="11" name="Shape 8"/>
          <p:cNvSpPr/>
          <p:nvPr/>
        </p:nvSpPr>
        <p:spPr>
          <a:xfrm>
            <a:off x="4663440" y="1188720"/>
            <a:ext cx="4023360" cy="1078992"/>
          </a:xfrm>
          <a:prstGeom prst="roundRect">
            <a:avLst>
              <a:gd name="adj" fmla="val 8475"/>
            </a:avLst>
          </a:prstGeom>
          <a:solidFill>
            <a:srgbClr val="F1F3FB"/>
          </a:solidFill>
          <a:ln w="9525">
            <a:solidFill>
              <a:srgbClr val="D8DEEF"/>
            </a:solidFill>
            <a:prstDash val="solid"/>
          </a:ln>
        </p:spPr>
        <p:txBody>
          <a:bodyPr/>
          <a:lstStyle/>
          <a:p>
            <a:endParaRPr lang="es-CO"/>
          </a:p>
        </p:txBody>
      </p:sp>
      <p:sp>
        <p:nvSpPr>
          <p:cNvPr id="12" name="Shape 9"/>
          <p:cNvSpPr/>
          <p:nvPr/>
        </p:nvSpPr>
        <p:spPr>
          <a:xfrm>
            <a:off x="4800600" y="1444752"/>
            <a:ext cx="566928" cy="566928"/>
          </a:xfrm>
          <a:prstGeom prst="ellipse">
            <a:avLst/>
          </a:prstGeom>
          <a:solidFill>
            <a:srgbClr val="FFB703">
              <a:alpha val="20000"/>
            </a:srgbClr>
          </a:solidFill>
          <a:ln w="19050">
            <a:solidFill>
              <a:srgbClr val="FFB703"/>
            </a:solidFill>
            <a:prstDash val="solid"/>
          </a:ln>
        </p:spPr>
        <p:txBody>
          <a:bodyPr/>
          <a:lstStyle/>
          <a:p>
            <a:endParaRPr lang="es-CO"/>
          </a:p>
        </p:txBody>
      </p:sp>
      <p:pic>
        <p:nvPicPr>
          <p:cNvPr id="13" name="Image 1" descr="preencoded.png"/>
          <p:cNvPicPr>
            <a:picLocks noChangeAspect="1"/>
          </p:cNvPicPr>
          <p:nvPr/>
        </p:nvPicPr>
        <p:blipFill>
          <a:blip r:embed="rId5"/>
          <a:stretch>
            <a:fillRect/>
          </a:stretch>
        </p:blipFill>
        <p:spPr>
          <a:xfrm>
            <a:off x="4948001" y="1592153"/>
            <a:ext cx="272125" cy="272125"/>
          </a:xfrm>
          <a:prstGeom prst="rect">
            <a:avLst/>
          </a:prstGeom>
        </p:spPr>
      </p:pic>
      <p:sp>
        <p:nvSpPr>
          <p:cNvPr id="14" name="Text 10"/>
          <p:cNvSpPr txBox="1"/>
          <p:nvPr/>
        </p:nvSpPr>
        <p:spPr>
          <a:xfrm>
            <a:off x="5504688" y="1261872"/>
            <a:ext cx="3108960" cy="301752"/>
          </a:xfrm>
          <a:prstGeom prst="rect">
            <a:avLst/>
          </a:prstGeom>
          <a:noFill/>
          <a:ln/>
        </p:spPr>
        <p:txBody>
          <a:bodyPr wrap="square" lIns="0" tIns="0" rIns="0" bIns="0" rtlCol="0" anchor="t"/>
          <a:lstStyle/>
          <a:p>
            <a:pPr marL="0" indent="0">
              <a:buNone/>
            </a:pPr>
            <a:r>
              <a:rPr lang="en-US" sz="1300" b="1" dirty="0">
                <a:solidFill>
                  <a:srgbClr val="8A5E00"/>
                </a:solidFill>
                <a:latin typeface="Calibri" pitchFamily="34" charset="0"/>
                <a:ea typeface="Calibri" pitchFamily="34" charset="-122"/>
                <a:cs typeface="Calibri" pitchFamily="34" charset="-120"/>
              </a:rPr>
              <a:t>Tabaco</a:t>
            </a:r>
            <a:endParaRPr lang="en-US" sz="1300" dirty="0"/>
          </a:p>
        </p:txBody>
      </p:sp>
      <p:sp>
        <p:nvSpPr>
          <p:cNvPr id="15" name="Text 11"/>
          <p:cNvSpPr txBox="1"/>
          <p:nvPr/>
        </p:nvSpPr>
        <p:spPr>
          <a:xfrm>
            <a:off x="5504688" y="1572768"/>
            <a:ext cx="3108960" cy="676656"/>
          </a:xfrm>
          <a:prstGeom prst="rect">
            <a:avLst/>
          </a:prstGeom>
          <a:noFill/>
          <a:ln/>
        </p:spPr>
        <p:txBody>
          <a:bodyPr wrap="square" lIns="0" tIns="0" rIns="0" bIns="0" rtlCol="0" anchor="t"/>
          <a:lstStyle/>
          <a:p>
            <a:pPr marL="0" indent="0">
              <a:buNone/>
            </a:pPr>
            <a:r>
              <a:rPr lang="en-US" sz="1050" dirty="0">
                <a:solidFill>
                  <a:srgbClr val="15193A"/>
                </a:solidFill>
                <a:latin typeface="Calibri" pitchFamily="34" charset="0"/>
                <a:ea typeface="Calibri" pitchFamily="34" charset="-122"/>
                <a:cs typeface="Calibri" pitchFamily="34" charset="-120"/>
              </a:rPr>
              <a:t>Aumenta la actividad de la AR; dejarlo la reduce. Ofrecer cesación siempre.</a:t>
            </a:r>
            <a:endParaRPr lang="en-US" sz="1050" dirty="0"/>
          </a:p>
        </p:txBody>
      </p:sp>
      <p:sp>
        <p:nvSpPr>
          <p:cNvPr id="16" name="Shape 12"/>
          <p:cNvSpPr/>
          <p:nvPr/>
        </p:nvSpPr>
        <p:spPr>
          <a:xfrm>
            <a:off x="457200" y="2377440"/>
            <a:ext cx="4023360" cy="1078992"/>
          </a:xfrm>
          <a:prstGeom prst="roundRect">
            <a:avLst>
              <a:gd name="adj" fmla="val 8475"/>
            </a:avLst>
          </a:prstGeom>
          <a:solidFill>
            <a:srgbClr val="F1F3FB"/>
          </a:solidFill>
          <a:ln w="9525">
            <a:solidFill>
              <a:srgbClr val="D8DEEF"/>
            </a:solidFill>
            <a:prstDash val="solid"/>
          </a:ln>
        </p:spPr>
        <p:txBody>
          <a:bodyPr/>
          <a:lstStyle/>
          <a:p>
            <a:endParaRPr lang="es-CO"/>
          </a:p>
        </p:txBody>
      </p:sp>
      <p:sp>
        <p:nvSpPr>
          <p:cNvPr id="17" name="Shape 13"/>
          <p:cNvSpPr/>
          <p:nvPr/>
        </p:nvSpPr>
        <p:spPr>
          <a:xfrm>
            <a:off x="594360" y="2633472"/>
            <a:ext cx="566928" cy="566928"/>
          </a:xfrm>
          <a:prstGeom prst="ellipse">
            <a:avLst/>
          </a:prstGeom>
          <a:solidFill>
            <a:srgbClr val="4CC9F0">
              <a:alpha val="20000"/>
            </a:srgbClr>
          </a:solidFill>
          <a:ln w="19050">
            <a:solidFill>
              <a:srgbClr val="4CC9F0"/>
            </a:solidFill>
            <a:prstDash val="solid"/>
          </a:ln>
        </p:spPr>
        <p:txBody>
          <a:bodyPr/>
          <a:lstStyle/>
          <a:p>
            <a:endParaRPr lang="es-CO"/>
          </a:p>
        </p:txBody>
      </p:sp>
      <p:pic>
        <p:nvPicPr>
          <p:cNvPr id="18" name="Image 2" descr="preencoded.png"/>
          <p:cNvPicPr>
            <a:picLocks noChangeAspect="1"/>
          </p:cNvPicPr>
          <p:nvPr/>
        </p:nvPicPr>
        <p:blipFill>
          <a:blip r:embed="rId6"/>
          <a:stretch>
            <a:fillRect/>
          </a:stretch>
        </p:blipFill>
        <p:spPr>
          <a:xfrm>
            <a:off x="741761" y="2780873"/>
            <a:ext cx="272125" cy="272125"/>
          </a:xfrm>
          <a:prstGeom prst="rect">
            <a:avLst/>
          </a:prstGeom>
        </p:spPr>
      </p:pic>
      <p:sp>
        <p:nvSpPr>
          <p:cNvPr id="19" name="Text 14"/>
          <p:cNvSpPr txBox="1"/>
          <p:nvPr/>
        </p:nvSpPr>
        <p:spPr>
          <a:xfrm>
            <a:off x="1298448" y="2450592"/>
            <a:ext cx="3108960" cy="301752"/>
          </a:xfrm>
          <a:prstGeom prst="rect">
            <a:avLst/>
          </a:prstGeom>
          <a:noFill/>
          <a:ln/>
        </p:spPr>
        <p:txBody>
          <a:bodyPr wrap="square" lIns="0" tIns="0" rIns="0" bIns="0" rtlCol="0" anchor="t"/>
          <a:lstStyle/>
          <a:p>
            <a:pPr marL="0" indent="0">
              <a:buNone/>
            </a:pPr>
            <a:r>
              <a:rPr lang="en-US" sz="1300" b="1" dirty="0">
                <a:solidFill>
                  <a:srgbClr val="0A6F98"/>
                </a:solidFill>
                <a:latin typeface="Calibri" pitchFamily="34" charset="0"/>
                <a:ea typeface="Calibri" pitchFamily="34" charset="-122"/>
                <a:cs typeface="Calibri" pitchFamily="34" charset="-120"/>
              </a:rPr>
              <a:t>Pulmón</a:t>
            </a:r>
            <a:endParaRPr lang="en-US" sz="1300" dirty="0"/>
          </a:p>
        </p:txBody>
      </p:sp>
      <p:sp>
        <p:nvSpPr>
          <p:cNvPr id="20" name="Text 15"/>
          <p:cNvSpPr txBox="1"/>
          <p:nvPr/>
        </p:nvSpPr>
        <p:spPr>
          <a:xfrm>
            <a:off x="1298448" y="2761488"/>
            <a:ext cx="3108960" cy="676656"/>
          </a:xfrm>
          <a:prstGeom prst="rect">
            <a:avLst/>
          </a:prstGeom>
          <a:noFill/>
          <a:ln/>
        </p:spPr>
        <p:txBody>
          <a:bodyPr wrap="square" lIns="0" tIns="0" rIns="0" bIns="0" rtlCol="0" anchor="t"/>
          <a:lstStyle/>
          <a:p>
            <a:pPr marL="0" indent="0">
              <a:buNone/>
            </a:pPr>
            <a:r>
              <a:rPr lang="en-US" sz="1050" dirty="0">
                <a:solidFill>
                  <a:srgbClr val="15193A"/>
                </a:solidFill>
                <a:latin typeface="Calibri" pitchFamily="34" charset="0"/>
                <a:ea typeface="Calibri" pitchFamily="34" charset="-122"/>
                <a:cs typeface="Calibri" pitchFamily="34" charset="-120"/>
              </a:rPr>
              <a:t>Preguntar por tos y disnea: la fibrosis pulmonar es una manifestación extraarticular frecuente.</a:t>
            </a:r>
            <a:endParaRPr lang="en-US" sz="1050" dirty="0"/>
          </a:p>
        </p:txBody>
      </p:sp>
      <p:sp>
        <p:nvSpPr>
          <p:cNvPr id="21" name="Shape 16"/>
          <p:cNvSpPr/>
          <p:nvPr/>
        </p:nvSpPr>
        <p:spPr>
          <a:xfrm>
            <a:off x="4663440" y="2377440"/>
            <a:ext cx="4023360" cy="1078992"/>
          </a:xfrm>
          <a:prstGeom prst="roundRect">
            <a:avLst>
              <a:gd name="adj" fmla="val 8475"/>
            </a:avLst>
          </a:prstGeom>
          <a:solidFill>
            <a:srgbClr val="F1F3FB"/>
          </a:solidFill>
          <a:ln w="9525">
            <a:solidFill>
              <a:srgbClr val="D8DEEF"/>
            </a:solidFill>
            <a:prstDash val="solid"/>
          </a:ln>
        </p:spPr>
        <p:txBody>
          <a:bodyPr/>
          <a:lstStyle/>
          <a:p>
            <a:endParaRPr lang="es-CO"/>
          </a:p>
        </p:txBody>
      </p:sp>
      <p:sp>
        <p:nvSpPr>
          <p:cNvPr id="22" name="Shape 17"/>
          <p:cNvSpPr/>
          <p:nvPr/>
        </p:nvSpPr>
        <p:spPr>
          <a:xfrm>
            <a:off x="4800600" y="2633472"/>
            <a:ext cx="566928" cy="566928"/>
          </a:xfrm>
          <a:prstGeom prst="ellipse">
            <a:avLst/>
          </a:prstGeom>
          <a:solidFill>
            <a:srgbClr val="21D3A8">
              <a:alpha val="20000"/>
            </a:srgbClr>
          </a:solidFill>
          <a:ln w="19050">
            <a:solidFill>
              <a:srgbClr val="21D3A8"/>
            </a:solidFill>
            <a:prstDash val="solid"/>
          </a:ln>
        </p:spPr>
        <p:txBody>
          <a:bodyPr/>
          <a:lstStyle/>
          <a:p>
            <a:endParaRPr lang="es-CO"/>
          </a:p>
        </p:txBody>
      </p:sp>
      <p:pic>
        <p:nvPicPr>
          <p:cNvPr id="23" name="Image 3" descr="preencoded.png"/>
          <p:cNvPicPr>
            <a:picLocks noChangeAspect="1"/>
          </p:cNvPicPr>
          <p:nvPr/>
        </p:nvPicPr>
        <p:blipFill>
          <a:blip r:embed="rId7"/>
          <a:stretch>
            <a:fillRect/>
          </a:stretch>
        </p:blipFill>
        <p:spPr>
          <a:xfrm>
            <a:off x="4948001" y="2780873"/>
            <a:ext cx="272125" cy="272125"/>
          </a:xfrm>
          <a:prstGeom prst="rect">
            <a:avLst/>
          </a:prstGeom>
        </p:spPr>
      </p:pic>
      <p:sp>
        <p:nvSpPr>
          <p:cNvPr id="24" name="Text 18"/>
          <p:cNvSpPr txBox="1"/>
          <p:nvPr/>
        </p:nvSpPr>
        <p:spPr>
          <a:xfrm>
            <a:off x="5504688" y="2450592"/>
            <a:ext cx="3108960" cy="301752"/>
          </a:xfrm>
          <a:prstGeom prst="rect">
            <a:avLst/>
          </a:prstGeom>
          <a:noFill/>
          <a:ln/>
        </p:spPr>
        <p:txBody>
          <a:bodyPr wrap="square" lIns="0" tIns="0" rIns="0" bIns="0" rtlCol="0" anchor="t"/>
          <a:lstStyle/>
          <a:p>
            <a:pPr marL="0" indent="0">
              <a:buNone/>
            </a:pPr>
            <a:r>
              <a:rPr lang="en-US" sz="1300" b="1" dirty="0">
                <a:solidFill>
                  <a:srgbClr val="0C8368"/>
                </a:solidFill>
                <a:latin typeface="Calibri" pitchFamily="34" charset="0"/>
                <a:ea typeface="Calibri" pitchFamily="34" charset="-122"/>
                <a:cs typeface="Calibri" pitchFamily="34" charset="-120"/>
              </a:rPr>
              <a:t>Infecciones latentes</a:t>
            </a:r>
            <a:endParaRPr lang="en-US" sz="1300" dirty="0"/>
          </a:p>
        </p:txBody>
      </p:sp>
      <p:sp>
        <p:nvSpPr>
          <p:cNvPr id="25" name="Text 19"/>
          <p:cNvSpPr txBox="1"/>
          <p:nvPr/>
        </p:nvSpPr>
        <p:spPr>
          <a:xfrm>
            <a:off x="5504688" y="2761488"/>
            <a:ext cx="3108960" cy="676656"/>
          </a:xfrm>
          <a:prstGeom prst="rect">
            <a:avLst/>
          </a:prstGeom>
          <a:noFill/>
          <a:ln/>
        </p:spPr>
        <p:txBody>
          <a:bodyPr wrap="square" lIns="0" tIns="0" rIns="0" bIns="0" rtlCol="0" anchor="t"/>
          <a:lstStyle/>
          <a:p>
            <a:pPr marL="0" indent="0">
              <a:buNone/>
            </a:pPr>
            <a:r>
              <a:rPr lang="en-US" sz="1050" dirty="0">
                <a:solidFill>
                  <a:srgbClr val="15193A"/>
                </a:solidFill>
                <a:latin typeface="Calibri" pitchFamily="34" charset="0"/>
                <a:ea typeface="Calibri" pitchFamily="34" charset="-122"/>
                <a:cs typeface="Calibri" pitchFamily="34" charset="-120"/>
              </a:rPr>
              <a:t>Antes de biológicos o JAKi: tamizaje de tuberculosis latente y de hepatitis B.</a:t>
            </a:r>
            <a:endParaRPr lang="en-US" sz="1050" dirty="0"/>
          </a:p>
        </p:txBody>
      </p:sp>
      <p:sp>
        <p:nvSpPr>
          <p:cNvPr id="26" name="Shape 20"/>
          <p:cNvSpPr/>
          <p:nvPr/>
        </p:nvSpPr>
        <p:spPr>
          <a:xfrm>
            <a:off x="457200" y="3566160"/>
            <a:ext cx="4023360" cy="1078992"/>
          </a:xfrm>
          <a:prstGeom prst="roundRect">
            <a:avLst>
              <a:gd name="adj" fmla="val 8475"/>
            </a:avLst>
          </a:prstGeom>
          <a:solidFill>
            <a:srgbClr val="F1F3FB"/>
          </a:solidFill>
          <a:ln w="9525">
            <a:solidFill>
              <a:srgbClr val="D8DEEF"/>
            </a:solidFill>
            <a:prstDash val="solid"/>
          </a:ln>
        </p:spPr>
        <p:txBody>
          <a:bodyPr/>
          <a:lstStyle/>
          <a:p>
            <a:endParaRPr lang="es-CO"/>
          </a:p>
        </p:txBody>
      </p:sp>
      <p:sp>
        <p:nvSpPr>
          <p:cNvPr id="27" name="Shape 21"/>
          <p:cNvSpPr/>
          <p:nvPr/>
        </p:nvSpPr>
        <p:spPr>
          <a:xfrm>
            <a:off x="594360" y="3822192"/>
            <a:ext cx="566928" cy="566928"/>
          </a:xfrm>
          <a:prstGeom prst="ellipse">
            <a:avLst/>
          </a:prstGeom>
          <a:solidFill>
            <a:srgbClr val="A78BFA">
              <a:alpha val="20000"/>
            </a:srgbClr>
          </a:solidFill>
          <a:ln w="19050">
            <a:solidFill>
              <a:srgbClr val="A78BFA"/>
            </a:solidFill>
            <a:prstDash val="solid"/>
          </a:ln>
        </p:spPr>
        <p:txBody>
          <a:bodyPr/>
          <a:lstStyle/>
          <a:p>
            <a:endParaRPr lang="es-CO"/>
          </a:p>
        </p:txBody>
      </p:sp>
      <p:pic>
        <p:nvPicPr>
          <p:cNvPr id="28" name="Image 4" descr="preencoded.png"/>
          <p:cNvPicPr>
            <a:picLocks noChangeAspect="1"/>
          </p:cNvPicPr>
          <p:nvPr/>
        </p:nvPicPr>
        <p:blipFill>
          <a:blip r:embed="rId8"/>
          <a:stretch>
            <a:fillRect/>
          </a:stretch>
        </p:blipFill>
        <p:spPr>
          <a:xfrm>
            <a:off x="741761" y="3969593"/>
            <a:ext cx="272125" cy="272125"/>
          </a:xfrm>
          <a:prstGeom prst="rect">
            <a:avLst/>
          </a:prstGeom>
        </p:spPr>
      </p:pic>
      <p:sp>
        <p:nvSpPr>
          <p:cNvPr id="29" name="Text 22"/>
          <p:cNvSpPr txBox="1"/>
          <p:nvPr/>
        </p:nvSpPr>
        <p:spPr>
          <a:xfrm>
            <a:off x="1298448" y="3639312"/>
            <a:ext cx="3108960" cy="301752"/>
          </a:xfrm>
          <a:prstGeom prst="rect">
            <a:avLst/>
          </a:prstGeom>
          <a:noFill/>
          <a:ln/>
        </p:spPr>
        <p:txBody>
          <a:bodyPr wrap="square" lIns="0" tIns="0" rIns="0" bIns="0" rtlCol="0" anchor="t"/>
          <a:lstStyle/>
          <a:p>
            <a:pPr marL="0" indent="0">
              <a:buNone/>
            </a:pPr>
            <a:r>
              <a:rPr lang="en-US" sz="1300" b="1" dirty="0">
                <a:solidFill>
                  <a:srgbClr val="6A4CCF"/>
                </a:solidFill>
                <a:latin typeface="Calibri" pitchFamily="34" charset="0"/>
                <a:ea typeface="Calibri" pitchFamily="34" charset="-122"/>
                <a:cs typeface="Calibri" pitchFamily="34" charset="-120"/>
              </a:rPr>
              <a:t>Vacunas</a:t>
            </a:r>
            <a:endParaRPr lang="en-US" sz="1300" dirty="0"/>
          </a:p>
        </p:txBody>
      </p:sp>
      <p:sp>
        <p:nvSpPr>
          <p:cNvPr id="30" name="Text 23"/>
          <p:cNvSpPr txBox="1"/>
          <p:nvPr/>
        </p:nvSpPr>
        <p:spPr>
          <a:xfrm>
            <a:off x="1298448" y="3950208"/>
            <a:ext cx="3108960" cy="676656"/>
          </a:xfrm>
          <a:prstGeom prst="rect">
            <a:avLst/>
          </a:prstGeom>
          <a:noFill/>
          <a:ln/>
        </p:spPr>
        <p:txBody>
          <a:bodyPr wrap="square" lIns="0" tIns="0" rIns="0" bIns="0" rtlCol="0" anchor="t"/>
          <a:lstStyle/>
          <a:p>
            <a:pPr marL="0" indent="0">
              <a:buNone/>
            </a:pPr>
            <a:r>
              <a:rPr lang="en-US" sz="1050" dirty="0">
                <a:solidFill>
                  <a:srgbClr val="15193A"/>
                </a:solidFill>
                <a:latin typeface="Calibri" pitchFamily="34" charset="0"/>
                <a:ea typeface="Calibri" pitchFamily="34" charset="-122"/>
                <a:cs typeface="Calibri" pitchFamily="34" charset="-120"/>
              </a:rPr>
              <a:t>Neumococo, herpes zóster recombinante, influenza y COVID-19, idealmente antes de iniciar.</a:t>
            </a:r>
            <a:endParaRPr lang="en-US" sz="1050" dirty="0"/>
          </a:p>
        </p:txBody>
      </p:sp>
      <p:sp>
        <p:nvSpPr>
          <p:cNvPr id="31" name="Shape 24"/>
          <p:cNvSpPr/>
          <p:nvPr/>
        </p:nvSpPr>
        <p:spPr>
          <a:xfrm>
            <a:off x="4663440" y="3566160"/>
            <a:ext cx="4023360" cy="1078992"/>
          </a:xfrm>
          <a:prstGeom prst="roundRect">
            <a:avLst>
              <a:gd name="adj" fmla="val 8475"/>
            </a:avLst>
          </a:prstGeom>
          <a:solidFill>
            <a:srgbClr val="F1F3FB"/>
          </a:solidFill>
          <a:ln w="9525">
            <a:solidFill>
              <a:srgbClr val="D8DEEF"/>
            </a:solidFill>
            <a:prstDash val="solid"/>
          </a:ln>
        </p:spPr>
        <p:txBody>
          <a:bodyPr/>
          <a:lstStyle/>
          <a:p>
            <a:endParaRPr lang="es-CO"/>
          </a:p>
        </p:txBody>
      </p:sp>
      <p:sp>
        <p:nvSpPr>
          <p:cNvPr id="32" name="Shape 25"/>
          <p:cNvSpPr/>
          <p:nvPr/>
        </p:nvSpPr>
        <p:spPr>
          <a:xfrm>
            <a:off x="4800600" y="3822192"/>
            <a:ext cx="566928" cy="566928"/>
          </a:xfrm>
          <a:prstGeom prst="ellipse">
            <a:avLst/>
          </a:prstGeom>
          <a:solidFill>
            <a:srgbClr val="7FD6B9">
              <a:alpha val="20000"/>
            </a:srgbClr>
          </a:solidFill>
          <a:ln w="19050">
            <a:solidFill>
              <a:srgbClr val="7FD6B9"/>
            </a:solidFill>
            <a:prstDash val="solid"/>
          </a:ln>
        </p:spPr>
        <p:txBody>
          <a:bodyPr/>
          <a:lstStyle/>
          <a:p>
            <a:endParaRPr lang="es-CO"/>
          </a:p>
        </p:txBody>
      </p:sp>
      <p:pic>
        <p:nvPicPr>
          <p:cNvPr id="33" name="Image 5" descr="preencoded.png"/>
          <p:cNvPicPr>
            <a:picLocks noChangeAspect="1"/>
          </p:cNvPicPr>
          <p:nvPr/>
        </p:nvPicPr>
        <p:blipFill>
          <a:blip r:embed="rId9"/>
          <a:stretch>
            <a:fillRect/>
          </a:stretch>
        </p:blipFill>
        <p:spPr>
          <a:xfrm>
            <a:off x="4948001" y="3969593"/>
            <a:ext cx="272125" cy="272125"/>
          </a:xfrm>
          <a:prstGeom prst="rect">
            <a:avLst/>
          </a:prstGeom>
        </p:spPr>
      </p:pic>
      <p:sp>
        <p:nvSpPr>
          <p:cNvPr id="34" name="Text 26"/>
          <p:cNvSpPr txBox="1"/>
          <p:nvPr/>
        </p:nvSpPr>
        <p:spPr>
          <a:xfrm>
            <a:off x="5504688" y="3639312"/>
            <a:ext cx="3108960" cy="301752"/>
          </a:xfrm>
          <a:prstGeom prst="rect">
            <a:avLst/>
          </a:prstGeom>
          <a:noFill/>
          <a:ln/>
        </p:spPr>
        <p:txBody>
          <a:bodyPr wrap="square" lIns="0" tIns="0" rIns="0" bIns="0" rtlCol="0" anchor="t"/>
          <a:lstStyle/>
          <a:p>
            <a:pPr marL="0" indent="0">
              <a:buNone/>
            </a:pPr>
            <a:r>
              <a:rPr lang="en-US" sz="1300" b="1" dirty="0">
                <a:solidFill>
                  <a:srgbClr val="0C8368"/>
                </a:solidFill>
                <a:latin typeface="Calibri" pitchFamily="34" charset="0"/>
                <a:ea typeface="Calibri" pitchFamily="34" charset="-122"/>
                <a:cs typeface="Calibri" pitchFamily="34" charset="-120"/>
              </a:rPr>
              <a:t>Hueso y fármacos</a:t>
            </a:r>
            <a:endParaRPr lang="en-US" sz="1300" dirty="0"/>
          </a:p>
        </p:txBody>
      </p:sp>
      <p:sp>
        <p:nvSpPr>
          <p:cNvPr id="35" name="Text 27"/>
          <p:cNvSpPr txBox="1"/>
          <p:nvPr/>
        </p:nvSpPr>
        <p:spPr>
          <a:xfrm>
            <a:off x="5504688" y="3950208"/>
            <a:ext cx="3108960" cy="676656"/>
          </a:xfrm>
          <a:prstGeom prst="rect">
            <a:avLst/>
          </a:prstGeom>
          <a:noFill/>
          <a:ln/>
        </p:spPr>
        <p:txBody>
          <a:bodyPr wrap="square" lIns="0" tIns="0" rIns="0" bIns="0" rtlCol="0" anchor="t"/>
          <a:lstStyle/>
          <a:p>
            <a:pPr marL="0" indent="0">
              <a:buNone/>
            </a:pPr>
            <a:r>
              <a:rPr lang="en-US" sz="1050" dirty="0">
                <a:solidFill>
                  <a:srgbClr val="15193A"/>
                </a:solidFill>
                <a:latin typeface="Calibri" pitchFamily="34" charset="0"/>
                <a:ea typeface="Calibri" pitchFamily="34" charset="-122"/>
                <a:cs typeface="Calibri" pitchFamily="34" charset="-120"/>
              </a:rPr>
              <a:t>Calcio, vitamina D y densitometría si hay glucocorticoides; vigilar toxicidad de los FAME.</a:t>
            </a:r>
            <a:endParaRPr lang="en-US" sz="1050" dirty="0"/>
          </a:p>
        </p:txBody>
      </p:sp>
      <p:sp>
        <p:nvSpPr>
          <p:cNvPr id="36"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A78BFA"/>
          </a:solidFill>
          <a:ln w="12700">
            <a:solidFill>
              <a:srgbClr val="A78BFA"/>
            </a:solidFill>
            <a:prstDash val="solid"/>
          </a:ln>
        </p:spPr>
        <p:txBody>
          <a:bodyPr/>
          <a:lstStyle/>
          <a:p>
            <a:endParaRPr lang="es-CO"/>
          </a:p>
        </p:txBody>
      </p:sp>
      <p:sp>
        <p:nvSpPr>
          <p:cNvPr id="3" name="Text 1"/>
          <p:cNvSpPr txBox="1"/>
          <p:nvPr/>
        </p:nvSpPr>
        <p:spPr>
          <a:xfrm>
            <a:off x="685800" y="219456"/>
            <a:ext cx="7772400" cy="256032"/>
          </a:xfrm>
          <a:prstGeom prst="rect">
            <a:avLst/>
          </a:prstGeom>
          <a:noFill/>
          <a:ln/>
        </p:spPr>
        <p:txBody>
          <a:bodyPr wrap="square" lIns="0" tIns="0" rIns="0" bIns="0" rtlCol="0" anchor="ctr"/>
          <a:lstStyle/>
          <a:p>
            <a:pPr marL="0" indent="0">
              <a:buNone/>
            </a:pPr>
            <a:r>
              <a:rPr lang="en-US" sz="1050" b="1" kern="0" spc="400" dirty="0">
                <a:solidFill>
                  <a:srgbClr val="6A4CCF"/>
                </a:solidFill>
                <a:latin typeface="Calibri" pitchFamily="34" charset="0"/>
                <a:ea typeface="Calibri" pitchFamily="34" charset="-122"/>
                <a:cs typeface="Calibri" pitchFamily="34" charset="-120"/>
              </a:rPr>
              <a:t>PERLA 12 · POR QUÉ IMPORTA</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600" b="1" dirty="0">
                <a:solidFill>
                  <a:srgbClr val="15193A"/>
                </a:solidFill>
                <a:latin typeface="Calibri" pitchFamily="34" charset="0"/>
                <a:ea typeface="Calibri" pitchFamily="34" charset="-122"/>
                <a:cs typeface="Calibri" pitchFamily="34" charset="-120"/>
              </a:rPr>
              <a:t>Las cifras que justifican el seguimiento sistémico</a:t>
            </a:r>
            <a:endParaRPr lang="en-US" sz="2600" dirty="0"/>
          </a:p>
        </p:txBody>
      </p:sp>
      <p:sp>
        <p:nvSpPr>
          <p:cNvPr id="5" name="Text 3"/>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[1] Smolen JS, et al. JAMA 2026</a:t>
            </a:r>
            <a:endParaRPr lang="en-US" sz="850" dirty="0"/>
          </a:p>
        </p:txBody>
      </p:sp>
      <p:sp>
        <p:nvSpPr>
          <p:cNvPr id="6" name="Shape 4"/>
          <p:cNvSpPr/>
          <p:nvPr/>
        </p:nvSpPr>
        <p:spPr>
          <a:xfrm>
            <a:off x="457200" y="1188720"/>
            <a:ext cx="4023360" cy="1645920"/>
          </a:xfrm>
          <a:prstGeom prst="roundRect">
            <a:avLst>
              <a:gd name="adj" fmla="val 5556"/>
            </a:avLst>
          </a:prstGeom>
          <a:solidFill>
            <a:srgbClr val="FF4D6D">
              <a:alpha val="12000"/>
            </a:srgbClr>
          </a:solidFill>
          <a:ln w="15875">
            <a:solidFill>
              <a:srgbClr val="FF4D6D"/>
            </a:solidFill>
            <a:prstDash val="solid"/>
          </a:ln>
        </p:spPr>
        <p:txBody>
          <a:bodyPr/>
          <a:lstStyle/>
          <a:p>
            <a:endParaRPr lang="es-CO"/>
          </a:p>
        </p:txBody>
      </p:sp>
      <p:sp>
        <p:nvSpPr>
          <p:cNvPr id="7" name="Text 5"/>
          <p:cNvSpPr txBox="1"/>
          <p:nvPr/>
        </p:nvSpPr>
        <p:spPr>
          <a:xfrm>
            <a:off x="640080" y="1298448"/>
            <a:ext cx="3657600" cy="777240"/>
          </a:xfrm>
          <a:prstGeom prst="rect">
            <a:avLst/>
          </a:prstGeom>
          <a:noFill/>
          <a:ln/>
        </p:spPr>
        <p:txBody>
          <a:bodyPr wrap="square" lIns="0" tIns="0" rIns="0" bIns="0" rtlCol="0" anchor="ctr"/>
          <a:lstStyle/>
          <a:p>
            <a:pPr marL="0" indent="0">
              <a:buNone/>
            </a:pPr>
            <a:r>
              <a:rPr lang="en-US" sz="2800" b="1" dirty="0">
                <a:solidFill>
                  <a:srgbClr val="C81E43"/>
                </a:solidFill>
                <a:latin typeface="Calibri" pitchFamily="34" charset="0"/>
                <a:ea typeface="Calibri" pitchFamily="34" charset="-122"/>
                <a:cs typeface="Calibri" pitchFamily="34" charset="-120"/>
              </a:rPr>
              <a:t>5,9 % vs 1,5 %</a:t>
            </a:r>
            <a:endParaRPr lang="en-US" sz="2800" dirty="0"/>
          </a:p>
        </p:txBody>
      </p:sp>
      <p:sp>
        <p:nvSpPr>
          <p:cNvPr id="8" name="Text 6"/>
          <p:cNvSpPr txBox="1"/>
          <p:nvPr/>
        </p:nvSpPr>
        <p:spPr>
          <a:xfrm>
            <a:off x="640080" y="2103120"/>
            <a:ext cx="3657600" cy="685800"/>
          </a:xfrm>
          <a:prstGeom prst="rect">
            <a:avLst/>
          </a:prstGeom>
          <a:noFill/>
          <a:ln/>
        </p:spPr>
        <p:txBody>
          <a:bodyPr wrap="square" lIns="0" tIns="0" rIns="0" bIns="0" rtlCol="0" anchor="t"/>
          <a:lstStyle/>
          <a:p>
            <a:pPr marL="0" indent="0">
              <a:buNone/>
            </a:pPr>
            <a:r>
              <a:rPr lang="en-US" sz="1200" dirty="0">
                <a:solidFill>
                  <a:srgbClr val="15193A"/>
                </a:solidFill>
                <a:latin typeface="Calibri" pitchFamily="34" charset="0"/>
                <a:ea typeface="Calibri" pitchFamily="34" charset="-122"/>
                <a:cs typeface="Calibri" pitchFamily="34" charset="-120"/>
              </a:rPr>
              <a:t>infección grave a 12 meses con biológico vs población general</a:t>
            </a:r>
            <a:endParaRPr lang="en-US" sz="1200" dirty="0"/>
          </a:p>
        </p:txBody>
      </p:sp>
      <p:sp>
        <p:nvSpPr>
          <p:cNvPr id="9" name="Shape 7"/>
          <p:cNvSpPr/>
          <p:nvPr/>
        </p:nvSpPr>
        <p:spPr>
          <a:xfrm>
            <a:off x="4663440" y="1188720"/>
            <a:ext cx="4023360" cy="1645920"/>
          </a:xfrm>
          <a:prstGeom prst="roundRect">
            <a:avLst>
              <a:gd name="adj" fmla="val 5556"/>
            </a:avLst>
          </a:prstGeom>
          <a:solidFill>
            <a:srgbClr val="FFB703">
              <a:alpha val="12000"/>
            </a:srgbClr>
          </a:solidFill>
          <a:ln w="15875">
            <a:solidFill>
              <a:srgbClr val="FFB703"/>
            </a:solidFill>
            <a:prstDash val="solid"/>
          </a:ln>
        </p:spPr>
        <p:txBody>
          <a:bodyPr/>
          <a:lstStyle/>
          <a:p>
            <a:endParaRPr lang="es-CO"/>
          </a:p>
        </p:txBody>
      </p:sp>
      <p:sp>
        <p:nvSpPr>
          <p:cNvPr id="10" name="Text 8"/>
          <p:cNvSpPr txBox="1"/>
          <p:nvPr/>
        </p:nvSpPr>
        <p:spPr>
          <a:xfrm>
            <a:off x="4846320" y="1298448"/>
            <a:ext cx="3657600" cy="777240"/>
          </a:xfrm>
          <a:prstGeom prst="rect">
            <a:avLst/>
          </a:prstGeom>
          <a:noFill/>
          <a:ln/>
        </p:spPr>
        <p:txBody>
          <a:bodyPr wrap="square" lIns="0" tIns="0" rIns="0" bIns="0" rtlCol="0" anchor="ctr"/>
          <a:lstStyle/>
          <a:p>
            <a:pPr marL="0" indent="0">
              <a:buNone/>
            </a:pPr>
            <a:r>
              <a:rPr lang="en-US" sz="3600" b="1" dirty="0">
                <a:solidFill>
                  <a:srgbClr val="8A5E00"/>
                </a:solidFill>
                <a:latin typeface="Calibri" pitchFamily="34" charset="0"/>
                <a:ea typeface="Calibri" pitchFamily="34" charset="-122"/>
                <a:cs typeface="Calibri" pitchFamily="34" charset="-120"/>
              </a:rPr>
              <a:t>≤ 7,5 %</a:t>
            </a:r>
            <a:endParaRPr lang="en-US" sz="3600" dirty="0"/>
          </a:p>
        </p:txBody>
      </p:sp>
      <p:sp>
        <p:nvSpPr>
          <p:cNvPr id="11" name="Text 9"/>
          <p:cNvSpPr txBox="1"/>
          <p:nvPr/>
        </p:nvSpPr>
        <p:spPr>
          <a:xfrm>
            <a:off x="4846320" y="2103120"/>
            <a:ext cx="3657600" cy="685800"/>
          </a:xfrm>
          <a:prstGeom prst="rect">
            <a:avLst/>
          </a:prstGeom>
          <a:noFill/>
          <a:ln/>
        </p:spPr>
        <p:txBody>
          <a:bodyPr wrap="square" lIns="0" tIns="0" rIns="0" bIns="0" rtlCol="0" anchor="t"/>
          <a:lstStyle/>
          <a:p>
            <a:pPr marL="0" indent="0">
              <a:buNone/>
            </a:pPr>
            <a:r>
              <a:rPr lang="en-US" sz="1200" dirty="0">
                <a:solidFill>
                  <a:srgbClr val="15193A"/>
                </a:solidFill>
                <a:latin typeface="Calibri" pitchFamily="34" charset="0"/>
                <a:ea typeface="Calibri" pitchFamily="34" charset="-122"/>
                <a:cs typeface="Calibri" pitchFamily="34" charset="-120"/>
              </a:rPr>
              <a:t>herpes zóster al año con inhibidores JAK</a:t>
            </a:r>
            <a:endParaRPr lang="en-US" sz="1200" dirty="0"/>
          </a:p>
        </p:txBody>
      </p:sp>
      <p:sp>
        <p:nvSpPr>
          <p:cNvPr id="12" name="Shape 10"/>
          <p:cNvSpPr/>
          <p:nvPr/>
        </p:nvSpPr>
        <p:spPr>
          <a:xfrm>
            <a:off x="457200" y="2971800"/>
            <a:ext cx="4023360" cy="1645920"/>
          </a:xfrm>
          <a:prstGeom prst="roundRect">
            <a:avLst>
              <a:gd name="adj" fmla="val 5556"/>
            </a:avLst>
          </a:prstGeom>
          <a:solidFill>
            <a:srgbClr val="4CC9F0">
              <a:alpha val="12000"/>
            </a:srgbClr>
          </a:solidFill>
          <a:ln w="15875">
            <a:solidFill>
              <a:srgbClr val="4CC9F0"/>
            </a:solidFill>
            <a:prstDash val="solid"/>
          </a:ln>
        </p:spPr>
        <p:txBody>
          <a:bodyPr/>
          <a:lstStyle/>
          <a:p>
            <a:endParaRPr lang="es-CO"/>
          </a:p>
        </p:txBody>
      </p:sp>
      <p:sp>
        <p:nvSpPr>
          <p:cNvPr id="13" name="Text 11"/>
          <p:cNvSpPr txBox="1"/>
          <p:nvPr/>
        </p:nvSpPr>
        <p:spPr>
          <a:xfrm>
            <a:off x="640080" y="3081528"/>
            <a:ext cx="3657600" cy="777240"/>
          </a:xfrm>
          <a:prstGeom prst="rect">
            <a:avLst/>
          </a:prstGeom>
          <a:noFill/>
          <a:ln/>
        </p:spPr>
        <p:txBody>
          <a:bodyPr wrap="square" lIns="0" tIns="0" rIns="0" bIns="0" rtlCol="0" anchor="ctr"/>
          <a:lstStyle/>
          <a:p>
            <a:pPr marL="0" indent="0">
              <a:buNone/>
            </a:pPr>
            <a:r>
              <a:rPr lang="en-US" sz="3600" b="1" dirty="0">
                <a:solidFill>
                  <a:srgbClr val="0A6F98"/>
                </a:solidFill>
                <a:latin typeface="Calibri" pitchFamily="34" charset="0"/>
                <a:ea typeface="Calibri" pitchFamily="34" charset="-122"/>
                <a:cs typeface="Calibri" pitchFamily="34" charset="-120"/>
              </a:rPr>
              <a:t>19,4 %</a:t>
            </a:r>
            <a:endParaRPr lang="en-US" sz="3600" dirty="0"/>
          </a:p>
        </p:txBody>
      </p:sp>
      <p:sp>
        <p:nvSpPr>
          <p:cNvPr id="14" name="Text 12"/>
          <p:cNvSpPr txBox="1"/>
          <p:nvPr/>
        </p:nvSpPr>
        <p:spPr>
          <a:xfrm>
            <a:off x="640080" y="3886200"/>
            <a:ext cx="3657600" cy="685800"/>
          </a:xfrm>
          <a:prstGeom prst="rect">
            <a:avLst/>
          </a:prstGeom>
          <a:noFill/>
          <a:ln/>
        </p:spPr>
        <p:txBody>
          <a:bodyPr wrap="square" lIns="0" tIns="0" rIns="0" bIns="0" rtlCol="0" anchor="t"/>
          <a:lstStyle/>
          <a:p>
            <a:pPr marL="0" indent="0">
              <a:buNone/>
            </a:pPr>
            <a:r>
              <a:rPr lang="en-US" sz="1200" dirty="0">
                <a:solidFill>
                  <a:srgbClr val="15193A"/>
                </a:solidFill>
                <a:latin typeface="Calibri" pitchFamily="34" charset="0"/>
                <a:ea typeface="Calibri" pitchFamily="34" charset="-122"/>
                <a:cs typeface="Calibri" pitchFamily="34" charset="-120"/>
              </a:rPr>
              <a:t>de pacientes con AR temprana desarrollan manifestaciones extraarticulares (22 % de ellas, fibrosis pulmonar)</a:t>
            </a:r>
            <a:endParaRPr lang="en-US" sz="1200" dirty="0"/>
          </a:p>
        </p:txBody>
      </p:sp>
      <p:sp>
        <p:nvSpPr>
          <p:cNvPr id="15" name="Shape 13"/>
          <p:cNvSpPr/>
          <p:nvPr/>
        </p:nvSpPr>
        <p:spPr>
          <a:xfrm>
            <a:off x="4663440" y="2971800"/>
            <a:ext cx="4023360" cy="1645920"/>
          </a:xfrm>
          <a:prstGeom prst="roundRect">
            <a:avLst>
              <a:gd name="adj" fmla="val 5556"/>
            </a:avLst>
          </a:prstGeom>
          <a:solidFill>
            <a:srgbClr val="A78BFA">
              <a:alpha val="12000"/>
            </a:srgbClr>
          </a:solidFill>
          <a:ln w="15875">
            <a:solidFill>
              <a:srgbClr val="A78BFA"/>
            </a:solidFill>
            <a:prstDash val="solid"/>
          </a:ln>
        </p:spPr>
        <p:txBody>
          <a:bodyPr/>
          <a:lstStyle/>
          <a:p>
            <a:endParaRPr lang="es-CO"/>
          </a:p>
        </p:txBody>
      </p:sp>
      <p:sp>
        <p:nvSpPr>
          <p:cNvPr id="16" name="Text 14"/>
          <p:cNvSpPr txBox="1"/>
          <p:nvPr/>
        </p:nvSpPr>
        <p:spPr>
          <a:xfrm>
            <a:off x="4846320" y="3081528"/>
            <a:ext cx="3657600" cy="777240"/>
          </a:xfrm>
          <a:prstGeom prst="rect">
            <a:avLst/>
          </a:prstGeom>
          <a:noFill/>
          <a:ln/>
        </p:spPr>
        <p:txBody>
          <a:bodyPr wrap="square" lIns="0" tIns="0" rIns="0" bIns="0" rtlCol="0" anchor="ctr"/>
          <a:lstStyle/>
          <a:p>
            <a:pPr marL="0" indent="0">
              <a:buNone/>
            </a:pPr>
            <a:r>
              <a:rPr lang="en-US" sz="3600" b="1" dirty="0">
                <a:solidFill>
                  <a:srgbClr val="6A4CCF"/>
                </a:solidFill>
                <a:latin typeface="Calibri" pitchFamily="34" charset="0"/>
                <a:ea typeface="Calibri" pitchFamily="34" charset="-122"/>
                <a:cs typeface="Calibri" pitchFamily="34" charset="-120"/>
              </a:rPr>
              <a:t>1,5 · 1,4</a:t>
            </a:r>
            <a:endParaRPr lang="en-US" sz="3600" dirty="0"/>
          </a:p>
        </p:txBody>
      </p:sp>
      <p:sp>
        <p:nvSpPr>
          <p:cNvPr id="17" name="Text 15"/>
          <p:cNvSpPr txBox="1"/>
          <p:nvPr/>
        </p:nvSpPr>
        <p:spPr>
          <a:xfrm>
            <a:off x="4846320" y="3886200"/>
            <a:ext cx="3657600" cy="685800"/>
          </a:xfrm>
          <a:prstGeom prst="rect">
            <a:avLst/>
          </a:prstGeom>
          <a:noFill/>
          <a:ln/>
        </p:spPr>
        <p:txBody>
          <a:bodyPr wrap="square" lIns="0" tIns="0" rIns="0" bIns="0" rtlCol="0" anchor="t"/>
          <a:lstStyle/>
          <a:p>
            <a:pPr marL="0" indent="0">
              <a:buNone/>
            </a:pPr>
            <a:r>
              <a:rPr lang="en-US" sz="1200" dirty="0">
                <a:solidFill>
                  <a:srgbClr val="15193A"/>
                </a:solidFill>
                <a:latin typeface="Calibri" pitchFamily="34" charset="0"/>
                <a:ea typeface="Calibri" pitchFamily="34" charset="-122"/>
                <a:cs typeface="Calibri" pitchFamily="34" charset="-120"/>
              </a:rPr>
              <a:t>razón de mortalidad estandarizada en mujeres y hombres, explicada por la alta actividad</a:t>
            </a:r>
            <a:endParaRPr lang="en-US" sz="120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FF4D6D"/>
          </a:solidFill>
          <a:ln w="12700">
            <a:solidFill>
              <a:srgbClr val="FF4D6D"/>
            </a:solidFill>
            <a:prstDash val="solid"/>
          </a:ln>
        </p:spPr>
        <p:txBody>
          <a:bodyPr/>
          <a:lstStyle/>
          <a:p>
            <a:endParaRPr lang="es-CO"/>
          </a:p>
        </p:txBody>
      </p:sp>
      <p:sp>
        <p:nvSpPr>
          <p:cNvPr id="3" name="Text 1"/>
          <p:cNvSpPr txBox="1"/>
          <p:nvPr/>
        </p:nvSpPr>
        <p:spPr>
          <a:xfrm>
            <a:off x="685800" y="219456"/>
            <a:ext cx="7772400" cy="256032"/>
          </a:xfrm>
          <a:prstGeom prst="rect">
            <a:avLst/>
          </a:prstGeom>
          <a:noFill/>
          <a:ln/>
        </p:spPr>
        <p:txBody>
          <a:bodyPr wrap="square" lIns="0" tIns="0" rIns="0" bIns="0" rtlCol="0" anchor="ctr"/>
          <a:lstStyle/>
          <a:p>
            <a:pPr marL="0" indent="0">
              <a:buNone/>
            </a:pPr>
            <a:r>
              <a:rPr lang="en-US" sz="1050" b="1" kern="0" spc="400" dirty="0">
                <a:solidFill>
                  <a:srgbClr val="C81E43"/>
                </a:solidFill>
                <a:latin typeface="Calibri" pitchFamily="34" charset="0"/>
                <a:ea typeface="Calibri" pitchFamily="34" charset="-122"/>
                <a:cs typeface="Calibri" pitchFamily="34" charset="-120"/>
              </a:rPr>
              <a:t>RESUMEN</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600" b="1" dirty="0">
                <a:solidFill>
                  <a:srgbClr val="15193A"/>
                </a:solidFill>
                <a:latin typeface="Calibri" pitchFamily="34" charset="0"/>
                <a:ea typeface="Calibri" pitchFamily="34" charset="-122"/>
                <a:cs typeface="Calibri" pitchFamily="34" charset="-120"/>
              </a:rPr>
              <a:t>Las 12 perlas de un vistazo</a:t>
            </a:r>
            <a:endParaRPr lang="en-US" sz="2600" dirty="0"/>
          </a:p>
        </p:txBody>
      </p:sp>
      <p:sp>
        <p:nvSpPr>
          <p:cNvPr id="5" name="Text 3"/>
          <p:cNvSpPr txBox="1"/>
          <p:nvPr/>
        </p:nvSpPr>
        <p:spPr>
          <a:xfrm>
            <a:off x="457200" y="4837176"/>
            <a:ext cx="7680960" cy="228600"/>
          </a:xfrm>
          <a:prstGeom prst="rect">
            <a:avLst/>
          </a:prstGeom>
          <a:noFill/>
          <a:ln/>
        </p:spPr>
        <p:txBody>
          <a:bodyPr wrap="square" lIns="0" tIns="0" rIns="0" bIns="0" rtlCol="0" anchor="ctr"/>
          <a:lstStyle/>
          <a:p>
            <a:pPr marL="0" indent="0">
              <a:buNone/>
            </a:pPr>
            <a:r>
              <a:rPr lang="en-US" sz="850" b="1" dirty="0">
                <a:solidFill>
                  <a:srgbClr val="0A6F98"/>
                </a:solidFill>
                <a:latin typeface="Calibri" pitchFamily="34" charset="0"/>
                <a:ea typeface="Calibri" pitchFamily="34" charset="-122"/>
                <a:cs typeface="Calibri" pitchFamily="34" charset="-120"/>
              </a:rPr>
              <a:t>Bibliografía: </a:t>
            </a:r>
            <a:r>
              <a:rPr lang="en-US" sz="850" dirty="0">
                <a:solidFill>
                  <a:srgbClr val="474F70"/>
                </a:solidFill>
                <a:latin typeface="Calibri" pitchFamily="34" charset="0"/>
                <a:ea typeface="Calibri" pitchFamily="34" charset="-122"/>
                <a:cs typeface="Calibri" pitchFamily="34" charset="-120"/>
              </a:rPr>
              <a:t>Referencias [1] a [16] (ver última diapositiva)</a:t>
            </a:r>
            <a:endParaRPr lang="en-US" sz="850" dirty="0"/>
          </a:p>
        </p:txBody>
      </p:sp>
      <p:sp>
        <p:nvSpPr>
          <p:cNvPr id="6" name="Shape 4"/>
          <p:cNvSpPr/>
          <p:nvPr/>
        </p:nvSpPr>
        <p:spPr>
          <a:xfrm>
            <a:off x="457200" y="1188720"/>
            <a:ext cx="1965960" cy="1051560"/>
          </a:xfrm>
          <a:prstGeom prst="roundRect">
            <a:avLst>
              <a:gd name="adj" fmla="val 8696"/>
            </a:avLst>
          </a:prstGeom>
          <a:solidFill>
            <a:srgbClr val="4CC9F0">
              <a:alpha val="12000"/>
            </a:srgbClr>
          </a:solidFill>
          <a:ln w="15875">
            <a:solidFill>
              <a:srgbClr val="4CC9F0"/>
            </a:solidFill>
            <a:prstDash val="solid"/>
          </a:ln>
        </p:spPr>
        <p:txBody>
          <a:bodyPr/>
          <a:lstStyle/>
          <a:p>
            <a:endParaRPr lang="es-CO"/>
          </a:p>
        </p:txBody>
      </p:sp>
      <p:sp>
        <p:nvSpPr>
          <p:cNvPr id="7" name="Text 5"/>
          <p:cNvSpPr txBox="1"/>
          <p:nvPr/>
        </p:nvSpPr>
        <p:spPr>
          <a:xfrm>
            <a:off x="548640" y="1188720"/>
            <a:ext cx="685800" cy="1051560"/>
          </a:xfrm>
          <a:prstGeom prst="rect">
            <a:avLst/>
          </a:prstGeom>
          <a:noFill/>
          <a:ln/>
        </p:spPr>
        <p:txBody>
          <a:bodyPr wrap="square" lIns="0" tIns="0" rIns="0" bIns="0" rtlCol="0" anchor="ctr"/>
          <a:lstStyle/>
          <a:p>
            <a:pPr marL="0" indent="0">
              <a:buNone/>
            </a:pPr>
            <a:r>
              <a:rPr lang="en-US" sz="2800" b="1" dirty="0">
                <a:solidFill>
                  <a:srgbClr val="0A6F98"/>
                </a:solidFill>
                <a:latin typeface="Calibri" pitchFamily="34" charset="0"/>
                <a:ea typeface="Calibri" pitchFamily="34" charset="-122"/>
                <a:cs typeface="Calibri" pitchFamily="34" charset="-120"/>
              </a:rPr>
              <a:t>01</a:t>
            </a:r>
            <a:endParaRPr lang="en-US" sz="2800" dirty="0"/>
          </a:p>
        </p:txBody>
      </p:sp>
      <p:sp>
        <p:nvSpPr>
          <p:cNvPr id="8" name="Text 6"/>
          <p:cNvSpPr txBox="1"/>
          <p:nvPr/>
        </p:nvSpPr>
        <p:spPr>
          <a:xfrm>
            <a:off x="1234440" y="1188720"/>
            <a:ext cx="1143000" cy="1051560"/>
          </a:xfrm>
          <a:prstGeom prst="rect">
            <a:avLst/>
          </a:prstGeom>
          <a:noFill/>
          <a:ln/>
        </p:spPr>
        <p:txBody>
          <a:bodyPr wrap="square" lIns="0" tIns="0" rIns="0" bIns="0" rtlCol="0" anchor="ctr"/>
          <a:lstStyle/>
          <a:p>
            <a:pPr marL="0" indent="0">
              <a:buNone/>
            </a:pPr>
            <a:r>
              <a:rPr lang="en-US" sz="1150" b="1" dirty="0">
                <a:solidFill>
                  <a:srgbClr val="15193A"/>
                </a:solidFill>
                <a:latin typeface="Calibri" pitchFamily="34" charset="0"/>
                <a:ea typeface="Calibri" pitchFamily="34" charset="-122"/>
                <a:cs typeface="Calibri" pitchFamily="34" charset="-120"/>
              </a:rPr>
              <a:t>Busca la sinovitis</a:t>
            </a:r>
            <a:endParaRPr lang="en-US" sz="1150" dirty="0"/>
          </a:p>
        </p:txBody>
      </p:sp>
      <p:sp>
        <p:nvSpPr>
          <p:cNvPr id="9" name="Shape 7"/>
          <p:cNvSpPr/>
          <p:nvPr/>
        </p:nvSpPr>
        <p:spPr>
          <a:xfrm>
            <a:off x="2560320" y="1188720"/>
            <a:ext cx="1965960" cy="1051560"/>
          </a:xfrm>
          <a:prstGeom prst="roundRect">
            <a:avLst>
              <a:gd name="adj" fmla="val 8696"/>
            </a:avLst>
          </a:prstGeom>
          <a:solidFill>
            <a:srgbClr val="4CC9F0">
              <a:alpha val="12000"/>
            </a:srgbClr>
          </a:solidFill>
          <a:ln w="15875">
            <a:solidFill>
              <a:srgbClr val="4CC9F0"/>
            </a:solidFill>
            <a:prstDash val="solid"/>
          </a:ln>
        </p:spPr>
        <p:txBody>
          <a:bodyPr/>
          <a:lstStyle/>
          <a:p>
            <a:endParaRPr lang="es-CO"/>
          </a:p>
        </p:txBody>
      </p:sp>
      <p:sp>
        <p:nvSpPr>
          <p:cNvPr id="10" name="Text 8"/>
          <p:cNvSpPr txBox="1"/>
          <p:nvPr/>
        </p:nvSpPr>
        <p:spPr>
          <a:xfrm>
            <a:off x="2651760" y="1188720"/>
            <a:ext cx="685800" cy="1051560"/>
          </a:xfrm>
          <a:prstGeom prst="rect">
            <a:avLst/>
          </a:prstGeom>
          <a:noFill/>
          <a:ln/>
        </p:spPr>
        <p:txBody>
          <a:bodyPr wrap="square" lIns="0" tIns="0" rIns="0" bIns="0" rtlCol="0" anchor="ctr"/>
          <a:lstStyle/>
          <a:p>
            <a:pPr marL="0" indent="0">
              <a:buNone/>
            </a:pPr>
            <a:r>
              <a:rPr lang="en-US" sz="2800" b="1" dirty="0">
                <a:solidFill>
                  <a:srgbClr val="0A6F98"/>
                </a:solidFill>
                <a:latin typeface="Calibri" pitchFamily="34" charset="0"/>
                <a:ea typeface="Calibri" pitchFamily="34" charset="-122"/>
                <a:cs typeface="Calibri" pitchFamily="34" charset="-120"/>
              </a:rPr>
              <a:t>02</a:t>
            </a:r>
            <a:endParaRPr lang="en-US" sz="2800" dirty="0"/>
          </a:p>
        </p:txBody>
      </p:sp>
      <p:sp>
        <p:nvSpPr>
          <p:cNvPr id="11" name="Text 9"/>
          <p:cNvSpPr txBox="1"/>
          <p:nvPr/>
        </p:nvSpPr>
        <p:spPr>
          <a:xfrm>
            <a:off x="3337560" y="1188720"/>
            <a:ext cx="1143000" cy="1051560"/>
          </a:xfrm>
          <a:prstGeom prst="rect">
            <a:avLst/>
          </a:prstGeom>
          <a:noFill/>
          <a:ln/>
        </p:spPr>
        <p:txBody>
          <a:bodyPr wrap="square" lIns="0" tIns="0" rIns="0" bIns="0" rtlCol="0" anchor="ctr"/>
          <a:lstStyle/>
          <a:p>
            <a:pPr marL="0" indent="0">
              <a:buNone/>
            </a:pPr>
            <a:r>
              <a:rPr lang="en-US" sz="1150" b="1" dirty="0">
                <a:solidFill>
                  <a:srgbClr val="15193A"/>
                </a:solidFill>
                <a:latin typeface="Calibri" pitchFamily="34" charset="0"/>
                <a:ea typeface="Calibri" pitchFamily="34" charset="-122"/>
                <a:cs typeface="Calibri" pitchFamily="34" charset="-120"/>
              </a:rPr>
              <a:t>Mira la distribución</a:t>
            </a:r>
            <a:endParaRPr lang="en-US" sz="1150" dirty="0"/>
          </a:p>
        </p:txBody>
      </p:sp>
      <p:sp>
        <p:nvSpPr>
          <p:cNvPr id="12" name="Shape 10"/>
          <p:cNvSpPr/>
          <p:nvPr/>
        </p:nvSpPr>
        <p:spPr>
          <a:xfrm>
            <a:off x="4663440" y="1188720"/>
            <a:ext cx="1965960" cy="1051560"/>
          </a:xfrm>
          <a:prstGeom prst="roundRect">
            <a:avLst>
              <a:gd name="adj" fmla="val 8696"/>
            </a:avLst>
          </a:prstGeom>
          <a:solidFill>
            <a:srgbClr val="4CC9F0">
              <a:alpha val="12000"/>
            </a:srgbClr>
          </a:solidFill>
          <a:ln w="15875">
            <a:solidFill>
              <a:srgbClr val="4CC9F0"/>
            </a:solidFill>
            <a:prstDash val="solid"/>
          </a:ln>
        </p:spPr>
        <p:txBody>
          <a:bodyPr/>
          <a:lstStyle/>
          <a:p>
            <a:endParaRPr lang="es-CO"/>
          </a:p>
        </p:txBody>
      </p:sp>
      <p:sp>
        <p:nvSpPr>
          <p:cNvPr id="13" name="Text 11"/>
          <p:cNvSpPr txBox="1"/>
          <p:nvPr/>
        </p:nvSpPr>
        <p:spPr>
          <a:xfrm>
            <a:off x="4754880" y="1188720"/>
            <a:ext cx="685800" cy="1051560"/>
          </a:xfrm>
          <a:prstGeom prst="rect">
            <a:avLst/>
          </a:prstGeom>
          <a:noFill/>
          <a:ln/>
        </p:spPr>
        <p:txBody>
          <a:bodyPr wrap="square" lIns="0" tIns="0" rIns="0" bIns="0" rtlCol="0" anchor="ctr"/>
          <a:lstStyle/>
          <a:p>
            <a:pPr marL="0" indent="0">
              <a:buNone/>
            </a:pPr>
            <a:r>
              <a:rPr lang="en-US" sz="2800" b="1" dirty="0">
                <a:solidFill>
                  <a:srgbClr val="0A6F98"/>
                </a:solidFill>
                <a:latin typeface="Calibri" pitchFamily="34" charset="0"/>
                <a:ea typeface="Calibri" pitchFamily="34" charset="-122"/>
                <a:cs typeface="Calibri" pitchFamily="34" charset="-120"/>
              </a:rPr>
              <a:t>03</a:t>
            </a:r>
            <a:endParaRPr lang="en-US" sz="2800" dirty="0"/>
          </a:p>
        </p:txBody>
      </p:sp>
      <p:sp>
        <p:nvSpPr>
          <p:cNvPr id="14" name="Text 12"/>
          <p:cNvSpPr txBox="1"/>
          <p:nvPr/>
        </p:nvSpPr>
        <p:spPr>
          <a:xfrm>
            <a:off x="5440680" y="1188720"/>
            <a:ext cx="1143000" cy="1051560"/>
          </a:xfrm>
          <a:prstGeom prst="rect">
            <a:avLst/>
          </a:prstGeom>
          <a:noFill/>
          <a:ln/>
        </p:spPr>
        <p:txBody>
          <a:bodyPr wrap="square" lIns="0" tIns="0" rIns="0" bIns="0" rtlCol="0" anchor="ctr"/>
          <a:lstStyle/>
          <a:p>
            <a:pPr marL="0" indent="0">
              <a:buNone/>
            </a:pPr>
            <a:r>
              <a:rPr lang="en-US" sz="1150" b="1" dirty="0">
                <a:solidFill>
                  <a:srgbClr val="15193A"/>
                </a:solidFill>
                <a:latin typeface="Calibri" pitchFamily="34" charset="0"/>
                <a:ea typeface="Calibri" pitchFamily="34" charset="-122"/>
                <a:cs typeface="Calibri" pitchFamily="34" charset="-120"/>
              </a:rPr>
              <a:t>Negativo no descarta</a:t>
            </a:r>
            <a:endParaRPr lang="en-US" sz="1150" dirty="0"/>
          </a:p>
        </p:txBody>
      </p:sp>
      <p:sp>
        <p:nvSpPr>
          <p:cNvPr id="15" name="Shape 13"/>
          <p:cNvSpPr/>
          <p:nvPr/>
        </p:nvSpPr>
        <p:spPr>
          <a:xfrm>
            <a:off x="6766560" y="1188720"/>
            <a:ext cx="1965960" cy="1051560"/>
          </a:xfrm>
          <a:prstGeom prst="roundRect">
            <a:avLst>
              <a:gd name="adj" fmla="val 8696"/>
            </a:avLst>
          </a:prstGeom>
          <a:solidFill>
            <a:srgbClr val="4CC9F0">
              <a:alpha val="12000"/>
            </a:srgbClr>
          </a:solidFill>
          <a:ln w="15875">
            <a:solidFill>
              <a:srgbClr val="4CC9F0"/>
            </a:solidFill>
            <a:prstDash val="solid"/>
          </a:ln>
        </p:spPr>
        <p:txBody>
          <a:bodyPr/>
          <a:lstStyle/>
          <a:p>
            <a:endParaRPr lang="es-CO"/>
          </a:p>
        </p:txBody>
      </p:sp>
      <p:sp>
        <p:nvSpPr>
          <p:cNvPr id="16" name="Text 14"/>
          <p:cNvSpPr txBox="1"/>
          <p:nvPr/>
        </p:nvSpPr>
        <p:spPr>
          <a:xfrm>
            <a:off x="6858000" y="1188720"/>
            <a:ext cx="685800" cy="1051560"/>
          </a:xfrm>
          <a:prstGeom prst="rect">
            <a:avLst/>
          </a:prstGeom>
          <a:noFill/>
          <a:ln/>
        </p:spPr>
        <p:txBody>
          <a:bodyPr wrap="square" lIns="0" tIns="0" rIns="0" bIns="0" rtlCol="0" anchor="ctr"/>
          <a:lstStyle/>
          <a:p>
            <a:pPr marL="0" indent="0">
              <a:buNone/>
            </a:pPr>
            <a:r>
              <a:rPr lang="en-US" sz="2800" b="1" dirty="0">
                <a:solidFill>
                  <a:srgbClr val="0A6F98"/>
                </a:solidFill>
                <a:latin typeface="Calibri" pitchFamily="34" charset="0"/>
                <a:ea typeface="Calibri" pitchFamily="34" charset="-122"/>
                <a:cs typeface="Calibri" pitchFamily="34" charset="-120"/>
              </a:rPr>
              <a:t>04</a:t>
            </a:r>
            <a:endParaRPr lang="en-US" sz="2800" dirty="0"/>
          </a:p>
        </p:txBody>
      </p:sp>
      <p:sp>
        <p:nvSpPr>
          <p:cNvPr id="17" name="Text 15"/>
          <p:cNvSpPr txBox="1"/>
          <p:nvPr/>
        </p:nvSpPr>
        <p:spPr>
          <a:xfrm>
            <a:off x="7543800" y="1188720"/>
            <a:ext cx="1143000" cy="1051560"/>
          </a:xfrm>
          <a:prstGeom prst="rect">
            <a:avLst/>
          </a:prstGeom>
          <a:noFill/>
          <a:ln/>
        </p:spPr>
        <p:txBody>
          <a:bodyPr wrap="square" lIns="0" tIns="0" rIns="0" bIns="0" rtlCol="0" anchor="ctr"/>
          <a:lstStyle/>
          <a:p>
            <a:pPr marL="0" indent="0">
              <a:buNone/>
            </a:pPr>
            <a:r>
              <a:rPr lang="en-US" sz="1150" b="1" dirty="0">
                <a:solidFill>
                  <a:srgbClr val="15193A"/>
                </a:solidFill>
                <a:latin typeface="Calibri" pitchFamily="34" charset="0"/>
                <a:ea typeface="Calibri" pitchFamily="34" charset="-122"/>
                <a:cs typeface="Calibri" pitchFamily="34" charset="-120"/>
              </a:rPr>
              <a:t>Anti-CCP con contexto</a:t>
            </a:r>
            <a:endParaRPr lang="en-US" sz="1150" dirty="0"/>
          </a:p>
        </p:txBody>
      </p:sp>
      <p:sp>
        <p:nvSpPr>
          <p:cNvPr id="18" name="Shape 16"/>
          <p:cNvSpPr/>
          <p:nvPr/>
        </p:nvSpPr>
        <p:spPr>
          <a:xfrm>
            <a:off x="457200" y="2377440"/>
            <a:ext cx="1965960" cy="1051560"/>
          </a:xfrm>
          <a:prstGeom prst="roundRect">
            <a:avLst>
              <a:gd name="adj" fmla="val 8696"/>
            </a:avLst>
          </a:prstGeom>
          <a:solidFill>
            <a:srgbClr val="4CC9F0">
              <a:alpha val="12000"/>
            </a:srgbClr>
          </a:solidFill>
          <a:ln w="15875">
            <a:solidFill>
              <a:srgbClr val="4CC9F0"/>
            </a:solidFill>
            <a:prstDash val="solid"/>
          </a:ln>
        </p:spPr>
        <p:txBody>
          <a:bodyPr/>
          <a:lstStyle/>
          <a:p>
            <a:endParaRPr lang="es-CO"/>
          </a:p>
        </p:txBody>
      </p:sp>
      <p:sp>
        <p:nvSpPr>
          <p:cNvPr id="19" name="Text 17"/>
          <p:cNvSpPr txBox="1"/>
          <p:nvPr/>
        </p:nvSpPr>
        <p:spPr>
          <a:xfrm>
            <a:off x="548640" y="2377440"/>
            <a:ext cx="685800" cy="1051560"/>
          </a:xfrm>
          <a:prstGeom prst="rect">
            <a:avLst/>
          </a:prstGeom>
          <a:noFill/>
          <a:ln/>
        </p:spPr>
        <p:txBody>
          <a:bodyPr wrap="square" lIns="0" tIns="0" rIns="0" bIns="0" rtlCol="0" anchor="ctr"/>
          <a:lstStyle/>
          <a:p>
            <a:pPr marL="0" indent="0">
              <a:buNone/>
            </a:pPr>
            <a:r>
              <a:rPr lang="en-US" sz="2800" b="1" dirty="0">
                <a:solidFill>
                  <a:srgbClr val="0A6F98"/>
                </a:solidFill>
                <a:latin typeface="Calibri" pitchFamily="34" charset="0"/>
                <a:ea typeface="Calibri" pitchFamily="34" charset="-122"/>
                <a:cs typeface="Calibri" pitchFamily="34" charset="-120"/>
              </a:rPr>
              <a:t>05</a:t>
            </a:r>
            <a:endParaRPr lang="en-US" sz="2800" dirty="0"/>
          </a:p>
        </p:txBody>
      </p:sp>
      <p:sp>
        <p:nvSpPr>
          <p:cNvPr id="20" name="Text 18"/>
          <p:cNvSpPr txBox="1"/>
          <p:nvPr/>
        </p:nvSpPr>
        <p:spPr>
          <a:xfrm>
            <a:off x="1234440" y="2377440"/>
            <a:ext cx="1143000" cy="1051560"/>
          </a:xfrm>
          <a:prstGeom prst="rect">
            <a:avLst/>
          </a:prstGeom>
          <a:noFill/>
          <a:ln/>
        </p:spPr>
        <p:txBody>
          <a:bodyPr wrap="square" lIns="0" tIns="0" rIns="0" bIns="0" rtlCol="0" anchor="ctr"/>
          <a:lstStyle/>
          <a:p>
            <a:pPr marL="0" indent="0">
              <a:buNone/>
            </a:pPr>
            <a:r>
              <a:rPr lang="en-US" sz="1150" b="1" dirty="0">
                <a:solidFill>
                  <a:srgbClr val="15193A"/>
                </a:solidFill>
                <a:latin typeface="Calibri" pitchFamily="34" charset="0"/>
                <a:ea typeface="Calibri" pitchFamily="34" charset="-122"/>
                <a:cs typeface="Calibri" pitchFamily="34" charset="-120"/>
              </a:rPr>
              <a:t>Criterios 2010: clasifican</a:t>
            </a:r>
            <a:endParaRPr lang="en-US" sz="1150" dirty="0"/>
          </a:p>
        </p:txBody>
      </p:sp>
      <p:sp>
        <p:nvSpPr>
          <p:cNvPr id="21" name="Shape 19"/>
          <p:cNvSpPr/>
          <p:nvPr/>
        </p:nvSpPr>
        <p:spPr>
          <a:xfrm>
            <a:off x="2560320" y="2377440"/>
            <a:ext cx="1965960" cy="1051560"/>
          </a:xfrm>
          <a:prstGeom prst="roundRect">
            <a:avLst>
              <a:gd name="adj" fmla="val 8696"/>
            </a:avLst>
          </a:prstGeom>
          <a:solidFill>
            <a:srgbClr val="FF4D6D">
              <a:alpha val="12000"/>
            </a:srgbClr>
          </a:solidFill>
          <a:ln w="15875">
            <a:solidFill>
              <a:srgbClr val="FF4D6D"/>
            </a:solidFill>
            <a:prstDash val="solid"/>
          </a:ln>
        </p:spPr>
        <p:txBody>
          <a:bodyPr/>
          <a:lstStyle/>
          <a:p>
            <a:endParaRPr lang="es-CO"/>
          </a:p>
        </p:txBody>
      </p:sp>
      <p:sp>
        <p:nvSpPr>
          <p:cNvPr id="22" name="Text 20"/>
          <p:cNvSpPr txBox="1"/>
          <p:nvPr/>
        </p:nvSpPr>
        <p:spPr>
          <a:xfrm>
            <a:off x="2651760" y="2377440"/>
            <a:ext cx="685800" cy="1051560"/>
          </a:xfrm>
          <a:prstGeom prst="rect">
            <a:avLst/>
          </a:prstGeom>
          <a:noFill/>
          <a:ln/>
        </p:spPr>
        <p:txBody>
          <a:bodyPr wrap="square" lIns="0" tIns="0" rIns="0" bIns="0" rtlCol="0" anchor="ctr"/>
          <a:lstStyle/>
          <a:p>
            <a:pPr marL="0" indent="0">
              <a:buNone/>
            </a:pPr>
            <a:r>
              <a:rPr lang="en-US" sz="2800" b="1" dirty="0">
                <a:solidFill>
                  <a:srgbClr val="C81E43"/>
                </a:solidFill>
                <a:latin typeface="Calibri" pitchFamily="34" charset="0"/>
                <a:ea typeface="Calibri" pitchFamily="34" charset="-122"/>
                <a:cs typeface="Calibri" pitchFamily="34" charset="-120"/>
              </a:rPr>
              <a:t>06</a:t>
            </a:r>
            <a:endParaRPr lang="en-US" sz="2800" dirty="0"/>
          </a:p>
        </p:txBody>
      </p:sp>
      <p:sp>
        <p:nvSpPr>
          <p:cNvPr id="23" name="Text 21"/>
          <p:cNvSpPr txBox="1"/>
          <p:nvPr/>
        </p:nvSpPr>
        <p:spPr>
          <a:xfrm>
            <a:off x="3337560" y="2377440"/>
            <a:ext cx="1143000" cy="1051560"/>
          </a:xfrm>
          <a:prstGeom prst="rect">
            <a:avLst/>
          </a:prstGeom>
          <a:noFill/>
          <a:ln/>
        </p:spPr>
        <p:txBody>
          <a:bodyPr wrap="square" lIns="0" tIns="0" rIns="0" bIns="0" rtlCol="0" anchor="ctr"/>
          <a:lstStyle/>
          <a:p>
            <a:pPr marL="0" indent="0">
              <a:buNone/>
            </a:pPr>
            <a:r>
              <a:rPr lang="en-US" sz="1150" b="1" dirty="0">
                <a:solidFill>
                  <a:srgbClr val="15193A"/>
                </a:solidFill>
                <a:latin typeface="Calibri" pitchFamily="34" charset="0"/>
                <a:ea typeface="Calibri" pitchFamily="34" charset="-122"/>
                <a:cs typeface="Calibri" pitchFamily="34" charset="-120"/>
              </a:rPr>
              <a:t>Reumatología en 6 semanas</a:t>
            </a:r>
            <a:endParaRPr lang="en-US" sz="1150" dirty="0"/>
          </a:p>
        </p:txBody>
      </p:sp>
      <p:sp>
        <p:nvSpPr>
          <p:cNvPr id="24" name="Shape 22"/>
          <p:cNvSpPr/>
          <p:nvPr/>
        </p:nvSpPr>
        <p:spPr>
          <a:xfrm>
            <a:off x="4663440" y="2377440"/>
            <a:ext cx="1965960" cy="1051560"/>
          </a:xfrm>
          <a:prstGeom prst="roundRect">
            <a:avLst>
              <a:gd name="adj" fmla="val 8696"/>
            </a:avLst>
          </a:prstGeom>
          <a:solidFill>
            <a:srgbClr val="FF4D6D">
              <a:alpha val="12000"/>
            </a:srgbClr>
          </a:solidFill>
          <a:ln w="15875">
            <a:solidFill>
              <a:srgbClr val="FF4D6D"/>
            </a:solidFill>
            <a:prstDash val="solid"/>
          </a:ln>
        </p:spPr>
        <p:txBody>
          <a:bodyPr/>
          <a:lstStyle/>
          <a:p>
            <a:endParaRPr lang="es-CO"/>
          </a:p>
        </p:txBody>
      </p:sp>
      <p:sp>
        <p:nvSpPr>
          <p:cNvPr id="25" name="Text 23"/>
          <p:cNvSpPr txBox="1"/>
          <p:nvPr/>
        </p:nvSpPr>
        <p:spPr>
          <a:xfrm>
            <a:off x="4754880" y="2377440"/>
            <a:ext cx="685800" cy="1051560"/>
          </a:xfrm>
          <a:prstGeom prst="rect">
            <a:avLst/>
          </a:prstGeom>
          <a:noFill/>
          <a:ln/>
        </p:spPr>
        <p:txBody>
          <a:bodyPr wrap="square" lIns="0" tIns="0" rIns="0" bIns="0" rtlCol="0" anchor="ctr"/>
          <a:lstStyle/>
          <a:p>
            <a:pPr marL="0" indent="0">
              <a:buNone/>
            </a:pPr>
            <a:r>
              <a:rPr lang="en-US" sz="2800" b="1" dirty="0">
                <a:solidFill>
                  <a:srgbClr val="C81E43"/>
                </a:solidFill>
                <a:latin typeface="Calibri" pitchFamily="34" charset="0"/>
                <a:ea typeface="Calibri" pitchFamily="34" charset="-122"/>
                <a:cs typeface="Calibri" pitchFamily="34" charset="-120"/>
              </a:rPr>
              <a:t>07</a:t>
            </a:r>
            <a:endParaRPr lang="en-US" sz="2800" dirty="0"/>
          </a:p>
        </p:txBody>
      </p:sp>
      <p:sp>
        <p:nvSpPr>
          <p:cNvPr id="26" name="Text 24"/>
          <p:cNvSpPr txBox="1"/>
          <p:nvPr/>
        </p:nvSpPr>
        <p:spPr>
          <a:xfrm>
            <a:off x="5440680" y="2377440"/>
            <a:ext cx="1143000" cy="1051560"/>
          </a:xfrm>
          <a:prstGeom prst="rect">
            <a:avLst/>
          </a:prstGeom>
          <a:noFill/>
          <a:ln/>
        </p:spPr>
        <p:txBody>
          <a:bodyPr wrap="square" lIns="0" tIns="0" rIns="0" bIns="0" rtlCol="0" anchor="ctr"/>
          <a:lstStyle/>
          <a:p>
            <a:pPr marL="0" indent="0">
              <a:buNone/>
            </a:pPr>
            <a:r>
              <a:rPr lang="en-US" sz="1150" b="1" dirty="0">
                <a:solidFill>
                  <a:srgbClr val="15193A"/>
                </a:solidFill>
                <a:latin typeface="Calibri" pitchFamily="34" charset="0"/>
                <a:ea typeface="Calibri" pitchFamily="34" charset="-122"/>
                <a:cs typeface="Calibri" pitchFamily="34" charset="-120"/>
              </a:rPr>
              <a:t>Articulación caliente: ¿infección?</a:t>
            </a:r>
            <a:endParaRPr lang="en-US" sz="1150" dirty="0"/>
          </a:p>
        </p:txBody>
      </p:sp>
      <p:sp>
        <p:nvSpPr>
          <p:cNvPr id="27" name="Shape 25"/>
          <p:cNvSpPr/>
          <p:nvPr/>
        </p:nvSpPr>
        <p:spPr>
          <a:xfrm>
            <a:off x="6766560" y="2377440"/>
            <a:ext cx="1965960" cy="1051560"/>
          </a:xfrm>
          <a:prstGeom prst="roundRect">
            <a:avLst>
              <a:gd name="adj" fmla="val 8696"/>
            </a:avLst>
          </a:prstGeom>
          <a:solidFill>
            <a:srgbClr val="21D3A8">
              <a:alpha val="12000"/>
            </a:srgbClr>
          </a:solidFill>
          <a:ln w="15875">
            <a:solidFill>
              <a:srgbClr val="21D3A8"/>
            </a:solidFill>
            <a:prstDash val="solid"/>
          </a:ln>
        </p:spPr>
        <p:txBody>
          <a:bodyPr/>
          <a:lstStyle/>
          <a:p>
            <a:endParaRPr lang="es-CO"/>
          </a:p>
        </p:txBody>
      </p:sp>
      <p:sp>
        <p:nvSpPr>
          <p:cNvPr id="28" name="Text 26"/>
          <p:cNvSpPr txBox="1"/>
          <p:nvPr/>
        </p:nvSpPr>
        <p:spPr>
          <a:xfrm>
            <a:off x="6858000" y="2377440"/>
            <a:ext cx="685800" cy="1051560"/>
          </a:xfrm>
          <a:prstGeom prst="rect">
            <a:avLst/>
          </a:prstGeom>
          <a:noFill/>
          <a:ln/>
        </p:spPr>
        <p:txBody>
          <a:bodyPr wrap="square" lIns="0" tIns="0" rIns="0" bIns="0" rtlCol="0" anchor="ctr"/>
          <a:lstStyle/>
          <a:p>
            <a:pPr marL="0" indent="0">
              <a:buNone/>
            </a:pPr>
            <a:r>
              <a:rPr lang="en-US" sz="2800" b="1" dirty="0">
                <a:solidFill>
                  <a:srgbClr val="0C8368"/>
                </a:solidFill>
                <a:latin typeface="Calibri" pitchFamily="34" charset="0"/>
                <a:ea typeface="Calibri" pitchFamily="34" charset="-122"/>
                <a:cs typeface="Calibri" pitchFamily="34" charset="-120"/>
              </a:rPr>
              <a:t>08</a:t>
            </a:r>
            <a:endParaRPr lang="en-US" sz="2800" dirty="0"/>
          </a:p>
        </p:txBody>
      </p:sp>
      <p:sp>
        <p:nvSpPr>
          <p:cNvPr id="29" name="Text 27"/>
          <p:cNvSpPr txBox="1"/>
          <p:nvPr/>
        </p:nvSpPr>
        <p:spPr>
          <a:xfrm>
            <a:off x="7543800" y="2377440"/>
            <a:ext cx="1143000" cy="1051560"/>
          </a:xfrm>
          <a:prstGeom prst="rect">
            <a:avLst/>
          </a:prstGeom>
          <a:noFill/>
          <a:ln/>
        </p:spPr>
        <p:txBody>
          <a:bodyPr wrap="square" lIns="0" tIns="0" rIns="0" bIns="0" rtlCol="0" anchor="ctr"/>
          <a:lstStyle/>
          <a:p>
            <a:pPr marL="0" indent="0">
              <a:buNone/>
            </a:pPr>
            <a:r>
              <a:rPr lang="en-US" sz="1150" b="1" dirty="0">
                <a:solidFill>
                  <a:srgbClr val="15193A"/>
                </a:solidFill>
                <a:latin typeface="Calibri" pitchFamily="34" charset="0"/>
                <a:ea typeface="Calibri" pitchFamily="34" charset="-122"/>
                <a:cs typeface="Calibri" pitchFamily="34" charset="-120"/>
              </a:rPr>
              <a:t>MTX es semanal</a:t>
            </a:r>
            <a:endParaRPr lang="en-US" sz="1150" dirty="0"/>
          </a:p>
        </p:txBody>
      </p:sp>
      <p:sp>
        <p:nvSpPr>
          <p:cNvPr id="30" name="Shape 28"/>
          <p:cNvSpPr/>
          <p:nvPr/>
        </p:nvSpPr>
        <p:spPr>
          <a:xfrm>
            <a:off x="457200" y="3566160"/>
            <a:ext cx="1965960" cy="1051560"/>
          </a:xfrm>
          <a:prstGeom prst="roundRect">
            <a:avLst>
              <a:gd name="adj" fmla="val 8696"/>
            </a:avLst>
          </a:prstGeom>
          <a:solidFill>
            <a:srgbClr val="21D3A8">
              <a:alpha val="12000"/>
            </a:srgbClr>
          </a:solidFill>
          <a:ln w="15875">
            <a:solidFill>
              <a:srgbClr val="21D3A8"/>
            </a:solidFill>
            <a:prstDash val="solid"/>
          </a:ln>
        </p:spPr>
        <p:txBody>
          <a:bodyPr/>
          <a:lstStyle/>
          <a:p>
            <a:endParaRPr lang="es-CO"/>
          </a:p>
        </p:txBody>
      </p:sp>
      <p:sp>
        <p:nvSpPr>
          <p:cNvPr id="31" name="Text 29"/>
          <p:cNvSpPr txBox="1"/>
          <p:nvPr/>
        </p:nvSpPr>
        <p:spPr>
          <a:xfrm>
            <a:off x="548640" y="3566160"/>
            <a:ext cx="685800" cy="1051560"/>
          </a:xfrm>
          <a:prstGeom prst="rect">
            <a:avLst/>
          </a:prstGeom>
          <a:noFill/>
          <a:ln/>
        </p:spPr>
        <p:txBody>
          <a:bodyPr wrap="square" lIns="0" tIns="0" rIns="0" bIns="0" rtlCol="0" anchor="ctr"/>
          <a:lstStyle/>
          <a:p>
            <a:pPr marL="0" indent="0">
              <a:buNone/>
            </a:pPr>
            <a:r>
              <a:rPr lang="en-US" sz="2800" b="1" dirty="0">
                <a:solidFill>
                  <a:srgbClr val="0C8368"/>
                </a:solidFill>
                <a:latin typeface="Calibri" pitchFamily="34" charset="0"/>
                <a:ea typeface="Calibri" pitchFamily="34" charset="-122"/>
                <a:cs typeface="Calibri" pitchFamily="34" charset="-120"/>
              </a:rPr>
              <a:t>09</a:t>
            </a:r>
            <a:endParaRPr lang="en-US" sz="2800" dirty="0"/>
          </a:p>
        </p:txBody>
      </p:sp>
      <p:sp>
        <p:nvSpPr>
          <p:cNvPr id="32" name="Text 30"/>
          <p:cNvSpPr txBox="1"/>
          <p:nvPr/>
        </p:nvSpPr>
        <p:spPr>
          <a:xfrm>
            <a:off x="1234440" y="3566160"/>
            <a:ext cx="1143000" cy="1051560"/>
          </a:xfrm>
          <a:prstGeom prst="rect">
            <a:avLst/>
          </a:prstGeom>
          <a:noFill/>
          <a:ln/>
        </p:spPr>
        <p:txBody>
          <a:bodyPr wrap="square" lIns="0" tIns="0" rIns="0" bIns="0" rtlCol="0" anchor="ctr"/>
          <a:lstStyle/>
          <a:p>
            <a:pPr marL="0" indent="0">
              <a:buNone/>
            </a:pPr>
            <a:r>
              <a:rPr lang="en-US" sz="1150" b="1" dirty="0">
                <a:solidFill>
                  <a:srgbClr val="15193A"/>
                </a:solidFill>
                <a:latin typeface="Calibri" pitchFamily="34" charset="0"/>
                <a:ea typeface="Calibri" pitchFamily="34" charset="-122"/>
                <a:cs typeface="Calibri" pitchFamily="34" charset="-120"/>
              </a:rPr>
              <a:t>Meta a 3 y 6 meses</a:t>
            </a:r>
            <a:endParaRPr lang="en-US" sz="1150" dirty="0"/>
          </a:p>
        </p:txBody>
      </p:sp>
      <p:sp>
        <p:nvSpPr>
          <p:cNvPr id="33" name="Shape 31"/>
          <p:cNvSpPr/>
          <p:nvPr/>
        </p:nvSpPr>
        <p:spPr>
          <a:xfrm>
            <a:off x="2560320" y="3566160"/>
            <a:ext cx="1965960" cy="1051560"/>
          </a:xfrm>
          <a:prstGeom prst="roundRect">
            <a:avLst>
              <a:gd name="adj" fmla="val 8696"/>
            </a:avLst>
          </a:prstGeom>
          <a:solidFill>
            <a:srgbClr val="21D3A8">
              <a:alpha val="12000"/>
            </a:srgbClr>
          </a:solidFill>
          <a:ln w="15875">
            <a:solidFill>
              <a:srgbClr val="21D3A8"/>
            </a:solidFill>
            <a:prstDash val="solid"/>
          </a:ln>
        </p:spPr>
        <p:txBody>
          <a:bodyPr/>
          <a:lstStyle/>
          <a:p>
            <a:endParaRPr lang="es-CO"/>
          </a:p>
        </p:txBody>
      </p:sp>
      <p:sp>
        <p:nvSpPr>
          <p:cNvPr id="34" name="Text 32"/>
          <p:cNvSpPr txBox="1"/>
          <p:nvPr/>
        </p:nvSpPr>
        <p:spPr>
          <a:xfrm>
            <a:off x="2651760" y="3566160"/>
            <a:ext cx="685800" cy="1051560"/>
          </a:xfrm>
          <a:prstGeom prst="rect">
            <a:avLst/>
          </a:prstGeom>
          <a:noFill/>
          <a:ln/>
        </p:spPr>
        <p:txBody>
          <a:bodyPr wrap="square" lIns="0" tIns="0" rIns="0" bIns="0" rtlCol="0" anchor="ctr"/>
          <a:lstStyle/>
          <a:p>
            <a:pPr marL="0" indent="0">
              <a:buNone/>
            </a:pPr>
            <a:r>
              <a:rPr lang="en-US" sz="2800" b="1" dirty="0">
                <a:solidFill>
                  <a:srgbClr val="0C8368"/>
                </a:solidFill>
                <a:latin typeface="Calibri" pitchFamily="34" charset="0"/>
                <a:ea typeface="Calibri" pitchFamily="34" charset="-122"/>
                <a:cs typeface="Calibri" pitchFamily="34" charset="-120"/>
              </a:rPr>
              <a:t>10</a:t>
            </a:r>
            <a:endParaRPr lang="en-US" sz="2800" dirty="0"/>
          </a:p>
        </p:txBody>
      </p:sp>
      <p:sp>
        <p:nvSpPr>
          <p:cNvPr id="35" name="Text 33"/>
          <p:cNvSpPr txBox="1"/>
          <p:nvPr/>
        </p:nvSpPr>
        <p:spPr>
          <a:xfrm>
            <a:off x="3337560" y="3566160"/>
            <a:ext cx="1143000" cy="1051560"/>
          </a:xfrm>
          <a:prstGeom prst="rect">
            <a:avLst/>
          </a:prstGeom>
          <a:noFill/>
          <a:ln/>
        </p:spPr>
        <p:txBody>
          <a:bodyPr wrap="square" lIns="0" tIns="0" rIns="0" bIns="0" rtlCol="0" anchor="ctr"/>
          <a:lstStyle/>
          <a:p>
            <a:pPr marL="0" indent="0">
              <a:buNone/>
            </a:pPr>
            <a:r>
              <a:rPr lang="en-US" sz="1150" b="1" dirty="0">
                <a:solidFill>
                  <a:srgbClr val="15193A"/>
                </a:solidFill>
                <a:latin typeface="Calibri" pitchFamily="34" charset="0"/>
                <a:ea typeface="Calibri" pitchFamily="34" charset="-122"/>
                <a:cs typeface="Calibri" pitchFamily="34" charset="-120"/>
              </a:rPr>
              <a:t>Glucocorticoide con retirada</a:t>
            </a:r>
            <a:endParaRPr lang="en-US" sz="1150" dirty="0"/>
          </a:p>
        </p:txBody>
      </p:sp>
      <p:sp>
        <p:nvSpPr>
          <p:cNvPr id="36" name="Shape 34"/>
          <p:cNvSpPr/>
          <p:nvPr/>
        </p:nvSpPr>
        <p:spPr>
          <a:xfrm>
            <a:off x="4663440" y="3566160"/>
            <a:ext cx="1965960" cy="1051560"/>
          </a:xfrm>
          <a:prstGeom prst="roundRect">
            <a:avLst>
              <a:gd name="adj" fmla="val 8696"/>
            </a:avLst>
          </a:prstGeom>
          <a:solidFill>
            <a:srgbClr val="21D3A8">
              <a:alpha val="12000"/>
            </a:srgbClr>
          </a:solidFill>
          <a:ln w="15875">
            <a:solidFill>
              <a:srgbClr val="21D3A8"/>
            </a:solidFill>
            <a:prstDash val="solid"/>
          </a:ln>
        </p:spPr>
        <p:txBody>
          <a:bodyPr/>
          <a:lstStyle/>
          <a:p>
            <a:endParaRPr lang="es-CO"/>
          </a:p>
        </p:txBody>
      </p:sp>
      <p:sp>
        <p:nvSpPr>
          <p:cNvPr id="37" name="Text 35"/>
          <p:cNvSpPr txBox="1"/>
          <p:nvPr/>
        </p:nvSpPr>
        <p:spPr>
          <a:xfrm>
            <a:off x="4754880" y="3566160"/>
            <a:ext cx="685800" cy="1051560"/>
          </a:xfrm>
          <a:prstGeom prst="rect">
            <a:avLst/>
          </a:prstGeom>
          <a:noFill/>
          <a:ln/>
        </p:spPr>
        <p:txBody>
          <a:bodyPr wrap="square" lIns="0" tIns="0" rIns="0" bIns="0" rtlCol="0" anchor="ctr"/>
          <a:lstStyle/>
          <a:p>
            <a:pPr marL="0" indent="0">
              <a:buNone/>
            </a:pPr>
            <a:r>
              <a:rPr lang="en-US" sz="2800" b="1" dirty="0">
                <a:solidFill>
                  <a:srgbClr val="0C8368"/>
                </a:solidFill>
                <a:latin typeface="Calibri" pitchFamily="34" charset="0"/>
                <a:ea typeface="Calibri" pitchFamily="34" charset="-122"/>
                <a:cs typeface="Calibri" pitchFamily="34" charset="-120"/>
              </a:rPr>
              <a:t>11</a:t>
            </a:r>
            <a:endParaRPr lang="en-US" sz="2800" dirty="0"/>
          </a:p>
        </p:txBody>
      </p:sp>
      <p:sp>
        <p:nvSpPr>
          <p:cNvPr id="38" name="Text 36"/>
          <p:cNvSpPr txBox="1"/>
          <p:nvPr/>
        </p:nvSpPr>
        <p:spPr>
          <a:xfrm>
            <a:off x="5440680" y="3566160"/>
            <a:ext cx="1143000" cy="1051560"/>
          </a:xfrm>
          <a:prstGeom prst="rect">
            <a:avLst/>
          </a:prstGeom>
          <a:noFill/>
          <a:ln/>
        </p:spPr>
        <p:txBody>
          <a:bodyPr wrap="square" lIns="0" tIns="0" rIns="0" bIns="0" rtlCol="0" anchor="ctr"/>
          <a:lstStyle/>
          <a:p>
            <a:pPr marL="0" indent="0">
              <a:buNone/>
            </a:pPr>
            <a:r>
              <a:rPr lang="en-US" sz="1150" b="1" dirty="0">
                <a:solidFill>
                  <a:srgbClr val="15193A"/>
                </a:solidFill>
                <a:latin typeface="Calibri" pitchFamily="34" charset="0"/>
                <a:ea typeface="Calibri" pitchFamily="34" charset="-122"/>
                <a:cs typeface="Calibri" pitchFamily="34" charset="-120"/>
              </a:rPr>
              <a:t>Fracaso → biológico</a:t>
            </a:r>
            <a:endParaRPr lang="en-US" sz="1150" dirty="0"/>
          </a:p>
        </p:txBody>
      </p:sp>
      <p:sp>
        <p:nvSpPr>
          <p:cNvPr id="39" name="Shape 37"/>
          <p:cNvSpPr/>
          <p:nvPr/>
        </p:nvSpPr>
        <p:spPr>
          <a:xfrm>
            <a:off x="6766560" y="3566160"/>
            <a:ext cx="1965960" cy="1051560"/>
          </a:xfrm>
          <a:prstGeom prst="roundRect">
            <a:avLst>
              <a:gd name="adj" fmla="val 8696"/>
            </a:avLst>
          </a:prstGeom>
          <a:solidFill>
            <a:srgbClr val="A78BFA">
              <a:alpha val="12000"/>
            </a:srgbClr>
          </a:solidFill>
          <a:ln w="15875">
            <a:solidFill>
              <a:srgbClr val="A78BFA"/>
            </a:solidFill>
            <a:prstDash val="solid"/>
          </a:ln>
        </p:spPr>
        <p:txBody>
          <a:bodyPr/>
          <a:lstStyle/>
          <a:p>
            <a:endParaRPr lang="es-CO"/>
          </a:p>
        </p:txBody>
      </p:sp>
      <p:sp>
        <p:nvSpPr>
          <p:cNvPr id="40" name="Text 38"/>
          <p:cNvSpPr txBox="1"/>
          <p:nvPr/>
        </p:nvSpPr>
        <p:spPr>
          <a:xfrm>
            <a:off x="6858000" y="3566160"/>
            <a:ext cx="685800" cy="1051560"/>
          </a:xfrm>
          <a:prstGeom prst="rect">
            <a:avLst/>
          </a:prstGeom>
          <a:noFill/>
          <a:ln/>
        </p:spPr>
        <p:txBody>
          <a:bodyPr wrap="square" lIns="0" tIns="0" rIns="0" bIns="0" rtlCol="0" anchor="ctr"/>
          <a:lstStyle/>
          <a:p>
            <a:pPr marL="0" indent="0">
              <a:buNone/>
            </a:pPr>
            <a:r>
              <a:rPr lang="en-US" sz="2800" b="1" dirty="0">
                <a:solidFill>
                  <a:srgbClr val="6A4CCF"/>
                </a:solidFill>
                <a:latin typeface="Calibri" pitchFamily="34" charset="0"/>
                <a:ea typeface="Calibri" pitchFamily="34" charset="-122"/>
                <a:cs typeface="Calibri" pitchFamily="34" charset="-120"/>
              </a:rPr>
              <a:t>12</a:t>
            </a:r>
            <a:endParaRPr lang="en-US" sz="2800" dirty="0"/>
          </a:p>
        </p:txBody>
      </p:sp>
      <p:sp>
        <p:nvSpPr>
          <p:cNvPr id="41" name="Text 39"/>
          <p:cNvSpPr txBox="1"/>
          <p:nvPr/>
        </p:nvSpPr>
        <p:spPr>
          <a:xfrm>
            <a:off x="7543800" y="3566160"/>
            <a:ext cx="1143000" cy="1051560"/>
          </a:xfrm>
          <a:prstGeom prst="rect">
            <a:avLst/>
          </a:prstGeom>
          <a:noFill/>
          <a:ln/>
        </p:spPr>
        <p:txBody>
          <a:bodyPr wrap="square" lIns="0" tIns="0" rIns="0" bIns="0" rtlCol="0" anchor="ctr"/>
          <a:lstStyle/>
          <a:p>
            <a:pPr marL="0" indent="0">
              <a:buNone/>
            </a:pPr>
            <a:r>
              <a:rPr lang="en-US" sz="1150" b="1" dirty="0">
                <a:solidFill>
                  <a:srgbClr val="15193A"/>
                </a:solidFill>
                <a:latin typeface="Calibri" pitchFamily="34" charset="0"/>
                <a:ea typeface="Calibri" pitchFamily="34" charset="-122"/>
                <a:cs typeface="Calibri" pitchFamily="34" charset="-120"/>
              </a:rPr>
              <a:t>Mira al paciente entero</a:t>
            </a:r>
            <a:endParaRPr lang="en-US" sz="1150" dirty="0"/>
          </a:p>
        </p:txBody>
      </p:sp>
      <p:sp>
        <p:nvSpPr>
          <p:cNvPr id="42"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548640" y="548640"/>
            <a:ext cx="3017520" cy="384048"/>
          </a:xfrm>
          <a:prstGeom prst="roundRect">
            <a:avLst>
              <a:gd name="adj" fmla="val 50000"/>
            </a:avLst>
          </a:prstGeom>
          <a:solidFill>
            <a:srgbClr val="FF4D6D"/>
          </a:solidFill>
          <a:ln w="12700">
            <a:solidFill>
              <a:srgbClr val="FF4D6D"/>
            </a:solidFill>
            <a:prstDash val="solid"/>
          </a:ln>
        </p:spPr>
        <p:txBody>
          <a:bodyPr/>
          <a:lstStyle/>
          <a:p>
            <a:endParaRPr lang="es-CO"/>
          </a:p>
        </p:txBody>
      </p:sp>
      <p:sp>
        <p:nvSpPr>
          <p:cNvPr id="4" name="Text 2"/>
          <p:cNvSpPr txBox="1"/>
          <p:nvPr/>
        </p:nvSpPr>
        <p:spPr>
          <a:xfrm>
            <a:off x="548640" y="548640"/>
            <a:ext cx="3017520" cy="384048"/>
          </a:xfrm>
          <a:prstGeom prst="rect">
            <a:avLst/>
          </a:prstGeom>
          <a:noFill/>
          <a:ln/>
        </p:spPr>
        <p:txBody>
          <a:bodyPr wrap="square" lIns="0" tIns="0" rIns="0" bIns="0" rtlCol="0" anchor="ctr"/>
          <a:lstStyle/>
          <a:p>
            <a:pPr marL="0" indent="0" algn="ctr">
              <a:buNone/>
            </a:pPr>
            <a:r>
              <a:rPr lang="en-US" sz="1100" b="1" dirty="0">
                <a:solidFill>
                  <a:srgbClr val="0A0E24"/>
                </a:solidFill>
                <a:latin typeface="Calibri" pitchFamily="34" charset="0"/>
                <a:ea typeface="Calibri" pitchFamily="34" charset="-122"/>
                <a:cs typeface="Calibri" pitchFamily="34" charset="-120"/>
              </a:rPr>
              <a:t>12 DE OCTUBRE · DÍA MUNDIAL DE LA ARTRITIS</a:t>
            </a:r>
            <a:endParaRPr lang="en-US" sz="1100" dirty="0"/>
          </a:p>
        </p:txBody>
      </p:sp>
      <p:sp>
        <p:nvSpPr>
          <p:cNvPr id="5" name="Text 3"/>
          <p:cNvSpPr txBox="1"/>
          <p:nvPr/>
        </p:nvSpPr>
        <p:spPr>
          <a:xfrm>
            <a:off x="548640" y="1188720"/>
            <a:ext cx="7589520" cy="1280160"/>
          </a:xfrm>
          <a:prstGeom prst="rect">
            <a:avLst/>
          </a:prstGeom>
          <a:noFill/>
          <a:ln/>
        </p:spPr>
        <p:txBody>
          <a:bodyPr wrap="square" lIns="0" tIns="0" rIns="0" bIns="0" rtlCol="0" anchor="ctr"/>
          <a:lstStyle/>
          <a:p>
            <a:pPr marL="0" indent="0">
              <a:buNone/>
            </a:pPr>
            <a:r>
              <a:rPr lang="en-US" sz="3200" b="1" dirty="0">
                <a:solidFill>
                  <a:srgbClr val="15193A"/>
                </a:solidFill>
                <a:latin typeface="Calibri" pitchFamily="34" charset="0"/>
                <a:ea typeface="Calibri" pitchFamily="34" charset="-122"/>
                <a:cs typeface="Calibri" pitchFamily="34" charset="-120"/>
              </a:rPr>
              <a:t>La artritis reumatoide se gana en la primera consulta.</a:t>
            </a:r>
            <a:endParaRPr lang="en-US" sz="3200" dirty="0"/>
          </a:p>
        </p:txBody>
      </p:sp>
      <p:sp>
        <p:nvSpPr>
          <p:cNvPr id="6" name="Text 4"/>
          <p:cNvSpPr txBox="1"/>
          <p:nvPr/>
        </p:nvSpPr>
        <p:spPr>
          <a:xfrm>
            <a:off x="548640" y="2606040"/>
            <a:ext cx="6949440" cy="914400"/>
          </a:xfrm>
          <a:prstGeom prst="rect">
            <a:avLst/>
          </a:prstGeom>
          <a:noFill/>
          <a:ln/>
        </p:spPr>
        <p:txBody>
          <a:bodyPr wrap="square" lIns="0" tIns="0" rIns="0" bIns="0" rtlCol="0" anchor="t"/>
          <a:lstStyle/>
          <a:p>
            <a:pPr marL="0" indent="0">
              <a:buNone/>
            </a:pPr>
            <a:r>
              <a:rPr lang="en-US" sz="1700" dirty="0">
                <a:solidFill>
                  <a:srgbClr val="C81E43"/>
                </a:solidFill>
                <a:latin typeface="Calibri" pitchFamily="34" charset="0"/>
                <a:ea typeface="Calibri" pitchFamily="34" charset="-122"/>
                <a:cs typeface="Calibri" pitchFamily="34" charset="-120"/>
              </a:rPr>
              <a:t>Reconocer la sinovitis, remitir a tiempo, tratar con metas y cuidar al paciente entero cambia el pronóstico: de la discapacidad a la remisión.</a:t>
            </a:r>
            <a:endParaRPr lang="en-US" sz="1700" dirty="0"/>
          </a:p>
        </p:txBody>
      </p:sp>
      <p:sp>
        <p:nvSpPr>
          <p:cNvPr id="7" name="Text 5"/>
          <p:cNvSpPr txBox="1"/>
          <p:nvPr/>
        </p:nvSpPr>
        <p:spPr>
          <a:xfrm>
            <a:off x="548640" y="3749040"/>
            <a:ext cx="4572000" cy="731520"/>
          </a:xfrm>
          <a:prstGeom prst="rect">
            <a:avLst/>
          </a:prstGeom>
          <a:noFill/>
          <a:ln/>
        </p:spPr>
        <p:txBody>
          <a:bodyPr wrap="square" lIns="0" tIns="0" rIns="0" bIns="0" rtlCol="0" anchor="t"/>
          <a:lstStyle/>
          <a:p>
            <a:pPr marL="0" indent="0">
              <a:buNone/>
            </a:pPr>
            <a:r>
              <a:rPr lang="en-US" sz="3600" b="1" dirty="0">
                <a:solidFill>
                  <a:srgbClr val="15193A"/>
                </a:solidFill>
                <a:latin typeface="Calibri" pitchFamily="34" charset="0"/>
                <a:ea typeface="Calibri" pitchFamily="34" charset="-122"/>
                <a:cs typeface="Calibri" pitchFamily="34" charset="-120"/>
              </a:rPr>
              <a:t>Gracias</a:t>
            </a:r>
            <a:endParaRPr lang="en-US" sz="360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46304" cy="146304"/>
          </a:xfrm>
          <a:prstGeom prst="roundRect">
            <a:avLst>
              <a:gd name="adj" fmla="val 50000"/>
            </a:avLst>
          </a:prstGeom>
          <a:solidFill>
            <a:srgbClr val="4CC9F0"/>
          </a:solidFill>
          <a:ln w="12700">
            <a:solidFill>
              <a:srgbClr val="4CC9F0"/>
            </a:solidFill>
            <a:prstDash val="solid"/>
          </a:ln>
        </p:spPr>
        <p:txBody>
          <a:bodyPr/>
          <a:lstStyle/>
          <a:p>
            <a:endParaRPr lang="es-CO"/>
          </a:p>
        </p:txBody>
      </p:sp>
      <p:sp>
        <p:nvSpPr>
          <p:cNvPr id="3" name="Text 1"/>
          <p:cNvSpPr txBox="1"/>
          <p:nvPr/>
        </p:nvSpPr>
        <p:spPr>
          <a:xfrm>
            <a:off x="685800" y="219456"/>
            <a:ext cx="7772400" cy="256032"/>
          </a:xfrm>
          <a:prstGeom prst="rect">
            <a:avLst/>
          </a:prstGeom>
          <a:noFill/>
          <a:ln/>
        </p:spPr>
        <p:txBody>
          <a:bodyPr wrap="square" lIns="0" tIns="0" rIns="0" bIns="0" rtlCol="0" anchor="ctr"/>
          <a:lstStyle/>
          <a:p>
            <a:pPr marL="0" indent="0">
              <a:buNone/>
            </a:pPr>
            <a:r>
              <a:rPr lang="en-US" sz="1050" b="1" kern="0" spc="400" dirty="0">
                <a:solidFill>
                  <a:srgbClr val="0A6F98"/>
                </a:solidFill>
                <a:latin typeface="Calibri" pitchFamily="34" charset="0"/>
                <a:ea typeface="Calibri" pitchFamily="34" charset="-122"/>
                <a:cs typeface="Calibri" pitchFamily="34" charset="-120"/>
              </a:rPr>
              <a:t>REFERENCIAS</a:t>
            </a:r>
            <a:endParaRPr lang="en-US" sz="1050" dirty="0"/>
          </a:p>
        </p:txBody>
      </p:sp>
      <p:sp>
        <p:nvSpPr>
          <p:cNvPr id="4" name="Text 2"/>
          <p:cNvSpPr txBox="1"/>
          <p:nvPr/>
        </p:nvSpPr>
        <p:spPr>
          <a:xfrm>
            <a:off x="457200" y="502920"/>
            <a:ext cx="8229600" cy="566928"/>
          </a:xfrm>
          <a:prstGeom prst="rect">
            <a:avLst/>
          </a:prstGeom>
          <a:noFill/>
          <a:ln/>
        </p:spPr>
        <p:txBody>
          <a:bodyPr wrap="square" lIns="0" tIns="0" rIns="0" bIns="0" rtlCol="0" anchor="ctr"/>
          <a:lstStyle/>
          <a:p>
            <a:pPr marL="0" indent="0">
              <a:buNone/>
            </a:pPr>
            <a:r>
              <a:rPr lang="en-US" sz="2600" b="1" dirty="0">
                <a:solidFill>
                  <a:srgbClr val="15193A"/>
                </a:solidFill>
                <a:latin typeface="Calibri" pitchFamily="34" charset="0"/>
                <a:ea typeface="Calibri" pitchFamily="34" charset="-122"/>
                <a:cs typeface="Calibri" pitchFamily="34" charset="-120"/>
              </a:rPr>
              <a:t>Referencias</a:t>
            </a:r>
            <a:endParaRPr lang="en-US" sz="2600" dirty="0"/>
          </a:p>
        </p:txBody>
      </p:sp>
      <p:sp>
        <p:nvSpPr>
          <p:cNvPr id="5" name="Text 3"/>
          <p:cNvSpPr txBox="1"/>
          <p:nvPr/>
        </p:nvSpPr>
        <p:spPr>
          <a:xfrm>
            <a:off x="457200" y="1143000"/>
            <a:ext cx="4023360" cy="3611880"/>
          </a:xfrm>
          <a:prstGeom prst="rect">
            <a:avLst/>
          </a:prstGeom>
          <a:noFill/>
          <a:ln/>
        </p:spPr>
        <p:txBody>
          <a:bodyPr wrap="square" lIns="0" tIns="0" rIns="0" bIns="0" rtlCol="0" anchor="t"/>
          <a:lstStyle/>
          <a:p>
            <a:pPr marL="0" indent="0">
              <a:spcAft>
                <a:spcPts val="400"/>
              </a:spcAft>
              <a:buNone/>
            </a:pPr>
            <a:r>
              <a:rPr lang="en-US" sz="800" dirty="0">
                <a:solidFill>
                  <a:srgbClr val="2A3150"/>
                </a:solidFill>
                <a:latin typeface="Calibri" pitchFamily="34" charset="0"/>
                <a:ea typeface="Calibri" pitchFamily="34" charset="-122"/>
                <a:cs typeface="Calibri" pitchFamily="34" charset="-120"/>
              </a:rPr>
              <a:t>1. Smolen JS, Kerschbaumer A, Aletaha D, Robinson WH. Rheumatoid arthritis in adults: a review. JAMA. Publicado en línea el 10 de septiembre de 2026. doi:10.1001/jama.2026.15455.</a:t>
            </a:r>
            <a:endParaRPr lang="en-US" sz="800" dirty="0"/>
          </a:p>
          <a:p>
            <a:pPr marL="0" indent="0">
              <a:spcAft>
                <a:spcPts val="400"/>
              </a:spcAft>
              <a:buNone/>
            </a:pPr>
            <a:r>
              <a:rPr lang="en-US" sz="800" dirty="0">
                <a:solidFill>
                  <a:srgbClr val="2A3150"/>
                </a:solidFill>
                <a:latin typeface="Calibri" pitchFamily="34" charset="0"/>
                <a:ea typeface="Calibri" pitchFamily="34" charset="-122"/>
                <a:cs typeface="Calibri" pitchFamily="34" charset="-120"/>
              </a:rPr>
              <a:t>2. Smolen JS, Edwards CJ, Konzett V, Laskou F, Aletaha D, Caporali R, et al. EULAR recommendations for the management of rheumatoid arthritis with synthetic and biologic disease-modifying antirheumatic drugs: 2025 update. Ann Rheum Dis. 2026;85(6):991-1009. doi:10.1016/j.ard.2026.01.023.</a:t>
            </a:r>
            <a:endParaRPr lang="en-US" sz="800" dirty="0"/>
          </a:p>
          <a:p>
            <a:pPr marL="0" indent="0">
              <a:spcAft>
                <a:spcPts val="400"/>
              </a:spcAft>
              <a:buNone/>
            </a:pPr>
            <a:r>
              <a:rPr lang="en-US" sz="800" dirty="0">
                <a:solidFill>
                  <a:srgbClr val="2A3150"/>
                </a:solidFill>
                <a:latin typeface="Calibri" pitchFamily="34" charset="0"/>
                <a:ea typeface="Calibri" pitchFamily="34" charset="-122"/>
                <a:cs typeface="Calibri" pitchFamily="34" charset="-120"/>
              </a:rPr>
              <a:t>3. National Institute for Health and Care Excellence. Rheumatoid arthritis in adults: management. NICE guideline NG100. London: NICE; 2018. Disponible en: https://www.nice.org.uk/guidance/ng100.</a:t>
            </a:r>
            <a:endParaRPr lang="en-US" sz="800" dirty="0"/>
          </a:p>
          <a:p>
            <a:pPr marL="0" indent="0">
              <a:spcAft>
                <a:spcPts val="400"/>
              </a:spcAft>
              <a:buNone/>
            </a:pPr>
            <a:r>
              <a:rPr lang="en-US" sz="800" dirty="0">
                <a:solidFill>
                  <a:srgbClr val="2A3150"/>
                </a:solidFill>
                <a:latin typeface="Calibri" pitchFamily="34" charset="0"/>
                <a:ea typeface="Calibri" pitchFamily="34" charset="-122"/>
                <a:cs typeface="Calibri" pitchFamily="34" charset="-120"/>
              </a:rPr>
              <a:t>4. National Institute for Health and Care Excellence. Rheumatoid arthritis in over 16s. Quality standard QS33. London: NICE; 2013 (actualizado).</a:t>
            </a:r>
            <a:endParaRPr lang="en-US" sz="800" dirty="0"/>
          </a:p>
          <a:p>
            <a:pPr marL="0" indent="0">
              <a:spcAft>
                <a:spcPts val="400"/>
              </a:spcAft>
              <a:buNone/>
            </a:pPr>
            <a:r>
              <a:rPr lang="en-US" sz="800" dirty="0">
                <a:solidFill>
                  <a:srgbClr val="2A3150"/>
                </a:solidFill>
                <a:latin typeface="Calibri" pitchFamily="34" charset="0"/>
                <a:ea typeface="Calibri" pitchFamily="34" charset="-122"/>
                <a:cs typeface="Calibri" pitchFamily="34" charset="-120"/>
              </a:rPr>
              <a:t>5. Nishimura K, Sugiyama D, Kogata Y, Tsuji G, Nakazawa T, Kawano S, et al. Meta-analysis: diagnostic accuracy of anti-cyclic citrullinated peptide antibody and rheumatoid factor for rheumatoid arthritis. Ann Intern Med. 2007;146(11):797-808. doi:10.7326/0003-4819-146-11-200706050-00008.</a:t>
            </a:r>
            <a:endParaRPr lang="en-US" sz="800" dirty="0"/>
          </a:p>
          <a:p>
            <a:pPr marL="0" indent="0">
              <a:spcAft>
                <a:spcPts val="400"/>
              </a:spcAft>
              <a:buNone/>
            </a:pPr>
            <a:r>
              <a:rPr lang="en-US" sz="800" dirty="0">
                <a:solidFill>
                  <a:srgbClr val="2A3150"/>
                </a:solidFill>
                <a:latin typeface="Calibri" pitchFamily="34" charset="0"/>
                <a:ea typeface="Calibri" pitchFamily="34" charset="-122"/>
                <a:cs typeface="Calibri" pitchFamily="34" charset="-120"/>
              </a:rPr>
              <a:t>6. Aletaha D, Neogi T, Silman AJ, Funovits J, Felson DT, Bingham CO 3rd, et al. 2010 rheumatoid arthritis classification criteria: an ACR/EULAR collaborative initiative. Ann Rheum Dis. 2010;69(9):1580-8. doi:10.1136/ard.2010.138461.</a:t>
            </a:r>
            <a:endParaRPr lang="en-US" sz="800" dirty="0"/>
          </a:p>
          <a:p>
            <a:pPr marL="0" indent="0">
              <a:spcAft>
                <a:spcPts val="400"/>
              </a:spcAft>
              <a:buNone/>
            </a:pPr>
            <a:r>
              <a:rPr lang="en-US" sz="800" dirty="0">
                <a:solidFill>
                  <a:srgbClr val="2A3150"/>
                </a:solidFill>
                <a:latin typeface="Calibri" pitchFamily="34" charset="0"/>
                <a:ea typeface="Calibri" pitchFamily="34" charset="-122"/>
                <a:cs typeface="Calibri" pitchFamily="34" charset="-120"/>
              </a:rPr>
              <a:t>7. Combe B, Landewé R, Daien CI, Hua C, Aletaha D, Álvaro-Gracia JM, et al. 2016 update of the EULAR recommendations for the management of early arthritis. Ann Rheum Dis. 2017;76(6):948-59. doi:10.1136/annrheumdis-2016-210602.</a:t>
            </a:r>
            <a:endParaRPr lang="en-US" sz="800" dirty="0"/>
          </a:p>
          <a:p>
            <a:pPr marL="0" indent="0">
              <a:spcAft>
                <a:spcPts val="400"/>
              </a:spcAft>
              <a:buNone/>
            </a:pPr>
            <a:r>
              <a:rPr lang="en-US" sz="800" dirty="0">
                <a:solidFill>
                  <a:srgbClr val="2A3150"/>
                </a:solidFill>
                <a:latin typeface="Calibri" pitchFamily="34" charset="0"/>
                <a:ea typeface="Calibri" pitchFamily="34" charset="-122"/>
                <a:cs typeface="Calibri" pitchFamily="34" charset="-120"/>
              </a:rPr>
              <a:t>8. Ezzati F, Pezeshk P. Radiographic findings of inflammatory arthritis and mimics in the hands. Diagnostics (Basel). 2022;12(9):2134. doi:10.3390/diagnostics12092134.</a:t>
            </a:r>
            <a:endParaRPr lang="en-US" sz="800" dirty="0"/>
          </a:p>
        </p:txBody>
      </p:sp>
      <p:sp>
        <p:nvSpPr>
          <p:cNvPr id="6" name="Text 4"/>
          <p:cNvSpPr txBox="1"/>
          <p:nvPr/>
        </p:nvSpPr>
        <p:spPr>
          <a:xfrm>
            <a:off x="4663440" y="1143000"/>
            <a:ext cx="4023360" cy="3611880"/>
          </a:xfrm>
          <a:prstGeom prst="rect">
            <a:avLst/>
          </a:prstGeom>
          <a:noFill/>
          <a:ln/>
        </p:spPr>
        <p:txBody>
          <a:bodyPr wrap="square" lIns="0" tIns="0" rIns="0" bIns="0" rtlCol="0" anchor="t"/>
          <a:lstStyle/>
          <a:p>
            <a:pPr marL="0" indent="0">
              <a:spcAft>
                <a:spcPts val="400"/>
              </a:spcAft>
              <a:buNone/>
            </a:pPr>
            <a:r>
              <a:rPr lang="en-US" sz="800" dirty="0">
                <a:solidFill>
                  <a:srgbClr val="2A3150"/>
                </a:solidFill>
                <a:latin typeface="Calibri" pitchFamily="34" charset="0"/>
                <a:ea typeface="Calibri" pitchFamily="34" charset="-122"/>
                <a:cs typeface="Calibri" pitchFamily="34" charset="-120"/>
              </a:rPr>
              <a:t>9. Ravn C, Neyt J, Benito N, Abreu MA, Achermann Y, Bozhkova S, et al. Guideline for management of septic arthritis in native joints (SANJO). J Bone Jt Infect. 2023;8(1):29-37. doi:10.5194/jbji-8-29-2023.</a:t>
            </a:r>
            <a:endParaRPr lang="en-US" sz="800" dirty="0"/>
          </a:p>
          <a:p>
            <a:pPr marL="0" indent="0">
              <a:spcAft>
                <a:spcPts val="400"/>
              </a:spcAft>
              <a:buNone/>
            </a:pPr>
            <a:r>
              <a:rPr lang="en-US" sz="800" dirty="0">
                <a:solidFill>
                  <a:srgbClr val="2A3150"/>
                </a:solidFill>
                <a:latin typeface="Calibri" pitchFamily="34" charset="0"/>
                <a:ea typeface="Calibri" pitchFamily="34" charset="-122"/>
                <a:cs typeface="Calibri" pitchFamily="34" charset="-120"/>
              </a:rPr>
              <a:t>10. GBD 2021 Rheumatoid Arthritis Collaborators. Global, regional, and national burden of rheumatoid arthritis, 1990–2020, and projections to 2050. Lancet Rheumatol. 2023;5(10):e594-e610.</a:t>
            </a:r>
            <a:endParaRPr lang="en-US" sz="800" dirty="0"/>
          </a:p>
          <a:p>
            <a:pPr marL="0" indent="0">
              <a:spcAft>
                <a:spcPts val="400"/>
              </a:spcAft>
              <a:buNone/>
            </a:pPr>
            <a:r>
              <a:rPr lang="en-US" sz="800" dirty="0">
                <a:solidFill>
                  <a:srgbClr val="2A3150"/>
                </a:solidFill>
                <a:latin typeface="Calibri" pitchFamily="34" charset="0"/>
                <a:ea typeface="Calibri" pitchFamily="34" charset="-122"/>
                <a:cs typeface="Calibri" pitchFamily="34" charset="-120"/>
              </a:rPr>
              <a:t>11. Fraenkel L, Bathon JM, England BR, et al. 2021 American College of Rheumatology guideline for the treatment of rheumatoid arthritis. Arthritis Care Res. 2021;73(7):924-39. doi:10.1002/acr.24596.</a:t>
            </a:r>
            <a:endParaRPr lang="en-US" sz="800" dirty="0"/>
          </a:p>
          <a:p>
            <a:pPr marL="0" indent="0">
              <a:spcAft>
                <a:spcPts val="400"/>
              </a:spcAft>
              <a:buNone/>
            </a:pPr>
            <a:r>
              <a:rPr lang="en-US" sz="800" dirty="0">
                <a:solidFill>
                  <a:srgbClr val="2A3150"/>
                </a:solidFill>
                <a:latin typeface="Calibri" pitchFamily="34" charset="0"/>
                <a:ea typeface="Calibri" pitchFamily="34" charset="-122"/>
                <a:cs typeface="Calibri" pitchFamily="34" charset="-120"/>
              </a:rPr>
              <a:t>12. Grigor C, Capell H, Stirling A, et al. Effect of a treatment strategy of tight control for rheumatoid arthritis (the TICORA study). Lancet. 2004;364(9430):263-9.</a:t>
            </a:r>
            <a:endParaRPr lang="en-US" sz="800" dirty="0"/>
          </a:p>
          <a:p>
            <a:pPr marL="0" indent="0">
              <a:spcAft>
                <a:spcPts val="400"/>
              </a:spcAft>
              <a:buNone/>
            </a:pPr>
            <a:r>
              <a:rPr lang="en-US" sz="800" dirty="0">
                <a:solidFill>
                  <a:srgbClr val="2A3150"/>
                </a:solidFill>
                <a:latin typeface="Calibri" pitchFamily="34" charset="0"/>
                <a:ea typeface="Calibri" pitchFamily="34" charset="-122"/>
                <a:cs typeface="Calibri" pitchFamily="34" charset="-120"/>
              </a:rPr>
              <a:t>13. Hetland ML, Haavardsholm EA, Rudin A, et al. Active conventional treatment and three different biological treatments in early rheumatoid arthritis (NORD-STAR). BMJ. 2020;371:m4328.</a:t>
            </a:r>
            <a:endParaRPr lang="en-US" sz="800" dirty="0"/>
          </a:p>
          <a:p>
            <a:pPr marL="0" indent="0">
              <a:spcAft>
                <a:spcPts val="400"/>
              </a:spcAft>
              <a:buNone/>
            </a:pPr>
            <a:r>
              <a:rPr lang="en-US" sz="800" dirty="0">
                <a:solidFill>
                  <a:srgbClr val="2A3150"/>
                </a:solidFill>
                <a:latin typeface="Calibri" pitchFamily="34" charset="0"/>
                <a:ea typeface="Calibri" pitchFamily="34" charset="-122"/>
                <a:cs typeface="Calibri" pitchFamily="34" charset="-120"/>
              </a:rPr>
              <a:t>14. Ytterberg SR, Bhatt DL, Mikuls TR, et al. Cardiovascular and cancer risk with tofacitinib in rheumatoid arthritis (ORAL Surveillance). N Engl J Med. 2022;386(4):316-26.</a:t>
            </a:r>
            <a:endParaRPr lang="en-US" sz="800" dirty="0"/>
          </a:p>
          <a:p>
            <a:pPr marL="0" indent="0">
              <a:spcAft>
                <a:spcPts val="400"/>
              </a:spcAft>
              <a:buNone/>
            </a:pPr>
            <a:r>
              <a:rPr lang="en-US" sz="800" dirty="0">
                <a:solidFill>
                  <a:srgbClr val="2A3150"/>
                </a:solidFill>
                <a:latin typeface="Calibri" pitchFamily="34" charset="0"/>
                <a:ea typeface="Calibri" pitchFamily="34" charset="-122"/>
                <a:cs typeface="Calibri" pitchFamily="34" charset="-120"/>
              </a:rPr>
              <a:t>15. Bass AR, Chakravarty E, Akl EA, et al. 2022 American College of Rheumatology guideline for vaccinations in patients with rheumatic and musculoskeletal diseases. Arthritis Care Res. 2023;75(3):449-64.</a:t>
            </a:r>
            <a:endParaRPr lang="en-US" sz="800" dirty="0"/>
          </a:p>
          <a:p>
            <a:pPr marL="0" indent="0">
              <a:spcAft>
                <a:spcPts val="400"/>
              </a:spcAft>
              <a:buNone/>
            </a:pPr>
            <a:r>
              <a:rPr lang="en-US" sz="800" dirty="0">
                <a:solidFill>
                  <a:srgbClr val="2A3150"/>
                </a:solidFill>
                <a:latin typeface="Calibri" pitchFamily="34" charset="0"/>
                <a:ea typeface="Calibri" pitchFamily="34" charset="-122"/>
                <a:cs typeface="Calibri" pitchFamily="34" charset="-120"/>
              </a:rPr>
              <a:t>16. European Alliance of Associations for Rheumatology. World Arthritis Day: general information. Disponible en: https://www.eular.org/world-arthritis-day-general-information.</a:t>
            </a:r>
            <a:endParaRPr lang="en-US" sz="800" dirty="0"/>
          </a:p>
        </p:txBody>
      </p:sp>
      <p:sp>
        <p:nvSpPr>
          <p:cNvPr id="25" name="Slide Number Placeholder 0"/>
          <p:cNvSpPr>
            <a:spLocks noGrp="1"/>
          </p:cNvSpPr>
          <p:nvPr>
            <p:ph type="sldNum" sz="quarter" idx="4294967295"/>
          </p:nvPr>
        </p:nvSpPr>
        <p:spPr>
          <a:xfrm>
            <a:off x="8229600" y="4837176"/>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65E82"/>
                </a:solidFill>
                <a:latin typeface="Calibri"/>
                <a:ea typeface="Calibri"/>
                <a:cs typeface="Calibri"/>
              </a:defRPr>
            </a:lvl1pPr>
          </a:lstStyle>
          <a:p>
            <a:pPr algn="r"/>
            <a:fld id="{F7021451-1387-4CA6-816F-3879F97B5CBC}" type="slidenum">
              <a:rPr lang="en-US" b="0"/>
              <a:t>36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5708</Words>
  <Application>Microsoft Macintosh PowerPoint</Application>
  <PresentationFormat>Presentación en pantalla (16:9)</PresentationFormat>
  <Paragraphs>544</Paragraphs>
  <Slides>36</Slides>
  <Notes>35</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36</vt:i4>
      </vt:variant>
    </vt:vector>
  </HeadingPairs>
  <TitlesOfParts>
    <vt:vector size="39"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12 perlas en artritis reumatoide · Día Mundial de la Artritis</dc:title>
  <dc:subject>PptxGenJS Presentation</dc:subject>
  <dc:creator>Nestor Fabian Sanabria Duarte</dc:creator>
  <cp:lastModifiedBy>NESTOR FABIAN SANABRIA DUARTE</cp:lastModifiedBy>
  <cp:revision>2</cp:revision>
  <dcterms:created xsi:type="dcterms:W3CDTF">2026-10-11T13:21:17Z</dcterms:created>
  <dcterms:modified xsi:type="dcterms:W3CDTF">2026-10-11T13:38:01Z</dcterms:modified>
</cp:coreProperties>
</file>
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Anti-CCP</c:v>
                </c:pt>
              </c:strCache>
            </c:strRef>
          </c:tx>
          <c:spPr>
            <a:solidFill>
              <a:srgbClr val="4CC9F0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418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Sensibilidad</c:v>
                  </c:pt>
                  <c:pt idx="1">
                    <c:v>Especificidad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</c:v>
                </c:pt>
                <c:pt idx="1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</c:v>
                </c:pt>
              </c:strCache>
            </c:strRef>
          </c:tx>
          <c:spPr>
            <a:solidFill>
              <a:srgbClr val="F2B43C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418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Sensibilidad</c:v>
                  </c:pt>
                  <c:pt idx="1">
                    <c:v>Especificidad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69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418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82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C4CC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182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4182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Declaracion de uso de inteligencia artificial.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Ruta de la charla: cinco pistas clinicas que, integradas, responden si estamos ante una artritis reumatoide inflamatoria o ante artrosis.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Distinguirlas importa.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dicotomia inflamatoria/degenerativa es insuficiente.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AR el pannus erosiona el hueso con pinzamiento uniforme; en la artrosis hay remodelacion osea (osteofitos, esclerosis).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patron del dolor orienta.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 la 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mano revela el diagnostico: distribucion y deformidades. Ilustraciones originales.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 es sistemica.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tacto distingue sinovitis de aumento oseo.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 pedir y como interpretar la serologia.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Autoanticuerpos y reactantes: seroprevalencia y ventana pre-AR.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Nishimura 2007: anti-CCP esp 95%, FR esp 85%.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Radiografia: erosiones (AR) frente a osteofitos (artrosis). Ilustraciones de radiografia senalizadas.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Criterios ACR/EULAR 2010.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Definicion EULAR de artralgia sospechosa (van Steenbergen 2017).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Replantear la artrosis (Tang 2025).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artrosis se diagnostica clinicamente.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fenotipos de artrosis (Dell Isola 2016).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artrosis cursa con inflamacion de bajo grado.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inflamacion deja una huella mecanica (artrosis secundaria).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perlas para no confundir AR con artrosis.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14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DIFERENCIAL CON ARTROSIS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298448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o no es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084832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F254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reumatoide?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30358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9C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Diagnostico diferencial con artrosis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676656" y="3675888"/>
            <a:ext cx="822960" cy="411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38404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Nestor Fabian Sanabria Duarte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4242816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9C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Residente de tercer año · Especialización en medicina interna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658368" y="455371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B9C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Libre de Colombia – Seccional Barranquilla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DECLARACIÓN DE USO DE INTELIGENCIA ARTIFICIAL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58368" y="1417320"/>
            <a:ext cx="914400" cy="45720"/>
          </a:xfrm>
          <a:prstGeom prst="rect">
            <a:avLst/>
          </a:prstGeom>
          <a:solidFill>
            <a:srgbClr val="6A4CCF"/>
          </a:solidFill>
          <a:ln w="12700">
            <a:solidFill>
              <a:srgbClr val="6A4CC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783080"/>
            <a:ext cx="78638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88900" dist="38100" dir="5400000">
              <a:srgbClr val="9AA6C2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129030000" dist="483870000" dir="324000000000">
              <a:srgbClr val="9AA6C2">
                <a:alpha val="280000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743" y="21477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011680"/>
            <a:ext cx="6675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la elaboración de esta presentación se utilizó Claude (Anthropic) nivel 3 como herramienta de apoyo para el diseño de esquemas y recursos gráficos.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971800"/>
            <a:ext cx="7406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contenido generado con asistencia de inteligencia artificial fue revisado, verificado y supervisado por los autores, quienes realizaron los ajustes correspondientes y asumen la responsabilidad final sobre la precisión, pertinencia e integridad del contenido presentado.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PREGUNTA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pistas para responderla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1737360"/>
            <a:ext cx="1572768" cy="2103120"/>
          </a:xfrm>
          <a:prstGeom prst="roundRect">
            <a:avLst>
              <a:gd name="adj" fmla="val 5814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14338681000000" dist="6145149000000" dir="19440000000000000">
              <a:srgbClr val="9AA6C2">
                <a:alpha val="2800000000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1956816"/>
            <a:ext cx="548640" cy="54864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  <a:effectLst>
            <a:outerShdw sx="100000" sy="100000" kx="0" ky="0" algn="bl" rotWithShape="0" blurRad="182101248700000000" dist="78043392300000000" dir="1.1664e+21">
              <a:srgbClr val="9AA6C2">
                <a:alpha val="2800000000000000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786" y="2088490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84048" y="259689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56616" y="290779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dolor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2084832" y="1737360"/>
            <a:ext cx="1572768" cy="2103120"/>
          </a:xfrm>
          <a:prstGeom prst="roundRect">
            <a:avLst>
              <a:gd name="adj" fmla="val 5814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2.31268585849e+21" dist="991151082210000000000" dir="6.9984e+25">
              <a:srgbClr val="9AA6C2">
                <a:alpha val="2.8e+24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96896" y="1956816"/>
            <a:ext cx="548640" cy="54864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  <a:effectLst>
            <a:outerShdw sx="100000" sy="100000" kx="0" ky="0" algn="bl" rotWithShape="0" blurRad="2.9371110402823e+25" dist="1.2587618744067e+25" dir="4.19904e+30">
              <a:srgbClr val="9AA6C2">
                <a:alpha val="2.8000000000000003e+29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8570" y="2088490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084832" y="259689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057400" y="290779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mano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785616" y="1737360"/>
            <a:ext cx="1572768" cy="2103120"/>
          </a:xfrm>
          <a:prstGeom prst="roundRect">
            <a:avLst>
              <a:gd name="adj" fmla="val 5814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3.730131021158521e+29" dist="1.598627580496509e+29" dir="2.519424e+35">
              <a:srgbClr val="9AA6C2">
                <a:alpha val="2.8000000000000005e+34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297680" y="1956816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4.737266396871321e+33" dist="2.0302570272305663e+33" dir="1.5116544e+40">
              <a:srgbClr val="9AA6C2">
                <a:alpha val="2.8000000000000006e+39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354" y="2088490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785616" y="259689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3758184" y="290779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examen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5486400" y="1737360"/>
            <a:ext cx="1572768" cy="2103120"/>
          </a:xfrm>
          <a:prstGeom prst="roundRect">
            <a:avLst>
              <a:gd name="adj" fmla="val 5814"/>
            </a:avLst>
          </a:prstGeom>
          <a:solidFill>
            <a:srgbClr val="4CC9F0">
              <a:alpha val="10000"/>
            </a:srgbClr>
          </a:solidFill>
          <a:ln w="19050">
            <a:solidFill>
              <a:srgbClr val="4CC9F0"/>
            </a:solidFill>
            <a:prstDash val="solid"/>
          </a:ln>
          <a:effectLst>
            <a:outerShdw sx="100000" sy="100000" kx="0" ky="0" algn="bl" rotWithShape="0" blurRad="6.016328324026578e+37" dist="2.578426424582819e+37" dir="9.069926400000001e+44">
              <a:srgbClr val="9AA6C2">
                <a:alpha val="2.8000000000000005e+44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998464" y="1956816"/>
            <a:ext cx="548640" cy="54864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  <a:effectLst>
            <a:outerShdw sx="100000" sy="100000" kx="0" ky="0" algn="bl" rotWithShape="0" blurRad="7.640736971513755e+41" dist="3.2746015592201804e+41" dir="5.44195584e+49">
              <a:srgbClr val="9AA6C2">
                <a:alpha val="2.8000000000000003e+49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0138" y="2088490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86400" y="259689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5458968" y="290779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laboratorio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7187184" y="1737360"/>
            <a:ext cx="1572768" cy="2103120"/>
          </a:xfrm>
          <a:prstGeom prst="roundRect">
            <a:avLst>
              <a:gd name="adj" fmla="val 5814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9.703735953822469e+45" dist="4.158743980209629e+45" dir="3.2651735040000005e+54">
              <a:srgbClr val="9AA6C2">
                <a:alpha val="2.8e+54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699248" y="1956816"/>
            <a:ext cx="548640" cy="5486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1.2323744661354536e+50" dist="5.281604854866228e+49" dir="1.9591041024000004e+59">
              <a:srgbClr val="9AA6C2">
                <a:alpha val="2.8000000000000002e+59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0922" y="2088490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187184" y="2596896"/>
            <a:ext cx="15727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7159752" y="2907792"/>
            <a:ext cx="1627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imagen</a:t>
            </a:r>
            <a:endParaRPr lang="en-US" sz="1500" dirty="0"/>
          </a:p>
        </p:txBody>
      </p:sp>
      <p:sp>
        <p:nvSpPr>
          <p:cNvPr id="30" name="Shape 23"/>
          <p:cNvSpPr/>
          <p:nvPr/>
        </p:nvSpPr>
        <p:spPr>
          <a:xfrm>
            <a:off x="384048" y="4023360"/>
            <a:ext cx="8375904" cy="502920"/>
          </a:xfrm>
          <a:prstGeom prst="roundRect">
            <a:avLst>
              <a:gd name="adj" fmla="val 18182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.5651155719920262e+54" dist="6.70763816568011e+53" dir="1.1754624614400003e+64">
              <a:srgbClr val="9AA6C2">
                <a:alpha val="2.8e+64"/>
              </a:srgbClr>
            </a:outerShdw>
          </a:effectLst>
        </p:spPr>
      </p:sp>
      <p:sp>
        <p:nvSpPr>
          <p:cNvPr id="31" name="Text 24"/>
          <p:cNvSpPr txBox="1"/>
          <p:nvPr/>
        </p:nvSpPr>
        <p:spPr>
          <a:xfrm>
            <a:off x="438912" y="4023360"/>
            <a:ext cx="8266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respuesta casi nunca está en una sola prueba: es el patrón el que decide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lo mismo: cambia la urgencia y el tratamiento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Combe B, Landewe R, Daien CI, Hua C, Aletaha D, Alvaro-Gracia JM, et al. 2016 update of the EULAR recommendations for the management of early arthritis. Ann Rheum Dis. 2017;76(6):948-59.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Tang S, Zhang C, Oo WM, Fu K, Risberg MA, Bierma-Zeinstra SM, et al. Osteoarthritis. Nat Rev Dis Primers. 2025;11(1):10.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402336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1.9876967764298733e+58" dist="8.518700470413739e+57" dir="7.052774768640002e+68">
              <a:srgbClr val="9AA6C2">
                <a:alpha val="2.8000000000000002e+6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463040"/>
            <a:ext cx="621792" cy="621792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  <a:effectLst>
            <a:outerShdw sx="100000" sy="100000" kx="0" ky="0" algn="bl" rotWithShape="0" blurRad="2.524374906065939e+62" dist="1.081874959742545e+62" dir="4.2316648611840007e+73">
              <a:srgbClr val="9AA6C2">
                <a:alpha val="2.8e+74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310" y="1612270"/>
            <a:ext cx="323332" cy="3233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53312" y="15179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19456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Inflamatoria y autoinmune: hay ventana de oportunidad.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tratamiento pronto erosiona y deforma de forma irreversible.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 temprano a reumatología cambia el pronóstico.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402336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3.2059561307037426e+66" dist="1.373981198873032e+66" dir="2.5389989167104004e+78">
              <a:srgbClr val="9AA6C2">
                <a:alpha val="2.8e+79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46320" y="1463040"/>
            <a:ext cx="621792" cy="621792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  <a:effectLst>
            <a:outerShdw sx="100000" sy="100000" kx="0" ky="0" algn="bl" rotWithShape="0" blurRad="4.071564285993753e+70" dist="1.7449561225687507e+70" dir="1.5233993500262402e+83">
              <a:srgbClr val="9AA6C2">
                <a:alpha val="2.8000000000000002e+84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550" y="1612270"/>
            <a:ext cx="323332" cy="32333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59552" y="151790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892040" y="219456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 activa de toda la articulación, la más frecuente (no simple “desgaste”).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autoinmune: no requiere inmunosupresión.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Sobrediagnosticar AR expone a tratamientos innecesarios.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457200" y="4133088"/>
            <a:ext cx="8229600" cy="329184"/>
          </a:xfrm>
          <a:prstGeom prst="roundRect">
            <a:avLst>
              <a:gd name="adj" fmla="val 27778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5.170886643212067e+74" dist="2.2160942756623134e+74" dir="9.14039610015744e+87">
              <a:srgbClr val="9AA6C2">
                <a:alpha val="2.8000000000000004e+89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512064" y="4133088"/>
            <a:ext cx="8119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≈ 0,5–1 % de adultos · Artrosis ≈ 595 millones de personas (7,6 % mundial, 2020); la rodilla, la más afectada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enfermedades distintas de raíz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Smolen JS, Aletaha D, Barton A, Burmester GR, Emery P, Firestein GS, et al. Rheumatoid arthritis. Nat Rev Dis Primers. 2018;4:18001.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Hunter DJ, Bierma-Zeinstra S. Osteoarthritis. Lancet. 2019;393(10182):1745-59.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6.567026036879325e+78" dist="2.814439730091138e+78" dir="5.484237660094465e+92">
              <a:srgbClr val="9AA6C2">
                <a:alpha val="2.8000000000000004e+94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Rasgo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1792224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79222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Naturaleza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1792224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Autoinmune inflamatoria sistémica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1792224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Multifactorial, no autoinmune clásica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359152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35915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2359152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Membrana sinovial (sinovitis, pannus)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2359152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Alteración de la homeostasis de toda la articulación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92608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típica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29260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años; a cualquier edad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2926080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con la edad; posible en jóvenes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3493008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493008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0" y="3493008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 2–3 : 1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3493008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 (manos y rodilla)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4059936"/>
            <a:ext cx="822960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4059936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743200" y="4059936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Persistente; inicio variable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760720" y="4059936"/>
            <a:ext cx="2880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Generalmente gradual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FISIOPATOLOGÍA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articulación por dentro: sinovitis frente a remodelación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Smolen JS, Aletaha D, Barton A, Burmester GR, Emery P, Firestein GS, et al. Rheumatoid arthritis. Nat Rev Dis Primers. 2018;4:18001.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Tang S, Zhang C, Oo WM, Fu K, Risberg MA, Bierma-Zeinstra SM, et al. Osteoarthritis. Nat Rev Dis Primers. 2025;11(1):10.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8.340123066836742e+82" dist="3.574338457215745e+82" dir="3.2905425960566786e+97">
              <a:srgbClr val="9AA6C2">
                <a:alpha val="2.8000000000000003e+99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3167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1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664208"/>
            <a:ext cx="3803904" cy="21945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48640" y="3858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Pannus sinovial + erosiones · pinzamiento uniforme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12344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1.0591956294882662e+87" dist="4.539409840663996e+86" dir="1.9743255576340073e+102">
              <a:srgbClr val="9AA6C2">
                <a:alpha val="2.8000000000000003e+104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846320" y="13167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</a:t>
            </a:r>
            <a:endParaRPr lang="en-US" sz="15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73168" y="1664208"/>
            <a:ext cx="3803904" cy="21945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754880" y="385876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Osteofitos + esclerosis · pinzamiento asimétrico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1 · EL DOLOR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inflamatorio frente a dolor mecánico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Combe B, Landewe R, Daien CI, Hua C, Aletaha D, Alvaro-Gracia JM, et al. 2016 update of the EULAR recommendations for the management of early arthritis. Ann Rheum Dis. 2017;76(6):948-59.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Katz JN, Arant KR, Loeser RF. Diagnosis and treatment of hip and knee osteoarthritis: a review. JAMA. 2021;325(6):568-78.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1.3451784494500981e+91" dist="5.765050497643275e+90" dir="1.1845953345804043e+107">
              <a:srgbClr val="9AA6C2">
                <a:alpha val="2.8e+109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" y="12801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1280160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Inflamatorio (AR)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2801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Mecánico (artrosis)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1810512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810512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181051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en reposo y de madrugada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181051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con el uso y al final del día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2505456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505456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movimiento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2505456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al “desentumecer”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2505456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Empeora; mejora con el reposo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200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matutina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3200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30–60 min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3200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min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3895344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895344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Síntomas generales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3895344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Fatiga, febrícula, malestar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5806440" y="3895344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Ausentes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2 · LA MANO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de la mano: el patrón que delata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Ezzati F, Pezeshk P. Radiographic findings of inflammatory arthritis and mimics in the hands. Diagnostics (Basel). 2022;12(9):2134.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Combe B, Landewe R, Daien CI, Hua C, Aletaha D, Alvaro-Gracia JM, et al. 2016 update of the EULAR recommendations for the management of early arthritis. Ann Rheum Dis. 2017;76(6):948-59.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606040"/>
            <a:ext cx="1463040" cy="1234440"/>
          </a:xfrm>
          <a:prstGeom prst="roundRect">
            <a:avLst>
              <a:gd name="adj" fmla="val 18519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463040"/>
            <a:ext cx="292608" cy="1417320"/>
          </a:xfrm>
          <a:prstGeom prst="roundRect">
            <a:avLst>
              <a:gd name="adj" fmla="val 46875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532888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016252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627632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1307592"/>
            <a:ext cx="292608" cy="1572768"/>
          </a:xfrm>
          <a:prstGeom prst="roundRect">
            <a:avLst>
              <a:gd name="adj" fmla="val 46875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53896" y="2532888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3896" y="1950964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53896" y="1509492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73936" y="1399032"/>
            <a:ext cx="292608" cy="1481328"/>
          </a:xfrm>
          <a:prstGeom prst="roundRect">
            <a:avLst>
              <a:gd name="adj" fmla="val 46875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10512" y="2532888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10512" y="1989369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10512" y="1578986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30552" y="1645920"/>
            <a:ext cx="292608" cy="1234440"/>
          </a:xfrm>
          <a:prstGeom prst="roundRect">
            <a:avLst>
              <a:gd name="adj" fmla="val 46875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67128" y="2532888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67128" y="2093062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67128" y="1766621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2651760"/>
            <a:ext cx="310896" cy="1143000"/>
          </a:xfrm>
          <a:prstGeom prst="roundRect">
            <a:avLst>
              <a:gd name="adj" fmla="val 44118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2770632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3108960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" y="3502152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34440" y="3794760"/>
            <a:ext cx="1005840" cy="411480"/>
          </a:xfrm>
          <a:prstGeom prst="roundRect">
            <a:avLst>
              <a:gd name="adj" fmla="val 22222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7592" y="3886200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27632" y="3886200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47672" y="3886200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3657600" y="2606040"/>
            <a:ext cx="1463040" cy="1234440"/>
          </a:xfrm>
          <a:prstGeom prst="roundRect">
            <a:avLst>
              <a:gd name="adj" fmla="val 18519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12464" y="1463040"/>
            <a:ext cx="292608" cy="1417320"/>
          </a:xfrm>
          <a:prstGeom prst="roundRect">
            <a:avLst>
              <a:gd name="adj" fmla="val 46875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49040" y="2532888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49040" y="2016252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49040" y="1627632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69080" y="1307592"/>
            <a:ext cx="292608" cy="1572768"/>
          </a:xfrm>
          <a:prstGeom prst="roundRect">
            <a:avLst>
              <a:gd name="adj" fmla="val 46875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05656" y="2532888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05656" y="1950964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05656" y="1509492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25696" y="1399032"/>
            <a:ext cx="292608" cy="1481328"/>
          </a:xfrm>
          <a:prstGeom prst="roundRect">
            <a:avLst>
              <a:gd name="adj" fmla="val 46875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62272" y="2532888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62272" y="1989369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62272" y="1578986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82312" y="1645920"/>
            <a:ext cx="292608" cy="1234440"/>
          </a:xfrm>
          <a:prstGeom prst="roundRect">
            <a:avLst>
              <a:gd name="adj" fmla="val 46875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18888" y="2532888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18888" y="2093062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18888" y="1766621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73552" y="2651760"/>
            <a:ext cx="310896" cy="1143000"/>
          </a:xfrm>
          <a:prstGeom prst="roundRect">
            <a:avLst>
              <a:gd name="adj" fmla="val 44118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19272" y="2770632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19272" y="3108960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19272" y="3502152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86200" y="3794760"/>
            <a:ext cx="1005840" cy="411480"/>
          </a:xfrm>
          <a:prstGeom prst="roundRect">
            <a:avLst>
              <a:gd name="adj" fmla="val 22222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59352" y="3886200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79392" y="3886200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99432" y="3886200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10896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5943600" y="132588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  <a:effectLst>
            <a:outerShdw sx="100000" sy="100000" kx="0" ky="0" algn="bl" rotWithShape="0" blurRad="1.7083766308016246e+95" dist="7.321614132006959e+94" dir="7.107572007482426e+111">
              <a:srgbClr val="9AA6C2">
                <a:alpha val="2.8e+114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126480" y="1536192"/>
            <a:ext cx="237744" cy="237744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446520" y="14813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AR: MCF, IFP y muñecas (simétrico)</a:t>
            </a:r>
            <a:endParaRPr lang="en-US" sz="1250" dirty="0"/>
          </a:p>
        </p:txBody>
      </p:sp>
      <p:sp>
        <p:nvSpPr>
          <p:cNvPr id="62" name="Shape 60"/>
          <p:cNvSpPr/>
          <p:nvPr/>
        </p:nvSpPr>
        <p:spPr>
          <a:xfrm>
            <a:off x="6126480" y="2194560"/>
            <a:ext cx="237744" cy="23774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446520" y="2103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Artrosis: IFD, IFP y base del pulgar (CMC1)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126480" y="2926080"/>
            <a:ext cx="237744" cy="237744"/>
          </a:xfrm>
          <a:prstGeom prst="ellipse">
            <a:avLst/>
          </a:prstGeom>
          <a:solidFill>
            <a:srgbClr val="CFD6E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446520" y="287121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Habitualmente respetada</a:t>
            </a:r>
            <a:endParaRPr lang="en-US" sz="1250" dirty="0"/>
          </a:p>
        </p:txBody>
      </p:sp>
      <p:sp>
        <p:nvSpPr>
          <p:cNvPr id="66" name="Text 64"/>
          <p:cNvSpPr txBox="1"/>
          <p:nvPr/>
        </p:nvSpPr>
        <p:spPr>
          <a:xfrm>
            <a:off x="6126480" y="3429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IFD casi nunca se afecta en AR: su compromiso apunta a artrosis (o psoriásica).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2 · LA MANO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mano revela el diagnóstico: distribución y deformidades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Smolen JS, Aletaha D, Barton A, Burmester GR, Emery P, Firestein GS, et al. Rheumatoid arthritis. Nat Rev Dis Primers. 2018;4:18001.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Hunter DJ, Bierma-Zeinstra S. Osteoarthritis. Lancet. 2019;393(10182):1745-59.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2.1696383211180632e+99" dist="9.298449947648839e+98" dir="4.2645432044894554e+116">
              <a:srgbClr val="9AA6C2">
                <a:alpha val="2.8e+119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3167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15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627632"/>
            <a:ext cx="1920240" cy="173736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6928" y="3291840"/>
            <a:ext cx="1783080" cy="9144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14600" y="1691640"/>
            <a:ext cx="1874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Dónde: MCF, IFP, muñecas y MTF del pie.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 y poliarticular; respeta IFD.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Deja: desviación cubital, cuello de cisne, deformidad en ojal.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Nódulos reumatoides subcutáneos en zonas de presión.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63440" y="1234440"/>
            <a:ext cx="402336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2.7554406678199403e+103" dist="1.1809031433514024e+103" dir="2.5587259226936733e+121">
              <a:srgbClr val="9AA6C2">
                <a:alpha val="2.8e+124"/>
              </a:srgbClr>
            </a:outerShdw>
          </a:effectLst>
        </p:spPr>
      </p:sp>
      <p:sp>
        <p:nvSpPr>
          <p:cNvPr id="13" name="Text 9"/>
          <p:cNvSpPr txBox="1"/>
          <p:nvPr/>
        </p:nvSpPr>
        <p:spPr>
          <a:xfrm>
            <a:off x="4846320" y="131673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</a:t>
            </a:r>
            <a:endParaRPr lang="en-US" sz="15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754880" y="1664208"/>
            <a:ext cx="1920240" cy="22860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720840" y="1691640"/>
            <a:ext cx="18745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Dónde: IFD, IFP y base del pulgar en manos.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de carga: rodilla y cadera; columna.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Deja: nódulos de Heberden (IFD) y Bouchard (IFP).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Rizartrosis: base del pulgar “cuadrada”.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 NO ES SOLO MANOS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enfermedad sistémica, no solo articular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Smolen JS, Aletaha D, Barton A, Burmester GR, Emery P, Firestein GS, et al. Rheumatoid arthritis. Nat Rev Dis Primers. 2018;4:18001.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Combe B, Landewe R, Daien CI, Hua C, Aletaha D, Alvaro-Gracia JM, et al. 2016 update of the EULAR recommendations for the management of early arthritis. Ann Rheum Dis. 2017;76(6):948-59.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704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manos son la vitrina, pero la AR afecta muchas articulaciones y otros órganos.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3.499409648131324e+107" dist="1.499746992056281e+107" dir="1.535235553616204e+126">
              <a:srgbClr val="9AA6C2">
                <a:alpha val="2.8e+129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400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articulaciones</a:t>
            </a:r>
            <a:endParaRPr lang="en-US" sz="16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148840"/>
            <a:ext cx="36118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Grandes: hombros, codos, rodillas y tobillos.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Pies: metatarsofalángicas (MTF), a menudo precoz.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cervical (C1–C2): subluxación atloaxoidea.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Respeta la columna dorsolumbar.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663440" y="160020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4.4442502531267815e+111" dist="1.904678679911477e+111" dir="9.211413321697224e+130">
              <a:srgbClr val="9AA6C2">
                <a:alpha val="2.8e+134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8463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la articulación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4846320" y="2194560"/>
            <a:ext cx="3657600" cy="603504"/>
          </a:xfrm>
          <a:prstGeom prst="roundRect">
            <a:avLst>
              <a:gd name="adj" fmla="val 15152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5.644197821471012e+115" dist="2.418941923487576e+115" dir="5.526847993018334e+135">
              <a:srgbClr val="9AA6C2">
                <a:alpha val="2.8e+139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56048" y="2313432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7.168131233268186e+119" dist="3.0720562428292216e+119" dir="3.3161087958110005e+140">
              <a:srgbClr val="9AA6C2">
                <a:alpha val="2.7999999999999997e+144"/>
              </a:srgbClr>
            </a:outerShdw>
          </a:effectLst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43830" y="2401214"/>
            <a:ext cx="190195" cy="19019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440680" y="2194560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Pulmón: EPID y nódulos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4846320" y="2889504"/>
            <a:ext cx="3657600" cy="603504"/>
          </a:xfrm>
          <a:prstGeom prst="roundRect">
            <a:avLst>
              <a:gd name="adj" fmla="val 15152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9.103526666250596e+123" dist="3.9015114283931116e+123" dir="1.9896652774866004e+145">
              <a:srgbClr val="9AA6C2">
                <a:alpha val="2.8e+149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956048" y="3008376"/>
            <a:ext cx="365760" cy="36576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  <a:effectLst>
            <a:outerShdw sx="100000" sy="100000" kx="0" ky="0" algn="bl" rotWithShape="0" blurRad="1.1561478866138256e+128" dist="4.954919514059251e+127" dir="1.1937991664919603e+150">
              <a:srgbClr val="9AA6C2">
                <a:alpha val="2.8e+154"/>
              </a:srgbClr>
            </a:outerShdw>
          </a:effectLst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830" y="3096158"/>
            <a:ext cx="190195" cy="19019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440680" y="2889504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Nódulos reumatoides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4846320" y="3584448"/>
            <a:ext cx="3657600" cy="603504"/>
          </a:xfrm>
          <a:prstGeom prst="roundRect">
            <a:avLst>
              <a:gd name="adj" fmla="val 15152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1.4683078159995586e+132" dist="6.2927477828552495e+131" dir="7.162794998951762e+154">
              <a:srgbClr val="9AA6C2">
                <a:alpha val="2.8e+159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956048" y="3703320"/>
            <a:ext cx="365760" cy="36576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  <a:effectLst>
            <a:outerShdw sx="100000" sy="100000" kx="0" ky="0" algn="bl" rotWithShape="0" blurRad="1.8647509263194394e+136" dist="7.991789684226167e+135" dir="4.297676999371057e+159">
              <a:srgbClr val="9AA6C2">
                <a:alpha val="2.8e+164"/>
              </a:srgbClr>
            </a:outerShdw>
          </a:effectLst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830" y="3791102"/>
            <a:ext cx="190195" cy="19019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440680" y="3584448"/>
            <a:ext cx="3017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Vasculitis reumatoide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3 · EL EXAMEN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dicen las manos al tacto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Combe B, Landewe R, Daien CI, Hua C, Aletaha D, Alvaro-Gracia JM, et al. 2016 update of the EULAR recommendations for the management of early arthritis. Ann Rheum Dis. 2017;76(6):948-59.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Katz JN, Arant KR, Loeser RF. Diagnosis and treatment of hip and knee osteoarthritis: a review. JAMA. 2021;325(6):568-78.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2.368233676425688e+140" dist="1.0149572898967231e+140" dir="2.5786061996226343e+164">
              <a:srgbClr val="9AA6C2">
                <a:alpha val="2.8e+169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1481328"/>
            <a:ext cx="566928" cy="566928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  <a:effectLst>
            <a:outerShdw sx="100000" sy="100000" kx="0" ky="0" algn="bl" rotWithShape="0" blurRad="3.0076567690606238e+144" dist="1.2889957581688384e+144" dir="1.5471637197735807e+169">
              <a:srgbClr val="9AA6C2">
                <a:alpha val="2.8000000000000004e+174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431" y="1617391"/>
            <a:ext cx="294803" cy="294803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53312" y="15361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Blanda (sinovitis)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212848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Esponjosa y fluctuante; caliente, a veces roja.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a la compresión; squeeze test MCF/MTF positivo.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402336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3.819724096706992e+148" dist="1.6370246128744248e+148" dir="9.282982318641485e+173">
              <a:srgbClr val="9AA6C2">
                <a:alpha val="2.8000000000000006e+179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864608" y="1481328"/>
            <a:ext cx="566928" cy="566928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  <a:effectLst>
            <a:outerShdw sx="100000" sy="100000" kx="0" ky="0" algn="bl" rotWithShape="0" blurRad="4.85104960281788e+152" dist="2.0790212583505195e+152" dir="5.569789391184891e+178">
              <a:srgbClr val="9AA6C2">
                <a:alpha val="2.8000000000000007e+184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671" y="1617391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59552" y="15361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 (ósea)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892040" y="2212848"/>
            <a:ext cx="3611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óseo “como hueso”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caliente; crepitación al movilizar.</a:t>
            </a:r>
            <a:endParaRPr lang="en-US" sz="1350" dirty="0"/>
          </a:p>
        </p:txBody>
      </p:sp>
      <p:sp>
        <p:nvSpPr>
          <p:cNvPr id="17" name="Shape 13"/>
          <p:cNvSpPr/>
          <p:nvPr/>
        </p:nvSpPr>
        <p:spPr>
          <a:xfrm>
            <a:off x="457200" y="3703320"/>
            <a:ext cx="2624328" cy="749808"/>
          </a:xfrm>
          <a:prstGeom prst="roundRect">
            <a:avLst>
              <a:gd name="adj" fmla="val 12195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6.160832995578707e+156" dist="2.64035699810516e+156" dir="3.3418736347109347e+183">
              <a:srgbClr val="9AA6C2">
                <a:alpha val="2.8000000000000006e+189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457200" y="376732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 y rubor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457200" y="4114800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3264408" y="3703320"/>
            <a:ext cx="2624328" cy="749808"/>
          </a:xfrm>
          <a:prstGeom prst="roundRect">
            <a:avLst>
              <a:gd name="adj" fmla="val 12195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7.824257904384958e+160" dist="3.353253387593553e+160" dir="2.0051241808265608e+188">
              <a:srgbClr val="9AA6C2">
                <a:alpha val="2.8000000000000004e+194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3264408" y="376732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Crepitación</a:t>
            </a:r>
            <a:endParaRPr lang="en-US" sz="1350" dirty="0"/>
          </a:p>
        </p:txBody>
      </p:sp>
      <p:sp>
        <p:nvSpPr>
          <p:cNvPr id="22" name="Text 18"/>
          <p:cNvSpPr txBox="1"/>
          <p:nvPr/>
        </p:nvSpPr>
        <p:spPr>
          <a:xfrm>
            <a:off x="3264408" y="4114800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Artrosis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6071616" y="3703320"/>
            <a:ext cx="2624328" cy="749808"/>
          </a:xfrm>
          <a:prstGeom prst="roundRect">
            <a:avLst>
              <a:gd name="adj" fmla="val 12195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9.936807538568897e+164" dist="4.2586318022438123e+164" dir="1.2030745084959364e+193">
              <a:srgbClr val="9AA6C2">
                <a:alpha val="2.8000000000000005e+199"/>
              </a:srgbClr>
            </a:outerShdw>
          </a:effectLst>
        </p:spPr>
      </p:sp>
      <p:sp>
        <p:nvSpPr>
          <p:cNvPr id="24" name="Text 20"/>
          <p:cNvSpPr txBox="1"/>
          <p:nvPr/>
        </p:nvSpPr>
        <p:spPr>
          <a:xfrm>
            <a:off x="6071616" y="376732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 + MCF/MTF</a:t>
            </a:r>
            <a:endParaRPr lang="en-US" sz="1350" dirty="0"/>
          </a:p>
        </p:txBody>
      </p:sp>
      <p:sp>
        <p:nvSpPr>
          <p:cNvPr id="25" name="Text 21"/>
          <p:cNvSpPr txBox="1"/>
          <p:nvPr/>
        </p:nvSpPr>
        <p:spPr>
          <a:xfrm>
            <a:off x="6071616" y="4114800"/>
            <a:ext cx="2624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4 · EL LABORATORIO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pedir y cómo interpretarlo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Nishimura K, Sugiyama D, Kogata Y, Tsuji G, Nakazawa T, Kawano S, et al. Meta-analysis: diagnostic accuracy of anti-cyclic citrullinated peptide antibody and rheumatoid factor for rheumatoid arthritis. Ann Intern Med. 2007;146(11):797-808.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Katz JN, Arant KR, Loeser RF. Diagnosis and treatment of hip and knee osteoarthritis: a review. JAMA. 2021;325(6):568-78.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1.26197455739825e+169" dist="5.408462388849642e+168" dir="7.218447050975619e+197">
              <a:srgbClr val="9AA6C2">
                <a:alpha val="2.800000000000001e+204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pedir si sospechas AR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2880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reumatoide (FR).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Anti-CCP / ACPA (más específico).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VSG y PCR (actividad inflamatoria).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Hemograma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Radiografía de manos y pies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4CC9F0"/>
            </a:solidFill>
            <a:prstDash val="solid"/>
          </a:ln>
          <a:effectLst>
            <a:outerShdw sx="100000" sy="100000" kx="0" ky="0" algn="bl" rotWithShape="0" blurRad="1.6027076878957775e+173" dist="6.868747233839046e+172" dir="4.3310682305853715e+202">
              <a:srgbClr val="9AA6C2">
                <a:alpha val="2.800000000000001e+209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interpretarlo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82880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negativo no descarta: hasta un tercio son seronegativas.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FR+ aislado puede verse en sanos, infecciones o con la edad.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serología modifica la probabilidad, no diagnostica sola.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LABORATORIO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Autoanticuerpos y reactantes de fase aguda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Smolen JS, et al. Rheumatoid Arthritis in Adults: A Review. JAMA. 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938528" cy="1554480"/>
          </a:xfrm>
          <a:prstGeom prst="roundRect">
            <a:avLst>
              <a:gd name="adj" fmla="val 5882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2.0354387636276376e+177" dist="8.723308986975589e+176" dir="2.598640938351223e+207">
              <a:srgbClr val="9AA6C2">
                <a:alpha val="2.8000000000000007e+214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" y="13898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40–60 %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956816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seropositivos (FR y/o ACPA) al diagnóstico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42032" y="1280160"/>
            <a:ext cx="1938528" cy="1554480"/>
          </a:xfrm>
          <a:prstGeom prst="roundRect">
            <a:avLst>
              <a:gd name="adj" fmla="val 5882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2.5850072298071e+181" dist="1.1078602413458997e+181" dir="1.5591845630107338e+212">
              <a:srgbClr val="9AA6C2">
                <a:alpha val="2.8000000000000008e+219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542032" y="13898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~80 %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2633472" y="1956816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seropositivos con ≥ 3 años de enfermedad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26864" y="1280160"/>
            <a:ext cx="1938528" cy="1554480"/>
          </a:xfrm>
          <a:prstGeom prst="roundRect">
            <a:avLst>
              <a:gd name="adj" fmla="val 5882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3.282959181855017e+185" dist="1.4069825065092926e+185" dir="9.355107378064403e+216">
              <a:srgbClr val="9AA6C2">
                <a:alpha val="2.800000000000001e+224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626864" y="13898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12 %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4718304" y="1956816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seronegativos se vuelven seropositivos en 3 años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11696" y="1280160"/>
            <a:ext cx="1938528" cy="1554480"/>
          </a:xfrm>
          <a:prstGeom prst="roundRect">
            <a:avLst>
              <a:gd name="adj" fmla="val 5882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4.1693581609558713e+189" dist="1.7868677832668018e+189" dir="5.613064426838642e+221">
              <a:srgbClr val="9AA6C2">
                <a:alpha val="2.800000000000001e+229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711696" y="138988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25 %</a:t>
            </a:r>
            <a:endParaRPr lang="en-US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6803136" y="1956816"/>
            <a:ext cx="175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PCR/VSG elevadas y anemia de enfermedad crónica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autoanticuerpos preceden a la clínica (pre-AR)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14400" y="3749040"/>
            <a:ext cx="7132320" cy="0"/>
          </a:xfrm>
          <a:prstGeom prst="line">
            <a:avLst/>
          </a:prstGeom>
          <a:noFill/>
          <a:ln w="25400">
            <a:solidFill>
              <a:srgbClr val="C4CC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79576" y="3648456"/>
            <a:ext cx="201168" cy="201168"/>
          </a:xfrm>
          <a:prstGeom prst="ellipse">
            <a:avLst/>
          </a:prstGeom>
          <a:solidFill>
            <a:srgbClr val="A78BFA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5.295084864413956e+193" dist="2.2693220847488382e+193" dir="3.367838656103185e+226">
              <a:srgbClr val="9AA6C2">
                <a:alpha val="2.800000000000001e+234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365760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−14 años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74320" y="38953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detectarse ACPA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831336" y="3648456"/>
            <a:ext cx="201168" cy="201168"/>
          </a:xfrm>
          <a:prstGeom prst="ellipse">
            <a:avLst/>
          </a:prstGeom>
          <a:solidFill>
            <a:srgbClr val="4CC9F0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6.724757777805725e+197" dist="2.8820390476310245e+197" dir="2.020703193661911e+231">
              <a:srgbClr val="9AA6C2">
                <a:alpha val="2.800000000000001e+239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3017520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−10 años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2926080" y="38953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aparecer el factor reumatoide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83096" y="3648456"/>
            <a:ext cx="201168" cy="201168"/>
          </a:xfrm>
          <a:prstGeom prst="ellipse">
            <a:avLst/>
          </a:prstGeom>
          <a:solidFill>
            <a:srgbClr val="F2546B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8.54044237781327e+201" dist="3.6601895904914013e+201" dir="1.2124219161971466e+236">
              <a:srgbClr val="9AA6C2">
                <a:alpha val="2.800000000000001e+244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5669280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0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577840" y="3895344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Signos y síntomas de AR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4 · EL LABORATORIO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Anti-CCP frente a FR: rendimiento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Nishimura K, Sugiyama D, Kogata Y, Tsuji G, Nakazawa T, Kawano S, et al. Meta-analysis: diagnostic accuracy of anti-cyclic citrullinated peptide antibody and rheumatoid factor for rheumatoid arthritis. Ann Intern Med. 2007;146(11):797-808.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457200" y="1325880"/>
          <a:ext cx="48463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1325880"/>
            <a:ext cx="32004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4CC9F0"/>
            </a:solidFill>
            <a:prstDash val="solid"/>
          </a:ln>
          <a:effectLst>
            <a:outerShdw sx="100000" sy="100000" kx="0" ky="0" algn="bl" rotWithShape="0" blurRad="1.0846361819822852e+206" dist="4.648440779924079e+205" dir="7.27453149718288e+240">
              <a:srgbClr val="9AA6C2">
                <a:alpha val="2.800000000000001e+249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566928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828800"/>
            <a:ext cx="2880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Anti-CCP: más específico (95 %).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RV+ del anti-CCP ≈ 12,5: un positivo sube mucho la probabilidad de AR.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 ≈ 67–69 %: un negativo no descarta AR.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PISTA 5 · LA IMAGEN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Radiografía: signos opuestos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Ezzati F, Pezeshk P. Radiographic findings of inflammatory arthritis and mimics in the hands. Diagnostics (Basel). 2022;12(9):2134.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Katz JN, Arant KR, Loeser RF. Diagnosis and treatment of hip and knee osteoarthritis: a review. JAMA. 2021;325(6):568-78.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1.3774879511175023e+210" dist="5.9035197905035806e+209" dir="4.364718898309728e+245">
              <a:srgbClr val="9AA6C2">
                <a:alpha val="2.800000000000001e+254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353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682496"/>
            <a:ext cx="1828800" cy="124358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2487168" y="1737360"/>
            <a:ext cx="1920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Erosiones marginales.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Osteopenia yuxtaarticular.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Pinzamiento articular uniforme.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Osteofitos no característicos de la AR aislada.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1.7494096979192279e+214" dist="7.497470133939547e+213" dir="2.6188313389858368e+250">
              <a:srgbClr val="9AA6C2">
                <a:alpha val="2.8000000000000008e+259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4846320" y="13533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</a:t>
            </a:r>
            <a:endParaRPr lang="en-US" sz="15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73168" y="1682496"/>
            <a:ext cx="1828800" cy="124358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693408" y="1700784"/>
            <a:ext cx="1920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Osteofitos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Esclerosis subcondral y quistes.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Pinzamiento asimétrico.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erosiones.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*Erosiones centrales posibles en artrosis erosiva de manos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4114800"/>
            <a:ext cx="8229600" cy="347472"/>
          </a:xfrm>
          <a:prstGeom prst="roundRect">
            <a:avLst>
              <a:gd name="adj" fmla="val 26316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2.2217503163574194e+218" dist="9.521787070103225e+217" dir="1.571298803391502e+255">
              <a:srgbClr val="9AA6C2">
                <a:alpha val="2.800000000000001e+264"/>
              </a:srgbClr>
            </a:outerShdw>
          </a:effectLst>
        </p:spPr>
      </p:sp>
      <p:sp>
        <p:nvSpPr>
          <p:cNvPr id="16" name="Text 12"/>
          <p:cNvSpPr txBox="1"/>
          <p:nvPr/>
        </p:nvSpPr>
        <p:spPr>
          <a:xfrm>
            <a:off x="512064" y="4114800"/>
            <a:ext cx="8119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Ecografía: hipertrofia sinovial y señal Doppler | RM: sinovitis, osteítis y erosiones precoces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clasificación ACR/EULAR 2010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Aletaha D, Neogi T, Silman AJ, Funovits J, Felson DT, Bingham CO 3rd, et al. 2010 rheumatoid arthritis classification criteria: an ACR/EULAR collaborative initiative. Ann Rheum Dis. 2010;69(9):1580-8.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411480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2.8216229017739227e+222" dist="1.2092669579031096e+222" dir="9.427792820349012e+259">
              <a:srgbClr val="9AA6C2">
                <a:alpha val="2.800000000000001e+269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94360" y="13258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articular (0–5)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6916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Articulaciones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6916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grande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77640" y="1700784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77640" y="1700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1488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1488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 grandes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977640" y="2157984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77640" y="2157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6060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2606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pequeñas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977640" y="2615184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77640" y="26151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0632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30632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4–10 pequeñas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977640" y="3072384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77640" y="3072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5204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874520" y="35204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 (≥ 1 pequeña)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977640" y="3529584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776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709160" y="1234440"/>
            <a:ext cx="39776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9050">
            <a:solidFill>
              <a:srgbClr val="4CC9F0"/>
            </a:solidFill>
            <a:prstDash val="solid"/>
          </a:ln>
          <a:effectLst>
            <a:outerShdw sx="100000" sy="100000" kx="0" ky="0" algn="bl" rotWithShape="0" blurRad="3.5834610852528816e+226" dist="1.5357690365369493e+226" dir="5.656675692209407e+264">
              <a:srgbClr val="9AA6C2">
                <a:alpha val="2.800000000000001e+274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4846320" y="129844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Serología (0–3)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1572768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FR/ACPA negativos = 0 · bajos = 2 · altos = 3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1984248"/>
            <a:ext cx="39776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4.550995578271159e+230" dist="1.950426676401926e+230" dir="3.3940054153256444e+269">
              <a:srgbClr val="9AA6C2">
                <a:alpha val="2.8000000000000007e+279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4846320" y="20482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Reactantes (0–1)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2322576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PCR/VSG normales = 0 · anormales = 1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2734056"/>
            <a:ext cx="3977640" cy="676656"/>
          </a:xfrm>
          <a:prstGeom prst="roundRect">
            <a:avLst>
              <a:gd name="adj" fmla="val 13514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5.7797643844043726e+234" dist="2.4770418790304458e+234" dir="2.0364032491953868e+274">
              <a:srgbClr val="9AA6C2">
                <a:alpha val="2.8000000000000006e+284"/>
              </a:srgbClr>
            </a:outerShdw>
          </a:effectLst>
        </p:spPr>
      </p:sp>
      <p:sp>
        <p:nvSpPr>
          <p:cNvPr id="36" name="Text 34"/>
          <p:cNvSpPr txBox="1"/>
          <p:nvPr/>
        </p:nvSpPr>
        <p:spPr>
          <a:xfrm>
            <a:off x="4846320" y="279806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(0–1)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3072384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 semanas = 0 · ≥ 6 semanas = 1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709160" y="3493008"/>
            <a:ext cx="3977640" cy="530352"/>
          </a:xfrm>
          <a:prstGeom prst="roundRect">
            <a:avLst>
              <a:gd name="adj" fmla="val 17241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  <a:effectLst>
            <a:outerShdw sx="100000" sy="100000" kx="0" ky="0" algn="bl" rotWithShape="0" blurRad="7.340300768193554e+238" dist="3.145843186368666e+238" dir="1.221841949517232e+279">
              <a:srgbClr val="9AA6C2">
                <a:alpha val="2.8000000000000008e+289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4764024" y="3493008"/>
            <a:ext cx="38679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 / 10 puntos clasifica como AR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57200" y="4133088"/>
            <a:ext cx="8229600" cy="329184"/>
          </a:xfrm>
          <a:prstGeom prst="roundRect">
            <a:avLst>
              <a:gd name="adj" fmla="val 27778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9.322181975605814e+242" dist="3.995220846688206e+242" dir="7.331051697103393e+283">
              <a:srgbClr val="9AA6C2">
                <a:alpha val="2.800000000000001e+294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512064" y="4133088"/>
            <a:ext cx="8119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≠ diagnosticar: exige ≥ 1 sinovitis clínica sin mejor explicación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QUE SEA 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Artralgia sospechosa de AR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van Steenbergen HW, Aletaha D, Beaart-van de Voorde LJJ, Brouwer E, Codreanu C, Combe B, et al. EULAR definition of arthralgia suspicious for progression to rheumatoid arthritis. Ann Rheum Dis. 2017;76(3):491-6.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Combe B, Landewe R, Daien CI, Hua C, Aletaha D, Alvaro-Gracia JM, et al. 2016 update of the EULAR recommendations for the management of early arthritis. Ann Rheum Dis. 2017;76(6):948-59.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338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parámetros que señalan una artralgia con riesgo de progresar a AR, antes de la artritis establecida.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1591056"/>
            <a:ext cx="402336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.1839171109019383e+247" dist="5.0739304752940216e+246" dir="4.3986310182620354e+288">
              <a:srgbClr val="9AA6C2">
                <a:alpha val="2.800000000000001e+299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6072" y="1682496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159105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Síntomas articulares de inicio reciente (&lt; 1 año)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663440" y="1591056"/>
            <a:ext cx="402336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.5035747308454617e+251" dist="6.443891703623408e+250" dir="2.6391786109572213e+293">
              <a:srgbClr val="9AA6C2">
                <a:alpha val="2.8000000000000006e+304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2312" y="1682496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82312" y="1682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1591056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Síntomas localizados en articulaciones MCF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157984"/>
            <a:ext cx="402336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1.9095399081737364e+255" dist="8.183742463601727e+254" dir="1.5835071665743328e+298">
              <a:srgbClr val="9AA6C2">
                <a:alpha val="Infinity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6072" y="2249424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215798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matutina ≥ 60 min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663440" y="2157984"/>
            <a:ext cx="402336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2.425115683380645e+259" dist="1.0393352928774194e+259" dir="9.501042999445996e+302">
              <a:srgbClr val="9AA6C2">
                <a:alpha val="Infinity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82312" y="2249424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82312" y="22494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2157984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Síntomas más intensos a primera hora de la mañana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2724912"/>
            <a:ext cx="402336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3.079896917893419e+263" dist="1.3199558219543225e+263" dir="5.700625799667598e+307">
              <a:srgbClr val="9AA6C2">
                <a:alpha val="Infinity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76072" y="2816352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76072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272491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de primer grado con AR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63440" y="2724912"/>
            <a:ext cx="402336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3.9114690857246423e+267" dist="1.6763438938819895e+267" dir="Infinity">
              <a:srgbClr val="9AA6C2">
                <a:alpha val="Infinity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82312" y="2816352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782312" y="28163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212080" y="2724912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 para cerrar el puño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7200" y="3291840"/>
            <a:ext cx="4023360" cy="493776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4.9675657388702955e+271" dist="2.1289567452301266e+271" dir="Infinity">
              <a:srgbClr val="9AA6C2">
                <a:alpha val="Infinity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76072" y="3383280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76072" y="33832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1005840" y="3291840"/>
            <a:ext cx="3383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 test de MCF positivo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663440" y="3291840"/>
            <a:ext cx="4023360" cy="493776"/>
          </a:xfrm>
          <a:prstGeom prst="roundRect">
            <a:avLst>
              <a:gd name="adj" fmla="val 18519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  <a:effectLst>
            <a:outerShdw sx="100000" sy="100000" kx="0" ky="0" algn="bl" rotWithShape="0" blurRad="6.308808488365275e+275" dist="2.7037750664422608e+275" dir="Infinity">
              <a:srgbClr val="9AA6C2">
                <a:alpha val="Infinity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4718304" y="3291840"/>
            <a:ext cx="391363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3 de 7 = artralgia sospechosa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457200" y="4041648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8.012186780223899e+279" dist="3.433794334381671e+279" dir="Infinity">
              <a:srgbClr val="9AA6C2">
                <a:alpha val="Infinity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512064" y="4041648"/>
            <a:ext cx="8119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Umbral clínico ≥ 3: prioriza la sensibilidad (AUC 0,92); apoya —no sustituye— el juicio del reumatólogo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REPLANTEAR LA ARTROSIS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artrosis no es solo “desgaste”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Tang S, Zhang C, Oo WM, Fu K, Risberg MA, Bierma-Zeinstra SM, et al. Osteoarthritis. Nat Rev Dis Primers. 2025;11(1):10.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Hunter DJ, Bierma-Zeinstra S. Osteoarthritis. Lancet. 2019;393(10182):1745-59.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3385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una enfermedad activa y heterogénea de toda la articulación, no un desgaste pasivo por la edad.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1874520" cy="2514600"/>
          </a:xfrm>
          <a:prstGeom prst="roundRect">
            <a:avLst>
              <a:gd name="adj" fmla="val 4878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1.0175477210884352e+284" dist="4.360918804664722e+283" dir="Infinity">
              <a:srgbClr val="9AA6C2">
                <a:alpha val="Infinity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4420" y="1828800"/>
            <a:ext cx="640080" cy="6400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1.2922856057823127e+288" dist="5.538366881924197e+287" dir="Infinity">
              <a:srgbClr val="9AA6C2">
                <a:alpha val="Infinity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8039" y="1982419"/>
            <a:ext cx="332842" cy="332842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38912" y="2596896"/>
            <a:ext cx="1911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articulación</a:t>
            </a:r>
            <a:endParaRPr lang="en-US" sz="14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318211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Hueso, cartílago, sinovial, grasa de Hoffa, ligamentos y músculo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75865" y="1627632"/>
            <a:ext cx="1874520" cy="2514600"/>
          </a:xfrm>
          <a:prstGeom prst="roundRect">
            <a:avLst>
              <a:gd name="adj" fmla="val 4878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1.6412027193435371e+292" dist="7.033725940043731e+291" dir="Infinity">
              <a:srgbClr val="9AA6C2">
                <a:alpha val="Infinity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93085" y="1828800"/>
            <a:ext cx="640080" cy="64008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  <a:effectLst>
            <a:outerShdw sx="100000" sy="100000" kx="0" ky="0" algn="bl" rotWithShape="0" blurRad="2.0843274535662923e+296" dist="8.932831943855538e+295" dir="Infinity">
              <a:srgbClr val="9AA6C2">
                <a:alpha val="Infinity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982419"/>
            <a:ext cx="332842" cy="33284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557577" y="2596896"/>
            <a:ext cx="1911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Remodelación activa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2667305" y="318211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Degradación del cartílago y remodelado óseo con osteofitos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694530" y="1627632"/>
            <a:ext cx="1874520" cy="2514600"/>
          </a:xfrm>
          <a:prstGeom prst="roundRect">
            <a:avLst>
              <a:gd name="adj" fmla="val 4878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2.647095866029191e+300" dist="1.1344696568696533e+300" dir="Infinity">
              <a:srgbClr val="9AA6C2">
                <a:alpha val="Infinity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311750" y="1828800"/>
            <a:ext cx="640080" cy="64008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  <a:effectLst>
            <a:outerShdw sx="100000" sy="100000" kx="0" ky="0" algn="bl" rotWithShape="0" blurRad="3.3618117498570727e+304" dist="1.4407764642244596e+304" dir="Infinity">
              <a:srgbClr val="9AA6C2">
                <a:alpha val="Infinity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5369" y="1982419"/>
            <a:ext cx="332842" cy="33284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76242" y="2596896"/>
            <a:ext cx="1911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Inflamación</a:t>
            </a:r>
            <a:endParaRPr lang="en-US" sz="1450" dirty="0"/>
          </a:p>
        </p:txBody>
      </p:sp>
      <p:sp>
        <p:nvSpPr>
          <p:cNvPr id="22" name="Text 17"/>
          <p:cNvSpPr txBox="1"/>
          <p:nvPr/>
        </p:nvSpPr>
        <p:spPr>
          <a:xfrm>
            <a:off x="4785970" y="318211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Sinovitis, fibrosis y vascularización; IL-1 y TNF de bajo grado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813194" y="1627632"/>
            <a:ext cx="1874520" cy="2514600"/>
          </a:xfrm>
          <a:prstGeom prst="roundRect">
            <a:avLst>
              <a:gd name="adj" fmla="val 4878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430414" y="1828800"/>
            <a:ext cx="640080" cy="6400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4034" y="1982419"/>
            <a:ext cx="332842" cy="33284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794906" y="2596896"/>
            <a:ext cx="191109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y sensibilización</a:t>
            </a:r>
            <a:endParaRPr lang="en-US" sz="1450" dirty="0"/>
          </a:p>
        </p:txBody>
      </p:sp>
      <p:sp>
        <p:nvSpPr>
          <p:cNvPr id="27" name="Text 21"/>
          <p:cNvSpPr txBox="1"/>
          <p:nvPr/>
        </p:nvSpPr>
        <p:spPr>
          <a:xfrm>
            <a:off x="6904634" y="3182112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Sensibilización mecánica y neuroplasticidad; suele iniciarla un trauma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NO ES AR?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diagnostica la artrosis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Katz JN, Arant KR, Loeser RF. Diagnosis and treatment of hip and knee osteoarthritis: a review. JAMA. 2021;325(6):568-78.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Tang S, Zhang C, Oo WM, Fu K, Risberg MA, Bierma-Zeinstra SM, et al. Osteoarthritis. Nat Rev Dis Primers. 2025;11(1):10.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diagnóstico clínico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2880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≥ 45 años y dolor relacionado con la actividad.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matutina ausente o &lt; 30 min.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caso típico no hace falta radiografía (NICE).</a:t>
            </a:r>
            <a:endParaRPr lang="en-US" sz="13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Examen: crepitación, aumento óseo, dolor a la rotación interna en cadera.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4CC9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complementarias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82880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no de rutina: radiografía sólo en presentación atípica.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normal: sólo para excluir causas inflamatorias.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¿Y SI NO ES AR?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Fenotipos de la artrosis: no es una sola enfermedad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Dell’Isola A, Allan R, Smith SL, Marreiros SS, Steultjens M. Identification of clinical phenotypes in knee osteoarthritis: a systematic review of the literature. BMC Musculoskelet Disord. 2016;17:425.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Deveza LA, Nelson AE, Loeser RF. Phenotypes of osteoarthritis: current state and future implications. Clin Exp Rheumatol. 2019;37 Suppl 120(5):S64-72.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2624328" cy="1280160"/>
          </a:xfrm>
          <a:prstGeom prst="roundRect">
            <a:avLst>
              <a:gd name="adj" fmla="val 7143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03504" y="150876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162946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147218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crónico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03504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Sensibilización central; dolor desproporcionado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64408" y="1325880"/>
            <a:ext cx="2624328" cy="1280160"/>
          </a:xfrm>
          <a:prstGeom prst="roundRect">
            <a:avLst>
              <a:gd name="adj" fmla="val 7143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10712" y="1508760"/>
            <a:ext cx="502920" cy="50292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413" y="1629461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995928" y="147218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Inflamatorio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410712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Sinovitis y derrame; cursa con brotes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71616" y="1325880"/>
            <a:ext cx="2624328" cy="1280160"/>
          </a:xfrm>
          <a:prstGeom prst="roundRect">
            <a:avLst>
              <a:gd name="adj" fmla="val 7143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508760"/>
            <a:ext cx="502920" cy="50292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621" y="1629461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803136" y="147218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Metabólico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Obesidad y síndrome metabólico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" y="2743200"/>
            <a:ext cx="2624328" cy="1280160"/>
          </a:xfrm>
          <a:prstGeom prst="roundRect">
            <a:avLst>
              <a:gd name="adj" fmla="val 7143"/>
            </a:avLst>
          </a:prstGeom>
          <a:solidFill>
            <a:srgbClr val="4CC9F0">
              <a:alpha val="10000"/>
            </a:srgbClr>
          </a:solidFill>
          <a:ln w="19050">
            <a:solidFill>
              <a:srgbClr val="4CC9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03504" y="2926080"/>
            <a:ext cx="502920" cy="50292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5" y="3046781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88720" y="28895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Óseo-cartilaginoso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03504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remodelado óseo subcondral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264408" y="2743200"/>
            <a:ext cx="2624328" cy="1280160"/>
          </a:xfrm>
          <a:prstGeom prst="roundRect">
            <a:avLst>
              <a:gd name="adj" fmla="val 7143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410712" y="2926080"/>
            <a:ext cx="502920" cy="5029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413" y="3046781"/>
            <a:ext cx="261518" cy="26151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3995928" y="28895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Mecánico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3410712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Malalineación y sobrecarga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071616" y="2743200"/>
            <a:ext cx="2624328" cy="1280160"/>
          </a:xfrm>
          <a:prstGeom prst="roundRect">
            <a:avLst>
              <a:gd name="adj" fmla="val 7143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217920" y="292608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621" y="3046781"/>
            <a:ext cx="261518" cy="26151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803136" y="28895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 mínima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6217920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leve, progresión lenta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457200" y="4206240"/>
            <a:ext cx="8229600" cy="274320"/>
          </a:xfrm>
          <a:prstGeom prst="roundRect">
            <a:avLst>
              <a:gd name="adj" fmla="val 33333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38" name="Text 30"/>
          <p:cNvSpPr txBox="1"/>
          <p:nvPr/>
        </p:nvSpPr>
        <p:spPr>
          <a:xfrm>
            <a:off x="512064" y="4206240"/>
            <a:ext cx="8119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el fenotipo orienta pronóstico y tratamiento; con frecuencia se solapan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MATIZ CLAVE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artrosis también se inflama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Tang S, Zhang C, Oo WM, Fu K, Risberg MA, Bierma-Zeinstra SM, et al. Osteoarthritis. Nat Rev Dis Primers. 2025;11(1):10.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Hunter DJ, Bierma-Zeinstra S. Osteoarthritis. Lancet. 2019;393(10182):1745-59.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solo “desgaste”: hay inflamación, aunque de menor grado que en la AR.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2624328" cy="2240280"/>
          </a:xfrm>
          <a:prstGeom prst="roundRect">
            <a:avLst>
              <a:gd name="adj" fmla="val 4082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08176" y="1965960"/>
            <a:ext cx="731520" cy="73152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741" y="2141525"/>
            <a:ext cx="380390" cy="38039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57200" y="278892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Sinovitis de bajo grado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29184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IL-1 y TNF, derrame y señal Doppler; se ve en ecografía y RM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64408" y="1783080"/>
            <a:ext cx="2624328" cy="2240280"/>
          </a:xfrm>
          <a:prstGeom prst="roundRect">
            <a:avLst>
              <a:gd name="adj" fmla="val 4082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215384" y="1965960"/>
            <a:ext cx="731520" cy="73152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949" y="2141525"/>
            <a:ext cx="380390" cy="38039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264408" y="278892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 erosiva (manos)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3401568" y="329184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Erosiones centrales en IFD/IFP con brotes dolorosos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6071616" y="1783080"/>
            <a:ext cx="2624328" cy="2240280"/>
          </a:xfrm>
          <a:prstGeom prst="roundRect">
            <a:avLst>
              <a:gd name="adj" fmla="val 4082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022592" y="1965960"/>
            <a:ext cx="731520" cy="7315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57" y="2141525"/>
            <a:ext cx="380390" cy="38039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071616" y="2788920"/>
            <a:ext cx="2624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Cristales añadidos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208776" y="3291840"/>
            <a:ext cx="23500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CPPD o gota sobre una articulación artrósica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457200" y="416052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24" name="Text 19"/>
          <p:cNvSpPr txBox="1"/>
          <p:nvPr/>
        </p:nvSpPr>
        <p:spPr>
          <a:xfrm>
            <a:off x="512064" y="4160520"/>
            <a:ext cx="8119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artrosis que se inflama mucho obliga a pensar en cristales o en una AR asociada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la inflamación deja una huella mecánica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Smolen JS, Aletaha D, Barton A, Burmester GR, Emery P, Firestein GS, et al. Rheumatoid arthritis. Nat Rev Dis Primers. 2018;4:18001.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Hunter DJ, Bierma-Zeinstra S. Osteoarthritis. Lancet. 2019;393(10182):1745-59.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512064" y="1234440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Sinovitis reumatoide persistente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17520" y="1664208"/>
            <a:ext cx="274320" cy="914"/>
          </a:xfrm>
          <a:prstGeom prst="line">
            <a:avLst/>
          </a:prstGeom>
          <a:noFill/>
          <a:ln w="31750">
            <a:solidFill>
              <a:srgbClr val="3A415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291840" y="123444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346704" y="1234440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Destrucción del cartílago, erosiones y alteración biomecánica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852160" y="1664208"/>
            <a:ext cx="274320" cy="914"/>
          </a:xfrm>
          <a:prstGeom prst="line">
            <a:avLst/>
          </a:prstGeom>
          <a:noFill/>
          <a:ln w="31750">
            <a:solidFill>
              <a:srgbClr val="3A415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6126480" y="1234440"/>
            <a:ext cx="2560320" cy="868680"/>
          </a:xfrm>
          <a:prstGeom prst="roundRect">
            <a:avLst>
              <a:gd name="adj" fmla="val 10526"/>
            </a:avLst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181344" y="1234440"/>
            <a:ext cx="24505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Remodelación articular → artrosis secundaria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331720"/>
            <a:ext cx="4023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8368" y="2514600"/>
            <a:ext cx="512064" cy="51206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263" y="2637495"/>
            <a:ext cx="266273" cy="266273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98448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puede ocurrir?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312724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 progresiva del cartílago.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Inestabilidad, deformidad o alteración de las cargas articulares.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Formación de osteofitos y remodelación ósea.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663440" y="2331720"/>
            <a:ext cx="40233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4CC9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864608" y="2514600"/>
            <a:ext cx="512064" cy="51206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A6C2">
                <a:alpha val="Infinity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503" y="2637495"/>
            <a:ext cx="266273" cy="26627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504688" y="2560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importa?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4892040" y="3127248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mecánico pese al control de la actividad inflamatoria.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 funcional por daño estructural.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Evitar intensificar inmunosupresión sin evidencia de actividad de 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RECORDAR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20624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perlas para no confundir artritis reumatoide con artrosis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3504" y="1362456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" y="1362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60704" y="128016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del dolor orienta; la exploración define la sospecha.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801368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504" y="1883664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" y="18836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60704" y="1801368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manos son el mapa del diagnóstico.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" y="2404872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" y="2404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060704" y="2322576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artrosis no es simplemente desgaste ni la inflamación es exclusiva de la AR.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2843784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" y="2926080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3504" y="2926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60704" y="2843784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anti-CCP modifica probabilidades, no establece diagnósticos.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3364992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" y="3447288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03504" y="3447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060704" y="3364992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ausencia de erosiones no significa ausencia de artritis reumatoide.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822960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" y="3968496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03504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" y="3886200"/>
            <a:ext cx="7498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Diagnosticar temprano es aprovechar la ventana de oportunidad terapéutica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78308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o no es?</a:t>
            </a:r>
            <a:endParaRPr lang="en-US" sz="50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28346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responde; distinguir a tiempo cambia el pronóstico.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¿Es o no es artritis reumatoide? Diagnóstico diferencial con artrosis</dc:title>
  <dc:subject>PptxGenJS Presentation</dc:subject>
  <dc:creator>Nestor Fabian Sanabria Duarte</dc:creator>
  <cp:lastModifiedBy>Nestor Fabian Sanabria Duarte</cp:lastModifiedBy>
  <cp:revision>1</cp:revision>
  <dcterms:created xsi:type="dcterms:W3CDTF">2026-10-19T11:47:08Z</dcterms:created>
  <dcterms:modified xsi:type="dcterms:W3CDTF">2026-10-19T11:47:08Z</dcterms:modified>
</cp:coreProperties>
</file>
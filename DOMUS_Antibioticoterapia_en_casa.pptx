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charts/chart1.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2.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3.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4.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charts/chart5.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236"/>
                </a:solidFill>
                <a:latin typeface="Calibri"/>
              </a:defRPr>
            </a:pPr>
            <a:r>
              <a:rPr sz="1200" b="0" i="0" u="none" strike="noStrike">
                <a:solidFill>
                  <a:srgbClr val="0B2236"/>
                </a:solidFill>
                <a:latin typeface="Calibri"/>
              </a:rPr>
              <a:t>Margen de contribución por día según nivel</a:t>
            </a:r>
          </a:p>
        </c:rich>
      </c:tx>
      <c:layout/>
      <c:overlay val="0"/>
    </c:title>
    <c:autoTitleDeleted val="0"/>
    <c:plotArea>
      <c:layout/>
      <c:barChart>
        <c:barDir val="col"/>
        <c:grouping val="clustered"/>
        <c:varyColors val="0"/>
        <c:ser>
          <c:idx val="0"/>
          <c:order val="0"/>
          <c:tx>
            <c:strRef>
              <c:f>Sheet1!$B$1</c:f>
              <c:strCache>
                <c:ptCount val="1"/>
                <c:pt idx="0">
                  <c:v>Margen por día</c:v>
                </c:pt>
              </c:strCache>
            </c:strRef>
          </c:tx>
          <c:spPr>
            <a:solidFill>
              <a:srgbClr val="2E9E6A"/>
            </a:solidFill>
            <a:effectLst/>
          </c:spPr>
          <c:invertIfNegative val="0"/>
          <c:dLbls>
            <c:numFmt formatCode="0%" sourceLinked="0"/>
            <c:txPr>
              <a:bodyPr/>
              <a:lstStyle/>
              <a:p>
                <a:pPr>
                  <a:defRPr b="0" i="0" strike="noStrike" sz="1300" u="none">
                    <a:solidFill>
                      <a:srgbClr val="1D2B36"/>
                    </a:solidFill>
                    <a:latin typeface="Calibri"/>
                  </a:defRPr>
                </a:pPr>
              </a:p>
            </c:txPr>
            <c:showLegendKey val="0"/>
            <c:showVal val="1"/>
            <c:showCatName val="0"/>
            <c:showSerName val="0"/>
            <c:showPercent val="0"/>
            <c:showBubbleSize val="0"/>
            <c:showLeaderLines val="0"/>
          </c:dLbls>
          <c:dPt>
            <c:idx val="0"/>
            <c:invertIfNegative val="0"/>
            <c:bubble3D val="0"/>
            <c:spPr>
              <a:solidFill>
                <a:srgbClr val="2E9E6A"/>
              </a:solidFill>
              <a:effectLst/>
            </c:spPr>
          </c:dPt>
          <c:dPt>
            <c:idx val="1"/>
            <c:invertIfNegative val="0"/>
            <c:bubble3D val="0"/>
            <c:spPr>
              <a:solidFill>
                <a:srgbClr val="E9A23B"/>
              </a:solidFill>
              <a:effectLst/>
            </c:spPr>
          </c:dPt>
          <c:dPt>
            <c:idx val="2"/>
            <c:invertIfNegative val="0"/>
            <c:bubble3D val="0"/>
            <c:spPr>
              <a:solidFill>
                <a:srgbClr val="F26B4E"/>
              </a:solidFill>
              <a:effectLst/>
            </c:spPr>
          </c:dPt>
          <c:cat>
            <c:multiLvlStrRef>
              <c:f>Sheet1!$A$2:$A$4</c:f>
              <c:multiLvlStrCache>
                <c:ptCount val="3"/>
                <c:lvl>
                  <c:pt idx="0">
                    <c:v>N1 · sensible</c:v>
                  </c:pt>
                  <c:pt idx="1">
                    <c:v>N2 · BLEE / SARM</c:v>
                  </c:pt>
                  <c:pt idx="2">
                    <c:v>N3 · MDR</c:v>
                  </c:pt>
                </c:lvl>
              </c:multiLvlStrCache>
            </c:multiLvlStrRef>
          </c:cat>
          <c:val>
            <c:numRef>
              <c:f>Sheet1!$B$2:$B$4</c:f>
              <c:numCache>
                <c:formatCode>General</c:formatCode>
                <c:ptCount val="3"/>
                <c:pt idx="0">
                  <c:v>0.457</c:v>
                </c:pt>
                <c:pt idx="1">
                  <c:v>0.369</c:v>
                </c:pt>
                <c:pt idx="2">
                  <c:v>0.243</c:v>
                </c:pt>
              </c:numCache>
            </c:numRef>
          </c:val>
        </c:ser>
        <c:dLbls>
          <c:numFmt formatCode="0%" sourceLinked="0"/>
          <c:txPr>
            <a:bodyPr/>
            <a:lstStyle/>
            <a:p>
              <a:pPr>
                <a:defRPr b="0" i="0" strike="noStrike" sz="1300" u="none">
                  <a:solidFill>
                    <a:srgbClr val="1D2B3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D2B36"/>
                </a:solidFill>
                <a:latin typeface="Calibri"/>
              </a:defRPr>
            </a:pPr>
            <a:endParaRPr lang="en-US"/>
          </a:p>
        </c:txPr>
        <c:crossAx val="2094734552"/>
        <c:crosses val="autoZero"/>
        <c:auto val="1"/>
        <c:lblAlgn val="ctr"/>
        <c:noMultiLvlLbl val="1"/>
      </c:catAx>
      <c:valAx>
        <c:axId val="2094734552"/>
        <c:scaling>
          <c:orientation val="minMax"/>
          <c:max val="0.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236"/>
                </a:solidFill>
                <a:latin typeface="Calibri"/>
              </a:defRPr>
            </a:pPr>
            <a:r>
              <a:rPr sz="1200" b="0" i="0" u="none" strike="noStrike">
                <a:solidFill>
                  <a:srgbClr val="0B2236"/>
                </a:solidFill>
                <a:latin typeface="Calibri"/>
              </a:rPr>
              <a:t>Millones de COP por episodio</a:t>
            </a:r>
          </a:p>
        </c:rich>
      </c:tx>
      <c:layout/>
      <c:overlay val="0"/>
    </c:title>
    <c:autoTitleDeleted val="0"/>
    <c:plotArea>
      <c:layout/>
      <c:barChart>
        <c:barDir val="col"/>
        <c:grouping val="clustered"/>
        <c:varyColors val="0"/>
        <c:ser>
          <c:idx val="0"/>
          <c:order val="0"/>
          <c:tx>
            <c:strRef>
              <c:f>Sheet1!$B$1</c:f>
              <c:strCache>
                <c:ptCount val="1"/>
                <c:pt idx="0">
                  <c:v>Hospital</c:v>
                </c:pt>
              </c:strCache>
            </c:strRef>
          </c:tx>
          <c:spPr>
            <a:solidFill>
              <a:srgbClr val="9AA9B3"/>
            </a:solidFill>
            <a:effectLst/>
          </c:spPr>
          <c:invertIfNegative val="0"/>
          <c:dLbls>
            <c:numFmt formatCode="0.0" sourceLinked="0"/>
            <c:txPr>
              <a:bodyPr/>
              <a:lstStyle/>
              <a:p>
                <a:pPr>
                  <a:defRPr b="0" i="0" strike="noStrike" sz="1000" u="none">
                    <a:solidFill>
                      <a:srgbClr val="1D2B3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IVU (7 d)</c:v>
                  </c:pt>
                  <c:pt idx="1">
                    <c:v>Neumonía (7 d)</c:v>
                  </c:pt>
                  <c:pt idx="2">
                    <c:v>Endocarditis (28 d)</c:v>
                  </c:pt>
                  <c:pt idx="3">
                    <c:v>Osteomielitis (42 d)</c:v>
                  </c:pt>
                </c:lvl>
              </c:multiLvlStrCache>
            </c:multiLvlStrRef>
          </c:cat>
          <c:val>
            <c:numRef>
              <c:f>Sheet1!$B$2:$B$5</c:f>
              <c:numCache>
                <c:formatCode>General</c:formatCode>
                <c:ptCount val="4"/>
                <c:pt idx="0">
                  <c:v>9.5</c:v>
                </c:pt>
                <c:pt idx="1">
                  <c:v>9.5</c:v>
                </c:pt>
                <c:pt idx="2">
                  <c:v>37.8</c:v>
                </c:pt>
                <c:pt idx="3">
                  <c:v>56.7</c:v>
                </c:pt>
              </c:numCache>
            </c:numRef>
          </c:val>
        </c:ser>
        <c:ser>
          <c:idx val="1"/>
          <c:order val="1"/>
          <c:tx>
            <c:strRef>
              <c:f>Sheet1!$C$1</c:f>
              <c:strCache>
                <c:ptCount val="1"/>
                <c:pt idx="0">
                  <c:v>Paquete DOMUS</c:v>
                </c:pt>
              </c:strCache>
            </c:strRef>
          </c:tx>
          <c:spPr>
            <a:solidFill>
              <a:srgbClr val="0E7C86"/>
            </a:solidFill>
            <a:effectLst/>
          </c:spPr>
          <c:invertIfNegative val="0"/>
          <c:dLbls>
            <c:numFmt formatCode="0.0" sourceLinked="0"/>
            <c:txPr>
              <a:bodyPr/>
              <a:lstStyle/>
              <a:p>
                <a:pPr>
                  <a:defRPr b="0" i="0" strike="noStrike" sz="1000" u="none">
                    <a:solidFill>
                      <a:srgbClr val="1D2B3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IVU (7 d)</c:v>
                  </c:pt>
                  <c:pt idx="1">
                    <c:v>Neumonía (7 d)</c:v>
                  </c:pt>
                  <c:pt idx="2">
                    <c:v>Endocarditis (28 d)</c:v>
                  </c:pt>
                  <c:pt idx="3">
                    <c:v>Osteomielitis (42 d)</c:v>
                  </c:pt>
                </c:lvl>
              </c:multiLvlStrCache>
            </c:multiLvlStrRef>
          </c:cat>
          <c:val>
            <c:numRef>
              <c:f>Sheet1!$C$2:$C$5</c:f>
              <c:numCache>
                <c:formatCode>General</c:formatCode>
                <c:ptCount val="4"/>
                <c:pt idx="0">
                  <c:v>5.5</c:v>
                </c:pt>
                <c:pt idx="1">
                  <c:v>5.5</c:v>
                </c:pt>
                <c:pt idx="2">
                  <c:v>19.1</c:v>
                </c:pt>
                <c:pt idx="3">
                  <c:v>28.2</c:v>
                </c:pt>
              </c:numCache>
            </c:numRef>
          </c:val>
        </c:ser>
        <c:dLbls>
          <c:numFmt formatCode="0.0" sourceLinked="0"/>
          <c:txPr>
            <a:bodyPr/>
            <a:lstStyle/>
            <a:p>
              <a:pPr>
                <a:defRPr b="0" i="0" strike="noStrike" sz="1000" u="none">
                  <a:solidFill>
                    <a:srgbClr val="1D2B3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D2B36"/>
                </a:solidFill>
                <a:latin typeface="Calibri"/>
              </a:defRPr>
            </a:pPr>
            <a:endParaRPr lang="en-US"/>
          </a:p>
        </c:txPr>
        <c:crossAx val="2094734552"/>
        <c:crosses val="autoZero"/>
        <c:auto val="1"/>
        <c:lblAlgn val="ctr"/>
        <c:noMultiLvlLbl val="1"/>
      </c:catAx>
      <c:valAx>
        <c:axId val="2094734552"/>
        <c:scaling>
          <c:orientation val="minMax"/>
          <c:max val="6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D2B3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236"/>
                </a:solidFill>
                <a:latin typeface="Calibri"/>
              </a:defRPr>
            </a:pPr>
            <a:r>
              <a:rPr sz="1200" b="0" i="0" u="none" strike="noStrike">
                <a:solidFill>
                  <a:srgbClr val="0B2236"/>
                </a:solidFill>
                <a:latin typeface="Calibri"/>
              </a:rPr>
              <a:t>Millones de COP</a:t>
            </a:r>
          </a:p>
        </c:rich>
      </c:tx>
      <c:layout/>
      <c:overlay val="0"/>
    </c:title>
    <c:autoTitleDeleted val="0"/>
    <c:plotArea>
      <c:layout/>
      <c:barChart>
        <c:barDir val="col"/>
        <c:grouping val="clustered"/>
        <c:varyColors val="0"/>
        <c:ser>
          <c:idx val="0"/>
          <c:order val="0"/>
          <c:tx>
            <c:strRef>
              <c:f>Sheet1!$B$1</c:f>
              <c:strCache>
                <c:ptCount val="1"/>
                <c:pt idx="0">
                  <c:v>Ingresos</c:v>
                </c:pt>
              </c:strCache>
            </c:strRef>
          </c:tx>
          <c:spPr>
            <a:solidFill>
              <a:srgbClr val="0E7C86"/>
            </a:solidFill>
            <a:effectLst/>
          </c:spPr>
          <c:invertIfNegative val="0"/>
          <c:dLbls>
            <c:numFmt formatCode="#,##0" sourceLinked="0"/>
            <c:txPr>
              <a:bodyPr/>
              <a:lstStyle/>
              <a:p>
                <a:pPr>
                  <a:defRPr b="0" i="0" strike="noStrike" sz="1050" u="none">
                    <a:solidFill>
                      <a:srgbClr val="1D2B3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Año 1</c:v>
                  </c:pt>
                  <c:pt idx="1">
                    <c:v>Año 2</c:v>
                  </c:pt>
                  <c:pt idx="2">
                    <c:v>Año 3</c:v>
                  </c:pt>
                </c:lvl>
              </c:multiLvlStrCache>
            </c:multiLvlStrRef>
          </c:cat>
          <c:val>
            <c:numRef>
              <c:f>Sheet1!$B$2:$B$4</c:f>
              <c:numCache>
                <c:formatCode>General</c:formatCode>
                <c:ptCount val="3"/>
                <c:pt idx="0">
                  <c:v>4237</c:v>
                </c:pt>
                <c:pt idx="1">
                  <c:v>8988</c:v>
                </c:pt>
                <c:pt idx="2">
                  <c:v>14124</c:v>
                </c:pt>
              </c:numCache>
            </c:numRef>
          </c:val>
        </c:ser>
        <c:ser>
          <c:idx val="1"/>
          <c:order val="1"/>
          <c:tx>
            <c:strRef>
              <c:f>Sheet1!$C$1</c:f>
              <c:strCache>
                <c:ptCount val="1"/>
                <c:pt idx="0">
                  <c:v>EBITDA</c:v>
                </c:pt>
              </c:strCache>
            </c:strRef>
          </c:tx>
          <c:spPr>
            <a:solidFill>
              <a:srgbClr val="2E9E6A"/>
            </a:solidFill>
            <a:effectLst/>
          </c:spPr>
          <c:invertIfNegative val="0"/>
          <c:dLbls>
            <c:numFmt formatCode="#,##0" sourceLinked="0"/>
            <c:txPr>
              <a:bodyPr/>
              <a:lstStyle/>
              <a:p>
                <a:pPr>
                  <a:defRPr b="0" i="0" strike="noStrike" sz="1050" u="none">
                    <a:solidFill>
                      <a:srgbClr val="1D2B3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Año 1</c:v>
                  </c:pt>
                  <c:pt idx="1">
                    <c:v>Año 2</c:v>
                  </c:pt>
                  <c:pt idx="2">
                    <c:v>Año 3</c:v>
                  </c:pt>
                </c:lvl>
              </c:multiLvlStrCache>
            </c:multiLvlStrRef>
          </c:cat>
          <c:val>
            <c:numRef>
              <c:f>Sheet1!$C$2:$C$4</c:f>
              <c:numCache>
                <c:formatCode>General</c:formatCode>
                <c:ptCount val="3"/>
                <c:pt idx="0">
                  <c:v>-299</c:v>
                </c:pt>
                <c:pt idx="1">
                  <c:v>1084</c:v>
                </c:pt>
                <c:pt idx="2">
                  <c:v>2423</c:v>
                </c:pt>
              </c:numCache>
            </c:numRef>
          </c:val>
        </c:ser>
        <c:dLbls>
          <c:numFmt formatCode="#,##0" sourceLinked="0"/>
          <c:txPr>
            <a:bodyPr/>
            <a:lstStyle/>
            <a:p>
              <a:pPr>
                <a:defRPr b="0" i="0" strike="noStrike" sz="1050" u="none">
                  <a:solidFill>
                    <a:srgbClr val="1D2B3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D2B36"/>
                </a:solidFill>
                <a:latin typeface="Calibri"/>
              </a:defRPr>
            </a:pPr>
            <a:endParaRPr lang="en-US"/>
          </a:p>
        </c:txPr>
        <c:crossAx val="2094734552"/>
        <c:crosses val="autoZero"/>
        <c:auto val="1"/>
        <c:lblAlgn val="ctr"/>
        <c:noMultiLvlLbl val="1"/>
      </c:catAx>
      <c:valAx>
        <c:axId val="2094734552"/>
        <c:scaling>
          <c:orientation val="minMax"/>
          <c:max val="16000"/>
          <c:min val="-1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D2B3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236"/>
                </a:solidFill>
                <a:latin typeface="Calibri"/>
              </a:defRPr>
            </a:pPr>
            <a:r>
              <a:rPr sz="1200" b="0" i="0" u="none" strike="noStrike">
                <a:solidFill>
                  <a:srgbClr val="0B2236"/>
                </a:solidFill>
                <a:latin typeface="Calibri"/>
              </a:rPr>
              <a:t>Caja acumulada (millones de COP) por mes</a:t>
            </a:r>
          </a:p>
        </c:rich>
      </c:tx>
      <c:layout/>
      <c:overlay val="0"/>
    </c:title>
    <c:autoTitleDeleted val="0"/>
    <c:plotArea>
      <c:layout/>
      <c:lineChart>
        <c:varyColors val="0"/>
        <c:ser>
          <c:idx val="0"/>
          <c:order val="0"/>
          <c:tx>
            <c:strRef>
              <c:f>Sheet1!$B$1</c:f>
              <c:strCache>
                <c:ptCount val="1"/>
                <c:pt idx="0">
                  <c:v>Caja acumulada</c:v>
                </c:pt>
              </c:strCache>
            </c:strRef>
          </c:tx>
          <c:spPr>
            <a:solidFill>
              <a:srgbClr val="0E7C86"/>
            </a:solidFill>
            <a:ln w="38100" cap="flat">
              <a:solidFill>
                <a:srgbClr val="0E7C86"/>
              </a:solidFill>
              <a:prstDash val="solid"/>
              <a:round/>
            </a:ln>
            <a:effectLst/>
          </c:spPr>
          <c:invertIfNegative val="0"/>
          <c:dLbls>
            <c:numFmt formatCode="#,##0" sourceLinked="0"/>
            <c:txPr>
              <a:bodyPr/>
              <a:lstStyle/>
              <a:p>
                <a:pPr>
                  <a:defRPr b="0" i="0" strike="noStrike" sz="1100" u="none">
                    <a:solidFill>
                      <a:srgbClr val="1D2B36"/>
                    </a:solidFill>
                    <a:latin typeface="Calibri"/>
                  </a:defRPr>
                </a:pPr>
              </a:p>
            </c:txPr>
            <c:showLegendKey val="0"/>
            <c:showVal val="0"/>
            <c:showCatName val="0"/>
            <c:showSerName val="0"/>
            <c:showPercent val="0"/>
            <c:showBubbleSize val="0"/>
            <c:showLeaderLines val="0"/>
          </c:dLbls>
          <c:marker>
            <c:symbol val="circle"/>
            <c:size val="5"/>
            <c:spPr>
              <a:solidFill>
                <a:srgbClr val="0E7C86"/>
              </a:solidFill>
              <a:ln w="9525" cap="flat">
                <a:solidFill>
                  <a:srgbClr val="0E7C86"/>
                </a:solidFill>
                <a:prstDash val="solid"/>
                <a:round/>
              </a:ln>
              <a:effectLst/>
            </c:spPr>
          </c:marker>
          <c:cat>
            <c:multiLvlStrRef>
              <c:f>Sheet1!$A$2:$A$26</c:f>
              <c:multiLvlStrCache>
                <c:ptCount val="25"/>
                <c:lvl>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pt idx="18">
                    <c:v>M19</c:v>
                  </c:pt>
                  <c:pt idx="19">
                    <c:v>M20</c:v>
                  </c:pt>
                  <c:pt idx="20">
                    <c:v>M21</c:v>
                  </c:pt>
                  <c:pt idx="21">
                    <c:v>M22</c:v>
                  </c:pt>
                  <c:pt idx="22">
                    <c:v>M23</c:v>
                  </c:pt>
                  <c:pt idx="23">
                    <c:v>M24</c:v>
                  </c:pt>
                  <c:pt idx="24">
                    <c:v>M25</c:v>
                  </c:pt>
                </c:lvl>
              </c:multiLvlStrCache>
            </c:multiLvlStrRef>
          </c:cat>
          <c:val>
            <c:numRef>
              <c:f>Sheet1!$B$2:$B$26</c:f>
              <c:numCache>
                <c:formatCode>General</c:formatCode>
                <c:ptCount val="25"/>
                <c:pt idx="0">
                  <c:v>-1020</c:v>
                </c:pt>
                <c:pt idx="1">
                  <c:v>-1124</c:v>
                </c:pt>
                <c:pt idx="2">
                  <c:v>-1214</c:v>
                </c:pt>
                <c:pt idx="3">
                  <c:v>-1288</c:v>
                </c:pt>
                <c:pt idx="4">
                  <c:v>-1343</c:v>
                </c:pt>
                <c:pt idx="5">
                  <c:v>-1379</c:v>
                </c:pt>
                <c:pt idx="6">
                  <c:v>-1397</c:v>
                </c:pt>
                <c:pt idx="7">
                  <c:v>-1395</c:v>
                </c:pt>
                <c:pt idx="8">
                  <c:v>-1375</c:v>
                </c:pt>
                <c:pt idx="9">
                  <c:v>-1335</c:v>
                </c:pt>
                <c:pt idx="10">
                  <c:v>-1277</c:v>
                </c:pt>
                <c:pt idx="11">
                  <c:v>-1199</c:v>
                </c:pt>
                <c:pt idx="12">
                  <c:v>-1109</c:v>
                </c:pt>
                <c:pt idx="13">
                  <c:v>-1019</c:v>
                </c:pt>
                <c:pt idx="14">
                  <c:v>-928</c:v>
                </c:pt>
                <c:pt idx="15">
                  <c:v>-838</c:v>
                </c:pt>
                <c:pt idx="16">
                  <c:v>-748</c:v>
                </c:pt>
                <c:pt idx="17">
                  <c:v>-657</c:v>
                </c:pt>
                <c:pt idx="18">
                  <c:v>-567</c:v>
                </c:pt>
                <c:pt idx="19">
                  <c:v>-477</c:v>
                </c:pt>
                <c:pt idx="20">
                  <c:v>-386</c:v>
                </c:pt>
                <c:pt idx="21">
                  <c:v>-296</c:v>
                </c:pt>
                <c:pt idx="22">
                  <c:v>-206</c:v>
                </c:pt>
                <c:pt idx="23">
                  <c:v>-116</c:v>
                </c:pt>
                <c:pt idx="24">
                  <c:v>86</c:v>
                </c:pt>
              </c:numCache>
            </c:numRef>
          </c:val>
          <c:smooth val="0"/>
        </c:ser>
        <c:dLbls>
          <c:numFmt formatCode="#,##0" sourceLinked="0"/>
          <c:txPr>
            <a:bodyPr/>
            <a:lstStyle/>
            <a:p>
              <a:pPr>
                <a:defRPr b="0" i="0" strike="noStrike" sz="1100" u="none">
                  <a:solidFill>
                    <a:srgbClr val="1D2B36"/>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1D2B36"/>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C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F7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236"/>
                </a:solidFill>
                <a:latin typeface="Calibri"/>
              </a:defRPr>
            </a:pPr>
            <a:r>
              <a:rPr sz="1200" b="0" i="0" u="none" strike="noStrike">
                <a:solidFill>
                  <a:srgbClr val="0B2236"/>
                </a:solidFill>
                <a:latin typeface="Calibri"/>
              </a:rPr>
              <a:t>EBITDA del año 2 (millones de COP)</a:t>
            </a:r>
          </a:p>
        </c:rich>
      </c:tx>
      <c:layout/>
      <c:overlay val="0"/>
    </c:title>
    <c:autoTitleDeleted val="0"/>
    <c:plotArea>
      <c:layout/>
      <c:barChart>
        <c:barDir val="bar"/>
        <c:grouping val="clustered"/>
        <c:varyColors val="0"/>
        <c:ser>
          <c:idx val="0"/>
          <c:order val="0"/>
          <c:tx>
            <c:strRef>
              <c:f>Sheet1!$B$1</c:f>
              <c:strCache>
                <c:ptCount val="1"/>
                <c:pt idx="0">
                  <c:v>EBITDA año 2</c:v>
                </c:pt>
              </c:strCache>
            </c:strRef>
          </c:tx>
          <c:spPr>
            <a:solidFill>
              <a:srgbClr val="2E9E6A"/>
            </a:solidFill>
            <a:effectLst/>
          </c:spPr>
          <c:invertIfNegative val="0"/>
          <c:dLbls>
            <c:numFmt formatCode="#,##0" sourceLinked="0"/>
            <c:txPr>
              <a:bodyPr/>
              <a:lstStyle/>
              <a:p>
                <a:pPr>
                  <a:defRPr b="0" i="0" strike="noStrike" sz="1200" u="none">
                    <a:solidFill>
                      <a:srgbClr val="1D2B36"/>
                    </a:solidFill>
                    <a:latin typeface="Calibri"/>
                  </a:defRPr>
                </a:pPr>
              </a:p>
            </c:txPr>
            <c:showLegendKey val="0"/>
            <c:showVal val="1"/>
            <c:showCatName val="0"/>
            <c:showSerName val="0"/>
            <c:showPercent val="0"/>
            <c:showBubbleSize val="0"/>
            <c:showLeaderLines val="0"/>
          </c:dLbls>
          <c:dPt>
            <c:idx val="0"/>
            <c:invertIfNegative val="0"/>
            <c:bubble3D val="0"/>
            <c:spPr>
              <a:solidFill>
                <a:srgbClr val="2E9E6A"/>
              </a:solidFill>
              <a:effectLst/>
            </c:spPr>
          </c:dPt>
          <c:dPt>
            <c:idx val="1"/>
            <c:invertIfNegative val="0"/>
            <c:bubble3D val="0"/>
            <c:spPr>
              <a:solidFill>
                <a:srgbClr val="E9A23B"/>
              </a:solidFill>
              <a:effectLst/>
            </c:spPr>
          </c:dPt>
          <c:dPt>
            <c:idx val="2"/>
            <c:invertIfNegative val="0"/>
            <c:bubble3D val="0"/>
            <c:spPr>
              <a:solidFill>
                <a:srgbClr val="E9A23B"/>
              </a:solidFill>
              <a:effectLst/>
            </c:spPr>
          </c:dPt>
          <c:dPt>
            <c:idx val="3"/>
            <c:invertIfNegative val="0"/>
            <c:bubble3D val="0"/>
            <c:spPr>
              <a:solidFill>
                <a:srgbClr val="0E7C86"/>
              </a:solidFill>
              <a:effectLst/>
            </c:spPr>
          </c:dPt>
          <c:dPt>
            <c:idx val="4"/>
            <c:invertIfNegative val="0"/>
            <c:bubble3D val="0"/>
            <c:spPr>
              <a:solidFill>
                <a:srgbClr val="D64545"/>
              </a:solidFill>
              <a:effectLst/>
            </c:spPr>
          </c:dPt>
          <c:cat>
            <c:multiLvlStrRef>
              <c:f>Sheet1!$A$2:$A$6</c:f>
              <c:multiLvlStrCache>
                <c:ptCount val="5"/>
                <c:lvl>
                  <c:pt idx="0">
                    <c:v>Escenario base</c:v>
                  </c:pt>
                  <c:pt idx="1">
                    <c:v>Volumen −20 %</c:v>
                  </c:pt>
                  <c:pt idx="2">
                    <c:v>Precio −10 %</c:v>
                  </c:pt>
                  <c:pt idx="3">
                    <c:v>Mezcla con más N3 (25 %)</c:v>
                  </c:pt>
                  <c:pt idx="4">
                    <c:v>Volumen −20 % y precio −10 %</c:v>
                  </c:pt>
                </c:lvl>
              </c:multiLvlStrCache>
            </c:multiLvlStrRef>
          </c:cat>
          <c:val>
            <c:numRef>
              <c:f>Sheet1!$B$2:$B$6</c:f>
              <c:numCache>
                <c:formatCode>General</c:formatCode>
                <c:ptCount val="5"/>
                <c:pt idx="0">
                  <c:v>1084</c:v>
                </c:pt>
                <c:pt idx="1">
                  <c:v>447</c:v>
                </c:pt>
                <c:pt idx="2">
                  <c:v>185</c:v>
                </c:pt>
                <c:pt idx="3">
                  <c:v>1326</c:v>
                </c:pt>
                <c:pt idx="4">
                  <c:v>-272</c:v>
                </c:pt>
              </c:numCache>
            </c:numRef>
          </c:val>
        </c:ser>
        <c:dLbls>
          <c:numFmt formatCode="#,##0" sourceLinked="0"/>
          <c:txPr>
            <a:bodyPr/>
            <a:lstStyle/>
            <a:p>
              <a:pPr>
                <a:defRPr b="0" i="0" strike="noStrike" sz="1200" u="none">
                  <a:solidFill>
                    <a:srgbClr val="1D2B3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100" b="0" i="0" u="none" strike="noStrike">
                <a:solidFill>
                  <a:srgbClr val="1D2B36"/>
                </a:solidFill>
                <a:latin typeface="Calibri"/>
              </a:defRPr>
            </a:pPr>
            <a:endParaRPr lang="en-US"/>
          </a:p>
        </c:txPr>
        <c:crossAx val="2094734552"/>
        <c:crosses val="autoZero"/>
        <c:auto val="1"/>
        <c:lblAlgn val="ctr"/>
        <c:noMultiLvlLbl val="1"/>
      </c:catAx>
      <c:valAx>
        <c:axId val="2094734552"/>
        <c:scaling>
          <c:orientation val="minMax"/>
          <c:max val="1700"/>
          <c:min val="-6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propuesta DOMUS: una empresa de Bucaramanga que vende a EPS y clínicas paquetes de antibioticoterapia en casa, cerrados por tipo de infección y por perfil de resistencia (que define el antibiótico). Declaración de uso de IA: los diagramas y el diseño se hicieron con apoyo de IA; el autor es responsable de todo el contenido.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muchos pacientes permanecen hospitalizados solo para completar antibióticos intravenosos prolongados, aunque estén clínicamente estables. Esto satura las camas, aumenta el riesgo de infecciones asociadas a la atención y de resistencia, y le cuesta al pagador un día-cama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el ensayo de Levine (Ann Intern Med 2020) mostró costo 38 % menor y reingreso a 30 días de 7 % vs 23 %, aunque con 91 pacientes y alta tasa de rechazo. La revisión Cochrane 2024 de Edgar et al. (20 ECA, 3100 participantes) concluye que el hospital en casa probablemente no cambia mortalidad ni reingresos, mejora la satisfacción y probablemente reduce costos. La guía IDSA 2018 de OPAT respalda la antibioticoterapia parenteral fuera del hospital con selección por infectología y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niveles reflejan el perfil de resistencia, que es lo que define el antibiótico y su costo. N1: gérmenes sensibles con antibióticos de bajo costo y dosis diaria. N2: BLEE, SARM o enterococo, con ertapenem, vancomicina o daptomicina. N3: multirresistentes o carbapenemasas, con antibióticos de alto costo o varias dosis al día por bomba elastomérica. La elección final del antibiótico siempre la define el antibiograma y el concepto de infectología. Las tarifas son ilustrativas.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de elegibilidad: clínicos (estabilidad, foco controlado, antibiograma, aval de infectología), del domicilio según la Resolución 3100 de 2019 para la modalidad domiciliaria (servicios públicos, unidad sanitaria, silla reclinable lavable y cama si se requiere) y sociales (cuidador, consentimiento, teléfono). La habilitación se tramita ante la secretaría de salud departamental como servicio de hospitalización en modalidad domiciliaria; la norma ha tenido modificaciones (Resoluciones 1138 y 1410 de 2022, 544 de 2023 y 465 de 2025), por lo que hay que verificar la versión vigente.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adapta la Figura 3-1 de planeación estratégica. Parte de los aspectos básicos (conceptos y funciones) y desarrolla el proceso en tres fases: filosófica (misión, visión, valores y cultura, políticas), analítica (objetivos estratégicos, análisis externo e interno, matriz DOFA, factores clave de éxito y estrategias) y operativa (plan de acción e implementación), con retroalimentación permanente. Las siguientes diapositivas desarrollan cada elemento para DOMUS.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6"/>
        </a:solidFill>
      </p:bgPr>
    </p:bg>
    <p:spTree>
      <p:nvGrpSpPr>
        <p:cNvPr id="1" name=""/>
        <p:cNvGrpSpPr/>
        <p:nvPr/>
      </p:nvGrpSpPr>
      <p:grpSpPr>
        <a:xfrm>
          <a:off x="0" y="0"/>
          <a:ext cx="0" cy="0"/>
          <a:chOff x="0" y="0"/>
          <a:chExt cx="0" cy="0"/>
        </a:xfrm>
      </p:grpSpPr>
      <p:sp>
        <p:nvSpPr>
          <p:cNvPr id="2" name="Shape 0"/>
          <p:cNvSpPr/>
          <p:nvPr/>
        </p:nvSpPr>
        <p:spPr>
          <a:xfrm>
            <a:off x="5852160" y="-1188720"/>
            <a:ext cx="4754880" cy="4754880"/>
          </a:xfrm>
          <a:prstGeom prst="ellipse">
            <a:avLst/>
          </a:prstGeom>
          <a:solidFill>
            <a:srgbClr val="0E7C86">
              <a:alpha val="45000"/>
            </a:srgbClr>
          </a:solidFill>
          <a:ln w="12700">
            <a:solidFill>
              <a:srgbClr val="0E7C86">
                <a:alpha val="0"/>
              </a:srgbClr>
            </a:solidFill>
            <a:prstDash val="solid"/>
          </a:ln>
        </p:spPr>
      </p:sp>
      <p:sp>
        <p:nvSpPr>
          <p:cNvPr id="3" name="Shape 1"/>
          <p:cNvSpPr/>
          <p:nvPr/>
        </p:nvSpPr>
        <p:spPr>
          <a:xfrm>
            <a:off x="7406640" y="2194560"/>
            <a:ext cx="2377440" cy="2377440"/>
          </a:xfrm>
          <a:prstGeom prst="ellipse">
            <a:avLst/>
          </a:prstGeom>
          <a:solidFill>
            <a:srgbClr val="F26B4E">
              <a:alpha val="35000"/>
            </a:srgbClr>
          </a:solidFill>
          <a:ln w="12700">
            <a:solidFill>
              <a:srgbClr val="F26B4E">
                <a:alpha val="0"/>
              </a:srgbClr>
            </a:solidFill>
            <a:prstDash val="solid"/>
          </a:ln>
        </p:spPr>
      </p:sp>
      <p:pic>
        <p:nvPicPr>
          <p:cNvPr id="4" name="Image 0" descr="preencoded.png">    </p:cNvPr>
          <p:cNvPicPr>
            <a:picLocks noChangeAspect="1"/>
          </p:cNvPicPr>
          <p:nvPr/>
        </p:nvPicPr>
        <p:blipFill>
          <a:blip r:embed="rId1"/>
          <a:stretch>
            <a:fillRect/>
          </a:stretch>
        </p:blipFill>
        <p:spPr>
          <a:xfrm>
            <a:off x="7040880" y="685800"/>
            <a:ext cx="1463040" cy="1463040"/>
          </a:xfrm>
          <a:prstGeom prst="rect">
            <a:avLst/>
          </a:prstGeom>
        </p:spPr>
      </p:pic>
      <p:sp>
        <p:nvSpPr>
          <p:cNvPr id="5" name="Text 2"/>
          <p:cNvSpPr txBox="1"/>
          <p:nvPr/>
        </p:nvSpPr>
        <p:spPr>
          <a:xfrm>
            <a:off x="548640" y="457200"/>
            <a:ext cx="5943600" cy="274320"/>
          </a:xfrm>
          <a:prstGeom prst="rect">
            <a:avLst/>
          </a:prstGeom>
          <a:noFill/>
          <a:ln/>
        </p:spPr>
        <p:txBody>
          <a:bodyPr wrap="square" lIns="0" tIns="0" rIns="0" bIns="0" rtlCol="0" anchor="t"/>
          <a:lstStyle/>
          <a:p>
            <a:pPr indent="0" marL="0">
              <a:buNone/>
            </a:pPr>
            <a:r>
              <a:rPr lang="en-US" sz="1200" b="1" spc="300" kern="0" dirty="0">
                <a:solidFill>
                  <a:srgbClr val="F9B7A6"/>
                </a:solidFill>
                <a:latin typeface="Calibri" pitchFamily="34" charset="0"/>
                <a:ea typeface="Calibri" pitchFamily="34" charset="-122"/>
                <a:cs typeface="Calibri" pitchFamily="34" charset="-120"/>
              </a:rPr>
              <a:t>PROPUESTA DE EMPRESA · BUCARAMANGA</a:t>
            </a:r>
            <a:endParaRPr lang="en-US" sz="1200" dirty="0"/>
          </a:p>
        </p:txBody>
      </p:sp>
      <p:sp>
        <p:nvSpPr>
          <p:cNvPr id="6" name="Text 3"/>
          <p:cNvSpPr txBox="1"/>
          <p:nvPr/>
        </p:nvSpPr>
        <p:spPr>
          <a:xfrm>
            <a:off x="548640" y="777240"/>
            <a:ext cx="5943600" cy="868680"/>
          </a:xfrm>
          <a:prstGeom prst="rect">
            <a:avLst/>
          </a:prstGeom>
          <a:noFill/>
          <a:ln/>
        </p:spPr>
        <p:txBody>
          <a:bodyPr wrap="square" lIns="0" tIns="0" rIns="0" bIns="0" rtlCol="0" anchor="b"/>
          <a:lstStyle/>
          <a:p>
            <a:pPr indent="0" marL="0">
              <a:buNone/>
            </a:pPr>
            <a:r>
              <a:rPr lang="en-US" sz="5400" b="1" dirty="0">
                <a:solidFill>
                  <a:srgbClr val="FFFFFF"/>
                </a:solidFill>
                <a:latin typeface="Calibri" pitchFamily="34" charset="0"/>
                <a:ea typeface="Calibri" pitchFamily="34" charset="-122"/>
                <a:cs typeface="Calibri" pitchFamily="34" charset="-120"/>
              </a:rPr>
              <a:t>DOMUS</a:t>
            </a:r>
            <a:endParaRPr lang="en-US" sz="5400" dirty="0"/>
          </a:p>
        </p:txBody>
      </p:sp>
      <p:sp>
        <p:nvSpPr>
          <p:cNvPr id="7" name="Text 4"/>
          <p:cNvSpPr txBox="1"/>
          <p:nvPr/>
        </p:nvSpPr>
        <p:spPr>
          <a:xfrm>
            <a:off x="548640" y="1691640"/>
            <a:ext cx="5760720" cy="685800"/>
          </a:xfrm>
          <a:prstGeom prst="rect">
            <a:avLst/>
          </a:prstGeom>
          <a:noFill/>
          <a:ln/>
        </p:spPr>
        <p:txBody>
          <a:bodyPr wrap="square" lIns="0" tIns="0" rIns="0" bIns="0" rtlCol="0" anchor="t"/>
          <a:lstStyle/>
          <a:p>
            <a:pPr indent="0" marL="0">
              <a:buNone/>
            </a:pPr>
            <a:r>
              <a:rPr lang="en-US" sz="1800" dirty="0">
                <a:solidFill>
                  <a:srgbClr val="BFE6E8"/>
                </a:solidFill>
                <a:latin typeface="Calibri" pitchFamily="34" charset="0"/>
                <a:ea typeface="Calibri" pitchFamily="34" charset="-122"/>
                <a:cs typeface="Calibri" pitchFamily="34" charset="-120"/>
              </a:rPr>
              <a:t>Antibioticoterapia en casa por paquetes de infección y perfil de resistencia</a:t>
            </a:r>
            <a:endParaRPr lang="en-US" sz="1800" dirty="0"/>
          </a:p>
        </p:txBody>
      </p:sp>
      <p:sp>
        <p:nvSpPr>
          <p:cNvPr id="8" name="Text 5"/>
          <p:cNvSpPr txBox="1"/>
          <p:nvPr/>
        </p:nvSpPr>
        <p:spPr>
          <a:xfrm>
            <a:off x="548640" y="2514600"/>
            <a:ext cx="5760720"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Nestor Fabian Sanabria Duarte</a:t>
            </a:r>
            <a:endParaRPr lang="en-US" sz="1300" dirty="0"/>
          </a:p>
          <a:p>
            <a:pPr indent="0" marL="0">
              <a:buNone/>
            </a:pPr>
            <a:r>
              <a:rPr lang="en-US" sz="1200" dirty="0">
                <a:solidFill>
                  <a:srgbClr val="BFD3DC"/>
                </a:solidFill>
                <a:latin typeface="Calibri" pitchFamily="34" charset="0"/>
                <a:ea typeface="Calibri" pitchFamily="34" charset="-122"/>
                <a:cs typeface="Calibri" pitchFamily="34" charset="-120"/>
              </a:rPr>
              <a:t>Residente de III año · Especialización en medicina interna</a:t>
            </a:r>
            <a:endParaRPr lang="en-US" sz="1300" dirty="0"/>
          </a:p>
        </p:txBody>
      </p:sp>
      <p:sp>
        <p:nvSpPr>
          <p:cNvPr id="9" name="Shape 6"/>
          <p:cNvSpPr/>
          <p:nvPr/>
        </p:nvSpPr>
        <p:spPr>
          <a:xfrm>
            <a:off x="548640" y="3291840"/>
            <a:ext cx="8046720" cy="1463040"/>
          </a:xfrm>
          <a:prstGeom prst="roundRect">
            <a:avLst>
              <a:gd name="adj" fmla="val 5000"/>
            </a:avLst>
          </a:prstGeom>
          <a:solidFill>
            <a:srgbClr val="12324D"/>
          </a:solidFill>
          <a:ln w="12700">
            <a:solidFill>
              <a:srgbClr val="14A3A8"/>
            </a:solidFill>
            <a:prstDash val="solid"/>
          </a:ln>
        </p:spPr>
      </p:sp>
      <p:pic>
        <p:nvPicPr>
          <p:cNvPr id="10" name="Image 1" descr="preencoded.png">    </p:cNvPr>
          <p:cNvPicPr>
            <a:picLocks noChangeAspect="1"/>
          </p:cNvPicPr>
          <p:nvPr/>
        </p:nvPicPr>
        <p:blipFill>
          <a:blip r:embed="rId2"/>
          <a:stretch>
            <a:fillRect/>
          </a:stretch>
        </p:blipFill>
        <p:spPr>
          <a:xfrm>
            <a:off x="731520" y="3456432"/>
            <a:ext cx="384048" cy="384048"/>
          </a:xfrm>
          <a:prstGeom prst="rect">
            <a:avLst/>
          </a:prstGeom>
        </p:spPr>
      </p:pic>
      <p:sp>
        <p:nvSpPr>
          <p:cNvPr id="11" name="Text 7"/>
          <p:cNvSpPr txBox="1"/>
          <p:nvPr/>
        </p:nvSpPr>
        <p:spPr>
          <a:xfrm>
            <a:off x="1234440" y="3429000"/>
            <a:ext cx="7132320" cy="411480"/>
          </a:xfrm>
          <a:prstGeom prst="rect">
            <a:avLst/>
          </a:prstGeom>
          <a:noFill/>
          <a:ln/>
        </p:spPr>
        <p:txBody>
          <a:bodyPr wrap="square" lIns="0" tIns="0" rIns="0" bIns="0" rtlCol="0" anchor="ctr"/>
          <a:lstStyle/>
          <a:p>
            <a:pPr indent="0" marL="0">
              <a:buNone/>
            </a:pPr>
            <a:r>
              <a:rPr lang="en-US" sz="1300" b="1" dirty="0">
                <a:solidFill>
                  <a:srgbClr val="14A3A8"/>
                </a:solidFill>
                <a:latin typeface="Calibri" pitchFamily="34" charset="0"/>
                <a:ea typeface="Calibri" pitchFamily="34" charset="-122"/>
                <a:cs typeface="Calibri" pitchFamily="34" charset="-120"/>
              </a:rPr>
              <a:t>Declaración de uso de inteligencia artificial</a:t>
            </a:r>
            <a:endParaRPr lang="en-US" sz="1300" dirty="0"/>
          </a:p>
        </p:txBody>
      </p:sp>
      <p:sp>
        <p:nvSpPr>
          <p:cNvPr id="12" name="Text 8"/>
          <p:cNvSpPr txBox="1"/>
          <p:nvPr/>
        </p:nvSpPr>
        <p:spPr>
          <a:xfrm>
            <a:off x="731520" y="3858768"/>
            <a:ext cx="7726680" cy="868680"/>
          </a:xfrm>
          <a:prstGeom prst="rect">
            <a:avLst/>
          </a:prstGeom>
          <a:noFill/>
          <a:ln/>
        </p:spPr>
        <p:txBody>
          <a:bodyPr wrap="square" lIns="0" tIns="0" rIns="0" bIns="0" rtlCol="0" anchor="t"/>
          <a:lstStyle/>
          <a:p>
            <a:pPr indent="0" marL="0">
              <a:buNone/>
            </a:pPr>
            <a:r>
              <a:rPr lang="en-US" sz="1050" dirty="0">
                <a:solidFill>
                  <a:srgbClr val="E3EEF2"/>
                </a:solidFill>
                <a:latin typeface="Calibri" pitchFamily="34" charset="0"/>
                <a:ea typeface="Calibri" pitchFamily="34" charset="-122"/>
                <a:cs typeface="Calibri" pitchFamily="34" charset="-120"/>
              </a:rPr>
              <a:t>Los diagramas, el diseño gráfico y la organización de estas diapositivas se elaboraron con apoyo de una herramienta de inteligencia artificial (Claude, Anthropic). El autor, Nestor Fabian Sanabria Duarte, definió la idea de negocio, revisó y aprobó todo el contenido, las cifras y las conclusiones, y es el único autor y responsable de este material.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CONTENIDO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Hoja de ruta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548640" y="1325880"/>
            <a:ext cx="420624" cy="420624"/>
          </a:xfrm>
          <a:prstGeom prst="ellipse">
            <a:avLst/>
          </a:prstGeom>
          <a:solidFill>
            <a:srgbClr val="0E7C86"/>
          </a:solidFill>
          <a:ln w="12700">
            <a:solidFill>
              <a:srgbClr val="0E7C86"/>
            </a:solidFill>
            <a:prstDash val="solid"/>
          </a:ln>
        </p:spPr>
      </p:sp>
      <p:sp>
        <p:nvSpPr>
          <p:cNvPr id="6" name="Text 4"/>
          <p:cNvSpPr txBox="1"/>
          <p:nvPr/>
        </p:nvSpPr>
        <p:spPr>
          <a:xfrm>
            <a:off x="548640" y="13258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43000" y="1325880"/>
            <a:ext cx="3474720" cy="420624"/>
          </a:xfrm>
          <a:prstGeom prst="rect">
            <a:avLst/>
          </a:prstGeom>
          <a:noFill/>
          <a:ln/>
        </p:spPr>
        <p:txBody>
          <a:bodyPr wrap="square" lIns="0" tIns="0" rIns="0" bIns="0" rtlCol="0" anchor="ctr"/>
          <a:lstStyle/>
          <a:p>
            <a:pPr indent="0" marL="0">
              <a:buNone/>
            </a:pPr>
            <a:r>
              <a:rPr lang="en-US" sz="1500" dirty="0">
                <a:solidFill>
                  <a:srgbClr val="1D2B36"/>
                </a:solidFill>
                <a:latin typeface="Calibri" pitchFamily="34" charset="0"/>
                <a:ea typeface="Calibri" pitchFamily="34" charset="-122"/>
                <a:cs typeface="Calibri" pitchFamily="34" charset="-120"/>
              </a:rPr>
              <a:t>El problema y la oportunidad</a:t>
            </a:r>
            <a:endParaRPr lang="en-US" sz="1500" dirty="0"/>
          </a:p>
        </p:txBody>
      </p:sp>
      <p:sp>
        <p:nvSpPr>
          <p:cNvPr id="8" name="Shape 6"/>
          <p:cNvSpPr/>
          <p:nvPr/>
        </p:nvSpPr>
        <p:spPr>
          <a:xfrm>
            <a:off x="548640" y="1984248"/>
            <a:ext cx="420624" cy="420624"/>
          </a:xfrm>
          <a:prstGeom prst="ellipse">
            <a:avLst/>
          </a:prstGeom>
          <a:solidFill>
            <a:srgbClr val="0E7C86"/>
          </a:solidFill>
          <a:ln w="12700">
            <a:solidFill>
              <a:srgbClr val="0E7C86"/>
            </a:solidFill>
            <a:prstDash val="solid"/>
          </a:ln>
        </p:spPr>
      </p:sp>
      <p:sp>
        <p:nvSpPr>
          <p:cNvPr id="9" name="Text 7"/>
          <p:cNvSpPr txBox="1"/>
          <p:nvPr/>
        </p:nvSpPr>
        <p:spPr>
          <a:xfrm>
            <a:off x="548640" y="19842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43000" y="1984248"/>
            <a:ext cx="3474720" cy="420624"/>
          </a:xfrm>
          <a:prstGeom prst="rect">
            <a:avLst/>
          </a:prstGeom>
          <a:noFill/>
          <a:ln/>
        </p:spPr>
        <p:txBody>
          <a:bodyPr wrap="square" lIns="0" tIns="0" rIns="0" bIns="0" rtlCol="0" anchor="ctr"/>
          <a:lstStyle/>
          <a:p>
            <a:pPr indent="0" marL="0">
              <a:buNone/>
            </a:pPr>
            <a:r>
              <a:rPr lang="en-US" sz="1500" dirty="0">
                <a:solidFill>
                  <a:srgbClr val="1D2B36"/>
                </a:solidFill>
                <a:latin typeface="Calibri" pitchFamily="34" charset="0"/>
                <a:ea typeface="Calibri" pitchFamily="34" charset="-122"/>
                <a:cs typeface="Calibri" pitchFamily="34" charset="-120"/>
              </a:rPr>
              <a:t>La propuesta: paquetes DOMUS</a:t>
            </a:r>
            <a:endParaRPr lang="en-US" sz="1500" dirty="0"/>
          </a:p>
        </p:txBody>
      </p:sp>
      <p:sp>
        <p:nvSpPr>
          <p:cNvPr id="11" name="Shape 9"/>
          <p:cNvSpPr/>
          <p:nvPr/>
        </p:nvSpPr>
        <p:spPr>
          <a:xfrm>
            <a:off x="548640" y="2642616"/>
            <a:ext cx="420624" cy="420624"/>
          </a:xfrm>
          <a:prstGeom prst="ellipse">
            <a:avLst/>
          </a:prstGeom>
          <a:solidFill>
            <a:srgbClr val="0E7C86"/>
          </a:solidFill>
          <a:ln w="12700">
            <a:solidFill>
              <a:srgbClr val="0E7C86"/>
            </a:solidFill>
            <a:prstDash val="solid"/>
          </a:ln>
        </p:spPr>
      </p:sp>
      <p:sp>
        <p:nvSpPr>
          <p:cNvPr id="12" name="Text 10"/>
          <p:cNvSpPr txBox="1"/>
          <p:nvPr/>
        </p:nvSpPr>
        <p:spPr>
          <a:xfrm>
            <a:off x="548640" y="26426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43000" y="2642616"/>
            <a:ext cx="3474720" cy="420624"/>
          </a:xfrm>
          <a:prstGeom prst="rect">
            <a:avLst/>
          </a:prstGeom>
          <a:noFill/>
          <a:ln/>
        </p:spPr>
        <p:txBody>
          <a:bodyPr wrap="square" lIns="0" tIns="0" rIns="0" bIns="0" rtlCol="0" anchor="ctr"/>
          <a:lstStyle/>
          <a:p>
            <a:pPr indent="0" marL="0">
              <a:buNone/>
            </a:pPr>
            <a:r>
              <a:rPr lang="en-US" sz="1500" dirty="0">
                <a:solidFill>
                  <a:srgbClr val="1D2B36"/>
                </a:solidFill>
                <a:latin typeface="Calibri" pitchFamily="34" charset="0"/>
                <a:ea typeface="Calibri" pitchFamily="34" charset="-122"/>
                <a:cs typeface="Calibri" pitchFamily="34" charset="-120"/>
              </a:rPr>
              <a:t>Portafolio por infección y antibiótico</a:t>
            </a:r>
            <a:endParaRPr lang="en-US" sz="1500" dirty="0"/>
          </a:p>
        </p:txBody>
      </p:sp>
      <p:sp>
        <p:nvSpPr>
          <p:cNvPr id="14" name="Shape 12"/>
          <p:cNvSpPr/>
          <p:nvPr/>
        </p:nvSpPr>
        <p:spPr>
          <a:xfrm>
            <a:off x="548640" y="3300984"/>
            <a:ext cx="420624" cy="420624"/>
          </a:xfrm>
          <a:prstGeom prst="ellipse">
            <a:avLst/>
          </a:prstGeom>
          <a:solidFill>
            <a:srgbClr val="0E7C86"/>
          </a:solidFill>
          <a:ln w="12700">
            <a:solidFill>
              <a:srgbClr val="0E7C86"/>
            </a:solidFill>
            <a:prstDash val="solid"/>
          </a:ln>
        </p:spPr>
      </p:sp>
      <p:sp>
        <p:nvSpPr>
          <p:cNvPr id="15" name="Text 13"/>
          <p:cNvSpPr txBox="1"/>
          <p:nvPr/>
        </p:nvSpPr>
        <p:spPr>
          <a:xfrm>
            <a:off x="548640" y="3300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143000" y="3300984"/>
            <a:ext cx="3474720" cy="420624"/>
          </a:xfrm>
          <a:prstGeom prst="rect">
            <a:avLst/>
          </a:prstGeom>
          <a:noFill/>
          <a:ln/>
        </p:spPr>
        <p:txBody>
          <a:bodyPr wrap="square" lIns="0" tIns="0" rIns="0" bIns="0" rtlCol="0" anchor="ctr"/>
          <a:lstStyle/>
          <a:p>
            <a:pPr indent="0" marL="0">
              <a:buNone/>
            </a:pPr>
            <a:r>
              <a:rPr lang="en-US" sz="1500" dirty="0">
                <a:solidFill>
                  <a:srgbClr val="1D2B36"/>
                </a:solidFill>
                <a:latin typeface="Calibri" pitchFamily="34" charset="0"/>
                <a:ea typeface="Calibri" pitchFamily="34" charset="-122"/>
                <a:cs typeface="Calibri" pitchFamily="34" charset="-120"/>
              </a:rPr>
              <a:t>Operación y seguridad clínica</a:t>
            </a:r>
            <a:endParaRPr lang="en-US" sz="1500" dirty="0"/>
          </a:p>
        </p:txBody>
      </p:sp>
      <p:sp>
        <p:nvSpPr>
          <p:cNvPr id="17" name="Shape 15"/>
          <p:cNvSpPr/>
          <p:nvPr/>
        </p:nvSpPr>
        <p:spPr>
          <a:xfrm>
            <a:off x="548640" y="3959352"/>
            <a:ext cx="420624" cy="420624"/>
          </a:xfrm>
          <a:prstGeom prst="ellipse">
            <a:avLst/>
          </a:prstGeom>
          <a:solidFill>
            <a:srgbClr val="0E7C86"/>
          </a:solidFill>
          <a:ln w="12700">
            <a:solidFill>
              <a:srgbClr val="0E7C86"/>
            </a:solidFill>
            <a:prstDash val="solid"/>
          </a:ln>
        </p:spPr>
      </p:sp>
      <p:sp>
        <p:nvSpPr>
          <p:cNvPr id="18" name="Text 16"/>
          <p:cNvSpPr txBox="1"/>
          <p:nvPr/>
        </p:nvSpPr>
        <p:spPr>
          <a:xfrm>
            <a:off x="548640" y="39593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143000" y="3959352"/>
            <a:ext cx="3474720" cy="420624"/>
          </a:xfrm>
          <a:prstGeom prst="rect">
            <a:avLst/>
          </a:prstGeom>
          <a:noFill/>
          <a:ln/>
        </p:spPr>
        <p:txBody>
          <a:bodyPr wrap="square" lIns="0" tIns="0" rIns="0" bIns="0" rtlCol="0" anchor="ctr"/>
          <a:lstStyle/>
          <a:p>
            <a:pPr indent="0" marL="0">
              <a:buNone/>
            </a:pPr>
            <a:r>
              <a:rPr lang="en-US" sz="1500" dirty="0">
                <a:solidFill>
                  <a:srgbClr val="1D2B36"/>
                </a:solidFill>
                <a:latin typeface="Calibri" pitchFamily="34" charset="0"/>
                <a:ea typeface="Calibri" pitchFamily="34" charset="-122"/>
                <a:cs typeface="Calibri" pitchFamily="34" charset="-120"/>
              </a:rPr>
              <a:t>Planeación estratégica (Figura 3-1)</a:t>
            </a:r>
            <a:endParaRPr lang="en-US" sz="1500" dirty="0"/>
          </a:p>
        </p:txBody>
      </p:sp>
      <p:sp>
        <p:nvSpPr>
          <p:cNvPr id="20" name="Shape 18"/>
          <p:cNvSpPr/>
          <p:nvPr/>
        </p:nvSpPr>
        <p:spPr>
          <a:xfrm>
            <a:off x="4754880" y="1325880"/>
            <a:ext cx="420624" cy="420624"/>
          </a:xfrm>
          <a:prstGeom prst="ellipse">
            <a:avLst/>
          </a:prstGeom>
          <a:solidFill>
            <a:srgbClr val="F26B4E"/>
          </a:solidFill>
          <a:ln w="12700">
            <a:solidFill>
              <a:srgbClr val="F26B4E"/>
            </a:solidFill>
            <a:prstDash val="solid"/>
          </a:ln>
        </p:spPr>
      </p:sp>
      <p:sp>
        <p:nvSpPr>
          <p:cNvPr id="21" name="Text 19"/>
          <p:cNvSpPr txBox="1"/>
          <p:nvPr/>
        </p:nvSpPr>
        <p:spPr>
          <a:xfrm>
            <a:off x="4754880" y="13258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2" name="Text 20"/>
          <p:cNvSpPr txBox="1"/>
          <p:nvPr/>
        </p:nvSpPr>
        <p:spPr>
          <a:xfrm>
            <a:off x="5349240" y="1325880"/>
            <a:ext cx="3474720" cy="420624"/>
          </a:xfrm>
          <a:prstGeom prst="rect">
            <a:avLst/>
          </a:prstGeom>
          <a:noFill/>
          <a:ln/>
        </p:spPr>
        <p:txBody>
          <a:bodyPr wrap="square" lIns="0" tIns="0" rIns="0" bIns="0" rtlCol="0" anchor="ctr"/>
          <a:lstStyle/>
          <a:p>
            <a:pPr indent="0" marL="0">
              <a:buNone/>
            </a:pPr>
            <a:r>
              <a:rPr lang="en-US" sz="1500" dirty="0">
                <a:solidFill>
                  <a:srgbClr val="1D2B36"/>
                </a:solidFill>
                <a:latin typeface="Calibri" pitchFamily="34" charset="0"/>
                <a:ea typeface="Calibri" pitchFamily="34" charset="-122"/>
                <a:cs typeface="Calibri" pitchFamily="34" charset="-120"/>
              </a:rPr>
              <a:t>Modelos organizacionales (Figura 1-8)</a:t>
            </a:r>
            <a:endParaRPr lang="en-US" sz="1500" dirty="0"/>
          </a:p>
        </p:txBody>
      </p:sp>
      <p:sp>
        <p:nvSpPr>
          <p:cNvPr id="23" name="Shape 21"/>
          <p:cNvSpPr/>
          <p:nvPr/>
        </p:nvSpPr>
        <p:spPr>
          <a:xfrm>
            <a:off x="4754880" y="1984248"/>
            <a:ext cx="420624" cy="420624"/>
          </a:xfrm>
          <a:prstGeom prst="ellipse">
            <a:avLst/>
          </a:prstGeom>
          <a:solidFill>
            <a:srgbClr val="F26B4E"/>
          </a:solidFill>
          <a:ln w="12700">
            <a:solidFill>
              <a:srgbClr val="F26B4E"/>
            </a:solidFill>
            <a:prstDash val="solid"/>
          </a:ln>
        </p:spPr>
      </p:sp>
      <p:sp>
        <p:nvSpPr>
          <p:cNvPr id="24" name="Text 22"/>
          <p:cNvSpPr txBox="1"/>
          <p:nvPr/>
        </p:nvSpPr>
        <p:spPr>
          <a:xfrm>
            <a:off x="4754880" y="19842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5" name="Text 23"/>
          <p:cNvSpPr txBox="1"/>
          <p:nvPr/>
        </p:nvSpPr>
        <p:spPr>
          <a:xfrm>
            <a:off x="5349240" y="1984248"/>
            <a:ext cx="3474720" cy="420624"/>
          </a:xfrm>
          <a:prstGeom prst="rect">
            <a:avLst/>
          </a:prstGeom>
          <a:noFill/>
          <a:ln/>
        </p:spPr>
        <p:txBody>
          <a:bodyPr wrap="square" lIns="0" tIns="0" rIns="0" bIns="0" rtlCol="0" anchor="ctr"/>
          <a:lstStyle/>
          <a:p>
            <a:pPr indent="0" marL="0">
              <a:buNone/>
            </a:pPr>
            <a:r>
              <a:rPr lang="en-US" sz="1500" dirty="0">
                <a:solidFill>
                  <a:srgbClr val="1D2B36"/>
                </a:solidFill>
                <a:latin typeface="Calibri" pitchFamily="34" charset="0"/>
                <a:ea typeface="Calibri" pitchFamily="34" charset="-122"/>
                <a:cs typeface="Calibri" pitchFamily="34" charset="-120"/>
              </a:rPr>
              <a:t>Mercado y modelo de negocio</a:t>
            </a:r>
            <a:endParaRPr lang="en-US" sz="1500" dirty="0"/>
          </a:p>
        </p:txBody>
      </p:sp>
      <p:sp>
        <p:nvSpPr>
          <p:cNvPr id="26" name="Shape 24"/>
          <p:cNvSpPr/>
          <p:nvPr/>
        </p:nvSpPr>
        <p:spPr>
          <a:xfrm>
            <a:off x="4754880" y="2642616"/>
            <a:ext cx="420624" cy="420624"/>
          </a:xfrm>
          <a:prstGeom prst="ellipse">
            <a:avLst/>
          </a:prstGeom>
          <a:solidFill>
            <a:srgbClr val="F26B4E"/>
          </a:solidFill>
          <a:ln w="12700">
            <a:solidFill>
              <a:srgbClr val="F26B4E"/>
            </a:solidFill>
            <a:prstDash val="solid"/>
          </a:ln>
        </p:spPr>
      </p:sp>
      <p:sp>
        <p:nvSpPr>
          <p:cNvPr id="27" name="Text 25"/>
          <p:cNvSpPr txBox="1"/>
          <p:nvPr/>
        </p:nvSpPr>
        <p:spPr>
          <a:xfrm>
            <a:off x="4754880" y="26426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8" name="Text 26"/>
          <p:cNvSpPr txBox="1"/>
          <p:nvPr/>
        </p:nvSpPr>
        <p:spPr>
          <a:xfrm>
            <a:off x="5349240" y="2642616"/>
            <a:ext cx="3474720" cy="420624"/>
          </a:xfrm>
          <a:prstGeom prst="rect">
            <a:avLst/>
          </a:prstGeom>
          <a:noFill/>
          <a:ln/>
        </p:spPr>
        <p:txBody>
          <a:bodyPr wrap="square" lIns="0" tIns="0" rIns="0" bIns="0" rtlCol="0" anchor="ctr"/>
          <a:lstStyle/>
          <a:p>
            <a:pPr indent="0" marL="0">
              <a:buNone/>
            </a:pPr>
            <a:r>
              <a:rPr lang="en-US" sz="1500" dirty="0">
                <a:solidFill>
                  <a:srgbClr val="1D2B36"/>
                </a:solidFill>
                <a:latin typeface="Calibri" pitchFamily="34" charset="0"/>
                <a:ea typeface="Calibri" pitchFamily="34" charset="-122"/>
                <a:cs typeface="Calibri" pitchFamily="34" charset="-120"/>
              </a:rPr>
              <a:t>Modelo financiero y rentabilidad</a:t>
            </a:r>
            <a:endParaRPr lang="en-US" sz="1500" dirty="0"/>
          </a:p>
        </p:txBody>
      </p:sp>
      <p:sp>
        <p:nvSpPr>
          <p:cNvPr id="29" name="Shape 27"/>
          <p:cNvSpPr/>
          <p:nvPr/>
        </p:nvSpPr>
        <p:spPr>
          <a:xfrm>
            <a:off x="4754880" y="3300984"/>
            <a:ext cx="420624" cy="420624"/>
          </a:xfrm>
          <a:prstGeom prst="ellipse">
            <a:avLst/>
          </a:prstGeom>
          <a:solidFill>
            <a:srgbClr val="F26B4E"/>
          </a:solidFill>
          <a:ln w="12700">
            <a:solidFill>
              <a:srgbClr val="F26B4E"/>
            </a:solidFill>
            <a:prstDash val="solid"/>
          </a:ln>
        </p:spPr>
      </p:sp>
      <p:sp>
        <p:nvSpPr>
          <p:cNvPr id="30" name="Text 28"/>
          <p:cNvSpPr txBox="1"/>
          <p:nvPr/>
        </p:nvSpPr>
        <p:spPr>
          <a:xfrm>
            <a:off x="4754880" y="3300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1" name="Text 29"/>
          <p:cNvSpPr txBox="1"/>
          <p:nvPr/>
        </p:nvSpPr>
        <p:spPr>
          <a:xfrm>
            <a:off x="5349240" y="3300984"/>
            <a:ext cx="3474720" cy="420624"/>
          </a:xfrm>
          <a:prstGeom prst="rect">
            <a:avLst/>
          </a:prstGeom>
          <a:noFill/>
          <a:ln/>
        </p:spPr>
        <p:txBody>
          <a:bodyPr wrap="square" lIns="0" tIns="0" rIns="0" bIns="0" rtlCol="0" anchor="ctr"/>
          <a:lstStyle/>
          <a:p>
            <a:pPr indent="0" marL="0">
              <a:buNone/>
            </a:pPr>
            <a:r>
              <a:rPr lang="en-US" sz="1500" dirty="0">
                <a:solidFill>
                  <a:srgbClr val="1D2B36"/>
                </a:solidFill>
                <a:latin typeface="Calibri" pitchFamily="34" charset="0"/>
                <a:ea typeface="Calibri" pitchFamily="34" charset="-122"/>
                <a:cs typeface="Calibri" pitchFamily="34" charset="-120"/>
              </a:rPr>
              <a:t>Riesgos, impacto y próximos pasos</a:t>
            </a:r>
            <a:endParaRPr lang="en-US" sz="15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236"/>
        </a:solidFill>
      </p:bgPr>
    </p:bg>
    <p:spTree>
      <p:nvGrpSpPr>
        <p:cNvPr id="1" name=""/>
        <p:cNvGrpSpPr/>
        <p:nvPr/>
      </p:nvGrpSpPr>
      <p:grpSpPr>
        <a:xfrm>
          <a:off x="0" y="0"/>
          <a:ext cx="0" cy="0"/>
          <a:chOff x="0" y="0"/>
          <a:chExt cx="0" cy="0"/>
        </a:xfrm>
      </p:grpSpPr>
      <p:sp>
        <p:nvSpPr>
          <p:cNvPr id="2" name="Shape 0"/>
          <p:cNvSpPr/>
          <p:nvPr/>
        </p:nvSpPr>
        <p:spPr>
          <a:xfrm>
            <a:off x="6035040" y="-914400"/>
            <a:ext cx="4389120" cy="4389120"/>
          </a:xfrm>
          <a:prstGeom prst="ellipse">
            <a:avLst/>
          </a:prstGeom>
          <a:solidFill>
            <a:srgbClr val="F26B4E">
              <a:alpha val="30000"/>
            </a:srgbClr>
          </a:solidFill>
          <a:ln w="12700">
            <a:solidFill>
              <a:srgbClr val="F26B4E">
                <a:alpha val="0"/>
              </a:srgbClr>
            </a:solidFill>
            <a:prstDash val="solid"/>
          </a:ln>
        </p:spPr>
      </p:sp>
      <p:sp>
        <p:nvSpPr>
          <p:cNvPr id="3" name="Shape 1"/>
          <p:cNvSpPr/>
          <p:nvPr/>
        </p:nvSpPr>
        <p:spPr>
          <a:xfrm>
            <a:off x="7315200" y="2834640"/>
            <a:ext cx="2560320" cy="2560320"/>
          </a:xfrm>
          <a:prstGeom prst="ellipse">
            <a:avLst/>
          </a:prstGeom>
          <a:solidFill>
            <a:srgbClr val="14A3A8">
              <a:alpha val="25000"/>
            </a:srgbClr>
          </a:solidFill>
          <a:ln w="12700">
            <a:solidFill>
              <a:srgbClr val="14A3A8">
                <a:alpha val="0"/>
              </a:srgbClr>
            </a:solidFill>
            <a:prstDash val="solid"/>
          </a:ln>
        </p:spPr>
      </p:sp>
      <p:sp>
        <p:nvSpPr>
          <p:cNvPr id="4" name="Text 2"/>
          <p:cNvSpPr txBox="1"/>
          <p:nvPr/>
        </p:nvSpPr>
        <p:spPr>
          <a:xfrm>
            <a:off x="548640" y="822960"/>
            <a:ext cx="3657600" cy="1280160"/>
          </a:xfrm>
          <a:prstGeom prst="rect">
            <a:avLst/>
          </a:prstGeom>
          <a:noFill/>
          <a:ln/>
        </p:spPr>
        <p:txBody>
          <a:bodyPr wrap="square" lIns="0" tIns="0" rIns="0" bIns="0" rtlCol="0" anchor="b"/>
          <a:lstStyle/>
          <a:p>
            <a:pPr indent="0" marL="0">
              <a:buNone/>
            </a:pPr>
            <a:r>
              <a:rPr lang="en-US" sz="8400" b="1" dirty="0">
                <a:solidFill>
                  <a:srgbClr val="F26B4E"/>
                </a:solidFill>
                <a:latin typeface="Calibri" pitchFamily="34" charset="0"/>
                <a:ea typeface="Calibri" pitchFamily="34" charset="-122"/>
                <a:cs typeface="Calibri" pitchFamily="34" charset="-120"/>
              </a:rPr>
              <a:t>01</a:t>
            </a:r>
            <a:endParaRPr lang="en-US" sz="8400" dirty="0"/>
          </a:p>
        </p:txBody>
      </p:sp>
      <p:sp>
        <p:nvSpPr>
          <p:cNvPr id="5" name="Text 3"/>
          <p:cNvSpPr txBox="1"/>
          <p:nvPr/>
        </p:nvSpPr>
        <p:spPr>
          <a:xfrm>
            <a:off x="548640" y="2240280"/>
            <a:ext cx="5943600" cy="10972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El problema y la oportunidad</a:t>
            </a:r>
            <a:endParaRPr lang="en-US" sz="3400" dirty="0"/>
          </a:p>
        </p:txBody>
      </p:sp>
      <p:sp>
        <p:nvSpPr>
          <p:cNvPr id="6" name="Text 4"/>
          <p:cNvSpPr txBox="1"/>
          <p:nvPr/>
        </p:nvSpPr>
        <p:spPr>
          <a:xfrm>
            <a:off x="548640" y="3429000"/>
            <a:ext cx="5760720" cy="731520"/>
          </a:xfrm>
          <a:prstGeom prst="rect">
            <a:avLst/>
          </a:prstGeom>
          <a:noFill/>
          <a:ln/>
        </p:spPr>
        <p:txBody>
          <a:bodyPr wrap="square" lIns="0" tIns="0" rIns="0" bIns="0" rtlCol="0" anchor="t"/>
          <a:lstStyle/>
          <a:p>
            <a:pPr indent="0" marL="0">
              <a:buNone/>
            </a:pPr>
            <a:r>
              <a:rPr lang="en-US" sz="1400" dirty="0">
                <a:solidFill>
                  <a:srgbClr val="BFD3DC"/>
                </a:solidFill>
                <a:latin typeface="Calibri" pitchFamily="34" charset="0"/>
                <a:ea typeface="Calibri" pitchFamily="34" charset="-122"/>
                <a:cs typeface="Calibri" pitchFamily="34" charset="-120"/>
              </a:rPr>
              <a:t>Camas ocupadas solo para terminar un antibiótico intravenoso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EL PROBLEMA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Pacientes estables ocupando camas solo por el antibiótico IV</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234440"/>
            <a:ext cx="4023360" cy="1645920"/>
          </a:xfrm>
          <a:prstGeom prst="roundRect">
            <a:avLst>
              <a:gd name="adj" fmla="val 4444"/>
            </a:avLst>
          </a:prstGeom>
          <a:solidFill>
            <a:srgbClr val="EEF6F6"/>
          </a:solidFill>
          <a:ln w="6350">
            <a:solidFill>
              <a:srgbClr val="EEF6F6"/>
            </a:solidFill>
            <a:prstDash val="solid"/>
          </a:ln>
        </p:spPr>
      </p:sp>
      <p:sp>
        <p:nvSpPr>
          <p:cNvPr id="6" name="Shape 4"/>
          <p:cNvSpPr/>
          <p:nvPr/>
        </p:nvSpPr>
        <p:spPr>
          <a:xfrm>
            <a:off x="621792" y="1417320"/>
            <a:ext cx="566928" cy="566928"/>
          </a:xfrm>
          <a:prstGeom prst="ellipse">
            <a:avLst/>
          </a:prstGeom>
          <a:solidFill>
            <a:srgbClr val="0E7C86"/>
          </a:solidFill>
          <a:ln w="19050">
            <a:solidFill>
              <a:srgbClr val="0E7C86"/>
            </a:solidFill>
            <a:prstDash val="solid"/>
          </a:ln>
        </p:spPr>
      </p:sp>
      <p:pic>
        <p:nvPicPr>
          <p:cNvPr id="7" name="Image 0" descr="preencoded.png">    </p:cNvPr>
          <p:cNvPicPr>
            <a:picLocks noChangeAspect="1"/>
          </p:cNvPicPr>
          <p:nvPr/>
        </p:nvPicPr>
        <p:blipFill>
          <a:blip r:embed="rId1"/>
          <a:stretch>
            <a:fillRect/>
          </a:stretch>
        </p:blipFill>
        <p:spPr>
          <a:xfrm>
            <a:off x="763524" y="1559052"/>
            <a:ext cx="283464" cy="283464"/>
          </a:xfrm>
          <a:prstGeom prst="rect">
            <a:avLst/>
          </a:prstGeom>
        </p:spPr>
      </p:pic>
      <p:sp>
        <p:nvSpPr>
          <p:cNvPr id="8" name="Text 5"/>
          <p:cNvSpPr txBox="1"/>
          <p:nvPr/>
        </p:nvSpPr>
        <p:spPr>
          <a:xfrm>
            <a:off x="1325880" y="1417320"/>
            <a:ext cx="3017520" cy="566928"/>
          </a:xfrm>
          <a:prstGeom prst="rect">
            <a:avLst/>
          </a:prstGeom>
          <a:noFill/>
          <a:ln/>
        </p:spPr>
        <p:txBody>
          <a:bodyPr wrap="square" lIns="0" tIns="0" rIns="0" bIns="0" rtlCol="0" anchor="ctr"/>
          <a:lstStyle/>
          <a:p>
            <a:pPr indent="0" marL="0">
              <a:buNone/>
            </a:pPr>
            <a:r>
              <a:rPr lang="en-US" sz="1600" b="1" dirty="0">
                <a:solidFill>
                  <a:srgbClr val="0B2236"/>
                </a:solidFill>
                <a:latin typeface="Calibri" pitchFamily="34" charset="0"/>
                <a:ea typeface="Calibri" pitchFamily="34" charset="-122"/>
                <a:cs typeface="Calibri" pitchFamily="34" charset="-120"/>
              </a:rPr>
              <a:t>Estancias largas</a:t>
            </a:r>
            <a:endParaRPr lang="en-US" sz="1600" dirty="0"/>
          </a:p>
        </p:txBody>
      </p:sp>
      <p:sp>
        <p:nvSpPr>
          <p:cNvPr id="9" name="Text 6"/>
          <p:cNvSpPr txBox="1"/>
          <p:nvPr/>
        </p:nvSpPr>
        <p:spPr>
          <a:xfrm>
            <a:off x="640080" y="2075688"/>
            <a:ext cx="3657600" cy="77724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Osteomielitis, endocarditis o infecciones por gérmenes resistentes pueden requerir 2 a 6 semanas de antibiótico IV, aunque el paciente ya esté estable.</a:t>
            </a:r>
            <a:endParaRPr lang="en-US" sz="1150" dirty="0"/>
          </a:p>
        </p:txBody>
      </p:sp>
      <p:sp>
        <p:nvSpPr>
          <p:cNvPr id="10" name="Shape 7"/>
          <p:cNvSpPr/>
          <p:nvPr/>
        </p:nvSpPr>
        <p:spPr>
          <a:xfrm>
            <a:off x="4663440" y="1234440"/>
            <a:ext cx="4023360" cy="1645920"/>
          </a:xfrm>
          <a:prstGeom prst="roundRect">
            <a:avLst>
              <a:gd name="adj" fmla="val 4444"/>
            </a:avLst>
          </a:prstGeom>
          <a:solidFill>
            <a:srgbClr val="EEF6F6"/>
          </a:solidFill>
          <a:ln w="6350">
            <a:solidFill>
              <a:srgbClr val="EEF6F6"/>
            </a:solidFill>
            <a:prstDash val="solid"/>
          </a:ln>
        </p:spPr>
      </p:sp>
      <p:sp>
        <p:nvSpPr>
          <p:cNvPr id="11" name="Shape 8"/>
          <p:cNvSpPr/>
          <p:nvPr/>
        </p:nvSpPr>
        <p:spPr>
          <a:xfrm>
            <a:off x="4828032" y="1417320"/>
            <a:ext cx="566928" cy="566928"/>
          </a:xfrm>
          <a:prstGeom prst="ellipse">
            <a:avLst/>
          </a:prstGeom>
          <a:solidFill>
            <a:srgbClr val="0E7C86"/>
          </a:solidFill>
          <a:ln w="19050">
            <a:solidFill>
              <a:srgbClr val="0E7C86"/>
            </a:solidFill>
            <a:prstDash val="solid"/>
          </a:ln>
        </p:spPr>
      </p:sp>
      <p:pic>
        <p:nvPicPr>
          <p:cNvPr id="12" name="Image 1" descr="preencoded.png">    </p:cNvPr>
          <p:cNvPicPr>
            <a:picLocks noChangeAspect="1"/>
          </p:cNvPicPr>
          <p:nvPr/>
        </p:nvPicPr>
        <p:blipFill>
          <a:blip r:embed="rId2"/>
          <a:stretch>
            <a:fillRect/>
          </a:stretch>
        </p:blipFill>
        <p:spPr>
          <a:xfrm>
            <a:off x="4969764" y="1559052"/>
            <a:ext cx="283464" cy="283464"/>
          </a:xfrm>
          <a:prstGeom prst="rect">
            <a:avLst/>
          </a:prstGeom>
        </p:spPr>
      </p:pic>
      <p:sp>
        <p:nvSpPr>
          <p:cNvPr id="13" name="Text 9"/>
          <p:cNvSpPr txBox="1"/>
          <p:nvPr/>
        </p:nvSpPr>
        <p:spPr>
          <a:xfrm>
            <a:off x="5532120" y="1417320"/>
            <a:ext cx="3017520" cy="566928"/>
          </a:xfrm>
          <a:prstGeom prst="rect">
            <a:avLst/>
          </a:prstGeom>
          <a:noFill/>
          <a:ln/>
        </p:spPr>
        <p:txBody>
          <a:bodyPr wrap="square" lIns="0" tIns="0" rIns="0" bIns="0" rtlCol="0" anchor="ctr"/>
          <a:lstStyle/>
          <a:p>
            <a:pPr indent="0" marL="0">
              <a:buNone/>
            </a:pPr>
            <a:r>
              <a:rPr lang="en-US" sz="1600" b="1" dirty="0">
                <a:solidFill>
                  <a:srgbClr val="0B2236"/>
                </a:solidFill>
                <a:latin typeface="Calibri" pitchFamily="34" charset="0"/>
                <a:ea typeface="Calibri" pitchFamily="34" charset="-122"/>
                <a:cs typeface="Calibri" pitchFamily="34" charset="-120"/>
              </a:rPr>
              <a:t>Saturación</a:t>
            </a:r>
            <a:endParaRPr lang="en-US" sz="1600" dirty="0"/>
          </a:p>
        </p:txBody>
      </p:sp>
      <p:sp>
        <p:nvSpPr>
          <p:cNvPr id="14" name="Text 10"/>
          <p:cNvSpPr txBox="1"/>
          <p:nvPr/>
        </p:nvSpPr>
        <p:spPr>
          <a:xfrm>
            <a:off x="4846320" y="2075688"/>
            <a:ext cx="3657600" cy="77724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Urgencias congestionadas y pacientes esperando cama mientras otros solo esperan la siguiente dosis.</a:t>
            </a:r>
            <a:endParaRPr lang="en-US" sz="1150" dirty="0"/>
          </a:p>
        </p:txBody>
      </p:sp>
      <p:sp>
        <p:nvSpPr>
          <p:cNvPr id="15" name="Shape 11"/>
          <p:cNvSpPr/>
          <p:nvPr/>
        </p:nvSpPr>
        <p:spPr>
          <a:xfrm>
            <a:off x="457200" y="3017520"/>
            <a:ext cx="4023360" cy="1645920"/>
          </a:xfrm>
          <a:prstGeom prst="roundRect">
            <a:avLst>
              <a:gd name="adj" fmla="val 4444"/>
            </a:avLst>
          </a:prstGeom>
          <a:solidFill>
            <a:srgbClr val="FDF1EC"/>
          </a:solidFill>
          <a:ln w="6350">
            <a:solidFill>
              <a:srgbClr val="FDF1EC"/>
            </a:solidFill>
            <a:prstDash val="solid"/>
          </a:ln>
        </p:spPr>
      </p:sp>
      <p:sp>
        <p:nvSpPr>
          <p:cNvPr id="16" name="Shape 12"/>
          <p:cNvSpPr/>
          <p:nvPr/>
        </p:nvSpPr>
        <p:spPr>
          <a:xfrm>
            <a:off x="621792" y="3200400"/>
            <a:ext cx="566928" cy="566928"/>
          </a:xfrm>
          <a:prstGeom prst="ellipse">
            <a:avLst/>
          </a:prstGeom>
          <a:solidFill>
            <a:srgbClr val="F26B4E"/>
          </a:solidFill>
          <a:ln w="19050">
            <a:solidFill>
              <a:srgbClr val="F26B4E"/>
            </a:solidFill>
            <a:prstDash val="solid"/>
          </a:ln>
        </p:spPr>
      </p:sp>
      <p:pic>
        <p:nvPicPr>
          <p:cNvPr id="17" name="Image 2" descr="preencoded.png">    </p:cNvPr>
          <p:cNvPicPr>
            <a:picLocks noChangeAspect="1"/>
          </p:cNvPicPr>
          <p:nvPr/>
        </p:nvPicPr>
        <p:blipFill>
          <a:blip r:embed="rId3"/>
          <a:stretch>
            <a:fillRect/>
          </a:stretch>
        </p:blipFill>
        <p:spPr>
          <a:xfrm>
            <a:off x="763524" y="3342132"/>
            <a:ext cx="283464" cy="283464"/>
          </a:xfrm>
          <a:prstGeom prst="rect">
            <a:avLst/>
          </a:prstGeom>
        </p:spPr>
      </p:pic>
      <p:sp>
        <p:nvSpPr>
          <p:cNvPr id="18" name="Text 13"/>
          <p:cNvSpPr txBox="1"/>
          <p:nvPr/>
        </p:nvSpPr>
        <p:spPr>
          <a:xfrm>
            <a:off x="1325880" y="3200400"/>
            <a:ext cx="3017520" cy="566928"/>
          </a:xfrm>
          <a:prstGeom prst="rect">
            <a:avLst/>
          </a:prstGeom>
          <a:noFill/>
          <a:ln/>
        </p:spPr>
        <p:txBody>
          <a:bodyPr wrap="square" lIns="0" tIns="0" rIns="0" bIns="0" rtlCol="0" anchor="ctr"/>
          <a:lstStyle/>
          <a:p>
            <a:pPr indent="0" marL="0">
              <a:buNone/>
            </a:pPr>
            <a:r>
              <a:rPr lang="en-US" sz="1600" b="1" dirty="0">
                <a:solidFill>
                  <a:srgbClr val="0B2236"/>
                </a:solidFill>
                <a:latin typeface="Calibri" pitchFamily="34" charset="0"/>
                <a:ea typeface="Calibri" pitchFamily="34" charset="-122"/>
                <a:cs typeface="Calibri" pitchFamily="34" charset="-120"/>
              </a:rPr>
              <a:t>Resistencia e IAAS</a:t>
            </a:r>
            <a:endParaRPr lang="en-US" sz="1600" dirty="0"/>
          </a:p>
        </p:txBody>
      </p:sp>
      <p:sp>
        <p:nvSpPr>
          <p:cNvPr id="19" name="Text 14"/>
          <p:cNvSpPr txBox="1"/>
          <p:nvPr/>
        </p:nvSpPr>
        <p:spPr>
          <a:xfrm>
            <a:off x="640080" y="3858768"/>
            <a:ext cx="3657600" cy="77724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Cada día extra en el hospital aumenta el riesgo de infecciones asociadas a la atención y de colonización por gérmenes resistentes.</a:t>
            </a:r>
            <a:endParaRPr lang="en-US" sz="1150" dirty="0"/>
          </a:p>
        </p:txBody>
      </p:sp>
      <p:sp>
        <p:nvSpPr>
          <p:cNvPr id="20" name="Shape 15"/>
          <p:cNvSpPr/>
          <p:nvPr/>
        </p:nvSpPr>
        <p:spPr>
          <a:xfrm>
            <a:off x="4663440" y="3017520"/>
            <a:ext cx="4023360" cy="1645920"/>
          </a:xfrm>
          <a:prstGeom prst="roundRect">
            <a:avLst>
              <a:gd name="adj" fmla="val 4444"/>
            </a:avLst>
          </a:prstGeom>
          <a:solidFill>
            <a:srgbClr val="EEF6F6"/>
          </a:solidFill>
          <a:ln w="6350">
            <a:solidFill>
              <a:srgbClr val="EEF6F6"/>
            </a:solidFill>
            <a:prstDash val="solid"/>
          </a:ln>
        </p:spPr>
      </p:sp>
      <p:sp>
        <p:nvSpPr>
          <p:cNvPr id="21" name="Shape 16"/>
          <p:cNvSpPr/>
          <p:nvPr/>
        </p:nvSpPr>
        <p:spPr>
          <a:xfrm>
            <a:off x="4828032" y="3200400"/>
            <a:ext cx="566928" cy="566928"/>
          </a:xfrm>
          <a:prstGeom prst="ellipse">
            <a:avLst/>
          </a:prstGeom>
          <a:solidFill>
            <a:srgbClr val="0E7C86"/>
          </a:solidFill>
          <a:ln w="19050">
            <a:solidFill>
              <a:srgbClr val="0E7C86"/>
            </a:solidFill>
            <a:prstDash val="solid"/>
          </a:ln>
        </p:spPr>
      </p:sp>
      <p:pic>
        <p:nvPicPr>
          <p:cNvPr id="22" name="Image 3" descr="preencoded.png">    </p:cNvPr>
          <p:cNvPicPr>
            <a:picLocks noChangeAspect="1"/>
          </p:cNvPicPr>
          <p:nvPr/>
        </p:nvPicPr>
        <p:blipFill>
          <a:blip r:embed="rId4"/>
          <a:stretch>
            <a:fillRect/>
          </a:stretch>
        </p:blipFill>
        <p:spPr>
          <a:xfrm>
            <a:off x="4969764" y="3342132"/>
            <a:ext cx="283464" cy="283464"/>
          </a:xfrm>
          <a:prstGeom prst="rect">
            <a:avLst/>
          </a:prstGeom>
        </p:spPr>
      </p:pic>
      <p:sp>
        <p:nvSpPr>
          <p:cNvPr id="23" name="Text 17"/>
          <p:cNvSpPr txBox="1"/>
          <p:nvPr/>
        </p:nvSpPr>
        <p:spPr>
          <a:xfrm>
            <a:off x="5532120" y="3200400"/>
            <a:ext cx="3017520" cy="566928"/>
          </a:xfrm>
          <a:prstGeom prst="rect">
            <a:avLst/>
          </a:prstGeom>
          <a:noFill/>
          <a:ln/>
        </p:spPr>
        <p:txBody>
          <a:bodyPr wrap="square" lIns="0" tIns="0" rIns="0" bIns="0" rtlCol="0" anchor="ctr"/>
          <a:lstStyle/>
          <a:p>
            <a:pPr indent="0" marL="0">
              <a:buNone/>
            </a:pPr>
            <a:r>
              <a:rPr lang="en-US" sz="1600" b="1" dirty="0">
                <a:solidFill>
                  <a:srgbClr val="0B2236"/>
                </a:solidFill>
                <a:latin typeface="Calibri" pitchFamily="34" charset="0"/>
                <a:ea typeface="Calibri" pitchFamily="34" charset="-122"/>
                <a:cs typeface="Calibri" pitchFamily="34" charset="-120"/>
              </a:rPr>
              <a:t>Costo para el pagador</a:t>
            </a:r>
            <a:endParaRPr lang="en-US" sz="1600" dirty="0"/>
          </a:p>
        </p:txBody>
      </p:sp>
      <p:sp>
        <p:nvSpPr>
          <p:cNvPr id="24" name="Text 18"/>
          <p:cNvSpPr txBox="1"/>
          <p:nvPr/>
        </p:nvSpPr>
        <p:spPr>
          <a:xfrm>
            <a:off x="4846320" y="3858768"/>
            <a:ext cx="3657600" cy="77724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La EPS paga día-cama completo por un paciente que necesita, sobre todo, la aplicación del medicamento y un seguimiento estrecho.</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EL PROBLEMA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La resistencia antimicrobiana encarece y alarga el tratamiento</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Text 3"/>
          <p:cNvSpPr txBox="1"/>
          <p:nvPr/>
        </p:nvSpPr>
        <p:spPr>
          <a:xfrm>
            <a:off x="457200" y="1234440"/>
            <a:ext cx="2651760" cy="548640"/>
          </a:xfrm>
          <a:prstGeom prst="rect">
            <a:avLst/>
          </a:prstGeom>
          <a:noFill/>
          <a:ln/>
        </p:spPr>
        <p:txBody>
          <a:bodyPr wrap="square" lIns="0" tIns="0" rIns="0" bIns="0" rtlCol="0" anchor="b"/>
          <a:lstStyle/>
          <a:p>
            <a:pPr indent="0" marL="0">
              <a:buNone/>
            </a:pPr>
            <a:r>
              <a:rPr lang="en-US" sz="4000" b="1" dirty="0">
                <a:solidFill>
                  <a:srgbClr val="F26B4E"/>
                </a:solidFill>
                <a:latin typeface="Calibri" pitchFamily="34" charset="0"/>
                <a:ea typeface="Calibri" pitchFamily="34" charset="-122"/>
                <a:cs typeface="Calibri" pitchFamily="34" charset="-120"/>
              </a:rPr>
              <a:t>&gt; 25 %</a:t>
            </a:r>
            <a:endParaRPr lang="en-US" sz="4000" dirty="0"/>
          </a:p>
        </p:txBody>
      </p:sp>
      <p:sp>
        <p:nvSpPr>
          <p:cNvPr id="6" name="Text 4"/>
          <p:cNvSpPr txBox="1"/>
          <p:nvPr/>
        </p:nvSpPr>
        <p:spPr>
          <a:xfrm>
            <a:off x="457200" y="1819656"/>
            <a:ext cx="265176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resistencia a carbapenémicos de K. pneumoniae en UCI adultos (vigilancia WHONET, INS 2023)</a:t>
            </a:r>
            <a:endParaRPr lang="en-US" sz="1100" dirty="0"/>
          </a:p>
        </p:txBody>
      </p:sp>
      <p:sp>
        <p:nvSpPr>
          <p:cNvPr id="7" name="Text 5"/>
          <p:cNvSpPr txBox="1"/>
          <p:nvPr/>
        </p:nvSpPr>
        <p:spPr>
          <a:xfrm>
            <a:off x="457200" y="2514600"/>
            <a:ext cx="2651760" cy="548640"/>
          </a:xfrm>
          <a:prstGeom prst="rect">
            <a:avLst/>
          </a:prstGeom>
          <a:noFill/>
          <a:ln/>
        </p:spPr>
        <p:txBody>
          <a:bodyPr wrap="square" lIns="0" tIns="0" rIns="0" bIns="0" rtlCol="0" anchor="b"/>
          <a:lstStyle/>
          <a:p>
            <a:pPr indent="0" marL="0">
              <a:buNone/>
            </a:pPr>
            <a:r>
              <a:rPr lang="en-US" sz="4000" b="1" dirty="0">
                <a:solidFill>
                  <a:srgbClr val="E9A23B"/>
                </a:solidFill>
                <a:latin typeface="Calibri" pitchFamily="34" charset="0"/>
                <a:ea typeface="Calibri" pitchFamily="34" charset="-122"/>
                <a:cs typeface="Calibri" pitchFamily="34" charset="-120"/>
              </a:rPr>
              <a:t>38,3 %</a:t>
            </a:r>
            <a:endParaRPr lang="en-US" sz="4000" dirty="0"/>
          </a:p>
        </p:txBody>
      </p:sp>
      <p:sp>
        <p:nvSpPr>
          <p:cNvPr id="8" name="Text 6"/>
          <p:cNvSpPr txBox="1"/>
          <p:nvPr/>
        </p:nvSpPr>
        <p:spPr>
          <a:xfrm>
            <a:off x="457200" y="3099816"/>
            <a:ext cx="265176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resistencia de K. pneumoniae a cefalosporinas de 3.a y 4.a generación en salas generales (datos INS citados en Biomédica 2023)</a:t>
            </a:r>
            <a:endParaRPr lang="en-US" sz="1100" dirty="0"/>
          </a:p>
        </p:txBody>
      </p:sp>
      <p:sp>
        <p:nvSpPr>
          <p:cNvPr id="9" name="Shape 7"/>
          <p:cNvSpPr/>
          <p:nvPr/>
        </p:nvSpPr>
        <p:spPr>
          <a:xfrm>
            <a:off x="3474720" y="1234440"/>
            <a:ext cx="5212080" cy="3474720"/>
          </a:xfrm>
          <a:prstGeom prst="roundRect">
            <a:avLst>
              <a:gd name="adj" fmla="val 2105"/>
            </a:avLst>
          </a:prstGeom>
          <a:solidFill>
            <a:srgbClr val="EEF6F6"/>
          </a:solidFill>
          <a:ln w="6350">
            <a:solidFill>
              <a:srgbClr val="EEF6F6"/>
            </a:solidFill>
            <a:prstDash val="solid"/>
          </a:ln>
        </p:spPr>
      </p:sp>
      <p:sp>
        <p:nvSpPr>
          <p:cNvPr id="10" name="Text 8"/>
          <p:cNvSpPr txBox="1"/>
          <p:nvPr/>
        </p:nvSpPr>
        <p:spPr>
          <a:xfrm>
            <a:off x="3657600" y="1325880"/>
            <a:ext cx="4846320" cy="365760"/>
          </a:xfrm>
          <a:prstGeom prst="rect">
            <a:avLst/>
          </a:prstGeom>
          <a:noFill/>
          <a:ln/>
        </p:spPr>
        <p:txBody>
          <a:bodyPr wrap="square" lIns="0" tIns="0" rIns="0" bIns="0" rtlCol="0" anchor="t"/>
          <a:lstStyle/>
          <a:p>
            <a:pPr indent="0" marL="0">
              <a:buNone/>
            </a:pPr>
            <a:r>
              <a:rPr lang="en-US" sz="1500" b="1" dirty="0">
                <a:solidFill>
                  <a:srgbClr val="0B2236"/>
                </a:solidFill>
                <a:latin typeface="Calibri" pitchFamily="34" charset="0"/>
                <a:ea typeface="Calibri" pitchFamily="34" charset="-122"/>
                <a:cs typeface="Calibri" pitchFamily="34" charset="-120"/>
              </a:rPr>
              <a:t>¿Qué significa para el paciente y el pagador?</a:t>
            </a:r>
            <a:endParaRPr lang="en-US" sz="1500" dirty="0"/>
          </a:p>
        </p:txBody>
      </p:sp>
      <p:sp>
        <p:nvSpPr>
          <p:cNvPr id="11" name="Text 9"/>
          <p:cNvSpPr txBox="1"/>
          <p:nvPr/>
        </p:nvSpPr>
        <p:spPr>
          <a:xfrm>
            <a:off x="3657600" y="1783080"/>
            <a:ext cx="4892040" cy="2834640"/>
          </a:xfrm>
          <a:prstGeom prst="rect">
            <a:avLst/>
          </a:prstGeom>
          <a:noFill/>
          <a:ln/>
        </p:spPr>
        <p:txBody>
          <a:bodyPr wrap="square" lIns="0" tIns="0" rIns="0" bIns="0" rtlCol="0" anchor="t"/>
          <a:lstStyle/>
          <a:p>
            <a:pPr marL="165100" indent="-165100">
              <a:spcAft>
                <a:spcPts val="800"/>
              </a:spcAft>
              <a:buSzPct val="100000"/>
              <a:buChar char="•"/>
            </a:pPr>
            <a:r>
              <a:rPr lang="en-US" sz="1250" b="1" dirty="0">
                <a:solidFill>
                  <a:srgbClr val="0E7C86"/>
                </a:solidFill>
                <a:latin typeface="Calibri" pitchFamily="34" charset="0"/>
                <a:ea typeface="Calibri" pitchFamily="34" charset="-122"/>
                <a:cs typeface="Calibri" pitchFamily="34" charset="-120"/>
              </a:rPr>
              <a:t>Antibióticos más costosos: </a:t>
            </a:r>
            <a:pPr indent="0" marL="0">
              <a:buNone/>
            </a:pPr>
            <a:r>
              <a:rPr lang="en-US" sz="1250" dirty="0">
                <a:solidFill>
                  <a:srgbClr val="1D2B36"/>
                </a:solidFill>
                <a:latin typeface="Calibri" pitchFamily="34" charset="0"/>
                <a:ea typeface="Calibri" pitchFamily="34" charset="-122"/>
                <a:cs typeface="Calibri" pitchFamily="34" charset="-120"/>
              </a:rPr>
              <a:t>ertapenem, vancomicina, daptomicina, ceftazidima-avibactam.</a:t>
            </a:r>
            <a:endParaRPr lang="en-US" sz="1250" dirty="0"/>
          </a:p>
          <a:p>
            <a:pPr marL="165100" indent="-165100">
              <a:spcAft>
                <a:spcPts val="800"/>
              </a:spcAft>
              <a:buSzPct val="100000"/>
              <a:buChar char="•"/>
            </a:pPr>
            <a:r>
              <a:rPr lang="en-US" sz="1250" b="1" dirty="0">
                <a:solidFill>
                  <a:srgbClr val="0E7C86"/>
                </a:solidFill>
                <a:latin typeface="Calibri" pitchFamily="34" charset="0"/>
                <a:ea typeface="Calibri" pitchFamily="34" charset="-122"/>
                <a:cs typeface="Calibri" pitchFamily="34" charset="-120"/>
              </a:rPr>
              <a:t>Tratamientos más largos </a:t>
            </a:r>
            <a:pPr indent="0" marL="0">
              <a:buNone/>
            </a:pPr>
            <a:r>
              <a:rPr lang="en-US" sz="1250" dirty="0">
                <a:solidFill>
                  <a:srgbClr val="1D2B36"/>
                </a:solidFill>
                <a:latin typeface="Calibri" pitchFamily="34" charset="0"/>
                <a:ea typeface="Calibri" pitchFamily="34" charset="-122"/>
                <a:cs typeface="Calibri" pitchFamily="34" charset="-120"/>
              </a:rPr>
              <a:t>y con monitoreo de niveles o de función renal.</a:t>
            </a:r>
            <a:endParaRPr lang="en-US" sz="1250" dirty="0"/>
          </a:p>
          <a:p>
            <a:pPr marL="165100" indent="-165100">
              <a:spcAft>
                <a:spcPts val="800"/>
              </a:spcAft>
              <a:buSzPct val="100000"/>
              <a:buChar char="•"/>
            </a:pPr>
            <a:r>
              <a:rPr lang="en-US" sz="1250" b="1" dirty="0">
                <a:solidFill>
                  <a:srgbClr val="0E7C86"/>
                </a:solidFill>
                <a:latin typeface="Calibri" pitchFamily="34" charset="0"/>
                <a:ea typeface="Calibri" pitchFamily="34" charset="-122"/>
                <a:cs typeface="Calibri" pitchFamily="34" charset="-120"/>
              </a:rPr>
              <a:t>Hoy el precio no distingue la resistencia: </a:t>
            </a:r>
            <a:pPr indent="0" marL="0">
              <a:buNone/>
            </a:pPr>
            <a:r>
              <a:rPr lang="en-US" sz="1250" dirty="0">
                <a:solidFill>
                  <a:srgbClr val="1D2B36"/>
                </a:solidFill>
                <a:latin typeface="Calibri" pitchFamily="34" charset="0"/>
                <a:ea typeface="Calibri" pitchFamily="34" charset="-122"/>
                <a:cs typeface="Calibri" pitchFamily="34" charset="-120"/>
              </a:rPr>
              <a:t>un PAD tradicional cobra igual una IVU por E. coli sensible que una por BLEE.</a:t>
            </a:r>
            <a:endParaRPr lang="en-US" sz="1250" dirty="0"/>
          </a:p>
          <a:p>
            <a:pPr marL="165100" indent="-165100">
              <a:spcAft>
                <a:spcPts val="800"/>
              </a:spcAft>
              <a:buSzPct val="100000"/>
              <a:buChar char="•"/>
            </a:pPr>
            <a:r>
              <a:rPr lang="en-US" sz="1250" b="1" dirty="0">
                <a:solidFill>
                  <a:srgbClr val="0E7C86"/>
                </a:solidFill>
                <a:latin typeface="Calibri" pitchFamily="34" charset="0"/>
                <a:ea typeface="Calibri" pitchFamily="34" charset="-122"/>
                <a:cs typeface="Calibri" pitchFamily="34" charset="-120"/>
              </a:rPr>
              <a:t>Oportunidad: </a:t>
            </a:r>
            <a:pPr indent="0" marL="0">
              <a:buNone/>
            </a:pPr>
            <a:r>
              <a:rPr lang="en-US" sz="1250" dirty="0">
                <a:solidFill>
                  <a:srgbClr val="1D2B36"/>
                </a:solidFill>
                <a:latin typeface="Calibri" pitchFamily="34" charset="0"/>
                <a:ea typeface="Calibri" pitchFamily="34" charset="-122"/>
                <a:cs typeface="Calibri" pitchFamily="34" charset="-120"/>
              </a:rPr>
              <a:t>un precio por paquete que refleje el antibiótico real que exige el antibiograma.</a:t>
            </a:r>
            <a:endParaRPr lang="en-US" sz="1250" dirty="0"/>
          </a:p>
        </p:txBody>
      </p:sp>
      <p:sp>
        <p:nvSpPr>
          <p:cNvPr id="12" name="Text 10"/>
          <p:cNvSpPr txBox="1"/>
          <p:nvPr/>
        </p:nvSpPr>
        <p:spPr>
          <a:xfrm>
            <a:off x="457200" y="3977640"/>
            <a:ext cx="2926080" cy="731520"/>
          </a:xfrm>
          <a:prstGeom prst="rect">
            <a:avLst/>
          </a:prstGeom>
          <a:noFill/>
          <a:ln/>
        </p:spPr>
        <p:txBody>
          <a:bodyPr wrap="square" lIns="0" tIns="0" rIns="0" bIns="0" rtlCol="0" anchor="t"/>
          <a:lstStyle/>
          <a:p>
            <a:pPr indent="0" marL="0">
              <a:buNone/>
            </a:pPr>
            <a:r>
              <a:rPr lang="en-US" sz="900" i="1" dirty="0">
                <a:solidFill>
                  <a:srgbClr val="5F6F7C"/>
                </a:solidFill>
                <a:latin typeface="Calibri" pitchFamily="34" charset="0"/>
                <a:ea typeface="Calibri" pitchFamily="34" charset="-122"/>
                <a:cs typeface="Calibri" pitchFamily="34" charset="-120"/>
              </a:rPr>
              <a:t>Fuente: INS, vigilancia WHONET; Biomédica 2023;43(4) (instituciones nivel III y IV, 2018–2021).</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LA OPORTUNIDAD</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La hospitalización en casa funciona: la evidencia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234440"/>
            <a:ext cx="4023360" cy="3474720"/>
          </a:xfrm>
          <a:prstGeom prst="roundRect">
            <a:avLst>
              <a:gd name="adj" fmla="val 2105"/>
            </a:avLst>
          </a:prstGeom>
          <a:solidFill>
            <a:srgbClr val="EEF6F6"/>
          </a:solidFill>
          <a:ln w="6350">
            <a:solidFill>
              <a:srgbClr val="EEF6F6"/>
            </a:solidFill>
            <a:prstDash val="solid"/>
          </a:ln>
        </p:spPr>
      </p:sp>
      <p:sp>
        <p:nvSpPr>
          <p:cNvPr id="6" name="Text 4"/>
          <p:cNvSpPr txBox="1"/>
          <p:nvPr/>
        </p:nvSpPr>
        <p:spPr>
          <a:xfrm>
            <a:off x="640080" y="1325880"/>
            <a:ext cx="3657600" cy="457200"/>
          </a:xfrm>
          <a:prstGeom prst="rect">
            <a:avLst/>
          </a:prstGeom>
          <a:noFill/>
          <a:ln/>
        </p:spPr>
        <p:txBody>
          <a:bodyPr wrap="square" lIns="0" tIns="0" rIns="0" bIns="0" rtlCol="0" anchor="t"/>
          <a:lstStyle/>
          <a:p>
            <a:pPr indent="0" marL="0">
              <a:buNone/>
            </a:pPr>
            <a:r>
              <a:rPr lang="en-US" sz="1250" b="1" dirty="0">
                <a:solidFill>
                  <a:srgbClr val="0B2236"/>
                </a:solidFill>
                <a:latin typeface="Calibri" pitchFamily="34" charset="0"/>
                <a:ea typeface="Calibri" pitchFamily="34" charset="-122"/>
                <a:cs typeface="Calibri" pitchFamily="34" charset="-120"/>
              </a:rPr>
              <a:t>Ensayo aleatorizado · Levine et al., Ann Intern Med 2020</a:t>
            </a:r>
            <a:endParaRPr lang="en-US" sz="1250" dirty="0"/>
          </a:p>
        </p:txBody>
      </p:sp>
      <p:sp>
        <p:nvSpPr>
          <p:cNvPr id="7" name="Text 5"/>
          <p:cNvSpPr txBox="1"/>
          <p:nvPr/>
        </p:nvSpPr>
        <p:spPr>
          <a:xfrm>
            <a:off x="640080" y="1783080"/>
            <a:ext cx="1737360" cy="548640"/>
          </a:xfrm>
          <a:prstGeom prst="rect">
            <a:avLst/>
          </a:prstGeom>
          <a:noFill/>
          <a:ln/>
        </p:spPr>
        <p:txBody>
          <a:bodyPr wrap="square" lIns="0" tIns="0" rIns="0" bIns="0" rtlCol="0" anchor="b"/>
          <a:lstStyle/>
          <a:p>
            <a:pPr indent="0" marL="0">
              <a:buNone/>
            </a:pPr>
            <a:r>
              <a:rPr lang="en-US" sz="3400" b="1" dirty="0">
                <a:solidFill>
                  <a:srgbClr val="2E9E6A"/>
                </a:solidFill>
                <a:latin typeface="Calibri" pitchFamily="34" charset="0"/>
                <a:ea typeface="Calibri" pitchFamily="34" charset="-122"/>
                <a:cs typeface="Calibri" pitchFamily="34" charset="-120"/>
              </a:rPr>
              <a:t>−38 %</a:t>
            </a:r>
            <a:endParaRPr lang="en-US" sz="3400" dirty="0"/>
          </a:p>
        </p:txBody>
      </p:sp>
      <p:sp>
        <p:nvSpPr>
          <p:cNvPr id="8" name="Text 6"/>
          <p:cNvSpPr txBox="1"/>
          <p:nvPr/>
        </p:nvSpPr>
        <p:spPr>
          <a:xfrm>
            <a:off x="640080" y="2368296"/>
            <a:ext cx="173736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costo directo del episodio agudo frente al hospital</a:t>
            </a:r>
            <a:endParaRPr lang="en-US" sz="1100" dirty="0"/>
          </a:p>
        </p:txBody>
      </p:sp>
      <p:sp>
        <p:nvSpPr>
          <p:cNvPr id="9" name="Text 7"/>
          <p:cNvSpPr txBox="1"/>
          <p:nvPr/>
        </p:nvSpPr>
        <p:spPr>
          <a:xfrm>
            <a:off x="2514600" y="1783080"/>
            <a:ext cx="1828800" cy="548640"/>
          </a:xfrm>
          <a:prstGeom prst="rect">
            <a:avLst/>
          </a:prstGeom>
          <a:noFill/>
          <a:ln/>
        </p:spPr>
        <p:txBody>
          <a:bodyPr wrap="square" lIns="0" tIns="0" rIns="0" bIns="0" rtlCol="0" anchor="b"/>
          <a:lstStyle/>
          <a:p>
            <a:pPr indent="0" marL="0">
              <a:buNone/>
            </a:pPr>
            <a:r>
              <a:rPr lang="en-US" sz="2600" b="1" dirty="0">
                <a:solidFill>
                  <a:srgbClr val="0E7C86"/>
                </a:solidFill>
                <a:latin typeface="Calibri" pitchFamily="34" charset="0"/>
                <a:ea typeface="Calibri" pitchFamily="34" charset="-122"/>
                <a:cs typeface="Calibri" pitchFamily="34" charset="-120"/>
              </a:rPr>
              <a:t>7 % vs 23 %</a:t>
            </a:r>
            <a:endParaRPr lang="en-US" sz="2600" dirty="0"/>
          </a:p>
        </p:txBody>
      </p:sp>
      <p:sp>
        <p:nvSpPr>
          <p:cNvPr id="10" name="Text 8"/>
          <p:cNvSpPr txBox="1"/>
          <p:nvPr/>
        </p:nvSpPr>
        <p:spPr>
          <a:xfrm>
            <a:off x="2514600" y="2368296"/>
            <a:ext cx="182880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reingreso a 30 días: casa vs hospital</a:t>
            </a:r>
            <a:endParaRPr lang="en-US" sz="1100" dirty="0"/>
          </a:p>
        </p:txBody>
      </p:sp>
      <p:sp>
        <p:nvSpPr>
          <p:cNvPr id="11" name="Text 9"/>
          <p:cNvSpPr txBox="1"/>
          <p:nvPr/>
        </p:nvSpPr>
        <p:spPr>
          <a:xfrm>
            <a:off x="640080" y="3154680"/>
            <a:ext cx="3657600" cy="91440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91 adultos agudos de urgencias en Boston; menos laboratorios, imágenes e interconsultas. Muestra pequeña y seleccionada (alto rechazo).</a:t>
            </a:r>
            <a:endParaRPr lang="en-US" sz="1100" dirty="0"/>
          </a:p>
        </p:txBody>
      </p:sp>
      <p:sp>
        <p:nvSpPr>
          <p:cNvPr id="12" name="Shape 10"/>
          <p:cNvSpPr/>
          <p:nvPr/>
        </p:nvSpPr>
        <p:spPr>
          <a:xfrm>
            <a:off x="4663440" y="1234440"/>
            <a:ext cx="4023360" cy="1645920"/>
          </a:xfrm>
          <a:prstGeom prst="roundRect">
            <a:avLst>
              <a:gd name="adj" fmla="val 4444"/>
            </a:avLst>
          </a:prstGeom>
          <a:solidFill>
            <a:srgbClr val="FFFFFF"/>
          </a:solidFill>
          <a:ln w="15875">
            <a:solidFill>
              <a:srgbClr val="D5E2E4"/>
            </a:solidFill>
            <a:prstDash val="solid"/>
          </a:ln>
        </p:spPr>
      </p:sp>
      <p:sp>
        <p:nvSpPr>
          <p:cNvPr id="13" name="Shape 11"/>
          <p:cNvSpPr/>
          <p:nvPr/>
        </p:nvSpPr>
        <p:spPr>
          <a:xfrm>
            <a:off x="4800600" y="1417320"/>
            <a:ext cx="502920" cy="502920"/>
          </a:xfrm>
          <a:prstGeom prst="ellipse">
            <a:avLst/>
          </a:prstGeom>
          <a:solidFill>
            <a:srgbClr val="0E7C86"/>
          </a:solidFill>
          <a:ln w="19050">
            <a:solidFill>
              <a:srgbClr val="0E7C86"/>
            </a:solidFill>
            <a:prstDash val="solid"/>
          </a:ln>
        </p:spPr>
      </p:sp>
      <p:pic>
        <p:nvPicPr>
          <p:cNvPr id="14" name="Image 0" descr="preencoded.png">    </p:cNvPr>
          <p:cNvPicPr>
            <a:picLocks noChangeAspect="1"/>
          </p:cNvPicPr>
          <p:nvPr/>
        </p:nvPicPr>
        <p:blipFill>
          <a:blip r:embed="rId1"/>
          <a:stretch>
            <a:fillRect/>
          </a:stretch>
        </p:blipFill>
        <p:spPr>
          <a:xfrm>
            <a:off x="4926330" y="1543050"/>
            <a:ext cx="251460" cy="251460"/>
          </a:xfrm>
          <a:prstGeom prst="rect">
            <a:avLst/>
          </a:prstGeom>
        </p:spPr>
      </p:pic>
      <p:sp>
        <p:nvSpPr>
          <p:cNvPr id="15" name="Text 12"/>
          <p:cNvSpPr txBox="1"/>
          <p:nvPr/>
        </p:nvSpPr>
        <p:spPr>
          <a:xfrm>
            <a:off x="5440680" y="1371600"/>
            <a:ext cx="3108960" cy="548640"/>
          </a:xfrm>
          <a:prstGeom prst="rect">
            <a:avLst/>
          </a:prstGeom>
          <a:noFill/>
          <a:ln/>
        </p:spPr>
        <p:txBody>
          <a:bodyPr wrap="square" lIns="0" tIns="0" rIns="0" bIns="0" rtlCol="0" anchor="ctr"/>
          <a:lstStyle/>
          <a:p>
            <a:pPr indent="0" marL="0">
              <a:buNone/>
            </a:pPr>
            <a:r>
              <a:rPr lang="en-US" sz="1250" b="1" dirty="0">
                <a:solidFill>
                  <a:srgbClr val="0B2236"/>
                </a:solidFill>
                <a:latin typeface="Calibri" pitchFamily="34" charset="0"/>
                <a:ea typeface="Calibri" pitchFamily="34" charset="-122"/>
                <a:cs typeface="Calibri" pitchFamily="34" charset="-120"/>
              </a:rPr>
              <a:t>Cochrane 2024 · Edgar et al.</a:t>
            </a:r>
            <a:endParaRPr lang="en-US" sz="1250" dirty="0"/>
          </a:p>
        </p:txBody>
      </p:sp>
      <p:sp>
        <p:nvSpPr>
          <p:cNvPr id="16" name="Text 13"/>
          <p:cNvSpPr txBox="1"/>
          <p:nvPr/>
        </p:nvSpPr>
        <p:spPr>
          <a:xfrm>
            <a:off x="4846320" y="2011680"/>
            <a:ext cx="3703320" cy="82296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20 ECA (3100 participantes): hospital en casa probablemente no cambia mortalidad ni reingresos, mejora la satisfacción y probablemente reduce costos.</a:t>
            </a:r>
            <a:endParaRPr lang="en-US" sz="1100" dirty="0"/>
          </a:p>
        </p:txBody>
      </p:sp>
      <p:sp>
        <p:nvSpPr>
          <p:cNvPr id="17" name="Shape 14"/>
          <p:cNvSpPr/>
          <p:nvPr/>
        </p:nvSpPr>
        <p:spPr>
          <a:xfrm>
            <a:off x="4663440" y="3017520"/>
            <a:ext cx="4023360" cy="1645920"/>
          </a:xfrm>
          <a:prstGeom prst="roundRect">
            <a:avLst>
              <a:gd name="adj" fmla="val 4444"/>
            </a:avLst>
          </a:prstGeom>
          <a:solidFill>
            <a:srgbClr val="FFFFFF"/>
          </a:solidFill>
          <a:ln w="15875">
            <a:solidFill>
              <a:srgbClr val="D5E2E4"/>
            </a:solidFill>
            <a:prstDash val="solid"/>
          </a:ln>
        </p:spPr>
      </p:sp>
      <p:sp>
        <p:nvSpPr>
          <p:cNvPr id="18" name="Shape 15"/>
          <p:cNvSpPr/>
          <p:nvPr/>
        </p:nvSpPr>
        <p:spPr>
          <a:xfrm>
            <a:off x="4800600" y="3200400"/>
            <a:ext cx="502920" cy="502920"/>
          </a:xfrm>
          <a:prstGeom prst="ellipse">
            <a:avLst/>
          </a:prstGeom>
          <a:solidFill>
            <a:srgbClr val="0E7C86"/>
          </a:solidFill>
          <a:ln w="19050">
            <a:solidFill>
              <a:srgbClr val="0E7C86"/>
            </a:solidFill>
            <a:prstDash val="solid"/>
          </a:ln>
        </p:spPr>
      </p:sp>
      <p:pic>
        <p:nvPicPr>
          <p:cNvPr id="19" name="Image 1" descr="preencoded.png">    </p:cNvPr>
          <p:cNvPicPr>
            <a:picLocks noChangeAspect="1"/>
          </p:cNvPicPr>
          <p:nvPr/>
        </p:nvPicPr>
        <p:blipFill>
          <a:blip r:embed="rId2"/>
          <a:stretch>
            <a:fillRect/>
          </a:stretch>
        </p:blipFill>
        <p:spPr>
          <a:xfrm>
            <a:off x="4926330" y="3326130"/>
            <a:ext cx="251460" cy="251460"/>
          </a:xfrm>
          <a:prstGeom prst="rect">
            <a:avLst/>
          </a:prstGeom>
        </p:spPr>
      </p:pic>
      <p:sp>
        <p:nvSpPr>
          <p:cNvPr id="20" name="Text 16"/>
          <p:cNvSpPr txBox="1"/>
          <p:nvPr/>
        </p:nvSpPr>
        <p:spPr>
          <a:xfrm>
            <a:off x="5440680" y="3154680"/>
            <a:ext cx="3108960" cy="548640"/>
          </a:xfrm>
          <a:prstGeom prst="rect">
            <a:avLst/>
          </a:prstGeom>
          <a:noFill/>
          <a:ln/>
        </p:spPr>
        <p:txBody>
          <a:bodyPr wrap="square" lIns="0" tIns="0" rIns="0" bIns="0" rtlCol="0" anchor="ctr"/>
          <a:lstStyle/>
          <a:p>
            <a:pPr indent="0" marL="0">
              <a:buNone/>
            </a:pPr>
            <a:r>
              <a:rPr lang="en-US" sz="1250" b="1" dirty="0">
                <a:solidFill>
                  <a:srgbClr val="0B2236"/>
                </a:solidFill>
                <a:latin typeface="Calibri" pitchFamily="34" charset="0"/>
                <a:ea typeface="Calibri" pitchFamily="34" charset="-122"/>
                <a:cs typeface="Calibri" pitchFamily="34" charset="-120"/>
              </a:rPr>
              <a:t>Guía IDSA 2018 de OPAT (Norris, Clin Infect Dis 2019)</a:t>
            </a:r>
            <a:endParaRPr lang="en-US" sz="1250" dirty="0"/>
          </a:p>
        </p:txBody>
      </p:sp>
      <p:sp>
        <p:nvSpPr>
          <p:cNvPr id="21" name="Text 17"/>
          <p:cNvSpPr txBox="1"/>
          <p:nvPr/>
        </p:nvSpPr>
        <p:spPr>
          <a:xfrm>
            <a:off x="4846320" y="3794760"/>
            <a:ext cx="3703320" cy="82296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Respalda la antibioticoterapia parenteral ambulatoria con selección por infectología, monitoreo de laboratorio y vigilancia del acceso vascular.</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LA OPORTUNIDAD</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Bucaramanga y su área metropolitana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Text 3"/>
          <p:cNvSpPr txBox="1"/>
          <p:nvPr/>
        </p:nvSpPr>
        <p:spPr>
          <a:xfrm>
            <a:off x="457200" y="1234440"/>
            <a:ext cx="2560320" cy="548640"/>
          </a:xfrm>
          <a:prstGeom prst="rect">
            <a:avLst/>
          </a:prstGeom>
          <a:noFill/>
          <a:ln/>
        </p:spPr>
        <p:txBody>
          <a:bodyPr wrap="square" lIns="0" tIns="0" rIns="0" bIns="0" rtlCol="0" anchor="b"/>
          <a:lstStyle/>
          <a:p>
            <a:pPr indent="0" marL="0">
              <a:buNone/>
            </a:pPr>
            <a:r>
              <a:rPr lang="en-US" sz="3600" b="1" dirty="0">
                <a:solidFill>
                  <a:srgbClr val="0E7C86"/>
                </a:solidFill>
                <a:latin typeface="Calibri" pitchFamily="34" charset="0"/>
                <a:ea typeface="Calibri" pitchFamily="34" charset="-122"/>
                <a:cs typeface="Calibri" pitchFamily="34" charset="-120"/>
              </a:rPr>
              <a:t>619.703</a:t>
            </a:r>
            <a:endParaRPr lang="en-US" sz="3600" dirty="0"/>
          </a:p>
        </p:txBody>
      </p:sp>
      <p:sp>
        <p:nvSpPr>
          <p:cNvPr id="6" name="Text 4"/>
          <p:cNvSpPr txBox="1"/>
          <p:nvPr/>
        </p:nvSpPr>
        <p:spPr>
          <a:xfrm>
            <a:off x="457200" y="1819656"/>
            <a:ext cx="256032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habitantes en Bucaramanga (proyección DANE 2024, ASIS municipal)</a:t>
            </a:r>
            <a:endParaRPr lang="en-US" sz="1100" dirty="0"/>
          </a:p>
        </p:txBody>
      </p:sp>
      <p:sp>
        <p:nvSpPr>
          <p:cNvPr id="7" name="Text 5"/>
          <p:cNvSpPr txBox="1"/>
          <p:nvPr/>
        </p:nvSpPr>
        <p:spPr>
          <a:xfrm>
            <a:off x="457200" y="2468880"/>
            <a:ext cx="2560320" cy="548640"/>
          </a:xfrm>
          <a:prstGeom prst="rect">
            <a:avLst/>
          </a:prstGeom>
          <a:noFill/>
          <a:ln/>
        </p:spPr>
        <p:txBody>
          <a:bodyPr wrap="square" lIns="0" tIns="0" rIns="0" bIns="0" rtlCol="0" anchor="b"/>
          <a:lstStyle/>
          <a:p>
            <a:pPr indent="0" marL="0">
              <a:buNone/>
            </a:pPr>
            <a:r>
              <a:rPr lang="en-US" sz="3600" b="1" dirty="0">
                <a:solidFill>
                  <a:srgbClr val="14A3A8"/>
                </a:solidFill>
                <a:latin typeface="Calibri" pitchFamily="34" charset="0"/>
                <a:ea typeface="Calibri" pitchFamily="34" charset="-122"/>
                <a:cs typeface="Calibri" pitchFamily="34" charset="-120"/>
              </a:rPr>
              <a:t>≈ 1,3 M</a:t>
            </a:r>
            <a:endParaRPr lang="en-US" sz="3600" dirty="0"/>
          </a:p>
        </p:txBody>
      </p:sp>
      <p:sp>
        <p:nvSpPr>
          <p:cNvPr id="8" name="Text 6"/>
          <p:cNvSpPr txBox="1"/>
          <p:nvPr/>
        </p:nvSpPr>
        <p:spPr>
          <a:xfrm>
            <a:off x="457200" y="3054096"/>
            <a:ext cx="256032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habitantes en el área metropolitana (Bucaramanga, Floridablanca, Girón, Piedecuesta; Cómo Vamos 2026)</a:t>
            </a:r>
            <a:endParaRPr lang="en-US" sz="1100" dirty="0"/>
          </a:p>
        </p:txBody>
      </p:sp>
      <p:sp>
        <p:nvSpPr>
          <p:cNvPr id="9" name="Shape 7"/>
          <p:cNvSpPr/>
          <p:nvPr/>
        </p:nvSpPr>
        <p:spPr>
          <a:xfrm>
            <a:off x="3383280" y="1234440"/>
            <a:ext cx="5303520" cy="3474720"/>
          </a:xfrm>
          <a:prstGeom prst="roundRect">
            <a:avLst>
              <a:gd name="adj" fmla="val 2105"/>
            </a:avLst>
          </a:prstGeom>
          <a:solidFill>
            <a:srgbClr val="EEF6F6"/>
          </a:solidFill>
          <a:ln w="6350">
            <a:solidFill>
              <a:srgbClr val="EEF6F6"/>
            </a:solidFill>
            <a:prstDash val="solid"/>
          </a:ln>
        </p:spPr>
      </p:sp>
      <p:sp>
        <p:nvSpPr>
          <p:cNvPr id="10" name="Text 8"/>
          <p:cNvSpPr txBox="1"/>
          <p:nvPr/>
        </p:nvSpPr>
        <p:spPr>
          <a:xfrm>
            <a:off x="3566160" y="1325880"/>
            <a:ext cx="4937760" cy="365760"/>
          </a:xfrm>
          <a:prstGeom prst="rect">
            <a:avLst/>
          </a:prstGeom>
          <a:noFill/>
          <a:ln/>
        </p:spPr>
        <p:txBody>
          <a:bodyPr wrap="square" lIns="0" tIns="0" rIns="0" bIns="0" rtlCol="0" anchor="t"/>
          <a:lstStyle/>
          <a:p>
            <a:pPr indent="0" marL="0">
              <a:buNone/>
            </a:pPr>
            <a:r>
              <a:rPr lang="en-US" sz="1500" b="1" dirty="0">
                <a:solidFill>
                  <a:srgbClr val="0B2236"/>
                </a:solidFill>
                <a:latin typeface="Calibri" pitchFamily="34" charset="0"/>
                <a:ea typeface="Calibri" pitchFamily="34" charset="-122"/>
                <a:cs typeface="Calibri" pitchFamily="34" charset="-120"/>
              </a:rPr>
              <a:t>¿Por qué aquí?</a:t>
            </a:r>
            <a:endParaRPr lang="en-US" sz="1500" dirty="0"/>
          </a:p>
        </p:txBody>
      </p:sp>
      <p:sp>
        <p:nvSpPr>
          <p:cNvPr id="11" name="Text 9"/>
          <p:cNvSpPr txBox="1"/>
          <p:nvPr/>
        </p:nvSpPr>
        <p:spPr>
          <a:xfrm>
            <a:off x="3566160" y="1783080"/>
            <a:ext cx="4983480" cy="2834640"/>
          </a:xfrm>
          <a:prstGeom prst="rect">
            <a:avLst/>
          </a:prstGeom>
          <a:noFill/>
          <a:ln/>
        </p:spPr>
        <p:txBody>
          <a:bodyPr wrap="square" lIns="0" tIns="0" rIns="0" bIns="0" rtlCol="0" anchor="t"/>
          <a:lstStyle/>
          <a:p>
            <a:pPr marL="165100" indent="-165100">
              <a:spcAft>
                <a:spcPts val="800"/>
              </a:spcAft>
              <a:buSzPct val="100000"/>
              <a:buChar char="•"/>
            </a:pPr>
            <a:r>
              <a:rPr lang="en-US" sz="1250" b="1" dirty="0">
                <a:solidFill>
                  <a:srgbClr val="0E7C86"/>
                </a:solidFill>
                <a:latin typeface="Calibri" pitchFamily="34" charset="0"/>
                <a:ea typeface="Calibri" pitchFamily="34" charset="-122"/>
                <a:cs typeface="Calibri" pitchFamily="34" charset="-120"/>
              </a:rPr>
              <a:t>Polo regional de salud: </a:t>
            </a:r>
            <a:pPr indent="0" marL="0">
              <a:buNone/>
            </a:pPr>
            <a:r>
              <a:rPr lang="en-US" sz="1250" dirty="0">
                <a:solidFill>
                  <a:srgbClr val="1D2B36"/>
                </a:solidFill>
                <a:latin typeface="Calibri" pitchFamily="34" charset="0"/>
                <a:ea typeface="Calibri" pitchFamily="34" charset="-122"/>
                <a:cs typeface="Calibri" pitchFamily="34" charset="-120"/>
              </a:rPr>
              <a:t>IPS de mediana y alta complejidad que reciben pacientes de todo el nororiente.</a:t>
            </a:r>
            <a:endParaRPr lang="en-US" sz="1250" dirty="0"/>
          </a:p>
          <a:p>
            <a:pPr marL="165100" indent="-165100">
              <a:spcAft>
                <a:spcPts val="800"/>
              </a:spcAft>
              <a:buSzPct val="100000"/>
              <a:buChar char="•"/>
            </a:pPr>
            <a:r>
              <a:rPr lang="en-US" sz="1250" b="1" dirty="0">
                <a:solidFill>
                  <a:srgbClr val="0E7C86"/>
                </a:solidFill>
                <a:latin typeface="Calibri" pitchFamily="34" charset="0"/>
                <a:ea typeface="Calibri" pitchFamily="34" charset="-122"/>
                <a:cs typeface="Calibri" pitchFamily="34" charset="-120"/>
              </a:rPr>
              <a:t>Población que envejece: </a:t>
            </a:r>
            <a:pPr indent="0" marL="0">
              <a:buNone/>
            </a:pPr>
            <a:r>
              <a:rPr lang="en-US" sz="1250" dirty="0">
                <a:solidFill>
                  <a:srgbClr val="1D2B36"/>
                </a:solidFill>
                <a:latin typeface="Calibri" pitchFamily="34" charset="0"/>
                <a:ea typeface="Calibri" pitchFamily="34" charset="-122"/>
                <a:cs typeface="Calibri" pitchFamily="34" charset="-120"/>
              </a:rPr>
              <a:t>más pacientes con diabetes, prótesis y comorbilidades, candidatos a infecciones prolongadas.</a:t>
            </a:r>
            <a:endParaRPr lang="en-US" sz="1250" dirty="0"/>
          </a:p>
          <a:p>
            <a:pPr marL="165100" indent="-165100">
              <a:spcAft>
                <a:spcPts val="800"/>
              </a:spcAft>
              <a:buSzPct val="100000"/>
              <a:buChar char="•"/>
            </a:pPr>
            <a:r>
              <a:rPr lang="en-US" sz="1250" b="1" dirty="0">
                <a:solidFill>
                  <a:srgbClr val="0E7C86"/>
                </a:solidFill>
                <a:latin typeface="Calibri" pitchFamily="34" charset="0"/>
                <a:ea typeface="Calibri" pitchFamily="34" charset="-122"/>
                <a:cs typeface="Calibri" pitchFamily="34" charset="-120"/>
              </a:rPr>
              <a:t>Área urbana compacta: </a:t>
            </a:r>
            <a:pPr indent="0" marL="0">
              <a:buNone/>
            </a:pPr>
            <a:r>
              <a:rPr lang="en-US" sz="1250" dirty="0">
                <a:solidFill>
                  <a:srgbClr val="1D2B36"/>
                </a:solidFill>
                <a:latin typeface="Calibri" pitchFamily="34" charset="0"/>
                <a:ea typeface="Calibri" pitchFamily="34" charset="-122"/>
                <a:cs typeface="Calibri" pitchFamily="34" charset="-120"/>
              </a:rPr>
              <a:t>tiempos de desplazamiento manejables para visitas diarias.</a:t>
            </a:r>
            <a:endParaRPr lang="en-US" sz="1250" dirty="0"/>
          </a:p>
          <a:p>
            <a:pPr marL="165100" indent="-165100">
              <a:spcAft>
                <a:spcPts val="800"/>
              </a:spcAft>
              <a:buSzPct val="100000"/>
              <a:buChar char="•"/>
            </a:pPr>
            <a:r>
              <a:rPr lang="en-US" sz="1250" b="1" dirty="0">
                <a:solidFill>
                  <a:srgbClr val="0E7C86"/>
                </a:solidFill>
                <a:latin typeface="Calibri" pitchFamily="34" charset="0"/>
                <a:ea typeface="Calibri" pitchFamily="34" charset="-122"/>
                <a:cs typeface="Calibri" pitchFamily="34" charset="-120"/>
              </a:rPr>
              <a:t>Demanda insatisfecha: </a:t>
            </a:r>
            <a:pPr indent="0" marL="0">
              <a:buNone/>
            </a:pPr>
            <a:r>
              <a:rPr lang="en-US" sz="1250" dirty="0">
                <a:solidFill>
                  <a:srgbClr val="1D2B36"/>
                </a:solidFill>
                <a:latin typeface="Calibri" pitchFamily="34" charset="0"/>
                <a:ea typeface="Calibri" pitchFamily="34" charset="-122"/>
                <a:cs typeface="Calibri" pitchFamily="34" charset="-120"/>
              </a:rPr>
              <a:t>la mayoría de los PAD ofrecen visitas sueltas, no paquetes integrales de antibiótico por diagnóstico.</a:t>
            </a:r>
            <a:endParaRPr lang="en-US" sz="12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236"/>
        </a:solidFill>
      </p:bgPr>
    </p:bg>
    <p:spTree>
      <p:nvGrpSpPr>
        <p:cNvPr id="1" name=""/>
        <p:cNvGrpSpPr/>
        <p:nvPr/>
      </p:nvGrpSpPr>
      <p:grpSpPr>
        <a:xfrm>
          <a:off x="0" y="0"/>
          <a:ext cx="0" cy="0"/>
          <a:chOff x="0" y="0"/>
          <a:chExt cx="0" cy="0"/>
        </a:xfrm>
      </p:grpSpPr>
      <p:sp>
        <p:nvSpPr>
          <p:cNvPr id="2" name="Shape 0"/>
          <p:cNvSpPr/>
          <p:nvPr/>
        </p:nvSpPr>
        <p:spPr>
          <a:xfrm>
            <a:off x="6035040" y="-914400"/>
            <a:ext cx="4389120" cy="4389120"/>
          </a:xfrm>
          <a:prstGeom prst="ellipse">
            <a:avLst/>
          </a:prstGeom>
          <a:solidFill>
            <a:srgbClr val="14A3A8">
              <a:alpha val="30000"/>
            </a:srgbClr>
          </a:solidFill>
          <a:ln w="12700">
            <a:solidFill>
              <a:srgbClr val="14A3A8">
                <a:alpha val="0"/>
              </a:srgbClr>
            </a:solidFill>
            <a:prstDash val="solid"/>
          </a:ln>
        </p:spPr>
      </p:sp>
      <p:sp>
        <p:nvSpPr>
          <p:cNvPr id="3" name="Shape 1"/>
          <p:cNvSpPr/>
          <p:nvPr/>
        </p:nvSpPr>
        <p:spPr>
          <a:xfrm>
            <a:off x="7315200" y="2834640"/>
            <a:ext cx="2560320" cy="2560320"/>
          </a:xfrm>
          <a:prstGeom prst="ellipse">
            <a:avLst/>
          </a:prstGeom>
          <a:solidFill>
            <a:srgbClr val="14A3A8">
              <a:alpha val="25000"/>
            </a:srgbClr>
          </a:solidFill>
          <a:ln w="12700">
            <a:solidFill>
              <a:srgbClr val="14A3A8">
                <a:alpha val="0"/>
              </a:srgbClr>
            </a:solidFill>
            <a:prstDash val="solid"/>
          </a:ln>
        </p:spPr>
      </p:sp>
      <p:sp>
        <p:nvSpPr>
          <p:cNvPr id="4" name="Text 2"/>
          <p:cNvSpPr txBox="1"/>
          <p:nvPr/>
        </p:nvSpPr>
        <p:spPr>
          <a:xfrm>
            <a:off x="548640" y="822960"/>
            <a:ext cx="3657600" cy="1280160"/>
          </a:xfrm>
          <a:prstGeom prst="rect">
            <a:avLst/>
          </a:prstGeom>
          <a:noFill/>
          <a:ln/>
        </p:spPr>
        <p:txBody>
          <a:bodyPr wrap="square" lIns="0" tIns="0" rIns="0" bIns="0" rtlCol="0" anchor="b"/>
          <a:lstStyle/>
          <a:p>
            <a:pPr indent="0" marL="0">
              <a:buNone/>
            </a:pPr>
            <a:r>
              <a:rPr lang="en-US" sz="8400" b="1" dirty="0">
                <a:solidFill>
                  <a:srgbClr val="14A3A8"/>
                </a:solidFill>
                <a:latin typeface="Calibri" pitchFamily="34" charset="0"/>
                <a:ea typeface="Calibri" pitchFamily="34" charset="-122"/>
                <a:cs typeface="Calibri" pitchFamily="34" charset="-120"/>
              </a:rPr>
              <a:t>02</a:t>
            </a:r>
            <a:endParaRPr lang="en-US" sz="8400" dirty="0"/>
          </a:p>
        </p:txBody>
      </p:sp>
      <p:sp>
        <p:nvSpPr>
          <p:cNvPr id="5" name="Text 3"/>
          <p:cNvSpPr txBox="1"/>
          <p:nvPr/>
        </p:nvSpPr>
        <p:spPr>
          <a:xfrm>
            <a:off x="548640" y="2240280"/>
            <a:ext cx="5943600" cy="10972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La propuesta: paquetes DOMUS</a:t>
            </a:r>
            <a:endParaRPr lang="en-US" sz="3400" dirty="0"/>
          </a:p>
        </p:txBody>
      </p:sp>
      <p:sp>
        <p:nvSpPr>
          <p:cNvPr id="6" name="Text 4"/>
          <p:cNvSpPr txBox="1"/>
          <p:nvPr/>
        </p:nvSpPr>
        <p:spPr>
          <a:xfrm>
            <a:off x="548640" y="3429000"/>
            <a:ext cx="5760720" cy="731520"/>
          </a:xfrm>
          <a:prstGeom prst="rect">
            <a:avLst/>
          </a:prstGeom>
          <a:noFill/>
          <a:ln/>
        </p:spPr>
        <p:txBody>
          <a:bodyPr wrap="square" lIns="0" tIns="0" rIns="0" bIns="0" rtlCol="0" anchor="t"/>
          <a:lstStyle/>
          <a:p>
            <a:pPr indent="0" marL="0">
              <a:buNone/>
            </a:pPr>
            <a:r>
              <a:rPr lang="en-US" sz="1400" dirty="0">
                <a:solidFill>
                  <a:srgbClr val="BFD3DC"/>
                </a:solidFill>
                <a:latin typeface="Calibri" pitchFamily="34" charset="0"/>
                <a:ea typeface="Calibri" pitchFamily="34" charset="-122"/>
                <a:cs typeface="Calibri" pitchFamily="34" charset="-120"/>
              </a:rPr>
              <a:t>Un precio cerrado por infección y perfil de resistencia, con todo incluido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LA PROPUESTA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DOMUS: la cama de hospital, en la casa del paciente</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234440"/>
            <a:ext cx="8229600" cy="1051560"/>
          </a:xfrm>
          <a:prstGeom prst="roundRect">
            <a:avLst>
              <a:gd name="adj" fmla="val 6957"/>
            </a:avLst>
          </a:prstGeom>
          <a:solidFill>
            <a:srgbClr val="0B2236"/>
          </a:solidFill>
          <a:ln w="6350">
            <a:solidFill>
              <a:srgbClr val="0B2236"/>
            </a:solidFill>
            <a:prstDash val="solid"/>
          </a:ln>
        </p:spPr>
      </p:sp>
      <p:sp>
        <p:nvSpPr>
          <p:cNvPr id="6" name="Text 4"/>
          <p:cNvSpPr txBox="1"/>
          <p:nvPr/>
        </p:nvSpPr>
        <p:spPr>
          <a:xfrm>
            <a:off x="685800" y="1234440"/>
            <a:ext cx="7772400" cy="10515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Vendemos a EPS y clínicas paquetes cerrados de antibioticoterapia en casa: por tipo de infección y por perfil de resistencia, con el antibiótico, su aplicación, los insumos y el seguimiento médico incluidos. Objetivo: reducir días de hospitalización con la misma seguridad.</a:t>
            </a:r>
            <a:endParaRPr lang="en-US" sz="1400" dirty="0"/>
          </a:p>
        </p:txBody>
      </p:sp>
      <p:sp>
        <p:nvSpPr>
          <p:cNvPr id="7" name="Shape 5"/>
          <p:cNvSpPr/>
          <p:nvPr/>
        </p:nvSpPr>
        <p:spPr>
          <a:xfrm>
            <a:off x="457200" y="2514600"/>
            <a:ext cx="1920240" cy="2194560"/>
          </a:xfrm>
          <a:prstGeom prst="roundRect">
            <a:avLst>
              <a:gd name="adj" fmla="val 3810"/>
            </a:avLst>
          </a:prstGeom>
          <a:solidFill>
            <a:srgbClr val="EEF6F6"/>
          </a:solidFill>
          <a:ln w="6350">
            <a:solidFill>
              <a:srgbClr val="EEF6F6"/>
            </a:solidFill>
            <a:prstDash val="solid"/>
          </a:ln>
        </p:spPr>
      </p:sp>
      <p:sp>
        <p:nvSpPr>
          <p:cNvPr id="8" name="Shape 6"/>
          <p:cNvSpPr/>
          <p:nvPr/>
        </p:nvSpPr>
        <p:spPr>
          <a:xfrm>
            <a:off x="1051560" y="2697480"/>
            <a:ext cx="731520" cy="731520"/>
          </a:xfrm>
          <a:prstGeom prst="ellipse">
            <a:avLst/>
          </a:prstGeom>
          <a:solidFill>
            <a:srgbClr val="0E7C86"/>
          </a:solidFill>
          <a:ln w="19050">
            <a:solidFill>
              <a:srgbClr val="0E7C86"/>
            </a:solidFill>
            <a:prstDash val="solid"/>
          </a:ln>
        </p:spPr>
      </p:sp>
      <p:pic>
        <p:nvPicPr>
          <p:cNvPr id="9" name="Image 0" descr="preencoded.png">    </p:cNvPr>
          <p:cNvPicPr>
            <a:picLocks noChangeAspect="1"/>
          </p:cNvPicPr>
          <p:nvPr/>
        </p:nvPicPr>
        <p:blipFill>
          <a:blip r:embed="rId1"/>
          <a:stretch>
            <a:fillRect/>
          </a:stretch>
        </p:blipFill>
        <p:spPr>
          <a:xfrm>
            <a:off x="1234440" y="2880360"/>
            <a:ext cx="365760" cy="365760"/>
          </a:xfrm>
          <a:prstGeom prst="rect">
            <a:avLst/>
          </a:prstGeom>
        </p:spPr>
      </p:pic>
      <p:sp>
        <p:nvSpPr>
          <p:cNvPr id="10" name="Text 7"/>
          <p:cNvSpPr txBox="1"/>
          <p:nvPr/>
        </p:nvSpPr>
        <p:spPr>
          <a:xfrm>
            <a:off x="548640" y="3566160"/>
            <a:ext cx="1737360" cy="365760"/>
          </a:xfrm>
          <a:prstGeom prst="rect">
            <a:avLst/>
          </a:prstGeom>
          <a:noFill/>
          <a:ln/>
        </p:spPr>
        <p:txBody>
          <a:bodyPr wrap="square" lIns="0" tIns="0" rIns="0" bIns="0" rtlCol="0" anchor="t"/>
          <a:lstStyle/>
          <a:p>
            <a:pPr algn="ctr" indent="0" marL="0">
              <a:buNone/>
            </a:pPr>
            <a:r>
              <a:rPr lang="en-US" sz="1500" b="1" dirty="0">
                <a:solidFill>
                  <a:srgbClr val="0B2236"/>
                </a:solidFill>
                <a:latin typeface="Calibri" pitchFamily="34" charset="0"/>
                <a:ea typeface="Calibri" pitchFamily="34" charset="-122"/>
                <a:cs typeface="Calibri" pitchFamily="34" charset="-120"/>
              </a:rPr>
              <a:t>Por paquete</a:t>
            </a:r>
            <a:endParaRPr lang="en-US" sz="1500" dirty="0"/>
          </a:p>
        </p:txBody>
      </p:sp>
      <p:sp>
        <p:nvSpPr>
          <p:cNvPr id="11" name="Text 8"/>
          <p:cNvSpPr txBox="1"/>
          <p:nvPr/>
        </p:nvSpPr>
        <p:spPr>
          <a:xfrm>
            <a:off x="548640" y="3931920"/>
            <a:ext cx="1737360" cy="685800"/>
          </a:xfrm>
          <a:prstGeom prst="rect">
            <a:avLst/>
          </a:prstGeom>
          <a:noFill/>
          <a:ln/>
        </p:spPr>
        <p:txBody>
          <a:bodyPr wrap="square" lIns="0" tIns="0" rIns="0" bIns="0" rtlCol="0" anchor="t"/>
          <a:lstStyle/>
          <a:p>
            <a:pPr algn="ctr" indent="0" marL="0">
              <a:buNone/>
            </a:pPr>
            <a:r>
              <a:rPr lang="en-US" sz="1150" dirty="0">
                <a:solidFill>
                  <a:srgbClr val="5F6F7C"/>
                </a:solidFill>
                <a:latin typeface="Calibri" pitchFamily="34" charset="0"/>
                <a:ea typeface="Calibri" pitchFamily="34" charset="-122"/>
                <a:cs typeface="Calibri" pitchFamily="34" charset="-120"/>
              </a:rPr>
              <a:t>No por visita suelta</a:t>
            </a:r>
            <a:endParaRPr lang="en-US" sz="1150" dirty="0"/>
          </a:p>
        </p:txBody>
      </p:sp>
      <p:sp>
        <p:nvSpPr>
          <p:cNvPr id="12" name="Shape 9"/>
          <p:cNvSpPr/>
          <p:nvPr/>
        </p:nvSpPr>
        <p:spPr>
          <a:xfrm>
            <a:off x="2560320" y="2514600"/>
            <a:ext cx="1920240" cy="2194560"/>
          </a:xfrm>
          <a:prstGeom prst="roundRect">
            <a:avLst>
              <a:gd name="adj" fmla="val 3810"/>
            </a:avLst>
          </a:prstGeom>
          <a:solidFill>
            <a:srgbClr val="EEF6F6"/>
          </a:solidFill>
          <a:ln w="6350">
            <a:solidFill>
              <a:srgbClr val="EEF6F6"/>
            </a:solidFill>
            <a:prstDash val="solid"/>
          </a:ln>
        </p:spPr>
      </p:sp>
      <p:sp>
        <p:nvSpPr>
          <p:cNvPr id="13" name="Shape 10"/>
          <p:cNvSpPr/>
          <p:nvPr/>
        </p:nvSpPr>
        <p:spPr>
          <a:xfrm>
            <a:off x="3154680" y="2697480"/>
            <a:ext cx="731520" cy="731520"/>
          </a:xfrm>
          <a:prstGeom prst="ellipse">
            <a:avLst/>
          </a:prstGeom>
          <a:solidFill>
            <a:srgbClr val="0E7C86"/>
          </a:solidFill>
          <a:ln w="19050">
            <a:solidFill>
              <a:srgbClr val="0E7C86"/>
            </a:solidFill>
            <a:prstDash val="solid"/>
          </a:ln>
        </p:spPr>
      </p:sp>
      <p:pic>
        <p:nvPicPr>
          <p:cNvPr id="14" name="Image 1" descr="preencoded.png">    </p:cNvPr>
          <p:cNvPicPr>
            <a:picLocks noChangeAspect="1"/>
          </p:cNvPicPr>
          <p:nvPr/>
        </p:nvPicPr>
        <p:blipFill>
          <a:blip r:embed="rId2"/>
          <a:stretch>
            <a:fillRect/>
          </a:stretch>
        </p:blipFill>
        <p:spPr>
          <a:xfrm>
            <a:off x="3337560" y="2880360"/>
            <a:ext cx="365760" cy="365760"/>
          </a:xfrm>
          <a:prstGeom prst="rect">
            <a:avLst/>
          </a:prstGeom>
        </p:spPr>
      </p:pic>
      <p:sp>
        <p:nvSpPr>
          <p:cNvPr id="15" name="Text 11"/>
          <p:cNvSpPr txBox="1"/>
          <p:nvPr/>
        </p:nvSpPr>
        <p:spPr>
          <a:xfrm>
            <a:off x="2651760" y="3566160"/>
            <a:ext cx="1737360" cy="365760"/>
          </a:xfrm>
          <a:prstGeom prst="rect">
            <a:avLst/>
          </a:prstGeom>
          <a:noFill/>
          <a:ln/>
        </p:spPr>
        <p:txBody>
          <a:bodyPr wrap="square" lIns="0" tIns="0" rIns="0" bIns="0" rtlCol="0" anchor="t"/>
          <a:lstStyle/>
          <a:p>
            <a:pPr algn="ctr" indent="0" marL="0">
              <a:buNone/>
            </a:pPr>
            <a:r>
              <a:rPr lang="en-US" sz="1500" b="1" dirty="0">
                <a:solidFill>
                  <a:srgbClr val="0B2236"/>
                </a:solidFill>
                <a:latin typeface="Calibri" pitchFamily="34" charset="0"/>
                <a:ea typeface="Calibri" pitchFamily="34" charset="-122"/>
                <a:cs typeface="Calibri" pitchFamily="34" charset="-120"/>
              </a:rPr>
              <a:t>Por infección</a:t>
            </a:r>
            <a:endParaRPr lang="en-US" sz="1500" dirty="0"/>
          </a:p>
        </p:txBody>
      </p:sp>
      <p:sp>
        <p:nvSpPr>
          <p:cNvPr id="16" name="Text 12"/>
          <p:cNvSpPr txBox="1"/>
          <p:nvPr/>
        </p:nvSpPr>
        <p:spPr>
          <a:xfrm>
            <a:off x="2651760" y="3931920"/>
            <a:ext cx="1737360" cy="685800"/>
          </a:xfrm>
          <a:prstGeom prst="rect">
            <a:avLst/>
          </a:prstGeom>
          <a:noFill/>
          <a:ln/>
        </p:spPr>
        <p:txBody>
          <a:bodyPr wrap="square" lIns="0" tIns="0" rIns="0" bIns="0" rtlCol="0" anchor="t"/>
          <a:lstStyle/>
          <a:p>
            <a:pPr algn="ctr" indent="0" marL="0">
              <a:buNone/>
            </a:pPr>
            <a:r>
              <a:rPr lang="en-US" sz="1150" dirty="0">
                <a:solidFill>
                  <a:srgbClr val="5F6F7C"/>
                </a:solidFill>
                <a:latin typeface="Calibri" pitchFamily="34" charset="0"/>
                <a:ea typeface="Calibri" pitchFamily="34" charset="-122"/>
                <a:cs typeface="Calibri" pitchFamily="34" charset="-120"/>
              </a:rPr>
              <a:t>IVU, neumonía, osteomielitis, endocarditis…</a:t>
            </a:r>
            <a:endParaRPr lang="en-US" sz="1150" dirty="0"/>
          </a:p>
        </p:txBody>
      </p:sp>
      <p:sp>
        <p:nvSpPr>
          <p:cNvPr id="17" name="Shape 13"/>
          <p:cNvSpPr/>
          <p:nvPr/>
        </p:nvSpPr>
        <p:spPr>
          <a:xfrm>
            <a:off x="4663440" y="2514600"/>
            <a:ext cx="1920240" cy="2194560"/>
          </a:xfrm>
          <a:prstGeom prst="roundRect">
            <a:avLst>
              <a:gd name="adj" fmla="val 3810"/>
            </a:avLst>
          </a:prstGeom>
          <a:solidFill>
            <a:srgbClr val="EEF6F6"/>
          </a:solidFill>
          <a:ln w="6350">
            <a:solidFill>
              <a:srgbClr val="EEF6F6"/>
            </a:solidFill>
            <a:prstDash val="solid"/>
          </a:ln>
        </p:spPr>
      </p:sp>
      <p:sp>
        <p:nvSpPr>
          <p:cNvPr id="18" name="Shape 14"/>
          <p:cNvSpPr/>
          <p:nvPr/>
        </p:nvSpPr>
        <p:spPr>
          <a:xfrm>
            <a:off x="5257800" y="2697480"/>
            <a:ext cx="731520" cy="731520"/>
          </a:xfrm>
          <a:prstGeom prst="ellipse">
            <a:avLst/>
          </a:prstGeom>
          <a:solidFill>
            <a:srgbClr val="F26B4E"/>
          </a:solidFill>
          <a:ln w="19050">
            <a:solidFill>
              <a:srgbClr val="F26B4E"/>
            </a:solidFill>
            <a:prstDash val="solid"/>
          </a:ln>
        </p:spPr>
      </p:sp>
      <p:pic>
        <p:nvPicPr>
          <p:cNvPr id="19" name="Image 2" descr="preencoded.png">    </p:cNvPr>
          <p:cNvPicPr>
            <a:picLocks noChangeAspect="1"/>
          </p:cNvPicPr>
          <p:nvPr/>
        </p:nvPicPr>
        <p:blipFill>
          <a:blip r:embed="rId3"/>
          <a:stretch>
            <a:fillRect/>
          </a:stretch>
        </p:blipFill>
        <p:spPr>
          <a:xfrm>
            <a:off x="5440680" y="2880360"/>
            <a:ext cx="365760" cy="365760"/>
          </a:xfrm>
          <a:prstGeom prst="rect">
            <a:avLst/>
          </a:prstGeom>
        </p:spPr>
      </p:pic>
      <p:sp>
        <p:nvSpPr>
          <p:cNvPr id="20" name="Text 15"/>
          <p:cNvSpPr txBox="1"/>
          <p:nvPr/>
        </p:nvSpPr>
        <p:spPr>
          <a:xfrm>
            <a:off x="4754880" y="3566160"/>
            <a:ext cx="1737360" cy="365760"/>
          </a:xfrm>
          <a:prstGeom prst="rect">
            <a:avLst/>
          </a:prstGeom>
          <a:noFill/>
          <a:ln/>
        </p:spPr>
        <p:txBody>
          <a:bodyPr wrap="square" lIns="0" tIns="0" rIns="0" bIns="0" rtlCol="0" anchor="t"/>
          <a:lstStyle/>
          <a:p>
            <a:pPr algn="ctr" indent="0" marL="0">
              <a:buNone/>
            </a:pPr>
            <a:r>
              <a:rPr lang="en-US" sz="1500" b="1" dirty="0">
                <a:solidFill>
                  <a:srgbClr val="0B2236"/>
                </a:solidFill>
                <a:latin typeface="Calibri" pitchFamily="34" charset="0"/>
                <a:ea typeface="Calibri" pitchFamily="34" charset="-122"/>
                <a:cs typeface="Calibri" pitchFamily="34" charset="-120"/>
              </a:rPr>
              <a:t>Por resistencia</a:t>
            </a:r>
            <a:endParaRPr lang="en-US" sz="1500" dirty="0"/>
          </a:p>
        </p:txBody>
      </p:sp>
      <p:sp>
        <p:nvSpPr>
          <p:cNvPr id="21" name="Text 16"/>
          <p:cNvSpPr txBox="1"/>
          <p:nvPr/>
        </p:nvSpPr>
        <p:spPr>
          <a:xfrm>
            <a:off x="4754880" y="3931920"/>
            <a:ext cx="1737360" cy="685800"/>
          </a:xfrm>
          <a:prstGeom prst="rect">
            <a:avLst/>
          </a:prstGeom>
          <a:noFill/>
          <a:ln/>
        </p:spPr>
        <p:txBody>
          <a:bodyPr wrap="square" lIns="0" tIns="0" rIns="0" bIns="0" rtlCol="0" anchor="t"/>
          <a:lstStyle/>
          <a:p>
            <a:pPr algn="ctr" indent="0" marL="0">
              <a:buNone/>
            </a:pPr>
            <a:r>
              <a:rPr lang="en-US" sz="1150" dirty="0">
                <a:solidFill>
                  <a:srgbClr val="5F6F7C"/>
                </a:solidFill>
                <a:latin typeface="Calibri" pitchFamily="34" charset="0"/>
                <a:ea typeface="Calibri" pitchFamily="34" charset="-122"/>
                <a:cs typeface="Calibri" pitchFamily="34" charset="-120"/>
              </a:rPr>
              <a:t>El antibiótico define el precio</a:t>
            </a:r>
            <a:endParaRPr lang="en-US" sz="1150" dirty="0"/>
          </a:p>
        </p:txBody>
      </p:sp>
      <p:sp>
        <p:nvSpPr>
          <p:cNvPr id="22" name="Shape 17"/>
          <p:cNvSpPr/>
          <p:nvPr/>
        </p:nvSpPr>
        <p:spPr>
          <a:xfrm>
            <a:off x="6766560" y="2514600"/>
            <a:ext cx="1920240" cy="2194560"/>
          </a:xfrm>
          <a:prstGeom prst="roundRect">
            <a:avLst>
              <a:gd name="adj" fmla="val 3810"/>
            </a:avLst>
          </a:prstGeom>
          <a:solidFill>
            <a:srgbClr val="EEF6F6"/>
          </a:solidFill>
          <a:ln w="6350">
            <a:solidFill>
              <a:srgbClr val="EEF6F6"/>
            </a:solidFill>
            <a:prstDash val="solid"/>
          </a:ln>
        </p:spPr>
      </p:sp>
      <p:sp>
        <p:nvSpPr>
          <p:cNvPr id="23" name="Shape 18"/>
          <p:cNvSpPr/>
          <p:nvPr/>
        </p:nvSpPr>
        <p:spPr>
          <a:xfrm>
            <a:off x="7360920" y="2697480"/>
            <a:ext cx="731520" cy="731520"/>
          </a:xfrm>
          <a:prstGeom prst="ellipse">
            <a:avLst/>
          </a:prstGeom>
          <a:solidFill>
            <a:srgbClr val="0E7C86"/>
          </a:solidFill>
          <a:ln w="19050">
            <a:solidFill>
              <a:srgbClr val="0E7C86"/>
            </a:solidFill>
            <a:prstDash val="solid"/>
          </a:ln>
        </p:spPr>
      </p:sp>
      <p:pic>
        <p:nvPicPr>
          <p:cNvPr id="24" name="Image 3" descr="preencoded.png">    </p:cNvPr>
          <p:cNvPicPr>
            <a:picLocks noChangeAspect="1"/>
          </p:cNvPicPr>
          <p:nvPr/>
        </p:nvPicPr>
        <p:blipFill>
          <a:blip r:embed="rId4"/>
          <a:stretch>
            <a:fillRect/>
          </a:stretch>
        </p:blipFill>
        <p:spPr>
          <a:xfrm>
            <a:off x="7543800" y="2880360"/>
            <a:ext cx="365760" cy="365760"/>
          </a:xfrm>
          <a:prstGeom prst="rect">
            <a:avLst/>
          </a:prstGeom>
        </p:spPr>
      </p:pic>
      <p:sp>
        <p:nvSpPr>
          <p:cNvPr id="25" name="Text 19"/>
          <p:cNvSpPr txBox="1"/>
          <p:nvPr/>
        </p:nvSpPr>
        <p:spPr>
          <a:xfrm>
            <a:off x="6858000" y="3566160"/>
            <a:ext cx="1737360" cy="365760"/>
          </a:xfrm>
          <a:prstGeom prst="rect">
            <a:avLst/>
          </a:prstGeom>
          <a:noFill/>
          <a:ln/>
        </p:spPr>
        <p:txBody>
          <a:bodyPr wrap="square" lIns="0" tIns="0" rIns="0" bIns="0" rtlCol="0" anchor="t"/>
          <a:lstStyle/>
          <a:p>
            <a:pPr algn="ctr" indent="0" marL="0">
              <a:buNone/>
            </a:pPr>
            <a:r>
              <a:rPr lang="en-US" sz="1500" b="1" dirty="0">
                <a:solidFill>
                  <a:srgbClr val="0B2236"/>
                </a:solidFill>
                <a:latin typeface="Calibri" pitchFamily="34" charset="0"/>
                <a:ea typeface="Calibri" pitchFamily="34" charset="-122"/>
                <a:cs typeface="Calibri" pitchFamily="34" charset="-120"/>
              </a:rPr>
              <a:t>B2B</a:t>
            </a:r>
            <a:endParaRPr lang="en-US" sz="1500" dirty="0"/>
          </a:p>
        </p:txBody>
      </p:sp>
      <p:sp>
        <p:nvSpPr>
          <p:cNvPr id="26" name="Text 20"/>
          <p:cNvSpPr txBox="1"/>
          <p:nvPr/>
        </p:nvSpPr>
        <p:spPr>
          <a:xfrm>
            <a:off x="6858000" y="3931920"/>
            <a:ext cx="1737360" cy="685800"/>
          </a:xfrm>
          <a:prstGeom prst="rect">
            <a:avLst/>
          </a:prstGeom>
          <a:noFill/>
          <a:ln/>
        </p:spPr>
        <p:txBody>
          <a:bodyPr wrap="square" lIns="0" tIns="0" rIns="0" bIns="0" rtlCol="0" anchor="t"/>
          <a:lstStyle/>
          <a:p>
            <a:pPr algn="ctr" indent="0" marL="0">
              <a:buNone/>
            </a:pPr>
            <a:r>
              <a:rPr lang="en-US" sz="1150" dirty="0">
                <a:solidFill>
                  <a:srgbClr val="5F6F7C"/>
                </a:solidFill>
                <a:latin typeface="Calibri" pitchFamily="34" charset="0"/>
                <a:ea typeface="Calibri" pitchFamily="34" charset="-122"/>
                <a:cs typeface="Calibri" pitchFamily="34" charset="-120"/>
              </a:rPr>
              <a:t>EPS, clínicas y aseguradoras</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LA PROPUESTA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¿En qué se diferencia de los PAD actuales?</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20240"/>
                <a:gridCol w="2743200"/>
                <a:gridCol w="35661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Aspecto</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PAD tradicional</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5F6F7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Paquete DOMUS</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E7C86"/>
                    </a:solidFill>
                  </a:tcPr>
                </a:tc>
              </a:tr>
              <a:tr h="50292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Unidad de venta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Visita, día o procedimiento suelto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b="1" dirty="0">
                          <a:solidFill>
                            <a:srgbClr val="0E7C86"/>
                          </a:solidFill>
                          <a:latin typeface="Calibri" pitchFamily="34" charset="0"/>
                          <a:ea typeface="Calibri" pitchFamily="34" charset="-122"/>
                          <a:cs typeface="Calibri" pitchFamily="34" charset="-120"/>
                        </a:rPr>
                        <a:t>Paquete cerrado por episodio infeccioso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0292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Antibiótico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Lo dispensa la EPS o la clínica por aparte</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b="1" dirty="0">
                          <a:solidFill>
                            <a:srgbClr val="0E7C86"/>
                          </a:solidFill>
                          <a:latin typeface="Calibri" pitchFamily="34" charset="0"/>
                          <a:ea typeface="Calibri" pitchFamily="34" charset="-122"/>
                          <a:cs typeface="Calibri" pitchFamily="34" charset="-120"/>
                        </a:rPr>
                        <a:t>Incluido: compra, cadena de frío, preparación y aplicación</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0292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Precio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Igual para un germen sensible que para uno resistente</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b="1" dirty="0">
                          <a:solidFill>
                            <a:srgbClr val="0E7C86"/>
                          </a:solidFill>
                          <a:latin typeface="Calibri" pitchFamily="34" charset="0"/>
                          <a:ea typeface="Calibri" pitchFamily="34" charset="-122"/>
                          <a:cs typeface="Calibri" pitchFamily="34" charset="-120"/>
                        </a:rPr>
                        <a:t>Diferenciado por perfil de resistencia (N1, N2, N3)</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0292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Seguimiento médico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Variable, a menudo solo enfermería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b="1" dirty="0">
                          <a:solidFill>
                            <a:srgbClr val="0E7C86"/>
                          </a:solidFill>
                          <a:latin typeface="Calibri" pitchFamily="34" charset="0"/>
                          <a:ea typeface="Calibri" pitchFamily="34" charset="-122"/>
                          <a:cs typeface="Calibri" pitchFamily="34" charset="-120"/>
                        </a:rPr>
                        <a:t>Medicina general programada + medicina interna + teleconsulta 24/7</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0292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Insumos y acceso vascular</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Facturados por separado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b="1" dirty="0">
                          <a:solidFill>
                            <a:srgbClr val="0E7C86"/>
                          </a:solidFill>
                          <a:latin typeface="Calibri" pitchFamily="34" charset="0"/>
                          <a:ea typeface="Calibri" pitchFamily="34" charset="-122"/>
                          <a:cs typeface="Calibri" pitchFamily="34" charset="-120"/>
                        </a:rPr>
                        <a:t>Midline/PICC, bombas, equipos y curaciones incluidos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0292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Resultado que se compromete</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Número de visitas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b="1" dirty="0">
                          <a:solidFill>
                            <a:srgbClr val="0E7C86"/>
                          </a:solidFill>
                          <a:latin typeface="Calibri" pitchFamily="34" charset="0"/>
                          <a:ea typeface="Calibri" pitchFamily="34" charset="-122"/>
                          <a:cs typeface="Calibri" pitchFamily="34" charset="-120"/>
                        </a:rPr>
                        <a:t>Días-cama liberados, tratamiento completo y reingreso controlado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LA PROPUESTA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Todo incluido en el paquete</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1965960" cy="1078992"/>
          </a:xfrm>
          <a:prstGeom prst="roundRect">
            <a:avLst>
              <a:gd name="adj" fmla="val 6780"/>
            </a:avLst>
          </a:prstGeom>
          <a:solidFill>
            <a:srgbClr val="EEF6F6"/>
          </a:solidFill>
          <a:ln w="6350">
            <a:solidFill>
              <a:srgbClr val="EEF6F6"/>
            </a:solidFill>
            <a:prstDash val="solid"/>
          </a:ln>
        </p:spPr>
      </p:sp>
      <p:sp>
        <p:nvSpPr>
          <p:cNvPr id="6" name="Shape 4"/>
          <p:cNvSpPr/>
          <p:nvPr/>
        </p:nvSpPr>
        <p:spPr>
          <a:xfrm>
            <a:off x="566928" y="1463040"/>
            <a:ext cx="502920" cy="502920"/>
          </a:xfrm>
          <a:prstGeom prst="ellipse">
            <a:avLst/>
          </a:prstGeom>
          <a:solidFill>
            <a:srgbClr val="0E7C86"/>
          </a:solidFill>
          <a:ln w="19050">
            <a:solidFill>
              <a:srgbClr val="0E7C86"/>
            </a:solidFill>
            <a:prstDash val="solid"/>
          </a:ln>
        </p:spPr>
      </p:sp>
      <p:pic>
        <p:nvPicPr>
          <p:cNvPr id="7" name="Image 0" descr="preencoded.png">    </p:cNvPr>
          <p:cNvPicPr>
            <a:picLocks noChangeAspect="1"/>
          </p:cNvPicPr>
          <p:nvPr/>
        </p:nvPicPr>
        <p:blipFill>
          <a:blip r:embed="rId1"/>
          <a:stretch>
            <a:fillRect/>
          </a:stretch>
        </p:blipFill>
        <p:spPr>
          <a:xfrm>
            <a:off x="692658" y="1588770"/>
            <a:ext cx="251460" cy="251460"/>
          </a:xfrm>
          <a:prstGeom prst="rect">
            <a:avLst/>
          </a:prstGeom>
        </p:spPr>
      </p:pic>
      <p:sp>
        <p:nvSpPr>
          <p:cNvPr id="8" name="Text 5"/>
          <p:cNvSpPr txBox="1"/>
          <p:nvPr/>
        </p:nvSpPr>
        <p:spPr>
          <a:xfrm>
            <a:off x="1143000" y="1188720"/>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Valoración de ingreso por medicina interna</a:t>
            </a:r>
            <a:endParaRPr lang="en-US" sz="1050" dirty="0"/>
          </a:p>
        </p:txBody>
      </p:sp>
      <p:sp>
        <p:nvSpPr>
          <p:cNvPr id="9" name="Shape 6"/>
          <p:cNvSpPr/>
          <p:nvPr/>
        </p:nvSpPr>
        <p:spPr>
          <a:xfrm>
            <a:off x="2560320" y="1188720"/>
            <a:ext cx="1965960" cy="1078992"/>
          </a:xfrm>
          <a:prstGeom prst="roundRect">
            <a:avLst>
              <a:gd name="adj" fmla="val 6780"/>
            </a:avLst>
          </a:prstGeom>
          <a:solidFill>
            <a:srgbClr val="EEF6F6"/>
          </a:solidFill>
          <a:ln w="6350">
            <a:solidFill>
              <a:srgbClr val="EEF6F6"/>
            </a:solidFill>
            <a:prstDash val="solid"/>
          </a:ln>
        </p:spPr>
      </p:sp>
      <p:sp>
        <p:nvSpPr>
          <p:cNvPr id="10" name="Shape 7"/>
          <p:cNvSpPr/>
          <p:nvPr/>
        </p:nvSpPr>
        <p:spPr>
          <a:xfrm>
            <a:off x="2670048" y="1463040"/>
            <a:ext cx="502920" cy="502920"/>
          </a:xfrm>
          <a:prstGeom prst="ellipse">
            <a:avLst/>
          </a:prstGeom>
          <a:solidFill>
            <a:srgbClr val="0E7C86"/>
          </a:solidFill>
          <a:ln w="19050">
            <a:solidFill>
              <a:srgbClr val="0E7C86"/>
            </a:solidFill>
            <a:prstDash val="solid"/>
          </a:ln>
        </p:spPr>
      </p:sp>
      <p:pic>
        <p:nvPicPr>
          <p:cNvPr id="11" name="Image 1" descr="preencoded.png">    </p:cNvPr>
          <p:cNvPicPr>
            <a:picLocks noChangeAspect="1"/>
          </p:cNvPicPr>
          <p:nvPr/>
        </p:nvPicPr>
        <p:blipFill>
          <a:blip r:embed="rId2"/>
          <a:stretch>
            <a:fillRect/>
          </a:stretch>
        </p:blipFill>
        <p:spPr>
          <a:xfrm>
            <a:off x="2795778" y="1588770"/>
            <a:ext cx="251460" cy="251460"/>
          </a:xfrm>
          <a:prstGeom prst="rect">
            <a:avLst/>
          </a:prstGeom>
        </p:spPr>
      </p:pic>
      <p:sp>
        <p:nvSpPr>
          <p:cNvPr id="12" name="Text 8"/>
          <p:cNvSpPr txBox="1"/>
          <p:nvPr/>
        </p:nvSpPr>
        <p:spPr>
          <a:xfrm>
            <a:off x="3246120" y="1188720"/>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Acceso vascular: midline o PICC y su cuidado</a:t>
            </a:r>
            <a:endParaRPr lang="en-US" sz="1050" dirty="0"/>
          </a:p>
        </p:txBody>
      </p:sp>
      <p:sp>
        <p:nvSpPr>
          <p:cNvPr id="13" name="Shape 9"/>
          <p:cNvSpPr/>
          <p:nvPr/>
        </p:nvSpPr>
        <p:spPr>
          <a:xfrm>
            <a:off x="4663440" y="1188720"/>
            <a:ext cx="1965960" cy="1078992"/>
          </a:xfrm>
          <a:prstGeom prst="roundRect">
            <a:avLst>
              <a:gd name="adj" fmla="val 6780"/>
            </a:avLst>
          </a:prstGeom>
          <a:solidFill>
            <a:srgbClr val="EEF6F6"/>
          </a:solidFill>
          <a:ln w="6350">
            <a:solidFill>
              <a:srgbClr val="EEF6F6"/>
            </a:solidFill>
            <a:prstDash val="solid"/>
          </a:ln>
        </p:spPr>
      </p:sp>
      <p:sp>
        <p:nvSpPr>
          <p:cNvPr id="14" name="Shape 10"/>
          <p:cNvSpPr/>
          <p:nvPr/>
        </p:nvSpPr>
        <p:spPr>
          <a:xfrm>
            <a:off x="4773168" y="1463040"/>
            <a:ext cx="502920" cy="502920"/>
          </a:xfrm>
          <a:prstGeom prst="ellipse">
            <a:avLst/>
          </a:prstGeom>
          <a:solidFill>
            <a:srgbClr val="0E7C86"/>
          </a:solidFill>
          <a:ln w="19050">
            <a:solidFill>
              <a:srgbClr val="0E7C86"/>
            </a:solidFill>
            <a:prstDash val="solid"/>
          </a:ln>
        </p:spPr>
      </p:sp>
      <p:pic>
        <p:nvPicPr>
          <p:cNvPr id="15" name="Image 2" descr="preencoded.png">    </p:cNvPr>
          <p:cNvPicPr>
            <a:picLocks noChangeAspect="1"/>
          </p:cNvPicPr>
          <p:nvPr/>
        </p:nvPicPr>
        <p:blipFill>
          <a:blip r:embed="rId3"/>
          <a:stretch>
            <a:fillRect/>
          </a:stretch>
        </p:blipFill>
        <p:spPr>
          <a:xfrm>
            <a:off x="4898898" y="1588770"/>
            <a:ext cx="251460" cy="251460"/>
          </a:xfrm>
          <a:prstGeom prst="rect">
            <a:avLst/>
          </a:prstGeom>
        </p:spPr>
      </p:pic>
      <p:sp>
        <p:nvSpPr>
          <p:cNvPr id="16" name="Text 11"/>
          <p:cNvSpPr txBox="1"/>
          <p:nvPr/>
        </p:nvSpPr>
        <p:spPr>
          <a:xfrm>
            <a:off x="5349240" y="1188720"/>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Antibiótico completo según antibiograma</a:t>
            </a:r>
            <a:endParaRPr lang="en-US" sz="1050" dirty="0"/>
          </a:p>
        </p:txBody>
      </p:sp>
      <p:sp>
        <p:nvSpPr>
          <p:cNvPr id="17" name="Shape 12"/>
          <p:cNvSpPr/>
          <p:nvPr/>
        </p:nvSpPr>
        <p:spPr>
          <a:xfrm>
            <a:off x="6766560" y="1188720"/>
            <a:ext cx="1965960" cy="1078992"/>
          </a:xfrm>
          <a:prstGeom prst="roundRect">
            <a:avLst>
              <a:gd name="adj" fmla="val 6780"/>
            </a:avLst>
          </a:prstGeom>
          <a:solidFill>
            <a:srgbClr val="EEF6F6"/>
          </a:solidFill>
          <a:ln w="6350">
            <a:solidFill>
              <a:srgbClr val="EEF6F6"/>
            </a:solidFill>
            <a:prstDash val="solid"/>
          </a:ln>
        </p:spPr>
      </p:sp>
      <p:sp>
        <p:nvSpPr>
          <p:cNvPr id="18" name="Shape 13"/>
          <p:cNvSpPr/>
          <p:nvPr/>
        </p:nvSpPr>
        <p:spPr>
          <a:xfrm>
            <a:off x="6876288" y="1463040"/>
            <a:ext cx="502920" cy="502920"/>
          </a:xfrm>
          <a:prstGeom prst="ellipse">
            <a:avLst/>
          </a:prstGeom>
          <a:solidFill>
            <a:srgbClr val="0E7C86"/>
          </a:solidFill>
          <a:ln w="19050">
            <a:solidFill>
              <a:srgbClr val="0E7C86"/>
            </a:solidFill>
            <a:prstDash val="solid"/>
          </a:ln>
        </p:spPr>
      </p:sp>
      <p:pic>
        <p:nvPicPr>
          <p:cNvPr id="19" name="Image 3" descr="preencoded.png">    </p:cNvPr>
          <p:cNvPicPr>
            <a:picLocks noChangeAspect="1"/>
          </p:cNvPicPr>
          <p:nvPr/>
        </p:nvPicPr>
        <p:blipFill>
          <a:blip r:embed="rId4"/>
          <a:stretch>
            <a:fillRect/>
          </a:stretch>
        </p:blipFill>
        <p:spPr>
          <a:xfrm>
            <a:off x="7002018" y="1588770"/>
            <a:ext cx="251460" cy="251460"/>
          </a:xfrm>
          <a:prstGeom prst="rect">
            <a:avLst/>
          </a:prstGeom>
        </p:spPr>
      </p:pic>
      <p:sp>
        <p:nvSpPr>
          <p:cNvPr id="20" name="Text 14"/>
          <p:cNvSpPr txBox="1"/>
          <p:nvPr/>
        </p:nvSpPr>
        <p:spPr>
          <a:xfrm>
            <a:off x="7452360" y="1188720"/>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Aplicación por enfermería en casa</a:t>
            </a:r>
            <a:endParaRPr lang="en-US" sz="1050" dirty="0"/>
          </a:p>
        </p:txBody>
      </p:sp>
      <p:sp>
        <p:nvSpPr>
          <p:cNvPr id="21" name="Shape 15"/>
          <p:cNvSpPr/>
          <p:nvPr/>
        </p:nvSpPr>
        <p:spPr>
          <a:xfrm>
            <a:off x="457200" y="2395728"/>
            <a:ext cx="1965960" cy="1078992"/>
          </a:xfrm>
          <a:prstGeom prst="roundRect">
            <a:avLst>
              <a:gd name="adj" fmla="val 6780"/>
            </a:avLst>
          </a:prstGeom>
          <a:solidFill>
            <a:srgbClr val="EEF6F6"/>
          </a:solidFill>
          <a:ln w="6350">
            <a:solidFill>
              <a:srgbClr val="EEF6F6"/>
            </a:solidFill>
            <a:prstDash val="solid"/>
          </a:ln>
        </p:spPr>
      </p:sp>
      <p:sp>
        <p:nvSpPr>
          <p:cNvPr id="22" name="Shape 16"/>
          <p:cNvSpPr/>
          <p:nvPr/>
        </p:nvSpPr>
        <p:spPr>
          <a:xfrm>
            <a:off x="566928" y="2670048"/>
            <a:ext cx="502920" cy="502920"/>
          </a:xfrm>
          <a:prstGeom prst="ellipse">
            <a:avLst/>
          </a:prstGeom>
          <a:solidFill>
            <a:srgbClr val="F26B4E"/>
          </a:solidFill>
          <a:ln w="19050">
            <a:solidFill>
              <a:srgbClr val="F26B4E"/>
            </a:solidFill>
            <a:prstDash val="solid"/>
          </a:ln>
        </p:spPr>
      </p:sp>
      <p:pic>
        <p:nvPicPr>
          <p:cNvPr id="23" name="Image 4" descr="preencoded.png">    </p:cNvPr>
          <p:cNvPicPr>
            <a:picLocks noChangeAspect="1"/>
          </p:cNvPicPr>
          <p:nvPr/>
        </p:nvPicPr>
        <p:blipFill>
          <a:blip r:embed="rId5"/>
          <a:stretch>
            <a:fillRect/>
          </a:stretch>
        </p:blipFill>
        <p:spPr>
          <a:xfrm>
            <a:off x="692658" y="2795778"/>
            <a:ext cx="251460" cy="251460"/>
          </a:xfrm>
          <a:prstGeom prst="rect">
            <a:avLst/>
          </a:prstGeom>
        </p:spPr>
      </p:pic>
      <p:sp>
        <p:nvSpPr>
          <p:cNvPr id="24" name="Text 17"/>
          <p:cNvSpPr txBox="1"/>
          <p:nvPr/>
        </p:nvSpPr>
        <p:spPr>
          <a:xfrm>
            <a:off x="1143000" y="2395728"/>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Insumos: bombas elastoméricas, equipos, curaciones</a:t>
            </a:r>
            <a:endParaRPr lang="en-US" sz="1050" dirty="0"/>
          </a:p>
        </p:txBody>
      </p:sp>
      <p:sp>
        <p:nvSpPr>
          <p:cNvPr id="25" name="Shape 18"/>
          <p:cNvSpPr/>
          <p:nvPr/>
        </p:nvSpPr>
        <p:spPr>
          <a:xfrm>
            <a:off x="2560320" y="2395728"/>
            <a:ext cx="1965960" cy="1078992"/>
          </a:xfrm>
          <a:prstGeom prst="roundRect">
            <a:avLst>
              <a:gd name="adj" fmla="val 6780"/>
            </a:avLst>
          </a:prstGeom>
          <a:solidFill>
            <a:srgbClr val="EEF6F6"/>
          </a:solidFill>
          <a:ln w="6350">
            <a:solidFill>
              <a:srgbClr val="EEF6F6"/>
            </a:solidFill>
            <a:prstDash val="solid"/>
          </a:ln>
        </p:spPr>
      </p:sp>
      <p:sp>
        <p:nvSpPr>
          <p:cNvPr id="26" name="Shape 19"/>
          <p:cNvSpPr/>
          <p:nvPr/>
        </p:nvSpPr>
        <p:spPr>
          <a:xfrm>
            <a:off x="2670048" y="2670048"/>
            <a:ext cx="502920" cy="502920"/>
          </a:xfrm>
          <a:prstGeom prst="ellipse">
            <a:avLst/>
          </a:prstGeom>
          <a:solidFill>
            <a:srgbClr val="F26B4E"/>
          </a:solidFill>
          <a:ln w="19050">
            <a:solidFill>
              <a:srgbClr val="F26B4E"/>
            </a:solidFill>
            <a:prstDash val="solid"/>
          </a:ln>
        </p:spPr>
      </p:sp>
      <p:pic>
        <p:nvPicPr>
          <p:cNvPr id="27" name="Image 5" descr="preencoded.png">    </p:cNvPr>
          <p:cNvPicPr>
            <a:picLocks noChangeAspect="1"/>
          </p:cNvPicPr>
          <p:nvPr/>
        </p:nvPicPr>
        <p:blipFill>
          <a:blip r:embed="rId6"/>
          <a:stretch>
            <a:fillRect/>
          </a:stretch>
        </p:blipFill>
        <p:spPr>
          <a:xfrm>
            <a:off x="2795778" y="2795778"/>
            <a:ext cx="251460" cy="251460"/>
          </a:xfrm>
          <a:prstGeom prst="rect">
            <a:avLst/>
          </a:prstGeom>
        </p:spPr>
      </p:pic>
      <p:sp>
        <p:nvSpPr>
          <p:cNvPr id="28" name="Text 20"/>
          <p:cNvSpPr txBox="1"/>
          <p:nvPr/>
        </p:nvSpPr>
        <p:spPr>
          <a:xfrm>
            <a:off x="3246120" y="2395728"/>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Laboratorios de seguimiento (y niveles si aplica)</a:t>
            </a:r>
            <a:endParaRPr lang="en-US" sz="1050" dirty="0"/>
          </a:p>
        </p:txBody>
      </p:sp>
      <p:sp>
        <p:nvSpPr>
          <p:cNvPr id="29" name="Shape 21"/>
          <p:cNvSpPr/>
          <p:nvPr/>
        </p:nvSpPr>
        <p:spPr>
          <a:xfrm>
            <a:off x="4663440" y="2395728"/>
            <a:ext cx="1965960" cy="1078992"/>
          </a:xfrm>
          <a:prstGeom prst="roundRect">
            <a:avLst>
              <a:gd name="adj" fmla="val 6780"/>
            </a:avLst>
          </a:prstGeom>
          <a:solidFill>
            <a:srgbClr val="EEF6F6"/>
          </a:solidFill>
          <a:ln w="6350">
            <a:solidFill>
              <a:srgbClr val="EEF6F6"/>
            </a:solidFill>
            <a:prstDash val="solid"/>
          </a:ln>
        </p:spPr>
      </p:sp>
      <p:sp>
        <p:nvSpPr>
          <p:cNvPr id="30" name="Shape 22"/>
          <p:cNvSpPr/>
          <p:nvPr/>
        </p:nvSpPr>
        <p:spPr>
          <a:xfrm>
            <a:off x="4773168" y="2670048"/>
            <a:ext cx="502920" cy="502920"/>
          </a:xfrm>
          <a:prstGeom prst="ellipse">
            <a:avLst/>
          </a:prstGeom>
          <a:solidFill>
            <a:srgbClr val="F26B4E"/>
          </a:solidFill>
          <a:ln w="19050">
            <a:solidFill>
              <a:srgbClr val="F26B4E"/>
            </a:solidFill>
            <a:prstDash val="solid"/>
          </a:ln>
        </p:spPr>
      </p:sp>
      <p:pic>
        <p:nvPicPr>
          <p:cNvPr id="31" name="Image 6" descr="preencoded.png">    </p:cNvPr>
          <p:cNvPicPr>
            <a:picLocks noChangeAspect="1"/>
          </p:cNvPicPr>
          <p:nvPr/>
        </p:nvPicPr>
        <p:blipFill>
          <a:blip r:embed="rId7"/>
          <a:stretch>
            <a:fillRect/>
          </a:stretch>
        </p:blipFill>
        <p:spPr>
          <a:xfrm>
            <a:off x="4898898" y="2795778"/>
            <a:ext cx="251460" cy="251460"/>
          </a:xfrm>
          <a:prstGeom prst="rect">
            <a:avLst/>
          </a:prstGeom>
        </p:spPr>
      </p:pic>
      <p:sp>
        <p:nvSpPr>
          <p:cNvPr id="32" name="Text 23"/>
          <p:cNvSpPr txBox="1"/>
          <p:nvPr/>
        </p:nvSpPr>
        <p:spPr>
          <a:xfrm>
            <a:off x="5349240" y="2395728"/>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Visitas de medicina general programadas</a:t>
            </a:r>
            <a:endParaRPr lang="en-US" sz="1050" dirty="0"/>
          </a:p>
        </p:txBody>
      </p:sp>
      <p:sp>
        <p:nvSpPr>
          <p:cNvPr id="33" name="Shape 24"/>
          <p:cNvSpPr/>
          <p:nvPr/>
        </p:nvSpPr>
        <p:spPr>
          <a:xfrm>
            <a:off x="6766560" y="2395728"/>
            <a:ext cx="1965960" cy="1078992"/>
          </a:xfrm>
          <a:prstGeom prst="roundRect">
            <a:avLst>
              <a:gd name="adj" fmla="val 6780"/>
            </a:avLst>
          </a:prstGeom>
          <a:solidFill>
            <a:srgbClr val="EEF6F6"/>
          </a:solidFill>
          <a:ln w="6350">
            <a:solidFill>
              <a:srgbClr val="EEF6F6"/>
            </a:solidFill>
            <a:prstDash val="solid"/>
          </a:ln>
        </p:spPr>
      </p:sp>
      <p:sp>
        <p:nvSpPr>
          <p:cNvPr id="34" name="Shape 25"/>
          <p:cNvSpPr/>
          <p:nvPr/>
        </p:nvSpPr>
        <p:spPr>
          <a:xfrm>
            <a:off x="6876288" y="2670048"/>
            <a:ext cx="502920" cy="502920"/>
          </a:xfrm>
          <a:prstGeom prst="ellipse">
            <a:avLst/>
          </a:prstGeom>
          <a:solidFill>
            <a:srgbClr val="F26B4E"/>
          </a:solidFill>
          <a:ln w="19050">
            <a:solidFill>
              <a:srgbClr val="F26B4E"/>
            </a:solidFill>
            <a:prstDash val="solid"/>
          </a:ln>
        </p:spPr>
      </p:sp>
      <p:pic>
        <p:nvPicPr>
          <p:cNvPr id="35" name="Image 7" descr="preencoded.png">    </p:cNvPr>
          <p:cNvPicPr>
            <a:picLocks noChangeAspect="1"/>
          </p:cNvPicPr>
          <p:nvPr/>
        </p:nvPicPr>
        <p:blipFill>
          <a:blip r:embed="rId8"/>
          <a:stretch>
            <a:fillRect/>
          </a:stretch>
        </p:blipFill>
        <p:spPr>
          <a:xfrm>
            <a:off x="7002018" y="2795778"/>
            <a:ext cx="251460" cy="251460"/>
          </a:xfrm>
          <a:prstGeom prst="rect">
            <a:avLst/>
          </a:prstGeom>
        </p:spPr>
      </p:pic>
      <p:sp>
        <p:nvSpPr>
          <p:cNvPr id="36" name="Text 26"/>
          <p:cNvSpPr txBox="1"/>
          <p:nvPr/>
        </p:nvSpPr>
        <p:spPr>
          <a:xfrm>
            <a:off x="7452360" y="2395728"/>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Control semanal por medicina interna</a:t>
            </a:r>
            <a:endParaRPr lang="en-US" sz="1050" dirty="0"/>
          </a:p>
        </p:txBody>
      </p:sp>
      <p:sp>
        <p:nvSpPr>
          <p:cNvPr id="37" name="Shape 27"/>
          <p:cNvSpPr/>
          <p:nvPr/>
        </p:nvSpPr>
        <p:spPr>
          <a:xfrm>
            <a:off x="457200" y="3602736"/>
            <a:ext cx="1965960" cy="1078992"/>
          </a:xfrm>
          <a:prstGeom prst="roundRect">
            <a:avLst>
              <a:gd name="adj" fmla="val 6780"/>
            </a:avLst>
          </a:prstGeom>
          <a:solidFill>
            <a:srgbClr val="EEF6F6"/>
          </a:solidFill>
          <a:ln w="6350">
            <a:solidFill>
              <a:srgbClr val="EEF6F6"/>
            </a:solidFill>
            <a:prstDash val="solid"/>
          </a:ln>
        </p:spPr>
      </p:sp>
      <p:sp>
        <p:nvSpPr>
          <p:cNvPr id="38" name="Shape 28"/>
          <p:cNvSpPr/>
          <p:nvPr/>
        </p:nvSpPr>
        <p:spPr>
          <a:xfrm>
            <a:off x="566928" y="3877056"/>
            <a:ext cx="502920" cy="502920"/>
          </a:xfrm>
          <a:prstGeom prst="ellipse">
            <a:avLst/>
          </a:prstGeom>
          <a:solidFill>
            <a:srgbClr val="14A3A8"/>
          </a:solidFill>
          <a:ln w="19050">
            <a:solidFill>
              <a:srgbClr val="14A3A8"/>
            </a:solidFill>
            <a:prstDash val="solid"/>
          </a:ln>
        </p:spPr>
      </p:sp>
      <p:pic>
        <p:nvPicPr>
          <p:cNvPr id="39" name="Image 8" descr="preencoded.png">    </p:cNvPr>
          <p:cNvPicPr>
            <a:picLocks noChangeAspect="1"/>
          </p:cNvPicPr>
          <p:nvPr/>
        </p:nvPicPr>
        <p:blipFill>
          <a:blip r:embed="rId9"/>
          <a:stretch>
            <a:fillRect/>
          </a:stretch>
        </p:blipFill>
        <p:spPr>
          <a:xfrm>
            <a:off x="692658" y="4002786"/>
            <a:ext cx="251460" cy="251460"/>
          </a:xfrm>
          <a:prstGeom prst="rect">
            <a:avLst/>
          </a:prstGeom>
        </p:spPr>
      </p:pic>
      <p:sp>
        <p:nvSpPr>
          <p:cNvPr id="40" name="Text 29"/>
          <p:cNvSpPr txBox="1"/>
          <p:nvPr/>
        </p:nvSpPr>
        <p:spPr>
          <a:xfrm>
            <a:off x="1143000" y="3602736"/>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Teleconsulta y línea de alarma 24/7</a:t>
            </a:r>
            <a:endParaRPr lang="en-US" sz="1050" dirty="0"/>
          </a:p>
        </p:txBody>
      </p:sp>
      <p:sp>
        <p:nvSpPr>
          <p:cNvPr id="41" name="Shape 30"/>
          <p:cNvSpPr/>
          <p:nvPr/>
        </p:nvSpPr>
        <p:spPr>
          <a:xfrm>
            <a:off x="2560320" y="3602736"/>
            <a:ext cx="1965960" cy="1078992"/>
          </a:xfrm>
          <a:prstGeom prst="roundRect">
            <a:avLst>
              <a:gd name="adj" fmla="val 6780"/>
            </a:avLst>
          </a:prstGeom>
          <a:solidFill>
            <a:srgbClr val="EEF6F6"/>
          </a:solidFill>
          <a:ln w="6350">
            <a:solidFill>
              <a:srgbClr val="EEF6F6"/>
            </a:solidFill>
            <a:prstDash val="solid"/>
          </a:ln>
        </p:spPr>
      </p:sp>
      <p:sp>
        <p:nvSpPr>
          <p:cNvPr id="42" name="Shape 31"/>
          <p:cNvSpPr/>
          <p:nvPr/>
        </p:nvSpPr>
        <p:spPr>
          <a:xfrm>
            <a:off x="2670048" y="3877056"/>
            <a:ext cx="502920" cy="502920"/>
          </a:xfrm>
          <a:prstGeom prst="ellipse">
            <a:avLst/>
          </a:prstGeom>
          <a:solidFill>
            <a:srgbClr val="14A3A8"/>
          </a:solidFill>
          <a:ln w="19050">
            <a:solidFill>
              <a:srgbClr val="14A3A8"/>
            </a:solidFill>
            <a:prstDash val="solid"/>
          </a:ln>
        </p:spPr>
      </p:sp>
      <p:pic>
        <p:nvPicPr>
          <p:cNvPr id="43" name="Image 9" descr="preencoded.png">    </p:cNvPr>
          <p:cNvPicPr>
            <a:picLocks noChangeAspect="1"/>
          </p:cNvPicPr>
          <p:nvPr/>
        </p:nvPicPr>
        <p:blipFill>
          <a:blip r:embed="rId10"/>
          <a:stretch>
            <a:fillRect/>
          </a:stretch>
        </p:blipFill>
        <p:spPr>
          <a:xfrm>
            <a:off x="2795778" y="4002786"/>
            <a:ext cx="251460" cy="251460"/>
          </a:xfrm>
          <a:prstGeom prst="rect">
            <a:avLst/>
          </a:prstGeom>
        </p:spPr>
      </p:pic>
      <p:sp>
        <p:nvSpPr>
          <p:cNvPr id="44" name="Text 32"/>
          <p:cNvSpPr txBox="1"/>
          <p:nvPr/>
        </p:nvSpPr>
        <p:spPr>
          <a:xfrm>
            <a:off x="3246120" y="3602736"/>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Logística, cadena de frío y transporte</a:t>
            </a:r>
            <a:endParaRPr lang="en-US" sz="1050" dirty="0"/>
          </a:p>
        </p:txBody>
      </p:sp>
      <p:sp>
        <p:nvSpPr>
          <p:cNvPr id="45" name="Shape 33"/>
          <p:cNvSpPr/>
          <p:nvPr/>
        </p:nvSpPr>
        <p:spPr>
          <a:xfrm>
            <a:off x="4663440" y="3602736"/>
            <a:ext cx="1965960" cy="1078992"/>
          </a:xfrm>
          <a:prstGeom prst="roundRect">
            <a:avLst>
              <a:gd name="adj" fmla="val 6780"/>
            </a:avLst>
          </a:prstGeom>
          <a:solidFill>
            <a:srgbClr val="EEF6F6"/>
          </a:solidFill>
          <a:ln w="6350">
            <a:solidFill>
              <a:srgbClr val="EEF6F6"/>
            </a:solidFill>
            <a:prstDash val="solid"/>
          </a:ln>
        </p:spPr>
      </p:sp>
      <p:sp>
        <p:nvSpPr>
          <p:cNvPr id="46" name="Shape 34"/>
          <p:cNvSpPr/>
          <p:nvPr/>
        </p:nvSpPr>
        <p:spPr>
          <a:xfrm>
            <a:off x="4773168" y="3877056"/>
            <a:ext cx="502920" cy="502920"/>
          </a:xfrm>
          <a:prstGeom prst="ellipse">
            <a:avLst/>
          </a:prstGeom>
          <a:solidFill>
            <a:srgbClr val="14A3A8"/>
          </a:solidFill>
          <a:ln w="19050">
            <a:solidFill>
              <a:srgbClr val="14A3A8"/>
            </a:solidFill>
            <a:prstDash val="solid"/>
          </a:ln>
        </p:spPr>
      </p:sp>
      <p:pic>
        <p:nvPicPr>
          <p:cNvPr id="47" name="Image 10" descr="preencoded.png">    </p:cNvPr>
          <p:cNvPicPr>
            <a:picLocks noChangeAspect="1"/>
          </p:cNvPicPr>
          <p:nvPr/>
        </p:nvPicPr>
        <p:blipFill>
          <a:blip r:embed="rId11"/>
          <a:stretch>
            <a:fillRect/>
          </a:stretch>
        </p:blipFill>
        <p:spPr>
          <a:xfrm>
            <a:off x="4898898" y="4002786"/>
            <a:ext cx="251460" cy="251460"/>
          </a:xfrm>
          <a:prstGeom prst="rect">
            <a:avLst/>
          </a:prstGeom>
        </p:spPr>
      </p:pic>
      <p:sp>
        <p:nvSpPr>
          <p:cNvPr id="48" name="Text 35"/>
          <p:cNvSpPr txBox="1"/>
          <p:nvPr/>
        </p:nvSpPr>
        <p:spPr>
          <a:xfrm>
            <a:off x="5349240" y="3602736"/>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Retorno prioritario a la clínica si hay complicación</a:t>
            </a:r>
            <a:endParaRPr lang="en-US" sz="1050" dirty="0"/>
          </a:p>
        </p:txBody>
      </p:sp>
      <p:sp>
        <p:nvSpPr>
          <p:cNvPr id="49" name="Shape 36"/>
          <p:cNvSpPr/>
          <p:nvPr/>
        </p:nvSpPr>
        <p:spPr>
          <a:xfrm>
            <a:off x="6766560" y="3602736"/>
            <a:ext cx="1965960" cy="1078992"/>
          </a:xfrm>
          <a:prstGeom prst="roundRect">
            <a:avLst>
              <a:gd name="adj" fmla="val 6780"/>
            </a:avLst>
          </a:prstGeom>
          <a:solidFill>
            <a:srgbClr val="EEF6F6"/>
          </a:solidFill>
          <a:ln w="6350">
            <a:solidFill>
              <a:srgbClr val="EEF6F6"/>
            </a:solidFill>
            <a:prstDash val="solid"/>
          </a:ln>
        </p:spPr>
      </p:sp>
      <p:sp>
        <p:nvSpPr>
          <p:cNvPr id="50" name="Shape 37"/>
          <p:cNvSpPr/>
          <p:nvPr/>
        </p:nvSpPr>
        <p:spPr>
          <a:xfrm>
            <a:off x="6876288" y="3877056"/>
            <a:ext cx="502920" cy="502920"/>
          </a:xfrm>
          <a:prstGeom prst="ellipse">
            <a:avLst/>
          </a:prstGeom>
          <a:solidFill>
            <a:srgbClr val="14A3A8"/>
          </a:solidFill>
          <a:ln w="19050">
            <a:solidFill>
              <a:srgbClr val="14A3A8"/>
            </a:solidFill>
            <a:prstDash val="solid"/>
          </a:ln>
        </p:spPr>
      </p:sp>
      <p:pic>
        <p:nvPicPr>
          <p:cNvPr id="51" name="Image 11" descr="preencoded.png">    </p:cNvPr>
          <p:cNvPicPr>
            <a:picLocks noChangeAspect="1"/>
          </p:cNvPicPr>
          <p:nvPr/>
        </p:nvPicPr>
        <p:blipFill>
          <a:blip r:embed="rId12"/>
          <a:stretch>
            <a:fillRect/>
          </a:stretch>
        </p:blipFill>
        <p:spPr>
          <a:xfrm>
            <a:off x="7002018" y="4002786"/>
            <a:ext cx="251460" cy="251460"/>
          </a:xfrm>
          <a:prstGeom prst="rect">
            <a:avLst/>
          </a:prstGeom>
        </p:spPr>
      </p:pic>
      <p:sp>
        <p:nvSpPr>
          <p:cNvPr id="52" name="Text 38"/>
          <p:cNvSpPr txBox="1"/>
          <p:nvPr/>
        </p:nvSpPr>
        <p:spPr>
          <a:xfrm>
            <a:off x="7452360" y="3602736"/>
            <a:ext cx="1207008" cy="1078992"/>
          </a:xfrm>
          <a:prstGeom prst="rect">
            <a:avLst/>
          </a:prstGeom>
          <a:noFill/>
          <a:ln/>
        </p:spPr>
        <p:txBody>
          <a:bodyPr wrap="square" lIns="0" tIns="0" rIns="0" bIns="0" rtlCol="0" anchor="ctr"/>
          <a:lstStyle/>
          <a:p>
            <a:pPr indent="0" marL="0">
              <a:buNone/>
            </a:pPr>
            <a:r>
              <a:rPr lang="en-US" sz="1050" b="1" dirty="0">
                <a:solidFill>
                  <a:srgbClr val="0B2236"/>
                </a:solidFill>
                <a:latin typeface="Calibri" pitchFamily="34" charset="0"/>
                <a:ea typeface="Calibri" pitchFamily="34" charset="-122"/>
                <a:cs typeface="Calibri" pitchFamily="34" charset="-120"/>
              </a:rPr>
              <a:t>Historia clínica e informe de egreso al pagador</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LA PROPUESTA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Cómo se calcula el precio de un paquete</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280160"/>
            <a:ext cx="2514600" cy="1920240"/>
          </a:xfrm>
          <a:prstGeom prst="roundRect">
            <a:avLst>
              <a:gd name="adj" fmla="val 3810"/>
            </a:avLst>
          </a:prstGeom>
          <a:solidFill>
            <a:srgbClr val="FFFFFF"/>
          </a:solidFill>
          <a:ln w="15875">
            <a:solidFill>
              <a:srgbClr val="0B2236"/>
            </a:solidFill>
            <a:prstDash val="solid"/>
          </a:ln>
        </p:spPr>
      </p:sp>
      <p:sp>
        <p:nvSpPr>
          <p:cNvPr id="6" name="Text 4"/>
          <p:cNvSpPr txBox="1"/>
          <p:nvPr/>
        </p:nvSpPr>
        <p:spPr>
          <a:xfrm>
            <a:off x="594360" y="1371600"/>
            <a:ext cx="2240280" cy="320040"/>
          </a:xfrm>
          <a:prstGeom prst="rect">
            <a:avLst/>
          </a:prstGeom>
          <a:noFill/>
          <a:ln/>
        </p:spPr>
        <p:txBody>
          <a:bodyPr wrap="square" lIns="0" tIns="0" rIns="0" bIns="0" rtlCol="0" anchor="t"/>
          <a:lstStyle/>
          <a:p>
            <a:pPr indent="0" marL="0">
              <a:buNone/>
            </a:pPr>
            <a:r>
              <a:rPr lang="en-US" sz="1300" b="1" dirty="0">
                <a:solidFill>
                  <a:srgbClr val="0B2236"/>
                </a:solidFill>
                <a:latin typeface="Calibri" pitchFamily="34" charset="0"/>
                <a:ea typeface="Calibri" pitchFamily="34" charset="-122"/>
                <a:cs typeface="Calibri" pitchFamily="34" charset="-120"/>
              </a:rPr>
              <a:t>Activación</a:t>
            </a:r>
            <a:endParaRPr lang="en-US" sz="1300" dirty="0"/>
          </a:p>
        </p:txBody>
      </p:sp>
      <p:sp>
        <p:nvSpPr>
          <p:cNvPr id="7" name="Text 5"/>
          <p:cNvSpPr txBox="1"/>
          <p:nvPr/>
        </p:nvSpPr>
        <p:spPr>
          <a:xfrm>
            <a:off x="594360" y="1737360"/>
            <a:ext cx="2240280" cy="640080"/>
          </a:xfrm>
          <a:prstGeom prst="rect">
            <a:avLst/>
          </a:prstGeom>
          <a:noFill/>
          <a:ln/>
        </p:spPr>
        <p:txBody>
          <a:bodyPr wrap="square" lIns="0" tIns="0" rIns="0" bIns="0" rtlCol="0" anchor="ctr"/>
          <a:lstStyle/>
          <a:p>
            <a:pPr indent="0" marL="0">
              <a:buNone/>
            </a:pPr>
            <a:r>
              <a:rPr lang="en-US" sz="2600" b="1" dirty="0">
                <a:solidFill>
                  <a:srgbClr val="0B2236"/>
                </a:solidFill>
                <a:latin typeface="Calibri" pitchFamily="34" charset="0"/>
                <a:ea typeface="Calibri" pitchFamily="34" charset="-122"/>
                <a:cs typeface="Calibri" pitchFamily="34" charset="-120"/>
              </a:rPr>
              <a:t>0,9 M</a:t>
            </a:r>
            <a:endParaRPr lang="en-US" sz="2600" dirty="0"/>
          </a:p>
        </p:txBody>
      </p:sp>
      <p:sp>
        <p:nvSpPr>
          <p:cNvPr id="8" name="Text 6"/>
          <p:cNvSpPr txBox="1"/>
          <p:nvPr/>
        </p:nvSpPr>
        <p:spPr>
          <a:xfrm>
            <a:off x="594360" y="2423160"/>
            <a:ext cx="2240280" cy="73152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Valoración de ingreso, acceso vascular, educación y kit inicial</a:t>
            </a:r>
            <a:endParaRPr lang="en-US" sz="1100" dirty="0"/>
          </a:p>
        </p:txBody>
      </p:sp>
      <p:sp>
        <p:nvSpPr>
          <p:cNvPr id="9" name="Text 7"/>
          <p:cNvSpPr txBox="1"/>
          <p:nvPr/>
        </p:nvSpPr>
        <p:spPr>
          <a:xfrm>
            <a:off x="2971800" y="1828800"/>
            <a:ext cx="365760" cy="548640"/>
          </a:xfrm>
          <a:prstGeom prst="rect">
            <a:avLst/>
          </a:prstGeom>
          <a:noFill/>
          <a:ln/>
        </p:spPr>
        <p:txBody>
          <a:bodyPr wrap="square" lIns="0" tIns="0" rIns="0" bIns="0" rtlCol="0" anchor="ctr"/>
          <a:lstStyle/>
          <a:p>
            <a:pPr algn="ctr" indent="0" marL="0">
              <a:buNone/>
            </a:pPr>
            <a:r>
              <a:rPr lang="en-US" sz="2600" b="1" dirty="0">
                <a:solidFill>
                  <a:srgbClr val="5F6F7C"/>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3337560" y="1280160"/>
            <a:ext cx="2514600" cy="1920240"/>
          </a:xfrm>
          <a:prstGeom prst="roundRect">
            <a:avLst>
              <a:gd name="adj" fmla="val 3810"/>
            </a:avLst>
          </a:prstGeom>
          <a:solidFill>
            <a:srgbClr val="FFFFFF"/>
          </a:solidFill>
          <a:ln w="15875">
            <a:solidFill>
              <a:srgbClr val="0E7C86"/>
            </a:solidFill>
            <a:prstDash val="solid"/>
          </a:ln>
        </p:spPr>
      </p:sp>
      <p:sp>
        <p:nvSpPr>
          <p:cNvPr id="11" name="Text 9"/>
          <p:cNvSpPr txBox="1"/>
          <p:nvPr/>
        </p:nvSpPr>
        <p:spPr>
          <a:xfrm>
            <a:off x="3474720" y="1371600"/>
            <a:ext cx="2240280" cy="3200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Días en casa</a:t>
            </a:r>
            <a:endParaRPr lang="en-US" sz="1300" dirty="0"/>
          </a:p>
        </p:txBody>
      </p:sp>
      <p:sp>
        <p:nvSpPr>
          <p:cNvPr id="12" name="Text 10"/>
          <p:cNvSpPr txBox="1"/>
          <p:nvPr/>
        </p:nvSpPr>
        <p:spPr>
          <a:xfrm>
            <a:off x="3474720" y="1737360"/>
            <a:ext cx="2240280" cy="640080"/>
          </a:xfrm>
          <a:prstGeom prst="rect">
            <a:avLst/>
          </a:prstGeom>
          <a:noFill/>
          <a:ln/>
        </p:spPr>
        <p:txBody>
          <a:bodyPr wrap="square" lIns="0" tIns="0" rIns="0" bIns="0" rtlCol="0" anchor="ctr"/>
          <a:lstStyle/>
          <a:p>
            <a:pPr indent="0" marL="0">
              <a:buNone/>
            </a:pPr>
            <a:r>
              <a:rPr lang="en-US" sz="2600" b="1" dirty="0">
                <a:solidFill>
                  <a:srgbClr val="0B2236"/>
                </a:solidFill>
                <a:latin typeface="Calibri" pitchFamily="34" charset="0"/>
                <a:ea typeface="Calibri" pitchFamily="34" charset="-122"/>
                <a:cs typeface="Calibri" pitchFamily="34" charset="-120"/>
              </a:rPr>
              <a:t>× días</a:t>
            </a:r>
            <a:endParaRPr lang="en-US" sz="2600" dirty="0"/>
          </a:p>
        </p:txBody>
      </p:sp>
      <p:sp>
        <p:nvSpPr>
          <p:cNvPr id="13" name="Text 11"/>
          <p:cNvSpPr txBox="1"/>
          <p:nvPr/>
        </p:nvSpPr>
        <p:spPr>
          <a:xfrm>
            <a:off x="3474720" y="2423160"/>
            <a:ext cx="2240280" cy="73152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Duración según la infección (7 a 42 días)</a:t>
            </a:r>
            <a:endParaRPr lang="en-US" sz="1100" dirty="0"/>
          </a:p>
        </p:txBody>
      </p:sp>
      <p:sp>
        <p:nvSpPr>
          <p:cNvPr id="14" name="Text 12"/>
          <p:cNvSpPr txBox="1"/>
          <p:nvPr/>
        </p:nvSpPr>
        <p:spPr>
          <a:xfrm>
            <a:off x="5852160" y="1828800"/>
            <a:ext cx="365760" cy="548640"/>
          </a:xfrm>
          <a:prstGeom prst="rect">
            <a:avLst/>
          </a:prstGeom>
          <a:noFill/>
          <a:ln/>
        </p:spPr>
        <p:txBody>
          <a:bodyPr wrap="square" lIns="0" tIns="0" rIns="0" bIns="0" rtlCol="0" anchor="ctr"/>
          <a:lstStyle/>
          <a:p>
            <a:pPr algn="ctr" indent="0" marL="0">
              <a:buNone/>
            </a:pPr>
            <a:r>
              <a:rPr lang="en-US" sz="2600" b="1" dirty="0">
                <a:solidFill>
                  <a:srgbClr val="5F6F7C"/>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6217920" y="1280160"/>
            <a:ext cx="2514600" cy="1920240"/>
          </a:xfrm>
          <a:prstGeom prst="roundRect">
            <a:avLst>
              <a:gd name="adj" fmla="val 3810"/>
            </a:avLst>
          </a:prstGeom>
          <a:solidFill>
            <a:srgbClr val="FFFFFF"/>
          </a:solidFill>
          <a:ln w="15875">
            <a:solidFill>
              <a:srgbClr val="F26B4E"/>
            </a:solidFill>
            <a:prstDash val="solid"/>
          </a:ln>
        </p:spPr>
      </p:sp>
      <p:sp>
        <p:nvSpPr>
          <p:cNvPr id="16" name="Text 14"/>
          <p:cNvSpPr txBox="1"/>
          <p:nvPr/>
        </p:nvSpPr>
        <p:spPr>
          <a:xfrm>
            <a:off x="6355080" y="1371600"/>
            <a:ext cx="2240280" cy="320040"/>
          </a:xfrm>
          <a:prstGeom prst="rect">
            <a:avLst/>
          </a:prstGeom>
          <a:noFill/>
          <a:ln/>
        </p:spPr>
        <p:txBody>
          <a:bodyPr wrap="square" lIns="0" tIns="0" rIns="0" bIns="0" rtlCol="0" anchor="t"/>
          <a:lstStyle/>
          <a:p>
            <a:pPr indent="0" marL="0">
              <a:buNone/>
            </a:pPr>
            <a:r>
              <a:rPr lang="en-US" sz="1300" b="1" dirty="0">
                <a:solidFill>
                  <a:srgbClr val="F26B4E"/>
                </a:solidFill>
                <a:latin typeface="Calibri" pitchFamily="34" charset="0"/>
                <a:ea typeface="Calibri" pitchFamily="34" charset="-122"/>
                <a:cs typeface="Calibri" pitchFamily="34" charset="-120"/>
              </a:rPr>
              <a:t>Tarifa diaria del nivel</a:t>
            </a:r>
            <a:endParaRPr lang="en-US" sz="1300" dirty="0"/>
          </a:p>
        </p:txBody>
      </p:sp>
      <p:sp>
        <p:nvSpPr>
          <p:cNvPr id="17" name="Text 15"/>
          <p:cNvSpPr txBox="1"/>
          <p:nvPr/>
        </p:nvSpPr>
        <p:spPr>
          <a:xfrm>
            <a:off x="6355080" y="1737360"/>
            <a:ext cx="2240280" cy="640080"/>
          </a:xfrm>
          <a:prstGeom prst="rect">
            <a:avLst/>
          </a:prstGeom>
          <a:noFill/>
          <a:ln/>
        </p:spPr>
        <p:txBody>
          <a:bodyPr wrap="square" lIns="0" tIns="0" rIns="0" bIns="0" rtlCol="0" anchor="ctr"/>
          <a:lstStyle/>
          <a:p>
            <a:pPr indent="0" marL="0">
              <a:buNone/>
            </a:pPr>
            <a:r>
              <a:rPr lang="en-US" sz="2600" b="1" dirty="0">
                <a:solidFill>
                  <a:srgbClr val="0B2236"/>
                </a:solidFill>
                <a:latin typeface="Calibri" pitchFamily="34" charset="0"/>
                <a:ea typeface="Calibri" pitchFamily="34" charset="-122"/>
                <a:cs typeface="Calibri" pitchFamily="34" charset="-120"/>
              </a:rPr>
              <a:t>N1 · N2 · N3</a:t>
            </a:r>
            <a:endParaRPr lang="en-US" sz="2600" dirty="0"/>
          </a:p>
        </p:txBody>
      </p:sp>
      <p:sp>
        <p:nvSpPr>
          <p:cNvPr id="18" name="Text 16"/>
          <p:cNvSpPr txBox="1"/>
          <p:nvPr/>
        </p:nvSpPr>
        <p:spPr>
          <a:xfrm>
            <a:off x="6355080" y="2423160"/>
            <a:ext cx="2240280" cy="73152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Según el antibiótico que exige el antibiograma</a:t>
            </a:r>
            <a:endParaRPr lang="en-US" sz="1100" dirty="0"/>
          </a:p>
        </p:txBody>
      </p:sp>
      <p:sp>
        <p:nvSpPr>
          <p:cNvPr id="19" name="Shape 17"/>
          <p:cNvSpPr/>
          <p:nvPr/>
        </p:nvSpPr>
        <p:spPr>
          <a:xfrm>
            <a:off x="457200" y="3429000"/>
            <a:ext cx="8229600" cy="731520"/>
          </a:xfrm>
          <a:prstGeom prst="roundRect">
            <a:avLst>
              <a:gd name="adj" fmla="val 10000"/>
            </a:avLst>
          </a:prstGeom>
          <a:solidFill>
            <a:srgbClr val="EEF6F6"/>
          </a:solidFill>
          <a:ln w="6350">
            <a:solidFill>
              <a:srgbClr val="EEF6F6"/>
            </a:solidFill>
            <a:prstDash val="solid"/>
          </a:ln>
        </p:spPr>
      </p:sp>
      <p:sp>
        <p:nvSpPr>
          <p:cNvPr id="20" name="Text 18"/>
          <p:cNvSpPr txBox="1"/>
          <p:nvPr/>
        </p:nvSpPr>
        <p:spPr>
          <a:xfrm>
            <a:off x="640080" y="3429000"/>
            <a:ext cx="7863840" cy="731520"/>
          </a:xfrm>
          <a:prstGeom prst="rect">
            <a:avLst/>
          </a:prstGeom>
          <a:noFill/>
          <a:ln/>
        </p:spPr>
        <p:txBody>
          <a:bodyPr wrap="square" lIns="0" tIns="0" rIns="0" bIns="0" rtlCol="0" anchor="ctr"/>
          <a:lstStyle/>
          <a:p>
            <a:pPr algn="ctr" indent="0" marL="0">
              <a:buNone/>
            </a:pPr>
            <a:r>
              <a:rPr lang="en-US" sz="1600" b="1" dirty="0">
                <a:solidFill>
                  <a:srgbClr val="0B2236"/>
                </a:solidFill>
                <a:latin typeface="Calibri" pitchFamily="34" charset="0"/>
                <a:ea typeface="Calibri" pitchFamily="34" charset="-122"/>
                <a:cs typeface="Calibri" pitchFamily="34" charset="-120"/>
              </a:rPr>
              <a:t>Precio del paquete = activación + (días en casa × tarifa diaria del nivel)</a:t>
            </a:r>
            <a:endParaRPr lang="en-US" sz="1600" dirty="0"/>
          </a:p>
        </p:txBody>
      </p:sp>
      <p:sp>
        <p:nvSpPr>
          <p:cNvPr id="21" name="Text 19"/>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000" i="1" dirty="0">
                <a:solidFill>
                  <a:srgbClr val="5F6F7C"/>
                </a:solidFill>
                <a:latin typeface="Calibri" pitchFamily="34" charset="0"/>
                <a:ea typeface="Calibri" pitchFamily="34" charset="-122"/>
                <a:cs typeface="Calibri" pitchFamily="34" charset="-120"/>
              </a:rPr>
              <a:t>Cifras ilustrativas del modelo: validar con tarifas reales, precios SISMED y negociación con cada pagador. Valores en millones de pesos (M COP).</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PORTAFOLIO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Tres niveles según el perfil de resistencia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2624328" cy="3520440"/>
          </a:xfrm>
          <a:prstGeom prst="roundRect">
            <a:avLst>
              <a:gd name="adj" fmla="val 2787"/>
            </a:avLst>
          </a:prstGeom>
          <a:solidFill>
            <a:srgbClr val="FFFFFF"/>
          </a:solidFill>
          <a:ln w="15875">
            <a:solidFill>
              <a:srgbClr val="2E9E6A"/>
            </a:solidFill>
            <a:prstDash val="solid"/>
          </a:ln>
        </p:spPr>
      </p:sp>
      <p:sp>
        <p:nvSpPr>
          <p:cNvPr id="6" name="Shape 4"/>
          <p:cNvSpPr/>
          <p:nvPr/>
        </p:nvSpPr>
        <p:spPr>
          <a:xfrm>
            <a:off x="640080" y="1325880"/>
            <a:ext cx="731520" cy="384048"/>
          </a:xfrm>
          <a:prstGeom prst="roundRect">
            <a:avLst>
              <a:gd name="adj" fmla="val 50000"/>
            </a:avLst>
          </a:prstGeom>
          <a:solidFill>
            <a:srgbClr val="2E9E6A"/>
          </a:solidFill>
          <a:ln w="12700">
            <a:solidFill>
              <a:srgbClr val="2E9E6A"/>
            </a:solidFill>
            <a:prstDash val="solid"/>
          </a:ln>
        </p:spPr>
      </p:sp>
      <p:sp>
        <p:nvSpPr>
          <p:cNvPr id="7" name="Text 5"/>
          <p:cNvSpPr txBox="1"/>
          <p:nvPr/>
        </p:nvSpPr>
        <p:spPr>
          <a:xfrm>
            <a:off x="640080" y="1325880"/>
            <a:ext cx="73152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N1</a:t>
            </a:r>
            <a:endParaRPr lang="en-US" sz="1600" dirty="0"/>
          </a:p>
        </p:txBody>
      </p:sp>
      <p:sp>
        <p:nvSpPr>
          <p:cNvPr id="8" name="Text 6"/>
          <p:cNvSpPr txBox="1"/>
          <p:nvPr/>
        </p:nvSpPr>
        <p:spPr>
          <a:xfrm>
            <a:off x="1463040" y="1280160"/>
            <a:ext cx="1554480" cy="475488"/>
          </a:xfrm>
          <a:prstGeom prst="rect">
            <a:avLst/>
          </a:prstGeom>
          <a:noFill/>
          <a:ln/>
        </p:spPr>
        <p:txBody>
          <a:bodyPr wrap="square" lIns="0" tIns="0" rIns="0" bIns="0" rtlCol="0" anchor="ctr"/>
          <a:lstStyle/>
          <a:p>
            <a:pPr indent="0" marL="0">
              <a:buNone/>
            </a:pPr>
            <a:r>
              <a:rPr lang="en-US" sz="1200" b="1" dirty="0">
                <a:solidFill>
                  <a:srgbClr val="0B2236"/>
                </a:solidFill>
                <a:latin typeface="Calibri" pitchFamily="34" charset="0"/>
                <a:ea typeface="Calibri" pitchFamily="34" charset="-122"/>
                <a:cs typeface="Calibri" pitchFamily="34" charset="-120"/>
              </a:rPr>
              <a:t>Germen sensible</a:t>
            </a:r>
            <a:endParaRPr lang="en-US" sz="1200" dirty="0"/>
          </a:p>
        </p:txBody>
      </p:sp>
      <p:sp>
        <p:nvSpPr>
          <p:cNvPr id="9" name="Text 7"/>
          <p:cNvSpPr txBox="1"/>
          <p:nvPr/>
        </p:nvSpPr>
        <p:spPr>
          <a:xfrm>
            <a:off x="640080" y="1828800"/>
            <a:ext cx="2377440" cy="548640"/>
          </a:xfrm>
          <a:prstGeom prst="rect">
            <a:avLst/>
          </a:prstGeom>
          <a:noFill/>
          <a:ln/>
        </p:spPr>
        <p:txBody>
          <a:bodyPr wrap="square" lIns="0" tIns="0" rIns="0" bIns="0" rtlCol="0" anchor="ctr"/>
          <a:lstStyle/>
          <a:p>
            <a:pPr indent="0" marL="0">
              <a:buNone/>
            </a:pPr>
            <a:r>
              <a:rPr lang="en-US" sz="2600" b="1" dirty="0">
                <a:solidFill>
                  <a:srgbClr val="2E9E6A"/>
                </a:solidFill>
                <a:latin typeface="Calibri" pitchFamily="34" charset="0"/>
                <a:ea typeface="Calibri" pitchFamily="34" charset="-122"/>
                <a:cs typeface="Calibri" pitchFamily="34" charset="-120"/>
              </a:rPr>
              <a:t>0,35 M</a:t>
            </a:r>
            <a:pPr indent="0" marL="0">
              <a:buNone/>
            </a:pPr>
            <a:r>
              <a:rPr lang="en-US" sz="1100" dirty="0">
                <a:solidFill>
                  <a:srgbClr val="5F6F7C"/>
                </a:solidFill>
                <a:latin typeface="Calibri" pitchFamily="34" charset="0"/>
                <a:ea typeface="Calibri" pitchFamily="34" charset="-122"/>
                <a:cs typeface="Calibri" pitchFamily="34" charset="-120"/>
              </a:rPr>
              <a:t>  por día en casa</a:t>
            </a:r>
            <a:endParaRPr lang="en-US" sz="1300" dirty="0"/>
          </a:p>
        </p:txBody>
      </p:sp>
      <p:sp>
        <p:nvSpPr>
          <p:cNvPr id="10" name="Text 8"/>
          <p:cNvSpPr txBox="1"/>
          <p:nvPr/>
        </p:nvSpPr>
        <p:spPr>
          <a:xfrm>
            <a:off x="640080" y="2468880"/>
            <a:ext cx="2331720" cy="2194560"/>
          </a:xfrm>
          <a:prstGeom prst="rect">
            <a:avLst/>
          </a:prstGeom>
          <a:noFill/>
          <a:ln/>
        </p:spPr>
        <p:txBody>
          <a:bodyPr wrap="square" lIns="0" tIns="0" rIns="0" bIns="0" rtlCol="0" anchor="t"/>
          <a:lstStyle/>
          <a:p>
            <a:pPr marL="165100" indent="-165100">
              <a:spcAft>
                <a:spcPts val="600"/>
              </a:spcAft>
              <a:buSzPct val="100000"/>
              <a:buChar char="•"/>
            </a:pPr>
            <a:r>
              <a:rPr lang="en-US" sz="1100" dirty="0">
                <a:solidFill>
                  <a:srgbClr val="1D2B36"/>
                </a:solidFill>
                <a:latin typeface="Calibri" pitchFamily="34" charset="0"/>
                <a:ea typeface="Calibri" pitchFamily="34" charset="-122"/>
                <a:cs typeface="Calibri" pitchFamily="34" charset="-120"/>
              </a:rPr>
              <a:t>Antibióticos de bajo costo y una dosis diaria</a:t>
            </a:r>
            <a:endParaRPr lang="en-US" sz="1100" dirty="0"/>
          </a:p>
          <a:p>
            <a:pPr marL="165100" indent="-165100">
              <a:spcAft>
                <a:spcPts val="600"/>
              </a:spcAft>
              <a:buSzPct val="100000"/>
              <a:buChar char="•"/>
            </a:pPr>
            <a:r>
              <a:rPr lang="en-US" sz="1100" dirty="0">
                <a:solidFill>
                  <a:srgbClr val="1D2B36"/>
                </a:solidFill>
                <a:latin typeface="Calibri" pitchFamily="34" charset="0"/>
                <a:ea typeface="Calibri" pitchFamily="34" charset="-122"/>
                <a:cs typeface="Calibri" pitchFamily="34" charset="-120"/>
              </a:rPr>
              <a:t>Ej.: ceftriaxona c/24 h, cefazolina en infusión por bomba</a:t>
            </a:r>
            <a:endParaRPr lang="en-US" sz="1100" dirty="0"/>
          </a:p>
          <a:p>
            <a:pPr marL="165100" indent="-165100">
              <a:spcAft>
                <a:spcPts val="600"/>
              </a:spcAft>
              <a:buSzPct val="100000"/>
              <a:buChar char="•"/>
            </a:pPr>
            <a:r>
              <a:rPr lang="en-US" sz="1100" dirty="0">
                <a:solidFill>
                  <a:srgbClr val="1D2B36"/>
                </a:solidFill>
                <a:latin typeface="Calibri" pitchFamily="34" charset="0"/>
                <a:ea typeface="Calibri" pitchFamily="34" charset="-122"/>
                <a:cs typeface="Calibri" pitchFamily="34" charset="-120"/>
              </a:rPr>
              <a:t>Visitas de enfermería 1 vez al día</a:t>
            </a:r>
            <a:endParaRPr lang="en-US" sz="1100" dirty="0"/>
          </a:p>
        </p:txBody>
      </p:sp>
      <p:sp>
        <p:nvSpPr>
          <p:cNvPr id="11" name="Shape 9"/>
          <p:cNvSpPr/>
          <p:nvPr/>
        </p:nvSpPr>
        <p:spPr>
          <a:xfrm>
            <a:off x="3264408" y="1188720"/>
            <a:ext cx="2624328" cy="3520440"/>
          </a:xfrm>
          <a:prstGeom prst="roundRect">
            <a:avLst>
              <a:gd name="adj" fmla="val 2787"/>
            </a:avLst>
          </a:prstGeom>
          <a:solidFill>
            <a:srgbClr val="FFFFFF"/>
          </a:solidFill>
          <a:ln w="15875">
            <a:solidFill>
              <a:srgbClr val="E9A23B"/>
            </a:solidFill>
            <a:prstDash val="solid"/>
          </a:ln>
        </p:spPr>
      </p:sp>
      <p:sp>
        <p:nvSpPr>
          <p:cNvPr id="12" name="Shape 10"/>
          <p:cNvSpPr/>
          <p:nvPr/>
        </p:nvSpPr>
        <p:spPr>
          <a:xfrm>
            <a:off x="3447288" y="1325880"/>
            <a:ext cx="731520" cy="384048"/>
          </a:xfrm>
          <a:prstGeom prst="roundRect">
            <a:avLst>
              <a:gd name="adj" fmla="val 50000"/>
            </a:avLst>
          </a:prstGeom>
          <a:solidFill>
            <a:srgbClr val="E9A23B"/>
          </a:solidFill>
          <a:ln w="12700">
            <a:solidFill>
              <a:srgbClr val="E9A23B"/>
            </a:solidFill>
            <a:prstDash val="solid"/>
          </a:ln>
        </p:spPr>
      </p:sp>
      <p:sp>
        <p:nvSpPr>
          <p:cNvPr id="13" name="Text 11"/>
          <p:cNvSpPr txBox="1"/>
          <p:nvPr/>
        </p:nvSpPr>
        <p:spPr>
          <a:xfrm>
            <a:off x="3447288" y="1325880"/>
            <a:ext cx="73152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N2</a:t>
            </a:r>
            <a:endParaRPr lang="en-US" sz="1600" dirty="0"/>
          </a:p>
        </p:txBody>
      </p:sp>
      <p:sp>
        <p:nvSpPr>
          <p:cNvPr id="14" name="Text 12"/>
          <p:cNvSpPr txBox="1"/>
          <p:nvPr/>
        </p:nvSpPr>
        <p:spPr>
          <a:xfrm>
            <a:off x="4270248" y="1280160"/>
            <a:ext cx="1554480" cy="475488"/>
          </a:xfrm>
          <a:prstGeom prst="rect">
            <a:avLst/>
          </a:prstGeom>
          <a:noFill/>
          <a:ln/>
        </p:spPr>
        <p:txBody>
          <a:bodyPr wrap="square" lIns="0" tIns="0" rIns="0" bIns="0" rtlCol="0" anchor="ctr"/>
          <a:lstStyle/>
          <a:p>
            <a:pPr indent="0" marL="0">
              <a:buNone/>
            </a:pPr>
            <a:r>
              <a:rPr lang="en-US" sz="1200" b="1" dirty="0">
                <a:solidFill>
                  <a:srgbClr val="0B2236"/>
                </a:solidFill>
                <a:latin typeface="Calibri" pitchFamily="34" charset="0"/>
                <a:ea typeface="Calibri" pitchFamily="34" charset="-122"/>
                <a:cs typeface="Calibri" pitchFamily="34" charset="-120"/>
              </a:rPr>
              <a:t>BLEE · SARM · enterococo</a:t>
            </a:r>
            <a:endParaRPr lang="en-US" sz="1200" dirty="0"/>
          </a:p>
        </p:txBody>
      </p:sp>
      <p:sp>
        <p:nvSpPr>
          <p:cNvPr id="15" name="Text 13"/>
          <p:cNvSpPr txBox="1"/>
          <p:nvPr/>
        </p:nvSpPr>
        <p:spPr>
          <a:xfrm>
            <a:off x="3447288" y="1828800"/>
            <a:ext cx="2377440" cy="548640"/>
          </a:xfrm>
          <a:prstGeom prst="rect">
            <a:avLst/>
          </a:prstGeom>
          <a:noFill/>
          <a:ln/>
        </p:spPr>
        <p:txBody>
          <a:bodyPr wrap="square" lIns="0" tIns="0" rIns="0" bIns="0" rtlCol="0" anchor="ctr"/>
          <a:lstStyle/>
          <a:p>
            <a:pPr indent="0" marL="0">
              <a:buNone/>
            </a:pPr>
            <a:r>
              <a:rPr lang="en-US" sz="2600" b="1" dirty="0">
                <a:solidFill>
                  <a:srgbClr val="E9A23B"/>
                </a:solidFill>
                <a:latin typeface="Calibri" pitchFamily="34" charset="0"/>
                <a:ea typeface="Calibri" pitchFamily="34" charset="-122"/>
                <a:cs typeface="Calibri" pitchFamily="34" charset="-120"/>
              </a:rPr>
              <a:t>0,65 M</a:t>
            </a:r>
            <a:pPr indent="0" marL="0">
              <a:buNone/>
            </a:pPr>
            <a:r>
              <a:rPr lang="en-US" sz="1100" dirty="0">
                <a:solidFill>
                  <a:srgbClr val="5F6F7C"/>
                </a:solidFill>
                <a:latin typeface="Calibri" pitchFamily="34" charset="0"/>
                <a:ea typeface="Calibri" pitchFamily="34" charset="-122"/>
                <a:cs typeface="Calibri" pitchFamily="34" charset="-120"/>
              </a:rPr>
              <a:t>  por día en casa</a:t>
            </a:r>
            <a:endParaRPr lang="en-US" sz="1300" dirty="0"/>
          </a:p>
        </p:txBody>
      </p:sp>
      <p:sp>
        <p:nvSpPr>
          <p:cNvPr id="16" name="Text 14"/>
          <p:cNvSpPr txBox="1"/>
          <p:nvPr/>
        </p:nvSpPr>
        <p:spPr>
          <a:xfrm>
            <a:off x="3447288" y="2468880"/>
            <a:ext cx="2331720" cy="2194560"/>
          </a:xfrm>
          <a:prstGeom prst="rect">
            <a:avLst/>
          </a:prstGeom>
          <a:noFill/>
          <a:ln/>
        </p:spPr>
        <p:txBody>
          <a:bodyPr wrap="square" lIns="0" tIns="0" rIns="0" bIns="0" rtlCol="0" anchor="t"/>
          <a:lstStyle/>
          <a:p>
            <a:pPr marL="165100" indent="-165100">
              <a:spcAft>
                <a:spcPts val="600"/>
              </a:spcAft>
              <a:buSzPct val="100000"/>
              <a:buChar char="•"/>
            </a:pPr>
            <a:r>
              <a:rPr lang="en-US" sz="1100" dirty="0">
                <a:solidFill>
                  <a:srgbClr val="1D2B36"/>
                </a:solidFill>
                <a:latin typeface="Calibri" pitchFamily="34" charset="0"/>
                <a:ea typeface="Calibri" pitchFamily="34" charset="-122"/>
                <a:cs typeface="Calibri" pitchFamily="34" charset="-120"/>
              </a:rPr>
              <a:t>Antibióticos de costo intermedio</a:t>
            </a:r>
            <a:endParaRPr lang="en-US" sz="1100" dirty="0"/>
          </a:p>
          <a:p>
            <a:pPr marL="165100" indent="-165100">
              <a:spcAft>
                <a:spcPts val="600"/>
              </a:spcAft>
              <a:buSzPct val="100000"/>
              <a:buChar char="•"/>
            </a:pPr>
            <a:r>
              <a:rPr lang="en-US" sz="1100" dirty="0">
                <a:solidFill>
                  <a:srgbClr val="1D2B36"/>
                </a:solidFill>
                <a:latin typeface="Calibri" pitchFamily="34" charset="0"/>
                <a:ea typeface="Calibri" pitchFamily="34" charset="-122"/>
                <a:cs typeface="Calibri" pitchFamily="34" charset="-120"/>
              </a:rPr>
              <a:t>Ej.: ertapenem c/24 h, vancomicina con niveles, daptomicina c/24 h</a:t>
            </a:r>
            <a:endParaRPr lang="en-US" sz="1100" dirty="0"/>
          </a:p>
          <a:p>
            <a:pPr marL="165100" indent="-165100">
              <a:spcAft>
                <a:spcPts val="600"/>
              </a:spcAft>
              <a:buSzPct val="100000"/>
              <a:buChar char="•"/>
            </a:pPr>
            <a:r>
              <a:rPr lang="en-US" sz="1100" dirty="0">
                <a:solidFill>
                  <a:srgbClr val="1D2B36"/>
                </a:solidFill>
                <a:latin typeface="Calibri" pitchFamily="34" charset="0"/>
                <a:ea typeface="Calibri" pitchFamily="34" charset="-122"/>
                <a:cs typeface="Calibri" pitchFamily="34" charset="-120"/>
              </a:rPr>
              <a:t>Laboratorio y niveles más frecuentes</a:t>
            </a:r>
            <a:endParaRPr lang="en-US" sz="1100" dirty="0"/>
          </a:p>
        </p:txBody>
      </p:sp>
      <p:sp>
        <p:nvSpPr>
          <p:cNvPr id="17" name="Shape 15"/>
          <p:cNvSpPr/>
          <p:nvPr/>
        </p:nvSpPr>
        <p:spPr>
          <a:xfrm>
            <a:off x="6071616" y="1188720"/>
            <a:ext cx="2624328" cy="3520440"/>
          </a:xfrm>
          <a:prstGeom prst="roundRect">
            <a:avLst>
              <a:gd name="adj" fmla="val 2787"/>
            </a:avLst>
          </a:prstGeom>
          <a:solidFill>
            <a:srgbClr val="FFFFFF"/>
          </a:solidFill>
          <a:ln w="15875">
            <a:solidFill>
              <a:srgbClr val="F26B4E"/>
            </a:solidFill>
            <a:prstDash val="solid"/>
          </a:ln>
        </p:spPr>
      </p:sp>
      <p:sp>
        <p:nvSpPr>
          <p:cNvPr id="18" name="Shape 16"/>
          <p:cNvSpPr/>
          <p:nvPr/>
        </p:nvSpPr>
        <p:spPr>
          <a:xfrm>
            <a:off x="6254496" y="1325880"/>
            <a:ext cx="731520" cy="384048"/>
          </a:xfrm>
          <a:prstGeom prst="roundRect">
            <a:avLst>
              <a:gd name="adj" fmla="val 50000"/>
            </a:avLst>
          </a:prstGeom>
          <a:solidFill>
            <a:srgbClr val="F26B4E"/>
          </a:solidFill>
          <a:ln w="12700">
            <a:solidFill>
              <a:srgbClr val="F26B4E"/>
            </a:solidFill>
            <a:prstDash val="solid"/>
          </a:ln>
        </p:spPr>
      </p:sp>
      <p:sp>
        <p:nvSpPr>
          <p:cNvPr id="19" name="Text 17"/>
          <p:cNvSpPr txBox="1"/>
          <p:nvPr/>
        </p:nvSpPr>
        <p:spPr>
          <a:xfrm>
            <a:off x="6254496" y="1325880"/>
            <a:ext cx="73152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N3</a:t>
            </a:r>
            <a:endParaRPr lang="en-US" sz="1600" dirty="0"/>
          </a:p>
        </p:txBody>
      </p:sp>
      <p:sp>
        <p:nvSpPr>
          <p:cNvPr id="20" name="Text 18"/>
          <p:cNvSpPr txBox="1"/>
          <p:nvPr/>
        </p:nvSpPr>
        <p:spPr>
          <a:xfrm>
            <a:off x="7077456" y="1280160"/>
            <a:ext cx="1554480" cy="475488"/>
          </a:xfrm>
          <a:prstGeom prst="rect">
            <a:avLst/>
          </a:prstGeom>
          <a:noFill/>
          <a:ln/>
        </p:spPr>
        <p:txBody>
          <a:bodyPr wrap="square" lIns="0" tIns="0" rIns="0" bIns="0" rtlCol="0" anchor="ctr"/>
          <a:lstStyle/>
          <a:p>
            <a:pPr indent="0" marL="0">
              <a:buNone/>
            </a:pPr>
            <a:r>
              <a:rPr lang="en-US" sz="1200" b="1" dirty="0">
                <a:solidFill>
                  <a:srgbClr val="0B2236"/>
                </a:solidFill>
                <a:latin typeface="Calibri" pitchFamily="34" charset="0"/>
                <a:ea typeface="Calibri" pitchFamily="34" charset="-122"/>
                <a:cs typeface="Calibri" pitchFamily="34" charset="-120"/>
              </a:rPr>
              <a:t>MDR · carbapenemasas · Pseudomonas</a:t>
            </a:r>
            <a:endParaRPr lang="en-US" sz="1200" dirty="0"/>
          </a:p>
        </p:txBody>
      </p:sp>
      <p:sp>
        <p:nvSpPr>
          <p:cNvPr id="21" name="Text 19"/>
          <p:cNvSpPr txBox="1"/>
          <p:nvPr/>
        </p:nvSpPr>
        <p:spPr>
          <a:xfrm>
            <a:off x="6254496" y="1828800"/>
            <a:ext cx="2377440" cy="548640"/>
          </a:xfrm>
          <a:prstGeom prst="rect">
            <a:avLst/>
          </a:prstGeom>
          <a:noFill/>
          <a:ln/>
        </p:spPr>
        <p:txBody>
          <a:bodyPr wrap="square" lIns="0" tIns="0" rIns="0" bIns="0" rtlCol="0" anchor="ctr"/>
          <a:lstStyle/>
          <a:p>
            <a:pPr indent="0" marL="0">
              <a:buNone/>
            </a:pPr>
            <a:r>
              <a:rPr lang="en-US" sz="2600" b="1" dirty="0">
                <a:solidFill>
                  <a:srgbClr val="F26B4E"/>
                </a:solidFill>
                <a:latin typeface="Calibri" pitchFamily="34" charset="0"/>
                <a:ea typeface="Calibri" pitchFamily="34" charset="-122"/>
                <a:cs typeface="Calibri" pitchFamily="34" charset="-120"/>
              </a:rPr>
              <a:t>1,40 M</a:t>
            </a:r>
            <a:pPr indent="0" marL="0">
              <a:buNone/>
            </a:pPr>
            <a:r>
              <a:rPr lang="en-US" sz="1100" dirty="0">
                <a:solidFill>
                  <a:srgbClr val="5F6F7C"/>
                </a:solidFill>
                <a:latin typeface="Calibri" pitchFamily="34" charset="0"/>
                <a:ea typeface="Calibri" pitchFamily="34" charset="-122"/>
                <a:cs typeface="Calibri" pitchFamily="34" charset="-120"/>
              </a:rPr>
              <a:t>  por día en casa</a:t>
            </a:r>
            <a:endParaRPr lang="en-US" sz="1300" dirty="0"/>
          </a:p>
        </p:txBody>
      </p:sp>
      <p:sp>
        <p:nvSpPr>
          <p:cNvPr id="22" name="Text 20"/>
          <p:cNvSpPr txBox="1"/>
          <p:nvPr/>
        </p:nvSpPr>
        <p:spPr>
          <a:xfrm>
            <a:off x="6254496" y="2468880"/>
            <a:ext cx="2331720" cy="2194560"/>
          </a:xfrm>
          <a:prstGeom prst="rect">
            <a:avLst/>
          </a:prstGeom>
          <a:noFill/>
          <a:ln/>
        </p:spPr>
        <p:txBody>
          <a:bodyPr wrap="square" lIns="0" tIns="0" rIns="0" bIns="0" rtlCol="0" anchor="t"/>
          <a:lstStyle/>
          <a:p>
            <a:pPr marL="165100" indent="-165100">
              <a:spcAft>
                <a:spcPts val="600"/>
              </a:spcAft>
              <a:buSzPct val="100000"/>
              <a:buChar char="•"/>
            </a:pPr>
            <a:r>
              <a:rPr lang="en-US" sz="1100" dirty="0">
                <a:solidFill>
                  <a:srgbClr val="1D2B36"/>
                </a:solidFill>
                <a:latin typeface="Calibri" pitchFamily="34" charset="0"/>
                <a:ea typeface="Calibri" pitchFamily="34" charset="-122"/>
                <a:cs typeface="Calibri" pitchFamily="34" charset="-120"/>
              </a:rPr>
              <a:t>Antibióticos de alto costo o varias dosis al día</a:t>
            </a:r>
            <a:endParaRPr lang="en-US" sz="1100" dirty="0"/>
          </a:p>
          <a:p>
            <a:pPr marL="165100" indent="-165100">
              <a:spcAft>
                <a:spcPts val="600"/>
              </a:spcAft>
              <a:buSzPct val="100000"/>
              <a:buChar char="•"/>
            </a:pPr>
            <a:r>
              <a:rPr lang="en-US" sz="1100" dirty="0">
                <a:solidFill>
                  <a:srgbClr val="1D2B36"/>
                </a:solidFill>
                <a:latin typeface="Calibri" pitchFamily="34" charset="0"/>
                <a:ea typeface="Calibri" pitchFamily="34" charset="-122"/>
                <a:cs typeface="Calibri" pitchFamily="34" charset="-120"/>
              </a:rPr>
              <a:t>Ej.: ceftazidima-avibactam, piperacilina-tazobactam o meropenem en infusión extendida</a:t>
            </a:r>
            <a:endParaRPr lang="en-US" sz="1100" dirty="0"/>
          </a:p>
          <a:p>
            <a:pPr marL="165100" indent="-165100">
              <a:spcAft>
                <a:spcPts val="600"/>
              </a:spcAft>
              <a:buSzPct val="100000"/>
              <a:buChar char="•"/>
            </a:pPr>
            <a:r>
              <a:rPr lang="en-US" sz="1100" dirty="0">
                <a:solidFill>
                  <a:srgbClr val="1D2B36"/>
                </a:solidFill>
                <a:latin typeface="Calibri" pitchFamily="34" charset="0"/>
                <a:ea typeface="Calibri" pitchFamily="34" charset="-122"/>
                <a:cs typeface="Calibri" pitchFamily="34" charset="-120"/>
              </a:rPr>
              <a:t>Bomba elastomérica o 2–3 visitas al día</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PORTAFOLIO POR INFECCIÓN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Paquete IVU complicada / pielonefritis</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566928" cy="566928"/>
          </a:xfrm>
          <a:prstGeom prst="ellipse">
            <a:avLst/>
          </a:prstGeom>
          <a:solidFill>
            <a:srgbClr val="F26B4E"/>
          </a:solidFill>
          <a:ln w="19050">
            <a:solidFill>
              <a:srgbClr val="F26B4E"/>
            </a:solidFill>
            <a:prstDash val="solid"/>
          </a:ln>
        </p:spPr>
      </p:sp>
      <p:pic>
        <p:nvPicPr>
          <p:cNvPr id="6" name="Image 0" descr="preencoded.png">    </p:cNvPr>
          <p:cNvPicPr>
            <a:picLocks noChangeAspect="1"/>
          </p:cNvPicPr>
          <p:nvPr/>
        </p:nvPicPr>
        <p:blipFill>
          <a:blip r:embed="rId1"/>
          <a:stretch>
            <a:fillRect/>
          </a:stretch>
        </p:blipFill>
        <p:spPr>
          <a:xfrm>
            <a:off x="598932" y="1330452"/>
            <a:ext cx="283464" cy="283464"/>
          </a:xfrm>
          <a:prstGeom prst="rect">
            <a:avLst/>
          </a:prstGeom>
        </p:spPr>
      </p:pic>
      <p:sp>
        <p:nvSpPr>
          <p:cNvPr id="7" name="Text 4"/>
          <p:cNvSpPr txBox="1"/>
          <p:nvPr/>
        </p:nvSpPr>
        <p:spPr>
          <a:xfrm>
            <a:off x="1143000" y="1188720"/>
            <a:ext cx="7543800" cy="566928"/>
          </a:xfrm>
          <a:prstGeom prst="rect">
            <a:avLst/>
          </a:prstGeom>
          <a:noFill/>
          <a:ln/>
        </p:spPr>
        <p:txBody>
          <a:bodyPr wrap="square" lIns="0" tIns="0" rIns="0" bIns="0" rtlCol="0" anchor="ctr"/>
          <a:lstStyle/>
          <a:p>
            <a:pPr indent="0" marL="0">
              <a:buNone/>
            </a:pPr>
            <a:r>
              <a:rPr lang="en-US" sz="1300" b="1" dirty="0">
                <a:solidFill>
                  <a:srgbClr val="0B2236"/>
                </a:solidFill>
                <a:latin typeface="Calibri" pitchFamily="34" charset="0"/>
                <a:ea typeface="Calibri" pitchFamily="34" charset="-122"/>
                <a:cs typeface="Calibri" pitchFamily="34" charset="-120"/>
              </a:rPr>
              <a:t>Duración de referencia: </a:t>
            </a:r>
            <a:pPr indent="0" marL="0">
              <a:buNone/>
            </a:pPr>
            <a:r>
              <a:rPr lang="en-US" sz="1300" dirty="0">
                <a:solidFill>
                  <a:srgbClr val="1D2B36"/>
                </a:solidFill>
                <a:latin typeface="Calibri" pitchFamily="34" charset="0"/>
                <a:ea typeface="Calibri" pitchFamily="34" charset="-122"/>
                <a:cs typeface="Calibri" pitchFamily="34" charset="-120"/>
              </a:rPr>
              <a:t>5–7 días en casa tras estabilización inicial</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8229600" cy="914400"/>
        </p:xfrm>
        <a:graphic>
          <a:graphicData uri="http://schemas.openxmlformats.org/drawingml/2006/table">
            <a:tbl>
              <a:tblPr/>
              <a:tblGrid>
                <a:gridCol w="640080"/>
                <a:gridCol w="3200400"/>
                <a:gridCol w="548640"/>
                <a:gridCol w="1188720"/>
                <a:gridCol w="1371600"/>
                <a:gridCol w="128016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Nivel</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Antibiótico de ejemplo</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Días</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Precio paquete</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Costo equivalente en hospital</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Ahorro para el pagador</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N1</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2E9E6A"/>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Ceftriaxona c/24 h</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3,4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7,9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58 %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N2</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E9A23B"/>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Ertapenem c/24 h (E. coli o Klebsiella BLEE)</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5,5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9,5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42 %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N3</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F26B4E"/>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Ceftazidima-avibactam o aminoglucósido según antibiograma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10,7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14,0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24 %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bl>
          </a:graphicData>
        </a:graphic>
      </p:graphicFrame>
      <p:sp>
        <p:nvSpPr>
          <p:cNvPr id="9" name="Shape 5"/>
          <p:cNvSpPr/>
          <p:nvPr/>
        </p:nvSpPr>
        <p:spPr>
          <a:xfrm>
            <a:off x="457200" y="4187952"/>
            <a:ext cx="8229600" cy="438912"/>
          </a:xfrm>
          <a:prstGeom prst="roundRect">
            <a:avLst>
              <a:gd name="adj" fmla="val 16667"/>
            </a:avLst>
          </a:prstGeom>
          <a:solidFill>
            <a:srgbClr val="FDF1EC"/>
          </a:solidFill>
          <a:ln w="6350">
            <a:solidFill>
              <a:srgbClr val="FDF1EC"/>
            </a:solidFill>
            <a:prstDash val="solid"/>
          </a:ln>
        </p:spPr>
      </p:sp>
      <p:sp>
        <p:nvSpPr>
          <p:cNvPr id="10" name="Text 6"/>
          <p:cNvSpPr txBox="1"/>
          <p:nvPr/>
        </p:nvSpPr>
        <p:spPr>
          <a:xfrm>
            <a:off x="621792" y="4187952"/>
            <a:ext cx="7900416" cy="438912"/>
          </a:xfrm>
          <a:prstGeom prst="rect">
            <a:avLst/>
          </a:prstGeom>
          <a:noFill/>
          <a:ln/>
        </p:spPr>
        <p:txBody>
          <a:bodyPr wrap="square" lIns="0" tIns="0" rIns="0" bIns="0" rtlCol="0" anchor="ctr"/>
          <a:lstStyle/>
          <a:p>
            <a:pPr indent="0" marL="0">
              <a:buNone/>
            </a:pPr>
            <a:r>
              <a:rPr lang="en-US" sz="1150" b="1" dirty="0">
                <a:solidFill>
                  <a:srgbClr val="F26B4E"/>
                </a:solidFill>
                <a:latin typeface="Calibri" pitchFamily="34" charset="0"/>
                <a:ea typeface="Calibri" pitchFamily="34" charset="-122"/>
                <a:cs typeface="Calibri" pitchFamily="34" charset="-120"/>
              </a:rPr>
              <a:t>Clave:  </a:t>
            </a:r>
            <a:pPr indent="0" marL="0">
              <a:buNone/>
            </a:pPr>
            <a:r>
              <a:rPr lang="en-US" sz="1150" dirty="0">
                <a:solidFill>
                  <a:srgbClr val="1D2B36"/>
                </a:solidFill>
                <a:latin typeface="Calibri" pitchFamily="34" charset="0"/>
                <a:ea typeface="Calibri" pitchFamily="34" charset="-122"/>
                <a:cs typeface="Calibri" pitchFamily="34" charset="-120"/>
              </a:rPr>
              <a:t>Ideal para pielonefritis por BLEE: un ertapenem diario hoy obliga a dejar al paciente hospitalizado.</a:t>
            </a:r>
            <a:endParaRPr lang="en-US" sz="1150" dirty="0"/>
          </a:p>
        </p:txBody>
      </p:sp>
      <p:sp>
        <p:nvSpPr>
          <p:cNvPr id="11" name="Text 7"/>
          <p:cNvSpPr txBox="1"/>
          <p:nvPr/>
        </p:nvSpPr>
        <p:spPr>
          <a:xfrm>
            <a:off x="457200" y="4663440"/>
            <a:ext cx="8229600" cy="182880"/>
          </a:xfrm>
          <a:prstGeom prst="rect">
            <a:avLst/>
          </a:prstGeom>
          <a:noFill/>
          <a:ln/>
        </p:spPr>
        <p:txBody>
          <a:bodyPr wrap="square" lIns="0" tIns="0" rIns="0" bIns="0" rtlCol="0" anchor="t"/>
          <a:lstStyle/>
          <a:p>
            <a:pPr indent="0" marL="0">
              <a:buNone/>
            </a:pPr>
            <a:r>
              <a:rPr lang="en-US" sz="800" i="1" dirty="0">
                <a:solidFill>
                  <a:srgbClr val="5F6F7C"/>
                </a:solidFill>
                <a:latin typeface="Calibri" pitchFamily="34" charset="0"/>
                <a:ea typeface="Calibri" pitchFamily="34" charset="-122"/>
                <a:cs typeface="Calibri" pitchFamily="34" charset="-120"/>
              </a:rPr>
              <a:t>Hospital = días × (día-cama 1,1 M + antibiótico). Cifras ilustrativas; el antibiótico final lo define el antibiograma y el concepto de infectología.</a:t>
            </a:r>
            <a:endParaRPr lang="en-US" sz="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PORTAFOLIO POR INFECCIÓN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Paquete neumonía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566928" cy="566928"/>
          </a:xfrm>
          <a:prstGeom prst="ellipse">
            <a:avLst/>
          </a:prstGeom>
          <a:solidFill>
            <a:srgbClr val="F26B4E"/>
          </a:solidFill>
          <a:ln w="19050">
            <a:solidFill>
              <a:srgbClr val="F26B4E"/>
            </a:solidFill>
            <a:prstDash val="solid"/>
          </a:ln>
        </p:spPr>
      </p:sp>
      <p:pic>
        <p:nvPicPr>
          <p:cNvPr id="6" name="Image 0" descr="preencoded.png">    </p:cNvPr>
          <p:cNvPicPr>
            <a:picLocks noChangeAspect="1"/>
          </p:cNvPicPr>
          <p:nvPr/>
        </p:nvPicPr>
        <p:blipFill>
          <a:blip r:embed="rId1"/>
          <a:stretch>
            <a:fillRect/>
          </a:stretch>
        </p:blipFill>
        <p:spPr>
          <a:xfrm>
            <a:off x="598932" y="1330452"/>
            <a:ext cx="283464" cy="283464"/>
          </a:xfrm>
          <a:prstGeom prst="rect">
            <a:avLst/>
          </a:prstGeom>
        </p:spPr>
      </p:pic>
      <p:sp>
        <p:nvSpPr>
          <p:cNvPr id="7" name="Text 4"/>
          <p:cNvSpPr txBox="1"/>
          <p:nvPr/>
        </p:nvSpPr>
        <p:spPr>
          <a:xfrm>
            <a:off x="1143000" y="1188720"/>
            <a:ext cx="7543800" cy="566928"/>
          </a:xfrm>
          <a:prstGeom prst="rect">
            <a:avLst/>
          </a:prstGeom>
          <a:noFill/>
          <a:ln/>
        </p:spPr>
        <p:txBody>
          <a:bodyPr wrap="square" lIns="0" tIns="0" rIns="0" bIns="0" rtlCol="0" anchor="ctr"/>
          <a:lstStyle/>
          <a:p>
            <a:pPr indent="0" marL="0">
              <a:buNone/>
            </a:pPr>
            <a:r>
              <a:rPr lang="en-US" sz="1300" b="1" dirty="0">
                <a:solidFill>
                  <a:srgbClr val="0B2236"/>
                </a:solidFill>
                <a:latin typeface="Calibri" pitchFamily="34" charset="0"/>
                <a:ea typeface="Calibri" pitchFamily="34" charset="-122"/>
                <a:cs typeface="Calibri" pitchFamily="34" charset="-120"/>
              </a:rPr>
              <a:t>Duración de referencia: </a:t>
            </a:r>
            <a:pPr indent="0" marL="0">
              <a:buNone/>
            </a:pPr>
            <a:r>
              <a:rPr lang="en-US" sz="1300" dirty="0">
                <a:solidFill>
                  <a:srgbClr val="1D2B36"/>
                </a:solidFill>
                <a:latin typeface="Calibri" pitchFamily="34" charset="0"/>
                <a:ea typeface="Calibri" pitchFamily="34" charset="-122"/>
                <a:cs typeface="Calibri" pitchFamily="34" charset="-120"/>
              </a:rPr>
              <a:t>5–7 días en casa tras estabilidad clínica y oxigenación adecuada</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8229600" cy="914400"/>
        </p:xfrm>
        <a:graphic>
          <a:graphicData uri="http://schemas.openxmlformats.org/drawingml/2006/table">
            <a:tbl>
              <a:tblPr/>
              <a:tblGrid>
                <a:gridCol w="640080"/>
                <a:gridCol w="3200400"/>
                <a:gridCol w="548640"/>
                <a:gridCol w="1188720"/>
                <a:gridCol w="1371600"/>
                <a:gridCol w="128016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Nivel</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Antibiótico de ejemplo</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Días</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Precio paquete</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Costo equivalente en hospital</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Ahorro para el pagador</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N1</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2E9E6A"/>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Ceftriaxona c/24 h</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3,4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7,9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58 %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N2</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E9A23B"/>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Ertapenem c/24 h (BLEE) o vancomicina (SARM)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5,5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9,5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42 %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N3</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F26B4E"/>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Piperacilina-tazobactam o meropenem en infusión extendida (Pseudomonas / MDR)</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10,7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14,0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24 %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bl>
          </a:graphicData>
        </a:graphic>
      </p:graphicFrame>
      <p:sp>
        <p:nvSpPr>
          <p:cNvPr id="9" name="Shape 5"/>
          <p:cNvSpPr/>
          <p:nvPr/>
        </p:nvSpPr>
        <p:spPr>
          <a:xfrm>
            <a:off x="457200" y="4187952"/>
            <a:ext cx="8229600" cy="438912"/>
          </a:xfrm>
          <a:prstGeom prst="roundRect">
            <a:avLst>
              <a:gd name="adj" fmla="val 16667"/>
            </a:avLst>
          </a:prstGeom>
          <a:solidFill>
            <a:srgbClr val="FDF1EC"/>
          </a:solidFill>
          <a:ln w="6350">
            <a:solidFill>
              <a:srgbClr val="FDF1EC"/>
            </a:solidFill>
            <a:prstDash val="solid"/>
          </a:ln>
        </p:spPr>
      </p:sp>
      <p:sp>
        <p:nvSpPr>
          <p:cNvPr id="10" name="Text 6"/>
          <p:cNvSpPr txBox="1"/>
          <p:nvPr/>
        </p:nvSpPr>
        <p:spPr>
          <a:xfrm>
            <a:off x="621792" y="4187952"/>
            <a:ext cx="7900416" cy="438912"/>
          </a:xfrm>
          <a:prstGeom prst="rect">
            <a:avLst/>
          </a:prstGeom>
          <a:noFill/>
          <a:ln/>
        </p:spPr>
        <p:txBody>
          <a:bodyPr wrap="square" lIns="0" tIns="0" rIns="0" bIns="0" rtlCol="0" anchor="ctr"/>
          <a:lstStyle/>
          <a:p>
            <a:pPr indent="0" marL="0">
              <a:buNone/>
            </a:pPr>
            <a:r>
              <a:rPr lang="en-US" sz="1150" b="1" dirty="0">
                <a:solidFill>
                  <a:srgbClr val="F26B4E"/>
                </a:solidFill>
                <a:latin typeface="Calibri" pitchFamily="34" charset="0"/>
                <a:ea typeface="Calibri" pitchFamily="34" charset="-122"/>
                <a:cs typeface="Calibri" pitchFamily="34" charset="-120"/>
              </a:rPr>
              <a:t>Clave:  </a:t>
            </a:r>
            <a:pPr indent="0" marL="0">
              <a:buNone/>
            </a:pPr>
            <a:r>
              <a:rPr lang="en-US" sz="1150" dirty="0">
                <a:solidFill>
                  <a:srgbClr val="1D2B36"/>
                </a:solidFill>
                <a:latin typeface="Calibri" pitchFamily="34" charset="0"/>
                <a:ea typeface="Calibri" pitchFamily="34" charset="-122"/>
                <a:cs typeface="Calibri" pitchFamily="34" charset="-120"/>
              </a:rPr>
              <a:t>Requiere saturación estable sin oxígeno o con oxígeno domiciliario disponible y red de apoyo.</a:t>
            </a:r>
            <a:endParaRPr lang="en-US" sz="1150" dirty="0"/>
          </a:p>
        </p:txBody>
      </p:sp>
      <p:sp>
        <p:nvSpPr>
          <p:cNvPr id="11" name="Text 7"/>
          <p:cNvSpPr txBox="1"/>
          <p:nvPr/>
        </p:nvSpPr>
        <p:spPr>
          <a:xfrm>
            <a:off x="457200" y="4663440"/>
            <a:ext cx="8229600" cy="182880"/>
          </a:xfrm>
          <a:prstGeom prst="rect">
            <a:avLst/>
          </a:prstGeom>
          <a:noFill/>
          <a:ln/>
        </p:spPr>
        <p:txBody>
          <a:bodyPr wrap="square" lIns="0" tIns="0" rIns="0" bIns="0" rtlCol="0" anchor="t"/>
          <a:lstStyle/>
          <a:p>
            <a:pPr indent="0" marL="0">
              <a:buNone/>
            </a:pPr>
            <a:r>
              <a:rPr lang="en-US" sz="800" i="1" dirty="0">
                <a:solidFill>
                  <a:srgbClr val="5F6F7C"/>
                </a:solidFill>
                <a:latin typeface="Calibri" pitchFamily="34" charset="0"/>
                <a:ea typeface="Calibri" pitchFamily="34" charset="-122"/>
                <a:cs typeface="Calibri" pitchFamily="34" charset="-120"/>
              </a:rPr>
              <a:t>Hospital = días × (día-cama 1,1 M + antibiótico). Cifras ilustrativas; el antibiótico final lo define el antibiograma y el concepto de infectología.</a:t>
            </a:r>
            <a:endParaRPr lang="en-US" sz="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PORTAFOLIO POR INFECCIÓN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Paquete osteomielitis / pie diabético</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566928" cy="566928"/>
          </a:xfrm>
          <a:prstGeom prst="ellipse">
            <a:avLst/>
          </a:prstGeom>
          <a:solidFill>
            <a:srgbClr val="F26B4E"/>
          </a:solidFill>
          <a:ln w="19050">
            <a:solidFill>
              <a:srgbClr val="F26B4E"/>
            </a:solidFill>
            <a:prstDash val="solid"/>
          </a:ln>
        </p:spPr>
      </p:sp>
      <p:pic>
        <p:nvPicPr>
          <p:cNvPr id="6" name="Image 0" descr="preencoded.png">    </p:cNvPr>
          <p:cNvPicPr>
            <a:picLocks noChangeAspect="1"/>
          </p:cNvPicPr>
          <p:nvPr/>
        </p:nvPicPr>
        <p:blipFill>
          <a:blip r:embed="rId1"/>
          <a:stretch>
            <a:fillRect/>
          </a:stretch>
        </p:blipFill>
        <p:spPr>
          <a:xfrm>
            <a:off x="598932" y="1330452"/>
            <a:ext cx="283464" cy="283464"/>
          </a:xfrm>
          <a:prstGeom prst="rect">
            <a:avLst/>
          </a:prstGeom>
        </p:spPr>
      </p:pic>
      <p:sp>
        <p:nvSpPr>
          <p:cNvPr id="7" name="Text 4"/>
          <p:cNvSpPr txBox="1"/>
          <p:nvPr/>
        </p:nvSpPr>
        <p:spPr>
          <a:xfrm>
            <a:off x="1143000" y="1188720"/>
            <a:ext cx="7543800" cy="566928"/>
          </a:xfrm>
          <a:prstGeom prst="rect">
            <a:avLst/>
          </a:prstGeom>
          <a:noFill/>
          <a:ln/>
        </p:spPr>
        <p:txBody>
          <a:bodyPr wrap="square" lIns="0" tIns="0" rIns="0" bIns="0" rtlCol="0" anchor="ctr"/>
          <a:lstStyle/>
          <a:p>
            <a:pPr indent="0" marL="0">
              <a:buNone/>
            </a:pPr>
            <a:r>
              <a:rPr lang="en-US" sz="1300" b="1" dirty="0">
                <a:solidFill>
                  <a:srgbClr val="0B2236"/>
                </a:solidFill>
                <a:latin typeface="Calibri" pitchFamily="34" charset="0"/>
                <a:ea typeface="Calibri" pitchFamily="34" charset="-122"/>
                <a:cs typeface="Calibri" pitchFamily="34" charset="-120"/>
              </a:rPr>
              <a:t>Duración de referencia: </a:t>
            </a:r>
            <a:pPr indent="0" marL="0">
              <a:buNone/>
            </a:pPr>
            <a:r>
              <a:rPr lang="en-US" sz="1300" dirty="0">
                <a:solidFill>
                  <a:srgbClr val="1D2B36"/>
                </a:solidFill>
                <a:latin typeface="Calibri" pitchFamily="34" charset="0"/>
                <a:ea typeface="Calibri" pitchFamily="34" charset="-122"/>
                <a:cs typeface="Calibri" pitchFamily="34" charset="-120"/>
              </a:rPr>
              <a:t>4–6 semanas en casa tras desbridamiento y cultivo óseo</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8229600" cy="914400"/>
        </p:xfrm>
        <a:graphic>
          <a:graphicData uri="http://schemas.openxmlformats.org/drawingml/2006/table">
            <a:tbl>
              <a:tblPr/>
              <a:tblGrid>
                <a:gridCol w="640080"/>
                <a:gridCol w="3200400"/>
                <a:gridCol w="548640"/>
                <a:gridCol w="1188720"/>
                <a:gridCol w="1371600"/>
                <a:gridCol w="128016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Nivel</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Antibiótico de ejemplo</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Días</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Precio paquete</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Costo equivalente en hospital</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Ahorro para el pagador</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N1</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2E9E6A"/>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Cefazolina en infusión por bomba o ceftriaxona c/24 h (SAMS / sensibles)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15,6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47,5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67 %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N2</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E9A23B"/>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Vancomicina con niveles, daptomicina c/24 h (SARM) o ertapenem (polimicrobiana BLEE)</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28,2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56,7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50 %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N3</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F26B4E"/>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Antipseudomónicos o carbapenémicos según antibiograma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59,7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84,0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29 %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bl>
          </a:graphicData>
        </a:graphic>
      </p:graphicFrame>
      <p:sp>
        <p:nvSpPr>
          <p:cNvPr id="9" name="Shape 5"/>
          <p:cNvSpPr/>
          <p:nvPr/>
        </p:nvSpPr>
        <p:spPr>
          <a:xfrm>
            <a:off x="457200" y="4187952"/>
            <a:ext cx="8229600" cy="438912"/>
          </a:xfrm>
          <a:prstGeom prst="roundRect">
            <a:avLst>
              <a:gd name="adj" fmla="val 16667"/>
            </a:avLst>
          </a:prstGeom>
          <a:solidFill>
            <a:srgbClr val="FDF1EC"/>
          </a:solidFill>
          <a:ln w="6350">
            <a:solidFill>
              <a:srgbClr val="FDF1EC"/>
            </a:solidFill>
            <a:prstDash val="solid"/>
          </a:ln>
        </p:spPr>
      </p:sp>
      <p:sp>
        <p:nvSpPr>
          <p:cNvPr id="10" name="Text 6"/>
          <p:cNvSpPr txBox="1"/>
          <p:nvPr/>
        </p:nvSpPr>
        <p:spPr>
          <a:xfrm>
            <a:off x="621792" y="4187952"/>
            <a:ext cx="7900416" cy="438912"/>
          </a:xfrm>
          <a:prstGeom prst="rect">
            <a:avLst/>
          </a:prstGeom>
          <a:noFill/>
          <a:ln/>
        </p:spPr>
        <p:txBody>
          <a:bodyPr wrap="square" lIns="0" tIns="0" rIns="0" bIns="0" rtlCol="0" anchor="ctr"/>
          <a:lstStyle/>
          <a:p>
            <a:pPr indent="0" marL="0">
              <a:buNone/>
            </a:pPr>
            <a:r>
              <a:rPr lang="en-US" sz="1150" b="1" dirty="0">
                <a:solidFill>
                  <a:srgbClr val="F26B4E"/>
                </a:solidFill>
                <a:latin typeface="Calibri" pitchFamily="34" charset="0"/>
                <a:ea typeface="Calibri" pitchFamily="34" charset="-122"/>
                <a:cs typeface="Calibri" pitchFamily="34" charset="-120"/>
              </a:rPr>
              <a:t>Clave:  </a:t>
            </a:r>
            <a:pPr indent="0" marL="0">
              <a:buNone/>
            </a:pPr>
            <a:r>
              <a:rPr lang="en-US" sz="1150" dirty="0">
                <a:solidFill>
                  <a:srgbClr val="1D2B36"/>
                </a:solidFill>
                <a:latin typeface="Calibri" pitchFamily="34" charset="0"/>
                <a:ea typeface="Calibri" pitchFamily="34" charset="-122"/>
                <a:cs typeface="Calibri" pitchFamily="34" charset="-120"/>
              </a:rPr>
              <a:t>Es el paquete de mayor impacto: libera hasta 6 semanas de cama por paciente.</a:t>
            </a:r>
            <a:endParaRPr lang="en-US" sz="1150" dirty="0"/>
          </a:p>
        </p:txBody>
      </p:sp>
      <p:sp>
        <p:nvSpPr>
          <p:cNvPr id="11" name="Text 7"/>
          <p:cNvSpPr txBox="1"/>
          <p:nvPr/>
        </p:nvSpPr>
        <p:spPr>
          <a:xfrm>
            <a:off x="457200" y="4663440"/>
            <a:ext cx="8229600" cy="182880"/>
          </a:xfrm>
          <a:prstGeom prst="rect">
            <a:avLst/>
          </a:prstGeom>
          <a:noFill/>
          <a:ln/>
        </p:spPr>
        <p:txBody>
          <a:bodyPr wrap="square" lIns="0" tIns="0" rIns="0" bIns="0" rtlCol="0" anchor="t"/>
          <a:lstStyle/>
          <a:p>
            <a:pPr indent="0" marL="0">
              <a:buNone/>
            </a:pPr>
            <a:r>
              <a:rPr lang="en-US" sz="800" i="1" dirty="0">
                <a:solidFill>
                  <a:srgbClr val="5F6F7C"/>
                </a:solidFill>
                <a:latin typeface="Calibri" pitchFamily="34" charset="0"/>
                <a:ea typeface="Calibri" pitchFamily="34" charset="-122"/>
                <a:cs typeface="Calibri" pitchFamily="34" charset="-120"/>
              </a:rPr>
              <a:t>Hospital = días × (día-cama 1,1 M + antibiótico). Cifras ilustrativas; el antibiótico final lo define el antibiograma y el concepto de infectología.</a:t>
            </a:r>
            <a:endParaRPr lang="en-US" sz="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PORTAFOLIO POR INFECCIÓN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Paquete endocarditis (fase de consolidación)</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566928" cy="566928"/>
          </a:xfrm>
          <a:prstGeom prst="ellipse">
            <a:avLst/>
          </a:prstGeom>
          <a:solidFill>
            <a:srgbClr val="F26B4E"/>
          </a:solidFill>
          <a:ln w="19050">
            <a:solidFill>
              <a:srgbClr val="F26B4E"/>
            </a:solidFill>
            <a:prstDash val="solid"/>
          </a:ln>
        </p:spPr>
      </p:sp>
      <p:pic>
        <p:nvPicPr>
          <p:cNvPr id="6" name="Image 0" descr="preencoded.png">    </p:cNvPr>
          <p:cNvPicPr>
            <a:picLocks noChangeAspect="1"/>
          </p:cNvPicPr>
          <p:nvPr/>
        </p:nvPicPr>
        <p:blipFill>
          <a:blip r:embed="rId1"/>
          <a:stretch>
            <a:fillRect/>
          </a:stretch>
        </p:blipFill>
        <p:spPr>
          <a:xfrm>
            <a:off x="598932" y="1330452"/>
            <a:ext cx="283464" cy="283464"/>
          </a:xfrm>
          <a:prstGeom prst="rect">
            <a:avLst/>
          </a:prstGeom>
        </p:spPr>
      </p:pic>
      <p:sp>
        <p:nvSpPr>
          <p:cNvPr id="7" name="Text 4"/>
          <p:cNvSpPr txBox="1"/>
          <p:nvPr/>
        </p:nvSpPr>
        <p:spPr>
          <a:xfrm>
            <a:off x="1143000" y="1188720"/>
            <a:ext cx="7543800" cy="566928"/>
          </a:xfrm>
          <a:prstGeom prst="rect">
            <a:avLst/>
          </a:prstGeom>
          <a:noFill/>
          <a:ln/>
        </p:spPr>
        <p:txBody>
          <a:bodyPr wrap="square" lIns="0" tIns="0" rIns="0" bIns="0" rtlCol="0" anchor="ctr"/>
          <a:lstStyle/>
          <a:p>
            <a:pPr indent="0" marL="0">
              <a:buNone/>
            </a:pPr>
            <a:r>
              <a:rPr lang="en-US" sz="1300" b="1" dirty="0">
                <a:solidFill>
                  <a:srgbClr val="0B2236"/>
                </a:solidFill>
                <a:latin typeface="Calibri" pitchFamily="34" charset="0"/>
                <a:ea typeface="Calibri" pitchFamily="34" charset="-122"/>
                <a:cs typeface="Calibri" pitchFamily="34" charset="-120"/>
              </a:rPr>
              <a:t>Duración de referencia: </a:t>
            </a:r>
            <a:pPr indent="0" marL="0">
              <a:buNone/>
            </a:pPr>
            <a:r>
              <a:rPr lang="en-US" sz="1300" dirty="0">
                <a:solidFill>
                  <a:srgbClr val="1D2B36"/>
                </a:solidFill>
                <a:latin typeface="Calibri" pitchFamily="34" charset="0"/>
                <a:ea typeface="Calibri" pitchFamily="34" charset="-122"/>
                <a:cs typeface="Calibri" pitchFamily="34" charset="-120"/>
              </a:rPr>
              <a:t>2–4 semanas en casa: paciente estable, hemocultivos negativos y sin indicación quirúrgica</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8229600" cy="914400"/>
        </p:xfrm>
        <a:graphic>
          <a:graphicData uri="http://schemas.openxmlformats.org/drawingml/2006/table">
            <a:tbl>
              <a:tblPr/>
              <a:tblGrid>
                <a:gridCol w="640080"/>
                <a:gridCol w="3200400"/>
                <a:gridCol w="548640"/>
                <a:gridCol w="1188720"/>
                <a:gridCol w="1371600"/>
                <a:gridCol w="128016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Nivel</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Antibiótico de ejemplo</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Días</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Precio paquete</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Costo equivalente en hospital</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Ahorro para el pagador</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N1</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2E9E6A"/>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Ceftriaxona c/24 h (estreptococos sensibles)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10,7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31,6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66 %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N2</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E9A23B"/>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Cefazolina (SAMS), daptomicina c/24 h o vancomicina (SARM / enterococo)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19,1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37,8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49 %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N3</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F26B4E"/>
                    </a:solidFill>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Esquemas combinados o de alto costo definidos por infectología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300" b="1" dirty="0">
                          <a:solidFill>
                            <a:srgbClr val="1D2B36"/>
                          </a:solidFill>
                          <a:latin typeface="Calibri" pitchFamily="34" charset="0"/>
                          <a:ea typeface="Calibri" pitchFamily="34" charset="-122"/>
                          <a:cs typeface="Calibri" pitchFamily="34" charset="-120"/>
                        </a:rPr>
                        <a:t>40,1 M</a:t>
                      </a:r>
                      <a:endParaRPr lang="en-US" sz="13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56,0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28 %</a:t>
                      </a:r>
                      <a:endParaRPr lang="en-US" sz="14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bl>
          </a:graphicData>
        </a:graphic>
      </p:graphicFrame>
      <p:sp>
        <p:nvSpPr>
          <p:cNvPr id="9" name="Shape 5"/>
          <p:cNvSpPr/>
          <p:nvPr/>
        </p:nvSpPr>
        <p:spPr>
          <a:xfrm>
            <a:off x="457200" y="4187952"/>
            <a:ext cx="8229600" cy="438912"/>
          </a:xfrm>
          <a:prstGeom prst="roundRect">
            <a:avLst>
              <a:gd name="adj" fmla="val 16667"/>
            </a:avLst>
          </a:prstGeom>
          <a:solidFill>
            <a:srgbClr val="FDF1EC"/>
          </a:solidFill>
          <a:ln w="6350">
            <a:solidFill>
              <a:srgbClr val="FDF1EC"/>
            </a:solidFill>
            <a:prstDash val="solid"/>
          </a:ln>
        </p:spPr>
      </p:sp>
      <p:sp>
        <p:nvSpPr>
          <p:cNvPr id="10" name="Text 6"/>
          <p:cNvSpPr txBox="1"/>
          <p:nvPr/>
        </p:nvSpPr>
        <p:spPr>
          <a:xfrm>
            <a:off x="621792" y="4187952"/>
            <a:ext cx="7900416" cy="438912"/>
          </a:xfrm>
          <a:prstGeom prst="rect">
            <a:avLst/>
          </a:prstGeom>
          <a:noFill/>
          <a:ln/>
        </p:spPr>
        <p:txBody>
          <a:bodyPr wrap="square" lIns="0" tIns="0" rIns="0" bIns="0" rtlCol="0" anchor="ctr"/>
          <a:lstStyle/>
          <a:p>
            <a:pPr indent="0" marL="0">
              <a:buNone/>
            </a:pPr>
            <a:r>
              <a:rPr lang="en-US" sz="1150" b="1" dirty="0">
                <a:solidFill>
                  <a:srgbClr val="F26B4E"/>
                </a:solidFill>
                <a:latin typeface="Calibri" pitchFamily="34" charset="0"/>
                <a:ea typeface="Calibri" pitchFamily="34" charset="-122"/>
                <a:cs typeface="Calibri" pitchFamily="34" charset="-120"/>
              </a:rPr>
              <a:t>Clave:  </a:t>
            </a:r>
            <a:pPr indent="0" marL="0">
              <a:buNone/>
            </a:pPr>
            <a:r>
              <a:rPr lang="en-US" sz="1150" dirty="0">
                <a:solidFill>
                  <a:srgbClr val="1D2B36"/>
                </a:solidFill>
                <a:latin typeface="Calibri" pitchFamily="34" charset="0"/>
                <a:ea typeface="Calibri" pitchFamily="34" charset="-122"/>
                <a:cs typeface="Calibri" pitchFamily="34" charset="-120"/>
              </a:rPr>
              <a:t>Ingreso solo con aval de infectología, ecocardiograma y fase intrahospitalaria inicial completa.</a:t>
            </a:r>
            <a:endParaRPr lang="en-US" sz="1150" dirty="0"/>
          </a:p>
        </p:txBody>
      </p:sp>
      <p:sp>
        <p:nvSpPr>
          <p:cNvPr id="11" name="Text 7"/>
          <p:cNvSpPr txBox="1"/>
          <p:nvPr/>
        </p:nvSpPr>
        <p:spPr>
          <a:xfrm>
            <a:off x="457200" y="4663440"/>
            <a:ext cx="8229600" cy="182880"/>
          </a:xfrm>
          <a:prstGeom prst="rect">
            <a:avLst/>
          </a:prstGeom>
          <a:noFill/>
          <a:ln/>
        </p:spPr>
        <p:txBody>
          <a:bodyPr wrap="square" lIns="0" tIns="0" rIns="0" bIns="0" rtlCol="0" anchor="t"/>
          <a:lstStyle/>
          <a:p>
            <a:pPr indent="0" marL="0">
              <a:buNone/>
            </a:pPr>
            <a:r>
              <a:rPr lang="en-US" sz="800" i="1" dirty="0">
                <a:solidFill>
                  <a:srgbClr val="5F6F7C"/>
                </a:solidFill>
                <a:latin typeface="Calibri" pitchFamily="34" charset="0"/>
                <a:ea typeface="Calibri" pitchFamily="34" charset="-122"/>
                <a:cs typeface="Calibri" pitchFamily="34" charset="-120"/>
              </a:rPr>
              <a:t>Hospital = días × (día-cama 1,1 M + antibiótico). Cifras ilustrativas; el antibiótico final lo define el antibiograma y el concepto de infectología.</a:t>
            </a:r>
            <a:endParaRPr lang="en-US" sz="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PORTAFOLIO POR INFECCIÓN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Otras infecciones prolongadas que pueden tratarse en casa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234440"/>
            <a:ext cx="2624328" cy="1325880"/>
          </a:xfrm>
          <a:prstGeom prst="roundRect">
            <a:avLst>
              <a:gd name="adj" fmla="val 5517"/>
            </a:avLst>
          </a:prstGeom>
          <a:solidFill>
            <a:srgbClr val="EEF6F6"/>
          </a:solidFill>
          <a:ln w="6350">
            <a:solidFill>
              <a:srgbClr val="EEF6F6"/>
            </a:solidFill>
            <a:prstDash val="solid"/>
          </a:ln>
        </p:spPr>
      </p:sp>
      <p:sp>
        <p:nvSpPr>
          <p:cNvPr id="6" name="Shape 4"/>
          <p:cNvSpPr/>
          <p:nvPr/>
        </p:nvSpPr>
        <p:spPr>
          <a:xfrm>
            <a:off x="594360" y="1399032"/>
            <a:ext cx="502920" cy="502920"/>
          </a:xfrm>
          <a:prstGeom prst="ellipse">
            <a:avLst/>
          </a:prstGeom>
          <a:solidFill>
            <a:srgbClr val="F26B4E"/>
          </a:solidFill>
          <a:ln w="19050">
            <a:solidFill>
              <a:srgbClr val="F26B4E"/>
            </a:solidFill>
            <a:prstDash val="solid"/>
          </a:ln>
        </p:spPr>
      </p:sp>
      <p:pic>
        <p:nvPicPr>
          <p:cNvPr id="7" name="Image 0" descr="preencoded.png">    </p:cNvPr>
          <p:cNvPicPr>
            <a:picLocks noChangeAspect="1"/>
          </p:cNvPicPr>
          <p:nvPr/>
        </p:nvPicPr>
        <p:blipFill>
          <a:blip r:embed="rId1"/>
          <a:stretch>
            <a:fillRect/>
          </a:stretch>
        </p:blipFill>
        <p:spPr>
          <a:xfrm>
            <a:off x="720090" y="1524762"/>
            <a:ext cx="251460" cy="251460"/>
          </a:xfrm>
          <a:prstGeom prst="rect">
            <a:avLst/>
          </a:prstGeom>
        </p:spPr>
      </p:pic>
      <p:sp>
        <p:nvSpPr>
          <p:cNvPr id="8" name="Text 5"/>
          <p:cNvSpPr txBox="1"/>
          <p:nvPr/>
        </p:nvSpPr>
        <p:spPr>
          <a:xfrm>
            <a:off x="1207008" y="1371600"/>
            <a:ext cx="1783080" cy="548640"/>
          </a:xfrm>
          <a:prstGeom prst="rect">
            <a:avLst/>
          </a:prstGeom>
          <a:noFill/>
          <a:ln/>
        </p:spPr>
        <p:txBody>
          <a:bodyPr wrap="square" lIns="0" tIns="0" rIns="0" bIns="0" rtlCol="0" anchor="ctr"/>
          <a:lstStyle/>
          <a:p>
            <a:pPr indent="0" marL="0">
              <a:buNone/>
            </a:pPr>
            <a:r>
              <a:rPr lang="en-US" sz="1250" b="1" dirty="0">
                <a:solidFill>
                  <a:srgbClr val="0B2236"/>
                </a:solidFill>
                <a:latin typeface="Calibri" pitchFamily="34" charset="0"/>
                <a:ea typeface="Calibri" pitchFamily="34" charset="-122"/>
                <a:cs typeface="Calibri" pitchFamily="34" charset="-120"/>
              </a:rPr>
              <a:t>Bacteriemia no complicada</a:t>
            </a:r>
            <a:endParaRPr lang="en-US" sz="1250" dirty="0"/>
          </a:p>
        </p:txBody>
      </p:sp>
      <p:sp>
        <p:nvSpPr>
          <p:cNvPr id="9" name="Text 6"/>
          <p:cNvSpPr txBox="1"/>
          <p:nvPr/>
        </p:nvSpPr>
        <p:spPr>
          <a:xfrm>
            <a:off x="594360" y="1984248"/>
            <a:ext cx="2377440" cy="548640"/>
          </a:xfrm>
          <a:prstGeom prst="rect">
            <a:avLst/>
          </a:prstGeom>
          <a:noFill/>
          <a:ln/>
        </p:spPr>
        <p:txBody>
          <a:bodyPr wrap="square" lIns="0" tIns="0" rIns="0" bIns="0" rtlCol="0" anchor="t"/>
          <a:lstStyle/>
          <a:p>
            <a:pPr indent="0" marL="0">
              <a:buNone/>
            </a:pPr>
            <a:r>
              <a:rPr lang="en-US" sz="1050" dirty="0">
                <a:solidFill>
                  <a:srgbClr val="5F6F7C"/>
                </a:solidFill>
                <a:latin typeface="Calibri" pitchFamily="34" charset="0"/>
                <a:ea typeface="Calibri" pitchFamily="34" charset="-122"/>
                <a:cs typeface="Calibri" pitchFamily="34" charset="-120"/>
              </a:rPr>
              <a:t>7–14 días tras foco controlado y hemocultivos negativos</a:t>
            </a:r>
            <a:endParaRPr lang="en-US" sz="1050" dirty="0"/>
          </a:p>
        </p:txBody>
      </p:sp>
      <p:sp>
        <p:nvSpPr>
          <p:cNvPr id="10" name="Shape 7"/>
          <p:cNvSpPr/>
          <p:nvPr/>
        </p:nvSpPr>
        <p:spPr>
          <a:xfrm>
            <a:off x="3264408" y="1234440"/>
            <a:ext cx="2624328" cy="1325880"/>
          </a:xfrm>
          <a:prstGeom prst="roundRect">
            <a:avLst>
              <a:gd name="adj" fmla="val 5517"/>
            </a:avLst>
          </a:prstGeom>
          <a:solidFill>
            <a:srgbClr val="EEF6F6"/>
          </a:solidFill>
          <a:ln w="6350">
            <a:solidFill>
              <a:srgbClr val="EEF6F6"/>
            </a:solidFill>
            <a:prstDash val="solid"/>
          </a:ln>
        </p:spPr>
      </p:sp>
      <p:sp>
        <p:nvSpPr>
          <p:cNvPr id="11" name="Shape 8"/>
          <p:cNvSpPr/>
          <p:nvPr/>
        </p:nvSpPr>
        <p:spPr>
          <a:xfrm>
            <a:off x="3401568" y="1399032"/>
            <a:ext cx="502920" cy="502920"/>
          </a:xfrm>
          <a:prstGeom prst="ellipse">
            <a:avLst/>
          </a:prstGeom>
          <a:solidFill>
            <a:srgbClr val="F26B4E"/>
          </a:solidFill>
          <a:ln w="19050">
            <a:solidFill>
              <a:srgbClr val="F26B4E"/>
            </a:solidFill>
            <a:prstDash val="solid"/>
          </a:ln>
        </p:spPr>
      </p:sp>
      <p:pic>
        <p:nvPicPr>
          <p:cNvPr id="12" name="Image 1" descr="preencoded.png">    </p:cNvPr>
          <p:cNvPicPr>
            <a:picLocks noChangeAspect="1"/>
          </p:cNvPicPr>
          <p:nvPr/>
        </p:nvPicPr>
        <p:blipFill>
          <a:blip r:embed="rId2"/>
          <a:stretch>
            <a:fillRect/>
          </a:stretch>
        </p:blipFill>
        <p:spPr>
          <a:xfrm>
            <a:off x="3527298" y="1524762"/>
            <a:ext cx="251460" cy="251460"/>
          </a:xfrm>
          <a:prstGeom prst="rect">
            <a:avLst/>
          </a:prstGeom>
        </p:spPr>
      </p:pic>
      <p:sp>
        <p:nvSpPr>
          <p:cNvPr id="13" name="Text 9"/>
          <p:cNvSpPr txBox="1"/>
          <p:nvPr/>
        </p:nvSpPr>
        <p:spPr>
          <a:xfrm>
            <a:off x="4014216" y="1371600"/>
            <a:ext cx="1783080" cy="548640"/>
          </a:xfrm>
          <a:prstGeom prst="rect">
            <a:avLst/>
          </a:prstGeom>
          <a:noFill/>
          <a:ln/>
        </p:spPr>
        <p:txBody>
          <a:bodyPr wrap="square" lIns="0" tIns="0" rIns="0" bIns="0" rtlCol="0" anchor="ctr"/>
          <a:lstStyle/>
          <a:p>
            <a:pPr indent="0" marL="0">
              <a:buNone/>
            </a:pPr>
            <a:r>
              <a:rPr lang="en-US" sz="1250" b="1" dirty="0">
                <a:solidFill>
                  <a:srgbClr val="0B2236"/>
                </a:solidFill>
                <a:latin typeface="Calibri" pitchFamily="34" charset="0"/>
                <a:ea typeface="Calibri" pitchFamily="34" charset="-122"/>
                <a:cs typeface="Calibri" pitchFamily="34" charset="-120"/>
              </a:rPr>
              <a:t>Artritis séptica</a:t>
            </a:r>
            <a:endParaRPr lang="en-US" sz="1250" dirty="0"/>
          </a:p>
        </p:txBody>
      </p:sp>
      <p:sp>
        <p:nvSpPr>
          <p:cNvPr id="14" name="Text 10"/>
          <p:cNvSpPr txBox="1"/>
          <p:nvPr/>
        </p:nvSpPr>
        <p:spPr>
          <a:xfrm>
            <a:off x="3401568" y="1984248"/>
            <a:ext cx="2377440" cy="548640"/>
          </a:xfrm>
          <a:prstGeom prst="rect">
            <a:avLst/>
          </a:prstGeom>
          <a:noFill/>
          <a:ln/>
        </p:spPr>
        <p:txBody>
          <a:bodyPr wrap="square" lIns="0" tIns="0" rIns="0" bIns="0" rtlCol="0" anchor="t"/>
          <a:lstStyle/>
          <a:p>
            <a:pPr indent="0" marL="0">
              <a:buNone/>
            </a:pPr>
            <a:r>
              <a:rPr lang="en-US" sz="1050" dirty="0">
                <a:solidFill>
                  <a:srgbClr val="5F6F7C"/>
                </a:solidFill>
                <a:latin typeface="Calibri" pitchFamily="34" charset="0"/>
                <a:ea typeface="Calibri" pitchFamily="34" charset="-122"/>
                <a:cs typeface="Calibri" pitchFamily="34" charset="-120"/>
              </a:rPr>
              <a:t>2–4 semanas tras drenaje articular</a:t>
            </a:r>
            <a:endParaRPr lang="en-US" sz="1050" dirty="0"/>
          </a:p>
        </p:txBody>
      </p:sp>
      <p:sp>
        <p:nvSpPr>
          <p:cNvPr id="15" name="Shape 11"/>
          <p:cNvSpPr/>
          <p:nvPr/>
        </p:nvSpPr>
        <p:spPr>
          <a:xfrm>
            <a:off x="6071616" y="1234440"/>
            <a:ext cx="2624328" cy="1325880"/>
          </a:xfrm>
          <a:prstGeom prst="roundRect">
            <a:avLst>
              <a:gd name="adj" fmla="val 5517"/>
            </a:avLst>
          </a:prstGeom>
          <a:solidFill>
            <a:srgbClr val="EEF6F6"/>
          </a:solidFill>
          <a:ln w="6350">
            <a:solidFill>
              <a:srgbClr val="EEF6F6"/>
            </a:solidFill>
            <a:prstDash val="solid"/>
          </a:ln>
        </p:spPr>
      </p:sp>
      <p:sp>
        <p:nvSpPr>
          <p:cNvPr id="16" name="Shape 12"/>
          <p:cNvSpPr/>
          <p:nvPr/>
        </p:nvSpPr>
        <p:spPr>
          <a:xfrm>
            <a:off x="6208776" y="1399032"/>
            <a:ext cx="502920" cy="502920"/>
          </a:xfrm>
          <a:prstGeom prst="ellipse">
            <a:avLst/>
          </a:prstGeom>
          <a:solidFill>
            <a:srgbClr val="F26B4E"/>
          </a:solidFill>
          <a:ln w="19050">
            <a:solidFill>
              <a:srgbClr val="F26B4E"/>
            </a:solidFill>
            <a:prstDash val="solid"/>
          </a:ln>
        </p:spPr>
      </p:sp>
      <p:pic>
        <p:nvPicPr>
          <p:cNvPr id="17" name="Image 2" descr="preencoded.png">    </p:cNvPr>
          <p:cNvPicPr>
            <a:picLocks noChangeAspect="1"/>
          </p:cNvPicPr>
          <p:nvPr/>
        </p:nvPicPr>
        <p:blipFill>
          <a:blip r:embed="rId3"/>
          <a:stretch>
            <a:fillRect/>
          </a:stretch>
        </p:blipFill>
        <p:spPr>
          <a:xfrm>
            <a:off x="6334506" y="1524762"/>
            <a:ext cx="251460" cy="251460"/>
          </a:xfrm>
          <a:prstGeom prst="rect">
            <a:avLst/>
          </a:prstGeom>
        </p:spPr>
      </p:pic>
      <p:sp>
        <p:nvSpPr>
          <p:cNvPr id="18" name="Text 13"/>
          <p:cNvSpPr txBox="1"/>
          <p:nvPr/>
        </p:nvSpPr>
        <p:spPr>
          <a:xfrm>
            <a:off x="6821424" y="1371600"/>
            <a:ext cx="1783080" cy="548640"/>
          </a:xfrm>
          <a:prstGeom prst="rect">
            <a:avLst/>
          </a:prstGeom>
          <a:noFill/>
          <a:ln/>
        </p:spPr>
        <p:txBody>
          <a:bodyPr wrap="square" lIns="0" tIns="0" rIns="0" bIns="0" rtlCol="0" anchor="ctr"/>
          <a:lstStyle/>
          <a:p>
            <a:pPr indent="0" marL="0">
              <a:buNone/>
            </a:pPr>
            <a:r>
              <a:rPr lang="en-US" sz="1250" b="1" dirty="0">
                <a:solidFill>
                  <a:srgbClr val="0B2236"/>
                </a:solidFill>
                <a:latin typeface="Calibri" pitchFamily="34" charset="0"/>
                <a:ea typeface="Calibri" pitchFamily="34" charset="-122"/>
                <a:cs typeface="Calibri" pitchFamily="34" charset="-120"/>
              </a:rPr>
              <a:t>Infección de piel y tejidos blandos</a:t>
            </a:r>
            <a:endParaRPr lang="en-US" sz="1250" dirty="0"/>
          </a:p>
        </p:txBody>
      </p:sp>
      <p:sp>
        <p:nvSpPr>
          <p:cNvPr id="19" name="Text 14"/>
          <p:cNvSpPr txBox="1"/>
          <p:nvPr/>
        </p:nvSpPr>
        <p:spPr>
          <a:xfrm>
            <a:off x="6208776" y="1984248"/>
            <a:ext cx="2377440" cy="548640"/>
          </a:xfrm>
          <a:prstGeom prst="rect">
            <a:avLst/>
          </a:prstGeom>
          <a:noFill/>
          <a:ln/>
        </p:spPr>
        <p:txBody>
          <a:bodyPr wrap="square" lIns="0" tIns="0" rIns="0" bIns="0" rtlCol="0" anchor="t"/>
          <a:lstStyle/>
          <a:p>
            <a:pPr indent="0" marL="0">
              <a:buNone/>
            </a:pPr>
            <a:r>
              <a:rPr lang="en-US" sz="1050" dirty="0">
                <a:solidFill>
                  <a:srgbClr val="5F6F7C"/>
                </a:solidFill>
                <a:latin typeface="Calibri" pitchFamily="34" charset="0"/>
                <a:ea typeface="Calibri" pitchFamily="34" charset="-122"/>
                <a:cs typeface="Calibri" pitchFamily="34" charset="-120"/>
              </a:rPr>
              <a:t>5–14 días: celulitis extensa, abscesos drenados</a:t>
            </a:r>
            <a:endParaRPr lang="en-US" sz="1050" dirty="0"/>
          </a:p>
        </p:txBody>
      </p:sp>
      <p:sp>
        <p:nvSpPr>
          <p:cNvPr id="20" name="Shape 15"/>
          <p:cNvSpPr/>
          <p:nvPr/>
        </p:nvSpPr>
        <p:spPr>
          <a:xfrm>
            <a:off x="457200" y="2697480"/>
            <a:ext cx="2624328" cy="1325880"/>
          </a:xfrm>
          <a:prstGeom prst="roundRect">
            <a:avLst>
              <a:gd name="adj" fmla="val 5517"/>
            </a:avLst>
          </a:prstGeom>
          <a:solidFill>
            <a:srgbClr val="EEF6F6"/>
          </a:solidFill>
          <a:ln w="6350">
            <a:solidFill>
              <a:srgbClr val="EEF6F6"/>
            </a:solidFill>
            <a:prstDash val="solid"/>
          </a:ln>
        </p:spPr>
      </p:sp>
      <p:sp>
        <p:nvSpPr>
          <p:cNvPr id="21" name="Shape 16"/>
          <p:cNvSpPr/>
          <p:nvPr/>
        </p:nvSpPr>
        <p:spPr>
          <a:xfrm>
            <a:off x="594360" y="2862072"/>
            <a:ext cx="502920" cy="502920"/>
          </a:xfrm>
          <a:prstGeom prst="ellipse">
            <a:avLst/>
          </a:prstGeom>
          <a:solidFill>
            <a:srgbClr val="F26B4E"/>
          </a:solidFill>
          <a:ln w="19050">
            <a:solidFill>
              <a:srgbClr val="F26B4E"/>
            </a:solidFill>
            <a:prstDash val="solid"/>
          </a:ln>
        </p:spPr>
      </p:sp>
      <p:pic>
        <p:nvPicPr>
          <p:cNvPr id="22" name="Image 3" descr="preencoded.png">    </p:cNvPr>
          <p:cNvPicPr>
            <a:picLocks noChangeAspect="1"/>
          </p:cNvPicPr>
          <p:nvPr/>
        </p:nvPicPr>
        <p:blipFill>
          <a:blip r:embed="rId4"/>
          <a:stretch>
            <a:fillRect/>
          </a:stretch>
        </p:blipFill>
        <p:spPr>
          <a:xfrm>
            <a:off x="720090" y="2987802"/>
            <a:ext cx="251460" cy="251460"/>
          </a:xfrm>
          <a:prstGeom prst="rect">
            <a:avLst/>
          </a:prstGeom>
        </p:spPr>
      </p:pic>
      <p:sp>
        <p:nvSpPr>
          <p:cNvPr id="23" name="Text 17"/>
          <p:cNvSpPr txBox="1"/>
          <p:nvPr/>
        </p:nvSpPr>
        <p:spPr>
          <a:xfrm>
            <a:off x="1207008" y="2834640"/>
            <a:ext cx="1783080" cy="548640"/>
          </a:xfrm>
          <a:prstGeom prst="rect">
            <a:avLst/>
          </a:prstGeom>
          <a:noFill/>
          <a:ln/>
        </p:spPr>
        <p:txBody>
          <a:bodyPr wrap="square" lIns="0" tIns="0" rIns="0" bIns="0" rtlCol="0" anchor="ctr"/>
          <a:lstStyle/>
          <a:p>
            <a:pPr indent="0" marL="0">
              <a:buNone/>
            </a:pPr>
            <a:r>
              <a:rPr lang="en-US" sz="1250" b="1" dirty="0">
                <a:solidFill>
                  <a:srgbClr val="0B2236"/>
                </a:solidFill>
                <a:latin typeface="Calibri" pitchFamily="34" charset="0"/>
                <a:ea typeface="Calibri" pitchFamily="34" charset="-122"/>
                <a:cs typeface="Calibri" pitchFamily="34" charset="-120"/>
              </a:rPr>
              <a:t>Infección de prótesis articular</a:t>
            </a:r>
            <a:endParaRPr lang="en-US" sz="1250" dirty="0"/>
          </a:p>
        </p:txBody>
      </p:sp>
      <p:sp>
        <p:nvSpPr>
          <p:cNvPr id="24" name="Text 18"/>
          <p:cNvSpPr txBox="1"/>
          <p:nvPr/>
        </p:nvSpPr>
        <p:spPr>
          <a:xfrm>
            <a:off x="594360" y="3447288"/>
            <a:ext cx="2377440" cy="548640"/>
          </a:xfrm>
          <a:prstGeom prst="rect">
            <a:avLst/>
          </a:prstGeom>
          <a:noFill/>
          <a:ln/>
        </p:spPr>
        <p:txBody>
          <a:bodyPr wrap="square" lIns="0" tIns="0" rIns="0" bIns="0" rtlCol="0" anchor="t"/>
          <a:lstStyle/>
          <a:p>
            <a:pPr indent="0" marL="0">
              <a:buNone/>
            </a:pPr>
            <a:r>
              <a:rPr lang="en-US" sz="1050" dirty="0">
                <a:solidFill>
                  <a:srgbClr val="5F6F7C"/>
                </a:solidFill>
                <a:latin typeface="Calibri" pitchFamily="34" charset="0"/>
                <a:ea typeface="Calibri" pitchFamily="34" charset="-122"/>
                <a:cs typeface="Calibri" pitchFamily="34" charset="-120"/>
              </a:rPr>
              <a:t>4–6 semanas tras manejo quirúrgico</a:t>
            </a:r>
            <a:endParaRPr lang="en-US" sz="1050" dirty="0"/>
          </a:p>
        </p:txBody>
      </p:sp>
      <p:sp>
        <p:nvSpPr>
          <p:cNvPr id="25" name="Shape 19"/>
          <p:cNvSpPr/>
          <p:nvPr/>
        </p:nvSpPr>
        <p:spPr>
          <a:xfrm>
            <a:off x="3264408" y="2697480"/>
            <a:ext cx="2624328" cy="1325880"/>
          </a:xfrm>
          <a:prstGeom prst="roundRect">
            <a:avLst>
              <a:gd name="adj" fmla="val 5517"/>
            </a:avLst>
          </a:prstGeom>
          <a:solidFill>
            <a:srgbClr val="EEF6F6"/>
          </a:solidFill>
          <a:ln w="6350">
            <a:solidFill>
              <a:srgbClr val="EEF6F6"/>
            </a:solidFill>
            <a:prstDash val="solid"/>
          </a:ln>
        </p:spPr>
      </p:sp>
      <p:sp>
        <p:nvSpPr>
          <p:cNvPr id="26" name="Shape 20"/>
          <p:cNvSpPr/>
          <p:nvPr/>
        </p:nvSpPr>
        <p:spPr>
          <a:xfrm>
            <a:off x="3401568" y="2862072"/>
            <a:ext cx="502920" cy="502920"/>
          </a:xfrm>
          <a:prstGeom prst="ellipse">
            <a:avLst/>
          </a:prstGeom>
          <a:solidFill>
            <a:srgbClr val="F26B4E"/>
          </a:solidFill>
          <a:ln w="19050">
            <a:solidFill>
              <a:srgbClr val="F26B4E"/>
            </a:solidFill>
            <a:prstDash val="solid"/>
          </a:ln>
        </p:spPr>
      </p:sp>
      <p:pic>
        <p:nvPicPr>
          <p:cNvPr id="27" name="Image 4" descr="preencoded.png">    </p:cNvPr>
          <p:cNvPicPr>
            <a:picLocks noChangeAspect="1"/>
          </p:cNvPicPr>
          <p:nvPr/>
        </p:nvPicPr>
        <p:blipFill>
          <a:blip r:embed="rId5"/>
          <a:stretch>
            <a:fillRect/>
          </a:stretch>
        </p:blipFill>
        <p:spPr>
          <a:xfrm>
            <a:off x="3527298" y="2987802"/>
            <a:ext cx="251460" cy="251460"/>
          </a:xfrm>
          <a:prstGeom prst="rect">
            <a:avLst/>
          </a:prstGeom>
        </p:spPr>
      </p:pic>
      <p:sp>
        <p:nvSpPr>
          <p:cNvPr id="28" name="Text 21"/>
          <p:cNvSpPr txBox="1"/>
          <p:nvPr/>
        </p:nvSpPr>
        <p:spPr>
          <a:xfrm>
            <a:off x="4014216" y="2834640"/>
            <a:ext cx="1783080" cy="548640"/>
          </a:xfrm>
          <a:prstGeom prst="rect">
            <a:avLst/>
          </a:prstGeom>
          <a:noFill/>
          <a:ln/>
        </p:spPr>
        <p:txBody>
          <a:bodyPr wrap="square" lIns="0" tIns="0" rIns="0" bIns="0" rtlCol="0" anchor="ctr"/>
          <a:lstStyle/>
          <a:p>
            <a:pPr indent="0" marL="0">
              <a:buNone/>
            </a:pPr>
            <a:r>
              <a:rPr lang="en-US" sz="1250" b="1" dirty="0">
                <a:solidFill>
                  <a:srgbClr val="0B2236"/>
                </a:solidFill>
                <a:latin typeface="Calibri" pitchFamily="34" charset="0"/>
                <a:ea typeface="Calibri" pitchFamily="34" charset="-122"/>
                <a:cs typeface="Calibri" pitchFamily="34" charset="-120"/>
              </a:rPr>
              <a:t>Infección intraabdominal drenada</a:t>
            </a:r>
            <a:endParaRPr lang="en-US" sz="1250" dirty="0"/>
          </a:p>
        </p:txBody>
      </p:sp>
      <p:sp>
        <p:nvSpPr>
          <p:cNvPr id="29" name="Text 22"/>
          <p:cNvSpPr txBox="1"/>
          <p:nvPr/>
        </p:nvSpPr>
        <p:spPr>
          <a:xfrm>
            <a:off x="3401568" y="3447288"/>
            <a:ext cx="2377440" cy="548640"/>
          </a:xfrm>
          <a:prstGeom prst="rect">
            <a:avLst/>
          </a:prstGeom>
          <a:noFill/>
          <a:ln/>
        </p:spPr>
        <p:txBody>
          <a:bodyPr wrap="square" lIns="0" tIns="0" rIns="0" bIns="0" rtlCol="0" anchor="t"/>
          <a:lstStyle/>
          <a:p>
            <a:pPr indent="0" marL="0">
              <a:buNone/>
            </a:pPr>
            <a:r>
              <a:rPr lang="en-US" sz="1050" dirty="0">
                <a:solidFill>
                  <a:srgbClr val="5F6F7C"/>
                </a:solidFill>
                <a:latin typeface="Calibri" pitchFamily="34" charset="0"/>
                <a:ea typeface="Calibri" pitchFamily="34" charset="-122"/>
                <a:cs typeface="Calibri" pitchFamily="34" charset="-120"/>
              </a:rPr>
              <a:t>7–14 días: abscesos hepáticos o abdominales</a:t>
            </a:r>
            <a:endParaRPr lang="en-US" sz="1050" dirty="0"/>
          </a:p>
        </p:txBody>
      </p:sp>
      <p:sp>
        <p:nvSpPr>
          <p:cNvPr id="30" name="Shape 23"/>
          <p:cNvSpPr/>
          <p:nvPr/>
        </p:nvSpPr>
        <p:spPr>
          <a:xfrm>
            <a:off x="6071616" y="2697480"/>
            <a:ext cx="2624328" cy="1325880"/>
          </a:xfrm>
          <a:prstGeom prst="roundRect">
            <a:avLst>
              <a:gd name="adj" fmla="val 5517"/>
            </a:avLst>
          </a:prstGeom>
          <a:solidFill>
            <a:srgbClr val="EEF6F6"/>
          </a:solidFill>
          <a:ln w="6350">
            <a:solidFill>
              <a:srgbClr val="EEF6F6"/>
            </a:solidFill>
            <a:prstDash val="solid"/>
          </a:ln>
        </p:spPr>
      </p:sp>
      <p:sp>
        <p:nvSpPr>
          <p:cNvPr id="31" name="Shape 24"/>
          <p:cNvSpPr/>
          <p:nvPr/>
        </p:nvSpPr>
        <p:spPr>
          <a:xfrm>
            <a:off x="6208776" y="2862072"/>
            <a:ext cx="502920" cy="502920"/>
          </a:xfrm>
          <a:prstGeom prst="ellipse">
            <a:avLst/>
          </a:prstGeom>
          <a:solidFill>
            <a:srgbClr val="F26B4E"/>
          </a:solidFill>
          <a:ln w="19050">
            <a:solidFill>
              <a:srgbClr val="F26B4E"/>
            </a:solidFill>
            <a:prstDash val="solid"/>
          </a:ln>
        </p:spPr>
      </p:sp>
      <p:pic>
        <p:nvPicPr>
          <p:cNvPr id="32" name="Image 5" descr="preencoded.png">    </p:cNvPr>
          <p:cNvPicPr>
            <a:picLocks noChangeAspect="1"/>
          </p:cNvPicPr>
          <p:nvPr/>
        </p:nvPicPr>
        <p:blipFill>
          <a:blip r:embed="rId6"/>
          <a:stretch>
            <a:fillRect/>
          </a:stretch>
        </p:blipFill>
        <p:spPr>
          <a:xfrm>
            <a:off x="6334506" y="2987802"/>
            <a:ext cx="251460" cy="251460"/>
          </a:xfrm>
          <a:prstGeom prst="rect">
            <a:avLst/>
          </a:prstGeom>
        </p:spPr>
      </p:pic>
      <p:sp>
        <p:nvSpPr>
          <p:cNvPr id="33" name="Text 25"/>
          <p:cNvSpPr txBox="1"/>
          <p:nvPr/>
        </p:nvSpPr>
        <p:spPr>
          <a:xfrm>
            <a:off x="6821424" y="2834640"/>
            <a:ext cx="1783080" cy="548640"/>
          </a:xfrm>
          <a:prstGeom prst="rect">
            <a:avLst/>
          </a:prstGeom>
          <a:noFill/>
          <a:ln/>
        </p:spPr>
        <p:txBody>
          <a:bodyPr wrap="square" lIns="0" tIns="0" rIns="0" bIns="0" rtlCol="0" anchor="ctr"/>
          <a:lstStyle/>
          <a:p>
            <a:pPr indent="0" marL="0">
              <a:buNone/>
            </a:pPr>
            <a:r>
              <a:rPr lang="en-US" sz="1250" b="1" dirty="0">
                <a:solidFill>
                  <a:srgbClr val="0B2236"/>
                </a:solidFill>
                <a:latin typeface="Calibri" pitchFamily="34" charset="0"/>
                <a:ea typeface="Calibri" pitchFamily="34" charset="-122"/>
                <a:cs typeface="Calibri" pitchFamily="34" charset="-120"/>
              </a:rPr>
              <a:t>Otras según infectología</a:t>
            </a:r>
            <a:endParaRPr lang="en-US" sz="1250" dirty="0"/>
          </a:p>
        </p:txBody>
      </p:sp>
      <p:sp>
        <p:nvSpPr>
          <p:cNvPr id="34" name="Text 26"/>
          <p:cNvSpPr txBox="1"/>
          <p:nvPr/>
        </p:nvSpPr>
        <p:spPr>
          <a:xfrm>
            <a:off x="6208776" y="3447288"/>
            <a:ext cx="2377440" cy="548640"/>
          </a:xfrm>
          <a:prstGeom prst="rect">
            <a:avLst/>
          </a:prstGeom>
          <a:noFill/>
          <a:ln/>
        </p:spPr>
        <p:txBody>
          <a:bodyPr wrap="square" lIns="0" tIns="0" rIns="0" bIns="0" rtlCol="0" anchor="t"/>
          <a:lstStyle/>
          <a:p>
            <a:pPr indent="0" marL="0">
              <a:buNone/>
            </a:pPr>
            <a:r>
              <a:rPr lang="en-US" sz="1050" dirty="0">
                <a:solidFill>
                  <a:srgbClr val="5F6F7C"/>
                </a:solidFill>
                <a:latin typeface="Calibri" pitchFamily="34" charset="0"/>
                <a:ea typeface="Calibri" pitchFamily="34" charset="-122"/>
                <a:cs typeface="Calibri" pitchFamily="34" charset="-120"/>
              </a:rPr>
              <a:t>Absceso cerebral en consolidación, espondilodiscitis, entre otras</a:t>
            </a:r>
            <a:endParaRPr lang="en-US" sz="1050" dirty="0"/>
          </a:p>
        </p:txBody>
      </p:sp>
      <p:sp>
        <p:nvSpPr>
          <p:cNvPr id="35" name="Shape 27"/>
          <p:cNvSpPr/>
          <p:nvPr/>
        </p:nvSpPr>
        <p:spPr>
          <a:xfrm>
            <a:off x="457200" y="4251960"/>
            <a:ext cx="8229600" cy="475488"/>
          </a:xfrm>
          <a:prstGeom prst="roundRect">
            <a:avLst>
              <a:gd name="adj" fmla="val 15385"/>
            </a:avLst>
          </a:prstGeom>
          <a:solidFill>
            <a:srgbClr val="EEF6F6"/>
          </a:solidFill>
          <a:ln w="6350">
            <a:solidFill>
              <a:srgbClr val="EEF6F6"/>
            </a:solidFill>
            <a:prstDash val="solid"/>
          </a:ln>
        </p:spPr>
      </p:sp>
      <p:sp>
        <p:nvSpPr>
          <p:cNvPr id="36" name="Text 28"/>
          <p:cNvSpPr txBox="1"/>
          <p:nvPr/>
        </p:nvSpPr>
        <p:spPr>
          <a:xfrm>
            <a:off x="621792" y="4251960"/>
            <a:ext cx="7900416" cy="475488"/>
          </a:xfrm>
          <a:prstGeom prst="rect">
            <a:avLst/>
          </a:prstGeom>
          <a:noFill/>
          <a:ln/>
        </p:spPr>
        <p:txBody>
          <a:bodyPr wrap="square" lIns="0" tIns="0" rIns="0" bIns="0" rtlCol="0" anchor="ctr"/>
          <a:lstStyle/>
          <a:p>
            <a:pPr indent="0" marL="0">
              <a:buNone/>
            </a:pPr>
            <a:r>
              <a:rPr lang="en-US" sz="1150" b="1" dirty="0">
                <a:solidFill>
                  <a:srgbClr val="0E7C86"/>
                </a:solidFill>
                <a:latin typeface="Calibri" pitchFamily="34" charset="0"/>
                <a:ea typeface="Calibri" pitchFamily="34" charset="-122"/>
                <a:cs typeface="Calibri" pitchFamily="34" charset="-120"/>
              </a:rPr>
              <a:t>Cada paquete:  </a:t>
            </a:r>
            <a:pPr indent="0" marL="0">
              <a:buNone/>
            </a:pPr>
            <a:r>
              <a:rPr lang="en-US" sz="1150" dirty="0">
                <a:solidFill>
                  <a:srgbClr val="1D2B36"/>
                </a:solidFill>
                <a:latin typeface="Calibri" pitchFamily="34" charset="0"/>
                <a:ea typeface="Calibri" pitchFamily="34" charset="-122"/>
                <a:cs typeface="Calibri" pitchFamily="34" charset="-120"/>
              </a:rPr>
              <a:t>misma lógica de precio (activación + días × nivel N1/N2/N3) y misma ruta clínica.</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OPERACIÓN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Criterios de elegibilidad del paciente</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2624328" cy="3520440"/>
          </a:xfrm>
          <a:prstGeom prst="roundRect">
            <a:avLst>
              <a:gd name="adj" fmla="val 2787"/>
            </a:avLst>
          </a:prstGeom>
          <a:solidFill>
            <a:srgbClr val="FFFFFF"/>
          </a:solidFill>
          <a:ln w="15875">
            <a:solidFill>
              <a:srgbClr val="0E7C86"/>
            </a:solidFill>
            <a:prstDash val="solid"/>
          </a:ln>
        </p:spPr>
      </p:sp>
      <p:sp>
        <p:nvSpPr>
          <p:cNvPr id="6" name="Text 4"/>
          <p:cNvSpPr txBox="1"/>
          <p:nvPr/>
        </p:nvSpPr>
        <p:spPr>
          <a:xfrm>
            <a:off x="621792" y="1280160"/>
            <a:ext cx="2331720" cy="45720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Clínicos</a:t>
            </a:r>
            <a:endParaRPr lang="en-US" sz="1400" dirty="0"/>
          </a:p>
        </p:txBody>
      </p:sp>
      <p:sp>
        <p:nvSpPr>
          <p:cNvPr id="7" name="Text 5"/>
          <p:cNvSpPr txBox="1"/>
          <p:nvPr/>
        </p:nvSpPr>
        <p:spPr>
          <a:xfrm>
            <a:off x="621792" y="1783080"/>
            <a:ext cx="2331720" cy="2834640"/>
          </a:xfrm>
          <a:prstGeom prst="rect">
            <a:avLst/>
          </a:prstGeom>
          <a:noFill/>
          <a:ln/>
        </p:spPr>
        <p:txBody>
          <a:bodyPr wrap="square" lIns="0" tIns="0" rIns="0" bIns="0" rtlCol="0" anchor="t"/>
          <a:lstStyle/>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Estable hemodinámicamente ≥ 24–48 h</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Foco controlado (drenaje o cirugía si se requería)</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Antibiograma disponible y esquema definido</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Concepto favorable de infectología</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Sin necesidad de monitoreo continuo</a:t>
            </a:r>
            <a:endParaRPr lang="en-US" sz="1150" dirty="0"/>
          </a:p>
        </p:txBody>
      </p:sp>
      <p:sp>
        <p:nvSpPr>
          <p:cNvPr id="8" name="Shape 6"/>
          <p:cNvSpPr/>
          <p:nvPr/>
        </p:nvSpPr>
        <p:spPr>
          <a:xfrm>
            <a:off x="3264408" y="1188720"/>
            <a:ext cx="2624328" cy="3520440"/>
          </a:xfrm>
          <a:prstGeom prst="roundRect">
            <a:avLst>
              <a:gd name="adj" fmla="val 2787"/>
            </a:avLst>
          </a:prstGeom>
          <a:solidFill>
            <a:srgbClr val="FFFFFF"/>
          </a:solidFill>
          <a:ln w="15875">
            <a:solidFill>
              <a:srgbClr val="F26B4E"/>
            </a:solidFill>
            <a:prstDash val="solid"/>
          </a:ln>
        </p:spPr>
      </p:sp>
      <p:sp>
        <p:nvSpPr>
          <p:cNvPr id="9" name="Text 7"/>
          <p:cNvSpPr txBox="1"/>
          <p:nvPr/>
        </p:nvSpPr>
        <p:spPr>
          <a:xfrm>
            <a:off x="3429000" y="1280160"/>
            <a:ext cx="2331720" cy="457200"/>
          </a:xfrm>
          <a:prstGeom prst="rect">
            <a:avLst/>
          </a:prstGeom>
          <a:noFill/>
          <a:ln/>
        </p:spPr>
        <p:txBody>
          <a:bodyPr wrap="square" lIns="0" tIns="0" rIns="0" bIns="0" rtlCol="0" anchor="ctr"/>
          <a:lstStyle/>
          <a:p>
            <a:pPr indent="0" marL="0">
              <a:buNone/>
            </a:pPr>
            <a:r>
              <a:rPr lang="en-US" sz="1400" b="1" dirty="0">
                <a:solidFill>
                  <a:srgbClr val="F26B4E"/>
                </a:solidFill>
                <a:latin typeface="Calibri" pitchFamily="34" charset="0"/>
                <a:ea typeface="Calibri" pitchFamily="34" charset="-122"/>
                <a:cs typeface="Calibri" pitchFamily="34" charset="-120"/>
              </a:rPr>
              <a:t>Domicilio (Res. 3100 de 2019)</a:t>
            </a:r>
            <a:endParaRPr lang="en-US" sz="1400" dirty="0"/>
          </a:p>
        </p:txBody>
      </p:sp>
      <p:sp>
        <p:nvSpPr>
          <p:cNvPr id="10" name="Text 8"/>
          <p:cNvSpPr txBox="1"/>
          <p:nvPr/>
        </p:nvSpPr>
        <p:spPr>
          <a:xfrm>
            <a:off x="3429000" y="1783080"/>
            <a:ext cx="2331720" cy="2834640"/>
          </a:xfrm>
          <a:prstGeom prst="rect">
            <a:avLst/>
          </a:prstGeom>
          <a:noFill/>
          <a:ln/>
        </p:spPr>
        <p:txBody>
          <a:bodyPr wrap="square" lIns="0" tIns="0" rIns="0" bIns="0" rtlCol="0" anchor="t"/>
          <a:lstStyle/>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Servicios públicos: agua, alcantarillado, energía y comunicación</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Unidad sanitaria o baño</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Silla reclinable lavable; cama si el estado de salud lo requiere</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Dentro del área de cobertura del AMB</a:t>
            </a:r>
            <a:endParaRPr lang="en-US" sz="1150" dirty="0"/>
          </a:p>
        </p:txBody>
      </p:sp>
      <p:sp>
        <p:nvSpPr>
          <p:cNvPr id="11" name="Shape 9"/>
          <p:cNvSpPr/>
          <p:nvPr/>
        </p:nvSpPr>
        <p:spPr>
          <a:xfrm>
            <a:off x="6071616" y="1188720"/>
            <a:ext cx="2624328" cy="3520440"/>
          </a:xfrm>
          <a:prstGeom prst="roundRect">
            <a:avLst>
              <a:gd name="adj" fmla="val 2787"/>
            </a:avLst>
          </a:prstGeom>
          <a:solidFill>
            <a:srgbClr val="FFFFFF"/>
          </a:solidFill>
          <a:ln w="15875">
            <a:solidFill>
              <a:srgbClr val="14A3A8"/>
            </a:solidFill>
            <a:prstDash val="solid"/>
          </a:ln>
        </p:spPr>
      </p:sp>
      <p:sp>
        <p:nvSpPr>
          <p:cNvPr id="12" name="Text 10"/>
          <p:cNvSpPr txBox="1"/>
          <p:nvPr/>
        </p:nvSpPr>
        <p:spPr>
          <a:xfrm>
            <a:off x="6236208" y="1280160"/>
            <a:ext cx="2331720" cy="457200"/>
          </a:xfrm>
          <a:prstGeom prst="rect">
            <a:avLst/>
          </a:prstGeom>
          <a:noFill/>
          <a:ln/>
        </p:spPr>
        <p:txBody>
          <a:bodyPr wrap="square" lIns="0" tIns="0" rIns="0" bIns="0" rtlCol="0" anchor="ctr"/>
          <a:lstStyle/>
          <a:p>
            <a:pPr indent="0" marL="0">
              <a:buNone/>
            </a:pPr>
            <a:r>
              <a:rPr lang="en-US" sz="1400" b="1" dirty="0">
                <a:solidFill>
                  <a:srgbClr val="14A3A8"/>
                </a:solidFill>
                <a:latin typeface="Calibri" pitchFamily="34" charset="0"/>
                <a:ea typeface="Calibri" pitchFamily="34" charset="-122"/>
                <a:cs typeface="Calibri" pitchFamily="34" charset="-120"/>
              </a:rPr>
              <a:t>Sociales</a:t>
            </a:r>
            <a:endParaRPr lang="en-US" sz="1400" dirty="0"/>
          </a:p>
        </p:txBody>
      </p:sp>
      <p:sp>
        <p:nvSpPr>
          <p:cNvPr id="13" name="Text 11"/>
          <p:cNvSpPr txBox="1"/>
          <p:nvPr/>
        </p:nvSpPr>
        <p:spPr>
          <a:xfrm>
            <a:off x="6236208" y="1783080"/>
            <a:ext cx="2331720" cy="2834640"/>
          </a:xfrm>
          <a:prstGeom prst="rect">
            <a:avLst/>
          </a:prstGeom>
          <a:noFill/>
          <a:ln/>
        </p:spPr>
        <p:txBody>
          <a:bodyPr wrap="square" lIns="0" tIns="0" rIns="0" bIns="0" rtlCol="0" anchor="t"/>
          <a:lstStyle/>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Cuidador responsable disponible</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Consentimiento informado del paciente</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Capacidad de reconocer signos de alarma</a:t>
            </a:r>
            <a:endParaRPr lang="en-US" sz="1150" dirty="0"/>
          </a:p>
          <a:p>
            <a:pPr marL="165100" indent="-165100">
              <a:spcAft>
                <a:spcPts val="600"/>
              </a:spcAft>
              <a:buSzPct val="100000"/>
              <a:buChar char="•"/>
            </a:pPr>
            <a:r>
              <a:rPr lang="en-US" sz="1150" dirty="0">
                <a:solidFill>
                  <a:srgbClr val="1D2B36"/>
                </a:solidFill>
                <a:latin typeface="Calibri" pitchFamily="34" charset="0"/>
                <a:ea typeface="Calibri" pitchFamily="34" charset="-122"/>
                <a:cs typeface="Calibri" pitchFamily="34" charset="-120"/>
              </a:rPr>
              <a:t>Teléfono para teleconsulta</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OPERACIÓN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Ruta del paciente: de la cama del hospital a la casa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777240" y="1325880"/>
            <a:ext cx="658368" cy="658368"/>
          </a:xfrm>
          <a:prstGeom prst="ellipse">
            <a:avLst/>
          </a:prstGeom>
          <a:solidFill>
            <a:srgbClr val="0E7C86"/>
          </a:solidFill>
          <a:ln w="1905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941832" y="1490472"/>
            <a:ext cx="329184" cy="329184"/>
          </a:xfrm>
          <a:prstGeom prst="rect">
            <a:avLst/>
          </a:prstGeom>
        </p:spPr>
      </p:pic>
      <p:sp>
        <p:nvSpPr>
          <p:cNvPr id="7" name="Shape 4"/>
          <p:cNvSpPr/>
          <p:nvPr/>
        </p:nvSpPr>
        <p:spPr>
          <a:xfrm>
            <a:off x="1481328" y="1655064"/>
            <a:ext cx="676656" cy="914"/>
          </a:xfrm>
          <a:prstGeom prst="line">
            <a:avLst/>
          </a:prstGeom>
          <a:noFill/>
          <a:ln w="25400">
            <a:solidFill>
              <a:srgbClr val="D5E2E4"/>
            </a:solidFill>
            <a:prstDash val="solid"/>
            <a:tailEnd type="triangle"/>
          </a:ln>
        </p:spPr>
      </p:sp>
      <p:sp>
        <p:nvSpPr>
          <p:cNvPr id="8" name="Shape 5"/>
          <p:cNvSpPr/>
          <p:nvPr/>
        </p:nvSpPr>
        <p:spPr>
          <a:xfrm>
            <a:off x="502920" y="1234440"/>
            <a:ext cx="292608" cy="292608"/>
          </a:xfrm>
          <a:prstGeom prst="ellipse">
            <a:avLst/>
          </a:prstGeom>
          <a:solidFill>
            <a:srgbClr val="0B2236"/>
          </a:solidFill>
          <a:ln w="12700">
            <a:solidFill>
              <a:srgbClr val="0B2236"/>
            </a:solidFill>
            <a:prstDash val="solid"/>
          </a:ln>
        </p:spPr>
      </p:sp>
      <p:sp>
        <p:nvSpPr>
          <p:cNvPr id="9" name="Text 6"/>
          <p:cNvSpPr txBox="1"/>
          <p:nvPr/>
        </p:nvSpPr>
        <p:spPr>
          <a:xfrm>
            <a:off x="502920" y="12344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7"/>
          <p:cNvSpPr txBox="1"/>
          <p:nvPr/>
        </p:nvSpPr>
        <p:spPr>
          <a:xfrm>
            <a:off x="457200" y="2103120"/>
            <a:ext cx="1307592" cy="502920"/>
          </a:xfrm>
          <a:prstGeom prst="rect">
            <a:avLst/>
          </a:prstGeom>
          <a:noFill/>
          <a:ln/>
        </p:spPr>
        <p:txBody>
          <a:bodyPr wrap="square" lIns="0" tIns="0" rIns="0" bIns="0" rtlCol="0" anchor="ctr"/>
          <a:lstStyle/>
          <a:p>
            <a:pPr algn="ctr" indent="0" marL="0">
              <a:buNone/>
            </a:pPr>
            <a:r>
              <a:rPr lang="en-US" sz="1200" b="1" dirty="0">
                <a:solidFill>
                  <a:srgbClr val="0B2236"/>
                </a:solidFill>
                <a:latin typeface="Calibri" pitchFamily="34" charset="0"/>
                <a:ea typeface="Calibri" pitchFamily="34" charset="-122"/>
                <a:cs typeface="Calibri" pitchFamily="34" charset="-120"/>
              </a:rPr>
              <a:t>Identificación</a:t>
            </a:r>
            <a:endParaRPr lang="en-US" sz="1200" dirty="0"/>
          </a:p>
        </p:txBody>
      </p:sp>
      <p:sp>
        <p:nvSpPr>
          <p:cNvPr id="11" name="Text 8"/>
          <p:cNvSpPr txBox="1"/>
          <p:nvPr/>
        </p:nvSpPr>
        <p:spPr>
          <a:xfrm>
            <a:off x="457200" y="2606040"/>
            <a:ext cx="1307592" cy="822960"/>
          </a:xfrm>
          <a:prstGeom prst="rect">
            <a:avLst/>
          </a:prstGeom>
          <a:noFill/>
          <a:ln/>
        </p:spPr>
        <p:txBody>
          <a:bodyPr wrap="square" lIns="0" tIns="0" rIns="0" bIns="0" rtlCol="0" anchor="t"/>
          <a:lstStyle/>
          <a:p>
            <a:pPr algn="ctr" indent="0" marL="0">
              <a:buNone/>
            </a:pPr>
            <a:r>
              <a:rPr lang="en-US" sz="1000" dirty="0">
                <a:solidFill>
                  <a:srgbClr val="5F6F7C"/>
                </a:solidFill>
                <a:latin typeface="Calibri" pitchFamily="34" charset="0"/>
                <a:ea typeface="Calibri" pitchFamily="34" charset="-122"/>
                <a:cs typeface="Calibri" pitchFamily="34" charset="-120"/>
              </a:rPr>
              <a:t>La clínica o la EPS reporta un candidato</a:t>
            </a:r>
            <a:endParaRPr lang="en-US" sz="1000" dirty="0"/>
          </a:p>
        </p:txBody>
      </p:sp>
      <p:sp>
        <p:nvSpPr>
          <p:cNvPr id="12" name="Shape 9"/>
          <p:cNvSpPr/>
          <p:nvPr/>
        </p:nvSpPr>
        <p:spPr>
          <a:xfrm>
            <a:off x="2176272" y="1325880"/>
            <a:ext cx="658368" cy="658368"/>
          </a:xfrm>
          <a:prstGeom prst="ellipse">
            <a:avLst/>
          </a:prstGeom>
          <a:solidFill>
            <a:srgbClr val="0E7C86"/>
          </a:solidFill>
          <a:ln w="19050">
            <a:solidFill>
              <a:srgbClr val="0E7C86"/>
            </a:solidFill>
            <a:prstDash val="solid"/>
          </a:ln>
        </p:spPr>
      </p:sp>
      <p:pic>
        <p:nvPicPr>
          <p:cNvPr id="13" name="Image 1" descr="preencoded.png">    </p:cNvPr>
          <p:cNvPicPr>
            <a:picLocks noChangeAspect="1"/>
          </p:cNvPicPr>
          <p:nvPr/>
        </p:nvPicPr>
        <p:blipFill>
          <a:blip r:embed="rId2"/>
          <a:stretch>
            <a:fillRect/>
          </a:stretch>
        </p:blipFill>
        <p:spPr>
          <a:xfrm>
            <a:off x="2340864" y="1490472"/>
            <a:ext cx="329184" cy="329184"/>
          </a:xfrm>
          <a:prstGeom prst="rect">
            <a:avLst/>
          </a:prstGeom>
        </p:spPr>
      </p:pic>
      <p:sp>
        <p:nvSpPr>
          <p:cNvPr id="14" name="Shape 10"/>
          <p:cNvSpPr/>
          <p:nvPr/>
        </p:nvSpPr>
        <p:spPr>
          <a:xfrm>
            <a:off x="2880360" y="1655064"/>
            <a:ext cx="676656" cy="914"/>
          </a:xfrm>
          <a:prstGeom prst="line">
            <a:avLst/>
          </a:prstGeom>
          <a:noFill/>
          <a:ln w="25400">
            <a:solidFill>
              <a:srgbClr val="D5E2E4"/>
            </a:solidFill>
            <a:prstDash val="solid"/>
            <a:tailEnd type="triangle"/>
          </a:ln>
        </p:spPr>
      </p:sp>
      <p:sp>
        <p:nvSpPr>
          <p:cNvPr id="15" name="Shape 11"/>
          <p:cNvSpPr/>
          <p:nvPr/>
        </p:nvSpPr>
        <p:spPr>
          <a:xfrm>
            <a:off x="1901952" y="1234440"/>
            <a:ext cx="292608" cy="292608"/>
          </a:xfrm>
          <a:prstGeom prst="ellipse">
            <a:avLst/>
          </a:prstGeom>
          <a:solidFill>
            <a:srgbClr val="0B2236"/>
          </a:solidFill>
          <a:ln w="12700">
            <a:solidFill>
              <a:srgbClr val="0B2236"/>
            </a:solidFill>
            <a:prstDash val="solid"/>
          </a:ln>
        </p:spPr>
      </p:sp>
      <p:sp>
        <p:nvSpPr>
          <p:cNvPr id="16" name="Text 12"/>
          <p:cNvSpPr txBox="1"/>
          <p:nvPr/>
        </p:nvSpPr>
        <p:spPr>
          <a:xfrm>
            <a:off x="1901952" y="12344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3"/>
          <p:cNvSpPr txBox="1"/>
          <p:nvPr/>
        </p:nvSpPr>
        <p:spPr>
          <a:xfrm>
            <a:off x="1856232" y="2103120"/>
            <a:ext cx="1307592" cy="502920"/>
          </a:xfrm>
          <a:prstGeom prst="rect">
            <a:avLst/>
          </a:prstGeom>
          <a:noFill/>
          <a:ln/>
        </p:spPr>
        <p:txBody>
          <a:bodyPr wrap="square" lIns="0" tIns="0" rIns="0" bIns="0" rtlCol="0" anchor="ctr"/>
          <a:lstStyle/>
          <a:p>
            <a:pPr algn="ctr" indent="0" marL="0">
              <a:buNone/>
            </a:pPr>
            <a:r>
              <a:rPr lang="en-US" sz="1200" b="1" dirty="0">
                <a:solidFill>
                  <a:srgbClr val="0B2236"/>
                </a:solidFill>
                <a:latin typeface="Calibri" pitchFamily="34" charset="0"/>
                <a:ea typeface="Calibri" pitchFamily="34" charset="-122"/>
                <a:cs typeface="Calibri" pitchFamily="34" charset="-120"/>
              </a:rPr>
              <a:t>Valoración DOMUS &lt; 24 h</a:t>
            </a:r>
            <a:endParaRPr lang="en-US" sz="1200" dirty="0"/>
          </a:p>
        </p:txBody>
      </p:sp>
      <p:sp>
        <p:nvSpPr>
          <p:cNvPr id="18" name="Text 14"/>
          <p:cNvSpPr txBox="1"/>
          <p:nvPr/>
        </p:nvSpPr>
        <p:spPr>
          <a:xfrm>
            <a:off x="1856232" y="2606040"/>
            <a:ext cx="1307592" cy="822960"/>
          </a:xfrm>
          <a:prstGeom prst="rect">
            <a:avLst/>
          </a:prstGeom>
          <a:noFill/>
          <a:ln/>
        </p:spPr>
        <p:txBody>
          <a:bodyPr wrap="square" lIns="0" tIns="0" rIns="0" bIns="0" rtlCol="0" anchor="t"/>
          <a:lstStyle/>
          <a:p>
            <a:pPr algn="ctr" indent="0" marL="0">
              <a:buNone/>
            </a:pPr>
            <a:r>
              <a:rPr lang="en-US" sz="1000" dirty="0">
                <a:solidFill>
                  <a:srgbClr val="5F6F7C"/>
                </a:solidFill>
                <a:latin typeface="Calibri" pitchFamily="34" charset="0"/>
                <a:ea typeface="Calibri" pitchFamily="34" charset="-122"/>
                <a:cs typeface="Calibri" pitchFamily="34" charset="-120"/>
              </a:rPr>
              <a:t>Medicina interna + infectología confirman elegibilidad</a:t>
            </a:r>
            <a:endParaRPr lang="en-US" sz="1000" dirty="0"/>
          </a:p>
        </p:txBody>
      </p:sp>
      <p:sp>
        <p:nvSpPr>
          <p:cNvPr id="19" name="Shape 15"/>
          <p:cNvSpPr/>
          <p:nvPr/>
        </p:nvSpPr>
        <p:spPr>
          <a:xfrm>
            <a:off x="3575304" y="1325880"/>
            <a:ext cx="658368" cy="658368"/>
          </a:xfrm>
          <a:prstGeom prst="ellipse">
            <a:avLst/>
          </a:prstGeom>
          <a:solidFill>
            <a:srgbClr val="0E7C86"/>
          </a:solidFill>
          <a:ln w="19050">
            <a:solidFill>
              <a:srgbClr val="0E7C86"/>
            </a:solidFill>
            <a:prstDash val="solid"/>
          </a:ln>
        </p:spPr>
      </p:sp>
      <p:pic>
        <p:nvPicPr>
          <p:cNvPr id="20" name="Image 2" descr="preencoded.png">    </p:cNvPr>
          <p:cNvPicPr>
            <a:picLocks noChangeAspect="1"/>
          </p:cNvPicPr>
          <p:nvPr/>
        </p:nvPicPr>
        <p:blipFill>
          <a:blip r:embed="rId3"/>
          <a:stretch>
            <a:fillRect/>
          </a:stretch>
        </p:blipFill>
        <p:spPr>
          <a:xfrm>
            <a:off x="3739896" y="1490472"/>
            <a:ext cx="329184" cy="329184"/>
          </a:xfrm>
          <a:prstGeom prst="rect">
            <a:avLst/>
          </a:prstGeom>
        </p:spPr>
      </p:pic>
      <p:sp>
        <p:nvSpPr>
          <p:cNvPr id="21" name="Shape 16"/>
          <p:cNvSpPr/>
          <p:nvPr/>
        </p:nvSpPr>
        <p:spPr>
          <a:xfrm>
            <a:off x="4279392" y="1655064"/>
            <a:ext cx="676656" cy="914"/>
          </a:xfrm>
          <a:prstGeom prst="line">
            <a:avLst/>
          </a:prstGeom>
          <a:noFill/>
          <a:ln w="25400">
            <a:solidFill>
              <a:srgbClr val="D5E2E4"/>
            </a:solidFill>
            <a:prstDash val="solid"/>
            <a:tailEnd type="triangle"/>
          </a:ln>
        </p:spPr>
      </p:sp>
      <p:sp>
        <p:nvSpPr>
          <p:cNvPr id="22" name="Shape 17"/>
          <p:cNvSpPr/>
          <p:nvPr/>
        </p:nvSpPr>
        <p:spPr>
          <a:xfrm>
            <a:off x="3300984" y="1234440"/>
            <a:ext cx="292608" cy="292608"/>
          </a:xfrm>
          <a:prstGeom prst="ellipse">
            <a:avLst/>
          </a:prstGeom>
          <a:solidFill>
            <a:srgbClr val="0B2236"/>
          </a:solidFill>
          <a:ln w="12700">
            <a:solidFill>
              <a:srgbClr val="0B2236"/>
            </a:solidFill>
            <a:prstDash val="solid"/>
          </a:ln>
        </p:spPr>
      </p:sp>
      <p:sp>
        <p:nvSpPr>
          <p:cNvPr id="23" name="Text 18"/>
          <p:cNvSpPr txBox="1"/>
          <p:nvPr/>
        </p:nvSpPr>
        <p:spPr>
          <a:xfrm>
            <a:off x="3300984" y="12344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19"/>
          <p:cNvSpPr txBox="1"/>
          <p:nvPr/>
        </p:nvSpPr>
        <p:spPr>
          <a:xfrm>
            <a:off x="3255264" y="2103120"/>
            <a:ext cx="1307592" cy="502920"/>
          </a:xfrm>
          <a:prstGeom prst="rect">
            <a:avLst/>
          </a:prstGeom>
          <a:noFill/>
          <a:ln/>
        </p:spPr>
        <p:txBody>
          <a:bodyPr wrap="square" lIns="0" tIns="0" rIns="0" bIns="0" rtlCol="0" anchor="ctr"/>
          <a:lstStyle/>
          <a:p>
            <a:pPr algn="ctr" indent="0" marL="0">
              <a:buNone/>
            </a:pPr>
            <a:r>
              <a:rPr lang="en-US" sz="1200" b="1" dirty="0">
                <a:solidFill>
                  <a:srgbClr val="0B2236"/>
                </a:solidFill>
                <a:latin typeface="Calibri" pitchFamily="34" charset="0"/>
                <a:ea typeface="Calibri" pitchFamily="34" charset="-122"/>
                <a:cs typeface="Calibri" pitchFamily="34" charset="-120"/>
              </a:rPr>
              <a:t>Autorización</a:t>
            </a:r>
            <a:endParaRPr lang="en-US" sz="1200" dirty="0"/>
          </a:p>
        </p:txBody>
      </p:sp>
      <p:sp>
        <p:nvSpPr>
          <p:cNvPr id="25" name="Text 20"/>
          <p:cNvSpPr txBox="1"/>
          <p:nvPr/>
        </p:nvSpPr>
        <p:spPr>
          <a:xfrm>
            <a:off x="3255264" y="2606040"/>
            <a:ext cx="1307592" cy="822960"/>
          </a:xfrm>
          <a:prstGeom prst="rect">
            <a:avLst/>
          </a:prstGeom>
          <a:noFill/>
          <a:ln/>
        </p:spPr>
        <p:txBody>
          <a:bodyPr wrap="square" lIns="0" tIns="0" rIns="0" bIns="0" rtlCol="0" anchor="t"/>
          <a:lstStyle/>
          <a:p>
            <a:pPr algn="ctr" indent="0" marL="0">
              <a:buNone/>
            </a:pPr>
            <a:r>
              <a:rPr lang="en-US" sz="1000" dirty="0">
                <a:solidFill>
                  <a:srgbClr val="5F6F7C"/>
                </a:solidFill>
                <a:latin typeface="Calibri" pitchFamily="34" charset="0"/>
                <a:ea typeface="Calibri" pitchFamily="34" charset="-122"/>
                <a:cs typeface="Calibri" pitchFamily="34" charset="-120"/>
              </a:rPr>
              <a:t>El pagador autoriza el paquete y el nivel</a:t>
            </a:r>
            <a:endParaRPr lang="en-US" sz="1000" dirty="0"/>
          </a:p>
        </p:txBody>
      </p:sp>
      <p:sp>
        <p:nvSpPr>
          <p:cNvPr id="26" name="Shape 21"/>
          <p:cNvSpPr/>
          <p:nvPr/>
        </p:nvSpPr>
        <p:spPr>
          <a:xfrm>
            <a:off x="4974336" y="1325880"/>
            <a:ext cx="658368" cy="658368"/>
          </a:xfrm>
          <a:prstGeom prst="ellipse">
            <a:avLst/>
          </a:prstGeom>
          <a:solidFill>
            <a:srgbClr val="0E7C86"/>
          </a:solidFill>
          <a:ln w="19050">
            <a:solidFill>
              <a:srgbClr val="0E7C86"/>
            </a:solidFill>
            <a:prstDash val="solid"/>
          </a:ln>
        </p:spPr>
      </p:sp>
      <p:pic>
        <p:nvPicPr>
          <p:cNvPr id="27" name="Image 3" descr="preencoded.png">    </p:cNvPr>
          <p:cNvPicPr>
            <a:picLocks noChangeAspect="1"/>
          </p:cNvPicPr>
          <p:nvPr/>
        </p:nvPicPr>
        <p:blipFill>
          <a:blip r:embed="rId4"/>
          <a:stretch>
            <a:fillRect/>
          </a:stretch>
        </p:blipFill>
        <p:spPr>
          <a:xfrm>
            <a:off x="5138928" y="1490472"/>
            <a:ext cx="329184" cy="329184"/>
          </a:xfrm>
          <a:prstGeom prst="rect">
            <a:avLst/>
          </a:prstGeom>
        </p:spPr>
      </p:pic>
      <p:sp>
        <p:nvSpPr>
          <p:cNvPr id="28" name="Shape 22"/>
          <p:cNvSpPr/>
          <p:nvPr/>
        </p:nvSpPr>
        <p:spPr>
          <a:xfrm>
            <a:off x="5678424" y="1655064"/>
            <a:ext cx="676656" cy="914"/>
          </a:xfrm>
          <a:prstGeom prst="line">
            <a:avLst/>
          </a:prstGeom>
          <a:noFill/>
          <a:ln w="25400">
            <a:solidFill>
              <a:srgbClr val="D5E2E4"/>
            </a:solidFill>
            <a:prstDash val="solid"/>
            <a:tailEnd type="triangle"/>
          </a:ln>
        </p:spPr>
      </p:sp>
      <p:sp>
        <p:nvSpPr>
          <p:cNvPr id="29" name="Shape 23"/>
          <p:cNvSpPr/>
          <p:nvPr/>
        </p:nvSpPr>
        <p:spPr>
          <a:xfrm>
            <a:off x="4700016" y="1234440"/>
            <a:ext cx="292608" cy="292608"/>
          </a:xfrm>
          <a:prstGeom prst="ellipse">
            <a:avLst/>
          </a:prstGeom>
          <a:solidFill>
            <a:srgbClr val="0B2236"/>
          </a:solidFill>
          <a:ln w="12700">
            <a:solidFill>
              <a:srgbClr val="0B2236"/>
            </a:solidFill>
            <a:prstDash val="solid"/>
          </a:ln>
        </p:spPr>
      </p:sp>
      <p:sp>
        <p:nvSpPr>
          <p:cNvPr id="30" name="Text 24"/>
          <p:cNvSpPr txBox="1"/>
          <p:nvPr/>
        </p:nvSpPr>
        <p:spPr>
          <a:xfrm>
            <a:off x="4700016" y="12344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5"/>
          <p:cNvSpPr txBox="1"/>
          <p:nvPr/>
        </p:nvSpPr>
        <p:spPr>
          <a:xfrm>
            <a:off x="4654296" y="2103120"/>
            <a:ext cx="1307592" cy="502920"/>
          </a:xfrm>
          <a:prstGeom prst="rect">
            <a:avLst/>
          </a:prstGeom>
          <a:noFill/>
          <a:ln/>
        </p:spPr>
        <p:txBody>
          <a:bodyPr wrap="square" lIns="0" tIns="0" rIns="0" bIns="0" rtlCol="0" anchor="ctr"/>
          <a:lstStyle/>
          <a:p>
            <a:pPr algn="ctr" indent="0" marL="0">
              <a:buNone/>
            </a:pPr>
            <a:r>
              <a:rPr lang="en-US" sz="1200" b="1" dirty="0">
                <a:solidFill>
                  <a:srgbClr val="0B2236"/>
                </a:solidFill>
                <a:latin typeface="Calibri" pitchFamily="34" charset="0"/>
                <a:ea typeface="Calibri" pitchFamily="34" charset="-122"/>
                <a:cs typeface="Calibri" pitchFamily="34" charset="-120"/>
              </a:rPr>
              <a:t>Acceso vascular</a:t>
            </a:r>
            <a:endParaRPr lang="en-US" sz="1200" dirty="0"/>
          </a:p>
        </p:txBody>
      </p:sp>
      <p:sp>
        <p:nvSpPr>
          <p:cNvPr id="32" name="Text 26"/>
          <p:cNvSpPr txBox="1"/>
          <p:nvPr/>
        </p:nvSpPr>
        <p:spPr>
          <a:xfrm>
            <a:off x="4654296" y="2606040"/>
            <a:ext cx="1307592" cy="822960"/>
          </a:xfrm>
          <a:prstGeom prst="rect">
            <a:avLst/>
          </a:prstGeom>
          <a:noFill/>
          <a:ln/>
        </p:spPr>
        <p:txBody>
          <a:bodyPr wrap="square" lIns="0" tIns="0" rIns="0" bIns="0" rtlCol="0" anchor="t"/>
          <a:lstStyle/>
          <a:p>
            <a:pPr algn="ctr" indent="0" marL="0">
              <a:buNone/>
            </a:pPr>
            <a:r>
              <a:rPr lang="en-US" sz="1000" dirty="0">
                <a:solidFill>
                  <a:srgbClr val="5F6F7C"/>
                </a:solidFill>
                <a:latin typeface="Calibri" pitchFamily="34" charset="0"/>
                <a:ea typeface="Calibri" pitchFamily="34" charset="-122"/>
                <a:cs typeface="Calibri" pitchFamily="34" charset="-120"/>
              </a:rPr>
              <a:t>Midline o PICC y primera dosis antes del egreso</a:t>
            </a:r>
            <a:endParaRPr lang="en-US" sz="1000" dirty="0"/>
          </a:p>
        </p:txBody>
      </p:sp>
      <p:sp>
        <p:nvSpPr>
          <p:cNvPr id="33" name="Shape 27"/>
          <p:cNvSpPr/>
          <p:nvPr/>
        </p:nvSpPr>
        <p:spPr>
          <a:xfrm>
            <a:off x="6373368" y="1325880"/>
            <a:ext cx="658368" cy="658368"/>
          </a:xfrm>
          <a:prstGeom prst="ellipse">
            <a:avLst/>
          </a:prstGeom>
          <a:solidFill>
            <a:srgbClr val="F26B4E"/>
          </a:solidFill>
          <a:ln w="19050">
            <a:solidFill>
              <a:srgbClr val="F26B4E"/>
            </a:solidFill>
            <a:prstDash val="solid"/>
          </a:ln>
        </p:spPr>
      </p:sp>
      <p:pic>
        <p:nvPicPr>
          <p:cNvPr id="34" name="Image 4" descr="preencoded.png">    </p:cNvPr>
          <p:cNvPicPr>
            <a:picLocks noChangeAspect="1"/>
          </p:cNvPicPr>
          <p:nvPr/>
        </p:nvPicPr>
        <p:blipFill>
          <a:blip r:embed="rId5"/>
          <a:stretch>
            <a:fillRect/>
          </a:stretch>
        </p:blipFill>
        <p:spPr>
          <a:xfrm>
            <a:off x="6537960" y="1490472"/>
            <a:ext cx="329184" cy="329184"/>
          </a:xfrm>
          <a:prstGeom prst="rect">
            <a:avLst/>
          </a:prstGeom>
        </p:spPr>
      </p:pic>
      <p:sp>
        <p:nvSpPr>
          <p:cNvPr id="35" name="Shape 28"/>
          <p:cNvSpPr/>
          <p:nvPr/>
        </p:nvSpPr>
        <p:spPr>
          <a:xfrm>
            <a:off x="7077456" y="1655064"/>
            <a:ext cx="676656" cy="914"/>
          </a:xfrm>
          <a:prstGeom prst="line">
            <a:avLst/>
          </a:prstGeom>
          <a:noFill/>
          <a:ln w="25400">
            <a:solidFill>
              <a:srgbClr val="D5E2E4"/>
            </a:solidFill>
            <a:prstDash val="solid"/>
            <a:tailEnd type="triangle"/>
          </a:ln>
        </p:spPr>
      </p:sp>
      <p:sp>
        <p:nvSpPr>
          <p:cNvPr id="36" name="Shape 29"/>
          <p:cNvSpPr/>
          <p:nvPr/>
        </p:nvSpPr>
        <p:spPr>
          <a:xfrm>
            <a:off x="6099048" y="1234440"/>
            <a:ext cx="292608" cy="292608"/>
          </a:xfrm>
          <a:prstGeom prst="ellipse">
            <a:avLst/>
          </a:prstGeom>
          <a:solidFill>
            <a:srgbClr val="0B2236"/>
          </a:solidFill>
          <a:ln w="12700">
            <a:solidFill>
              <a:srgbClr val="0B2236"/>
            </a:solidFill>
            <a:prstDash val="solid"/>
          </a:ln>
        </p:spPr>
      </p:sp>
      <p:sp>
        <p:nvSpPr>
          <p:cNvPr id="37" name="Text 30"/>
          <p:cNvSpPr txBox="1"/>
          <p:nvPr/>
        </p:nvSpPr>
        <p:spPr>
          <a:xfrm>
            <a:off x="6099048" y="12344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8" name="Text 31"/>
          <p:cNvSpPr txBox="1"/>
          <p:nvPr/>
        </p:nvSpPr>
        <p:spPr>
          <a:xfrm>
            <a:off x="6053328" y="2103120"/>
            <a:ext cx="1307592" cy="502920"/>
          </a:xfrm>
          <a:prstGeom prst="rect">
            <a:avLst/>
          </a:prstGeom>
          <a:noFill/>
          <a:ln/>
        </p:spPr>
        <p:txBody>
          <a:bodyPr wrap="square" lIns="0" tIns="0" rIns="0" bIns="0" rtlCol="0" anchor="ctr"/>
          <a:lstStyle/>
          <a:p>
            <a:pPr algn="ctr" indent="0" marL="0">
              <a:buNone/>
            </a:pPr>
            <a:r>
              <a:rPr lang="en-US" sz="1200" b="1" dirty="0">
                <a:solidFill>
                  <a:srgbClr val="0B2236"/>
                </a:solidFill>
                <a:latin typeface="Calibri" pitchFamily="34" charset="0"/>
                <a:ea typeface="Calibri" pitchFamily="34" charset="-122"/>
                <a:cs typeface="Calibri" pitchFamily="34" charset="-120"/>
              </a:rPr>
              <a:t>Tratamiento en casa</a:t>
            </a:r>
            <a:endParaRPr lang="en-US" sz="1200" dirty="0"/>
          </a:p>
        </p:txBody>
      </p:sp>
      <p:sp>
        <p:nvSpPr>
          <p:cNvPr id="39" name="Text 32"/>
          <p:cNvSpPr txBox="1"/>
          <p:nvPr/>
        </p:nvSpPr>
        <p:spPr>
          <a:xfrm>
            <a:off x="6053328" y="2606040"/>
            <a:ext cx="1307592" cy="822960"/>
          </a:xfrm>
          <a:prstGeom prst="rect">
            <a:avLst/>
          </a:prstGeom>
          <a:noFill/>
          <a:ln/>
        </p:spPr>
        <p:txBody>
          <a:bodyPr wrap="square" lIns="0" tIns="0" rIns="0" bIns="0" rtlCol="0" anchor="t"/>
          <a:lstStyle/>
          <a:p>
            <a:pPr algn="ctr" indent="0" marL="0">
              <a:buNone/>
            </a:pPr>
            <a:r>
              <a:rPr lang="en-US" sz="1000" dirty="0">
                <a:solidFill>
                  <a:srgbClr val="5F6F7C"/>
                </a:solidFill>
                <a:latin typeface="Calibri" pitchFamily="34" charset="0"/>
                <a:ea typeface="Calibri" pitchFamily="34" charset="-122"/>
                <a:cs typeface="Calibri" pitchFamily="34" charset="-120"/>
              </a:rPr>
              <a:t>Aplicación, visitas, laboratorios y teleconsulta</a:t>
            </a:r>
            <a:endParaRPr lang="en-US" sz="1000" dirty="0"/>
          </a:p>
        </p:txBody>
      </p:sp>
      <p:sp>
        <p:nvSpPr>
          <p:cNvPr id="40" name="Shape 33"/>
          <p:cNvSpPr/>
          <p:nvPr/>
        </p:nvSpPr>
        <p:spPr>
          <a:xfrm>
            <a:off x="7772400" y="1325880"/>
            <a:ext cx="658368" cy="658368"/>
          </a:xfrm>
          <a:prstGeom prst="ellipse">
            <a:avLst/>
          </a:prstGeom>
          <a:solidFill>
            <a:srgbClr val="0E7C86"/>
          </a:solidFill>
          <a:ln w="19050">
            <a:solidFill>
              <a:srgbClr val="0E7C86"/>
            </a:solidFill>
            <a:prstDash val="solid"/>
          </a:ln>
        </p:spPr>
      </p:sp>
      <p:pic>
        <p:nvPicPr>
          <p:cNvPr id="41" name="Image 5" descr="preencoded.png">    </p:cNvPr>
          <p:cNvPicPr>
            <a:picLocks noChangeAspect="1"/>
          </p:cNvPicPr>
          <p:nvPr/>
        </p:nvPicPr>
        <p:blipFill>
          <a:blip r:embed="rId6"/>
          <a:stretch>
            <a:fillRect/>
          </a:stretch>
        </p:blipFill>
        <p:spPr>
          <a:xfrm>
            <a:off x="7936992" y="1490472"/>
            <a:ext cx="329184" cy="329184"/>
          </a:xfrm>
          <a:prstGeom prst="rect">
            <a:avLst/>
          </a:prstGeom>
        </p:spPr>
      </p:pic>
      <p:sp>
        <p:nvSpPr>
          <p:cNvPr id="42" name="Shape 34"/>
          <p:cNvSpPr/>
          <p:nvPr/>
        </p:nvSpPr>
        <p:spPr>
          <a:xfrm>
            <a:off x="7498080" y="1234440"/>
            <a:ext cx="292608" cy="292608"/>
          </a:xfrm>
          <a:prstGeom prst="ellipse">
            <a:avLst/>
          </a:prstGeom>
          <a:solidFill>
            <a:srgbClr val="0B2236"/>
          </a:solidFill>
          <a:ln w="12700">
            <a:solidFill>
              <a:srgbClr val="0B2236"/>
            </a:solidFill>
            <a:prstDash val="solid"/>
          </a:ln>
        </p:spPr>
      </p:sp>
      <p:sp>
        <p:nvSpPr>
          <p:cNvPr id="43" name="Text 35"/>
          <p:cNvSpPr txBox="1"/>
          <p:nvPr/>
        </p:nvSpPr>
        <p:spPr>
          <a:xfrm>
            <a:off x="7498080" y="12344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4" name="Text 36"/>
          <p:cNvSpPr txBox="1"/>
          <p:nvPr/>
        </p:nvSpPr>
        <p:spPr>
          <a:xfrm>
            <a:off x="7452360" y="2103120"/>
            <a:ext cx="1307592" cy="502920"/>
          </a:xfrm>
          <a:prstGeom prst="rect">
            <a:avLst/>
          </a:prstGeom>
          <a:noFill/>
          <a:ln/>
        </p:spPr>
        <p:txBody>
          <a:bodyPr wrap="square" lIns="0" tIns="0" rIns="0" bIns="0" rtlCol="0" anchor="ctr"/>
          <a:lstStyle/>
          <a:p>
            <a:pPr algn="ctr" indent="0" marL="0">
              <a:buNone/>
            </a:pPr>
            <a:r>
              <a:rPr lang="en-US" sz="1200" b="1" dirty="0">
                <a:solidFill>
                  <a:srgbClr val="0B2236"/>
                </a:solidFill>
                <a:latin typeface="Calibri" pitchFamily="34" charset="0"/>
                <a:ea typeface="Calibri" pitchFamily="34" charset="-122"/>
                <a:cs typeface="Calibri" pitchFamily="34" charset="-120"/>
              </a:rPr>
              <a:t>Egreso</a:t>
            </a:r>
            <a:endParaRPr lang="en-US" sz="1200" dirty="0"/>
          </a:p>
        </p:txBody>
      </p:sp>
      <p:sp>
        <p:nvSpPr>
          <p:cNvPr id="45" name="Text 37"/>
          <p:cNvSpPr txBox="1"/>
          <p:nvPr/>
        </p:nvSpPr>
        <p:spPr>
          <a:xfrm>
            <a:off x="7452360" y="2606040"/>
            <a:ext cx="1307592" cy="822960"/>
          </a:xfrm>
          <a:prstGeom prst="rect">
            <a:avLst/>
          </a:prstGeom>
          <a:noFill/>
          <a:ln/>
        </p:spPr>
        <p:txBody>
          <a:bodyPr wrap="square" lIns="0" tIns="0" rIns="0" bIns="0" rtlCol="0" anchor="t"/>
          <a:lstStyle/>
          <a:p>
            <a:pPr algn="ctr" indent="0" marL="0">
              <a:buNone/>
            </a:pPr>
            <a:r>
              <a:rPr lang="en-US" sz="1000" dirty="0">
                <a:solidFill>
                  <a:srgbClr val="5F6F7C"/>
                </a:solidFill>
                <a:latin typeface="Calibri" pitchFamily="34" charset="0"/>
                <a:ea typeface="Calibri" pitchFamily="34" charset="-122"/>
                <a:cs typeface="Calibri" pitchFamily="34" charset="-120"/>
              </a:rPr>
              <a:t>Fin del antibiótico, retiro del catéter e informe</a:t>
            </a:r>
            <a:endParaRPr lang="en-US" sz="1000" dirty="0"/>
          </a:p>
        </p:txBody>
      </p:sp>
      <p:sp>
        <p:nvSpPr>
          <p:cNvPr id="46" name="Shape 38"/>
          <p:cNvSpPr/>
          <p:nvPr/>
        </p:nvSpPr>
        <p:spPr>
          <a:xfrm>
            <a:off x="457200" y="3657600"/>
            <a:ext cx="8229600" cy="1005840"/>
          </a:xfrm>
          <a:prstGeom prst="roundRect">
            <a:avLst>
              <a:gd name="adj" fmla="val 7273"/>
            </a:avLst>
          </a:prstGeom>
          <a:solidFill>
            <a:srgbClr val="FDF1EC"/>
          </a:solidFill>
          <a:ln w="6350">
            <a:solidFill>
              <a:srgbClr val="FDF1EC"/>
            </a:solidFill>
            <a:prstDash val="solid"/>
          </a:ln>
        </p:spPr>
      </p:sp>
      <p:sp>
        <p:nvSpPr>
          <p:cNvPr id="47" name="Text 39"/>
          <p:cNvSpPr txBox="1"/>
          <p:nvPr/>
        </p:nvSpPr>
        <p:spPr>
          <a:xfrm>
            <a:off x="621792" y="3657600"/>
            <a:ext cx="7900416" cy="1005840"/>
          </a:xfrm>
          <a:prstGeom prst="rect">
            <a:avLst/>
          </a:prstGeom>
          <a:noFill/>
          <a:ln/>
        </p:spPr>
        <p:txBody>
          <a:bodyPr wrap="square" lIns="0" tIns="0" rIns="0" bIns="0" rtlCol="0" anchor="ctr"/>
          <a:lstStyle/>
          <a:p>
            <a:pPr indent="0" marL="0">
              <a:buNone/>
            </a:pPr>
            <a:r>
              <a:rPr lang="en-US" sz="1250" b="1" dirty="0">
                <a:solidFill>
                  <a:srgbClr val="F26B4E"/>
                </a:solidFill>
                <a:latin typeface="Calibri" pitchFamily="34" charset="0"/>
                <a:ea typeface="Calibri" pitchFamily="34" charset="-122"/>
                <a:cs typeface="Calibri" pitchFamily="34" charset="-120"/>
              </a:rPr>
              <a:t>Salida de seguridad:  </a:t>
            </a:r>
            <a:pPr indent="0" marL="0">
              <a:buNone/>
            </a:pPr>
            <a:r>
              <a:rPr lang="en-US" sz="1250" dirty="0">
                <a:solidFill>
                  <a:srgbClr val="1D2B36"/>
                </a:solidFill>
                <a:latin typeface="Calibri" pitchFamily="34" charset="0"/>
                <a:ea typeface="Calibri" pitchFamily="34" charset="-122"/>
                <a:cs typeface="Calibri" pitchFamily="34" charset="-120"/>
              </a:rPr>
              <a:t>si hay deterioro clínico, reacción adversa o complicación del catéter, el paciente regresa con prioridad a la clínica de origen según protocolo acordado en el contrato.</a:t>
            </a:r>
            <a:endParaRPr lang="en-US" sz="12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OPERACIÓN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Monitoreo clínico: medicina general + medicina interna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3840480"/>
                <a:gridCol w="164592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Componente</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Frecuencia</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Responsable</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r>
              <a:tr h="45720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Aplicación del antibiótico y revisión del catéter</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Cada dosis (1–3 al día según nivel) o cambio de bomba elastomérica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Enfermería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41148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Signos vitales y escala de alarma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En cada visita; registro en la aplicación</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Enfermería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41148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Visita de medicina general</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2–3 veces por semana y por demanda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Medicina general</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41148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Control y ajuste del tratamiento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Semanal (presencial o teleconsulta) y ante alarma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Medicina interna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54864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Laboratorios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Hemograma, creatinina y PCR semanales; niveles de vancomicina si aplica; CPK con daptomicina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Laboratorio aliado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457200">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Revisión del esquema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Al ingreso, ante cambios y para decidir paso a vía oral</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Infectología (consultor)</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8404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Línea de alarma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24/7</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Médico de turno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OPERACIÓN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Seguridad y calidad: indicadores que medimos</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234440"/>
            <a:ext cx="1965960" cy="1600200"/>
          </a:xfrm>
          <a:prstGeom prst="roundRect">
            <a:avLst>
              <a:gd name="adj" fmla="val 4571"/>
            </a:avLst>
          </a:prstGeom>
          <a:solidFill>
            <a:srgbClr val="EEF6F6"/>
          </a:solidFill>
          <a:ln w="6350">
            <a:solidFill>
              <a:srgbClr val="EEF6F6"/>
            </a:solidFill>
            <a:prstDash val="solid"/>
          </a:ln>
        </p:spPr>
      </p:sp>
      <p:sp>
        <p:nvSpPr>
          <p:cNvPr id="6" name="Shape 4"/>
          <p:cNvSpPr/>
          <p:nvPr/>
        </p:nvSpPr>
        <p:spPr>
          <a:xfrm>
            <a:off x="1115568" y="1399032"/>
            <a:ext cx="640080" cy="640080"/>
          </a:xfrm>
          <a:prstGeom prst="ellipse">
            <a:avLst/>
          </a:prstGeom>
          <a:solidFill>
            <a:srgbClr val="F26B4E"/>
          </a:solidFill>
          <a:ln w="19050">
            <a:solidFill>
              <a:srgbClr val="F26B4E"/>
            </a:solidFill>
            <a:prstDash val="solid"/>
          </a:ln>
        </p:spPr>
      </p:sp>
      <p:pic>
        <p:nvPicPr>
          <p:cNvPr id="7" name="Image 0" descr="preencoded.png">    </p:cNvPr>
          <p:cNvPicPr>
            <a:picLocks noChangeAspect="1"/>
          </p:cNvPicPr>
          <p:nvPr/>
        </p:nvPicPr>
        <p:blipFill>
          <a:blip r:embed="rId1"/>
          <a:stretch>
            <a:fillRect/>
          </a:stretch>
        </p:blipFill>
        <p:spPr>
          <a:xfrm>
            <a:off x="1275588" y="1559052"/>
            <a:ext cx="320040" cy="320040"/>
          </a:xfrm>
          <a:prstGeom prst="rect">
            <a:avLst/>
          </a:prstGeom>
        </p:spPr>
      </p:pic>
      <p:sp>
        <p:nvSpPr>
          <p:cNvPr id="8" name="Text 5"/>
          <p:cNvSpPr txBox="1"/>
          <p:nvPr/>
        </p:nvSpPr>
        <p:spPr>
          <a:xfrm>
            <a:off x="548640" y="2103120"/>
            <a:ext cx="1783080" cy="685800"/>
          </a:xfrm>
          <a:prstGeom prst="rect">
            <a:avLst/>
          </a:prstGeom>
          <a:noFill/>
          <a:ln/>
        </p:spPr>
        <p:txBody>
          <a:bodyPr wrap="square" lIns="0" tIns="0" rIns="0" bIns="0" rtlCol="0" anchor="t"/>
          <a:lstStyle/>
          <a:p>
            <a:pPr algn="ctr" indent="0" marL="0">
              <a:buNone/>
            </a:pPr>
            <a:r>
              <a:rPr lang="en-US" sz="1100" b="1" dirty="0">
                <a:solidFill>
                  <a:srgbClr val="0B2236"/>
                </a:solidFill>
                <a:latin typeface="Calibri" pitchFamily="34" charset="0"/>
                <a:ea typeface="Calibri" pitchFamily="34" charset="-122"/>
                <a:cs typeface="Calibri" pitchFamily="34" charset="-120"/>
              </a:rPr>
              <a:t>Reingreso hospitalario a 30 días</a:t>
            </a:r>
            <a:endParaRPr lang="en-US" sz="1100" dirty="0"/>
          </a:p>
        </p:txBody>
      </p:sp>
      <p:sp>
        <p:nvSpPr>
          <p:cNvPr id="9" name="Shape 6"/>
          <p:cNvSpPr/>
          <p:nvPr/>
        </p:nvSpPr>
        <p:spPr>
          <a:xfrm>
            <a:off x="2560320" y="1234440"/>
            <a:ext cx="1965960" cy="1600200"/>
          </a:xfrm>
          <a:prstGeom prst="roundRect">
            <a:avLst>
              <a:gd name="adj" fmla="val 4571"/>
            </a:avLst>
          </a:prstGeom>
          <a:solidFill>
            <a:srgbClr val="EEF6F6"/>
          </a:solidFill>
          <a:ln w="6350">
            <a:solidFill>
              <a:srgbClr val="EEF6F6"/>
            </a:solidFill>
            <a:prstDash val="solid"/>
          </a:ln>
        </p:spPr>
      </p:sp>
      <p:sp>
        <p:nvSpPr>
          <p:cNvPr id="10" name="Shape 7"/>
          <p:cNvSpPr/>
          <p:nvPr/>
        </p:nvSpPr>
        <p:spPr>
          <a:xfrm>
            <a:off x="3218688" y="1399032"/>
            <a:ext cx="640080" cy="640080"/>
          </a:xfrm>
          <a:prstGeom prst="ellipse">
            <a:avLst/>
          </a:prstGeom>
          <a:solidFill>
            <a:srgbClr val="F26B4E"/>
          </a:solidFill>
          <a:ln w="19050">
            <a:solidFill>
              <a:srgbClr val="F26B4E"/>
            </a:solidFill>
            <a:prstDash val="solid"/>
          </a:ln>
        </p:spPr>
      </p:sp>
      <p:pic>
        <p:nvPicPr>
          <p:cNvPr id="11" name="Image 1" descr="preencoded.png">    </p:cNvPr>
          <p:cNvPicPr>
            <a:picLocks noChangeAspect="1"/>
          </p:cNvPicPr>
          <p:nvPr/>
        </p:nvPicPr>
        <p:blipFill>
          <a:blip r:embed="rId2"/>
          <a:stretch>
            <a:fillRect/>
          </a:stretch>
        </p:blipFill>
        <p:spPr>
          <a:xfrm>
            <a:off x="3378708" y="1559052"/>
            <a:ext cx="320040" cy="320040"/>
          </a:xfrm>
          <a:prstGeom prst="rect">
            <a:avLst/>
          </a:prstGeom>
        </p:spPr>
      </p:pic>
      <p:sp>
        <p:nvSpPr>
          <p:cNvPr id="12" name="Text 8"/>
          <p:cNvSpPr txBox="1"/>
          <p:nvPr/>
        </p:nvSpPr>
        <p:spPr>
          <a:xfrm>
            <a:off x="2651760" y="2103120"/>
            <a:ext cx="1783080" cy="685800"/>
          </a:xfrm>
          <a:prstGeom prst="rect">
            <a:avLst/>
          </a:prstGeom>
          <a:noFill/>
          <a:ln/>
        </p:spPr>
        <p:txBody>
          <a:bodyPr wrap="square" lIns="0" tIns="0" rIns="0" bIns="0" rtlCol="0" anchor="t"/>
          <a:lstStyle/>
          <a:p>
            <a:pPr algn="ctr" indent="0" marL="0">
              <a:buNone/>
            </a:pPr>
            <a:r>
              <a:rPr lang="en-US" sz="1100" b="1" dirty="0">
                <a:solidFill>
                  <a:srgbClr val="0B2236"/>
                </a:solidFill>
                <a:latin typeface="Calibri" pitchFamily="34" charset="0"/>
                <a:ea typeface="Calibri" pitchFamily="34" charset="-122"/>
                <a:cs typeface="Calibri" pitchFamily="34" charset="-120"/>
              </a:rPr>
              <a:t>Complicaciones del catéter: infección, trombosis, oclusión</a:t>
            </a:r>
            <a:endParaRPr lang="en-US" sz="1100" dirty="0"/>
          </a:p>
        </p:txBody>
      </p:sp>
      <p:sp>
        <p:nvSpPr>
          <p:cNvPr id="13" name="Shape 9"/>
          <p:cNvSpPr/>
          <p:nvPr/>
        </p:nvSpPr>
        <p:spPr>
          <a:xfrm>
            <a:off x="4663440" y="1234440"/>
            <a:ext cx="1965960" cy="1600200"/>
          </a:xfrm>
          <a:prstGeom prst="roundRect">
            <a:avLst>
              <a:gd name="adj" fmla="val 4571"/>
            </a:avLst>
          </a:prstGeom>
          <a:solidFill>
            <a:srgbClr val="EEF6F6"/>
          </a:solidFill>
          <a:ln w="6350">
            <a:solidFill>
              <a:srgbClr val="EEF6F6"/>
            </a:solidFill>
            <a:prstDash val="solid"/>
          </a:ln>
        </p:spPr>
      </p:sp>
      <p:sp>
        <p:nvSpPr>
          <p:cNvPr id="14" name="Shape 10"/>
          <p:cNvSpPr/>
          <p:nvPr/>
        </p:nvSpPr>
        <p:spPr>
          <a:xfrm>
            <a:off x="5321808" y="1399032"/>
            <a:ext cx="640080" cy="640080"/>
          </a:xfrm>
          <a:prstGeom prst="ellipse">
            <a:avLst/>
          </a:prstGeom>
          <a:solidFill>
            <a:srgbClr val="2E9E6A"/>
          </a:solidFill>
          <a:ln w="19050">
            <a:solidFill>
              <a:srgbClr val="2E9E6A"/>
            </a:solidFill>
            <a:prstDash val="solid"/>
          </a:ln>
        </p:spPr>
      </p:sp>
      <p:pic>
        <p:nvPicPr>
          <p:cNvPr id="15" name="Image 2" descr="preencoded.png">    </p:cNvPr>
          <p:cNvPicPr>
            <a:picLocks noChangeAspect="1"/>
          </p:cNvPicPr>
          <p:nvPr/>
        </p:nvPicPr>
        <p:blipFill>
          <a:blip r:embed="rId3"/>
          <a:stretch>
            <a:fillRect/>
          </a:stretch>
        </p:blipFill>
        <p:spPr>
          <a:xfrm>
            <a:off x="5481828" y="1559052"/>
            <a:ext cx="320040" cy="320040"/>
          </a:xfrm>
          <a:prstGeom prst="rect">
            <a:avLst/>
          </a:prstGeom>
        </p:spPr>
      </p:pic>
      <p:sp>
        <p:nvSpPr>
          <p:cNvPr id="16" name="Text 11"/>
          <p:cNvSpPr txBox="1"/>
          <p:nvPr/>
        </p:nvSpPr>
        <p:spPr>
          <a:xfrm>
            <a:off x="4754880" y="2103120"/>
            <a:ext cx="1783080" cy="685800"/>
          </a:xfrm>
          <a:prstGeom prst="rect">
            <a:avLst/>
          </a:prstGeom>
          <a:noFill/>
          <a:ln/>
        </p:spPr>
        <p:txBody>
          <a:bodyPr wrap="square" lIns="0" tIns="0" rIns="0" bIns="0" rtlCol="0" anchor="t"/>
          <a:lstStyle/>
          <a:p>
            <a:pPr algn="ctr" indent="0" marL="0">
              <a:buNone/>
            </a:pPr>
            <a:r>
              <a:rPr lang="en-US" sz="1100" b="1" dirty="0">
                <a:solidFill>
                  <a:srgbClr val="0B2236"/>
                </a:solidFill>
                <a:latin typeface="Calibri" pitchFamily="34" charset="0"/>
                <a:ea typeface="Calibri" pitchFamily="34" charset="-122"/>
                <a:cs typeface="Calibri" pitchFamily="34" charset="-120"/>
              </a:rPr>
              <a:t>Tratamientos completados según plan</a:t>
            </a:r>
            <a:endParaRPr lang="en-US" sz="1100" dirty="0"/>
          </a:p>
        </p:txBody>
      </p:sp>
      <p:sp>
        <p:nvSpPr>
          <p:cNvPr id="17" name="Shape 12"/>
          <p:cNvSpPr/>
          <p:nvPr/>
        </p:nvSpPr>
        <p:spPr>
          <a:xfrm>
            <a:off x="6766560" y="1234440"/>
            <a:ext cx="1965960" cy="1600200"/>
          </a:xfrm>
          <a:prstGeom prst="roundRect">
            <a:avLst>
              <a:gd name="adj" fmla="val 4571"/>
            </a:avLst>
          </a:prstGeom>
          <a:solidFill>
            <a:srgbClr val="EEF6F6"/>
          </a:solidFill>
          <a:ln w="6350">
            <a:solidFill>
              <a:srgbClr val="EEF6F6"/>
            </a:solidFill>
            <a:prstDash val="solid"/>
          </a:ln>
        </p:spPr>
      </p:sp>
      <p:sp>
        <p:nvSpPr>
          <p:cNvPr id="18" name="Shape 13"/>
          <p:cNvSpPr/>
          <p:nvPr/>
        </p:nvSpPr>
        <p:spPr>
          <a:xfrm>
            <a:off x="7424928" y="1399032"/>
            <a:ext cx="640080" cy="640080"/>
          </a:xfrm>
          <a:prstGeom prst="ellipse">
            <a:avLst/>
          </a:prstGeom>
          <a:solidFill>
            <a:srgbClr val="E9A23B"/>
          </a:solidFill>
          <a:ln w="19050">
            <a:solidFill>
              <a:srgbClr val="E9A23B"/>
            </a:solidFill>
            <a:prstDash val="solid"/>
          </a:ln>
        </p:spPr>
      </p:sp>
      <p:pic>
        <p:nvPicPr>
          <p:cNvPr id="19" name="Image 3" descr="preencoded.png">    </p:cNvPr>
          <p:cNvPicPr>
            <a:picLocks noChangeAspect="1"/>
          </p:cNvPicPr>
          <p:nvPr/>
        </p:nvPicPr>
        <p:blipFill>
          <a:blip r:embed="rId4"/>
          <a:stretch>
            <a:fillRect/>
          </a:stretch>
        </p:blipFill>
        <p:spPr>
          <a:xfrm>
            <a:off x="7584948" y="1559052"/>
            <a:ext cx="320040" cy="320040"/>
          </a:xfrm>
          <a:prstGeom prst="rect">
            <a:avLst/>
          </a:prstGeom>
        </p:spPr>
      </p:pic>
      <p:sp>
        <p:nvSpPr>
          <p:cNvPr id="20" name="Text 14"/>
          <p:cNvSpPr txBox="1"/>
          <p:nvPr/>
        </p:nvSpPr>
        <p:spPr>
          <a:xfrm>
            <a:off x="6858000" y="2103120"/>
            <a:ext cx="1783080" cy="685800"/>
          </a:xfrm>
          <a:prstGeom prst="rect">
            <a:avLst/>
          </a:prstGeom>
          <a:noFill/>
          <a:ln/>
        </p:spPr>
        <p:txBody>
          <a:bodyPr wrap="square" lIns="0" tIns="0" rIns="0" bIns="0" rtlCol="0" anchor="t"/>
          <a:lstStyle/>
          <a:p>
            <a:pPr algn="ctr" indent="0" marL="0">
              <a:buNone/>
            </a:pPr>
            <a:r>
              <a:rPr lang="en-US" sz="1100" b="1" dirty="0">
                <a:solidFill>
                  <a:srgbClr val="0B2236"/>
                </a:solidFill>
                <a:latin typeface="Calibri" pitchFamily="34" charset="0"/>
                <a:ea typeface="Calibri" pitchFamily="34" charset="-122"/>
                <a:cs typeface="Calibri" pitchFamily="34" charset="-120"/>
              </a:rPr>
              <a:t>Eventos adversos al antibiótico</a:t>
            </a:r>
            <a:endParaRPr lang="en-US" sz="1100" dirty="0"/>
          </a:p>
        </p:txBody>
      </p:sp>
      <p:sp>
        <p:nvSpPr>
          <p:cNvPr id="21" name="Shape 15"/>
          <p:cNvSpPr/>
          <p:nvPr/>
        </p:nvSpPr>
        <p:spPr>
          <a:xfrm>
            <a:off x="457200" y="2971800"/>
            <a:ext cx="1965960" cy="1600200"/>
          </a:xfrm>
          <a:prstGeom prst="roundRect">
            <a:avLst>
              <a:gd name="adj" fmla="val 4571"/>
            </a:avLst>
          </a:prstGeom>
          <a:solidFill>
            <a:srgbClr val="EEF6F6"/>
          </a:solidFill>
          <a:ln w="6350">
            <a:solidFill>
              <a:srgbClr val="EEF6F6"/>
            </a:solidFill>
            <a:prstDash val="solid"/>
          </a:ln>
        </p:spPr>
      </p:sp>
      <p:sp>
        <p:nvSpPr>
          <p:cNvPr id="22" name="Shape 16"/>
          <p:cNvSpPr/>
          <p:nvPr/>
        </p:nvSpPr>
        <p:spPr>
          <a:xfrm>
            <a:off x="1115568" y="3136392"/>
            <a:ext cx="640080" cy="640080"/>
          </a:xfrm>
          <a:prstGeom prst="ellipse">
            <a:avLst/>
          </a:prstGeom>
          <a:solidFill>
            <a:srgbClr val="0E7C86"/>
          </a:solidFill>
          <a:ln w="19050">
            <a:solidFill>
              <a:srgbClr val="0E7C86"/>
            </a:solidFill>
            <a:prstDash val="solid"/>
          </a:ln>
        </p:spPr>
      </p:sp>
      <p:pic>
        <p:nvPicPr>
          <p:cNvPr id="23" name="Image 4" descr="preencoded.png">    </p:cNvPr>
          <p:cNvPicPr>
            <a:picLocks noChangeAspect="1"/>
          </p:cNvPicPr>
          <p:nvPr/>
        </p:nvPicPr>
        <p:blipFill>
          <a:blip r:embed="rId5"/>
          <a:stretch>
            <a:fillRect/>
          </a:stretch>
        </p:blipFill>
        <p:spPr>
          <a:xfrm>
            <a:off x="1275588" y="3296412"/>
            <a:ext cx="320040" cy="320040"/>
          </a:xfrm>
          <a:prstGeom prst="rect">
            <a:avLst/>
          </a:prstGeom>
        </p:spPr>
      </p:pic>
      <p:sp>
        <p:nvSpPr>
          <p:cNvPr id="24" name="Text 17"/>
          <p:cNvSpPr txBox="1"/>
          <p:nvPr/>
        </p:nvSpPr>
        <p:spPr>
          <a:xfrm>
            <a:off x="548640" y="3840480"/>
            <a:ext cx="1783080" cy="685800"/>
          </a:xfrm>
          <a:prstGeom prst="rect">
            <a:avLst/>
          </a:prstGeom>
          <a:noFill/>
          <a:ln/>
        </p:spPr>
        <p:txBody>
          <a:bodyPr wrap="square" lIns="0" tIns="0" rIns="0" bIns="0" rtlCol="0" anchor="t"/>
          <a:lstStyle/>
          <a:p>
            <a:pPr algn="ctr" indent="0" marL="0">
              <a:buNone/>
            </a:pPr>
            <a:r>
              <a:rPr lang="en-US" sz="1100" b="1" dirty="0">
                <a:solidFill>
                  <a:srgbClr val="0B2236"/>
                </a:solidFill>
                <a:latin typeface="Calibri" pitchFamily="34" charset="0"/>
                <a:ea typeface="Calibri" pitchFamily="34" charset="-122"/>
                <a:cs typeface="Calibri" pitchFamily="34" charset="-120"/>
              </a:rPr>
              <a:t>Tiempo de respuesta a alarmas</a:t>
            </a:r>
            <a:endParaRPr lang="en-US" sz="1100" dirty="0"/>
          </a:p>
        </p:txBody>
      </p:sp>
      <p:sp>
        <p:nvSpPr>
          <p:cNvPr id="25" name="Shape 18"/>
          <p:cNvSpPr/>
          <p:nvPr/>
        </p:nvSpPr>
        <p:spPr>
          <a:xfrm>
            <a:off x="2560320" y="2971800"/>
            <a:ext cx="1965960" cy="1600200"/>
          </a:xfrm>
          <a:prstGeom prst="roundRect">
            <a:avLst>
              <a:gd name="adj" fmla="val 4571"/>
            </a:avLst>
          </a:prstGeom>
          <a:solidFill>
            <a:srgbClr val="EEF6F6"/>
          </a:solidFill>
          <a:ln w="6350">
            <a:solidFill>
              <a:srgbClr val="EEF6F6"/>
            </a:solidFill>
            <a:prstDash val="solid"/>
          </a:ln>
        </p:spPr>
      </p:sp>
      <p:sp>
        <p:nvSpPr>
          <p:cNvPr id="26" name="Shape 19"/>
          <p:cNvSpPr/>
          <p:nvPr/>
        </p:nvSpPr>
        <p:spPr>
          <a:xfrm>
            <a:off x="3218688" y="3136392"/>
            <a:ext cx="640080" cy="640080"/>
          </a:xfrm>
          <a:prstGeom prst="ellipse">
            <a:avLst/>
          </a:prstGeom>
          <a:solidFill>
            <a:srgbClr val="2E9E6A"/>
          </a:solidFill>
          <a:ln w="19050">
            <a:solidFill>
              <a:srgbClr val="2E9E6A"/>
            </a:solidFill>
            <a:prstDash val="solid"/>
          </a:ln>
        </p:spPr>
      </p:sp>
      <p:pic>
        <p:nvPicPr>
          <p:cNvPr id="27" name="Image 5" descr="preencoded.png">    </p:cNvPr>
          <p:cNvPicPr>
            <a:picLocks noChangeAspect="1"/>
          </p:cNvPicPr>
          <p:nvPr/>
        </p:nvPicPr>
        <p:blipFill>
          <a:blip r:embed="rId6"/>
          <a:stretch>
            <a:fillRect/>
          </a:stretch>
        </p:blipFill>
        <p:spPr>
          <a:xfrm>
            <a:off x="3378708" y="3296412"/>
            <a:ext cx="320040" cy="320040"/>
          </a:xfrm>
          <a:prstGeom prst="rect">
            <a:avLst/>
          </a:prstGeom>
        </p:spPr>
      </p:pic>
      <p:sp>
        <p:nvSpPr>
          <p:cNvPr id="28" name="Text 20"/>
          <p:cNvSpPr txBox="1"/>
          <p:nvPr/>
        </p:nvSpPr>
        <p:spPr>
          <a:xfrm>
            <a:off x="2651760" y="3840480"/>
            <a:ext cx="1783080" cy="685800"/>
          </a:xfrm>
          <a:prstGeom prst="rect">
            <a:avLst/>
          </a:prstGeom>
          <a:noFill/>
          <a:ln/>
        </p:spPr>
        <p:txBody>
          <a:bodyPr wrap="square" lIns="0" tIns="0" rIns="0" bIns="0" rtlCol="0" anchor="t"/>
          <a:lstStyle/>
          <a:p>
            <a:pPr algn="ctr" indent="0" marL="0">
              <a:buNone/>
            </a:pPr>
            <a:r>
              <a:rPr lang="en-US" sz="1100" b="1" dirty="0">
                <a:solidFill>
                  <a:srgbClr val="0B2236"/>
                </a:solidFill>
                <a:latin typeface="Calibri" pitchFamily="34" charset="0"/>
                <a:ea typeface="Calibri" pitchFamily="34" charset="-122"/>
                <a:cs typeface="Calibri" pitchFamily="34" charset="-120"/>
              </a:rPr>
              <a:t>Días-cama liberados por paciente y por pagador</a:t>
            </a:r>
            <a:endParaRPr lang="en-US" sz="1100" dirty="0"/>
          </a:p>
        </p:txBody>
      </p:sp>
      <p:sp>
        <p:nvSpPr>
          <p:cNvPr id="29" name="Shape 21"/>
          <p:cNvSpPr/>
          <p:nvPr/>
        </p:nvSpPr>
        <p:spPr>
          <a:xfrm>
            <a:off x="4663440" y="2971800"/>
            <a:ext cx="1965960" cy="1600200"/>
          </a:xfrm>
          <a:prstGeom prst="roundRect">
            <a:avLst>
              <a:gd name="adj" fmla="val 4571"/>
            </a:avLst>
          </a:prstGeom>
          <a:solidFill>
            <a:srgbClr val="EEF6F6"/>
          </a:solidFill>
          <a:ln w="6350">
            <a:solidFill>
              <a:srgbClr val="EEF6F6"/>
            </a:solidFill>
            <a:prstDash val="solid"/>
          </a:ln>
        </p:spPr>
      </p:sp>
      <p:sp>
        <p:nvSpPr>
          <p:cNvPr id="30" name="Shape 22"/>
          <p:cNvSpPr/>
          <p:nvPr/>
        </p:nvSpPr>
        <p:spPr>
          <a:xfrm>
            <a:off x="5321808" y="3136392"/>
            <a:ext cx="640080" cy="640080"/>
          </a:xfrm>
          <a:prstGeom prst="ellipse">
            <a:avLst/>
          </a:prstGeom>
          <a:solidFill>
            <a:srgbClr val="0E7C86"/>
          </a:solidFill>
          <a:ln w="19050">
            <a:solidFill>
              <a:srgbClr val="0E7C86"/>
            </a:solidFill>
            <a:prstDash val="solid"/>
          </a:ln>
        </p:spPr>
      </p:sp>
      <p:pic>
        <p:nvPicPr>
          <p:cNvPr id="31" name="Image 6" descr="preencoded.png">    </p:cNvPr>
          <p:cNvPicPr>
            <a:picLocks noChangeAspect="1"/>
          </p:cNvPicPr>
          <p:nvPr/>
        </p:nvPicPr>
        <p:blipFill>
          <a:blip r:embed="rId7"/>
          <a:stretch>
            <a:fillRect/>
          </a:stretch>
        </p:blipFill>
        <p:spPr>
          <a:xfrm>
            <a:off x="5481828" y="3296412"/>
            <a:ext cx="320040" cy="320040"/>
          </a:xfrm>
          <a:prstGeom prst="rect">
            <a:avLst/>
          </a:prstGeom>
        </p:spPr>
      </p:pic>
      <p:sp>
        <p:nvSpPr>
          <p:cNvPr id="32" name="Text 23"/>
          <p:cNvSpPr txBox="1"/>
          <p:nvPr/>
        </p:nvSpPr>
        <p:spPr>
          <a:xfrm>
            <a:off x="4754880" y="3840480"/>
            <a:ext cx="1783080" cy="685800"/>
          </a:xfrm>
          <a:prstGeom prst="rect">
            <a:avLst/>
          </a:prstGeom>
          <a:noFill/>
          <a:ln/>
        </p:spPr>
        <p:txBody>
          <a:bodyPr wrap="square" lIns="0" tIns="0" rIns="0" bIns="0" rtlCol="0" anchor="t"/>
          <a:lstStyle/>
          <a:p>
            <a:pPr algn="ctr" indent="0" marL="0">
              <a:buNone/>
            </a:pPr>
            <a:r>
              <a:rPr lang="en-US" sz="1100" b="1" dirty="0">
                <a:solidFill>
                  <a:srgbClr val="0B2236"/>
                </a:solidFill>
                <a:latin typeface="Calibri" pitchFamily="34" charset="0"/>
                <a:ea typeface="Calibri" pitchFamily="34" charset="-122"/>
                <a:cs typeface="Calibri" pitchFamily="34" charset="-120"/>
              </a:rPr>
              <a:t>Satisfacción del paciente y la familia</a:t>
            </a:r>
            <a:endParaRPr lang="en-US" sz="1100" dirty="0"/>
          </a:p>
        </p:txBody>
      </p:sp>
      <p:sp>
        <p:nvSpPr>
          <p:cNvPr id="33" name="Shape 24"/>
          <p:cNvSpPr/>
          <p:nvPr/>
        </p:nvSpPr>
        <p:spPr>
          <a:xfrm>
            <a:off x="6766560" y="2971800"/>
            <a:ext cx="1965960" cy="1600200"/>
          </a:xfrm>
          <a:prstGeom prst="roundRect">
            <a:avLst>
              <a:gd name="adj" fmla="val 4571"/>
            </a:avLst>
          </a:prstGeom>
          <a:solidFill>
            <a:srgbClr val="EEF6F6"/>
          </a:solidFill>
          <a:ln w="6350">
            <a:solidFill>
              <a:srgbClr val="EEF6F6"/>
            </a:solidFill>
            <a:prstDash val="solid"/>
          </a:ln>
        </p:spPr>
      </p:sp>
      <p:sp>
        <p:nvSpPr>
          <p:cNvPr id="34" name="Shape 25"/>
          <p:cNvSpPr/>
          <p:nvPr/>
        </p:nvSpPr>
        <p:spPr>
          <a:xfrm>
            <a:off x="7424928" y="3136392"/>
            <a:ext cx="640080" cy="640080"/>
          </a:xfrm>
          <a:prstGeom prst="ellipse">
            <a:avLst/>
          </a:prstGeom>
          <a:solidFill>
            <a:srgbClr val="2E9E6A"/>
          </a:solidFill>
          <a:ln w="19050">
            <a:solidFill>
              <a:srgbClr val="2E9E6A"/>
            </a:solidFill>
            <a:prstDash val="solid"/>
          </a:ln>
        </p:spPr>
      </p:sp>
      <p:pic>
        <p:nvPicPr>
          <p:cNvPr id="35" name="Image 7" descr="preencoded.png">    </p:cNvPr>
          <p:cNvPicPr>
            <a:picLocks noChangeAspect="1"/>
          </p:cNvPicPr>
          <p:nvPr/>
        </p:nvPicPr>
        <p:blipFill>
          <a:blip r:embed="rId8"/>
          <a:stretch>
            <a:fillRect/>
          </a:stretch>
        </p:blipFill>
        <p:spPr>
          <a:xfrm>
            <a:off x="7584948" y="3296412"/>
            <a:ext cx="320040" cy="320040"/>
          </a:xfrm>
          <a:prstGeom prst="rect">
            <a:avLst/>
          </a:prstGeom>
        </p:spPr>
      </p:pic>
      <p:sp>
        <p:nvSpPr>
          <p:cNvPr id="36" name="Text 26"/>
          <p:cNvSpPr txBox="1"/>
          <p:nvPr/>
        </p:nvSpPr>
        <p:spPr>
          <a:xfrm>
            <a:off x="6858000" y="3840480"/>
            <a:ext cx="1783080" cy="685800"/>
          </a:xfrm>
          <a:prstGeom prst="rect">
            <a:avLst/>
          </a:prstGeom>
          <a:noFill/>
          <a:ln/>
        </p:spPr>
        <p:txBody>
          <a:bodyPr wrap="square" lIns="0" tIns="0" rIns="0" bIns="0" rtlCol="0" anchor="t"/>
          <a:lstStyle/>
          <a:p>
            <a:pPr algn="ctr" indent="0" marL="0">
              <a:buNone/>
            </a:pPr>
            <a:r>
              <a:rPr lang="en-US" sz="1100" b="1" dirty="0">
                <a:solidFill>
                  <a:srgbClr val="0B2236"/>
                </a:solidFill>
                <a:latin typeface="Calibri" pitchFamily="34" charset="0"/>
                <a:ea typeface="Calibri" pitchFamily="34" charset="-122"/>
                <a:cs typeface="Calibri" pitchFamily="34" charset="-120"/>
              </a:rPr>
              <a:t>Ahorro neto para el pagador</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236"/>
        </a:solidFill>
      </p:bgPr>
    </p:bg>
    <p:spTree>
      <p:nvGrpSpPr>
        <p:cNvPr id="1" name=""/>
        <p:cNvGrpSpPr/>
        <p:nvPr/>
      </p:nvGrpSpPr>
      <p:grpSpPr>
        <a:xfrm>
          <a:off x="0" y="0"/>
          <a:ext cx="0" cy="0"/>
          <a:chOff x="0" y="0"/>
          <a:chExt cx="0" cy="0"/>
        </a:xfrm>
      </p:grpSpPr>
      <p:sp>
        <p:nvSpPr>
          <p:cNvPr id="2" name="Shape 0"/>
          <p:cNvSpPr/>
          <p:nvPr/>
        </p:nvSpPr>
        <p:spPr>
          <a:xfrm>
            <a:off x="6035040" y="-914400"/>
            <a:ext cx="4389120" cy="4389120"/>
          </a:xfrm>
          <a:prstGeom prst="ellipse">
            <a:avLst/>
          </a:prstGeom>
          <a:solidFill>
            <a:srgbClr val="E9A23B">
              <a:alpha val="30000"/>
            </a:srgbClr>
          </a:solidFill>
          <a:ln w="12700">
            <a:solidFill>
              <a:srgbClr val="E9A23B">
                <a:alpha val="0"/>
              </a:srgbClr>
            </a:solidFill>
            <a:prstDash val="solid"/>
          </a:ln>
        </p:spPr>
      </p:sp>
      <p:sp>
        <p:nvSpPr>
          <p:cNvPr id="3" name="Shape 1"/>
          <p:cNvSpPr/>
          <p:nvPr/>
        </p:nvSpPr>
        <p:spPr>
          <a:xfrm>
            <a:off x="7315200" y="2834640"/>
            <a:ext cx="2560320" cy="2560320"/>
          </a:xfrm>
          <a:prstGeom prst="ellipse">
            <a:avLst/>
          </a:prstGeom>
          <a:solidFill>
            <a:srgbClr val="14A3A8">
              <a:alpha val="25000"/>
            </a:srgbClr>
          </a:solidFill>
          <a:ln w="12700">
            <a:solidFill>
              <a:srgbClr val="14A3A8">
                <a:alpha val="0"/>
              </a:srgbClr>
            </a:solidFill>
            <a:prstDash val="solid"/>
          </a:ln>
        </p:spPr>
      </p:sp>
      <p:sp>
        <p:nvSpPr>
          <p:cNvPr id="4" name="Text 2"/>
          <p:cNvSpPr txBox="1"/>
          <p:nvPr/>
        </p:nvSpPr>
        <p:spPr>
          <a:xfrm>
            <a:off x="548640" y="822960"/>
            <a:ext cx="3657600" cy="1280160"/>
          </a:xfrm>
          <a:prstGeom prst="rect">
            <a:avLst/>
          </a:prstGeom>
          <a:noFill/>
          <a:ln/>
        </p:spPr>
        <p:txBody>
          <a:bodyPr wrap="square" lIns="0" tIns="0" rIns="0" bIns="0" rtlCol="0" anchor="b"/>
          <a:lstStyle/>
          <a:p>
            <a:pPr indent="0" marL="0">
              <a:buNone/>
            </a:pPr>
            <a:r>
              <a:rPr lang="en-US" sz="8400" b="1" dirty="0">
                <a:solidFill>
                  <a:srgbClr val="E9A23B"/>
                </a:solidFill>
                <a:latin typeface="Calibri" pitchFamily="34" charset="0"/>
                <a:ea typeface="Calibri" pitchFamily="34" charset="-122"/>
                <a:cs typeface="Calibri" pitchFamily="34" charset="-120"/>
              </a:rPr>
              <a:t>03</a:t>
            </a:r>
            <a:endParaRPr lang="en-US" sz="8400" dirty="0"/>
          </a:p>
        </p:txBody>
      </p:sp>
      <p:sp>
        <p:nvSpPr>
          <p:cNvPr id="5" name="Text 3"/>
          <p:cNvSpPr txBox="1"/>
          <p:nvPr/>
        </p:nvSpPr>
        <p:spPr>
          <a:xfrm>
            <a:off x="548640" y="2240280"/>
            <a:ext cx="5943600" cy="10972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Planeación estratégica</a:t>
            </a:r>
            <a:endParaRPr lang="en-US" sz="3400" dirty="0"/>
          </a:p>
        </p:txBody>
      </p:sp>
      <p:sp>
        <p:nvSpPr>
          <p:cNvPr id="6" name="Text 4"/>
          <p:cNvSpPr txBox="1"/>
          <p:nvPr/>
        </p:nvSpPr>
        <p:spPr>
          <a:xfrm>
            <a:off x="548640" y="3429000"/>
            <a:ext cx="5760720" cy="731520"/>
          </a:xfrm>
          <a:prstGeom prst="rect">
            <a:avLst/>
          </a:prstGeom>
          <a:noFill/>
          <a:ln/>
        </p:spPr>
        <p:txBody>
          <a:bodyPr wrap="square" lIns="0" tIns="0" rIns="0" bIns="0" rtlCol="0" anchor="t"/>
          <a:lstStyle/>
          <a:p>
            <a:pPr indent="0" marL="0">
              <a:buNone/>
            </a:pPr>
            <a:r>
              <a:rPr lang="en-US" sz="1400" dirty="0">
                <a:solidFill>
                  <a:srgbClr val="BFD3DC"/>
                </a:solidFill>
                <a:latin typeface="Calibri" pitchFamily="34" charset="0"/>
                <a:ea typeface="Calibri" pitchFamily="34" charset="-122"/>
                <a:cs typeface="Calibri" pitchFamily="34" charset="-120"/>
              </a:rPr>
              <a:t>Figura 3-1: aspectos básicos, funciones y proceso (fases filosófica, analítica y operativa)</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E9A23B"/>
                </a:solidFill>
                <a:latin typeface="Calibri" pitchFamily="34" charset="0"/>
                <a:ea typeface="Calibri" pitchFamily="34" charset="-122"/>
                <a:cs typeface="Calibri" pitchFamily="34" charset="-120"/>
              </a:rPr>
              <a:t>PLANEACIÓN ESTRATÉGICA · FIGURA 3-1</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Planeación estratégica de DOMUS</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3291840" y="1051560"/>
            <a:ext cx="2560320" cy="566928"/>
          </a:xfrm>
          <a:prstGeom prst="trapezoid">
            <a:avLst/>
          </a:prstGeom>
          <a:solidFill>
            <a:srgbClr val="0B2236"/>
          </a:solidFill>
          <a:ln w="12700">
            <a:solidFill>
              <a:srgbClr val="0B2236"/>
            </a:solidFill>
            <a:prstDash val="solid"/>
          </a:ln>
        </p:spPr>
      </p:sp>
      <p:sp>
        <p:nvSpPr>
          <p:cNvPr id="6" name="Text 4"/>
          <p:cNvSpPr txBox="1"/>
          <p:nvPr/>
        </p:nvSpPr>
        <p:spPr>
          <a:xfrm>
            <a:off x="3383280" y="1051560"/>
            <a:ext cx="237744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Aspectos básicos de la planeación estratégica</a:t>
            </a:r>
            <a:endParaRPr lang="en-US" sz="1050" dirty="0"/>
          </a:p>
        </p:txBody>
      </p:sp>
      <p:sp>
        <p:nvSpPr>
          <p:cNvPr id="7" name="Shape 5"/>
          <p:cNvSpPr/>
          <p:nvPr/>
        </p:nvSpPr>
        <p:spPr>
          <a:xfrm>
            <a:off x="548640" y="1417320"/>
            <a:ext cx="2194560" cy="685800"/>
          </a:xfrm>
          <a:prstGeom prst="ellipse">
            <a:avLst/>
          </a:prstGeom>
          <a:solidFill>
            <a:srgbClr val="EEF6F6"/>
          </a:solidFill>
          <a:ln w="15875">
            <a:solidFill>
              <a:srgbClr val="0E7C86"/>
            </a:solidFill>
            <a:prstDash val="solid"/>
          </a:ln>
        </p:spPr>
      </p:sp>
      <p:sp>
        <p:nvSpPr>
          <p:cNvPr id="8" name="Text 6"/>
          <p:cNvSpPr txBox="1"/>
          <p:nvPr/>
        </p:nvSpPr>
        <p:spPr>
          <a:xfrm>
            <a:off x="685800" y="1417320"/>
            <a:ext cx="1920240" cy="685800"/>
          </a:xfrm>
          <a:prstGeom prst="rect">
            <a:avLst/>
          </a:prstGeom>
          <a:noFill/>
          <a:ln/>
        </p:spPr>
        <p:txBody>
          <a:bodyPr wrap="square" lIns="0" tIns="0" rIns="0" bIns="0" rtlCol="0" anchor="ctr"/>
          <a:lstStyle/>
          <a:p>
            <a:pPr algn="ctr" indent="0" marL="0">
              <a:buNone/>
            </a:pPr>
            <a:r>
              <a:rPr lang="en-US" sz="950" b="1" dirty="0">
                <a:solidFill>
                  <a:srgbClr val="0B2236"/>
                </a:solidFill>
                <a:latin typeface="Calibri" pitchFamily="34" charset="0"/>
                <a:ea typeface="Calibri" pitchFamily="34" charset="-122"/>
                <a:cs typeface="Calibri" pitchFamily="34" charset="-120"/>
              </a:rPr>
              <a:t>1. Conceptos básicos sobre planeación estratégica</a:t>
            </a:r>
            <a:endParaRPr lang="en-US" sz="950" dirty="0"/>
          </a:p>
        </p:txBody>
      </p:sp>
      <p:sp>
        <p:nvSpPr>
          <p:cNvPr id="9" name="Shape 7"/>
          <p:cNvSpPr/>
          <p:nvPr/>
        </p:nvSpPr>
        <p:spPr>
          <a:xfrm>
            <a:off x="6400800" y="1417320"/>
            <a:ext cx="2194560" cy="685800"/>
          </a:xfrm>
          <a:prstGeom prst="ellipse">
            <a:avLst/>
          </a:prstGeom>
          <a:solidFill>
            <a:srgbClr val="EEF6F6"/>
          </a:solidFill>
          <a:ln w="15875">
            <a:solidFill>
              <a:srgbClr val="0E7C86"/>
            </a:solidFill>
            <a:prstDash val="solid"/>
          </a:ln>
        </p:spPr>
      </p:sp>
      <p:sp>
        <p:nvSpPr>
          <p:cNvPr id="10" name="Text 8"/>
          <p:cNvSpPr txBox="1"/>
          <p:nvPr/>
        </p:nvSpPr>
        <p:spPr>
          <a:xfrm>
            <a:off x="6537960" y="1417320"/>
            <a:ext cx="1920240" cy="685800"/>
          </a:xfrm>
          <a:prstGeom prst="rect">
            <a:avLst/>
          </a:prstGeom>
          <a:noFill/>
          <a:ln/>
        </p:spPr>
        <p:txBody>
          <a:bodyPr wrap="square" lIns="0" tIns="0" rIns="0" bIns="0" rtlCol="0" anchor="ctr"/>
          <a:lstStyle/>
          <a:p>
            <a:pPr algn="ctr" indent="0" marL="0">
              <a:buNone/>
            </a:pPr>
            <a:r>
              <a:rPr lang="en-US" sz="950" b="1" dirty="0">
                <a:solidFill>
                  <a:srgbClr val="0B2236"/>
                </a:solidFill>
                <a:latin typeface="Calibri" pitchFamily="34" charset="0"/>
                <a:ea typeface="Calibri" pitchFamily="34" charset="-122"/>
                <a:cs typeface="Calibri" pitchFamily="34" charset="-120"/>
              </a:rPr>
              <a:t>2. Funciones de la planeación estratégica</a:t>
            </a:r>
            <a:endParaRPr lang="en-US" sz="950" dirty="0"/>
          </a:p>
        </p:txBody>
      </p:sp>
      <p:sp>
        <p:nvSpPr>
          <p:cNvPr id="11" name="Shape 9"/>
          <p:cNvSpPr/>
          <p:nvPr/>
        </p:nvSpPr>
        <p:spPr>
          <a:xfrm flipH="1">
            <a:off x="2743200" y="1463040"/>
            <a:ext cx="640080" cy="228600"/>
          </a:xfrm>
          <a:prstGeom prst="line">
            <a:avLst/>
          </a:prstGeom>
          <a:noFill/>
          <a:ln w="15875">
            <a:solidFill>
              <a:srgbClr val="5F6F7C"/>
            </a:solidFill>
            <a:prstDash val="solid"/>
          </a:ln>
        </p:spPr>
      </p:sp>
      <p:sp>
        <p:nvSpPr>
          <p:cNvPr id="12" name="Shape 10"/>
          <p:cNvSpPr/>
          <p:nvPr/>
        </p:nvSpPr>
        <p:spPr>
          <a:xfrm>
            <a:off x="5760720" y="1463040"/>
            <a:ext cx="640080" cy="228600"/>
          </a:xfrm>
          <a:prstGeom prst="line">
            <a:avLst/>
          </a:prstGeom>
          <a:noFill/>
          <a:ln w="15875">
            <a:solidFill>
              <a:srgbClr val="5F6F7C"/>
            </a:solidFill>
            <a:prstDash val="solid"/>
          </a:ln>
        </p:spPr>
      </p:sp>
      <p:sp>
        <p:nvSpPr>
          <p:cNvPr id="13" name="Shape 11"/>
          <p:cNvSpPr/>
          <p:nvPr/>
        </p:nvSpPr>
        <p:spPr>
          <a:xfrm>
            <a:off x="4572000" y="1618488"/>
            <a:ext cx="914" cy="210312"/>
          </a:xfrm>
          <a:prstGeom prst="line">
            <a:avLst/>
          </a:prstGeom>
          <a:noFill/>
          <a:ln w="15875">
            <a:solidFill>
              <a:srgbClr val="5F6F7C"/>
            </a:solidFill>
            <a:prstDash val="solid"/>
          </a:ln>
        </p:spPr>
      </p:sp>
      <p:sp>
        <p:nvSpPr>
          <p:cNvPr id="14" name="Shape 12"/>
          <p:cNvSpPr/>
          <p:nvPr/>
        </p:nvSpPr>
        <p:spPr>
          <a:xfrm>
            <a:off x="3429000" y="1828800"/>
            <a:ext cx="2286000" cy="384048"/>
          </a:xfrm>
          <a:prstGeom prst="roundRect">
            <a:avLst>
              <a:gd name="adj" fmla="val 19048"/>
            </a:avLst>
          </a:prstGeom>
          <a:solidFill>
            <a:srgbClr val="FFFFFF"/>
          </a:solidFill>
          <a:ln w="15875">
            <a:solidFill>
              <a:srgbClr val="0B2236"/>
            </a:solidFill>
            <a:prstDash val="solid"/>
          </a:ln>
        </p:spPr>
      </p:sp>
      <p:sp>
        <p:nvSpPr>
          <p:cNvPr id="15" name="Text 13"/>
          <p:cNvSpPr txBox="1"/>
          <p:nvPr/>
        </p:nvSpPr>
        <p:spPr>
          <a:xfrm>
            <a:off x="3429000" y="1828800"/>
            <a:ext cx="2286000" cy="384048"/>
          </a:xfrm>
          <a:prstGeom prst="rect">
            <a:avLst/>
          </a:prstGeom>
          <a:noFill/>
          <a:ln/>
        </p:spPr>
        <p:txBody>
          <a:bodyPr wrap="square" lIns="0" tIns="0" rIns="0" bIns="0" rtlCol="0" anchor="ctr"/>
          <a:lstStyle/>
          <a:p>
            <a:pPr algn="ctr" indent="0" marL="0">
              <a:buNone/>
            </a:pPr>
            <a:r>
              <a:rPr lang="en-US" sz="1000" b="1" dirty="0">
                <a:solidFill>
                  <a:srgbClr val="0B2236"/>
                </a:solidFill>
                <a:latin typeface="Calibri" pitchFamily="34" charset="0"/>
                <a:ea typeface="Calibri" pitchFamily="34" charset="-122"/>
                <a:cs typeface="Calibri" pitchFamily="34" charset="-120"/>
              </a:rPr>
              <a:t>3. Proceso de la planeación estratégica</a:t>
            </a:r>
            <a:endParaRPr lang="en-US" sz="1000" dirty="0"/>
          </a:p>
        </p:txBody>
      </p:sp>
      <p:sp>
        <p:nvSpPr>
          <p:cNvPr id="16" name="Shape 14"/>
          <p:cNvSpPr/>
          <p:nvPr/>
        </p:nvSpPr>
        <p:spPr>
          <a:xfrm>
            <a:off x="4572000" y="2212848"/>
            <a:ext cx="914" cy="182880"/>
          </a:xfrm>
          <a:prstGeom prst="line">
            <a:avLst/>
          </a:prstGeom>
          <a:noFill/>
          <a:ln w="15875">
            <a:solidFill>
              <a:srgbClr val="5F6F7C"/>
            </a:solidFill>
            <a:prstDash val="solid"/>
            <a:tailEnd type="triangle"/>
          </a:ln>
        </p:spPr>
      </p:sp>
      <p:sp>
        <p:nvSpPr>
          <p:cNvPr id="17" name="Shape 15"/>
          <p:cNvSpPr/>
          <p:nvPr/>
        </p:nvSpPr>
        <p:spPr>
          <a:xfrm>
            <a:off x="2011680" y="2395728"/>
            <a:ext cx="5120640" cy="566928"/>
          </a:xfrm>
          <a:prstGeom prst="roundRect">
            <a:avLst>
              <a:gd name="adj" fmla="val 12903"/>
            </a:avLst>
          </a:prstGeom>
          <a:solidFill>
            <a:srgbClr val="FFFFFF"/>
          </a:solidFill>
          <a:ln w="15875">
            <a:solidFill>
              <a:srgbClr val="0E7C86"/>
            </a:solidFill>
            <a:prstDash val="solid"/>
          </a:ln>
        </p:spPr>
      </p:sp>
      <p:sp>
        <p:nvSpPr>
          <p:cNvPr id="18" name="Text 16"/>
          <p:cNvSpPr txBox="1"/>
          <p:nvPr/>
        </p:nvSpPr>
        <p:spPr>
          <a:xfrm>
            <a:off x="2148840" y="2395728"/>
            <a:ext cx="4846320" cy="566928"/>
          </a:xfrm>
          <a:prstGeom prst="rect">
            <a:avLst/>
          </a:prstGeom>
          <a:noFill/>
          <a:ln/>
        </p:spPr>
        <p:txBody>
          <a:bodyPr wrap="square" lIns="0" tIns="0" rIns="0" bIns="0" rtlCol="0" anchor="ctr"/>
          <a:lstStyle/>
          <a:p>
            <a:pPr indent="0" marL="0">
              <a:buNone/>
            </a:pPr>
            <a:r>
              <a:rPr lang="en-US" sz="1050" b="1" dirty="0">
                <a:solidFill>
                  <a:srgbClr val="0E7C86"/>
                </a:solidFill>
                <a:latin typeface="Calibri" pitchFamily="34" charset="0"/>
                <a:ea typeface="Calibri" pitchFamily="34" charset="-122"/>
                <a:cs typeface="Calibri" pitchFamily="34" charset="-120"/>
              </a:rPr>
              <a:t>Fase filosófica: </a:t>
            </a:r>
            <a:pPr indent="0" marL="0">
              <a:buNone/>
            </a:pPr>
            <a:r>
              <a:rPr lang="en-US" sz="1050" dirty="0">
                <a:solidFill>
                  <a:srgbClr val="1D2B36"/>
                </a:solidFill>
                <a:latin typeface="Calibri" pitchFamily="34" charset="0"/>
                <a:ea typeface="Calibri" pitchFamily="34" charset="-122"/>
                <a:cs typeface="Calibri" pitchFamily="34" charset="-120"/>
              </a:rPr>
              <a:t>Misión · Visión · Valores y cultura organizacional · Políticas</a:t>
            </a:r>
            <a:endParaRPr lang="en-US" sz="1050" dirty="0"/>
          </a:p>
        </p:txBody>
      </p:sp>
      <p:sp>
        <p:nvSpPr>
          <p:cNvPr id="19" name="Shape 17"/>
          <p:cNvSpPr/>
          <p:nvPr/>
        </p:nvSpPr>
        <p:spPr>
          <a:xfrm>
            <a:off x="4572000" y="2962656"/>
            <a:ext cx="914" cy="164592"/>
          </a:xfrm>
          <a:prstGeom prst="line">
            <a:avLst/>
          </a:prstGeom>
          <a:noFill/>
          <a:ln w="15875">
            <a:solidFill>
              <a:srgbClr val="5F6F7C"/>
            </a:solidFill>
            <a:prstDash val="solid"/>
            <a:tailEnd type="triangle"/>
          </a:ln>
        </p:spPr>
      </p:sp>
      <p:sp>
        <p:nvSpPr>
          <p:cNvPr id="20" name="Shape 18"/>
          <p:cNvSpPr/>
          <p:nvPr/>
        </p:nvSpPr>
        <p:spPr>
          <a:xfrm>
            <a:off x="2011680" y="3127248"/>
            <a:ext cx="5120640" cy="777240"/>
          </a:xfrm>
          <a:prstGeom prst="roundRect">
            <a:avLst>
              <a:gd name="adj" fmla="val 9412"/>
            </a:avLst>
          </a:prstGeom>
          <a:solidFill>
            <a:srgbClr val="FFFFFF"/>
          </a:solidFill>
          <a:ln w="15875">
            <a:solidFill>
              <a:srgbClr val="E9A23B"/>
            </a:solidFill>
            <a:prstDash val="solid"/>
          </a:ln>
        </p:spPr>
      </p:sp>
      <p:sp>
        <p:nvSpPr>
          <p:cNvPr id="21" name="Text 19"/>
          <p:cNvSpPr txBox="1"/>
          <p:nvPr/>
        </p:nvSpPr>
        <p:spPr>
          <a:xfrm>
            <a:off x="2148840" y="3127248"/>
            <a:ext cx="4846320" cy="777240"/>
          </a:xfrm>
          <a:prstGeom prst="rect">
            <a:avLst/>
          </a:prstGeom>
          <a:noFill/>
          <a:ln/>
        </p:spPr>
        <p:txBody>
          <a:bodyPr wrap="square" lIns="0" tIns="0" rIns="0" bIns="0" rtlCol="0" anchor="ctr"/>
          <a:lstStyle/>
          <a:p>
            <a:pPr indent="0" marL="0">
              <a:buNone/>
            </a:pPr>
            <a:r>
              <a:rPr lang="en-US" sz="1050" b="1" dirty="0">
                <a:solidFill>
                  <a:srgbClr val="E9A23B"/>
                </a:solidFill>
                <a:latin typeface="Calibri" pitchFamily="34" charset="0"/>
                <a:ea typeface="Calibri" pitchFamily="34" charset="-122"/>
                <a:cs typeface="Calibri" pitchFamily="34" charset="-120"/>
              </a:rPr>
              <a:t>Fase analítica: </a:t>
            </a:r>
            <a:pPr indent="0" marL="0">
              <a:buNone/>
            </a:pPr>
            <a:r>
              <a:rPr lang="en-US" sz="1050" dirty="0">
                <a:solidFill>
                  <a:srgbClr val="1D2B36"/>
                </a:solidFill>
                <a:latin typeface="Calibri" pitchFamily="34" charset="0"/>
                <a:ea typeface="Calibri" pitchFamily="34" charset="-122"/>
                <a:cs typeface="Calibri" pitchFamily="34" charset="-120"/>
              </a:rPr>
              <a:t>Objetivos estratégicos institucionales y corporativos · Análisis del ambiente externo · Diagnóstico interno · Matriz DOFA y factores clave de éxito · Formulación de estrategias</a:t>
            </a:r>
            <a:endParaRPr lang="en-US" sz="1050" dirty="0"/>
          </a:p>
        </p:txBody>
      </p:sp>
      <p:sp>
        <p:nvSpPr>
          <p:cNvPr id="22" name="Shape 20"/>
          <p:cNvSpPr/>
          <p:nvPr/>
        </p:nvSpPr>
        <p:spPr>
          <a:xfrm>
            <a:off x="4572000" y="3904488"/>
            <a:ext cx="914" cy="164592"/>
          </a:xfrm>
          <a:prstGeom prst="line">
            <a:avLst/>
          </a:prstGeom>
          <a:noFill/>
          <a:ln w="15875">
            <a:solidFill>
              <a:srgbClr val="5F6F7C"/>
            </a:solidFill>
            <a:prstDash val="solid"/>
            <a:tailEnd type="triangle"/>
          </a:ln>
        </p:spPr>
      </p:sp>
      <p:sp>
        <p:nvSpPr>
          <p:cNvPr id="23" name="Shape 21"/>
          <p:cNvSpPr/>
          <p:nvPr/>
        </p:nvSpPr>
        <p:spPr>
          <a:xfrm>
            <a:off x="2011680" y="4069080"/>
            <a:ext cx="5120640" cy="566928"/>
          </a:xfrm>
          <a:prstGeom prst="roundRect">
            <a:avLst>
              <a:gd name="adj" fmla="val 12903"/>
            </a:avLst>
          </a:prstGeom>
          <a:solidFill>
            <a:srgbClr val="FFFFFF"/>
          </a:solidFill>
          <a:ln w="15875">
            <a:solidFill>
              <a:srgbClr val="F26B4E"/>
            </a:solidFill>
            <a:prstDash val="solid"/>
          </a:ln>
        </p:spPr>
      </p:sp>
      <p:sp>
        <p:nvSpPr>
          <p:cNvPr id="24" name="Text 22"/>
          <p:cNvSpPr txBox="1"/>
          <p:nvPr/>
        </p:nvSpPr>
        <p:spPr>
          <a:xfrm>
            <a:off x="2148840" y="4069080"/>
            <a:ext cx="4846320" cy="566928"/>
          </a:xfrm>
          <a:prstGeom prst="rect">
            <a:avLst/>
          </a:prstGeom>
          <a:noFill/>
          <a:ln/>
        </p:spPr>
        <p:txBody>
          <a:bodyPr wrap="square" lIns="0" tIns="0" rIns="0" bIns="0" rtlCol="0" anchor="ctr"/>
          <a:lstStyle/>
          <a:p>
            <a:pPr indent="0" marL="0">
              <a:buNone/>
            </a:pPr>
            <a:r>
              <a:rPr lang="en-US" sz="1050" b="1" dirty="0">
                <a:solidFill>
                  <a:srgbClr val="F26B4E"/>
                </a:solidFill>
                <a:latin typeface="Calibri" pitchFamily="34" charset="0"/>
                <a:ea typeface="Calibri" pitchFamily="34" charset="-122"/>
                <a:cs typeface="Calibri" pitchFamily="34" charset="-120"/>
              </a:rPr>
              <a:t>Fase operativa: </a:t>
            </a:r>
            <a:pPr indent="0" marL="0">
              <a:buNone/>
            </a:pPr>
            <a:r>
              <a:rPr lang="en-US" sz="1050" dirty="0">
                <a:solidFill>
                  <a:srgbClr val="1D2B36"/>
                </a:solidFill>
                <a:latin typeface="Calibri" pitchFamily="34" charset="0"/>
                <a:ea typeface="Calibri" pitchFamily="34" charset="-122"/>
                <a:cs typeface="Calibri" pitchFamily="34" charset="-120"/>
              </a:rPr>
              <a:t>Plan de acción · Implementación del plan</a:t>
            </a:r>
            <a:endParaRPr lang="en-US" sz="1050" dirty="0"/>
          </a:p>
        </p:txBody>
      </p:sp>
      <p:sp>
        <p:nvSpPr>
          <p:cNvPr id="25" name="Shape 23"/>
          <p:cNvSpPr/>
          <p:nvPr/>
        </p:nvSpPr>
        <p:spPr>
          <a:xfrm>
            <a:off x="7132320" y="4352544"/>
            <a:ext cx="777240" cy="0"/>
          </a:xfrm>
          <a:prstGeom prst="line">
            <a:avLst/>
          </a:prstGeom>
          <a:noFill/>
          <a:ln w="19050">
            <a:solidFill>
              <a:srgbClr val="14A3A8"/>
            </a:solidFill>
            <a:prstDash val="solid"/>
          </a:ln>
        </p:spPr>
      </p:sp>
      <p:sp>
        <p:nvSpPr>
          <p:cNvPr id="26" name="Shape 24"/>
          <p:cNvSpPr/>
          <p:nvPr/>
        </p:nvSpPr>
        <p:spPr>
          <a:xfrm>
            <a:off x="7909560" y="2020824"/>
            <a:ext cx="0" cy="2331720"/>
          </a:xfrm>
          <a:prstGeom prst="line">
            <a:avLst/>
          </a:prstGeom>
          <a:noFill/>
          <a:ln w="19050">
            <a:solidFill>
              <a:srgbClr val="14A3A8"/>
            </a:solidFill>
            <a:prstDash val="solid"/>
          </a:ln>
        </p:spPr>
      </p:sp>
      <p:sp>
        <p:nvSpPr>
          <p:cNvPr id="27" name="Shape 25"/>
          <p:cNvSpPr/>
          <p:nvPr/>
        </p:nvSpPr>
        <p:spPr>
          <a:xfrm flipH="1">
            <a:off x="5733288" y="2020824"/>
            <a:ext cx="2176272" cy="914"/>
          </a:xfrm>
          <a:prstGeom prst="line">
            <a:avLst/>
          </a:prstGeom>
          <a:noFill/>
          <a:ln w="19050">
            <a:solidFill>
              <a:srgbClr val="14A3A8"/>
            </a:solidFill>
            <a:prstDash val="solid"/>
            <a:tailEnd type="triangle"/>
          </a:ln>
        </p:spPr>
      </p:sp>
      <p:sp>
        <p:nvSpPr>
          <p:cNvPr id="28" name="Text 26"/>
          <p:cNvSpPr txBox="1"/>
          <p:nvPr/>
        </p:nvSpPr>
        <p:spPr>
          <a:xfrm rot="16200000">
            <a:off x="7269480" y="3063240"/>
            <a:ext cx="1828800" cy="274320"/>
          </a:xfrm>
          <a:prstGeom prst="rect">
            <a:avLst/>
          </a:prstGeom>
          <a:noFill/>
          <a:ln/>
        </p:spPr>
        <p:txBody>
          <a:bodyPr wrap="square" lIns="0" tIns="0" rIns="0" bIns="0" rtlCol="0" anchor="ctr"/>
          <a:lstStyle/>
          <a:p>
            <a:pPr algn="ctr" indent="0" marL="0">
              <a:buNone/>
            </a:pPr>
            <a:r>
              <a:rPr lang="en-US" sz="1050" b="1" dirty="0">
                <a:solidFill>
                  <a:srgbClr val="14A3A8"/>
                </a:solidFill>
                <a:latin typeface="Calibri" pitchFamily="34" charset="0"/>
                <a:ea typeface="Calibri" pitchFamily="34" charset="-122"/>
                <a:cs typeface="Calibri" pitchFamily="34" charset="-120"/>
              </a:rPr>
              <a:t>Retroalimentación</a:t>
            </a:r>
            <a:endParaRPr lang="en-US" sz="1050" dirty="0"/>
          </a:p>
        </p:txBody>
      </p:sp>
      <p:sp>
        <p:nvSpPr>
          <p:cNvPr id="29" name="Text 27"/>
          <p:cNvSpPr txBox="1"/>
          <p:nvPr/>
        </p:nvSpPr>
        <p:spPr>
          <a:xfrm>
            <a:off x="457200" y="4681728"/>
            <a:ext cx="6400800" cy="182880"/>
          </a:xfrm>
          <a:prstGeom prst="rect">
            <a:avLst/>
          </a:prstGeom>
          <a:noFill/>
          <a:ln/>
        </p:spPr>
        <p:txBody>
          <a:bodyPr wrap="square" lIns="0" tIns="0" rIns="0" bIns="0" rtlCol="0" anchor="t"/>
          <a:lstStyle/>
          <a:p>
            <a:pPr indent="0" marL="0">
              <a:buNone/>
            </a:pPr>
            <a:r>
              <a:rPr lang="en-US" sz="850" i="1" dirty="0">
                <a:solidFill>
                  <a:srgbClr val="5F6F7C"/>
                </a:solidFill>
                <a:latin typeface="Calibri" pitchFamily="34" charset="0"/>
                <a:ea typeface="Calibri" pitchFamily="34" charset="-122"/>
                <a:cs typeface="Calibri" pitchFamily="34" charset="-120"/>
              </a:rPr>
              <a:t>Adaptado de la Figura 3-1 (Planeación estratégica) aplicada a DOMUS.</a:t>
            </a:r>
            <a:endParaRPr lang="en-US" sz="8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E9A23B"/>
                </a:solidFill>
                <a:latin typeface="Calibri" pitchFamily="34" charset="0"/>
                <a:ea typeface="Calibri" pitchFamily="34" charset="-122"/>
                <a:cs typeface="Calibri" pitchFamily="34" charset="-120"/>
              </a:rPr>
              <a:t>PLANEACIÓN ESTRATÉGICA · ASPECTOS BÁSICOS</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1. Conceptos básicos y 2. funciones de la planeación</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4023360" cy="3520440"/>
          </a:xfrm>
          <a:prstGeom prst="roundRect">
            <a:avLst>
              <a:gd name="adj" fmla="val 2078"/>
            </a:avLst>
          </a:prstGeom>
          <a:solidFill>
            <a:srgbClr val="EEF6F6"/>
          </a:solidFill>
          <a:ln w="6350">
            <a:solidFill>
              <a:srgbClr val="EEF6F6"/>
            </a:solidFill>
            <a:prstDash val="solid"/>
          </a:ln>
        </p:spPr>
      </p:sp>
      <p:sp>
        <p:nvSpPr>
          <p:cNvPr id="6" name="Text 4"/>
          <p:cNvSpPr txBox="1"/>
          <p:nvPr/>
        </p:nvSpPr>
        <p:spPr>
          <a:xfrm>
            <a:off x="640080" y="1280160"/>
            <a:ext cx="3657600" cy="365760"/>
          </a:xfrm>
          <a:prstGeom prst="rect">
            <a:avLst/>
          </a:prstGeom>
          <a:noFill/>
          <a:ln/>
        </p:spPr>
        <p:txBody>
          <a:bodyPr wrap="square" lIns="0" tIns="0" rIns="0" bIns="0" rtlCol="0" anchor="t"/>
          <a:lstStyle/>
          <a:p>
            <a:pPr indent="0" marL="0">
              <a:buNone/>
            </a:pPr>
            <a:r>
              <a:rPr lang="en-US" sz="1600" b="1" dirty="0">
                <a:solidFill>
                  <a:srgbClr val="0E7C86"/>
                </a:solidFill>
                <a:latin typeface="Calibri" pitchFamily="34" charset="0"/>
                <a:ea typeface="Calibri" pitchFamily="34" charset="-122"/>
                <a:cs typeface="Calibri" pitchFamily="34" charset="-120"/>
              </a:rPr>
              <a:t>1. Conceptos básicos</a:t>
            </a:r>
            <a:endParaRPr lang="en-US" sz="1600" dirty="0"/>
          </a:p>
        </p:txBody>
      </p:sp>
      <p:sp>
        <p:nvSpPr>
          <p:cNvPr id="7" name="Text 5"/>
          <p:cNvSpPr txBox="1"/>
          <p:nvPr/>
        </p:nvSpPr>
        <p:spPr>
          <a:xfrm>
            <a:off x="640080" y="1737360"/>
            <a:ext cx="3657600" cy="2926080"/>
          </a:xfrm>
          <a:prstGeom prst="rect">
            <a:avLst/>
          </a:prstGeom>
          <a:noFill/>
          <a:ln/>
        </p:spPr>
        <p:txBody>
          <a:bodyPr wrap="square" lIns="0" tIns="0" rIns="0" bIns="0" rtlCol="0" anchor="t"/>
          <a:lstStyle/>
          <a:p>
            <a:pPr marL="165100" indent="-165100">
              <a:spcAft>
                <a:spcPts val="700"/>
              </a:spcAft>
              <a:buSzPct val="100000"/>
              <a:buChar char="•"/>
            </a:pPr>
            <a:r>
              <a:rPr lang="en-US" sz="1200" b="1" dirty="0">
                <a:solidFill>
                  <a:srgbClr val="0E7C86"/>
                </a:solidFill>
                <a:latin typeface="Calibri" pitchFamily="34" charset="0"/>
                <a:ea typeface="Calibri" pitchFamily="34" charset="-122"/>
                <a:cs typeface="Calibri" pitchFamily="34" charset="-120"/>
              </a:rPr>
              <a:t>Planeación estratégica: </a:t>
            </a:r>
            <a:pPr indent="0" marL="0">
              <a:buNone/>
            </a:pPr>
            <a:r>
              <a:rPr lang="en-US" sz="1200" dirty="0">
                <a:solidFill>
                  <a:srgbClr val="1D2B36"/>
                </a:solidFill>
                <a:latin typeface="Calibri" pitchFamily="34" charset="0"/>
                <a:ea typeface="Calibri" pitchFamily="34" charset="-122"/>
                <a:cs typeface="Calibri" pitchFamily="34" charset="-120"/>
              </a:rPr>
              <a:t>proceso para definir hacia dónde va DOMUS, cómo competir y con qué recursos.</a:t>
            </a:r>
            <a:endParaRPr lang="en-US" sz="1200" dirty="0"/>
          </a:p>
          <a:p>
            <a:pPr marL="165100" indent="-165100">
              <a:spcAft>
                <a:spcPts val="700"/>
              </a:spcAft>
              <a:buSzPct val="100000"/>
              <a:buChar char="•"/>
            </a:pPr>
            <a:r>
              <a:rPr lang="en-US" sz="1200" b="1" dirty="0">
                <a:solidFill>
                  <a:srgbClr val="0E7C86"/>
                </a:solidFill>
                <a:latin typeface="Calibri" pitchFamily="34" charset="0"/>
                <a:ea typeface="Calibri" pitchFamily="34" charset="-122"/>
                <a:cs typeface="Calibri" pitchFamily="34" charset="-120"/>
              </a:rPr>
              <a:t>Estrategia: </a:t>
            </a:r>
            <a:pPr indent="0" marL="0">
              <a:buNone/>
            </a:pPr>
            <a:r>
              <a:rPr lang="en-US" sz="1200" dirty="0">
                <a:solidFill>
                  <a:srgbClr val="1D2B36"/>
                </a:solidFill>
                <a:latin typeface="Calibri" pitchFamily="34" charset="0"/>
                <a:ea typeface="Calibri" pitchFamily="34" charset="-122"/>
                <a:cs typeface="Calibri" pitchFamily="34" charset="-120"/>
              </a:rPr>
              <a:t>paquetes cerrados por infección y resistencia, vendidos a pagadores institucionales.</a:t>
            </a:r>
            <a:endParaRPr lang="en-US" sz="1200" dirty="0"/>
          </a:p>
          <a:p>
            <a:pPr marL="165100" indent="-165100">
              <a:spcAft>
                <a:spcPts val="700"/>
              </a:spcAft>
              <a:buSzPct val="100000"/>
              <a:buChar char="•"/>
            </a:pPr>
            <a:r>
              <a:rPr lang="en-US" sz="1200" b="1" dirty="0">
                <a:solidFill>
                  <a:srgbClr val="0E7C86"/>
                </a:solidFill>
                <a:latin typeface="Calibri" pitchFamily="34" charset="0"/>
                <a:ea typeface="Calibri" pitchFamily="34" charset="-122"/>
                <a:cs typeface="Calibri" pitchFamily="34" charset="-120"/>
              </a:rPr>
              <a:t>Horizonte: </a:t>
            </a:r>
            <a:pPr indent="0" marL="0">
              <a:buNone/>
            </a:pPr>
            <a:r>
              <a:rPr lang="en-US" sz="1200" dirty="0">
                <a:solidFill>
                  <a:srgbClr val="1D2B36"/>
                </a:solidFill>
                <a:latin typeface="Calibri" pitchFamily="34" charset="0"/>
                <a:ea typeface="Calibri" pitchFamily="34" charset="-122"/>
                <a:cs typeface="Calibri" pitchFamily="34" charset="-120"/>
              </a:rPr>
              <a:t>3 años, con revisión semestral.</a:t>
            </a:r>
            <a:endParaRPr lang="en-US" sz="1200" dirty="0"/>
          </a:p>
          <a:p>
            <a:pPr marL="165100" indent="-165100">
              <a:spcAft>
                <a:spcPts val="700"/>
              </a:spcAft>
              <a:buSzPct val="100000"/>
              <a:buChar char="•"/>
            </a:pPr>
            <a:r>
              <a:rPr lang="en-US" sz="1200" b="1" dirty="0">
                <a:solidFill>
                  <a:srgbClr val="0E7C86"/>
                </a:solidFill>
                <a:latin typeface="Calibri" pitchFamily="34" charset="0"/>
                <a:ea typeface="Calibri" pitchFamily="34" charset="-122"/>
                <a:cs typeface="Calibri" pitchFamily="34" charset="-120"/>
              </a:rPr>
              <a:t>Ventaja competitiva: </a:t>
            </a:r>
            <a:pPr indent="0" marL="0">
              <a:buNone/>
            </a:pPr>
            <a:r>
              <a:rPr lang="en-US" sz="1200" dirty="0">
                <a:solidFill>
                  <a:srgbClr val="1D2B36"/>
                </a:solidFill>
                <a:latin typeface="Calibri" pitchFamily="34" charset="0"/>
                <a:ea typeface="Calibri" pitchFamily="34" charset="-122"/>
                <a:cs typeface="Calibri" pitchFamily="34" charset="-120"/>
              </a:rPr>
              <a:t>precio por resultado (días-cama liberados) en vez de precio por visita.</a:t>
            </a:r>
            <a:endParaRPr lang="en-US" sz="1200" dirty="0"/>
          </a:p>
        </p:txBody>
      </p:sp>
      <p:sp>
        <p:nvSpPr>
          <p:cNvPr id="8" name="Shape 6"/>
          <p:cNvSpPr/>
          <p:nvPr/>
        </p:nvSpPr>
        <p:spPr>
          <a:xfrm>
            <a:off x="4663440" y="1188720"/>
            <a:ext cx="4023360" cy="3520440"/>
          </a:xfrm>
          <a:prstGeom prst="roundRect">
            <a:avLst>
              <a:gd name="adj" fmla="val 2078"/>
            </a:avLst>
          </a:prstGeom>
          <a:solidFill>
            <a:srgbClr val="FBF5E8"/>
          </a:solidFill>
          <a:ln w="6350">
            <a:solidFill>
              <a:srgbClr val="FBF5E8"/>
            </a:solidFill>
            <a:prstDash val="solid"/>
          </a:ln>
        </p:spPr>
      </p:sp>
      <p:sp>
        <p:nvSpPr>
          <p:cNvPr id="9" name="Text 7"/>
          <p:cNvSpPr txBox="1"/>
          <p:nvPr/>
        </p:nvSpPr>
        <p:spPr>
          <a:xfrm>
            <a:off x="4846320" y="1280160"/>
            <a:ext cx="3657600" cy="365760"/>
          </a:xfrm>
          <a:prstGeom prst="rect">
            <a:avLst/>
          </a:prstGeom>
          <a:noFill/>
          <a:ln/>
        </p:spPr>
        <p:txBody>
          <a:bodyPr wrap="square" lIns="0" tIns="0" rIns="0" bIns="0" rtlCol="0" anchor="t"/>
          <a:lstStyle/>
          <a:p>
            <a:pPr indent="0" marL="0">
              <a:buNone/>
            </a:pPr>
            <a:r>
              <a:rPr lang="en-US" sz="1600" b="1" dirty="0">
                <a:solidFill>
                  <a:srgbClr val="E9A23B"/>
                </a:solidFill>
                <a:latin typeface="Calibri" pitchFamily="34" charset="0"/>
                <a:ea typeface="Calibri" pitchFamily="34" charset="-122"/>
                <a:cs typeface="Calibri" pitchFamily="34" charset="-120"/>
              </a:rPr>
              <a:t>2. Funciones de la planeación</a:t>
            </a:r>
            <a:endParaRPr lang="en-US" sz="1600" dirty="0"/>
          </a:p>
        </p:txBody>
      </p:sp>
      <p:sp>
        <p:nvSpPr>
          <p:cNvPr id="10" name="Text 8"/>
          <p:cNvSpPr txBox="1"/>
          <p:nvPr/>
        </p:nvSpPr>
        <p:spPr>
          <a:xfrm>
            <a:off x="4846320" y="1737360"/>
            <a:ext cx="3657600" cy="2926080"/>
          </a:xfrm>
          <a:prstGeom prst="rect">
            <a:avLst/>
          </a:prstGeom>
          <a:noFill/>
          <a:ln/>
        </p:spPr>
        <p:txBody>
          <a:bodyPr wrap="square" lIns="0" tIns="0" rIns="0" bIns="0" rtlCol="0" anchor="t"/>
          <a:lstStyle/>
          <a:p>
            <a:pPr marL="165100" indent="-165100">
              <a:spcAft>
                <a:spcPts val="700"/>
              </a:spcAft>
              <a:buSzPct val="100000"/>
              <a:buChar char="•"/>
            </a:pPr>
            <a:r>
              <a:rPr lang="en-US" sz="1200" b="1" dirty="0">
                <a:solidFill>
                  <a:srgbClr val="E9A23B"/>
                </a:solidFill>
                <a:latin typeface="Calibri" pitchFamily="34" charset="0"/>
                <a:ea typeface="Calibri" pitchFamily="34" charset="-122"/>
                <a:cs typeface="Calibri" pitchFamily="34" charset="-120"/>
              </a:rPr>
              <a:t>Orientar: </a:t>
            </a:r>
            <a:pPr indent="0" marL="0">
              <a:buNone/>
            </a:pPr>
            <a:r>
              <a:rPr lang="en-US" sz="1200" dirty="0">
                <a:solidFill>
                  <a:srgbClr val="1D2B36"/>
                </a:solidFill>
                <a:latin typeface="Calibri" pitchFamily="34" charset="0"/>
                <a:ea typeface="Calibri" pitchFamily="34" charset="-122"/>
                <a:cs typeface="Calibri" pitchFamily="34" charset="-120"/>
              </a:rPr>
              <a:t>alinear al equipo clínico y administrativo con la misión.</a:t>
            </a:r>
            <a:endParaRPr lang="en-US" sz="1200" dirty="0"/>
          </a:p>
          <a:p>
            <a:pPr marL="165100" indent="-165100">
              <a:spcAft>
                <a:spcPts val="700"/>
              </a:spcAft>
              <a:buSzPct val="100000"/>
              <a:buChar char="•"/>
            </a:pPr>
            <a:r>
              <a:rPr lang="en-US" sz="1200" b="1" dirty="0">
                <a:solidFill>
                  <a:srgbClr val="E9A23B"/>
                </a:solidFill>
                <a:latin typeface="Calibri" pitchFamily="34" charset="0"/>
                <a:ea typeface="Calibri" pitchFamily="34" charset="-122"/>
                <a:cs typeface="Calibri" pitchFamily="34" charset="-120"/>
              </a:rPr>
              <a:t>Anticipar: </a:t>
            </a:r>
            <a:pPr indent="0" marL="0">
              <a:buNone/>
            </a:pPr>
            <a:r>
              <a:rPr lang="en-US" sz="1200" dirty="0">
                <a:solidFill>
                  <a:srgbClr val="1D2B36"/>
                </a:solidFill>
                <a:latin typeface="Calibri" pitchFamily="34" charset="0"/>
                <a:ea typeface="Calibri" pitchFamily="34" charset="-122"/>
                <a:cs typeface="Calibri" pitchFamily="34" charset="-120"/>
              </a:rPr>
              <a:t>riesgos de cartera, regulación y abastecimiento de antibióticos.</a:t>
            </a:r>
            <a:endParaRPr lang="en-US" sz="1200" dirty="0"/>
          </a:p>
          <a:p>
            <a:pPr marL="165100" indent="-165100">
              <a:spcAft>
                <a:spcPts val="700"/>
              </a:spcAft>
              <a:buSzPct val="100000"/>
              <a:buChar char="•"/>
            </a:pPr>
            <a:r>
              <a:rPr lang="en-US" sz="1200" b="1" dirty="0">
                <a:solidFill>
                  <a:srgbClr val="E9A23B"/>
                </a:solidFill>
                <a:latin typeface="Calibri" pitchFamily="34" charset="0"/>
                <a:ea typeface="Calibri" pitchFamily="34" charset="-122"/>
                <a:cs typeface="Calibri" pitchFamily="34" charset="-120"/>
              </a:rPr>
              <a:t>Asignar recursos: </a:t>
            </a:r>
            <a:pPr indent="0" marL="0">
              <a:buNone/>
            </a:pPr>
            <a:r>
              <a:rPr lang="en-US" sz="1200" dirty="0">
                <a:solidFill>
                  <a:srgbClr val="1D2B36"/>
                </a:solidFill>
                <a:latin typeface="Calibri" pitchFamily="34" charset="0"/>
                <a:ea typeface="Calibri" pitchFamily="34" charset="-122"/>
                <a:cs typeface="Calibri" pitchFamily="34" charset="-120"/>
              </a:rPr>
              <a:t>personal, bombas, vehículos y capital de trabajo.</a:t>
            </a:r>
            <a:endParaRPr lang="en-US" sz="1200" dirty="0"/>
          </a:p>
          <a:p>
            <a:pPr marL="165100" indent="-165100">
              <a:spcAft>
                <a:spcPts val="700"/>
              </a:spcAft>
              <a:buSzPct val="100000"/>
              <a:buChar char="•"/>
            </a:pPr>
            <a:r>
              <a:rPr lang="en-US" sz="1200" b="1" dirty="0">
                <a:solidFill>
                  <a:srgbClr val="E9A23B"/>
                </a:solidFill>
                <a:latin typeface="Calibri" pitchFamily="34" charset="0"/>
                <a:ea typeface="Calibri" pitchFamily="34" charset="-122"/>
                <a:cs typeface="Calibri" pitchFamily="34" charset="-120"/>
              </a:rPr>
              <a:t>Medir y corregir: </a:t>
            </a:r>
            <a:pPr indent="0" marL="0">
              <a:buNone/>
            </a:pPr>
            <a:r>
              <a:rPr lang="en-US" sz="1200" dirty="0">
                <a:solidFill>
                  <a:srgbClr val="1D2B36"/>
                </a:solidFill>
                <a:latin typeface="Calibri" pitchFamily="34" charset="0"/>
                <a:ea typeface="Calibri" pitchFamily="34" charset="-122"/>
                <a:cs typeface="Calibri" pitchFamily="34" charset="-120"/>
              </a:rPr>
              <a:t>indicadores clínicos y financieros con retroalimentación.</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PLANEACIÓN ESTRATÉGICA · FASE FILOSÓFICA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Misión y visión</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234440"/>
            <a:ext cx="4023360" cy="3474720"/>
          </a:xfrm>
          <a:prstGeom prst="roundRect">
            <a:avLst>
              <a:gd name="adj" fmla="val 2105"/>
            </a:avLst>
          </a:prstGeom>
          <a:solidFill>
            <a:srgbClr val="0B2236"/>
          </a:solidFill>
          <a:ln w="6350">
            <a:solidFill>
              <a:srgbClr val="0B2236"/>
            </a:solidFill>
            <a:prstDash val="solid"/>
          </a:ln>
        </p:spPr>
      </p:sp>
      <p:sp>
        <p:nvSpPr>
          <p:cNvPr id="6" name="Shape 4"/>
          <p:cNvSpPr/>
          <p:nvPr/>
        </p:nvSpPr>
        <p:spPr>
          <a:xfrm>
            <a:off x="685800" y="1417320"/>
            <a:ext cx="640080" cy="640080"/>
          </a:xfrm>
          <a:prstGeom prst="ellipse">
            <a:avLst/>
          </a:prstGeom>
          <a:solidFill>
            <a:srgbClr val="14A3A8"/>
          </a:solidFill>
          <a:ln w="19050">
            <a:solidFill>
              <a:srgbClr val="14A3A8"/>
            </a:solidFill>
            <a:prstDash val="solid"/>
          </a:ln>
        </p:spPr>
      </p:sp>
      <p:pic>
        <p:nvPicPr>
          <p:cNvPr id="7" name="Image 0" descr="preencoded.png">    </p:cNvPr>
          <p:cNvPicPr>
            <a:picLocks noChangeAspect="1"/>
          </p:cNvPicPr>
          <p:nvPr/>
        </p:nvPicPr>
        <p:blipFill>
          <a:blip r:embed="rId1"/>
          <a:stretch>
            <a:fillRect/>
          </a:stretch>
        </p:blipFill>
        <p:spPr>
          <a:xfrm>
            <a:off x="845820" y="1577340"/>
            <a:ext cx="320040" cy="320040"/>
          </a:xfrm>
          <a:prstGeom prst="rect">
            <a:avLst/>
          </a:prstGeom>
        </p:spPr>
      </p:pic>
      <p:sp>
        <p:nvSpPr>
          <p:cNvPr id="8" name="Text 5"/>
          <p:cNvSpPr txBox="1"/>
          <p:nvPr/>
        </p:nvSpPr>
        <p:spPr>
          <a:xfrm>
            <a:off x="1463040" y="1417320"/>
            <a:ext cx="2743200" cy="6400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Misión</a:t>
            </a:r>
            <a:endParaRPr lang="en-US" sz="2200" dirty="0"/>
          </a:p>
        </p:txBody>
      </p:sp>
      <p:sp>
        <p:nvSpPr>
          <p:cNvPr id="9" name="Text 6"/>
          <p:cNvSpPr txBox="1"/>
          <p:nvPr/>
        </p:nvSpPr>
        <p:spPr>
          <a:xfrm>
            <a:off x="685800" y="2240280"/>
            <a:ext cx="3611880" cy="2331720"/>
          </a:xfrm>
          <a:prstGeom prst="rect">
            <a:avLst/>
          </a:prstGeom>
          <a:noFill/>
          <a:ln/>
        </p:spPr>
        <p:txBody>
          <a:bodyPr wrap="square" lIns="0" tIns="0" rIns="0" bIns="0" rtlCol="0" anchor="t"/>
          <a:lstStyle/>
          <a:p>
            <a:pPr indent="0" marL="0">
              <a:buNone/>
            </a:pPr>
            <a:r>
              <a:rPr lang="en-US" sz="1350" dirty="0">
                <a:solidFill>
                  <a:srgbClr val="E3EEF2"/>
                </a:solidFill>
                <a:latin typeface="Calibri" pitchFamily="34" charset="0"/>
                <a:ea typeface="Calibri" pitchFamily="34" charset="-122"/>
                <a:cs typeface="Calibri" pitchFamily="34" charset="-120"/>
              </a:rPr>
              <a:t>Tratar en casa, con seguridad hospitalaria, a pacientes con infecciones que requieren antibiótico intravenoso prolongado, mediante paquetes integrales por infección y perfil de resistencia que liberan camas y reducen costos para EPS y clínicas de Santander.</a:t>
            </a:r>
            <a:endParaRPr lang="en-US" sz="1350" dirty="0"/>
          </a:p>
        </p:txBody>
      </p:sp>
      <p:sp>
        <p:nvSpPr>
          <p:cNvPr id="10" name="Shape 7"/>
          <p:cNvSpPr/>
          <p:nvPr/>
        </p:nvSpPr>
        <p:spPr>
          <a:xfrm>
            <a:off x="4663440" y="1234440"/>
            <a:ext cx="4023360" cy="3474720"/>
          </a:xfrm>
          <a:prstGeom prst="roundRect">
            <a:avLst>
              <a:gd name="adj" fmla="val 2105"/>
            </a:avLst>
          </a:prstGeom>
          <a:solidFill>
            <a:srgbClr val="EEF6F6"/>
          </a:solidFill>
          <a:ln w="6350">
            <a:solidFill>
              <a:srgbClr val="EEF6F6"/>
            </a:solidFill>
            <a:prstDash val="solid"/>
          </a:ln>
        </p:spPr>
      </p:sp>
      <p:sp>
        <p:nvSpPr>
          <p:cNvPr id="11" name="Shape 8"/>
          <p:cNvSpPr/>
          <p:nvPr/>
        </p:nvSpPr>
        <p:spPr>
          <a:xfrm>
            <a:off x="4892040" y="1417320"/>
            <a:ext cx="640080" cy="640080"/>
          </a:xfrm>
          <a:prstGeom prst="ellipse">
            <a:avLst/>
          </a:prstGeom>
          <a:solidFill>
            <a:srgbClr val="0E7C86"/>
          </a:solidFill>
          <a:ln w="19050">
            <a:solidFill>
              <a:srgbClr val="0E7C86"/>
            </a:solidFill>
            <a:prstDash val="solid"/>
          </a:ln>
        </p:spPr>
      </p:sp>
      <p:pic>
        <p:nvPicPr>
          <p:cNvPr id="12" name="Image 1" descr="preencoded.png">    </p:cNvPr>
          <p:cNvPicPr>
            <a:picLocks noChangeAspect="1"/>
          </p:cNvPicPr>
          <p:nvPr/>
        </p:nvPicPr>
        <p:blipFill>
          <a:blip r:embed="rId2"/>
          <a:stretch>
            <a:fillRect/>
          </a:stretch>
        </p:blipFill>
        <p:spPr>
          <a:xfrm>
            <a:off x="5052060" y="1577340"/>
            <a:ext cx="320040" cy="320040"/>
          </a:xfrm>
          <a:prstGeom prst="rect">
            <a:avLst/>
          </a:prstGeom>
        </p:spPr>
      </p:pic>
      <p:sp>
        <p:nvSpPr>
          <p:cNvPr id="13" name="Text 9"/>
          <p:cNvSpPr txBox="1"/>
          <p:nvPr/>
        </p:nvSpPr>
        <p:spPr>
          <a:xfrm>
            <a:off x="5669280" y="1417320"/>
            <a:ext cx="2743200" cy="640080"/>
          </a:xfrm>
          <a:prstGeom prst="rect">
            <a:avLst/>
          </a:prstGeom>
          <a:noFill/>
          <a:ln/>
        </p:spPr>
        <p:txBody>
          <a:bodyPr wrap="square" lIns="0" tIns="0" rIns="0" bIns="0" rtlCol="0" anchor="ctr"/>
          <a:lstStyle/>
          <a:p>
            <a:pPr indent="0" marL="0">
              <a:buNone/>
            </a:pPr>
            <a:r>
              <a:rPr lang="en-US" sz="2200" b="1" dirty="0">
                <a:solidFill>
                  <a:srgbClr val="0B2236"/>
                </a:solidFill>
                <a:latin typeface="Calibri" pitchFamily="34" charset="0"/>
                <a:ea typeface="Calibri" pitchFamily="34" charset="-122"/>
                <a:cs typeface="Calibri" pitchFamily="34" charset="-120"/>
              </a:rPr>
              <a:t>Visión 2030</a:t>
            </a:r>
            <a:endParaRPr lang="en-US" sz="2200" dirty="0"/>
          </a:p>
        </p:txBody>
      </p:sp>
      <p:sp>
        <p:nvSpPr>
          <p:cNvPr id="14" name="Text 10"/>
          <p:cNvSpPr txBox="1"/>
          <p:nvPr/>
        </p:nvSpPr>
        <p:spPr>
          <a:xfrm>
            <a:off x="4892040" y="2240280"/>
            <a:ext cx="3611880" cy="2331720"/>
          </a:xfrm>
          <a:prstGeom prst="rect">
            <a:avLst/>
          </a:prstGeom>
          <a:noFill/>
          <a:ln/>
        </p:spPr>
        <p:txBody>
          <a:bodyPr wrap="square" lIns="0" tIns="0" rIns="0" bIns="0" rtlCol="0" anchor="t"/>
          <a:lstStyle/>
          <a:p>
            <a:pPr indent="0" marL="0">
              <a:buNone/>
            </a:pPr>
            <a:r>
              <a:rPr lang="en-US" sz="1350" dirty="0">
                <a:solidFill>
                  <a:srgbClr val="1D2B36"/>
                </a:solidFill>
                <a:latin typeface="Calibri" pitchFamily="34" charset="0"/>
                <a:ea typeface="Calibri" pitchFamily="34" charset="-122"/>
                <a:cs typeface="Calibri" pitchFamily="34" charset="-120"/>
              </a:rPr>
              <a:t>Ser en 2030 la red líder del nororiente colombiano en antibioticoterapia domiciliaria, reconocida por sus resultados clínicos medibles, su contribución al uso racional de antimicrobianos y su modelo de pago por paquete replicable en otras ciudades.</a:t>
            </a:r>
            <a:endParaRPr lang="en-US" sz="13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PLANEACIÓN ESTRATÉGICA · FASE FILOSÓFICA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Valores, cultura organizacional y políticas</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Text 3"/>
          <p:cNvSpPr txBox="1"/>
          <p:nvPr/>
        </p:nvSpPr>
        <p:spPr>
          <a:xfrm>
            <a:off x="457200" y="1143000"/>
            <a:ext cx="3657600" cy="274320"/>
          </a:xfrm>
          <a:prstGeom prst="rect">
            <a:avLst/>
          </a:prstGeom>
          <a:noFill/>
          <a:ln/>
        </p:spPr>
        <p:txBody>
          <a:bodyPr wrap="square" lIns="0" tIns="0" rIns="0" bIns="0" rtlCol="0" anchor="t"/>
          <a:lstStyle/>
          <a:p>
            <a:pPr indent="0" marL="0">
              <a:buNone/>
            </a:pPr>
            <a:r>
              <a:rPr lang="en-US" sz="1100" b="1" spc="300" kern="0" dirty="0">
                <a:solidFill>
                  <a:srgbClr val="0E7C86"/>
                </a:solidFill>
                <a:latin typeface="Calibri" pitchFamily="34" charset="0"/>
                <a:ea typeface="Calibri" pitchFamily="34" charset="-122"/>
                <a:cs typeface="Calibri" pitchFamily="34" charset="-120"/>
              </a:rPr>
              <a:t>VALORES</a:t>
            </a:r>
            <a:endParaRPr lang="en-US" sz="1100" dirty="0"/>
          </a:p>
        </p:txBody>
      </p:sp>
      <p:sp>
        <p:nvSpPr>
          <p:cNvPr id="6" name="Shape 4"/>
          <p:cNvSpPr/>
          <p:nvPr/>
        </p:nvSpPr>
        <p:spPr>
          <a:xfrm>
            <a:off x="457200" y="1463040"/>
            <a:ext cx="1554480" cy="1234440"/>
          </a:xfrm>
          <a:prstGeom prst="roundRect">
            <a:avLst>
              <a:gd name="adj" fmla="val 5926"/>
            </a:avLst>
          </a:prstGeom>
          <a:solidFill>
            <a:srgbClr val="EEF6F6"/>
          </a:solidFill>
          <a:ln w="6350">
            <a:solidFill>
              <a:srgbClr val="EEF6F6"/>
            </a:solidFill>
            <a:prstDash val="solid"/>
          </a:ln>
        </p:spPr>
      </p:sp>
      <p:sp>
        <p:nvSpPr>
          <p:cNvPr id="7" name="Shape 5"/>
          <p:cNvSpPr/>
          <p:nvPr/>
        </p:nvSpPr>
        <p:spPr>
          <a:xfrm>
            <a:off x="960120" y="1554480"/>
            <a:ext cx="548640" cy="548640"/>
          </a:xfrm>
          <a:prstGeom prst="ellipse">
            <a:avLst/>
          </a:prstGeom>
          <a:solidFill>
            <a:srgbClr val="0E7C86"/>
          </a:solidFill>
          <a:ln w="19050">
            <a:solidFill>
              <a:srgbClr val="0E7C86"/>
            </a:solidFill>
            <a:prstDash val="solid"/>
          </a:ln>
        </p:spPr>
      </p:sp>
      <p:pic>
        <p:nvPicPr>
          <p:cNvPr id="8" name="Image 0" descr="preencoded.png">    </p:cNvPr>
          <p:cNvPicPr>
            <a:picLocks noChangeAspect="1"/>
          </p:cNvPicPr>
          <p:nvPr/>
        </p:nvPicPr>
        <p:blipFill>
          <a:blip r:embed="rId1"/>
          <a:stretch>
            <a:fillRect/>
          </a:stretch>
        </p:blipFill>
        <p:spPr>
          <a:xfrm>
            <a:off x="1097280" y="1691640"/>
            <a:ext cx="274320" cy="274320"/>
          </a:xfrm>
          <a:prstGeom prst="rect">
            <a:avLst/>
          </a:prstGeom>
        </p:spPr>
      </p:pic>
      <p:sp>
        <p:nvSpPr>
          <p:cNvPr id="9" name="Text 6"/>
          <p:cNvSpPr txBox="1"/>
          <p:nvPr/>
        </p:nvSpPr>
        <p:spPr>
          <a:xfrm>
            <a:off x="502920" y="2148840"/>
            <a:ext cx="1463040" cy="502920"/>
          </a:xfrm>
          <a:prstGeom prst="rect">
            <a:avLst/>
          </a:prstGeom>
          <a:noFill/>
          <a:ln/>
        </p:spPr>
        <p:txBody>
          <a:bodyPr wrap="square" lIns="0" tIns="0" rIns="0" bIns="0" rtlCol="0" anchor="ctr"/>
          <a:lstStyle/>
          <a:p>
            <a:pPr algn="ctr" indent="0" marL="0">
              <a:buNone/>
            </a:pPr>
            <a:r>
              <a:rPr lang="en-US" sz="1100" b="1" dirty="0">
                <a:solidFill>
                  <a:srgbClr val="0B2236"/>
                </a:solidFill>
                <a:latin typeface="Calibri" pitchFamily="34" charset="0"/>
                <a:ea typeface="Calibri" pitchFamily="34" charset="-122"/>
                <a:cs typeface="Calibri" pitchFamily="34" charset="-120"/>
              </a:rPr>
              <a:t>Seguridad del paciente</a:t>
            </a:r>
            <a:endParaRPr lang="en-US" sz="1100" dirty="0"/>
          </a:p>
        </p:txBody>
      </p:sp>
      <p:sp>
        <p:nvSpPr>
          <p:cNvPr id="10" name="Shape 7"/>
          <p:cNvSpPr/>
          <p:nvPr/>
        </p:nvSpPr>
        <p:spPr>
          <a:xfrm>
            <a:off x="2139696" y="1463040"/>
            <a:ext cx="1554480" cy="1234440"/>
          </a:xfrm>
          <a:prstGeom prst="roundRect">
            <a:avLst>
              <a:gd name="adj" fmla="val 5926"/>
            </a:avLst>
          </a:prstGeom>
          <a:solidFill>
            <a:srgbClr val="EEF6F6"/>
          </a:solidFill>
          <a:ln w="6350">
            <a:solidFill>
              <a:srgbClr val="EEF6F6"/>
            </a:solidFill>
            <a:prstDash val="solid"/>
          </a:ln>
        </p:spPr>
      </p:sp>
      <p:sp>
        <p:nvSpPr>
          <p:cNvPr id="11" name="Shape 8"/>
          <p:cNvSpPr/>
          <p:nvPr/>
        </p:nvSpPr>
        <p:spPr>
          <a:xfrm>
            <a:off x="2642616" y="1554480"/>
            <a:ext cx="548640" cy="548640"/>
          </a:xfrm>
          <a:prstGeom prst="ellipse">
            <a:avLst/>
          </a:prstGeom>
          <a:solidFill>
            <a:srgbClr val="0E7C86"/>
          </a:solidFill>
          <a:ln w="19050">
            <a:solidFill>
              <a:srgbClr val="0E7C86"/>
            </a:solidFill>
            <a:prstDash val="solid"/>
          </a:ln>
        </p:spPr>
      </p:sp>
      <p:pic>
        <p:nvPicPr>
          <p:cNvPr id="12" name="Image 1" descr="preencoded.png">    </p:cNvPr>
          <p:cNvPicPr>
            <a:picLocks noChangeAspect="1"/>
          </p:cNvPicPr>
          <p:nvPr/>
        </p:nvPicPr>
        <p:blipFill>
          <a:blip r:embed="rId2"/>
          <a:stretch>
            <a:fillRect/>
          </a:stretch>
        </p:blipFill>
        <p:spPr>
          <a:xfrm>
            <a:off x="2779776" y="1691640"/>
            <a:ext cx="274320" cy="274320"/>
          </a:xfrm>
          <a:prstGeom prst="rect">
            <a:avLst/>
          </a:prstGeom>
        </p:spPr>
      </p:pic>
      <p:sp>
        <p:nvSpPr>
          <p:cNvPr id="13" name="Text 9"/>
          <p:cNvSpPr txBox="1"/>
          <p:nvPr/>
        </p:nvSpPr>
        <p:spPr>
          <a:xfrm>
            <a:off x="2185416" y="2148840"/>
            <a:ext cx="1463040" cy="502920"/>
          </a:xfrm>
          <a:prstGeom prst="rect">
            <a:avLst/>
          </a:prstGeom>
          <a:noFill/>
          <a:ln/>
        </p:spPr>
        <p:txBody>
          <a:bodyPr wrap="square" lIns="0" tIns="0" rIns="0" bIns="0" rtlCol="0" anchor="ctr"/>
          <a:lstStyle/>
          <a:p>
            <a:pPr algn="ctr" indent="0" marL="0">
              <a:buNone/>
            </a:pPr>
            <a:r>
              <a:rPr lang="en-US" sz="1100" b="1" dirty="0">
                <a:solidFill>
                  <a:srgbClr val="0B2236"/>
                </a:solidFill>
                <a:latin typeface="Calibri" pitchFamily="34" charset="0"/>
                <a:ea typeface="Calibri" pitchFamily="34" charset="-122"/>
                <a:cs typeface="Calibri" pitchFamily="34" charset="-120"/>
              </a:rPr>
              <a:t>Ética y transparencia</a:t>
            </a:r>
            <a:endParaRPr lang="en-US" sz="1100" dirty="0"/>
          </a:p>
        </p:txBody>
      </p:sp>
      <p:sp>
        <p:nvSpPr>
          <p:cNvPr id="14" name="Shape 10"/>
          <p:cNvSpPr/>
          <p:nvPr/>
        </p:nvSpPr>
        <p:spPr>
          <a:xfrm>
            <a:off x="3822192" y="1463040"/>
            <a:ext cx="1554480" cy="1234440"/>
          </a:xfrm>
          <a:prstGeom prst="roundRect">
            <a:avLst>
              <a:gd name="adj" fmla="val 5926"/>
            </a:avLst>
          </a:prstGeom>
          <a:solidFill>
            <a:srgbClr val="EEF6F6"/>
          </a:solidFill>
          <a:ln w="6350">
            <a:solidFill>
              <a:srgbClr val="EEF6F6"/>
            </a:solidFill>
            <a:prstDash val="solid"/>
          </a:ln>
        </p:spPr>
      </p:sp>
      <p:sp>
        <p:nvSpPr>
          <p:cNvPr id="15" name="Shape 11"/>
          <p:cNvSpPr/>
          <p:nvPr/>
        </p:nvSpPr>
        <p:spPr>
          <a:xfrm>
            <a:off x="4325112" y="1554480"/>
            <a:ext cx="548640" cy="548640"/>
          </a:xfrm>
          <a:prstGeom prst="ellipse">
            <a:avLst/>
          </a:prstGeom>
          <a:solidFill>
            <a:srgbClr val="0E7C86"/>
          </a:solidFill>
          <a:ln w="19050">
            <a:solidFill>
              <a:srgbClr val="0E7C86"/>
            </a:solidFill>
            <a:prstDash val="solid"/>
          </a:ln>
        </p:spPr>
      </p:sp>
      <p:pic>
        <p:nvPicPr>
          <p:cNvPr id="16" name="Image 2" descr="preencoded.png">    </p:cNvPr>
          <p:cNvPicPr>
            <a:picLocks noChangeAspect="1"/>
          </p:cNvPicPr>
          <p:nvPr/>
        </p:nvPicPr>
        <p:blipFill>
          <a:blip r:embed="rId3"/>
          <a:stretch>
            <a:fillRect/>
          </a:stretch>
        </p:blipFill>
        <p:spPr>
          <a:xfrm>
            <a:off x="4462272" y="1691640"/>
            <a:ext cx="274320" cy="274320"/>
          </a:xfrm>
          <a:prstGeom prst="rect">
            <a:avLst/>
          </a:prstGeom>
        </p:spPr>
      </p:pic>
      <p:sp>
        <p:nvSpPr>
          <p:cNvPr id="17" name="Text 12"/>
          <p:cNvSpPr txBox="1"/>
          <p:nvPr/>
        </p:nvSpPr>
        <p:spPr>
          <a:xfrm>
            <a:off x="3867912" y="2148840"/>
            <a:ext cx="1463040" cy="502920"/>
          </a:xfrm>
          <a:prstGeom prst="rect">
            <a:avLst/>
          </a:prstGeom>
          <a:noFill/>
          <a:ln/>
        </p:spPr>
        <p:txBody>
          <a:bodyPr wrap="square" lIns="0" tIns="0" rIns="0" bIns="0" rtlCol="0" anchor="ctr"/>
          <a:lstStyle/>
          <a:p>
            <a:pPr algn="ctr" indent="0" marL="0">
              <a:buNone/>
            </a:pPr>
            <a:r>
              <a:rPr lang="en-US" sz="1100" b="1" dirty="0">
                <a:solidFill>
                  <a:srgbClr val="0B2236"/>
                </a:solidFill>
                <a:latin typeface="Calibri" pitchFamily="34" charset="0"/>
                <a:ea typeface="Calibri" pitchFamily="34" charset="-122"/>
                <a:cs typeface="Calibri" pitchFamily="34" charset="-120"/>
              </a:rPr>
              <a:t>Rigor científico</a:t>
            </a:r>
            <a:endParaRPr lang="en-US" sz="1100" dirty="0"/>
          </a:p>
        </p:txBody>
      </p:sp>
      <p:sp>
        <p:nvSpPr>
          <p:cNvPr id="18" name="Shape 13"/>
          <p:cNvSpPr/>
          <p:nvPr/>
        </p:nvSpPr>
        <p:spPr>
          <a:xfrm>
            <a:off x="5504688" y="1463040"/>
            <a:ext cx="1554480" cy="1234440"/>
          </a:xfrm>
          <a:prstGeom prst="roundRect">
            <a:avLst>
              <a:gd name="adj" fmla="val 5926"/>
            </a:avLst>
          </a:prstGeom>
          <a:solidFill>
            <a:srgbClr val="EEF6F6"/>
          </a:solidFill>
          <a:ln w="6350">
            <a:solidFill>
              <a:srgbClr val="EEF6F6"/>
            </a:solidFill>
            <a:prstDash val="solid"/>
          </a:ln>
        </p:spPr>
      </p:sp>
      <p:sp>
        <p:nvSpPr>
          <p:cNvPr id="19" name="Shape 14"/>
          <p:cNvSpPr/>
          <p:nvPr/>
        </p:nvSpPr>
        <p:spPr>
          <a:xfrm>
            <a:off x="6007608" y="1554480"/>
            <a:ext cx="548640" cy="548640"/>
          </a:xfrm>
          <a:prstGeom prst="ellipse">
            <a:avLst/>
          </a:prstGeom>
          <a:solidFill>
            <a:srgbClr val="0E7C86"/>
          </a:solidFill>
          <a:ln w="19050">
            <a:solidFill>
              <a:srgbClr val="0E7C86"/>
            </a:solidFill>
            <a:prstDash val="solid"/>
          </a:ln>
        </p:spPr>
      </p:sp>
      <p:pic>
        <p:nvPicPr>
          <p:cNvPr id="20" name="Image 3" descr="preencoded.png">    </p:cNvPr>
          <p:cNvPicPr>
            <a:picLocks noChangeAspect="1"/>
          </p:cNvPicPr>
          <p:nvPr/>
        </p:nvPicPr>
        <p:blipFill>
          <a:blip r:embed="rId4"/>
          <a:stretch>
            <a:fillRect/>
          </a:stretch>
        </p:blipFill>
        <p:spPr>
          <a:xfrm>
            <a:off x="6144768" y="1691640"/>
            <a:ext cx="274320" cy="274320"/>
          </a:xfrm>
          <a:prstGeom prst="rect">
            <a:avLst/>
          </a:prstGeom>
        </p:spPr>
      </p:pic>
      <p:sp>
        <p:nvSpPr>
          <p:cNvPr id="21" name="Text 15"/>
          <p:cNvSpPr txBox="1"/>
          <p:nvPr/>
        </p:nvSpPr>
        <p:spPr>
          <a:xfrm>
            <a:off x="5550408" y="2148840"/>
            <a:ext cx="1463040" cy="502920"/>
          </a:xfrm>
          <a:prstGeom prst="rect">
            <a:avLst/>
          </a:prstGeom>
          <a:noFill/>
          <a:ln/>
        </p:spPr>
        <p:txBody>
          <a:bodyPr wrap="square" lIns="0" tIns="0" rIns="0" bIns="0" rtlCol="0" anchor="ctr"/>
          <a:lstStyle/>
          <a:p>
            <a:pPr algn="ctr" indent="0" marL="0">
              <a:buNone/>
            </a:pPr>
            <a:r>
              <a:rPr lang="en-US" sz="1100" b="1" dirty="0">
                <a:solidFill>
                  <a:srgbClr val="0B2236"/>
                </a:solidFill>
                <a:latin typeface="Calibri" pitchFamily="34" charset="0"/>
                <a:ea typeface="Calibri" pitchFamily="34" charset="-122"/>
                <a:cs typeface="Calibri" pitchFamily="34" charset="-120"/>
              </a:rPr>
              <a:t>Uso racional de antibióticos</a:t>
            </a:r>
            <a:endParaRPr lang="en-US" sz="1100" dirty="0"/>
          </a:p>
        </p:txBody>
      </p:sp>
      <p:sp>
        <p:nvSpPr>
          <p:cNvPr id="22" name="Shape 16"/>
          <p:cNvSpPr/>
          <p:nvPr/>
        </p:nvSpPr>
        <p:spPr>
          <a:xfrm>
            <a:off x="7187184" y="1463040"/>
            <a:ext cx="1554480" cy="1234440"/>
          </a:xfrm>
          <a:prstGeom prst="roundRect">
            <a:avLst>
              <a:gd name="adj" fmla="val 5926"/>
            </a:avLst>
          </a:prstGeom>
          <a:solidFill>
            <a:srgbClr val="EEF6F6"/>
          </a:solidFill>
          <a:ln w="6350">
            <a:solidFill>
              <a:srgbClr val="EEF6F6"/>
            </a:solidFill>
            <a:prstDash val="solid"/>
          </a:ln>
        </p:spPr>
      </p:sp>
      <p:sp>
        <p:nvSpPr>
          <p:cNvPr id="23" name="Shape 17"/>
          <p:cNvSpPr/>
          <p:nvPr/>
        </p:nvSpPr>
        <p:spPr>
          <a:xfrm>
            <a:off x="7690104" y="1554480"/>
            <a:ext cx="548640" cy="548640"/>
          </a:xfrm>
          <a:prstGeom prst="ellipse">
            <a:avLst/>
          </a:prstGeom>
          <a:solidFill>
            <a:srgbClr val="0E7C86"/>
          </a:solidFill>
          <a:ln w="19050">
            <a:solidFill>
              <a:srgbClr val="0E7C86"/>
            </a:solidFill>
            <a:prstDash val="solid"/>
          </a:ln>
        </p:spPr>
      </p:sp>
      <p:pic>
        <p:nvPicPr>
          <p:cNvPr id="24" name="Image 4" descr="preencoded.png">    </p:cNvPr>
          <p:cNvPicPr>
            <a:picLocks noChangeAspect="1"/>
          </p:cNvPicPr>
          <p:nvPr/>
        </p:nvPicPr>
        <p:blipFill>
          <a:blip r:embed="rId5"/>
          <a:stretch>
            <a:fillRect/>
          </a:stretch>
        </p:blipFill>
        <p:spPr>
          <a:xfrm>
            <a:off x="7827264" y="1691640"/>
            <a:ext cx="274320" cy="274320"/>
          </a:xfrm>
          <a:prstGeom prst="rect">
            <a:avLst/>
          </a:prstGeom>
        </p:spPr>
      </p:pic>
      <p:sp>
        <p:nvSpPr>
          <p:cNvPr id="25" name="Text 18"/>
          <p:cNvSpPr txBox="1"/>
          <p:nvPr/>
        </p:nvSpPr>
        <p:spPr>
          <a:xfrm>
            <a:off x="7232904" y="2148840"/>
            <a:ext cx="1463040" cy="502920"/>
          </a:xfrm>
          <a:prstGeom prst="rect">
            <a:avLst/>
          </a:prstGeom>
          <a:noFill/>
          <a:ln/>
        </p:spPr>
        <p:txBody>
          <a:bodyPr wrap="square" lIns="0" tIns="0" rIns="0" bIns="0" rtlCol="0" anchor="ctr"/>
          <a:lstStyle/>
          <a:p>
            <a:pPr algn="ctr" indent="0" marL="0">
              <a:buNone/>
            </a:pPr>
            <a:r>
              <a:rPr lang="en-US" sz="1100" b="1" dirty="0">
                <a:solidFill>
                  <a:srgbClr val="0B2236"/>
                </a:solidFill>
                <a:latin typeface="Calibri" pitchFamily="34" charset="0"/>
                <a:ea typeface="Calibri" pitchFamily="34" charset="-122"/>
                <a:cs typeface="Calibri" pitchFamily="34" charset="-120"/>
              </a:rPr>
              <a:t>Trato humano en casa</a:t>
            </a:r>
            <a:endParaRPr lang="en-US" sz="1100" dirty="0"/>
          </a:p>
        </p:txBody>
      </p:sp>
      <p:sp>
        <p:nvSpPr>
          <p:cNvPr id="26" name="Shape 19"/>
          <p:cNvSpPr/>
          <p:nvPr/>
        </p:nvSpPr>
        <p:spPr>
          <a:xfrm>
            <a:off x="457200" y="2834640"/>
            <a:ext cx="4023360" cy="1874520"/>
          </a:xfrm>
          <a:prstGeom prst="roundRect">
            <a:avLst>
              <a:gd name="adj" fmla="val 3902"/>
            </a:avLst>
          </a:prstGeom>
          <a:solidFill>
            <a:srgbClr val="FBF5E8"/>
          </a:solidFill>
          <a:ln w="6350">
            <a:solidFill>
              <a:srgbClr val="FBF5E8"/>
            </a:solidFill>
            <a:prstDash val="solid"/>
          </a:ln>
        </p:spPr>
      </p:sp>
      <p:sp>
        <p:nvSpPr>
          <p:cNvPr id="27" name="Text 20"/>
          <p:cNvSpPr txBox="1"/>
          <p:nvPr/>
        </p:nvSpPr>
        <p:spPr>
          <a:xfrm>
            <a:off x="640080" y="2907792"/>
            <a:ext cx="3657600" cy="320040"/>
          </a:xfrm>
          <a:prstGeom prst="rect">
            <a:avLst/>
          </a:prstGeom>
          <a:noFill/>
          <a:ln/>
        </p:spPr>
        <p:txBody>
          <a:bodyPr wrap="square" lIns="0" tIns="0" rIns="0" bIns="0" rtlCol="0" anchor="t"/>
          <a:lstStyle/>
          <a:p>
            <a:pPr indent="0" marL="0">
              <a:buNone/>
            </a:pPr>
            <a:r>
              <a:rPr lang="en-US" sz="1400" b="1" dirty="0">
                <a:solidFill>
                  <a:srgbClr val="E9A23B"/>
                </a:solidFill>
                <a:latin typeface="Calibri" pitchFamily="34" charset="0"/>
                <a:ea typeface="Calibri" pitchFamily="34" charset="-122"/>
                <a:cs typeface="Calibri" pitchFamily="34" charset="-120"/>
              </a:rPr>
              <a:t>Cultura organizacional</a:t>
            </a:r>
            <a:endParaRPr lang="en-US" sz="1400" dirty="0"/>
          </a:p>
        </p:txBody>
      </p:sp>
      <p:sp>
        <p:nvSpPr>
          <p:cNvPr id="28" name="Text 21"/>
          <p:cNvSpPr txBox="1"/>
          <p:nvPr/>
        </p:nvSpPr>
        <p:spPr>
          <a:xfrm>
            <a:off x="640080" y="3246120"/>
            <a:ext cx="3657600" cy="141732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Cultura de aprendizaje y de reporte sin culpa: cada evento adverso se analiza y se convierte en mejora del protocolo. Decisiones clínicas basadas en datos y trabajo en equipo entre enfermería, medicina general, medicina interna e infectología.</a:t>
            </a:r>
            <a:endParaRPr lang="en-US" sz="1150" dirty="0"/>
          </a:p>
        </p:txBody>
      </p:sp>
      <p:sp>
        <p:nvSpPr>
          <p:cNvPr id="29" name="Shape 22"/>
          <p:cNvSpPr/>
          <p:nvPr/>
        </p:nvSpPr>
        <p:spPr>
          <a:xfrm>
            <a:off x="4663440" y="2834640"/>
            <a:ext cx="4023360" cy="1874520"/>
          </a:xfrm>
          <a:prstGeom prst="roundRect">
            <a:avLst>
              <a:gd name="adj" fmla="val 3902"/>
            </a:avLst>
          </a:prstGeom>
          <a:solidFill>
            <a:srgbClr val="FDF1EC"/>
          </a:solidFill>
          <a:ln w="6350">
            <a:solidFill>
              <a:srgbClr val="FDF1EC"/>
            </a:solidFill>
            <a:prstDash val="solid"/>
          </a:ln>
        </p:spPr>
      </p:sp>
      <p:sp>
        <p:nvSpPr>
          <p:cNvPr id="30" name="Text 23"/>
          <p:cNvSpPr txBox="1"/>
          <p:nvPr/>
        </p:nvSpPr>
        <p:spPr>
          <a:xfrm>
            <a:off x="4846320" y="2907792"/>
            <a:ext cx="3657600" cy="320040"/>
          </a:xfrm>
          <a:prstGeom prst="rect">
            <a:avLst/>
          </a:prstGeom>
          <a:noFill/>
          <a:ln/>
        </p:spPr>
        <p:txBody>
          <a:bodyPr wrap="square" lIns="0" tIns="0" rIns="0" bIns="0" rtlCol="0" anchor="t"/>
          <a:lstStyle/>
          <a:p>
            <a:pPr indent="0" marL="0">
              <a:buNone/>
            </a:pPr>
            <a:r>
              <a:rPr lang="en-US" sz="1400" b="1" dirty="0">
                <a:solidFill>
                  <a:srgbClr val="F26B4E"/>
                </a:solidFill>
                <a:latin typeface="Calibri" pitchFamily="34" charset="0"/>
                <a:ea typeface="Calibri" pitchFamily="34" charset="-122"/>
                <a:cs typeface="Calibri" pitchFamily="34" charset="-120"/>
              </a:rPr>
              <a:t>Políticas</a:t>
            </a:r>
            <a:endParaRPr lang="en-US" sz="1400" dirty="0"/>
          </a:p>
        </p:txBody>
      </p:sp>
      <p:sp>
        <p:nvSpPr>
          <p:cNvPr id="31" name="Text 24"/>
          <p:cNvSpPr txBox="1"/>
          <p:nvPr/>
        </p:nvSpPr>
        <p:spPr>
          <a:xfrm>
            <a:off x="4846320" y="3246120"/>
            <a:ext cx="3657600" cy="1417320"/>
          </a:xfrm>
          <a:prstGeom prst="rect">
            <a:avLst/>
          </a:prstGeom>
          <a:noFill/>
          <a:ln/>
        </p:spPr>
        <p:txBody>
          <a:bodyPr wrap="square" lIns="0" tIns="0" rIns="0" bIns="0" rtlCol="0" anchor="t"/>
          <a:lstStyle/>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Ningún paciente ingresa sin antibiograma y aval de infectología</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Protocolos estandarizados por paquete</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Política de precios transparente por nivel</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Protección de datos personales y consentimiento informado</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Gestión de residuos y cadena de frío</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E9A23B"/>
                </a:solidFill>
                <a:latin typeface="Calibri" pitchFamily="34" charset="0"/>
                <a:ea typeface="Calibri" pitchFamily="34" charset="-122"/>
                <a:cs typeface="Calibri" pitchFamily="34" charset="-120"/>
              </a:rPr>
              <a:t>PLANEACIÓN ESTRATÉGICA · FASE ANALÍTICA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Objetivos estratégicos institucionales y corporativos</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8229600" cy="621792"/>
          </a:xfrm>
          <a:prstGeom prst="roundRect">
            <a:avLst>
              <a:gd name="adj" fmla="val 11765"/>
            </a:avLst>
          </a:prstGeom>
          <a:solidFill>
            <a:srgbClr val="EEF6F6"/>
          </a:solidFill>
          <a:ln w="6350">
            <a:solidFill>
              <a:srgbClr val="EEF6F6"/>
            </a:solidFill>
            <a:prstDash val="solid"/>
          </a:ln>
        </p:spPr>
      </p:sp>
      <p:sp>
        <p:nvSpPr>
          <p:cNvPr id="6" name="Shape 4"/>
          <p:cNvSpPr/>
          <p:nvPr/>
        </p:nvSpPr>
        <p:spPr>
          <a:xfrm>
            <a:off x="548640" y="1261872"/>
            <a:ext cx="475488" cy="475488"/>
          </a:xfrm>
          <a:prstGeom prst="ellipse">
            <a:avLst/>
          </a:prstGeom>
          <a:solidFill>
            <a:srgbClr val="0E7C86"/>
          </a:solidFill>
          <a:ln w="19050">
            <a:solidFill>
              <a:srgbClr val="0E7C86"/>
            </a:solidFill>
            <a:prstDash val="solid"/>
          </a:ln>
        </p:spPr>
      </p:sp>
      <p:pic>
        <p:nvPicPr>
          <p:cNvPr id="7" name="Image 0" descr="preencoded.png">    </p:cNvPr>
          <p:cNvPicPr>
            <a:picLocks noChangeAspect="1"/>
          </p:cNvPicPr>
          <p:nvPr/>
        </p:nvPicPr>
        <p:blipFill>
          <a:blip r:embed="rId1"/>
          <a:stretch>
            <a:fillRect/>
          </a:stretch>
        </p:blipFill>
        <p:spPr>
          <a:xfrm>
            <a:off x="667512" y="1380744"/>
            <a:ext cx="237744" cy="237744"/>
          </a:xfrm>
          <a:prstGeom prst="rect">
            <a:avLst/>
          </a:prstGeom>
        </p:spPr>
      </p:pic>
      <p:sp>
        <p:nvSpPr>
          <p:cNvPr id="8" name="Text 5"/>
          <p:cNvSpPr txBox="1"/>
          <p:nvPr/>
        </p:nvSpPr>
        <p:spPr>
          <a:xfrm>
            <a:off x="1143000" y="1188720"/>
            <a:ext cx="1463040" cy="621792"/>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Clínico</a:t>
            </a:r>
            <a:endParaRPr lang="en-US" sz="1300" dirty="0"/>
          </a:p>
        </p:txBody>
      </p:sp>
      <p:sp>
        <p:nvSpPr>
          <p:cNvPr id="9" name="Text 6"/>
          <p:cNvSpPr txBox="1"/>
          <p:nvPr/>
        </p:nvSpPr>
        <p:spPr>
          <a:xfrm>
            <a:off x="2606040" y="1188720"/>
            <a:ext cx="5943600" cy="621792"/>
          </a:xfrm>
          <a:prstGeom prst="rect">
            <a:avLst/>
          </a:prstGeom>
          <a:noFill/>
          <a:ln/>
        </p:spPr>
        <p:txBody>
          <a:bodyPr wrap="square" lIns="0" tIns="0" rIns="0" bIns="0" rtlCol="0" anchor="ctr"/>
          <a:lstStyle/>
          <a:p>
            <a:pPr indent="0" marL="0">
              <a:buNone/>
            </a:pPr>
            <a:r>
              <a:rPr lang="en-US" sz="1200" dirty="0">
                <a:solidFill>
                  <a:srgbClr val="1D2B36"/>
                </a:solidFill>
                <a:latin typeface="Calibri" pitchFamily="34" charset="0"/>
                <a:ea typeface="Calibri" pitchFamily="34" charset="-122"/>
                <a:cs typeface="Calibri" pitchFamily="34" charset="-120"/>
              </a:rPr>
              <a:t>Reingreso a 30 días &lt; 10 % y complicaciones del catéter &lt; 5 % de los pacientes</a:t>
            </a:r>
            <a:endParaRPr lang="en-US" sz="1200" dirty="0"/>
          </a:p>
        </p:txBody>
      </p:sp>
      <p:sp>
        <p:nvSpPr>
          <p:cNvPr id="10" name="Shape 7"/>
          <p:cNvSpPr/>
          <p:nvPr/>
        </p:nvSpPr>
        <p:spPr>
          <a:xfrm>
            <a:off x="457200" y="1901952"/>
            <a:ext cx="8229600" cy="621792"/>
          </a:xfrm>
          <a:prstGeom prst="roundRect">
            <a:avLst>
              <a:gd name="adj" fmla="val 11765"/>
            </a:avLst>
          </a:prstGeom>
          <a:solidFill>
            <a:srgbClr val="EEF6F6"/>
          </a:solidFill>
          <a:ln w="6350">
            <a:solidFill>
              <a:srgbClr val="EEF6F6"/>
            </a:solidFill>
            <a:prstDash val="solid"/>
          </a:ln>
        </p:spPr>
      </p:sp>
      <p:sp>
        <p:nvSpPr>
          <p:cNvPr id="11" name="Shape 8"/>
          <p:cNvSpPr/>
          <p:nvPr/>
        </p:nvSpPr>
        <p:spPr>
          <a:xfrm>
            <a:off x="548640" y="1975104"/>
            <a:ext cx="475488" cy="475488"/>
          </a:xfrm>
          <a:prstGeom prst="ellipse">
            <a:avLst/>
          </a:prstGeom>
          <a:solidFill>
            <a:srgbClr val="F26B4E"/>
          </a:solidFill>
          <a:ln w="19050">
            <a:solidFill>
              <a:srgbClr val="F26B4E"/>
            </a:solidFill>
            <a:prstDash val="solid"/>
          </a:ln>
        </p:spPr>
      </p:sp>
      <p:pic>
        <p:nvPicPr>
          <p:cNvPr id="12" name="Image 1" descr="preencoded.png">    </p:cNvPr>
          <p:cNvPicPr>
            <a:picLocks noChangeAspect="1"/>
          </p:cNvPicPr>
          <p:nvPr/>
        </p:nvPicPr>
        <p:blipFill>
          <a:blip r:embed="rId2"/>
          <a:stretch>
            <a:fillRect/>
          </a:stretch>
        </p:blipFill>
        <p:spPr>
          <a:xfrm>
            <a:off x="667512" y="2093976"/>
            <a:ext cx="237744" cy="237744"/>
          </a:xfrm>
          <a:prstGeom prst="rect">
            <a:avLst/>
          </a:prstGeom>
        </p:spPr>
      </p:pic>
      <p:sp>
        <p:nvSpPr>
          <p:cNvPr id="13" name="Text 9"/>
          <p:cNvSpPr txBox="1"/>
          <p:nvPr/>
        </p:nvSpPr>
        <p:spPr>
          <a:xfrm>
            <a:off x="1143000" y="1901952"/>
            <a:ext cx="1463040" cy="621792"/>
          </a:xfrm>
          <a:prstGeom prst="rect">
            <a:avLst/>
          </a:prstGeom>
          <a:noFill/>
          <a:ln/>
        </p:spPr>
        <p:txBody>
          <a:bodyPr wrap="square" lIns="0" tIns="0" rIns="0" bIns="0" rtlCol="0" anchor="ctr"/>
          <a:lstStyle/>
          <a:p>
            <a:pPr indent="0" marL="0">
              <a:buNone/>
            </a:pPr>
            <a:r>
              <a:rPr lang="en-US" sz="1300" b="1" dirty="0">
                <a:solidFill>
                  <a:srgbClr val="F26B4E"/>
                </a:solidFill>
                <a:latin typeface="Calibri" pitchFamily="34" charset="0"/>
                <a:ea typeface="Calibri" pitchFamily="34" charset="-122"/>
                <a:cs typeface="Calibri" pitchFamily="34" charset="-120"/>
              </a:rPr>
              <a:t>Mercado</a:t>
            </a:r>
            <a:endParaRPr lang="en-US" sz="1300" dirty="0"/>
          </a:p>
        </p:txBody>
      </p:sp>
      <p:sp>
        <p:nvSpPr>
          <p:cNvPr id="14" name="Text 10"/>
          <p:cNvSpPr txBox="1"/>
          <p:nvPr/>
        </p:nvSpPr>
        <p:spPr>
          <a:xfrm>
            <a:off x="2606040" y="1901952"/>
            <a:ext cx="5943600" cy="621792"/>
          </a:xfrm>
          <a:prstGeom prst="rect">
            <a:avLst/>
          </a:prstGeom>
          <a:noFill/>
          <a:ln/>
        </p:spPr>
        <p:txBody>
          <a:bodyPr wrap="square" lIns="0" tIns="0" rIns="0" bIns="0" rtlCol="0" anchor="ctr"/>
          <a:lstStyle/>
          <a:p>
            <a:pPr indent="0" marL="0">
              <a:buNone/>
            </a:pPr>
            <a:r>
              <a:rPr lang="en-US" sz="1200" dirty="0">
                <a:solidFill>
                  <a:srgbClr val="1D2B36"/>
                </a:solidFill>
                <a:latin typeface="Calibri" pitchFamily="34" charset="0"/>
                <a:ea typeface="Calibri" pitchFamily="34" charset="-122"/>
                <a:cs typeface="Calibri" pitchFamily="34" charset="-120"/>
              </a:rPr>
              <a:t>Contratos con 2 EPS y 3 clínicas en el primer año; 5 EPS y 6 clínicas al tercer año</a:t>
            </a:r>
            <a:endParaRPr lang="en-US" sz="1200" dirty="0"/>
          </a:p>
        </p:txBody>
      </p:sp>
      <p:sp>
        <p:nvSpPr>
          <p:cNvPr id="15" name="Shape 11"/>
          <p:cNvSpPr/>
          <p:nvPr/>
        </p:nvSpPr>
        <p:spPr>
          <a:xfrm>
            <a:off x="457200" y="2615184"/>
            <a:ext cx="8229600" cy="621792"/>
          </a:xfrm>
          <a:prstGeom prst="roundRect">
            <a:avLst>
              <a:gd name="adj" fmla="val 11765"/>
            </a:avLst>
          </a:prstGeom>
          <a:solidFill>
            <a:srgbClr val="EEF6F6"/>
          </a:solidFill>
          <a:ln w="6350">
            <a:solidFill>
              <a:srgbClr val="EEF6F6"/>
            </a:solidFill>
            <a:prstDash val="solid"/>
          </a:ln>
        </p:spPr>
      </p:sp>
      <p:sp>
        <p:nvSpPr>
          <p:cNvPr id="16" name="Shape 12"/>
          <p:cNvSpPr/>
          <p:nvPr/>
        </p:nvSpPr>
        <p:spPr>
          <a:xfrm>
            <a:off x="548640" y="2688336"/>
            <a:ext cx="475488" cy="475488"/>
          </a:xfrm>
          <a:prstGeom prst="ellipse">
            <a:avLst/>
          </a:prstGeom>
          <a:solidFill>
            <a:srgbClr val="2E9E6A"/>
          </a:solidFill>
          <a:ln w="19050">
            <a:solidFill>
              <a:srgbClr val="2E9E6A"/>
            </a:solidFill>
            <a:prstDash val="solid"/>
          </a:ln>
        </p:spPr>
      </p:sp>
      <p:pic>
        <p:nvPicPr>
          <p:cNvPr id="17" name="Image 2" descr="preencoded.png">    </p:cNvPr>
          <p:cNvPicPr>
            <a:picLocks noChangeAspect="1"/>
          </p:cNvPicPr>
          <p:nvPr/>
        </p:nvPicPr>
        <p:blipFill>
          <a:blip r:embed="rId3"/>
          <a:stretch>
            <a:fillRect/>
          </a:stretch>
        </p:blipFill>
        <p:spPr>
          <a:xfrm>
            <a:off x="667512" y="2807208"/>
            <a:ext cx="237744" cy="237744"/>
          </a:xfrm>
          <a:prstGeom prst="rect">
            <a:avLst/>
          </a:prstGeom>
        </p:spPr>
      </p:pic>
      <p:sp>
        <p:nvSpPr>
          <p:cNvPr id="18" name="Text 13"/>
          <p:cNvSpPr txBox="1"/>
          <p:nvPr/>
        </p:nvSpPr>
        <p:spPr>
          <a:xfrm>
            <a:off x="1143000" y="2615184"/>
            <a:ext cx="1463040" cy="621792"/>
          </a:xfrm>
          <a:prstGeom prst="rect">
            <a:avLst/>
          </a:prstGeom>
          <a:noFill/>
          <a:ln/>
        </p:spPr>
        <p:txBody>
          <a:bodyPr wrap="square" lIns="0" tIns="0" rIns="0" bIns="0" rtlCol="0" anchor="ctr"/>
          <a:lstStyle/>
          <a:p>
            <a:pPr indent="0" marL="0">
              <a:buNone/>
            </a:pPr>
            <a:r>
              <a:rPr lang="en-US" sz="1300" b="1" dirty="0">
                <a:solidFill>
                  <a:srgbClr val="2E9E6A"/>
                </a:solidFill>
                <a:latin typeface="Calibri" pitchFamily="34" charset="0"/>
                <a:ea typeface="Calibri" pitchFamily="34" charset="-122"/>
                <a:cs typeface="Calibri" pitchFamily="34" charset="-120"/>
              </a:rPr>
              <a:t>Financiero</a:t>
            </a:r>
            <a:endParaRPr lang="en-US" sz="1300" dirty="0"/>
          </a:p>
        </p:txBody>
      </p:sp>
      <p:sp>
        <p:nvSpPr>
          <p:cNvPr id="19" name="Text 14"/>
          <p:cNvSpPr txBox="1"/>
          <p:nvPr/>
        </p:nvSpPr>
        <p:spPr>
          <a:xfrm>
            <a:off x="2606040" y="2615184"/>
            <a:ext cx="5943600" cy="621792"/>
          </a:xfrm>
          <a:prstGeom prst="rect">
            <a:avLst/>
          </a:prstGeom>
          <a:noFill/>
          <a:ln/>
        </p:spPr>
        <p:txBody>
          <a:bodyPr wrap="square" lIns="0" tIns="0" rIns="0" bIns="0" rtlCol="0" anchor="ctr"/>
          <a:lstStyle/>
          <a:p>
            <a:pPr indent="0" marL="0">
              <a:buNone/>
            </a:pPr>
            <a:r>
              <a:rPr lang="en-US" sz="1200" dirty="0">
                <a:solidFill>
                  <a:srgbClr val="1D2B36"/>
                </a:solidFill>
                <a:latin typeface="Calibri" pitchFamily="34" charset="0"/>
                <a:ea typeface="Calibri" pitchFamily="34" charset="-122"/>
                <a:cs typeface="Calibri" pitchFamily="34" charset="-120"/>
              </a:rPr>
              <a:t>Punto de equilibrio operativo en el mes 8 y recuperación de la inversión hacia el mes 25</a:t>
            </a:r>
            <a:endParaRPr lang="en-US" sz="1200" dirty="0"/>
          </a:p>
        </p:txBody>
      </p:sp>
      <p:sp>
        <p:nvSpPr>
          <p:cNvPr id="20" name="Shape 15"/>
          <p:cNvSpPr/>
          <p:nvPr/>
        </p:nvSpPr>
        <p:spPr>
          <a:xfrm>
            <a:off x="457200" y="3328416"/>
            <a:ext cx="8229600" cy="621792"/>
          </a:xfrm>
          <a:prstGeom prst="roundRect">
            <a:avLst>
              <a:gd name="adj" fmla="val 11765"/>
            </a:avLst>
          </a:prstGeom>
          <a:solidFill>
            <a:srgbClr val="EEF6F6"/>
          </a:solidFill>
          <a:ln w="6350">
            <a:solidFill>
              <a:srgbClr val="EEF6F6"/>
            </a:solidFill>
            <a:prstDash val="solid"/>
          </a:ln>
        </p:spPr>
      </p:sp>
      <p:sp>
        <p:nvSpPr>
          <p:cNvPr id="21" name="Shape 16"/>
          <p:cNvSpPr/>
          <p:nvPr/>
        </p:nvSpPr>
        <p:spPr>
          <a:xfrm>
            <a:off x="548640" y="3401568"/>
            <a:ext cx="475488" cy="475488"/>
          </a:xfrm>
          <a:prstGeom prst="ellipse">
            <a:avLst/>
          </a:prstGeom>
          <a:solidFill>
            <a:srgbClr val="E9A23B"/>
          </a:solidFill>
          <a:ln w="19050">
            <a:solidFill>
              <a:srgbClr val="E9A23B"/>
            </a:solidFill>
            <a:prstDash val="solid"/>
          </a:ln>
        </p:spPr>
      </p:sp>
      <p:pic>
        <p:nvPicPr>
          <p:cNvPr id="22" name="Image 3" descr="preencoded.png">    </p:cNvPr>
          <p:cNvPicPr>
            <a:picLocks noChangeAspect="1"/>
          </p:cNvPicPr>
          <p:nvPr/>
        </p:nvPicPr>
        <p:blipFill>
          <a:blip r:embed="rId4"/>
          <a:stretch>
            <a:fillRect/>
          </a:stretch>
        </p:blipFill>
        <p:spPr>
          <a:xfrm>
            <a:off x="667512" y="3520440"/>
            <a:ext cx="237744" cy="237744"/>
          </a:xfrm>
          <a:prstGeom prst="rect">
            <a:avLst/>
          </a:prstGeom>
        </p:spPr>
      </p:pic>
      <p:sp>
        <p:nvSpPr>
          <p:cNvPr id="23" name="Text 17"/>
          <p:cNvSpPr txBox="1"/>
          <p:nvPr/>
        </p:nvSpPr>
        <p:spPr>
          <a:xfrm>
            <a:off x="1143000" y="3328416"/>
            <a:ext cx="1463040" cy="621792"/>
          </a:xfrm>
          <a:prstGeom prst="rect">
            <a:avLst/>
          </a:prstGeom>
          <a:noFill/>
          <a:ln/>
        </p:spPr>
        <p:txBody>
          <a:bodyPr wrap="square" lIns="0" tIns="0" rIns="0" bIns="0" rtlCol="0" anchor="ctr"/>
          <a:lstStyle/>
          <a:p>
            <a:pPr indent="0" marL="0">
              <a:buNone/>
            </a:pPr>
            <a:r>
              <a:rPr lang="en-US" sz="1300" b="1" dirty="0">
                <a:solidFill>
                  <a:srgbClr val="E9A23B"/>
                </a:solidFill>
                <a:latin typeface="Calibri" pitchFamily="34" charset="0"/>
                <a:ea typeface="Calibri" pitchFamily="34" charset="-122"/>
                <a:cs typeface="Calibri" pitchFamily="34" charset="-120"/>
              </a:rPr>
              <a:t>Impacto</a:t>
            </a:r>
            <a:endParaRPr lang="en-US" sz="1300" dirty="0"/>
          </a:p>
        </p:txBody>
      </p:sp>
      <p:sp>
        <p:nvSpPr>
          <p:cNvPr id="24" name="Text 18"/>
          <p:cNvSpPr txBox="1"/>
          <p:nvPr/>
        </p:nvSpPr>
        <p:spPr>
          <a:xfrm>
            <a:off x="2606040" y="3328416"/>
            <a:ext cx="5943600" cy="621792"/>
          </a:xfrm>
          <a:prstGeom prst="rect">
            <a:avLst/>
          </a:prstGeom>
          <a:noFill/>
          <a:ln/>
        </p:spPr>
        <p:txBody>
          <a:bodyPr wrap="square" lIns="0" tIns="0" rIns="0" bIns="0" rtlCol="0" anchor="ctr"/>
          <a:lstStyle/>
          <a:p>
            <a:pPr indent="0" marL="0">
              <a:buNone/>
            </a:pPr>
            <a:r>
              <a:rPr lang="en-US" sz="1200" dirty="0">
                <a:solidFill>
                  <a:srgbClr val="1D2B36"/>
                </a:solidFill>
                <a:latin typeface="Calibri" pitchFamily="34" charset="0"/>
                <a:ea typeface="Calibri" pitchFamily="34" charset="-122"/>
                <a:cs typeface="Calibri" pitchFamily="34" charset="-120"/>
              </a:rPr>
              <a:t>Liberar más de 13.000 días-cama al año desde el segundo año</a:t>
            </a:r>
            <a:endParaRPr lang="en-US" sz="1200" dirty="0"/>
          </a:p>
        </p:txBody>
      </p:sp>
      <p:sp>
        <p:nvSpPr>
          <p:cNvPr id="25" name="Shape 19"/>
          <p:cNvSpPr/>
          <p:nvPr/>
        </p:nvSpPr>
        <p:spPr>
          <a:xfrm>
            <a:off x="457200" y="4041648"/>
            <a:ext cx="8229600" cy="621792"/>
          </a:xfrm>
          <a:prstGeom prst="roundRect">
            <a:avLst>
              <a:gd name="adj" fmla="val 11765"/>
            </a:avLst>
          </a:prstGeom>
          <a:solidFill>
            <a:srgbClr val="EEF6F6"/>
          </a:solidFill>
          <a:ln w="6350">
            <a:solidFill>
              <a:srgbClr val="EEF6F6"/>
            </a:solidFill>
            <a:prstDash val="solid"/>
          </a:ln>
        </p:spPr>
      </p:sp>
      <p:sp>
        <p:nvSpPr>
          <p:cNvPr id="26" name="Shape 20"/>
          <p:cNvSpPr/>
          <p:nvPr/>
        </p:nvSpPr>
        <p:spPr>
          <a:xfrm>
            <a:off x="548640" y="4114800"/>
            <a:ext cx="475488" cy="475488"/>
          </a:xfrm>
          <a:prstGeom prst="ellipse">
            <a:avLst/>
          </a:prstGeom>
          <a:solidFill>
            <a:srgbClr val="0B2236"/>
          </a:solidFill>
          <a:ln w="19050">
            <a:solidFill>
              <a:srgbClr val="0B2236"/>
            </a:solidFill>
            <a:prstDash val="solid"/>
          </a:ln>
        </p:spPr>
      </p:sp>
      <p:pic>
        <p:nvPicPr>
          <p:cNvPr id="27" name="Image 4" descr="preencoded.png">    </p:cNvPr>
          <p:cNvPicPr>
            <a:picLocks noChangeAspect="1"/>
          </p:cNvPicPr>
          <p:nvPr/>
        </p:nvPicPr>
        <p:blipFill>
          <a:blip r:embed="rId5"/>
          <a:stretch>
            <a:fillRect/>
          </a:stretch>
        </p:blipFill>
        <p:spPr>
          <a:xfrm>
            <a:off x="667512" y="4233672"/>
            <a:ext cx="237744" cy="237744"/>
          </a:xfrm>
          <a:prstGeom prst="rect">
            <a:avLst/>
          </a:prstGeom>
        </p:spPr>
      </p:pic>
      <p:sp>
        <p:nvSpPr>
          <p:cNvPr id="28" name="Text 21"/>
          <p:cNvSpPr txBox="1"/>
          <p:nvPr/>
        </p:nvSpPr>
        <p:spPr>
          <a:xfrm>
            <a:off x="1143000" y="4041648"/>
            <a:ext cx="1463040" cy="621792"/>
          </a:xfrm>
          <a:prstGeom prst="rect">
            <a:avLst/>
          </a:prstGeom>
          <a:noFill/>
          <a:ln/>
        </p:spPr>
        <p:txBody>
          <a:bodyPr wrap="square" lIns="0" tIns="0" rIns="0" bIns="0" rtlCol="0" anchor="ctr"/>
          <a:lstStyle/>
          <a:p>
            <a:pPr indent="0" marL="0">
              <a:buNone/>
            </a:pPr>
            <a:r>
              <a:rPr lang="en-US" sz="1300" b="1" dirty="0">
                <a:solidFill>
                  <a:srgbClr val="0B2236"/>
                </a:solidFill>
                <a:latin typeface="Calibri" pitchFamily="34" charset="0"/>
                <a:ea typeface="Calibri" pitchFamily="34" charset="-122"/>
                <a:cs typeface="Calibri" pitchFamily="34" charset="-120"/>
              </a:rPr>
              <a:t>Organizacional</a:t>
            </a:r>
            <a:endParaRPr lang="en-US" sz="1300" dirty="0"/>
          </a:p>
        </p:txBody>
      </p:sp>
      <p:sp>
        <p:nvSpPr>
          <p:cNvPr id="29" name="Text 22"/>
          <p:cNvSpPr txBox="1"/>
          <p:nvPr/>
        </p:nvSpPr>
        <p:spPr>
          <a:xfrm>
            <a:off x="2606040" y="4041648"/>
            <a:ext cx="5943600" cy="621792"/>
          </a:xfrm>
          <a:prstGeom prst="rect">
            <a:avLst/>
          </a:prstGeom>
          <a:noFill/>
          <a:ln/>
        </p:spPr>
        <p:txBody>
          <a:bodyPr wrap="square" lIns="0" tIns="0" rIns="0" bIns="0" rtlCol="0" anchor="ctr"/>
          <a:lstStyle/>
          <a:p>
            <a:pPr indent="0" marL="0">
              <a:buNone/>
            </a:pPr>
            <a:r>
              <a:rPr lang="en-US" sz="1200" dirty="0">
                <a:solidFill>
                  <a:srgbClr val="1D2B36"/>
                </a:solidFill>
                <a:latin typeface="Calibri" pitchFamily="34" charset="0"/>
                <a:ea typeface="Calibri" pitchFamily="34" charset="-122"/>
                <a:cs typeface="Calibri" pitchFamily="34" charset="-120"/>
              </a:rPr>
              <a:t>Habilitación completa del servicio en el mes 3 y certificación de calidad al tercer año</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E9A23B"/>
                </a:solidFill>
                <a:latin typeface="Calibri" pitchFamily="34" charset="0"/>
                <a:ea typeface="Calibri" pitchFamily="34" charset="-122"/>
                <a:cs typeface="Calibri" pitchFamily="34" charset="-120"/>
              </a:rPr>
              <a:t>PLANEACIÓN ESTRATÉGICA · FASE ANALÍTICA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Análisis del ambiente externo</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4023360" cy="1078992"/>
          </a:xfrm>
          <a:prstGeom prst="roundRect">
            <a:avLst>
              <a:gd name="adj" fmla="val 6780"/>
            </a:avLst>
          </a:prstGeom>
          <a:solidFill>
            <a:srgbClr val="FBF5E8"/>
          </a:solidFill>
          <a:ln w="6350">
            <a:solidFill>
              <a:srgbClr val="FBF5E8"/>
            </a:solidFill>
            <a:prstDash val="solid"/>
          </a:ln>
        </p:spPr>
      </p:sp>
      <p:sp>
        <p:nvSpPr>
          <p:cNvPr id="6" name="Shape 4"/>
          <p:cNvSpPr/>
          <p:nvPr/>
        </p:nvSpPr>
        <p:spPr>
          <a:xfrm>
            <a:off x="566928" y="1463040"/>
            <a:ext cx="502920" cy="502920"/>
          </a:xfrm>
          <a:prstGeom prst="ellipse">
            <a:avLst/>
          </a:prstGeom>
          <a:solidFill>
            <a:srgbClr val="E9A23B"/>
          </a:solidFill>
          <a:ln w="19050">
            <a:solidFill>
              <a:srgbClr val="E9A23B"/>
            </a:solidFill>
            <a:prstDash val="solid"/>
          </a:ln>
        </p:spPr>
      </p:sp>
      <p:pic>
        <p:nvPicPr>
          <p:cNvPr id="7" name="Image 0" descr="preencoded.png">    </p:cNvPr>
          <p:cNvPicPr>
            <a:picLocks noChangeAspect="1"/>
          </p:cNvPicPr>
          <p:nvPr/>
        </p:nvPicPr>
        <p:blipFill>
          <a:blip r:embed="rId1"/>
          <a:stretch>
            <a:fillRect/>
          </a:stretch>
        </p:blipFill>
        <p:spPr>
          <a:xfrm>
            <a:off x="692658" y="1588770"/>
            <a:ext cx="251460" cy="251460"/>
          </a:xfrm>
          <a:prstGeom prst="rect">
            <a:avLst/>
          </a:prstGeom>
        </p:spPr>
      </p:pic>
      <p:sp>
        <p:nvSpPr>
          <p:cNvPr id="8" name="Text 5"/>
          <p:cNvSpPr txBox="1"/>
          <p:nvPr/>
        </p:nvSpPr>
        <p:spPr>
          <a:xfrm>
            <a:off x="1188720" y="1243584"/>
            <a:ext cx="3200400" cy="292608"/>
          </a:xfrm>
          <a:prstGeom prst="rect">
            <a:avLst/>
          </a:prstGeom>
          <a:noFill/>
          <a:ln/>
        </p:spPr>
        <p:txBody>
          <a:bodyPr wrap="square" lIns="0" tIns="0" rIns="0" bIns="0" rtlCol="0" anchor="t"/>
          <a:lstStyle/>
          <a:p>
            <a:pPr indent="0" marL="0">
              <a:buNone/>
            </a:pPr>
            <a:r>
              <a:rPr lang="en-US" sz="1250" b="1" dirty="0">
                <a:solidFill>
                  <a:srgbClr val="0B2236"/>
                </a:solidFill>
                <a:latin typeface="Calibri" pitchFamily="34" charset="0"/>
                <a:ea typeface="Calibri" pitchFamily="34" charset="-122"/>
                <a:cs typeface="Calibri" pitchFamily="34" charset="-120"/>
              </a:rPr>
              <a:t>Político-regulatorio</a:t>
            </a:r>
            <a:endParaRPr lang="en-US" sz="1250" dirty="0"/>
          </a:p>
        </p:txBody>
      </p:sp>
      <p:sp>
        <p:nvSpPr>
          <p:cNvPr id="9" name="Text 6"/>
          <p:cNvSpPr txBox="1"/>
          <p:nvPr/>
        </p:nvSpPr>
        <p:spPr>
          <a:xfrm>
            <a:off x="1188720" y="1536192"/>
            <a:ext cx="3200400" cy="713232"/>
          </a:xfrm>
          <a:prstGeom prst="rect">
            <a:avLst/>
          </a:prstGeom>
          <a:noFill/>
          <a:ln/>
        </p:spPr>
        <p:txBody>
          <a:bodyPr wrap="square" lIns="0" tIns="0" rIns="0" bIns="0" rtlCol="0" anchor="t"/>
          <a:lstStyle/>
          <a:p>
            <a:pPr indent="0" marL="0">
              <a:buNone/>
            </a:pPr>
            <a:r>
              <a:rPr lang="en-US" sz="1000" dirty="0">
                <a:solidFill>
                  <a:srgbClr val="1D2B36"/>
                </a:solidFill>
                <a:latin typeface="Calibri" pitchFamily="34" charset="0"/>
                <a:ea typeface="Calibri" pitchFamily="34" charset="-122"/>
                <a:cs typeface="Calibri" pitchFamily="34" charset="-120"/>
              </a:rPr>
              <a:t>Habilitación según Res. 3100 de 2019 y modificaciones; contratación por paquetes permitida con EPS; incertidumbre por reformas del sistema de salud.</a:t>
            </a:r>
            <a:endParaRPr lang="en-US" sz="1000" dirty="0"/>
          </a:p>
        </p:txBody>
      </p:sp>
      <p:sp>
        <p:nvSpPr>
          <p:cNvPr id="10" name="Shape 7"/>
          <p:cNvSpPr/>
          <p:nvPr/>
        </p:nvSpPr>
        <p:spPr>
          <a:xfrm>
            <a:off x="4663440" y="1188720"/>
            <a:ext cx="4023360" cy="1078992"/>
          </a:xfrm>
          <a:prstGeom prst="roundRect">
            <a:avLst>
              <a:gd name="adj" fmla="val 6780"/>
            </a:avLst>
          </a:prstGeom>
          <a:solidFill>
            <a:srgbClr val="FBF5E8"/>
          </a:solidFill>
          <a:ln w="6350">
            <a:solidFill>
              <a:srgbClr val="FBF5E8"/>
            </a:solidFill>
            <a:prstDash val="solid"/>
          </a:ln>
        </p:spPr>
      </p:sp>
      <p:sp>
        <p:nvSpPr>
          <p:cNvPr id="11" name="Shape 8"/>
          <p:cNvSpPr/>
          <p:nvPr/>
        </p:nvSpPr>
        <p:spPr>
          <a:xfrm>
            <a:off x="4773168" y="1463040"/>
            <a:ext cx="502920" cy="502920"/>
          </a:xfrm>
          <a:prstGeom prst="ellipse">
            <a:avLst/>
          </a:prstGeom>
          <a:solidFill>
            <a:srgbClr val="E9A23B"/>
          </a:solidFill>
          <a:ln w="19050">
            <a:solidFill>
              <a:srgbClr val="E9A23B"/>
            </a:solidFill>
            <a:prstDash val="solid"/>
          </a:ln>
        </p:spPr>
      </p:sp>
      <p:pic>
        <p:nvPicPr>
          <p:cNvPr id="12" name="Image 1" descr="preencoded.png">    </p:cNvPr>
          <p:cNvPicPr>
            <a:picLocks noChangeAspect="1"/>
          </p:cNvPicPr>
          <p:nvPr/>
        </p:nvPicPr>
        <p:blipFill>
          <a:blip r:embed="rId2"/>
          <a:stretch>
            <a:fillRect/>
          </a:stretch>
        </p:blipFill>
        <p:spPr>
          <a:xfrm>
            <a:off x="4898898" y="1588770"/>
            <a:ext cx="251460" cy="251460"/>
          </a:xfrm>
          <a:prstGeom prst="rect">
            <a:avLst/>
          </a:prstGeom>
        </p:spPr>
      </p:pic>
      <p:sp>
        <p:nvSpPr>
          <p:cNvPr id="13" name="Text 9"/>
          <p:cNvSpPr txBox="1"/>
          <p:nvPr/>
        </p:nvSpPr>
        <p:spPr>
          <a:xfrm>
            <a:off x="5394960" y="1243584"/>
            <a:ext cx="3200400" cy="292608"/>
          </a:xfrm>
          <a:prstGeom prst="rect">
            <a:avLst/>
          </a:prstGeom>
          <a:noFill/>
          <a:ln/>
        </p:spPr>
        <p:txBody>
          <a:bodyPr wrap="square" lIns="0" tIns="0" rIns="0" bIns="0" rtlCol="0" anchor="t"/>
          <a:lstStyle/>
          <a:p>
            <a:pPr indent="0" marL="0">
              <a:buNone/>
            </a:pPr>
            <a:r>
              <a:rPr lang="en-US" sz="1250" b="1" dirty="0">
                <a:solidFill>
                  <a:srgbClr val="0B2236"/>
                </a:solidFill>
                <a:latin typeface="Calibri" pitchFamily="34" charset="0"/>
                <a:ea typeface="Calibri" pitchFamily="34" charset="-122"/>
                <a:cs typeface="Calibri" pitchFamily="34" charset="-120"/>
              </a:rPr>
              <a:t>Económico</a:t>
            </a:r>
            <a:endParaRPr lang="en-US" sz="1250" dirty="0"/>
          </a:p>
        </p:txBody>
      </p:sp>
      <p:sp>
        <p:nvSpPr>
          <p:cNvPr id="14" name="Text 10"/>
          <p:cNvSpPr txBox="1"/>
          <p:nvPr/>
        </p:nvSpPr>
        <p:spPr>
          <a:xfrm>
            <a:off x="5394960" y="1536192"/>
            <a:ext cx="3200400" cy="713232"/>
          </a:xfrm>
          <a:prstGeom prst="rect">
            <a:avLst/>
          </a:prstGeom>
          <a:noFill/>
          <a:ln/>
        </p:spPr>
        <p:txBody>
          <a:bodyPr wrap="square" lIns="0" tIns="0" rIns="0" bIns="0" rtlCol="0" anchor="t"/>
          <a:lstStyle/>
          <a:p>
            <a:pPr indent="0" marL="0">
              <a:buNone/>
            </a:pPr>
            <a:r>
              <a:rPr lang="en-US" sz="1000" dirty="0">
                <a:solidFill>
                  <a:srgbClr val="1D2B36"/>
                </a:solidFill>
                <a:latin typeface="Calibri" pitchFamily="34" charset="0"/>
                <a:ea typeface="Calibri" pitchFamily="34" charset="-122"/>
                <a:cs typeface="Calibri" pitchFamily="34" charset="-120"/>
              </a:rPr>
              <a:t>Presión de costos y deudas de las EPS: buscan alternativas más baratas al día-cama, pero pagan tarde (riesgo de cartera).</a:t>
            </a:r>
            <a:endParaRPr lang="en-US" sz="1000" dirty="0"/>
          </a:p>
        </p:txBody>
      </p:sp>
      <p:sp>
        <p:nvSpPr>
          <p:cNvPr id="15" name="Shape 11"/>
          <p:cNvSpPr/>
          <p:nvPr/>
        </p:nvSpPr>
        <p:spPr>
          <a:xfrm>
            <a:off x="457200" y="2377440"/>
            <a:ext cx="4023360" cy="1078992"/>
          </a:xfrm>
          <a:prstGeom prst="roundRect">
            <a:avLst>
              <a:gd name="adj" fmla="val 6780"/>
            </a:avLst>
          </a:prstGeom>
          <a:solidFill>
            <a:srgbClr val="FBF5E8"/>
          </a:solidFill>
          <a:ln w="6350">
            <a:solidFill>
              <a:srgbClr val="FBF5E8"/>
            </a:solidFill>
            <a:prstDash val="solid"/>
          </a:ln>
        </p:spPr>
      </p:sp>
      <p:sp>
        <p:nvSpPr>
          <p:cNvPr id="16" name="Shape 12"/>
          <p:cNvSpPr/>
          <p:nvPr/>
        </p:nvSpPr>
        <p:spPr>
          <a:xfrm>
            <a:off x="566928" y="2651760"/>
            <a:ext cx="502920" cy="502920"/>
          </a:xfrm>
          <a:prstGeom prst="ellipse">
            <a:avLst/>
          </a:prstGeom>
          <a:solidFill>
            <a:srgbClr val="E9A23B"/>
          </a:solidFill>
          <a:ln w="19050">
            <a:solidFill>
              <a:srgbClr val="E9A23B"/>
            </a:solidFill>
            <a:prstDash val="solid"/>
          </a:ln>
        </p:spPr>
      </p:sp>
      <p:pic>
        <p:nvPicPr>
          <p:cNvPr id="17" name="Image 2" descr="preencoded.png">    </p:cNvPr>
          <p:cNvPicPr>
            <a:picLocks noChangeAspect="1"/>
          </p:cNvPicPr>
          <p:nvPr/>
        </p:nvPicPr>
        <p:blipFill>
          <a:blip r:embed="rId3"/>
          <a:stretch>
            <a:fillRect/>
          </a:stretch>
        </p:blipFill>
        <p:spPr>
          <a:xfrm>
            <a:off x="692658" y="2777490"/>
            <a:ext cx="251460" cy="251460"/>
          </a:xfrm>
          <a:prstGeom prst="rect">
            <a:avLst/>
          </a:prstGeom>
        </p:spPr>
      </p:pic>
      <p:sp>
        <p:nvSpPr>
          <p:cNvPr id="18" name="Text 13"/>
          <p:cNvSpPr txBox="1"/>
          <p:nvPr/>
        </p:nvSpPr>
        <p:spPr>
          <a:xfrm>
            <a:off x="1188720" y="2432304"/>
            <a:ext cx="3200400" cy="292608"/>
          </a:xfrm>
          <a:prstGeom prst="rect">
            <a:avLst/>
          </a:prstGeom>
          <a:noFill/>
          <a:ln/>
        </p:spPr>
        <p:txBody>
          <a:bodyPr wrap="square" lIns="0" tIns="0" rIns="0" bIns="0" rtlCol="0" anchor="t"/>
          <a:lstStyle/>
          <a:p>
            <a:pPr indent="0" marL="0">
              <a:buNone/>
            </a:pPr>
            <a:r>
              <a:rPr lang="en-US" sz="1250" b="1" dirty="0">
                <a:solidFill>
                  <a:srgbClr val="0B2236"/>
                </a:solidFill>
                <a:latin typeface="Calibri" pitchFamily="34" charset="0"/>
                <a:ea typeface="Calibri" pitchFamily="34" charset="-122"/>
                <a:cs typeface="Calibri" pitchFamily="34" charset="-120"/>
              </a:rPr>
              <a:t>Social</a:t>
            </a:r>
            <a:endParaRPr lang="en-US" sz="1250" dirty="0"/>
          </a:p>
        </p:txBody>
      </p:sp>
      <p:sp>
        <p:nvSpPr>
          <p:cNvPr id="19" name="Text 14"/>
          <p:cNvSpPr txBox="1"/>
          <p:nvPr/>
        </p:nvSpPr>
        <p:spPr>
          <a:xfrm>
            <a:off x="1188720" y="2724912"/>
            <a:ext cx="3200400" cy="713232"/>
          </a:xfrm>
          <a:prstGeom prst="rect">
            <a:avLst/>
          </a:prstGeom>
          <a:noFill/>
          <a:ln/>
        </p:spPr>
        <p:txBody>
          <a:bodyPr wrap="square" lIns="0" tIns="0" rIns="0" bIns="0" rtlCol="0" anchor="t"/>
          <a:lstStyle/>
          <a:p>
            <a:pPr indent="0" marL="0">
              <a:buNone/>
            </a:pPr>
            <a:r>
              <a:rPr lang="en-US" sz="1000" dirty="0">
                <a:solidFill>
                  <a:srgbClr val="1D2B36"/>
                </a:solidFill>
                <a:latin typeface="Calibri" pitchFamily="34" charset="0"/>
                <a:ea typeface="Calibri" pitchFamily="34" charset="-122"/>
                <a:cs typeface="Calibri" pitchFamily="34" charset="-120"/>
              </a:rPr>
              <a:t>Envejecimiento, más diabetes y prótesis; preferencia de pacientes y familias por recuperarse en casa.</a:t>
            </a:r>
            <a:endParaRPr lang="en-US" sz="1000" dirty="0"/>
          </a:p>
        </p:txBody>
      </p:sp>
      <p:sp>
        <p:nvSpPr>
          <p:cNvPr id="20" name="Shape 15"/>
          <p:cNvSpPr/>
          <p:nvPr/>
        </p:nvSpPr>
        <p:spPr>
          <a:xfrm>
            <a:off x="4663440" y="2377440"/>
            <a:ext cx="4023360" cy="1078992"/>
          </a:xfrm>
          <a:prstGeom prst="roundRect">
            <a:avLst>
              <a:gd name="adj" fmla="val 6780"/>
            </a:avLst>
          </a:prstGeom>
          <a:solidFill>
            <a:srgbClr val="FBF5E8"/>
          </a:solidFill>
          <a:ln w="6350">
            <a:solidFill>
              <a:srgbClr val="FBF5E8"/>
            </a:solidFill>
            <a:prstDash val="solid"/>
          </a:ln>
        </p:spPr>
      </p:sp>
      <p:sp>
        <p:nvSpPr>
          <p:cNvPr id="21" name="Shape 16"/>
          <p:cNvSpPr/>
          <p:nvPr/>
        </p:nvSpPr>
        <p:spPr>
          <a:xfrm>
            <a:off x="4773168" y="2651760"/>
            <a:ext cx="502920" cy="502920"/>
          </a:xfrm>
          <a:prstGeom prst="ellipse">
            <a:avLst/>
          </a:prstGeom>
          <a:solidFill>
            <a:srgbClr val="E9A23B"/>
          </a:solidFill>
          <a:ln w="19050">
            <a:solidFill>
              <a:srgbClr val="E9A23B"/>
            </a:solidFill>
            <a:prstDash val="solid"/>
          </a:ln>
        </p:spPr>
      </p:sp>
      <p:pic>
        <p:nvPicPr>
          <p:cNvPr id="22" name="Image 3" descr="preencoded.png">    </p:cNvPr>
          <p:cNvPicPr>
            <a:picLocks noChangeAspect="1"/>
          </p:cNvPicPr>
          <p:nvPr/>
        </p:nvPicPr>
        <p:blipFill>
          <a:blip r:embed="rId4"/>
          <a:stretch>
            <a:fillRect/>
          </a:stretch>
        </p:blipFill>
        <p:spPr>
          <a:xfrm>
            <a:off x="4898898" y="2777490"/>
            <a:ext cx="251460" cy="251460"/>
          </a:xfrm>
          <a:prstGeom prst="rect">
            <a:avLst/>
          </a:prstGeom>
        </p:spPr>
      </p:pic>
      <p:sp>
        <p:nvSpPr>
          <p:cNvPr id="23" name="Text 17"/>
          <p:cNvSpPr txBox="1"/>
          <p:nvPr/>
        </p:nvSpPr>
        <p:spPr>
          <a:xfrm>
            <a:off x="5394960" y="2432304"/>
            <a:ext cx="3200400" cy="292608"/>
          </a:xfrm>
          <a:prstGeom prst="rect">
            <a:avLst/>
          </a:prstGeom>
          <a:noFill/>
          <a:ln/>
        </p:spPr>
        <p:txBody>
          <a:bodyPr wrap="square" lIns="0" tIns="0" rIns="0" bIns="0" rtlCol="0" anchor="t"/>
          <a:lstStyle/>
          <a:p>
            <a:pPr indent="0" marL="0">
              <a:buNone/>
            </a:pPr>
            <a:r>
              <a:rPr lang="en-US" sz="1250" b="1" dirty="0">
                <a:solidFill>
                  <a:srgbClr val="0B2236"/>
                </a:solidFill>
                <a:latin typeface="Calibri" pitchFamily="34" charset="0"/>
                <a:ea typeface="Calibri" pitchFamily="34" charset="-122"/>
                <a:cs typeface="Calibri" pitchFamily="34" charset="-120"/>
              </a:rPr>
              <a:t>Tecnológico</a:t>
            </a:r>
            <a:endParaRPr lang="en-US" sz="1250" dirty="0"/>
          </a:p>
        </p:txBody>
      </p:sp>
      <p:sp>
        <p:nvSpPr>
          <p:cNvPr id="24" name="Text 18"/>
          <p:cNvSpPr txBox="1"/>
          <p:nvPr/>
        </p:nvSpPr>
        <p:spPr>
          <a:xfrm>
            <a:off x="5394960" y="2724912"/>
            <a:ext cx="3200400" cy="713232"/>
          </a:xfrm>
          <a:prstGeom prst="rect">
            <a:avLst/>
          </a:prstGeom>
          <a:noFill/>
          <a:ln/>
        </p:spPr>
        <p:txBody>
          <a:bodyPr wrap="square" lIns="0" tIns="0" rIns="0" bIns="0" rtlCol="0" anchor="t"/>
          <a:lstStyle/>
          <a:p>
            <a:pPr indent="0" marL="0">
              <a:buNone/>
            </a:pPr>
            <a:r>
              <a:rPr lang="en-US" sz="1000" dirty="0">
                <a:solidFill>
                  <a:srgbClr val="1D2B36"/>
                </a:solidFill>
                <a:latin typeface="Calibri" pitchFamily="34" charset="0"/>
                <a:ea typeface="Calibri" pitchFamily="34" charset="-122"/>
                <a:cs typeface="Calibri" pitchFamily="34" charset="-120"/>
              </a:rPr>
              <a:t>Bombas elastoméricas, catéteres midline, telemedicina y aplicaciones de monitoreo remoto.</a:t>
            </a:r>
            <a:endParaRPr lang="en-US" sz="1000" dirty="0"/>
          </a:p>
        </p:txBody>
      </p:sp>
      <p:sp>
        <p:nvSpPr>
          <p:cNvPr id="25" name="Shape 19"/>
          <p:cNvSpPr/>
          <p:nvPr/>
        </p:nvSpPr>
        <p:spPr>
          <a:xfrm>
            <a:off x="457200" y="3566160"/>
            <a:ext cx="4023360" cy="1078992"/>
          </a:xfrm>
          <a:prstGeom prst="roundRect">
            <a:avLst>
              <a:gd name="adj" fmla="val 6780"/>
            </a:avLst>
          </a:prstGeom>
          <a:solidFill>
            <a:srgbClr val="FBF5E8"/>
          </a:solidFill>
          <a:ln w="6350">
            <a:solidFill>
              <a:srgbClr val="FBF5E8"/>
            </a:solidFill>
            <a:prstDash val="solid"/>
          </a:ln>
        </p:spPr>
      </p:sp>
      <p:sp>
        <p:nvSpPr>
          <p:cNvPr id="26" name="Shape 20"/>
          <p:cNvSpPr/>
          <p:nvPr/>
        </p:nvSpPr>
        <p:spPr>
          <a:xfrm>
            <a:off x="566928" y="3840480"/>
            <a:ext cx="502920" cy="502920"/>
          </a:xfrm>
          <a:prstGeom prst="ellipse">
            <a:avLst/>
          </a:prstGeom>
          <a:solidFill>
            <a:srgbClr val="E9A23B"/>
          </a:solidFill>
          <a:ln w="19050">
            <a:solidFill>
              <a:srgbClr val="E9A23B"/>
            </a:solidFill>
            <a:prstDash val="solid"/>
          </a:ln>
        </p:spPr>
      </p:sp>
      <p:pic>
        <p:nvPicPr>
          <p:cNvPr id="27" name="Image 4" descr="preencoded.png">    </p:cNvPr>
          <p:cNvPicPr>
            <a:picLocks noChangeAspect="1"/>
          </p:cNvPicPr>
          <p:nvPr/>
        </p:nvPicPr>
        <p:blipFill>
          <a:blip r:embed="rId5"/>
          <a:stretch>
            <a:fillRect/>
          </a:stretch>
        </p:blipFill>
        <p:spPr>
          <a:xfrm>
            <a:off x="692658" y="3966210"/>
            <a:ext cx="251460" cy="251460"/>
          </a:xfrm>
          <a:prstGeom prst="rect">
            <a:avLst/>
          </a:prstGeom>
        </p:spPr>
      </p:pic>
      <p:sp>
        <p:nvSpPr>
          <p:cNvPr id="28" name="Text 21"/>
          <p:cNvSpPr txBox="1"/>
          <p:nvPr/>
        </p:nvSpPr>
        <p:spPr>
          <a:xfrm>
            <a:off x="1188720" y="3621024"/>
            <a:ext cx="3200400" cy="292608"/>
          </a:xfrm>
          <a:prstGeom prst="rect">
            <a:avLst/>
          </a:prstGeom>
          <a:noFill/>
          <a:ln/>
        </p:spPr>
        <p:txBody>
          <a:bodyPr wrap="square" lIns="0" tIns="0" rIns="0" bIns="0" rtlCol="0" anchor="t"/>
          <a:lstStyle/>
          <a:p>
            <a:pPr indent="0" marL="0">
              <a:buNone/>
            </a:pPr>
            <a:r>
              <a:rPr lang="en-US" sz="1250" b="1" dirty="0">
                <a:solidFill>
                  <a:srgbClr val="0B2236"/>
                </a:solidFill>
                <a:latin typeface="Calibri" pitchFamily="34" charset="0"/>
                <a:ea typeface="Calibri" pitchFamily="34" charset="-122"/>
                <a:cs typeface="Calibri" pitchFamily="34" charset="-120"/>
              </a:rPr>
              <a:t>Epidemiológico</a:t>
            </a:r>
            <a:endParaRPr lang="en-US" sz="1250" dirty="0"/>
          </a:p>
        </p:txBody>
      </p:sp>
      <p:sp>
        <p:nvSpPr>
          <p:cNvPr id="29" name="Text 22"/>
          <p:cNvSpPr txBox="1"/>
          <p:nvPr/>
        </p:nvSpPr>
        <p:spPr>
          <a:xfrm>
            <a:off x="1188720" y="3913632"/>
            <a:ext cx="3200400" cy="713232"/>
          </a:xfrm>
          <a:prstGeom prst="rect">
            <a:avLst/>
          </a:prstGeom>
          <a:noFill/>
          <a:ln/>
        </p:spPr>
        <p:txBody>
          <a:bodyPr wrap="square" lIns="0" tIns="0" rIns="0" bIns="0" rtlCol="0" anchor="t"/>
          <a:lstStyle/>
          <a:p>
            <a:pPr indent="0" marL="0">
              <a:buNone/>
            </a:pPr>
            <a:r>
              <a:rPr lang="en-US" sz="1000" dirty="0">
                <a:solidFill>
                  <a:srgbClr val="1D2B36"/>
                </a:solidFill>
                <a:latin typeface="Calibri" pitchFamily="34" charset="0"/>
                <a:ea typeface="Calibri" pitchFamily="34" charset="-122"/>
                <a:cs typeface="Calibri" pitchFamily="34" charset="-120"/>
              </a:rPr>
              <a:t>Aumento de la resistencia antimicrobiana (BLEE, SARM, carbapenemasas) con tratamientos más largos.</a:t>
            </a:r>
            <a:endParaRPr lang="en-US" sz="1000" dirty="0"/>
          </a:p>
        </p:txBody>
      </p:sp>
      <p:sp>
        <p:nvSpPr>
          <p:cNvPr id="30" name="Shape 23"/>
          <p:cNvSpPr/>
          <p:nvPr/>
        </p:nvSpPr>
        <p:spPr>
          <a:xfrm>
            <a:off x="4663440" y="3566160"/>
            <a:ext cx="4023360" cy="1078992"/>
          </a:xfrm>
          <a:prstGeom prst="roundRect">
            <a:avLst>
              <a:gd name="adj" fmla="val 6780"/>
            </a:avLst>
          </a:prstGeom>
          <a:solidFill>
            <a:srgbClr val="FBF5E8"/>
          </a:solidFill>
          <a:ln w="6350">
            <a:solidFill>
              <a:srgbClr val="FBF5E8"/>
            </a:solidFill>
            <a:prstDash val="solid"/>
          </a:ln>
        </p:spPr>
      </p:sp>
      <p:sp>
        <p:nvSpPr>
          <p:cNvPr id="31" name="Shape 24"/>
          <p:cNvSpPr/>
          <p:nvPr/>
        </p:nvSpPr>
        <p:spPr>
          <a:xfrm>
            <a:off x="4773168" y="3840480"/>
            <a:ext cx="502920" cy="502920"/>
          </a:xfrm>
          <a:prstGeom prst="ellipse">
            <a:avLst/>
          </a:prstGeom>
          <a:solidFill>
            <a:srgbClr val="E9A23B"/>
          </a:solidFill>
          <a:ln w="19050">
            <a:solidFill>
              <a:srgbClr val="E9A23B"/>
            </a:solidFill>
            <a:prstDash val="solid"/>
          </a:ln>
        </p:spPr>
      </p:sp>
      <p:pic>
        <p:nvPicPr>
          <p:cNvPr id="32" name="Image 5" descr="preencoded.png">    </p:cNvPr>
          <p:cNvPicPr>
            <a:picLocks noChangeAspect="1"/>
          </p:cNvPicPr>
          <p:nvPr/>
        </p:nvPicPr>
        <p:blipFill>
          <a:blip r:embed="rId6"/>
          <a:stretch>
            <a:fillRect/>
          </a:stretch>
        </p:blipFill>
        <p:spPr>
          <a:xfrm>
            <a:off x="4898898" y="3966210"/>
            <a:ext cx="251460" cy="251460"/>
          </a:xfrm>
          <a:prstGeom prst="rect">
            <a:avLst/>
          </a:prstGeom>
        </p:spPr>
      </p:pic>
      <p:sp>
        <p:nvSpPr>
          <p:cNvPr id="33" name="Text 25"/>
          <p:cNvSpPr txBox="1"/>
          <p:nvPr/>
        </p:nvSpPr>
        <p:spPr>
          <a:xfrm>
            <a:off x="5394960" y="3621024"/>
            <a:ext cx="3200400" cy="292608"/>
          </a:xfrm>
          <a:prstGeom prst="rect">
            <a:avLst/>
          </a:prstGeom>
          <a:noFill/>
          <a:ln/>
        </p:spPr>
        <p:txBody>
          <a:bodyPr wrap="square" lIns="0" tIns="0" rIns="0" bIns="0" rtlCol="0" anchor="t"/>
          <a:lstStyle/>
          <a:p>
            <a:pPr indent="0" marL="0">
              <a:buNone/>
            </a:pPr>
            <a:r>
              <a:rPr lang="en-US" sz="1250" b="1" dirty="0">
                <a:solidFill>
                  <a:srgbClr val="0B2236"/>
                </a:solidFill>
                <a:latin typeface="Calibri" pitchFamily="34" charset="0"/>
                <a:ea typeface="Calibri" pitchFamily="34" charset="-122"/>
                <a:cs typeface="Calibri" pitchFamily="34" charset="-120"/>
              </a:rPr>
              <a:t>Competencia</a:t>
            </a:r>
            <a:endParaRPr lang="en-US" sz="1250" dirty="0"/>
          </a:p>
        </p:txBody>
      </p:sp>
      <p:sp>
        <p:nvSpPr>
          <p:cNvPr id="34" name="Text 26"/>
          <p:cNvSpPr txBox="1"/>
          <p:nvPr/>
        </p:nvSpPr>
        <p:spPr>
          <a:xfrm>
            <a:off x="5394960" y="3913632"/>
            <a:ext cx="3200400" cy="713232"/>
          </a:xfrm>
          <a:prstGeom prst="rect">
            <a:avLst/>
          </a:prstGeom>
          <a:noFill/>
          <a:ln/>
        </p:spPr>
        <p:txBody>
          <a:bodyPr wrap="square" lIns="0" tIns="0" rIns="0" bIns="0" rtlCol="0" anchor="t"/>
          <a:lstStyle/>
          <a:p>
            <a:pPr indent="0" marL="0">
              <a:buNone/>
            </a:pPr>
            <a:r>
              <a:rPr lang="en-US" sz="1000" dirty="0">
                <a:solidFill>
                  <a:srgbClr val="1D2B36"/>
                </a:solidFill>
                <a:latin typeface="Calibri" pitchFamily="34" charset="0"/>
                <a:ea typeface="Calibri" pitchFamily="34" charset="-122"/>
                <a:cs typeface="Calibri" pitchFamily="34" charset="-120"/>
              </a:rPr>
              <a:t>PAD que venden visitas sueltas; programas propios de algunas clínicas; pocos paquetes integrales por resistencia.</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E9A23B"/>
                </a:solidFill>
                <a:latin typeface="Calibri" pitchFamily="34" charset="0"/>
                <a:ea typeface="Calibri" pitchFamily="34" charset="-122"/>
                <a:cs typeface="Calibri" pitchFamily="34" charset="-120"/>
              </a:rPr>
              <a:t>PLANEACIÓN ESTRATÉGICA · FASE ANALÍTICA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Análisis o diagnóstico interno</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234440"/>
            <a:ext cx="4023360" cy="3474720"/>
          </a:xfrm>
          <a:prstGeom prst="roundRect">
            <a:avLst>
              <a:gd name="adj" fmla="val 2105"/>
            </a:avLst>
          </a:prstGeom>
          <a:solidFill>
            <a:srgbClr val="FFFFFF"/>
          </a:solidFill>
          <a:ln w="15875">
            <a:solidFill>
              <a:srgbClr val="2E9E6A"/>
            </a:solidFill>
            <a:prstDash val="solid"/>
          </a:ln>
        </p:spPr>
      </p:sp>
      <p:sp>
        <p:nvSpPr>
          <p:cNvPr id="6" name="Text 4"/>
          <p:cNvSpPr txBox="1"/>
          <p:nvPr/>
        </p:nvSpPr>
        <p:spPr>
          <a:xfrm>
            <a:off x="640080" y="1325880"/>
            <a:ext cx="3657600" cy="411480"/>
          </a:xfrm>
          <a:prstGeom prst="rect">
            <a:avLst/>
          </a:prstGeom>
          <a:noFill/>
          <a:ln/>
        </p:spPr>
        <p:txBody>
          <a:bodyPr wrap="square" lIns="0" tIns="0" rIns="0" bIns="0" rtlCol="0" anchor="ctr"/>
          <a:lstStyle/>
          <a:p>
            <a:pPr indent="0" marL="0">
              <a:buNone/>
            </a:pPr>
            <a:r>
              <a:rPr lang="en-US" sz="1600" b="1" dirty="0">
                <a:solidFill>
                  <a:srgbClr val="2E9E6A"/>
                </a:solidFill>
                <a:latin typeface="Calibri" pitchFamily="34" charset="0"/>
                <a:ea typeface="Calibri" pitchFamily="34" charset="-122"/>
                <a:cs typeface="Calibri" pitchFamily="34" charset="-120"/>
              </a:rPr>
              <a:t>Capacidades que tenemos</a:t>
            </a:r>
            <a:endParaRPr lang="en-US" sz="1600" dirty="0"/>
          </a:p>
        </p:txBody>
      </p:sp>
      <p:sp>
        <p:nvSpPr>
          <p:cNvPr id="7" name="Text 5"/>
          <p:cNvSpPr txBox="1"/>
          <p:nvPr/>
        </p:nvSpPr>
        <p:spPr>
          <a:xfrm>
            <a:off x="640080" y="1828800"/>
            <a:ext cx="3657600" cy="2788920"/>
          </a:xfrm>
          <a:prstGeom prst="rect">
            <a:avLst/>
          </a:prstGeom>
          <a:noFill/>
          <a:ln/>
        </p:spPr>
        <p:txBody>
          <a:bodyPr wrap="square" lIns="0" tIns="0" rIns="0" bIns="0" rtlCol="0" anchor="t"/>
          <a:lstStyle/>
          <a:p>
            <a:pPr marL="165100" indent="-165100">
              <a:spcAft>
                <a:spcPts val="700"/>
              </a:spcAft>
              <a:buSzPct val="100000"/>
              <a:buChar char="•"/>
            </a:pPr>
            <a:r>
              <a:rPr lang="en-US" sz="1250" dirty="0">
                <a:solidFill>
                  <a:srgbClr val="1D2B36"/>
                </a:solidFill>
                <a:latin typeface="Calibri" pitchFamily="34" charset="0"/>
                <a:ea typeface="Calibri" pitchFamily="34" charset="-122"/>
                <a:cs typeface="Calibri" pitchFamily="34" charset="-120"/>
              </a:rPr>
              <a:t>Liderazgo clínico de medicina interna</a:t>
            </a:r>
            <a:endParaRPr lang="en-US" sz="1250" dirty="0"/>
          </a:p>
          <a:p>
            <a:pPr marL="165100" indent="-165100">
              <a:spcAft>
                <a:spcPts val="700"/>
              </a:spcAft>
              <a:buSzPct val="100000"/>
              <a:buChar char="•"/>
            </a:pPr>
            <a:r>
              <a:rPr lang="en-US" sz="1250" dirty="0">
                <a:solidFill>
                  <a:srgbClr val="1D2B36"/>
                </a:solidFill>
                <a:latin typeface="Calibri" pitchFamily="34" charset="0"/>
                <a:ea typeface="Calibri" pitchFamily="34" charset="-122"/>
                <a:cs typeface="Calibri" pitchFamily="34" charset="-120"/>
              </a:rPr>
              <a:t>Conocimiento de las rutas hospitalarias y de la necesidad real de camas</a:t>
            </a:r>
            <a:endParaRPr lang="en-US" sz="1250" dirty="0"/>
          </a:p>
          <a:p>
            <a:pPr marL="165100" indent="-165100">
              <a:spcAft>
                <a:spcPts val="700"/>
              </a:spcAft>
              <a:buSzPct val="100000"/>
              <a:buChar char="•"/>
            </a:pPr>
            <a:r>
              <a:rPr lang="en-US" sz="1250" dirty="0">
                <a:solidFill>
                  <a:srgbClr val="1D2B36"/>
                </a:solidFill>
                <a:latin typeface="Calibri" pitchFamily="34" charset="0"/>
                <a:ea typeface="Calibri" pitchFamily="34" charset="-122"/>
                <a:cs typeface="Calibri" pitchFamily="34" charset="-120"/>
              </a:rPr>
              <a:t>Protocolos basados en guías (IDSA OPAT)</a:t>
            </a:r>
            <a:endParaRPr lang="en-US" sz="1250" dirty="0"/>
          </a:p>
          <a:p>
            <a:pPr marL="165100" indent="-165100">
              <a:spcAft>
                <a:spcPts val="700"/>
              </a:spcAft>
              <a:buSzPct val="100000"/>
              <a:buChar char="•"/>
            </a:pPr>
            <a:r>
              <a:rPr lang="en-US" sz="1250" dirty="0">
                <a:solidFill>
                  <a:srgbClr val="1D2B36"/>
                </a:solidFill>
                <a:latin typeface="Calibri" pitchFamily="34" charset="0"/>
                <a:ea typeface="Calibri" pitchFamily="34" charset="-122"/>
                <a:cs typeface="Calibri" pitchFamily="34" charset="-120"/>
              </a:rPr>
              <a:t>Modelo de precio innovador y fácil de explicar al pagador</a:t>
            </a:r>
            <a:endParaRPr lang="en-US" sz="1250" dirty="0"/>
          </a:p>
        </p:txBody>
      </p:sp>
      <p:sp>
        <p:nvSpPr>
          <p:cNvPr id="8" name="Shape 6"/>
          <p:cNvSpPr/>
          <p:nvPr/>
        </p:nvSpPr>
        <p:spPr>
          <a:xfrm>
            <a:off x="4663440" y="1234440"/>
            <a:ext cx="4023360" cy="3474720"/>
          </a:xfrm>
          <a:prstGeom prst="roundRect">
            <a:avLst>
              <a:gd name="adj" fmla="val 2105"/>
            </a:avLst>
          </a:prstGeom>
          <a:solidFill>
            <a:srgbClr val="FFFFFF"/>
          </a:solidFill>
          <a:ln w="15875">
            <a:solidFill>
              <a:srgbClr val="F26B4E"/>
            </a:solidFill>
            <a:prstDash val="solid"/>
          </a:ln>
        </p:spPr>
      </p:sp>
      <p:sp>
        <p:nvSpPr>
          <p:cNvPr id="9" name="Text 7"/>
          <p:cNvSpPr txBox="1"/>
          <p:nvPr/>
        </p:nvSpPr>
        <p:spPr>
          <a:xfrm>
            <a:off x="4846320" y="1325880"/>
            <a:ext cx="3657600" cy="411480"/>
          </a:xfrm>
          <a:prstGeom prst="rect">
            <a:avLst/>
          </a:prstGeom>
          <a:noFill/>
          <a:ln/>
        </p:spPr>
        <p:txBody>
          <a:bodyPr wrap="square" lIns="0" tIns="0" rIns="0" bIns="0" rtlCol="0" anchor="ctr"/>
          <a:lstStyle/>
          <a:p>
            <a:pPr indent="0" marL="0">
              <a:buNone/>
            </a:pPr>
            <a:r>
              <a:rPr lang="en-US" sz="1600" b="1" dirty="0">
                <a:solidFill>
                  <a:srgbClr val="F26B4E"/>
                </a:solidFill>
                <a:latin typeface="Calibri" pitchFamily="34" charset="0"/>
                <a:ea typeface="Calibri" pitchFamily="34" charset="-122"/>
                <a:cs typeface="Calibri" pitchFamily="34" charset="-120"/>
              </a:rPr>
              <a:t>Capacidades por construir</a:t>
            </a:r>
            <a:endParaRPr lang="en-US" sz="1600" dirty="0"/>
          </a:p>
        </p:txBody>
      </p:sp>
      <p:sp>
        <p:nvSpPr>
          <p:cNvPr id="10" name="Text 8"/>
          <p:cNvSpPr txBox="1"/>
          <p:nvPr/>
        </p:nvSpPr>
        <p:spPr>
          <a:xfrm>
            <a:off x="4846320" y="1828800"/>
            <a:ext cx="3657600" cy="2788920"/>
          </a:xfrm>
          <a:prstGeom prst="rect">
            <a:avLst/>
          </a:prstGeom>
          <a:noFill/>
          <a:ln/>
        </p:spPr>
        <p:txBody>
          <a:bodyPr wrap="square" lIns="0" tIns="0" rIns="0" bIns="0" rtlCol="0" anchor="t"/>
          <a:lstStyle/>
          <a:p>
            <a:pPr marL="165100" indent="-165100">
              <a:spcAft>
                <a:spcPts val="700"/>
              </a:spcAft>
              <a:buSzPct val="100000"/>
              <a:buChar char="•"/>
            </a:pPr>
            <a:r>
              <a:rPr lang="en-US" sz="1250" dirty="0">
                <a:solidFill>
                  <a:srgbClr val="1D2B36"/>
                </a:solidFill>
                <a:latin typeface="Calibri" pitchFamily="34" charset="0"/>
                <a:ea typeface="Calibri" pitchFamily="34" charset="-122"/>
                <a:cs typeface="Calibri" pitchFamily="34" charset="-120"/>
              </a:rPr>
              <a:t>Capital de trabajo para soportar la cartera de las EPS</a:t>
            </a:r>
            <a:endParaRPr lang="en-US" sz="1250" dirty="0"/>
          </a:p>
          <a:p>
            <a:pPr marL="165100" indent="-165100">
              <a:spcAft>
                <a:spcPts val="700"/>
              </a:spcAft>
              <a:buSzPct val="100000"/>
              <a:buChar char="•"/>
            </a:pPr>
            <a:r>
              <a:rPr lang="en-US" sz="1250" dirty="0">
                <a:solidFill>
                  <a:srgbClr val="1D2B36"/>
                </a:solidFill>
                <a:latin typeface="Calibri" pitchFamily="34" charset="0"/>
                <a:ea typeface="Calibri" pitchFamily="34" charset="-122"/>
                <a:cs typeface="Calibri" pitchFamily="34" charset="-120"/>
              </a:rPr>
              <a:t>Equipo de enfermería entrenado en accesos vasculares</a:t>
            </a:r>
            <a:endParaRPr lang="en-US" sz="1250" dirty="0"/>
          </a:p>
          <a:p>
            <a:pPr marL="165100" indent="-165100">
              <a:spcAft>
                <a:spcPts val="700"/>
              </a:spcAft>
              <a:buSzPct val="100000"/>
              <a:buChar char="•"/>
            </a:pPr>
            <a:r>
              <a:rPr lang="en-US" sz="1250" dirty="0">
                <a:solidFill>
                  <a:srgbClr val="1D2B36"/>
                </a:solidFill>
                <a:latin typeface="Calibri" pitchFamily="34" charset="0"/>
                <a:ea typeface="Calibri" pitchFamily="34" charset="-122"/>
                <a:cs typeface="Calibri" pitchFamily="34" charset="-120"/>
              </a:rPr>
              <a:t>Alianza formal con infectología y laboratorio</a:t>
            </a:r>
            <a:endParaRPr lang="en-US" sz="1250" dirty="0"/>
          </a:p>
          <a:p>
            <a:pPr marL="165100" indent="-165100">
              <a:spcAft>
                <a:spcPts val="700"/>
              </a:spcAft>
              <a:buSzPct val="100000"/>
              <a:buChar char="•"/>
            </a:pPr>
            <a:r>
              <a:rPr lang="en-US" sz="1250" dirty="0">
                <a:solidFill>
                  <a:srgbClr val="1D2B36"/>
                </a:solidFill>
                <a:latin typeface="Calibri" pitchFamily="34" charset="0"/>
                <a:ea typeface="Calibri" pitchFamily="34" charset="-122"/>
                <a:cs typeface="Calibri" pitchFamily="34" charset="-120"/>
              </a:rPr>
              <a:t>Sistema de información y facturación por paquete</a:t>
            </a:r>
            <a:endParaRPr lang="en-US" sz="1250" dirty="0"/>
          </a:p>
          <a:p>
            <a:pPr marL="165100" indent="-165100">
              <a:spcAft>
                <a:spcPts val="700"/>
              </a:spcAft>
              <a:buSzPct val="100000"/>
              <a:buChar char="•"/>
            </a:pPr>
            <a:r>
              <a:rPr lang="en-US" sz="1250" dirty="0">
                <a:solidFill>
                  <a:srgbClr val="1D2B36"/>
                </a:solidFill>
                <a:latin typeface="Calibri" pitchFamily="34" charset="0"/>
                <a:ea typeface="Calibri" pitchFamily="34" charset="-122"/>
                <a:cs typeface="Calibri" pitchFamily="34" charset="-120"/>
              </a:rPr>
              <a:t>Habilitación y pólizas de responsabilidad</a:t>
            </a:r>
            <a:endParaRPr lang="en-US" sz="12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E9A23B"/>
                </a:solidFill>
                <a:latin typeface="Calibri" pitchFamily="34" charset="0"/>
                <a:ea typeface="Calibri" pitchFamily="34" charset="-122"/>
                <a:cs typeface="Calibri" pitchFamily="34" charset="-120"/>
              </a:rPr>
              <a:t>PLANEACIÓN ESTRATÉGICA · FASE ANALÍTICA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Matriz DOFA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4023360" cy="1664208"/>
          </a:xfrm>
          <a:prstGeom prst="roundRect">
            <a:avLst>
              <a:gd name="adj" fmla="val 4396"/>
            </a:avLst>
          </a:prstGeom>
          <a:solidFill>
            <a:srgbClr val="FDF1EC"/>
          </a:solidFill>
          <a:ln w="15875">
            <a:solidFill>
              <a:srgbClr val="F26B4E"/>
            </a:solidFill>
            <a:prstDash val="solid"/>
          </a:ln>
        </p:spPr>
      </p:sp>
      <p:sp>
        <p:nvSpPr>
          <p:cNvPr id="6" name="Text 4"/>
          <p:cNvSpPr txBox="1"/>
          <p:nvPr/>
        </p:nvSpPr>
        <p:spPr>
          <a:xfrm>
            <a:off x="594360" y="1280160"/>
            <a:ext cx="640080" cy="685800"/>
          </a:xfrm>
          <a:prstGeom prst="rect">
            <a:avLst/>
          </a:prstGeom>
          <a:noFill/>
          <a:ln/>
        </p:spPr>
        <p:txBody>
          <a:bodyPr wrap="square" lIns="0" tIns="0" rIns="0" bIns="0" rtlCol="0" anchor="ctr"/>
          <a:lstStyle/>
          <a:p>
            <a:pPr indent="0" marL="0">
              <a:buNone/>
            </a:pPr>
            <a:r>
              <a:rPr lang="en-US" sz="4000" b="1" dirty="0">
                <a:solidFill>
                  <a:srgbClr val="F26B4E"/>
                </a:solidFill>
                <a:latin typeface="Calibri" pitchFamily="34" charset="0"/>
                <a:ea typeface="Calibri" pitchFamily="34" charset="-122"/>
                <a:cs typeface="Calibri" pitchFamily="34" charset="-120"/>
              </a:rPr>
              <a:t>D</a:t>
            </a:r>
            <a:endParaRPr lang="en-US" sz="4000" dirty="0"/>
          </a:p>
        </p:txBody>
      </p:sp>
      <p:sp>
        <p:nvSpPr>
          <p:cNvPr id="7" name="Text 5"/>
          <p:cNvSpPr txBox="1"/>
          <p:nvPr/>
        </p:nvSpPr>
        <p:spPr>
          <a:xfrm>
            <a:off x="1234440" y="1280160"/>
            <a:ext cx="3108960" cy="365760"/>
          </a:xfrm>
          <a:prstGeom prst="rect">
            <a:avLst/>
          </a:prstGeom>
          <a:noFill/>
          <a:ln/>
        </p:spPr>
        <p:txBody>
          <a:bodyPr wrap="square" lIns="0" tIns="0" rIns="0" bIns="0" rtlCol="0" anchor="t"/>
          <a:lstStyle/>
          <a:p>
            <a:pPr indent="0" marL="0">
              <a:buNone/>
            </a:pPr>
            <a:r>
              <a:rPr lang="en-US" sz="1500" b="1" dirty="0">
                <a:solidFill>
                  <a:srgbClr val="F26B4E"/>
                </a:solidFill>
                <a:latin typeface="Calibri" pitchFamily="34" charset="0"/>
                <a:ea typeface="Calibri" pitchFamily="34" charset="-122"/>
                <a:cs typeface="Calibri" pitchFamily="34" charset="-120"/>
              </a:rPr>
              <a:t>Debilidades</a:t>
            </a:r>
            <a:endParaRPr lang="en-US" sz="1500" dirty="0"/>
          </a:p>
        </p:txBody>
      </p:sp>
      <p:sp>
        <p:nvSpPr>
          <p:cNvPr id="8" name="Text 6"/>
          <p:cNvSpPr txBox="1"/>
          <p:nvPr/>
        </p:nvSpPr>
        <p:spPr>
          <a:xfrm>
            <a:off x="1234440" y="1645920"/>
            <a:ext cx="3154680" cy="1188720"/>
          </a:xfrm>
          <a:prstGeom prst="rect">
            <a:avLst/>
          </a:prstGeom>
          <a:noFill/>
          <a:ln/>
        </p:spPr>
        <p:txBody>
          <a:bodyPr wrap="square" lIns="0" tIns="0" rIns="0" bIns="0" rtlCol="0" anchor="t"/>
          <a:lstStyle/>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Empresa nueva, sin historial ni marca</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Alta necesidad de capital de trabajo</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Dependencia de pocos contratos al inicio</a:t>
            </a:r>
            <a:endParaRPr lang="en-US" sz="1050" dirty="0"/>
          </a:p>
        </p:txBody>
      </p:sp>
      <p:sp>
        <p:nvSpPr>
          <p:cNvPr id="9" name="Shape 7"/>
          <p:cNvSpPr/>
          <p:nvPr/>
        </p:nvSpPr>
        <p:spPr>
          <a:xfrm>
            <a:off x="4663440" y="1188720"/>
            <a:ext cx="4023360" cy="1664208"/>
          </a:xfrm>
          <a:prstGeom prst="roundRect">
            <a:avLst>
              <a:gd name="adj" fmla="val 4396"/>
            </a:avLst>
          </a:prstGeom>
          <a:solidFill>
            <a:srgbClr val="EAF6EF"/>
          </a:solidFill>
          <a:ln w="15875">
            <a:solidFill>
              <a:srgbClr val="2E9E6A"/>
            </a:solidFill>
            <a:prstDash val="solid"/>
          </a:ln>
        </p:spPr>
      </p:sp>
      <p:sp>
        <p:nvSpPr>
          <p:cNvPr id="10" name="Text 8"/>
          <p:cNvSpPr txBox="1"/>
          <p:nvPr/>
        </p:nvSpPr>
        <p:spPr>
          <a:xfrm>
            <a:off x="4800600" y="1280160"/>
            <a:ext cx="640080" cy="685800"/>
          </a:xfrm>
          <a:prstGeom prst="rect">
            <a:avLst/>
          </a:prstGeom>
          <a:noFill/>
          <a:ln/>
        </p:spPr>
        <p:txBody>
          <a:bodyPr wrap="square" lIns="0" tIns="0" rIns="0" bIns="0" rtlCol="0" anchor="ctr"/>
          <a:lstStyle/>
          <a:p>
            <a:pPr indent="0" marL="0">
              <a:buNone/>
            </a:pPr>
            <a:r>
              <a:rPr lang="en-US" sz="4000" b="1" dirty="0">
                <a:solidFill>
                  <a:srgbClr val="2E9E6A"/>
                </a:solidFill>
                <a:latin typeface="Calibri" pitchFamily="34" charset="0"/>
                <a:ea typeface="Calibri" pitchFamily="34" charset="-122"/>
                <a:cs typeface="Calibri" pitchFamily="34" charset="-120"/>
              </a:rPr>
              <a:t>O</a:t>
            </a:r>
            <a:endParaRPr lang="en-US" sz="4000" dirty="0"/>
          </a:p>
        </p:txBody>
      </p:sp>
      <p:sp>
        <p:nvSpPr>
          <p:cNvPr id="11" name="Text 9"/>
          <p:cNvSpPr txBox="1"/>
          <p:nvPr/>
        </p:nvSpPr>
        <p:spPr>
          <a:xfrm>
            <a:off x="5440680" y="1280160"/>
            <a:ext cx="3108960" cy="365760"/>
          </a:xfrm>
          <a:prstGeom prst="rect">
            <a:avLst/>
          </a:prstGeom>
          <a:noFill/>
          <a:ln/>
        </p:spPr>
        <p:txBody>
          <a:bodyPr wrap="square" lIns="0" tIns="0" rIns="0" bIns="0" rtlCol="0" anchor="t"/>
          <a:lstStyle/>
          <a:p>
            <a:pPr indent="0" marL="0">
              <a:buNone/>
            </a:pPr>
            <a:r>
              <a:rPr lang="en-US" sz="1500" b="1" dirty="0">
                <a:solidFill>
                  <a:srgbClr val="2E9E6A"/>
                </a:solidFill>
                <a:latin typeface="Calibri" pitchFamily="34" charset="0"/>
                <a:ea typeface="Calibri" pitchFamily="34" charset="-122"/>
                <a:cs typeface="Calibri" pitchFamily="34" charset="-120"/>
              </a:rPr>
              <a:t>Oportunidades</a:t>
            </a:r>
            <a:endParaRPr lang="en-US" sz="1500" dirty="0"/>
          </a:p>
        </p:txBody>
      </p:sp>
      <p:sp>
        <p:nvSpPr>
          <p:cNvPr id="12" name="Text 10"/>
          <p:cNvSpPr txBox="1"/>
          <p:nvPr/>
        </p:nvSpPr>
        <p:spPr>
          <a:xfrm>
            <a:off x="5440680" y="1645920"/>
            <a:ext cx="3154680" cy="1188720"/>
          </a:xfrm>
          <a:prstGeom prst="rect">
            <a:avLst/>
          </a:prstGeom>
          <a:noFill/>
          <a:ln/>
        </p:spPr>
        <p:txBody>
          <a:bodyPr wrap="square" lIns="0" tIns="0" rIns="0" bIns="0" rtlCol="0" anchor="t"/>
          <a:lstStyle/>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Saturación hospitalaria y presión de costos</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Aumento de la resistencia y de tratamientos largos</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Pocos competidores con paquetes integrales</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Telemedicina y nuevas tecnologías de infusión</a:t>
            </a:r>
            <a:endParaRPr lang="en-US" sz="1050" dirty="0"/>
          </a:p>
        </p:txBody>
      </p:sp>
      <p:sp>
        <p:nvSpPr>
          <p:cNvPr id="13" name="Shape 11"/>
          <p:cNvSpPr/>
          <p:nvPr/>
        </p:nvSpPr>
        <p:spPr>
          <a:xfrm>
            <a:off x="457200" y="2971800"/>
            <a:ext cx="4023360" cy="1664208"/>
          </a:xfrm>
          <a:prstGeom prst="roundRect">
            <a:avLst>
              <a:gd name="adj" fmla="val 4396"/>
            </a:avLst>
          </a:prstGeom>
          <a:solidFill>
            <a:srgbClr val="EEF6F6"/>
          </a:solidFill>
          <a:ln w="15875">
            <a:solidFill>
              <a:srgbClr val="0E7C86"/>
            </a:solidFill>
            <a:prstDash val="solid"/>
          </a:ln>
        </p:spPr>
      </p:sp>
      <p:sp>
        <p:nvSpPr>
          <p:cNvPr id="14" name="Text 12"/>
          <p:cNvSpPr txBox="1"/>
          <p:nvPr/>
        </p:nvSpPr>
        <p:spPr>
          <a:xfrm>
            <a:off x="594360" y="3063240"/>
            <a:ext cx="640080" cy="685800"/>
          </a:xfrm>
          <a:prstGeom prst="rect">
            <a:avLst/>
          </a:prstGeom>
          <a:noFill/>
          <a:ln/>
        </p:spPr>
        <p:txBody>
          <a:bodyPr wrap="square" lIns="0" tIns="0" rIns="0" bIns="0" rtlCol="0" anchor="ctr"/>
          <a:lstStyle/>
          <a:p>
            <a:pPr indent="0" marL="0">
              <a:buNone/>
            </a:pPr>
            <a:r>
              <a:rPr lang="en-US" sz="4000" b="1" dirty="0">
                <a:solidFill>
                  <a:srgbClr val="0E7C86"/>
                </a:solidFill>
                <a:latin typeface="Calibri" pitchFamily="34" charset="0"/>
                <a:ea typeface="Calibri" pitchFamily="34" charset="-122"/>
                <a:cs typeface="Calibri" pitchFamily="34" charset="-120"/>
              </a:rPr>
              <a:t>F</a:t>
            </a:r>
            <a:endParaRPr lang="en-US" sz="4000" dirty="0"/>
          </a:p>
        </p:txBody>
      </p:sp>
      <p:sp>
        <p:nvSpPr>
          <p:cNvPr id="15" name="Text 13"/>
          <p:cNvSpPr txBox="1"/>
          <p:nvPr/>
        </p:nvSpPr>
        <p:spPr>
          <a:xfrm>
            <a:off x="1234440" y="3063240"/>
            <a:ext cx="3108960" cy="36576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Fortalezas</a:t>
            </a:r>
            <a:endParaRPr lang="en-US" sz="1500" dirty="0"/>
          </a:p>
        </p:txBody>
      </p:sp>
      <p:sp>
        <p:nvSpPr>
          <p:cNvPr id="16" name="Text 14"/>
          <p:cNvSpPr txBox="1"/>
          <p:nvPr/>
        </p:nvSpPr>
        <p:spPr>
          <a:xfrm>
            <a:off x="1234440" y="3429000"/>
            <a:ext cx="3154680" cy="1188720"/>
          </a:xfrm>
          <a:prstGeom prst="rect">
            <a:avLst/>
          </a:prstGeom>
          <a:noFill/>
          <a:ln/>
        </p:spPr>
        <p:txBody>
          <a:bodyPr wrap="square" lIns="0" tIns="0" rIns="0" bIns="0" rtlCol="0" anchor="t"/>
          <a:lstStyle/>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Dirección clínica por medicina interna</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Precio por paquete diferenciado por resistencia</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Protocolos basados en evidencia</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Ahorro demostrable para el pagador</a:t>
            </a:r>
            <a:endParaRPr lang="en-US" sz="1050" dirty="0"/>
          </a:p>
        </p:txBody>
      </p:sp>
      <p:sp>
        <p:nvSpPr>
          <p:cNvPr id="17" name="Shape 15"/>
          <p:cNvSpPr/>
          <p:nvPr/>
        </p:nvSpPr>
        <p:spPr>
          <a:xfrm>
            <a:off x="4663440" y="2971800"/>
            <a:ext cx="4023360" cy="1664208"/>
          </a:xfrm>
          <a:prstGeom prst="roundRect">
            <a:avLst>
              <a:gd name="adj" fmla="val 4396"/>
            </a:avLst>
          </a:prstGeom>
          <a:solidFill>
            <a:srgbClr val="FBF5E8"/>
          </a:solidFill>
          <a:ln w="15875">
            <a:solidFill>
              <a:srgbClr val="E9A23B"/>
            </a:solidFill>
            <a:prstDash val="solid"/>
          </a:ln>
        </p:spPr>
      </p:sp>
      <p:sp>
        <p:nvSpPr>
          <p:cNvPr id="18" name="Text 16"/>
          <p:cNvSpPr txBox="1"/>
          <p:nvPr/>
        </p:nvSpPr>
        <p:spPr>
          <a:xfrm>
            <a:off x="4800600" y="3063240"/>
            <a:ext cx="640080" cy="685800"/>
          </a:xfrm>
          <a:prstGeom prst="rect">
            <a:avLst/>
          </a:prstGeom>
          <a:noFill/>
          <a:ln/>
        </p:spPr>
        <p:txBody>
          <a:bodyPr wrap="square" lIns="0" tIns="0" rIns="0" bIns="0" rtlCol="0" anchor="ctr"/>
          <a:lstStyle/>
          <a:p>
            <a:pPr indent="0" marL="0">
              <a:buNone/>
            </a:pPr>
            <a:r>
              <a:rPr lang="en-US" sz="4000" b="1" dirty="0">
                <a:solidFill>
                  <a:srgbClr val="E9A23B"/>
                </a:solidFill>
                <a:latin typeface="Calibri" pitchFamily="34" charset="0"/>
                <a:ea typeface="Calibri" pitchFamily="34" charset="-122"/>
                <a:cs typeface="Calibri" pitchFamily="34" charset="-120"/>
              </a:rPr>
              <a:t>A</a:t>
            </a:r>
            <a:endParaRPr lang="en-US" sz="4000" dirty="0"/>
          </a:p>
        </p:txBody>
      </p:sp>
      <p:sp>
        <p:nvSpPr>
          <p:cNvPr id="19" name="Text 17"/>
          <p:cNvSpPr txBox="1"/>
          <p:nvPr/>
        </p:nvSpPr>
        <p:spPr>
          <a:xfrm>
            <a:off x="5440680" y="3063240"/>
            <a:ext cx="3108960" cy="365760"/>
          </a:xfrm>
          <a:prstGeom prst="rect">
            <a:avLst/>
          </a:prstGeom>
          <a:noFill/>
          <a:ln/>
        </p:spPr>
        <p:txBody>
          <a:bodyPr wrap="square" lIns="0" tIns="0" rIns="0" bIns="0" rtlCol="0" anchor="t"/>
          <a:lstStyle/>
          <a:p>
            <a:pPr indent="0" marL="0">
              <a:buNone/>
            </a:pPr>
            <a:r>
              <a:rPr lang="en-US" sz="1500" b="1" dirty="0">
                <a:solidFill>
                  <a:srgbClr val="E9A23B"/>
                </a:solidFill>
                <a:latin typeface="Calibri" pitchFamily="34" charset="0"/>
                <a:ea typeface="Calibri" pitchFamily="34" charset="-122"/>
                <a:cs typeface="Calibri" pitchFamily="34" charset="-120"/>
              </a:rPr>
              <a:t>Amenazas</a:t>
            </a:r>
            <a:endParaRPr lang="en-US" sz="1500" dirty="0"/>
          </a:p>
        </p:txBody>
      </p:sp>
      <p:sp>
        <p:nvSpPr>
          <p:cNvPr id="20" name="Text 18"/>
          <p:cNvSpPr txBox="1"/>
          <p:nvPr/>
        </p:nvSpPr>
        <p:spPr>
          <a:xfrm>
            <a:off x="5440680" y="3429000"/>
            <a:ext cx="3154680" cy="1188720"/>
          </a:xfrm>
          <a:prstGeom prst="rect">
            <a:avLst/>
          </a:prstGeom>
          <a:noFill/>
          <a:ln/>
        </p:spPr>
        <p:txBody>
          <a:bodyPr wrap="square" lIns="0" tIns="0" rIns="0" bIns="0" rtlCol="0" anchor="t"/>
          <a:lstStyle/>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Retrasos de pago y glosas de las EPS</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Reformas del sistema de salud</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Desabastecimiento de antibióticos</a:t>
            </a:r>
            <a:endParaRPr lang="en-US" sz="1050" dirty="0"/>
          </a:p>
          <a:p>
            <a:pPr marL="165100" indent="-165100">
              <a:spcAft>
                <a:spcPts val="200"/>
              </a:spcAft>
              <a:buSzPct val="100000"/>
              <a:buChar char="•"/>
            </a:pPr>
            <a:r>
              <a:rPr lang="en-US" sz="1050" dirty="0">
                <a:solidFill>
                  <a:srgbClr val="1D2B36"/>
                </a:solidFill>
                <a:latin typeface="Calibri" pitchFamily="34" charset="0"/>
                <a:ea typeface="Calibri" pitchFamily="34" charset="-122"/>
                <a:cs typeface="Calibri" pitchFamily="34" charset="-120"/>
              </a:rPr>
              <a:t>Paso temprano a vía oral (menos días IV)</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E9A23B"/>
                </a:solidFill>
                <a:latin typeface="Calibri" pitchFamily="34" charset="0"/>
                <a:ea typeface="Calibri" pitchFamily="34" charset="-122"/>
                <a:cs typeface="Calibri" pitchFamily="34" charset="-120"/>
              </a:rPr>
              <a:t>PLANEACIÓN ESTRATÉGICA · FASE ANALÍTICA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Factores clave de éxito y formulación de estrategias</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Text 3"/>
          <p:cNvSpPr txBox="1"/>
          <p:nvPr/>
        </p:nvSpPr>
        <p:spPr>
          <a:xfrm>
            <a:off x="457200" y="1097280"/>
            <a:ext cx="8229600" cy="274320"/>
          </a:xfrm>
          <a:prstGeom prst="rect">
            <a:avLst/>
          </a:prstGeom>
          <a:noFill/>
          <a:ln/>
        </p:spPr>
        <p:txBody>
          <a:bodyPr wrap="square" lIns="0" tIns="0" rIns="0" bIns="0" rtlCol="0" anchor="t"/>
          <a:lstStyle/>
          <a:p>
            <a:pPr indent="0" marL="0">
              <a:buNone/>
            </a:pPr>
            <a:r>
              <a:rPr lang="en-US" sz="1100" b="1" spc="300" kern="0" dirty="0">
                <a:solidFill>
                  <a:srgbClr val="E9A23B"/>
                </a:solidFill>
                <a:latin typeface="Calibri" pitchFamily="34" charset="0"/>
                <a:ea typeface="Calibri" pitchFamily="34" charset="-122"/>
                <a:cs typeface="Calibri" pitchFamily="34" charset="-120"/>
              </a:rPr>
              <a:t>FACTORES CLAVE DE ÉXITO</a:t>
            </a:r>
            <a:endParaRPr lang="en-US" sz="1100" dirty="0"/>
          </a:p>
        </p:txBody>
      </p:sp>
      <p:sp>
        <p:nvSpPr>
          <p:cNvPr id="6" name="Shape 4"/>
          <p:cNvSpPr/>
          <p:nvPr/>
        </p:nvSpPr>
        <p:spPr>
          <a:xfrm>
            <a:off x="457200" y="1417320"/>
            <a:ext cx="1591056" cy="502920"/>
          </a:xfrm>
          <a:prstGeom prst="roundRect">
            <a:avLst>
              <a:gd name="adj" fmla="val 50000"/>
            </a:avLst>
          </a:prstGeom>
          <a:solidFill>
            <a:srgbClr val="0E7C86"/>
          </a:solidFill>
          <a:ln w="12700">
            <a:solidFill>
              <a:srgbClr val="0E7C86"/>
            </a:solidFill>
            <a:prstDash val="solid"/>
          </a:ln>
        </p:spPr>
      </p:sp>
      <p:sp>
        <p:nvSpPr>
          <p:cNvPr id="7" name="Text 5"/>
          <p:cNvSpPr txBox="1"/>
          <p:nvPr/>
        </p:nvSpPr>
        <p:spPr>
          <a:xfrm>
            <a:off x="457200" y="1417320"/>
            <a:ext cx="159105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Seguridad clínica demostrada</a:t>
            </a:r>
            <a:endParaRPr lang="en-US" sz="950" dirty="0"/>
          </a:p>
        </p:txBody>
      </p:sp>
      <p:sp>
        <p:nvSpPr>
          <p:cNvPr id="8" name="Shape 6"/>
          <p:cNvSpPr/>
          <p:nvPr/>
        </p:nvSpPr>
        <p:spPr>
          <a:xfrm>
            <a:off x="2139696" y="1417320"/>
            <a:ext cx="1591056" cy="502920"/>
          </a:xfrm>
          <a:prstGeom prst="roundRect">
            <a:avLst>
              <a:gd name="adj" fmla="val 50000"/>
            </a:avLst>
          </a:prstGeom>
          <a:solidFill>
            <a:srgbClr val="F26B4E"/>
          </a:solidFill>
          <a:ln w="12700">
            <a:solidFill>
              <a:srgbClr val="F26B4E"/>
            </a:solidFill>
            <a:prstDash val="solid"/>
          </a:ln>
        </p:spPr>
      </p:sp>
      <p:sp>
        <p:nvSpPr>
          <p:cNvPr id="9" name="Text 7"/>
          <p:cNvSpPr txBox="1"/>
          <p:nvPr/>
        </p:nvSpPr>
        <p:spPr>
          <a:xfrm>
            <a:off x="2139696" y="1417320"/>
            <a:ext cx="159105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Contratos con flujo de pago</a:t>
            </a:r>
            <a:endParaRPr lang="en-US" sz="950" dirty="0"/>
          </a:p>
        </p:txBody>
      </p:sp>
      <p:sp>
        <p:nvSpPr>
          <p:cNvPr id="10" name="Shape 8"/>
          <p:cNvSpPr/>
          <p:nvPr/>
        </p:nvSpPr>
        <p:spPr>
          <a:xfrm>
            <a:off x="3822192" y="1417320"/>
            <a:ext cx="1591056" cy="502920"/>
          </a:xfrm>
          <a:prstGeom prst="roundRect">
            <a:avLst>
              <a:gd name="adj" fmla="val 50000"/>
            </a:avLst>
          </a:prstGeom>
          <a:solidFill>
            <a:srgbClr val="2E9E6A"/>
          </a:solidFill>
          <a:ln w="12700">
            <a:solidFill>
              <a:srgbClr val="2E9E6A"/>
            </a:solidFill>
            <a:prstDash val="solid"/>
          </a:ln>
        </p:spPr>
      </p:sp>
      <p:sp>
        <p:nvSpPr>
          <p:cNvPr id="11" name="Text 9"/>
          <p:cNvSpPr txBox="1"/>
          <p:nvPr/>
        </p:nvSpPr>
        <p:spPr>
          <a:xfrm>
            <a:off x="3822192" y="1417320"/>
            <a:ext cx="159105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Precio menor que el día-cama</a:t>
            </a:r>
            <a:endParaRPr lang="en-US" sz="950" dirty="0"/>
          </a:p>
        </p:txBody>
      </p:sp>
      <p:sp>
        <p:nvSpPr>
          <p:cNvPr id="12" name="Shape 10"/>
          <p:cNvSpPr/>
          <p:nvPr/>
        </p:nvSpPr>
        <p:spPr>
          <a:xfrm>
            <a:off x="5504688" y="1417320"/>
            <a:ext cx="1591056" cy="502920"/>
          </a:xfrm>
          <a:prstGeom prst="roundRect">
            <a:avLst>
              <a:gd name="adj" fmla="val 50000"/>
            </a:avLst>
          </a:prstGeom>
          <a:solidFill>
            <a:srgbClr val="E9A23B"/>
          </a:solidFill>
          <a:ln w="12700">
            <a:solidFill>
              <a:srgbClr val="E9A23B"/>
            </a:solidFill>
            <a:prstDash val="solid"/>
          </a:ln>
        </p:spPr>
      </p:sp>
      <p:sp>
        <p:nvSpPr>
          <p:cNvPr id="13" name="Text 11"/>
          <p:cNvSpPr txBox="1"/>
          <p:nvPr/>
        </p:nvSpPr>
        <p:spPr>
          <a:xfrm>
            <a:off x="5504688" y="1417320"/>
            <a:ext cx="159105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Logística confiable de antibióticos</a:t>
            </a:r>
            <a:endParaRPr lang="en-US" sz="950" dirty="0"/>
          </a:p>
        </p:txBody>
      </p:sp>
      <p:sp>
        <p:nvSpPr>
          <p:cNvPr id="14" name="Shape 12"/>
          <p:cNvSpPr/>
          <p:nvPr/>
        </p:nvSpPr>
        <p:spPr>
          <a:xfrm>
            <a:off x="7187184" y="1417320"/>
            <a:ext cx="1591056" cy="502920"/>
          </a:xfrm>
          <a:prstGeom prst="roundRect">
            <a:avLst>
              <a:gd name="adj" fmla="val 50000"/>
            </a:avLst>
          </a:prstGeom>
          <a:solidFill>
            <a:srgbClr val="0B2236"/>
          </a:solidFill>
          <a:ln w="12700">
            <a:solidFill>
              <a:srgbClr val="0B2236"/>
            </a:solidFill>
            <a:prstDash val="solid"/>
          </a:ln>
        </p:spPr>
      </p:sp>
      <p:sp>
        <p:nvSpPr>
          <p:cNvPr id="15" name="Text 13"/>
          <p:cNvSpPr txBox="1"/>
          <p:nvPr/>
        </p:nvSpPr>
        <p:spPr>
          <a:xfrm>
            <a:off x="7187184" y="1417320"/>
            <a:ext cx="1591056"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Datos e indicadores en tiempo real</a:t>
            </a:r>
            <a:endParaRPr lang="en-US" sz="950" dirty="0"/>
          </a:p>
        </p:txBody>
      </p:sp>
      <p:sp>
        <p:nvSpPr>
          <p:cNvPr id="16" name="Shape 14"/>
          <p:cNvSpPr/>
          <p:nvPr/>
        </p:nvSpPr>
        <p:spPr>
          <a:xfrm>
            <a:off x="457200" y="2148840"/>
            <a:ext cx="4023360" cy="1188720"/>
          </a:xfrm>
          <a:prstGeom prst="roundRect">
            <a:avLst>
              <a:gd name="adj" fmla="val 6154"/>
            </a:avLst>
          </a:prstGeom>
          <a:solidFill>
            <a:srgbClr val="FFFFFF"/>
          </a:solidFill>
          <a:ln w="15875">
            <a:solidFill>
              <a:srgbClr val="0E7C86"/>
            </a:solidFill>
            <a:prstDash val="solid"/>
          </a:ln>
        </p:spPr>
      </p:sp>
      <p:sp>
        <p:nvSpPr>
          <p:cNvPr id="17" name="Text 15"/>
          <p:cNvSpPr txBox="1"/>
          <p:nvPr/>
        </p:nvSpPr>
        <p:spPr>
          <a:xfrm>
            <a:off x="621792" y="2221992"/>
            <a:ext cx="3657600" cy="3200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FO · ofensivas</a:t>
            </a:r>
            <a:endParaRPr lang="en-US" sz="1300" dirty="0"/>
          </a:p>
        </p:txBody>
      </p:sp>
      <p:sp>
        <p:nvSpPr>
          <p:cNvPr id="18" name="Text 16"/>
          <p:cNvSpPr txBox="1"/>
          <p:nvPr/>
        </p:nvSpPr>
        <p:spPr>
          <a:xfrm>
            <a:off x="621792" y="2560320"/>
            <a:ext cx="3703320" cy="73152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Usar la dirección por medicina interna y el precio por resistencia para captar a las EPS más saturadas, con un piloto de 3 meses.</a:t>
            </a:r>
            <a:endParaRPr lang="en-US" sz="1100" dirty="0"/>
          </a:p>
        </p:txBody>
      </p:sp>
      <p:sp>
        <p:nvSpPr>
          <p:cNvPr id="19" name="Shape 17"/>
          <p:cNvSpPr/>
          <p:nvPr/>
        </p:nvSpPr>
        <p:spPr>
          <a:xfrm>
            <a:off x="4663440" y="2148840"/>
            <a:ext cx="4023360" cy="1188720"/>
          </a:xfrm>
          <a:prstGeom prst="roundRect">
            <a:avLst>
              <a:gd name="adj" fmla="val 6154"/>
            </a:avLst>
          </a:prstGeom>
          <a:solidFill>
            <a:srgbClr val="FFFFFF"/>
          </a:solidFill>
          <a:ln w="15875">
            <a:solidFill>
              <a:srgbClr val="2E9E6A"/>
            </a:solidFill>
            <a:prstDash val="solid"/>
          </a:ln>
        </p:spPr>
      </p:sp>
      <p:sp>
        <p:nvSpPr>
          <p:cNvPr id="20" name="Text 18"/>
          <p:cNvSpPr txBox="1"/>
          <p:nvPr/>
        </p:nvSpPr>
        <p:spPr>
          <a:xfrm>
            <a:off x="4828032" y="2221992"/>
            <a:ext cx="3657600" cy="320040"/>
          </a:xfrm>
          <a:prstGeom prst="rect">
            <a:avLst/>
          </a:prstGeom>
          <a:noFill/>
          <a:ln/>
        </p:spPr>
        <p:txBody>
          <a:bodyPr wrap="square" lIns="0" tIns="0" rIns="0" bIns="0" rtlCol="0" anchor="t"/>
          <a:lstStyle/>
          <a:p>
            <a:pPr indent="0" marL="0">
              <a:buNone/>
            </a:pPr>
            <a:r>
              <a:rPr lang="en-US" sz="1300" b="1" dirty="0">
                <a:solidFill>
                  <a:srgbClr val="2E9E6A"/>
                </a:solidFill>
                <a:latin typeface="Calibri" pitchFamily="34" charset="0"/>
                <a:ea typeface="Calibri" pitchFamily="34" charset="-122"/>
                <a:cs typeface="Calibri" pitchFamily="34" charset="-120"/>
              </a:rPr>
              <a:t>DO · de reorientación</a:t>
            </a:r>
            <a:endParaRPr lang="en-US" sz="1300" dirty="0"/>
          </a:p>
        </p:txBody>
      </p:sp>
      <p:sp>
        <p:nvSpPr>
          <p:cNvPr id="21" name="Text 19"/>
          <p:cNvSpPr txBox="1"/>
          <p:nvPr/>
        </p:nvSpPr>
        <p:spPr>
          <a:xfrm>
            <a:off x="4828032" y="2560320"/>
            <a:ext cx="3703320" cy="73152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Compensar la falta de historial con un piloto medido y publicado; buscar socio inversionista para el capital de trabajo.</a:t>
            </a:r>
            <a:endParaRPr lang="en-US" sz="1100" dirty="0"/>
          </a:p>
        </p:txBody>
      </p:sp>
      <p:sp>
        <p:nvSpPr>
          <p:cNvPr id="22" name="Shape 20"/>
          <p:cNvSpPr/>
          <p:nvPr/>
        </p:nvSpPr>
        <p:spPr>
          <a:xfrm>
            <a:off x="457200" y="3447288"/>
            <a:ext cx="4023360" cy="1188720"/>
          </a:xfrm>
          <a:prstGeom prst="roundRect">
            <a:avLst>
              <a:gd name="adj" fmla="val 6154"/>
            </a:avLst>
          </a:prstGeom>
          <a:solidFill>
            <a:srgbClr val="FFFFFF"/>
          </a:solidFill>
          <a:ln w="15875">
            <a:solidFill>
              <a:srgbClr val="F26B4E"/>
            </a:solidFill>
            <a:prstDash val="solid"/>
          </a:ln>
        </p:spPr>
      </p:sp>
      <p:sp>
        <p:nvSpPr>
          <p:cNvPr id="23" name="Text 21"/>
          <p:cNvSpPr txBox="1"/>
          <p:nvPr/>
        </p:nvSpPr>
        <p:spPr>
          <a:xfrm>
            <a:off x="621792" y="3520440"/>
            <a:ext cx="3657600" cy="320040"/>
          </a:xfrm>
          <a:prstGeom prst="rect">
            <a:avLst/>
          </a:prstGeom>
          <a:noFill/>
          <a:ln/>
        </p:spPr>
        <p:txBody>
          <a:bodyPr wrap="square" lIns="0" tIns="0" rIns="0" bIns="0" rtlCol="0" anchor="t"/>
          <a:lstStyle/>
          <a:p>
            <a:pPr indent="0" marL="0">
              <a:buNone/>
            </a:pPr>
            <a:r>
              <a:rPr lang="en-US" sz="1300" b="1" dirty="0">
                <a:solidFill>
                  <a:srgbClr val="F26B4E"/>
                </a:solidFill>
                <a:latin typeface="Calibri" pitchFamily="34" charset="0"/>
                <a:ea typeface="Calibri" pitchFamily="34" charset="-122"/>
                <a:cs typeface="Calibri" pitchFamily="34" charset="-120"/>
              </a:rPr>
              <a:t>FA · defensivas</a:t>
            </a:r>
            <a:endParaRPr lang="en-US" sz="1300" dirty="0"/>
          </a:p>
        </p:txBody>
      </p:sp>
      <p:sp>
        <p:nvSpPr>
          <p:cNvPr id="24" name="Text 22"/>
          <p:cNvSpPr txBox="1"/>
          <p:nvPr/>
        </p:nvSpPr>
        <p:spPr>
          <a:xfrm>
            <a:off x="621792" y="3858768"/>
            <a:ext cx="3703320" cy="73152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Contratos con pago anticipado parcial, factoring de facturas y diversificación hacia clínicas privadas y prepagadas.</a:t>
            </a:r>
            <a:endParaRPr lang="en-US" sz="1100" dirty="0"/>
          </a:p>
        </p:txBody>
      </p:sp>
      <p:sp>
        <p:nvSpPr>
          <p:cNvPr id="25" name="Shape 23"/>
          <p:cNvSpPr/>
          <p:nvPr/>
        </p:nvSpPr>
        <p:spPr>
          <a:xfrm>
            <a:off x="4663440" y="3447288"/>
            <a:ext cx="4023360" cy="1188720"/>
          </a:xfrm>
          <a:prstGeom prst="roundRect">
            <a:avLst>
              <a:gd name="adj" fmla="val 6154"/>
            </a:avLst>
          </a:prstGeom>
          <a:solidFill>
            <a:srgbClr val="FFFFFF"/>
          </a:solidFill>
          <a:ln w="15875">
            <a:solidFill>
              <a:srgbClr val="E9A23B"/>
            </a:solidFill>
            <a:prstDash val="solid"/>
          </a:ln>
        </p:spPr>
      </p:sp>
      <p:sp>
        <p:nvSpPr>
          <p:cNvPr id="26" name="Text 24"/>
          <p:cNvSpPr txBox="1"/>
          <p:nvPr/>
        </p:nvSpPr>
        <p:spPr>
          <a:xfrm>
            <a:off x="4828032" y="3520440"/>
            <a:ext cx="3657600" cy="320040"/>
          </a:xfrm>
          <a:prstGeom prst="rect">
            <a:avLst/>
          </a:prstGeom>
          <a:noFill/>
          <a:ln/>
        </p:spPr>
        <p:txBody>
          <a:bodyPr wrap="square" lIns="0" tIns="0" rIns="0" bIns="0" rtlCol="0" anchor="t"/>
          <a:lstStyle/>
          <a:p>
            <a:pPr indent="0" marL="0">
              <a:buNone/>
            </a:pPr>
            <a:r>
              <a:rPr lang="en-US" sz="1300" b="1" dirty="0">
                <a:solidFill>
                  <a:srgbClr val="E9A23B"/>
                </a:solidFill>
                <a:latin typeface="Calibri" pitchFamily="34" charset="0"/>
                <a:ea typeface="Calibri" pitchFamily="34" charset="-122"/>
                <a:cs typeface="Calibri" pitchFamily="34" charset="-120"/>
              </a:rPr>
              <a:t>DA · de supervivencia</a:t>
            </a:r>
            <a:endParaRPr lang="en-US" sz="1300" dirty="0"/>
          </a:p>
        </p:txBody>
      </p:sp>
      <p:sp>
        <p:nvSpPr>
          <p:cNvPr id="27" name="Text 25"/>
          <p:cNvSpPr txBox="1"/>
          <p:nvPr/>
        </p:nvSpPr>
        <p:spPr>
          <a:xfrm>
            <a:off x="4828032" y="3858768"/>
            <a:ext cx="3703320" cy="73152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Incluir en el paquete el paso supervisado a vía oral para no perder al paciente cuando el esquema cambie; inventario de seguridad de antibióticos.</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PLANEACIÓN ESTRATÉGICA · FASE OPERATIVA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Plan de acción: primeros 24 meses</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731520" y="1783080"/>
            <a:ext cx="7680960" cy="0"/>
          </a:xfrm>
          <a:prstGeom prst="line">
            <a:avLst/>
          </a:prstGeom>
          <a:noFill/>
          <a:ln w="50800">
            <a:solidFill>
              <a:srgbClr val="D5E2E4"/>
            </a:solidFill>
            <a:prstDash val="solid"/>
          </a:ln>
        </p:spPr>
      </p:sp>
      <p:sp>
        <p:nvSpPr>
          <p:cNvPr id="6" name="Shape 4"/>
          <p:cNvSpPr/>
          <p:nvPr/>
        </p:nvSpPr>
        <p:spPr>
          <a:xfrm>
            <a:off x="1207008" y="1572768"/>
            <a:ext cx="420624" cy="420624"/>
          </a:xfrm>
          <a:prstGeom prst="ellipse">
            <a:avLst/>
          </a:prstGeom>
          <a:solidFill>
            <a:srgbClr val="0B2236"/>
          </a:solidFill>
          <a:ln w="25400">
            <a:solidFill>
              <a:srgbClr val="FFFFFF"/>
            </a:solidFill>
            <a:prstDash val="solid"/>
          </a:ln>
        </p:spPr>
      </p:sp>
      <p:sp>
        <p:nvSpPr>
          <p:cNvPr id="7" name="Text 5"/>
          <p:cNvSpPr txBox="1"/>
          <p:nvPr/>
        </p:nvSpPr>
        <p:spPr>
          <a:xfrm>
            <a:off x="457200" y="1143000"/>
            <a:ext cx="1920240" cy="365760"/>
          </a:xfrm>
          <a:prstGeom prst="rect">
            <a:avLst/>
          </a:prstGeom>
          <a:noFill/>
          <a:ln/>
        </p:spPr>
        <p:txBody>
          <a:bodyPr wrap="square" lIns="0" tIns="0" rIns="0" bIns="0" rtlCol="0" anchor="t"/>
          <a:lstStyle/>
          <a:p>
            <a:pPr algn="ctr" indent="0" marL="0">
              <a:buNone/>
            </a:pPr>
            <a:r>
              <a:rPr lang="en-US" sz="1400" b="1" dirty="0">
                <a:solidFill>
                  <a:srgbClr val="0B2236"/>
                </a:solidFill>
                <a:latin typeface="Calibri" pitchFamily="34" charset="0"/>
                <a:ea typeface="Calibri" pitchFamily="34" charset="-122"/>
                <a:cs typeface="Calibri" pitchFamily="34" charset="-120"/>
              </a:rPr>
              <a:t>Meses 0–3</a:t>
            </a:r>
            <a:endParaRPr lang="en-US" sz="1400" dirty="0"/>
          </a:p>
        </p:txBody>
      </p:sp>
      <p:sp>
        <p:nvSpPr>
          <p:cNvPr id="8" name="Shape 6"/>
          <p:cNvSpPr/>
          <p:nvPr/>
        </p:nvSpPr>
        <p:spPr>
          <a:xfrm>
            <a:off x="457200" y="2194560"/>
            <a:ext cx="1920240" cy="2514600"/>
          </a:xfrm>
          <a:prstGeom prst="roundRect">
            <a:avLst>
              <a:gd name="adj" fmla="val 3810"/>
            </a:avLst>
          </a:prstGeom>
          <a:solidFill>
            <a:srgbClr val="EEF6F6"/>
          </a:solidFill>
          <a:ln w="6350">
            <a:solidFill>
              <a:srgbClr val="EEF6F6"/>
            </a:solidFill>
            <a:prstDash val="solid"/>
          </a:ln>
        </p:spPr>
      </p:sp>
      <p:sp>
        <p:nvSpPr>
          <p:cNvPr id="9" name="Text 7"/>
          <p:cNvSpPr txBox="1"/>
          <p:nvPr/>
        </p:nvSpPr>
        <p:spPr>
          <a:xfrm>
            <a:off x="566928" y="2286000"/>
            <a:ext cx="1700784" cy="233172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Constitución de la S.A.S., habilitación ante la secretaría de salud, contratación del equipo base, protocolos y software</a:t>
            </a:r>
            <a:endParaRPr lang="en-US" sz="1150" dirty="0"/>
          </a:p>
        </p:txBody>
      </p:sp>
      <p:sp>
        <p:nvSpPr>
          <p:cNvPr id="10" name="Shape 8"/>
          <p:cNvSpPr/>
          <p:nvPr/>
        </p:nvSpPr>
        <p:spPr>
          <a:xfrm>
            <a:off x="3310128" y="1572768"/>
            <a:ext cx="420624" cy="420624"/>
          </a:xfrm>
          <a:prstGeom prst="ellipse">
            <a:avLst/>
          </a:prstGeom>
          <a:solidFill>
            <a:srgbClr val="0E7C86"/>
          </a:solidFill>
          <a:ln w="25400">
            <a:solidFill>
              <a:srgbClr val="FFFFFF"/>
            </a:solidFill>
            <a:prstDash val="solid"/>
          </a:ln>
        </p:spPr>
      </p:sp>
      <p:sp>
        <p:nvSpPr>
          <p:cNvPr id="11" name="Text 9"/>
          <p:cNvSpPr txBox="1"/>
          <p:nvPr/>
        </p:nvSpPr>
        <p:spPr>
          <a:xfrm>
            <a:off x="2560320" y="1143000"/>
            <a:ext cx="1920240" cy="365760"/>
          </a:xfrm>
          <a:prstGeom prst="rect">
            <a:avLst/>
          </a:prstGeom>
          <a:noFill/>
          <a:ln/>
        </p:spPr>
        <p:txBody>
          <a:bodyPr wrap="square" lIns="0" tIns="0" rIns="0" bIns="0" rtlCol="0" anchor="t"/>
          <a:lstStyle/>
          <a:p>
            <a:pPr algn="ctr" indent="0" marL="0">
              <a:buNone/>
            </a:pPr>
            <a:r>
              <a:rPr lang="en-US" sz="1400" b="1" dirty="0">
                <a:solidFill>
                  <a:srgbClr val="0E7C86"/>
                </a:solidFill>
                <a:latin typeface="Calibri" pitchFamily="34" charset="0"/>
                <a:ea typeface="Calibri" pitchFamily="34" charset="-122"/>
                <a:cs typeface="Calibri" pitchFamily="34" charset="-120"/>
              </a:rPr>
              <a:t>Meses 3–6</a:t>
            </a:r>
            <a:endParaRPr lang="en-US" sz="1400" dirty="0"/>
          </a:p>
        </p:txBody>
      </p:sp>
      <p:sp>
        <p:nvSpPr>
          <p:cNvPr id="12" name="Shape 10"/>
          <p:cNvSpPr/>
          <p:nvPr/>
        </p:nvSpPr>
        <p:spPr>
          <a:xfrm>
            <a:off x="2560320" y="2194560"/>
            <a:ext cx="1920240" cy="2514600"/>
          </a:xfrm>
          <a:prstGeom prst="roundRect">
            <a:avLst>
              <a:gd name="adj" fmla="val 3810"/>
            </a:avLst>
          </a:prstGeom>
          <a:solidFill>
            <a:srgbClr val="EEF6F6"/>
          </a:solidFill>
          <a:ln w="6350">
            <a:solidFill>
              <a:srgbClr val="EEF6F6"/>
            </a:solidFill>
            <a:prstDash val="solid"/>
          </a:ln>
        </p:spPr>
      </p:sp>
      <p:sp>
        <p:nvSpPr>
          <p:cNvPr id="13" name="Text 11"/>
          <p:cNvSpPr txBox="1"/>
          <p:nvPr/>
        </p:nvSpPr>
        <p:spPr>
          <a:xfrm>
            <a:off x="2670048" y="2286000"/>
            <a:ext cx="1700784" cy="233172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Piloto con 1 EPS y 1 clínica: paquetes IVU, neumonía y osteomielitis; medición de indicadores</a:t>
            </a:r>
            <a:endParaRPr lang="en-US" sz="1150" dirty="0"/>
          </a:p>
        </p:txBody>
      </p:sp>
      <p:sp>
        <p:nvSpPr>
          <p:cNvPr id="14" name="Shape 12"/>
          <p:cNvSpPr/>
          <p:nvPr/>
        </p:nvSpPr>
        <p:spPr>
          <a:xfrm>
            <a:off x="5413248" y="1572768"/>
            <a:ext cx="420624" cy="420624"/>
          </a:xfrm>
          <a:prstGeom prst="ellipse">
            <a:avLst/>
          </a:prstGeom>
          <a:solidFill>
            <a:srgbClr val="2E9E6A"/>
          </a:solidFill>
          <a:ln w="25400">
            <a:solidFill>
              <a:srgbClr val="FFFFFF"/>
            </a:solidFill>
            <a:prstDash val="solid"/>
          </a:ln>
        </p:spPr>
      </p:sp>
      <p:sp>
        <p:nvSpPr>
          <p:cNvPr id="15" name="Text 13"/>
          <p:cNvSpPr txBox="1"/>
          <p:nvPr/>
        </p:nvSpPr>
        <p:spPr>
          <a:xfrm>
            <a:off x="4663440" y="1143000"/>
            <a:ext cx="1920240" cy="365760"/>
          </a:xfrm>
          <a:prstGeom prst="rect">
            <a:avLst/>
          </a:prstGeom>
          <a:noFill/>
          <a:ln/>
        </p:spPr>
        <p:txBody>
          <a:bodyPr wrap="square" lIns="0" tIns="0" rIns="0" bIns="0" rtlCol="0" anchor="t"/>
          <a:lstStyle/>
          <a:p>
            <a:pPr algn="ctr" indent="0" marL="0">
              <a:buNone/>
            </a:pPr>
            <a:r>
              <a:rPr lang="en-US" sz="1400" b="1" dirty="0">
                <a:solidFill>
                  <a:srgbClr val="2E9E6A"/>
                </a:solidFill>
                <a:latin typeface="Calibri" pitchFamily="34" charset="0"/>
                <a:ea typeface="Calibri" pitchFamily="34" charset="-122"/>
                <a:cs typeface="Calibri" pitchFamily="34" charset="-120"/>
              </a:rPr>
              <a:t>Meses 6–12</a:t>
            </a:r>
            <a:endParaRPr lang="en-US" sz="1400" dirty="0"/>
          </a:p>
        </p:txBody>
      </p:sp>
      <p:sp>
        <p:nvSpPr>
          <p:cNvPr id="16" name="Shape 14"/>
          <p:cNvSpPr/>
          <p:nvPr/>
        </p:nvSpPr>
        <p:spPr>
          <a:xfrm>
            <a:off x="4663440" y="2194560"/>
            <a:ext cx="1920240" cy="2514600"/>
          </a:xfrm>
          <a:prstGeom prst="roundRect">
            <a:avLst>
              <a:gd name="adj" fmla="val 3810"/>
            </a:avLst>
          </a:prstGeom>
          <a:solidFill>
            <a:srgbClr val="EEF6F6"/>
          </a:solidFill>
          <a:ln w="6350">
            <a:solidFill>
              <a:srgbClr val="EEF6F6"/>
            </a:solidFill>
            <a:prstDash val="solid"/>
          </a:ln>
        </p:spPr>
      </p:sp>
      <p:sp>
        <p:nvSpPr>
          <p:cNvPr id="17" name="Text 15"/>
          <p:cNvSpPr txBox="1"/>
          <p:nvPr/>
        </p:nvSpPr>
        <p:spPr>
          <a:xfrm>
            <a:off x="4773168" y="2286000"/>
            <a:ext cx="1700784" cy="233172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Escalar a 2 EPS y 3 clínicas; agregar endocarditis y otras infecciones; punto de equilibrio</a:t>
            </a:r>
            <a:endParaRPr lang="en-US" sz="1150" dirty="0"/>
          </a:p>
        </p:txBody>
      </p:sp>
      <p:sp>
        <p:nvSpPr>
          <p:cNvPr id="18" name="Shape 16"/>
          <p:cNvSpPr/>
          <p:nvPr/>
        </p:nvSpPr>
        <p:spPr>
          <a:xfrm>
            <a:off x="7516368" y="1572768"/>
            <a:ext cx="420624" cy="420624"/>
          </a:xfrm>
          <a:prstGeom prst="ellipse">
            <a:avLst/>
          </a:prstGeom>
          <a:solidFill>
            <a:srgbClr val="F26B4E"/>
          </a:solidFill>
          <a:ln w="25400">
            <a:solidFill>
              <a:srgbClr val="FFFFFF"/>
            </a:solidFill>
            <a:prstDash val="solid"/>
          </a:ln>
        </p:spPr>
      </p:sp>
      <p:sp>
        <p:nvSpPr>
          <p:cNvPr id="19" name="Text 17"/>
          <p:cNvSpPr txBox="1"/>
          <p:nvPr/>
        </p:nvSpPr>
        <p:spPr>
          <a:xfrm>
            <a:off x="6766560" y="1143000"/>
            <a:ext cx="1920240" cy="365760"/>
          </a:xfrm>
          <a:prstGeom prst="rect">
            <a:avLst/>
          </a:prstGeom>
          <a:noFill/>
          <a:ln/>
        </p:spPr>
        <p:txBody>
          <a:bodyPr wrap="square" lIns="0" tIns="0" rIns="0" bIns="0" rtlCol="0" anchor="t"/>
          <a:lstStyle/>
          <a:p>
            <a:pPr algn="ctr" indent="0" marL="0">
              <a:buNone/>
            </a:pPr>
            <a:r>
              <a:rPr lang="en-US" sz="1400" b="1" dirty="0">
                <a:solidFill>
                  <a:srgbClr val="F26B4E"/>
                </a:solidFill>
                <a:latin typeface="Calibri" pitchFamily="34" charset="0"/>
                <a:ea typeface="Calibri" pitchFamily="34" charset="-122"/>
                <a:cs typeface="Calibri" pitchFamily="34" charset="-120"/>
              </a:rPr>
              <a:t>Meses 12–24</a:t>
            </a:r>
            <a:endParaRPr lang="en-US" sz="1400" dirty="0"/>
          </a:p>
        </p:txBody>
      </p:sp>
      <p:sp>
        <p:nvSpPr>
          <p:cNvPr id="20" name="Shape 18"/>
          <p:cNvSpPr/>
          <p:nvPr/>
        </p:nvSpPr>
        <p:spPr>
          <a:xfrm>
            <a:off x="6766560" y="2194560"/>
            <a:ext cx="1920240" cy="2514600"/>
          </a:xfrm>
          <a:prstGeom prst="roundRect">
            <a:avLst>
              <a:gd name="adj" fmla="val 3810"/>
            </a:avLst>
          </a:prstGeom>
          <a:solidFill>
            <a:srgbClr val="EEF6F6"/>
          </a:solidFill>
          <a:ln w="6350">
            <a:solidFill>
              <a:srgbClr val="EEF6F6"/>
            </a:solidFill>
            <a:prstDash val="solid"/>
          </a:ln>
        </p:spPr>
      </p:sp>
      <p:sp>
        <p:nvSpPr>
          <p:cNvPr id="21" name="Text 19"/>
          <p:cNvSpPr txBox="1"/>
          <p:nvPr/>
        </p:nvSpPr>
        <p:spPr>
          <a:xfrm>
            <a:off x="6876288" y="2286000"/>
            <a:ext cx="1700784" cy="233172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Expansión al AMB completo, nuevos pagadores, certificación de calidad y preparación para otra ciudad</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PLANEACIÓN ESTRATÉGICA · FASE OPERATIVA</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Implementación del plan y retroalimentación</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1810512" y="1078992"/>
            <a:ext cx="950976" cy="950976"/>
          </a:xfrm>
          <a:prstGeom prst="ellipse">
            <a:avLst/>
          </a:prstGeom>
          <a:solidFill>
            <a:srgbClr val="0E7C86"/>
          </a:solidFill>
          <a:ln w="1905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2048256" y="1316736"/>
            <a:ext cx="475488" cy="475488"/>
          </a:xfrm>
          <a:prstGeom prst="rect">
            <a:avLst/>
          </a:prstGeom>
        </p:spPr>
      </p:pic>
      <p:sp>
        <p:nvSpPr>
          <p:cNvPr id="7" name="Shape 4"/>
          <p:cNvSpPr/>
          <p:nvPr/>
        </p:nvSpPr>
        <p:spPr>
          <a:xfrm>
            <a:off x="2953512" y="2221992"/>
            <a:ext cx="950976" cy="950976"/>
          </a:xfrm>
          <a:prstGeom prst="ellipse">
            <a:avLst/>
          </a:prstGeom>
          <a:solidFill>
            <a:srgbClr val="2E9E6A"/>
          </a:solidFill>
          <a:ln w="19050">
            <a:solidFill>
              <a:srgbClr val="2E9E6A"/>
            </a:solidFill>
            <a:prstDash val="solid"/>
          </a:ln>
        </p:spPr>
      </p:sp>
      <p:pic>
        <p:nvPicPr>
          <p:cNvPr id="8" name="Image 1" descr="preencoded.png">    </p:cNvPr>
          <p:cNvPicPr>
            <a:picLocks noChangeAspect="1"/>
          </p:cNvPicPr>
          <p:nvPr/>
        </p:nvPicPr>
        <p:blipFill>
          <a:blip r:embed="rId2"/>
          <a:stretch>
            <a:fillRect/>
          </a:stretch>
        </p:blipFill>
        <p:spPr>
          <a:xfrm>
            <a:off x="3191256" y="2459736"/>
            <a:ext cx="475488" cy="475488"/>
          </a:xfrm>
          <a:prstGeom prst="rect">
            <a:avLst/>
          </a:prstGeom>
        </p:spPr>
      </p:pic>
      <p:sp>
        <p:nvSpPr>
          <p:cNvPr id="9" name="Shape 5"/>
          <p:cNvSpPr/>
          <p:nvPr/>
        </p:nvSpPr>
        <p:spPr>
          <a:xfrm>
            <a:off x="1810512" y="3364992"/>
            <a:ext cx="950976" cy="950976"/>
          </a:xfrm>
          <a:prstGeom prst="ellipse">
            <a:avLst/>
          </a:prstGeom>
          <a:solidFill>
            <a:srgbClr val="E9A23B"/>
          </a:solidFill>
          <a:ln w="19050">
            <a:solidFill>
              <a:srgbClr val="E9A23B"/>
            </a:solidFill>
            <a:prstDash val="solid"/>
          </a:ln>
        </p:spPr>
      </p:sp>
      <p:pic>
        <p:nvPicPr>
          <p:cNvPr id="10" name="Image 2" descr="preencoded.png">    </p:cNvPr>
          <p:cNvPicPr>
            <a:picLocks noChangeAspect="1"/>
          </p:cNvPicPr>
          <p:nvPr/>
        </p:nvPicPr>
        <p:blipFill>
          <a:blip r:embed="rId3"/>
          <a:stretch>
            <a:fillRect/>
          </a:stretch>
        </p:blipFill>
        <p:spPr>
          <a:xfrm>
            <a:off x="2048256" y="3602736"/>
            <a:ext cx="475488" cy="475488"/>
          </a:xfrm>
          <a:prstGeom prst="rect">
            <a:avLst/>
          </a:prstGeom>
        </p:spPr>
      </p:pic>
      <p:sp>
        <p:nvSpPr>
          <p:cNvPr id="11" name="Shape 6"/>
          <p:cNvSpPr/>
          <p:nvPr/>
        </p:nvSpPr>
        <p:spPr>
          <a:xfrm>
            <a:off x="667512" y="2221992"/>
            <a:ext cx="950976" cy="950976"/>
          </a:xfrm>
          <a:prstGeom prst="ellipse">
            <a:avLst/>
          </a:prstGeom>
          <a:solidFill>
            <a:srgbClr val="F26B4E"/>
          </a:solidFill>
          <a:ln w="19050">
            <a:solidFill>
              <a:srgbClr val="F26B4E"/>
            </a:solidFill>
            <a:prstDash val="solid"/>
          </a:ln>
        </p:spPr>
      </p:sp>
      <p:pic>
        <p:nvPicPr>
          <p:cNvPr id="12" name="Image 3" descr="preencoded.png">    </p:cNvPr>
          <p:cNvPicPr>
            <a:picLocks noChangeAspect="1"/>
          </p:cNvPicPr>
          <p:nvPr/>
        </p:nvPicPr>
        <p:blipFill>
          <a:blip r:embed="rId4"/>
          <a:stretch>
            <a:fillRect/>
          </a:stretch>
        </p:blipFill>
        <p:spPr>
          <a:xfrm>
            <a:off x="905256" y="2459736"/>
            <a:ext cx="475488" cy="475488"/>
          </a:xfrm>
          <a:prstGeom prst="rect">
            <a:avLst/>
          </a:prstGeom>
        </p:spPr>
      </p:pic>
      <p:sp>
        <p:nvSpPr>
          <p:cNvPr id="13" name="Text 7"/>
          <p:cNvSpPr txBox="1"/>
          <p:nvPr/>
        </p:nvSpPr>
        <p:spPr>
          <a:xfrm>
            <a:off x="1737360" y="2423160"/>
            <a:ext cx="1097280" cy="548640"/>
          </a:xfrm>
          <a:prstGeom prst="rect">
            <a:avLst/>
          </a:prstGeom>
          <a:noFill/>
          <a:ln/>
        </p:spPr>
        <p:txBody>
          <a:bodyPr wrap="square" lIns="0" tIns="0" rIns="0" bIns="0" rtlCol="0" anchor="ctr"/>
          <a:lstStyle/>
          <a:p>
            <a:pPr algn="ctr" indent="0" marL="0">
              <a:buNone/>
            </a:pPr>
            <a:r>
              <a:rPr lang="en-US" sz="1000" b="1" dirty="0">
                <a:solidFill>
                  <a:srgbClr val="0B2236"/>
                </a:solidFill>
                <a:latin typeface="Calibri" pitchFamily="34" charset="0"/>
                <a:ea typeface="Calibri" pitchFamily="34" charset="-122"/>
                <a:cs typeface="Calibri" pitchFamily="34" charset="-120"/>
              </a:rPr>
              <a:t>Ciclo de mejora continua</a:t>
            </a:r>
            <a:endParaRPr lang="en-US" sz="1000" dirty="0"/>
          </a:p>
        </p:txBody>
      </p:sp>
      <p:sp>
        <p:nvSpPr>
          <p:cNvPr id="14" name="Shape 8"/>
          <p:cNvSpPr/>
          <p:nvPr/>
        </p:nvSpPr>
        <p:spPr>
          <a:xfrm>
            <a:off x="4572000" y="1234440"/>
            <a:ext cx="4114800" cy="749808"/>
          </a:xfrm>
          <a:prstGeom prst="roundRect">
            <a:avLst>
              <a:gd name="adj" fmla="val 9756"/>
            </a:avLst>
          </a:prstGeom>
          <a:solidFill>
            <a:srgbClr val="EEF6F6"/>
          </a:solidFill>
          <a:ln w="6350">
            <a:solidFill>
              <a:srgbClr val="EEF6F6"/>
            </a:solidFill>
            <a:prstDash val="solid"/>
          </a:ln>
        </p:spPr>
      </p:sp>
      <p:sp>
        <p:nvSpPr>
          <p:cNvPr id="15" name="Text 9"/>
          <p:cNvSpPr txBox="1"/>
          <p:nvPr/>
        </p:nvSpPr>
        <p:spPr>
          <a:xfrm>
            <a:off x="4736592" y="1234440"/>
            <a:ext cx="3840480" cy="749808"/>
          </a:xfrm>
          <a:prstGeom prst="rect">
            <a:avLst/>
          </a:prstGeom>
          <a:noFill/>
          <a:ln/>
        </p:spPr>
        <p:txBody>
          <a:bodyPr wrap="square" lIns="0" tIns="0" rIns="0" bIns="0" rtlCol="0" anchor="ctr"/>
          <a:lstStyle/>
          <a:p>
            <a:pPr indent="0" marL="0">
              <a:buNone/>
            </a:pPr>
            <a:r>
              <a:rPr lang="en-US" sz="1250" b="1" dirty="0">
                <a:solidFill>
                  <a:srgbClr val="0E7C86"/>
                </a:solidFill>
                <a:latin typeface="Calibri" pitchFamily="34" charset="0"/>
                <a:ea typeface="Calibri" pitchFamily="34" charset="-122"/>
                <a:cs typeface="Calibri" pitchFamily="34" charset="-120"/>
              </a:rPr>
              <a:t>Planear: </a:t>
            </a:r>
            <a:pPr indent="0" marL="0">
              <a:buNone/>
            </a:pPr>
            <a:r>
              <a:rPr lang="en-US" sz="1250" dirty="0">
                <a:solidFill>
                  <a:srgbClr val="1D2B36"/>
                </a:solidFill>
                <a:latin typeface="Calibri" pitchFamily="34" charset="0"/>
                <a:ea typeface="Calibri" pitchFamily="34" charset="-122"/>
                <a:cs typeface="Calibri" pitchFamily="34" charset="-120"/>
              </a:rPr>
              <a:t>Metas por paquete y por pagador</a:t>
            </a:r>
            <a:endParaRPr lang="en-US" sz="1250" dirty="0"/>
          </a:p>
        </p:txBody>
      </p:sp>
      <p:sp>
        <p:nvSpPr>
          <p:cNvPr id="16" name="Shape 10"/>
          <p:cNvSpPr/>
          <p:nvPr/>
        </p:nvSpPr>
        <p:spPr>
          <a:xfrm>
            <a:off x="4572000" y="2103120"/>
            <a:ext cx="4114800" cy="749808"/>
          </a:xfrm>
          <a:prstGeom prst="roundRect">
            <a:avLst>
              <a:gd name="adj" fmla="val 9756"/>
            </a:avLst>
          </a:prstGeom>
          <a:solidFill>
            <a:srgbClr val="EEF6F6"/>
          </a:solidFill>
          <a:ln w="6350">
            <a:solidFill>
              <a:srgbClr val="EEF6F6"/>
            </a:solidFill>
            <a:prstDash val="solid"/>
          </a:ln>
        </p:spPr>
      </p:sp>
      <p:sp>
        <p:nvSpPr>
          <p:cNvPr id="17" name="Text 11"/>
          <p:cNvSpPr txBox="1"/>
          <p:nvPr/>
        </p:nvSpPr>
        <p:spPr>
          <a:xfrm>
            <a:off x="4736592" y="2103120"/>
            <a:ext cx="3840480" cy="749808"/>
          </a:xfrm>
          <a:prstGeom prst="rect">
            <a:avLst/>
          </a:prstGeom>
          <a:noFill/>
          <a:ln/>
        </p:spPr>
        <p:txBody>
          <a:bodyPr wrap="square" lIns="0" tIns="0" rIns="0" bIns="0" rtlCol="0" anchor="ctr"/>
          <a:lstStyle/>
          <a:p>
            <a:pPr indent="0" marL="0">
              <a:buNone/>
            </a:pPr>
            <a:r>
              <a:rPr lang="en-US" sz="1250" b="1" dirty="0">
                <a:solidFill>
                  <a:srgbClr val="2E9E6A"/>
                </a:solidFill>
                <a:latin typeface="Calibri" pitchFamily="34" charset="0"/>
                <a:ea typeface="Calibri" pitchFamily="34" charset="-122"/>
                <a:cs typeface="Calibri" pitchFamily="34" charset="-120"/>
              </a:rPr>
              <a:t>Hacer: </a:t>
            </a:r>
            <a:pPr indent="0" marL="0">
              <a:buNone/>
            </a:pPr>
            <a:r>
              <a:rPr lang="en-US" sz="1250" dirty="0">
                <a:solidFill>
                  <a:srgbClr val="1D2B36"/>
                </a:solidFill>
                <a:latin typeface="Calibri" pitchFamily="34" charset="0"/>
                <a:ea typeface="Calibri" pitchFamily="34" charset="-122"/>
                <a:cs typeface="Calibri" pitchFamily="34" charset="-120"/>
              </a:rPr>
              <a:t>Atender pacientes según protocolo</a:t>
            </a:r>
            <a:endParaRPr lang="en-US" sz="1250" dirty="0"/>
          </a:p>
        </p:txBody>
      </p:sp>
      <p:sp>
        <p:nvSpPr>
          <p:cNvPr id="18" name="Shape 12"/>
          <p:cNvSpPr/>
          <p:nvPr/>
        </p:nvSpPr>
        <p:spPr>
          <a:xfrm>
            <a:off x="4572000" y="2971800"/>
            <a:ext cx="4114800" cy="749808"/>
          </a:xfrm>
          <a:prstGeom prst="roundRect">
            <a:avLst>
              <a:gd name="adj" fmla="val 9756"/>
            </a:avLst>
          </a:prstGeom>
          <a:solidFill>
            <a:srgbClr val="EEF6F6"/>
          </a:solidFill>
          <a:ln w="6350">
            <a:solidFill>
              <a:srgbClr val="EEF6F6"/>
            </a:solidFill>
            <a:prstDash val="solid"/>
          </a:ln>
        </p:spPr>
      </p:sp>
      <p:sp>
        <p:nvSpPr>
          <p:cNvPr id="19" name="Text 13"/>
          <p:cNvSpPr txBox="1"/>
          <p:nvPr/>
        </p:nvSpPr>
        <p:spPr>
          <a:xfrm>
            <a:off x="4736592" y="2971800"/>
            <a:ext cx="3840480" cy="749808"/>
          </a:xfrm>
          <a:prstGeom prst="rect">
            <a:avLst/>
          </a:prstGeom>
          <a:noFill/>
          <a:ln/>
        </p:spPr>
        <p:txBody>
          <a:bodyPr wrap="square" lIns="0" tIns="0" rIns="0" bIns="0" rtlCol="0" anchor="ctr"/>
          <a:lstStyle/>
          <a:p>
            <a:pPr indent="0" marL="0">
              <a:buNone/>
            </a:pPr>
            <a:r>
              <a:rPr lang="en-US" sz="1250" b="1" dirty="0">
                <a:solidFill>
                  <a:srgbClr val="E9A23B"/>
                </a:solidFill>
                <a:latin typeface="Calibri" pitchFamily="34" charset="0"/>
                <a:ea typeface="Calibri" pitchFamily="34" charset="-122"/>
                <a:cs typeface="Calibri" pitchFamily="34" charset="-120"/>
              </a:rPr>
              <a:t>Verificar: </a:t>
            </a:r>
            <a:pPr indent="0" marL="0">
              <a:buNone/>
            </a:pPr>
            <a:r>
              <a:rPr lang="en-US" sz="1250" dirty="0">
                <a:solidFill>
                  <a:srgbClr val="1D2B36"/>
                </a:solidFill>
                <a:latin typeface="Calibri" pitchFamily="34" charset="0"/>
                <a:ea typeface="Calibri" pitchFamily="34" charset="-122"/>
                <a:cs typeface="Calibri" pitchFamily="34" charset="-120"/>
              </a:rPr>
              <a:t>Tablero mensual de indicadores clínicos y financieros</a:t>
            </a:r>
            <a:endParaRPr lang="en-US" sz="1250" dirty="0"/>
          </a:p>
        </p:txBody>
      </p:sp>
      <p:sp>
        <p:nvSpPr>
          <p:cNvPr id="20" name="Shape 14"/>
          <p:cNvSpPr/>
          <p:nvPr/>
        </p:nvSpPr>
        <p:spPr>
          <a:xfrm>
            <a:off x="4572000" y="3840480"/>
            <a:ext cx="4114800" cy="749808"/>
          </a:xfrm>
          <a:prstGeom prst="roundRect">
            <a:avLst>
              <a:gd name="adj" fmla="val 9756"/>
            </a:avLst>
          </a:prstGeom>
          <a:solidFill>
            <a:srgbClr val="EEF6F6"/>
          </a:solidFill>
          <a:ln w="6350">
            <a:solidFill>
              <a:srgbClr val="EEF6F6"/>
            </a:solidFill>
            <a:prstDash val="solid"/>
          </a:ln>
        </p:spPr>
      </p:sp>
      <p:sp>
        <p:nvSpPr>
          <p:cNvPr id="21" name="Text 15"/>
          <p:cNvSpPr txBox="1"/>
          <p:nvPr/>
        </p:nvSpPr>
        <p:spPr>
          <a:xfrm>
            <a:off x="4736592" y="3840480"/>
            <a:ext cx="3840480" cy="749808"/>
          </a:xfrm>
          <a:prstGeom prst="rect">
            <a:avLst/>
          </a:prstGeom>
          <a:noFill/>
          <a:ln/>
        </p:spPr>
        <p:txBody>
          <a:bodyPr wrap="square" lIns="0" tIns="0" rIns="0" bIns="0" rtlCol="0" anchor="ctr"/>
          <a:lstStyle/>
          <a:p>
            <a:pPr indent="0" marL="0">
              <a:buNone/>
            </a:pPr>
            <a:r>
              <a:rPr lang="en-US" sz="1250" b="1" dirty="0">
                <a:solidFill>
                  <a:srgbClr val="F26B4E"/>
                </a:solidFill>
                <a:latin typeface="Calibri" pitchFamily="34" charset="0"/>
                <a:ea typeface="Calibri" pitchFamily="34" charset="-122"/>
                <a:cs typeface="Calibri" pitchFamily="34" charset="-120"/>
              </a:rPr>
              <a:t>Actuar: </a:t>
            </a:r>
            <a:pPr indent="0" marL="0">
              <a:buNone/>
            </a:pPr>
            <a:r>
              <a:rPr lang="en-US" sz="1250" dirty="0">
                <a:solidFill>
                  <a:srgbClr val="1D2B36"/>
                </a:solidFill>
                <a:latin typeface="Calibri" pitchFamily="34" charset="0"/>
                <a:ea typeface="Calibri" pitchFamily="34" charset="-122"/>
                <a:cs typeface="Calibri" pitchFamily="34" charset="-120"/>
              </a:rPr>
              <a:t>Ajustar protocolos, precios y contratos</a:t>
            </a:r>
            <a:endParaRPr lang="en-US" sz="1250" dirty="0"/>
          </a:p>
        </p:txBody>
      </p:sp>
      <p:sp>
        <p:nvSpPr>
          <p:cNvPr id="22" name="Text 16"/>
          <p:cNvSpPr txBox="1"/>
          <p:nvPr/>
        </p:nvSpPr>
        <p:spPr>
          <a:xfrm>
            <a:off x="457200" y="4572000"/>
            <a:ext cx="3931920" cy="274320"/>
          </a:xfrm>
          <a:prstGeom prst="rect">
            <a:avLst/>
          </a:prstGeom>
          <a:noFill/>
          <a:ln/>
        </p:spPr>
        <p:txBody>
          <a:bodyPr wrap="square" lIns="0" tIns="0" rIns="0" bIns="0" rtlCol="0" anchor="t"/>
          <a:lstStyle/>
          <a:p>
            <a:pPr indent="0" marL="0">
              <a:buNone/>
            </a:pPr>
            <a:r>
              <a:rPr lang="en-US" sz="900" i="1" dirty="0">
                <a:solidFill>
                  <a:srgbClr val="5F6F7C"/>
                </a:solidFill>
                <a:latin typeface="Calibri" pitchFamily="34" charset="0"/>
                <a:ea typeface="Calibri" pitchFamily="34" charset="-122"/>
                <a:cs typeface="Calibri" pitchFamily="34" charset="-120"/>
              </a:rPr>
              <a:t>La retroalimentación devuelve los resultados a todas las fases: si un indicador falla, se revisan la misión, los objetivos o el plan de acción.</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2236"/>
        </a:solidFill>
      </p:bgPr>
    </p:bg>
    <p:spTree>
      <p:nvGrpSpPr>
        <p:cNvPr id="1" name=""/>
        <p:cNvGrpSpPr/>
        <p:nvPr/>
      </p:nvGrpSpPr>
      <p:grpSpPr>
        <a:xfrm>
          <a:off x="0" y="0"/>
          <a:ext cx="0" cy="0"/>
          <a:chOff x="0" y="0"/>
          <a:chExt cx="0" cy="0"/>
        </a:xfrm>
      </p:grpSpPr>
      <p:sp>
        <p:nvSpPr>
          <p:cNvPr id="2" name="Shape 0"/>
          <p:cNvSpPr/>
          <p:nvPr/>
        </p:nvSpPr>
        <p:spPr>
          <a:xfrm>
            <a:off x="6035040" y="-914400"/>
            <a:ext cx="4389120" cy="4389120"/>
          </a:xfrm>
          <a:prstGeom prst="ellipse">
            <a:avLst/>
          </a:prstGeom>
          <a:solidFill>
            <a:srgbClr val="14A3A8">
              <a:alpha val="30000"/>
            </a:srgbClr>
          </a:solidFill>
          <a:ln w="12700">
            <a:solidFill>
              <a:srgbClr val="14A3A8">
                <a:alpha val="0"/>
              </a:srgbClr>
            </a:solidFill>
            <a:prstDash val="solid"/>
          </a:ln>
        </p:spPr>
      </p:sp>
      <p:sp>
        <p:nvSpPr>
          <p:cNvPr id="3" name="Shape 1"/>
          <p:cNvSpPr/>
          <p:nvPr/>
        </p:nvSpPr>
        <p:spPr>
          <a:xfrm>
            <a:off x="7315200" y="2834640"/>
            <a:ext cx="2560320" cy="2560320"/>
          </a:xfrm>
          <a:prstGeom prst="ellipse">
            <a:avLst/>
          </a:prstGeom>
          <a:solidFill>
            <a:srgbClr val="14A3A8">
              <a:alpha val="25000"/>
            </a:srgbClr>
          </a:solidFill>
          <a:ln w="12700">
            <a:solidFill>
              <a:srgbClr val="14A3A8">
                <a:alpha val="0"/>
              </a:srgbClr>
            </a:solidFill>
            <a:prstDash val="solid"/>
          </a:ln>
        </p:spPr>
      </p:sp>
      <p:sp>
        <p:nvSpPr>
          <p:cNvPr id="4" name="Text 2"/>
          <p:cNvSpPr txBox="1"/>
          <p:nvPr/>
        </p:nvSpPr>
        <p:spPr>
          <a:xfrm>
            <a:off x="548640" y="822960"/>
            <a:ext cx="3657600" cy="1280160"/>
          </a:xfrm>
          <a:prstGeom prst="rect">
            <a:avLst/>
          </a:prstGeom>
          <a:noFill/>
          <a:ln/>
        </p:spPr>
        <p:txBody>
          <a:bodyPr wrap="square" lIns="0" tIns="0" rIns="0" bIns="0" rtlCol="0" anchor="b"/>
          <a:lstStyle/>
          <a:p>
            <a:pPr indent="0" marL="0">
              <a:buNone/>
            </a:pPr>
            <a:r>
              <a:rPr lang="en-US" sz="8400" b="1" dirty="0">
                <a:solidFill>
                  <a:srgbClr val="14A3A8"/>
                </a:solidFill>
                <a:latin typeface="Calibri" pitchFamily="34" charset="0"/>
                <a:ea typeface="Calibri" pitchFamily="34" charset="-122"/>
                <a:cs typeface="Calibri" pitchFamily="34" charset="-120"/>
              </a:rPr>
              <a:t>04</a:t>
            </a:r>
            <a:endParaRPr lang="en-US" sz="8400" dirty="0"/>
          </a:p>
        </p:txBody>
      </p:sp>
      <p:sp>
        <p:nvSpPr>
          <p:cNvPr id="5" name="Text 3"/>
          <p:cNvSpPr txBox="1"/>
          <p:nvPr/>
        </p:nvSpPr>
        <p:spPr>
          <a:xfrm>
            <a:off x="548640" y="2240280"/>
            <a:ext cx="5943600" cy="10972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Nuevos modelos organizacionales</a:t>
            </a:r>
            <a:endParaRPr lang="en-US" sz="3400" dirty="0"/>
          </a:p>
        </p:txBody>
      </p:sp>
      <p:sp>
        <p:nvSpPr>
          <p:cNvPr id="6" name="Text 4"/>
          <p:cNvSpPr txBox="1"/>
          <p:nvPr/>
        </p:nvSpPr>
        <p:spPr>
          <a:xfrm>
            <a:off x="548640" y="3429000"/>
            <a:ext cx="5760720" cy="731520"/>
          </a:xfrm>
          <a:prstGeom prst="rect">
            <a:avLst/>
          </a:prstGeom>
          <a:noFill/>
          <a:ln/>
        </p:spPr>
        <p:txBody>
          <a:bodyPr wrap="square" lIns="0" tIns="0" rIns="0" bIns="0" rtlCol="0" anchor="t"/>
          <a:lstStyle/>
          <a:p>
            <a:pPr indent="0" marL="0">
              <a:buNone/>
            </a:pPr>
            <a:r>
              <a:rPr lang="en-US" sz="1400" dirty="0">
                <a:solidFill>
                  <a:srgbClr val="BFD3DC"/>
                </a:solidFill>
                <a:latin typeface="Calibri" pitchFamily="34" charset="0"/>
                <a:ea typeface="Calibri" pitchFamily="34" charset="-122"/>
                <a:cs typeface="Calibri" pitchFamily="34" charset="-120"/>
              </a:rPr>
              <a:t>Figura 1-8: cómo se organiza DOMUS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NUEVOS MODELOS ORGANIZACIONALES · FIGURA 1-8</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DOMUS como organización de nuevo modelo</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flipV="1">
            <a:off x="4572000" y="1371600"/>
            <a:ext cx="914" cy="1554480"/>
          </a:xfrm>
          <a:prstGeom prst="line">
            <a:avLst/>
          </a:prstGeom>
          <a:noFill/>
          <a:ln w="19050">
            <a:solidFill>
              <a:srgbClr val="D5E2E4"/>
            </a:solidFill>
            <a:prstDash val="solid"/>
          </a:ln>
        </p:spPr>
      </p:sp>
      <p:sp>
        <p:nvSpPr>
          <p:cNvPr id="6" name="Shape 4"/>
          <p:cNvSpPr/>
          <p:nvPr/>
        </p:nvSpPr>
        <p:spPr>
          <a:xfrm flipV="1">
            <a:off x="4572000" y="2057400"/>
            <a:ext cx="2743200" cy="868680"/>
          </a:xfrm>
          <a:prstGeom prst="line">
            <a:avLst/>
          </a:prstGeom>
          <a:noFill/>
          <a:ln w="19050">
            <a:solidFill>
              <a:srgbClr val="D5E2E4"/>
            </a:solidFill>
            <a:prstDash val="solid"/>
          </a:ln>
        </p:spPr>
      </p:sp>
      <p:sp>
        <p:nvSpPr>
          <p:cNvPr id="7" name="Shape 5"/>
          <p:cNvSpPr/>
          <p:nvPr/>
        </p:nvSpPr>
        <p:spPr>
          <a:xfrm>
            <a:off x="4572000" y="2926080"/>
            <a:ext cx="2743200" cy="868680"/>
          </a:xfrm>
          <a:prstGeom prst="line">
            <a:avLst/>
          </a:prstGeom>
          <a:noFill/>
          <a:ln w="19050">
            <a:solidFill>
              <a:srgbClr val="D5E2E4"/>
            </a:solidFill>
            <a:prstDash val="solid"/>
          </a:ln>
        </p:spPr>
      </p:sp>
      <p:sp>
        <p:nvSpPr>
          <p:cNvPr id="8" name="Shape 6"/>
          <p:cNvSpPr/>
          <p:nvPr/>
        </p:nvSpPr>
        <p:spPr>
          <a:xfrm>
            <a:off x="4572000" y="2926080"/>
            <a:ext cx="914" cy="1508760"/>
          </a:xfrm>
          <a:prstGeom prst="line">
            <a:avLst/>
          </a:prstGeom>
          <a:noFill/>
          <a:ln w="19050">
            <a:solidFill>
              <a:srgbClr val="D5E2E4"/>
            </a:solidFill>
            <a:prstDash val="solid"/>
          </a:ln>
        </p:spPr>
      </p:sp>
      <p:sp>
        <p:nvSpPr>
          <p:cNvPr id="9" name="Shape 7"/>
          <p:cNvSpPr/>
          <p:nvPr/>
        </p:nvSpPr>
        <p:spPr>
          <a:xfrm flipH="1">
            <a:off x="1828800" y="2926080"/>
            <a:ext cx="2743200" cy="868680"/>
          </a:xfrm>
          <a:prstGeom prst="line">
            <a:avLst/>
          </a:prstGeom>
          <a:noFill/>
          <a:ln w="19050">
            <a:solidFill>
              <a:srgbClr val="D5E2E4"/>
            </a:solidFill>
            <a:prstDash val="solid"/>
          </a:ln>
        </p:spPr>
      </p:sp>
      <p:sp>
        <p:nvSpPr>
          <p:cNvPr id="10" name="Shape 8"/>
          <p:cNvSpPr/>
          <p:nvPr/>
        </p:nvSpPr>
        <p:spPr>
          <a:xfrm flipH="1" flipV="1">
            <a:off x="1828800" y="2057400"/>
            <a:ext cx="2743200" cy="868680"/>
          </a:xfrm>
          <a:prstGeom prst="line">
            <a:avLst/>
          </a:prstGeom>
          <a:noFill/>
          <a:ln w="19050">
            <a:solidFill>
              <a:srgbClr val="D5E2E4"/>
            </a:solidFill>
            <a:prstDash val="solid"/>
          </a:ln>
        </p:spPr>
      </p:sp>
      <p:sp>
        <p:nvSpPr>
          <p:cNvPr id="11" name="Shape 9"/>
          <p:cNvSpPr/>
          <p:nvPr/>
        </p:nvSpPr>
        <p:spPr>
          <a:xfrm>
            <a:off x="3429000" y="2468880"/>
            <a:ext cx="2286000" cy="914400"/>
          </a:xfrm>
          <a:prstGeom prst="ellipse">
            <a:avLst/>
          </a:prstGeom>
          <a:solidFill>
            <a:srgbClr val="0B2236"/>
          </a:solidFill>
          <a:ln w="12700">
            <a:solidFill>
              <a:srgbClr val="0B2236"/>
            </a:solidFill>
            <a:prstDash val="solid"/>
          </a:ln>
        </p:spPr>
      </p:sp>
      <p:sp>
        <p:nvSpPr>
          <p:cNvPr id="12" name="Text 10"/>
          <p:cNvSpPr txBox="1"/>
          <p:nvPr/>
        </p:nvSpPr>
        <p:spPr>
          <a:xfrm>
            <a:off x="3520440" y="2468880"/>
            <a:ext cx="210312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Nuevos modelos organizacionales</a:t>
            </a:r>
            <a:endParaRPr lang="en-US" sz="1200" dirty="0"/>
          </a:p>
        </p:txBody>
      </p:sp>
      <p:sp>
        <p:nvSpPr>
          <p:cNvPr id="13" name="Shape 11"/>
          <p:cNvSpPr/>
          <p:nvPr/>
        </p:nvSpPr>
        <p:spPr>
          <a:xfrm>
            <a:off x="3383280" y="1042416"/>
            <a:ext cx="2377440" cy="658368"/>
          </a:xfrm>
          <a:prstGeom prst="roundRect">
            <a:avLst>
              <a:gd name="adj" fmla="val 11111"/>
            </a:avLst>
          </a:prstGeom>
          <a:solidFill>
            <a:srgbClr val="FFFFFF"/>
          </a:solidFill>
          <a:ln w="15875">
            <a:solidFill>
              <a:srgbClr val="0E7C86"/>
            </a:solidFill>
            <a:prstDash val="solid"/>
          </a:ln>
        </p:spPr>
      </p:sp>
      <p:sp>
        <p:nvSpPr>
          <p:cNvPr id="14" name="Text 12"/>
          <p:cNvSpPr txBox="1"/>
          <p:nvPr/>
        </p:nvSpPr>
        <p:spPr>
          <a:xfrm>
            <a:off x="3456432" y="1042416"/>
            <a:ext cx="2231136" cy="658368"/>
          </a:xfrm>
          <a:prstGeom prst="rect">
            <a:avLst/>
          </a:prstGeom>
          <a:noFill/>
          <a:ln/>
        </p:spPr>
        <p:txBody>
          <a:bodyPr wrap="square" lIns="0" tIns="0" rIns="0" bIns="0" rtlCol="0" anchor="ctr"/>
          <a:lstStyle/>
          <a:p>
            <a:pPr algn="ctr" indent="0" marL="0">
              <a:buNone/>
            </a:pPr>
            <a:r>
              <a:rPr lang="en-US" sz="1050" b="1" dirty="0">
                <a:solidFill>
                  <a:srgbClr val="0B2236"/>
                </a:solidFill>
                <a:latin typeface="Calibri" pitchFamily="34" charset="0"/>
                <a:ea typeface="Calibri" pitchFamily="34" charset="-122"/>
                <a:cs typeface="Calibri" pitchFamily="34" charset="-120"/>
              </a:rPr>
              <a:t>Organizaciones de aprendizaje</a:t>
            </a:r>
            <a:endParaRPr lang="en-US" sz="1300" dirty="0"/>
          </a:p>
          <a:p>
            <a:pPr algn="ctr" indent="0" marL="0">
              <a:buNone/>
            </a:pPr>
            <a:r>
              <a:rPr lang="en-US" sz="900" dirty="0">
                <a:solidFill>
                  <a:srgbClr val="5F6F7C"/>
                </a:solidFill>
                <a:latin typeface="Calibri" pitchFamily="34" charset="0"/>
                <a:ea typeface="Calibri" pitchFamily="34" charset="-122"/>
                <a:cs typeface="Calibri" pitchFamily="34" charset="-120"/>
              </a:rPr>
              <a:t>Cada caso alimenta los protocolos</a:t>
            </a:r>
            <a:endParaRPr lang="en-US" sz="1300" dirty="0"/>
          </a:p>
        </p:txBody>
      </p:sp>
      <p:sp>
        <p:nvSpPr>
          <p:cNvPr id="15" name="Shape 13"/>
          <p:cNvSpPr/>
          <p:nvPr/>
        </p:nvSpPr>
        <p:spPr>
          <a:xfrm>
            <a:off x="6126480" y="1728216"/>
            <a:ext cx="2377440" cy="658368"/>
          </a:xfrm>
          <a:prstGeom prst="roundRect">
            <a:avLst>
              <a:gd name="adj" fmla="val 11111"/>
            </a:avLst>
          </a:prstGeom>
          <a:solidFill>
            <a:srgbClr val="FFFFFF"/>
          </a:solidFill>
          <a:ln w="15875">
            <a:solidFill>
              <a:srgbClr val="F26B4E"/>
            </a:solidFill>
            <a:prstDash val="solid"/>
          </a:ln>
        </p:spPr>
      </p:sp>
      <p:sp>
        <p:nvSpPr>
          <p:cNvPr id="16" name="Text 14"/>
          <p:cNvSpPr txBox="1"/>
          <p:nvPr/>
        </p:nvSpPr>
        <p:spPr>
          <a:xfrm>
            <a:off x="6199632" y="1728216"/>
            <a:ext cx="2231136" cy="658368"/>
          </a:xfrm>
          <a:prstGeom prst="rect">
            <a:avLst/>
          </a:prstGeom>
          <a:noFill/>
          <a:ln/>
        </p:spPr>
        <p:txBody>
          <a:bodyPr wrap="square" lIns="0" tIns="0" rIns="0" bIns="0" rtlCol="0" anchor="ctr"/>
          <a:lstStyle/>
          <a:p>
            <a:pPr algn="ctr" indent="0" marL="0">
              <a:buNone/>
            </a:pPr>
            <a:r>
              <a:rPr lang="en-US" sz="1050" b="1" dirty="0">
                <a:solidFill>
                  <a:srgbClr val="0B2236"/>
                </a:solidFill>
                <a:latin typeface="Calibri" pitchFamily="34" charset="0"/>
                <a:ea typeface="Calibri" pitchFamily="34" charset="-122"/>
                <a:cs typeface="Calibri" pitchFamily="34" charset="-120"/>
              </a:rPr>
              <a:t>Organizaciones inteligentes</a:t>
            </a:r>
            <a:endParaRPr lang="en-US" sz="1300" dirty="0"/>
          </a:p>
          <a:p>
            <a:pPr algn="ctr" indent="0" marL="0">
              <a:buNone/>
            </a:pPr>
            <a:r>
              <a:rPr lang="en-US" sz="900" dirty="0">
                <a:solidFill>
                  <a:srgbClr val="5F6F7C"/>
                </a:solidFill>
                <a:latin typeface="Calibri" pitchFamily="34" charset="0"/>
                <a:ea typeface="Calibri" pitchFamily="34" charset="-122"/>
                <a:cs typeface="Calibri" pitchFamily="34" charset="-120"/>
              </a:rPr>
              <a:t>Decisiones con datos en tiempo real</a:t>
            </a:r>
            <a:endParaRPr lang="en-US" sz="1300" dirty="0"/>
          </a:p>
        </p:txBody>
      </p:sp>
      <p:sp>
        <p:nvSpPr>
          <p:cNvPr id="17" name="Shape 15"/>
          <p:cNvSpPr/>
          <p:nvPr/>
        </p:nvSpPr>
        <p:spPr>
          <a:xfrm>
            <a:off x="6126480" y="3465576"/>
            <a:ext cx="2377440" cy="658368"/>
          </a:xfrm>
          <a:prstGeom prst="roundRect">
            <a:avLst>
              <a:gd name="adj" fmla="val 11111"/>
            </a:avLst>
          </a:prstGeom>
          <a:solidFill>
            <a:srgbClr val="FFFFFF"/>
          </a:solidFill>
          <a:ln w="15875">
            <a:solidFill>
              <a:srgbClr val="2E9E6A"/>
            </a:solidFill>
            <a:prstDash val="solid"/>
          </a:ln>
        </p:spPr>
      </p:sp>
      <p:sp>
        <p:nvSpPr>
          <p:cNvPr id="18" name="Text 16"/>
          <p:cNvSpPr txBox="1"/>
          <p:nvPr/>
        </p:nvSpPr>
        <p:spPr>
          <a:xfrm>
            <a:off x="6199632" y="3465576"/>
            <a:ext cx="2231136" cy="658368"/>
          </a:xfrm>
          <a:prstGeom prst="rect">
            <a:avLst/>
          </a:prstGeom>
          <a:noFill/>
          <a:ln/>
        </p:spPr>
        <p:txBody>
          <a:bodyPr wrap="square" lIns="0" tIns="0" rIns="0" bIns="0" rtlCol="0" anchor="ctr"/>
          <a:lstStyle/>
          <a:p>
            <a:pPr algn="ctr" indent="0" marL="0">
              <a:buNone/>
            </a:pPr>
            <a:r>
              <a:rPr lang="en-US" sz="1050" b="1" dirty="0">
                <a:solidFill>
                  <a:srgbClr val="0B2236"/>
                </a:solidFill>
                <a:latin typeface="Calibri" pitchFamily="34" charset="0"/>
                <a:ea typeface="Calibri" pitchFamily="34" charset="-122"/>
                <a:cs typeface="Calibri" pitchFamily="34" charset="-120"/>
              </a:rPr>
              <a:t>Organizaciones flexibles</a:t>
            </a:r>
            <a:endParaRPr lang="en-US" sz="1300" dirty="0"/>
          </a:p>
          <a:p>
            <a:pPr algn="ctr" indent="0" marL="0">
              <a:buNone/>
            </a:pPr>
            <a:r>
              <a:rPr lang="en-US" sz="900" dirty="0">
                <a:solidFill>
                  <a:srgbClr val="5F6F7C"/>
                </a:solidFill>
                <a:latin typeface="Calibri" pitchFamily="34" charset="0"/>
                <a:ea typeface="Calibri" pitchFamily="34" charset="-122"/>
                <a:cs typeface="Calibri" pitchFamily="34" charset="-120"/>
              </a:rPr>
              <a:t>Equipos que crecen con la demanda</a:t>
            </a:r>
            <a:endParaRPr lang="en-US" sz="1300" dirty="0"/>
          </a:p>
        </p:txBody>
      </p:sp>
      <p:sp>
        <p:nvSpPr>
          <p:cNvPr id="19" name="Shape 17"/>
          <p:cNvSpPr/>
          <p:nvPr/>
        </p:nvSpPr>
        <p:spPr>
          <a:xfrm>
            <a:off x="3383280" y="4105656"/>
            <a:ext cx="2377440" cy="658368"/>
          </a:xfrm>
          <a:prstGeom prst="roundRect">
            <a:avLst>
              <a:gd name="adj" fmla="val 11111"/>
            </a:avLst>
          </a:prstGeom>
          <a:solidFill>
            <a:srgbClr val="FFFFFF"/>
          </a:solidFill>
          <a:ln w="15875">
            <a:solidFill>
              <a:srgbClr val="E9A23B"/>
            </a:solidFill>
            <a:prstDash val="solid"/>
          </a:ln>
        </p:spPr>
      </p:sp>
      <p:sp>
        <p:nvSpPr>
          <p:cNvPr id="20" name="Text 18"/>
          <p:cNvSpPr txBox="1"/>
          <p:nvPr/>
        </p:nvSpPr>
        <p:spPr>
          <a:xfrm>
            <a:off x="3456432" y="4105656"/>
            <a:ext cx="2231136" cy="658368"/>
          </a:xfrm>
          <a:prstGeom prst="rect">
            <a:avLst/>
          </a:prstGeom>
          <a:noFill/>
          <a:ln/>
        </p:spPr>
        <p:txBody>
          <a:bodyPr wrap="square" lIns="0" tIns="0" rIns="0" bIns="0" rtlCol="0" anchor="ctr"/>
          <a:lstStyle/>
          <a:p>
            <a:pPr algn="ctr" indent="0" marL="0">
              <a:buNone/>
            </a:pPr>
            <a:r>
              <a:rPr lang="en-US" sz="1050" b="1" dirty="0">
                <a:solidFill>
                  <a:srgbClr val="0B2236"/>
                </a:solidFill>
                <a:latin typeface="Calibri" pitchFamily="34" charset="0"/>
                <a:ea typeface="Calibri" pitchFamily="34" charset="-122"/>
                <a:cs typeface="Calibri" pitchFamily="34" charset="-120"/>
              </a:rPr>
              <a:t>Organizaciones virtuales</a:t>
            </a:r>
            <a:endParaRPr lang="en-US" sz="1300" dirty="0"/>
          </a:p>
          <a:p>
            <a:pPr algn="ctr" indent="0" marL="0">
              <a:buNone/>
            </a:pPr>
            <a:r>
              <a:rPr lang="en-US" sz="900" dirty="0">
                <a:solidFill>
                  <a:srgbClr val="5F6F7C"/>
                </a:solidFill>
                <a:latin typeface="Calibri" pitchFamily="34" charset="0"/>
                <a:ea typeface="Calibri" pitchFamily="34" charset="-122"/>
                <a:cs typeface="Calibri" pitchFamily="34" charset="-120"/>
              </a:rPr>
              <a:t>Telemedicina y app de monitoreo</a:t>
            </a:r>
            <a:endParaRPr lang="en-US" sz="1300" dirty="0"/>
          </a:p>
        </p:txBody>
      </p:sp>
      <p:sp>
        <p:nvSpPr>
          <p:cNvPr id="21" name="Shape 19"/>
          <p:cNvSpPr/>
          <p:nvPr/>
        </p:nvSpPr>
        <p:spPr>
          <a:xfrm>
            <a:off x="640080" y="3465576"/>
            <a:ext cx="2377440" cy="658368"/>
          </a:xfrm>
          <a:prstGeom prst="roundRect">
            <a:avLst>
              <a:gd name="adj" fmla="val 11111"/>
            </a:avLst>
          </a:prstGeom>
          <a:solidFill>
            <a:srgbClr val="FFFFFF"/>
          </a:solidFill>
          <a:ln w="15875">
            <a:solidFill>
              <a:srgbClr val="14A3A8"/>
            </a:solidFill>
            <a:prstDash val="solid"/>
          </a:ln>
        </p:spPr>
      </p:sp>
      <p:sp>
        <p:nvSpPr>
          <p:cNvPr id="22" name="Text 20"/>
          <p:cNvSpPr txBox="1"/>
          <p:nvPr/>
        </p:nvSpPr>
        <p:spPr>
          <a:xfrm>
            <a:off x="713232" y="3465576"/>
            <a:ext cx="2231136" cy="658368"/>
          </a:xfrm>
          <a:prstGeom prst="rect">
            <a:avLst/>
          </a:prstGeom>
          <a:noFill/>
          <a:ln/>
        </p:spPr>
        <p:txBody>
          <a:bodyPr wrap="square" lIns="0" tIns="0" rIns="0" bIns="0" rtlCol="0" anchor="ctr"/>
          <a:lstStyle/>
          <a:p>
            <a:pPr algn="ctr" indent="0" marL="0">
              <a:buNone/>
            </a:pPr>
            <a:r>
              <a:rPr lang="en-US" sz="1050" b="1" dirty="0">
                <a:solidFill>
                  <a:srgbClr val="0B2236"/>
                </a:solidFill>
                <a:latin typeface="Calibri" pitchFamily="34" charset="0"/>
                <a:ea typeface="Calibri" pitchFamily="34" charset="-122"/>
                <a:cs typeface="Calibri" pitchFamily="34" charset="-120"/>
              </a:rPr>
              <a:t>Organizaciones en red</a:t>
            </a:r>
            <a:endParaRPr lang="en-US" sz="1300" dirty="0"/>
          </a:p>
          <a:p>
            <a:pPr algn="ctr" indent="0" marL="0">
              <a:buNone/>
            </a:pPr>
            <a:r>
              <a:rPr lang="en-US" sz="900" dirty="0">
                <a:solidFill>
                  <a:srgbClr val="5F6F7C"/>
                </a:solidFill>
                <a:latin typeface="Calibri" pitchFamily="34" charset="0"/>
                <a:ea typeface="Calibri" pitchFamily="34" charset="-122"/>
                <a:cs typeface="Calibri" pitchFamily="34" charset="-120"/>
              </a:rPr>
              <a:t>Alianzas con clínicas, laboratorio e infectología</a:t>
            </a:r>
            <a:endParaRPr lang="en-US" sz="1300" dirty="0"/>
          </a:p>
        </p:txBody>
      </p:sp>
      <p:sp>
        <p:nvSpPr>
          <p:cNvPr id="23" name="Shape 21"/>
          <p:cNvSpPr/>
          <p:nvPr/>
        </p:nvSpPr>
        <p:spPr>
          <a:xfrm>
            <a:off x="640080" y="1728216"/>
            <a:ext cx="2377440" cy="658368"/>
          </a:xfrm>
          <a:prstGeom prst="roundRect">
            <a:avLst>
              <a:gd name="adj" fmla="val 11111"/>
            </a:avLst>
          </a:prstGeom>
          <a:solidFill>
            <a:srgbClr val="FFFFFF"/>
          </a:solidFill>
          <a:ln w="15875">
            <a:solidFill>
              <a:srgbClr val="0B2236"/>
            </a:solidFill>
            <a:prstDash val="solid"/>
          </a:ln>
        </p:spPr>
      </p:sp>
      <p:sp>
        <p:nvSpPr>
          <p:cNvPr id="24" name="Text 22"/>
          <p:cNvSpPr txBox="1"/>
          <p:nvPr/>
        </p:nvSpPr>
        <p:spPr>
          <a:xfrm>
            <a:off x="713232" y="1728216"/>
            <a:ext cx="2231136" cy="658368"/>
          </a:xfrm>
          <a:prstGeom prst="rect">
            <a:avLst/>
          </a:prstGeom>
          <a:noFill/>
          <a:ln/>
        </p:spPr>
        <p:txBody>
          <a:bodyPr wrap="square" lIns="0" tIns="0" rIns="0" bIns="0" rtlCol="0" anchor="ctr"/>
          <a:lstStyle/>
          <a:p>
            <a:pPr algn="ctr" indent="0" marL="0">
              <a:buNone/>
            </a:pPr>
            <a:r>
              <a:rPr lang="en-US" sz="1050" b="1" dirty="0">
                <a:solidFill>
                  <a:srgbClr val="0B2236"/>
                </a:solidFill>
                <a:latin typeface="Calibri" pitchFamily="34" charset="0"/>
                <a:ea typeface="Calibri" pitchFamily="34" charset="-122"/>
                <a:cs typeface="Calibri" pitchFamily="34" charset="-120"/>
              </a:rPr>
              <a:t>Organizaciones moleculares</a:t>
            </a:r>
            <a:endParaRPr lang="en-US" sz="1300" dirty="0"/>
          </a:p>
          <a:p>
            <a:pPr algn="ctr" indent="0" marL="0">
              <a:buNone/>
            </a:pPr>
            <a:r>
              <a:rPr lang="en-US" sz="900" dirty="0">
                <a:solidFill>
                  <a:srgbClr val="5F6F7C"/>
                </a:solidFill>
                <a:latin typeface="Calibri" pitchFamily="34" charset="0"/>
                <a:ea typeface="Calibri" pitchFamily="34" charset="-122"/>
                <a:cs typeface="Calibri" pitchFamily="34" charset="-120"/>
              </a:rPr>
              <a:t>Células por paquete: IVU, hueso, endocarditis…</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NUEVOS MODELOS ORGANIZACIONALES</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Cómo aplica DOMUS cada modelo</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4023360" cy="1078992"/>
          </a:xfrm>
          <a:prstGeom prst="roundRect">
            <a:avLst>
              <a:gd name="adj" fmla="val 6780"/>
            </a:avLst>
          </a:prstGeom>
          <a:solidFill>
            <a:srgbClr val="EEF6F6"/>
          </a:solidFill>
          <a:ln w="6350">
            <a:solidFill>
              <a:srgbClr val="EEF6F6"/>
            </a:solidFill>
            <a:prstDash val="solid"/>
          </a:ln>
        </p:spPr>
      </p:sp>
      <p:sp>
        <p:nvSpPr>
          <p:cNvPr id="6" name="Shape 4"/>
          <p:cNvSpPr/>
          <p:nvPr/>
        </p:nvSpPr>
        <p:spPr>
          <a:xfrm>
            <a:off x="594360" y="1444752"/>
            <a:ext cx="548640" cy="548640"/>
          </a:xfrm>
          <a:prstGeom prst="ellipse">
            <a:avLst/>
          </a:prstGeom>
          <a:solidFill>
            <a:srgbClr val="0E7C86"/>
          </a:solidFill>
          <a:ln w="19050">
            <a:solidFill>
              <a:srgbClr val="0E7C86"/>
            </a:solidFill>
            <a:prstDash val="solid"/>
          </a:ln>
        </p:spPr>
      </p:sp>
      <p:pic>
        <p:nvPicPr>
          <p:cNvPr id="7" name="Image 0" descr="preencoded.png">    </p:cNvPr>
          <p:cNvPicPr>
            <a:picLocks noChangeAspect="1"/>
          </p:cNvPicPr>
          <p:nvPr/>
        </p:nvPicPr>
        <p:blipFill>
          <a:blip r:embed="rId1"/>
          <a:stretch>
            <a:fillRect/>
          </a:stretch>
        </p:blipFill>
        <p:spPr>
          <a:xfrm>
            <a:off x="731520" y="1581912"/>
            <a:ext cx="274320" cy="274320"/>
          </a:xfrm>
          <a:prstGeom prst="rect">
            <a:avLst/>
          </a:prstGeom>
        </p:spPr>
      </p:pic>
      <p:sp>
        <p:nvSpPr>
          <p:cNvPr id="8" name="Text 5"/>
          <p:cNvSpPr txBox="1"/>
          <p:nvPr/>
        </p:nvSpPr>
        <p:spPr>
          <a:xfrm>
            <a:off x="1280160" y="1261872"/>
            <a:ext cx="3108960" cy="320040"/>
          </a:xfrm>
          <a:prstGeom prst="rect">
            <a:avLst/>
          </a:prstGeom>
          <a:noFill/>
          <a:ln/>
        </p:spPr>
        <p:txBody>
          <a:bodyPr wrap="square" lIns="0" tIns="0" rIns="0" bIns="0" rtlCol="0" anchor="t"/>
          <a:lstStyle/>
          <a:p>
            <a:pPr indent="0" marL="0">
              <a:buNone/>
            </a:pPr>
            <a:r>
              <a:rPr lang="en-US" sz="1300" b="1" dirty="0">
                <a:solidFill>
                  <a:srgbClr val="0B2236"/>
                </a:solidFill>
                <a:latin typeface="Calibri" pitchFamily="34" charset="0"/>
                <a:ea typeface="Calibri" pitchFamily="34" charset="-122"/>
                <a:cs typeface="Calibri" pitchFamily="34" charset="-120"/>
              </a:rPr>
              <a:t>De aprendizaje</a:t>
            </a:r>
            <a:endParaRPr lang="en-US" sz="1300" dirty="0"/>
          </a:p>
        </p:txBody>
      </p:sp>
      <p:sp>
        <p:nvSpPr>
          <p:cNvPr id="9" name="Text 6"/>
          <p:cNvSpPr txBox="1"/>
          <p:nvPr/>
        </p:nvSpPr>
        <p:spPr>
          <a:xfrm>
            <a:off x="1280160" y="1572768"/>
            <a:ext cx="3108960" cy="676656"/>
          </a:xfrm>
          <a:prstGeom prst="rect">
            <a:avLst/>
          </a:prstGeom>
          <a:noFill/>
          <a:ln/>
        </p:spPr>
        <p:txBody>
          <a:bodyPr wrap="square" lIns="0" tIns="0" rIns="0" bIns="0" rtlCol="0" anchor="t"/>
          <a:lstStyle/>
          <a:p>
            <a:pPr indent="0" marL="0">
              <a:buNone/>
            </a:pPr>
            <a:r>
              <a:rPr lang="en-US" sz="1050" dirty="0">
                <a:solidFill>
                  <a:srgbClr val="1D2B36"/>
                </a:solidFill>
                <a:latin typeface="Calibri" pitchFamily="34" charset="0"/>
                <a:ea typeface="Calibri" pitchFamily="34" charset="-122"/>
                <a:cs typeface="Calibri" pitchFamily="34" charset="-120"/>
              </a:rPr>
              <a:t>Revisión mensual de casos y eventos; capacitación continua de enfermería en accesos vasculares.</a:t>
            </a:r>
            <a:endParaRPr lang="en-US" sz="1050" dirty="0"/>
          </a:p>
        </p:txBody>
      </p:sp>
      <p:sp>
        <p:nvSpPr>
          <p:cNvPr id="10" name="Shape 7"/>
          <p:cNvSpPr/>
          <p:nvPr/>
        </p:nvSpPr>
        <p:spPr>
          <a:xfrm>
            <a:off x="4663440" y="1188720"/>
            <a:ext cx="4023360" cy="1078992"/>
          </a:xfrm>
          <a:prstGeom prst="roundRect">
            <a:avLst>
              <a:gd name="adj" fmla="val 6780"/>
            </a:avLst>
          </a:prstGeom>
          <a:solidFill>
            <a:srgbClr val="EEF6F6"/>
          </a:solidFill>
          <a:ln w="6350">
            <a:solidFill>
              <a:srgbClr val="EEF6F6"/>
            </a:solidFill>
            <a:prstDash val="solid"/>
          </a:ln>
        </p:spPr>
      </p:sp>
      <p:sp>
        <p:nvSpPr>
          <p:cNvPr id="11" name="Shape 8"/>
          <p:cNvSpPr/>
          <p:nvPr/>
        </p:nvSpPr>
        <p:spPr>
          <a:xfrm>
            <a:off x="4800600" y="1444752"/>
            <a:ext cx="548640" cy="548640"/>
          </a:xfrm>
          <a:prstGeom prst="ellipse">
            <a:avLst/>
          </a:prstGeom>
          <a:solidFill>
            <a:srgbClr val="0E7C86"/>
          </a:solidFill>
          <a:ln w="19050">
            <a:solidFill>
              <a:srgbClr val="0E7C86"/>
            </a:solidFill>
            <a:prstDash val="solid"/>
          </a:ln>
        </p:spPr>
      </p:sp>
      <p:pic>
        <p:nvPicPr>
          <p:cNvPr id="12" name="Image 1" descr="preencoded.png">    </p:cNvPr>
          <p:cNvPicPr>
            <a:picLocks noChangeAspect="1"/>
          </p:cNvPicPr>
          <p:nvPr/>
        </p:nvPicPr>
        <p:blipFill>
          <a:blip r:embed="rId2"/>
          <a:stretch>
            <a:fillRect/>
          </a:stretch>
        </p:blipFill>
        <p:spPr>
          <a:xfrm>
            <a:off x="4937760" y="1581912"/>
            <a:ext cx="274320" cy="274320"/>
          </a:xfrm>
          <a:prstGeom prst="rect">
            <a:avLst/>
          </a:prstGeom>
        </p:spPr>
      </p:pic>
      <p:sp>
        <p:nvSpPr>
          <p:cNvPr id="13" name="Text 9"/>
          <p:cNvSpPr txBox="1"/>
          <p:nvPr/>
        </p:nvSpPr>
        <p:spPr>
          <a:xfrm>
            <a:off x="5486400" y="1261872"/>
            <a:ext cx="3108960" cy="320040"/>
          </a:xfrm>
          <a:prstGeom prst="rect">
            <a:avLst/>
          </a:prstGeom>
          <a:noFill/>
          <a:ln/>
        </p:spPr>
        <p:txBody>
          <a:bodyPr wrap="square" lIns="0" tIns="0" rIns="0" bIns="0" rtlCol="0" anchor="t"/>
          <a:lstStyle/>
          <a:p>
            <a:pPr indent="0" marL="0">
              <a:buNone/>
            </a:pPr>
            <a:r>
              <a:rPr lang="en-US" sz="1300" b="1" dirty="0">
                <a:solidFill>
                  <a:srgbClr val="0B2236"/>
                </a:solidFill>
                <a:latin typeface="Calibri" pitchFamily="34" charset="0"/>
                <a:ea typeface="Calibri" pitchFamily="34" charset="-122"/>
                <a:cs typeface="Calibri" pitchFamily="34" charset="-120"/>
              </a:rPr>
              <a:t>Inteligente</a:t>
            </a:r>
            <a:endParaRPr lang="en-US" sz="1300" dirty="0"/>
          </a:p>
        </p:txBody>
      </p:sp>
      <p:sp>
        <p:nvSpPr>
          <p:cNvPr id="14" name="Text 10"/>
          <p:cNvSpPr txBox="1"/>
          <p:nvPr/>
        </p:nvSpPr>
        <p:spPr>
          <a:xfrm>
            <a:off x="5486400" y="1572768"/>
            <a:ext cx="3108960" cy="676656"/>
          </a:xfrm>
          <a:prstGeom prst="rect">
            <a:avLst/>
          </a:prstGeom>
          <a:noFill/>
          <a:ln/>
        </p:spPr>
        <p:txBody>
          <a:bodyPr wrap="square" lIns="0" tIns="0" rIns="0" bIns="0" rtlCol="0" anchor="t"/>
          <a:lstStyle/>
          <a:p>
            <a:pPr indent="0" marL="0">
              <a:buNone/>
            </a:pPr>
            <a:r>
              <a:rPr lang="en-US" sz="1050" dirty="0">
                <a:solidFill>
                  <a:srgbClr val="1D2B36"/>
                </a:solidFill>
                <a:latin typeface="Calibri" pitchFamily="34" charset="0"/>
                <a:ea typeface="Calibri" pitchFamily="34" charset="-122"/>
                <a:cs typeface="Calibri" pitchFamily="34" charset="-120"/>
              </a:rPr>
              <a:t>Tablero de indicadores, alertas automáticas de laboratorio y predicción de demanda por pagador.</a:t>
            </a:r>
            <a:endParaRPr lang="en-US" sz="1050" dirty="0"/>
          </a:p>
        </p:txBody>
      </p:sp>
      <p:sp>
        <p:nvSpPr>
          <p:cNvPr id="15" name="Shape 11"/>
          <p:cNvSpPr/>
          <p:nvPr/>
        </p:nvSpPr>
        <p:spPr>
          <a:xfrm>
            <a:off x="457200" y="2377440"/>
            <a:ext cx="4023360" cy="1078992"/>
          </a:xfrm>
          <a:prstGeom prst="roundRect">
            <a:avLst>
              <a:gd name="adj" fmla="val 6780"/>
            </a:avLst>
          </a:prstGeom>
          <a:solidFill>
            <a:srgbClr val="EEF6F6"/>
          </a:solidFill>
          <a:ln w="6350">
            <a:solidFill>
              <a:srgbClr val="EEF6F6"/>
            </a:solidFill>
            <a:prstDash val="solid"/>
          </a:ln>
        </p:spPr>
      </p:sp>
      <p:sp>
        <p:nvSpPr>
          <p:cNvPr id="16" name="Shape 12"/>
          <p:cNvSpPr/>
          <p:nvPr/>
        </p:nvSpPr>
        <p:spPr>
          <a:xfrm>
            <a:off x="594360" y="2633472"/>
            <a:ext cx="548640" cy="548640"/>
          </a:xfrm>
          <a:prstGeom prst="ellipse">
            <a:avLst/>
          </a:prstGeom>
          <a:solidFill>
            <a:srgbClr val="0E7C86"/>
          </a:solidFill>
          <a:ln w="19050">
            <a:solidFill>
              <a:srgbClr val="0E7C86"/>
            </a:solidFill>
            <a:prstDash val="solid"/>
          </a:ln>
        </p:spPr>
      </p:sp>
      <p:pic>
        <p:nvPicPr>
          <p:cNvPr id="17" name="Image 2" descr="preencoded.png">    </p:cNvPr>
          <p:cNvPicPr>
            <a:picLocks noChangeAspect="1"/>
          </p:cNvPicPr>
          <p:nvPr/>
        </p:nvPicPr>
        <p:blipFill>
          <a:blip r:embed="rId3"/>
          <a:stretch>
            <a:fillRect/>
          </a:stretch>
        </p:blipFill>
        <p:spPr>
          <a:xfrm>
            <a:off x="731520" y="2770632"/>
            <a:ext cx="274320" cy="274320"/>
          </a:xfrm>
          <a:prstGeom prst="rect">
            <a:avLst/>
          </a:prstGeom>
        </p:spPr>
      </p:pic>
      <p:sp>
        <p:nvSpPr>
          <p:cNvPr id="18" name="Text 13"/>
          <p:cNvSpPr txBox="1"/>
          <p:nvPr/>
        </p:nvSpPr>
        <p:spPr>
          <a:xfrm>
            <a:off x="1280160" y="2450592"/>
            <a:ext cx="3108960" cy="320040"/>
          </a:xfrm>
          <a:prstGeom prst="rect">
            <a:avLst/>
          </a:prstGeom>
          <a:noFill/>
          <a:ln/>
        </p:spPr>
        <p:txBody>
          <a:bodyPr wrap="square" lIns="0" tIns="0" rIns="0" bIns="0" rtlCol="0" anchor="t"/>
          <a:lstStyle/>
          <a:p>
            <a:pPr indent="0" marL="0">
              <a:buNone/>
            </a:pPr>
            <a:r>
              <a:rPr lang="en-US" sz="1300" b="1" dirty="0">
                <a:solidFill>
                  <a:srgbClr val="0B2236"/>
                </a:solidFill>
                <a:latin typeface="Calibri" pitchFamily="34" charset="0"/>
                <a:ea typeface="Calibri" pitchFamily="34" charset="-122"/>
                <a:cs typeface="Calibri" pitchFamily="34" charset="-120"/>
              </a:rPr>
              <a:t>Flexible</a:t>
            </a:r>
            <a:endParaRPr lang="en-US" sz="1300" dirty="0"/>
          </a:p>
        </p:txBody>
      </p:sp>
      <p:sp>
        <p:nvSpPr>
          <p:cNvPr id="19" name="Text 14"/>
          <p:cNvSpPr txBox="1"/>
          <p:nvPr/>
        </p:nvSpPr>
        <p:spPr>
          <a:xfrm>
            <a:off x="1280160" y="2761488"/>
            <a:ext cx="3108960" cy="676656"/>
          </a:xfrm>
          <a:prstGeom prst="rect">
            <a:avLst/>
          </a:prstGeom>
          <a:noFill/>
          <a:ln/>
        </p:spPr>
        <p:txBody>
          <a:bodyPr wrap="square" lIns="0" tIns="0" rIns="0" bIns="0" rtlCol="0" anchor="t"/>
          <a:lstStyle/>
          <a:p>
            <a:pPr indent="0" marL="0">
              <a:buNone/>
            </a:pPr>
            <a:r>
              <a:rPr lang="en-US" sz="1050" dirty="0">
                <a:solidFill>
                  <a:srgbClr val="1D2B36"/>
                </a:solidFill>
                <a:latin typeface="Calibri" pitchFamily="34" charset="0"/>
                <a:ea typeface="Calibri" pitchFamily="34" charset="-122"/>
                <a:cs typeface="Calibri" pitchFamily="34" charset="-120"/>
              </a:rPr>
              <a:t>Personal base fijo + enfermería por turnos según el censo; paquetes nuevos sin cambiar la estructura.</a:t>
            </a:r>
            <a:endParaRPr lang="en-US" sz="1050" dirty="0"/>
          </a:p>
        </p:txBody>
      </p:sp>
      <p:sp>
        <p:nvSpPr>
          <p:cNvPr id="20" name="Shape 15"/>
          <p:cNvSpPr/>
          <p:nvPr/>
        </p:nvSpPr>
        <p:spPr>
          <a:xfrm>
            <a:off x="4663440" y="2377440"/>
            <a:ext cx="4023360" cy="1078992"/>
          </a:xfrm>
          <a:prstGeom prst="roundRect">
            <a:avLst>
              <a:gd name="adj" fmla="val 6780"/>
            </a:avLst>
          </a:prstGeom>
          <a:solidFill>
            <a:srgbClr val="EEF6F6"/>
          </a:solidFill>
          <a:ln w="6350">
            <a:solidFill>
              <a:srgbClr val="EEF6F6"/>
            </a:solidFill>
            <a:prstDash val="solid"/>
          </a:ln>
        </p:spPr>
      </p:sp>
      <p:sp>
        <p:nvSpPr>
          <p:cNvPr id="21" name="Shape 16"/>
          <p:cNvSpPr/>
          <p:nvPr/>
        </p:nvSpPr>
        <p:spPr>
          <a:xfrm>
            <a:off x="4800600" y="2633472"/>
            <a:ext cx="548640" cy="548640"/>
          </a:xfrm>
          <a:prstGeom prst="ellipse">
            <a:avLst/>
          </a:prstGeom>
          <a:solidFill>
            <a:srgbClr val="0E7C86"/>
          </a:solidFill>
          <a:ln w="19050">
            <a:solidFill>
              <a:srgbClr val="0E7C86"/>
            </a:solidFill>
            <a:prstDash val="solid"/>
          </a:ln>
        </p:spPr>
      </p:sp>
      <p:pic>
        <p:nvPicPr>
          <p:cNvPr id="22" name="Image 3" descr="preencoded.png">    </p:cNvPr>
          <p:cNvPicPr>
            <a:picLocks noChangeAspect="1"/>
          </p:cNvPicPr>
          <p:nvPr/>
        </p:nvPicPr>
        <p:blipFill>
          <a:blip r:embed="rId4"/>
          <a:stretch>
            <a:fillRect/>
          </a:stretch>
        </p:blipFill>
        <p:spPr>
          <a:xfrm>
            <a:off x="4937760" y="2770632"/>
            <a:ext cx="274320" cy="274320"/>
          </a:xfrm>
          <a:prstGeom prst="rect">
            <a:avLst/>
          </a:prstGeom>
        </p:spPr>
      </p:pic>
      <p:sp>
        <p:nvSpPr>
          <p:cNvPr id="23" name="Text 17"/>
          <p:cNvSpPr txBox="1"/>
          <p:nvPr/>
        </p:nvSpPr>
        <p:spPr>
          <a:xfrm>
            <a:off x="5486400" y="2450592"/>
            <a:ext cx="3108960" cy="320040"/>
          </a:xfrm>
          <a:prstGeom prst="rect">
            <a:avLst/>
          </a:prstGeom>
          <a:noFill/>
          <a:ln/>
        </p:spPr>
        <p:txBody>
          <a:bodyPr wrap="square" lIns="0" tIns="0" rIns="0" bIns="0" rtlCol="0" anchor="t"/>
          <a:lstStyle/>
          <a:p>
            <a:pPr indent="0" marL="0">
              <a:buNone/>
            </a:pPr>
            <a:r>
              <a:rPr lang="en-US" sz="1300" b="1" dirty="0">
                <a:solidFill>
                  <a:srgbClr val="0B2236"/>
                </a:solidFill>
                <a:latin typeface="Calibri" pitchFamily="34" charset="0"/>
                <a:ea typeface="Calibri" pitchFamily="34" charset="-122"/>
                <a:cs typeface="Calibri" pitchFamily="34" charset="-120"/>
              </a:rPr>
              <a:t>Virtual</a:t>
            </a:r>
            <a:endParaRPr lang="en-US" sz="1300" dirty="0"/>
          </a:p>
        </p:txBody>
      </p:sp>
      <p:sp>
        <p:nvSpPr>
          <p:cNvPr id="24" name="Text 18"/>
          <p:cNvSpPr txBox="1"/>
          <p:nvPr/>
        </p:nvSpPr>
        <p:spPr>
          <a:xfrm>
            <a:off x="5486400" y="2761488"/>
            <a:ext cx="3108960" cy="676656"/>
          </a:xfrm>
          <a:prstGeom prst="rect">
            <a:avLst/>
          </a:prstGeom>
          <a:noFill/>
          <a:ln/>
        </p:spPr>
        <p:txBody>
          <a:bodyPr wrap="square" lIns="0" tIns="0" rIns="0" bIns="0" rtlCol="0" anchor="t"/>
          <a:lstStyle/>
          <a:p>
            <a:pPr indent="0" marL="0">
              <a:buNone/>
            </a:pPr>
            <a:r>
              <a:rPr lang="en-US" sz="1050" dirty="0">
                <a:solidFill>
                  <a:srgbClr val="1D2B36"/>
                </a:solidFill>
                <a:latin typeface="Calibri" pitchFamily="34" charset="0"/>
                <a:ea typeface="Calibri" pitchFamily="34" charset="-122"/>
                <a:cs typeface="Calibri" pitchFamily="34" charset="-120"/>
              </a:rPr>
              <a:t>Teleconsulta, historia clínica electrónica y registro de cada visita en la aplicación.</a:t>
            </a:r>
            <a:endParaRPr lang="en-US" sz="1050" dirty="0"/>
          </a:p>
        </p:txBody>
      </p:sp>
      <p:sp>
        <p:nvSpPr>
          <p:cNvPr id="25" name="Shape 19"/>
          <p:cNvSpPr/>
          <p:nvPr/>
        </p:nvSpPr>
        <p:spPr>
          <a:xfrm>
            <a:off x="457200" y="3566160"/>
            <a:ext cx="4023360" cy="1078992"/>
          </a:xfrm>
          <a:prstGeom prst="roundRect">
            <a:avLst>
              <a:gd name="adj" fmla="val 6780"/>
            </a:avLst>
          </a:prstGeom>
          <a:solidFill>
            <a:srgbClr val="EEF6F6"/>
          </a:solidFill>
          <a:ln w="6350">
            <a:solidFill>
              <a:srgbClr val="EEF6F6"/>
            </a:solidFill>
            <a:prstDash val="solid"/>
          </a:ln>
        </p:spPr>
      </p:sp>
      <p:sp>
        <p:nvSpPr>
          <p:cNvPr id="26" name="Shape 20"/>
          <p:cNvSpPr/>
          <p:nvPr/>
        </p:nvSpPr>
        <p:spPr>
          <a:xfrm>
            <a:off x="594360" y="3822192"/>
            <a:ext cx="548640" cy="548640"/>
          </a:xfrm>
          <a:prstGeom prst="ellipse">
            <a:avLst/>
          </a:prstGeom>
          <a:solidFill>
            <a:srgbClr val="0E7C86"/>
          </a:solidFill>
          <a:ln w="19050">
            <a:solidFill>
              <a:srgbClr val="0E7C86"/>
            </a:solidFill>
            <a:prstDash val="solid"/>
          </a:ln>
        </p:spPr>
      </p:sp>
      <p:pic>
        <p:nvPicPr>
          <p:cNvPr id="27" name="Image 4" descr="preencoded.png">    </p:cNvPr>
          <p:cNvPicPr>
            <a:picLocks noChangeAspect="1"/>
          </p:cNvPicPr>
          <p:nvPr/>
        </p:nvPicPr>
        <p:blipFill>
          <a:blip r:embed="rId5"/>
          <a:stretch>
            <a:fillRect/>
          </a:stretch>
        </p:blipFill>
        <p:spPr>
          <a:xfrm>
            <a:off x="731520" y="3959352"/>
            <a:ext cx="274320" cy="274320"/>
          </a:xfrm>
          <a:prstGeom prst="rect">
            <a:avLst/>
          </a:prstGeom>
        </p:spPr>
      </p:pic>
      <p:sp>
        <p:nvSpPr>
          <p:cNvPr id="28" name="Text 21"/>
          <p:cNvSpPr txBox="1"/>
          <p:nvPr/>
        </p:nvSpPr>
        <p:spPr>
          <a:xfrm>
            <a:off x="1280160" y="3639312"/>
            <a:ext cx="3108960" cy="320040"/>
          </a:xfrm>
          <a:prstGeom prst="rect">
            <a:avLst/>
          </a:prstGeom>
          <a:noFill/>
          <a:ln/>
        </p:spPr>
        <p:txBody>
          <a:bodyPr wrap="square" lIns="0" tIns="0" rIns="0" bIns="0" rtlCol="0" anchor="t"/>
          <a:lstStyle/>
          <a:p>
            <a:pPr indent="0" marL="0">
              <a:buNone/>
            </a:pPr>
            <a:r>
              <a:rPr lang="en-US" sz="1300" b="1" dirty="0">
                <a:solidFill>
                  <a:srgbClr val="0B2236"/>
                </a:solidFill>
                <a:latin typeface="Calibri" pitchFamily="34" charset="0"/>
                <a:ea typeface="Calibri" pitchFamily="34" charset="-122"/>
                <a:cs typeface="Calibri" pitchFamily="34" charset="-120"/>
              </a:rPr>
              <a:t>En red</a:t>
            </a:r>
            <a:endParaRPr lang="en-US" sz="1300" dirty="0"/>
          </a:p>
        </p:txBody>
      </p:sp>
      <p:sp>
        <p:nvSpPr>
          <p:cNvPr id="29" name="Text 22"/>
          <p:cNvSpPr txBox="1"/>
          <p:nvPr/>
        </p:nvSpPr>
        <p:spPr>
          <a:xfrm>
            <a:off x="1280160" y="3950208"/>
            <a:ext cx="3108960" cy="676656"/>
          </a:xfrm>
          <a:prstGeom prst="rect">
            <a:avLst/>
          </a:prstGeom>
          <a:noFill/>
          <a:ln/>
        </p:spPr>
        <p:txBody>
          <a:bodyPr wrap="square" lIns="0" tIns="0" rIns="0" bIns="0" rtlCol="0" anchor="t"/>
          <a:lstStyle/>
          <a:p>
            <a:pPr indent="0" marL="0">
              <a:buNone/>
            </a:pPr>
            <a:r>
              <a:rPr lang="en-US" sz="1050" dirty="0">
                <a:solidFill>
                  <a:srgbClr val="1D2B36"/>
                </a:solidFill>
                <a:latin typeface="Calibri" pitchFamily="34" charset="0"/>
                <a:ea typeface="Calibri" pitchFamily="34" charset="-122"/>
                <a:cs typeface="Calibri" pitchFamily="34" charset="-120"/>
              </a:rPr>
              <a:t>Clínicas remiten, laboratorio e infectología aliados, proveedores de antibióticos y transporte.</a:t>
            </a:r>
            <a:endParaRPr lang="en-US" sz="1050" dirty="0"/>
          </a:p>
        </p:txBody>
      </p:sp>
      <p:sp>
        <p:nvSpPr>
          <p:cNvPr id="30" name="Shape 23"/>
          <p:cNvSpPr/>
          <p:nvPr/>
        </p:nvSpPr>
        <p:spPr>
          <a:xfrm>
            <a:off x="4663440" y="3566160"/>
            <a:ext cx="4023360" cy="1078992"/>
          </a:xfrm>
          <a:prstGeom prst="roundRect">
            <a:avLst>
              <a:gd name="adj" fmla="val 6780"/>
            </a:avLst>
          </a:prstGeom>
          <a:solidFill>
            <a:srgbClr val="EEF6F6"/>
          </a:solidFill>
          <a:ln w="6350">
            <a:solidFill>
              <a:srgbClr val="EEF6F6"/>
            </a:solidFill>
            <a:prstDash val="solid"/>
          </a:ln>
        </p:spPr>
      </p:sp>
      <p:sp>
        <p:nvSpPr>
          <p:cNvPr id="31" name="Shape 24"/>
          <p:cNvSpPr/>
          <p:nvPr/>
        </p:nvSpPr>
        <p:spPr>
          <a:xfrm>
            <a:off x="4800600" y="3822192"/>
            <a:ext cx="548640" cy="548640"/>
          </a:xfrm>
          <a:prstGeom prst="ellipse">
            <a:avLst/>
          </a:prstGeom>
          <a:solidFill>
            <a:srgbClr val="0E7C86"/>
          </a:solidFill>
          <a:ln w="19050">
            <a:solidFill>
              <a:srgbClr val="0E7C86"/>
            </a:solidFill>
            <a:prstDash val="solid"/>
          </a:ln>
        </p:spPr>
      </p:sp>
      <p:pic>
        <p:nvPicPr>
          <p:cNvPr id="32" name="Image 5" descr="preencoded.png">    </p:cNvPr>
          <p:cNvPicPr>
            <a:picLocks noChangeAspect="1"/>
          </p:cNvPicPr>
          <p:nvPr/>
        </p:nvPicPr>
        <p:blipFill>
          <a:blip r:embed="rId6"/>
          <a:stretch>
            <a:fillRect/>
          </a:stretch>
        </p:blipFill>
        <p:spPr>
          <a:xfrm>
            <a:off x="4937760" y="3959352"/>
            <a:ext cx="274320" cy="274320"/>
          </a:xfrm>
          <a:prstGeom prst="rect">
            <a:avLst/>
          </a:prstGeom>
        </p:spPr>
      </p:pic>
      <p:sp>
        <p:nvSpPr>
          <p:cNvPr id="33" name="Text 25"/>
          <p:cNvSpPr txBox="1"/>
          <p:nvPr/>
        </p:nvSpPr>
        <p:spPr>
          <a:xfrm>
            <a:off x="5486400" y="3639312"/>
            <a:ext cx="3108960" cy="320040"/>
          </a:xfrm>
          <a:prstGeom prst="rect">
            <a:avLst/>
          </a:prstGeom>
          <a:noFill/>
          <a:ln/>
        </p:spPr>
        <p:txBody>
          <a:bodyPr wrap="square" lIns="0" tIns="0" rIns="0" bIns="0" rtlCol="0" anchor="t"/>
          <a:lstStyle/>
          <a:p>
            <a:pPr indent="0" marL="0">
              <a:buNone/>
            </a:pPr>
            <a:r>
              <a:rPr lang="en-US" sz="1300" b="1" dirty="0">
                <a:solidFill>
                  <a:srgbClr val="0B2236"/>
                </a:solidFill>
                <a:latin typeface="Calibri" pitchFamily="34" charset="0"/>
                <a:ea typeface="Calibri" pitchFamily="34" charset="-122"/>
                <a:cs typeface="Calibri" pitchFamily="34" charset="-120"/>
              </a:rPr>
              <a:t>Molecular</a:t>
            </a:r>
            <a:endParaRPr lang="en-US" sz="1300" dirty="0"/>
          </a:p>
        </p:txBody>
      </p:sp>
      <p:sp>
        <p:nvSpPr>
          <p:cNvPr id="34" name="Text 26"/>
          <p:cNvSpPr txBox="1"/>
          <p:nvPr/>
        </p:nvSpPr>
        <p:spPr>
          <a:xfrm>
            <a:off x="5486400" y="3950208"/>
            <a:ext cx="3108960" cy="676656"/>
          </a:xfrm>
          <a:prstGeom prst="rect">
            <a:avLst/>
          </a:prstGeom>
          <a:noFill/>
          <a:ln/>
        </p:spPr>
        <p:txBody>
          <a:bodyPr wrap="square" lIns="0" tIns="0" rIns="0" bIns="0" rtlCol="0" anchor="t"/>
          <a:lstStyle/>
          <a:p>
            <a:pPr indent="0" marL="0">
              <a:buNone/>
            </a:pPr>
            <a:r>
              <a:rPr lang="en-US" sz="1050" dirty="0">
                <a:solidFill>
                  <a:srgbClr val="1D2B36"/>
                </a:solidFill>
                <a:latin typeface="Calibri" pitchFamily="34" charset="0"/>
                <a:ea typeface="Calibri" pitchFamily="34" charset="-122"/>
                <a:cs typeface="Calibri" pitchFamily="34" charset="-120"/>
              </a:rPr>
              <a:t>Células autónomas por línea de paquete, cada una con su líder, metas y resultados.</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ORGANIZACIÓN</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Estructura y equipo base</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3429000" y="1143000"/>
            <a:ext cx="2286000" cy="640080"/>
          </a:xfrm>
          <a:prstGeom prst="roundRect">
            <a:avLst>
              <a:gd name="adj" fmla="val 11429"/>
            </a:avLst>
          </a:prstGeom>
          <a:solidFill>
            <a:srgbClr val="0B2236"/>
          </a:solidFill>
          <a:ln w="6350">
            <a:solidFill>
              <a:srgbClr val="0B2236"/>
            </a:solidFill>
            <a:prstDash val="solid"/>
          </a:ln>
        </p:spPr>
      </p:sp>
      <p:sp>
        <p:nvSpPr>
          <p:cNvPr id="6" name="Text 4"/>
          <p:cNvSpPr txBox="1"/>
          <p:nvPr/>
        </p:nvSpPr>
        <p:spPr>
          <a:xfrm>
            <a:off x="3429000" y="1143000"/>
            <a:ext cx="2286000"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Gerencia general y dirección médica</a:t>
            </a:r>
            <a:endParaRPr lang="en-US" sz="1150" dirty="0"/>
          </a:p>
          <a:p>
            <a:pPr algn="ctr" indent="0" marL="0">
              <a:buNone/>
            </a:pPr>
            <a:r>
              <a:rPr lang="en-US" sz="950" dirty="0">
                <a:solidFill>
                  <a:srgbClr val="FFFFFF"/>
                </a:solidFill>
                <a:latin typeface="Calibri" pitchFamily="34" charset="0"/>
                <a:ea typeface="Calibri" pitchFamily="34" charset="-122"/>
                <a:cs typeface="Calibri" pitchFamily="34" charset="-120"/>
              </a:rPr>
              <a:t>Médico internista</a:t>
            </a:r>
            <a:endParaRPr lang="en-US" sz="1150" dirty="0"/>
          </a:p>
        </p:txBody>
      </p:sp>
      <p:sp>
        <p:nvSpPr>
          <p:cNvPr id="7" name="Shape 5"/>
          <p:cNvSpPr/>
          <p:nvPr/>
        </p:nvSpPr>
        <p:spPr>
          <a:xfrm>
            <a:off x="4572000" y="1783080"/>
            <a:ext cx="914" cy="228600"/>
          </a:xfrm>
          <a:prstGeom prst="line">
            <a:avLst/>
          </a:prstGeom>
          <a:noFill/>
          <a:ln w="15875">
            <a:solidFill>
              <a:srgbClr val="5F6F7C"/>
            </a:solidFill>
            <a:prstDash val="solid"/>
          </a:ln>
        </p:spPr>
      </p:sp>
      <p:sp>
        <p:nvSpPr>
          <p:cNvPr id="8" name="Shape 6"/>
          <p:cNvSpPr/>
          <p:nvPr/>
        </p:nvSpPr>
        <p:spPr>
          <a:xfrm>
            <a:off x="1280160" y="2011680"/>
            <a:ext cx="6583680" cy="0"/>
          </a:xfrm>
          <a:prstGeom prst="line">
            <a:avLst/>
          </a:prstGeom>
          <a:noFill/>
          <a:ln w="15875">
            <a:solidFill>
              <a:srgbClr val="5F6F7C"/>
            </a:solidFill>
            <a:prstDash val="solid"/>
          </a:ln>
        </p:spPr>
      </p:sp>
      <p:sp>
        <p:nvSpPr>
          <p:cNvPr id="9" name="Shape 7"/>
          <p:cNvSpPr/>
          <p:nvPr/>
        </p:nvSpPr>
        <p:spPr>
          <a:xfrm>
            <a:off x="1234440" y="2011680"/>
            <a:ext cx="914" cy="228600"/>
          </a:xfrm>
          <a:prstGeom prst="line">
            <a:avLst/>
          </a:prstGeom>
          <a:noFill/>
          <a:ln w="15875">
            <a:solidFill>
              <a:srgbClr val="5F6F7C"/>
            </a:solidFill>
            <a:prstDash val="solid"/>
          </a:ln>
        </p:spPr>
      </p:sp>
      <p:sp>
        <p:nvSpPr>
          <p:cNvPr id="10" name="Shape 8"/>
          <p:cNvSpPr/>
          <p:nvPr/>
        </p:nvSpPr>
        <p:spPr>
          <a:xfrm>
            <a:off x="457200" y="2240280"/>
            <a:ext cx="1554480" cy="548640"/>
          </a:xfrm>
          <a:prstGeom prst="roundRect">
            <a:avLst>
              <a:gd name="adj" fmla="val 13333"/>
            </a:avLst>
          </a:prstGeom>
          <a:solidFill>
            <a:srgbClr val="0E7C86"/>
          </a:solidFill>
          <a:ln w="6350">
            <a:solidFill>
              <a:srgbClr val="0E7C86"/>
            </a:solidFill>
            <a:prstDash val="solid"/>
          </a:ln>
        </p:spPr>
      </p:sp>
      <p:sp>
        <p:nvSpPr>
          <p:cNvPr id="11" name="Text 9"/>
          <p:cNvSpPr txBox="1"/>
          <p:nvPr/>
        </p:nvSpPr>
        <p:spPr>
          <a:xfrm>
            <a:off x="457200" y="2240280"/>
            <a:ext cx="155448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Clínica</a:t>
            </a:r>
            <a:endParaRPr lang="en-US" sz="1150" dirty="0"/>
          </a:p>
        </p:txBody>
      </p:sp>
      <p:sp>
        <p:nvSpPr>
          <p:cNvPr id="12" name="Shape 10"/>
          <p:cNvSpPr/>
          <p:nvPr/>
        </p:nvSpPr>
        <p:spPr>
          <a:xfrm>
            <a:off x="457200" y="2880360"/>
            <a:ext cx="1554480" cy="1143000"/>
          </a:xfrm>
          <a:prstGeom prst="roundRect">
            <a:avLst>
              <a:gd name="adj" fmla="val 6400"/>
            </a:avLst>
          </a:prstGeom>
          <a:solidFill>
            <a:srgbClr val="EEF6F6"/>
          </a:solidFill>
          <a:ln w="6350">
            <a:solidFill>
              <a:srgbClr val="EEF6F6"/>
            </a:solidFill>
            <a:prstDash val="solid"/>
          </a:ln>
        </p:spPr>
      </p:sp>
      <p:sp>
        <p:nvSpPr>
          <p:cNvPr id="13" name="Text 11"/>
          <p:cNvSpPr txBox="1"/>
          <p:nvPr/>
        </p:nvSpPr>
        <p:spPr>
          <a:xfrm>
            <a:off x="530352" y="2880360"/>
            <a:ext cx="1408176" cy="1143000"/>
          </a:xfrm>
          <a:prstGeom prst="rect">
            <a:avLst/>
          </a:prstGeom>
          <a:noFill/>
          <a:ln/>
        </p:spPr>
        <p:txBody>
          <a:bodyPr wrap="square" lIns="0" tIns="0" rIns="0" bIns="0" rtlCol="0" anchor="ctr"/>
          <a:lstStyle/>
          <a:p>
            <a:pPr algn="ctr" indent="0" marL="0">
              <a:buNone/>
            </a:pPr>
            <a:r>
              <a:rPr lang="en-US" sz="1000" dirty="0">
                <a:solidFill>
                  <a:srgbClr val="1D2B36"/>
                </a:solidFill>
                <a:latin typeface="Calibri" pitchFamily="34" charset="0"/>
                <a:ea typeface="Calibri" pitchFamily="34" charset="-122"/>
                <a:cs typeface="Calibri" pitchFamily="34" charset="-120"/>
              </a:rPr>
              <a:t>Medicina interna, 3 médicos generales, infectología (consultor)</a:t>
            </a:r>
            <a:endParaRPr lang="en-US" sz="1000" dirty="0"/>
          </a:p>
        </p:txBody>
      </p:sp>
      <p:sp>
        <p:nvSpPr>
          <p:cNvPr id="14" name="Shape 12"/>
          <p:cNvSpPr/>
          <p:nvPr/>
        </p:nvSpPr>
        <p:spPr>
          <a:xfrm>
            <a:off x="2916936" y="2011680"/>
            <a:ext cx="914" cy="228600"/>
          </a:xfrm>
          <a:prstGeom prst="line">
            <a:avLst/>
          </a:prstGeom>
          <a:noFill/>
          <a:ln w="15875">
            <a:solidFill>
              <a:srgbClr val="5F6F7C"/>
            </a:solidFill>
            <a:prstDash val="solid"/>
          </a:ln>
        </p:spPr>
      </p:sp>
      <p:sp>
        <p:nvSpPr>
          <p:cNvPr id="15" name="Shape 13"/>
          <p:cNvSpPr/>
          <p:nvPr/>
        </p:nvSpPr>
        <p:spPr>
          <a:xfrm>
            <a:off x="2139696" y="2240280"/>
            <a:ext cx="1554480" cy="548640"/>
          </a:xfrm>
          <a:prstGeom prst="roundRect">
            <a:avLst>
              <a:gd name="adj" fmla="val 13333"/>
            </a:avLst>
          </a:prstGeom>
          <a:solidFill>
            <a:srgbClr val="14A3A8"/>
          </a:solidFill>
          <a:ln w="6350">
            <a:solidFill>
              <a:srgbClr val="14A3A8"/>
            </a:solidFill>
            <a:prstDash val="solid"/>
          </a:ln>
        </p:spPr>
      </p:sp>
      <p:sp>
        <p:nvSpPr>
          <p:cNvPr id="16" name="Text 14"/>
          <p:cNvSpPr txBox="1"/>
          <p:nvPr/>
        </p:nvSpPr>
        <p:spPr>
          <a:xfrm>
            <a:off x="2139696" y="2240280"/>
            <a:ext cx="155448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Enfermería</a:t>
            </a:r>
            <a:endParaRPr lang="en-US" sz="1150" dirty="0"/>
          </a:p>
        </p:txBody>
      </p:sp>
      <p:sp>
        <p:nvSpPr>
          <p:cNvPr id="17" name="Shape 15"/>
          <p:cNvSpPr/>
          <p:nvPr/>
        </p:nvSpPr>
        <p:spPr>
          <a:xfrm>
            <a:off x="2139696" y="2880360"/>
            <a:ext cx="1554480" cy="1143000"/>
          </a:xfrm>
          <a:prstGeom prst="roundRect">
            <a:avLst>
              <a:gd name="adj" fmla="val 6400"/>
            </a:avLst>
          </a:prstGeom>
          <a:solidFill>
            <a:srgbClr val="EEF6F6"/>
          </a:solidFill>
          <a:ln w="6350">
            <a:solidFill>
              <a:srgbClr val="EEF6F6"/>
            </a:solidFill>
            <a:prstDash val="solid"/>
          </a:ln>
        </p:spPr>
      </p:sp>
      <p:sp>
        <p:nvSpPr>
          <p:cNvPr id="18" name="Text 16"/>
          <p:cNvSpPr txBox="1"/>
          <p:nvPr/>
        </p:nvSpPr>
        <p:spPr>
          <a:xfrm>
            <a:off x="2212848" y="2880360"/>
            <a:ext cx="1408176" cy="1143000"/>
          </a:xfrm>
          <a:prstGeom prst="rect">
            <a:avLst/>
          </a:prstGeom>
          <a:noFill/>
          <a:ln/>
        </p:spPr>
        <p:txBody>
          <a:bodyPr wrap="square" lIns="0" tIns="0" rIns="0" bIns="0" rtlCol="0" anchor="ctr"/>
          <a:lstStyle/>
          <a:p>
            <a:pPr algn="ctr" indent="0" marL="0">
              <a:buNone/>
            </a:pPr>
            <a:r>
              <a:rPr lang="en-US" sz="1000" dirty="0">
                <a:solidFill>
                  <a:srgbClr val="1D2B36"/>
                </a:solidFill>
                <a:latin typeface="Calibri" pitchFamily="34" charset="0"/>
                <a:ea typeface="Calibri" pitchFamily="34" charset="-122"/>
                <a:cs typeface="Calibri" pitchFamily="34" charset="-120"/>
              </a:rPr>
              <a:t>4 enfermeras jefe, 8 auxiliares</a:t>
            </a:r>
            <a:endParaRPr lang="en-US" sz="1000" dirty="0"/>
          </a:p>
        </p:txBody>
      </p:sp>
      <p:sp>
        <p:nvSpPr>
          <p:cNvPr id="19" name="Shape 17"/>
          <p:cNvSpPr/>
          <p:nvPr/>
        </p:nvSpPr>
        <p:spPr>
          <a:xfrm>
            <a:off x="4599432" y="2011680"/>
            <a:ext cx="914" cy="228600"/>
          </a:xfrm>
          <a:prstGeom prst="line">
            <a:avLst/>
          </a:prstGeom>
          <a:noFill/>
          <a:ln w="15875">
            <a:solidFill>
              <a:srgbClr val="5F6F7C"/>
            </a:solidFill>
            <a:prstDash val="solid"/>
          </a:ln>
        </p:spPr>
      </p:sp>
      <p:sp>
        <p:nvSpPr>
          <p:cNvPr id="20" name="Shape 18"/>
          <p:cNvSpPr/>
          <p:nvPr/>
        </p:nvSpPr>
        <p:spPr>
          <a:xfrm>
            <a:off x="3822192" y="2240280"/>
            <a:ext cx="1554480" cy="548640"/>
          </a:xfrm>
          <a:prstGeom prst="roundRect">
            <a:avLst>
              <a:gd name="adj" fmla="val 13333"/>
            </a:avLst>
          </a:prstGeom>
          <a:solidFill>
            <a:srgbClr val="2E9E6A"/>
          </a:solidFill>
          <a:ln w="6350">
            <a:solidFill>
              <a:srgbClr val="2E9E6A"/>
            </a:solidFill>
            <a:prstDash val="solid"/>
          </a:ln>
        </p:spPr>
      </p:sp>
      <p:sp>
        <p:nvSpPr>
          <p:cNvPr id="21" name="Text 19"/>
          <p:cNvSpPr txBox="1"/>
          <p:nvPr/>
        </p:nvSpPr>
        <p:spPr>
          <a:xfrm>
            <a:off x="3822192" y="2240280"/>
            <a:ext cx="155448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Farmacia y logística</a:t>
            </a:r>
            <a:endParaRPr lang="en-US" sz="1150" dirty="0"/>
          </a:p>
        </p:txBody>
      </p:sp>
      <p:sp>
        <p:nvSpPr>
          <p:cNvPr id="22" name="Shape 20"/>
          <p:cNvSpPr/>
          <p:nvPr/>
        </p:nvSpPr>
        <p:spPr>
          <a:xfrm>
            <a:off x="3822192" y="2880360"/>
            <a:ext cx="1554480" cy="1143000"/>
          </a:xfrm>
          <a:prstGeom prst="roundRect">
            <a:avLst>
              <a:gd name="adj" fmla="val 6400"/>
            </a:avLst>
          </a:prstGeom>
          <a:solidFill>
            <a:srgbClr val="EEF6F6"/>
          </a:solidFill>
          <a:ln w="6350">
            <a:solidFill>
              <a:srgbClr val="EEF6F6"/>
            </a:solidFill>
            <a:prstDash val="solid"/>
          </a:ln>
        </p:spPr>
      </p:sp>
      <p:sp>
        <p:nvSpPr>
          <p:cNvPr id="23" name="Text 21"/>
          <p:cNvSpPr txBox="1"/>
          <p:nvPr/>
        </p:nvSpPr>
        <p:spPr>
          <a:xfrm>
            <a:off x="3895344" y="2880360"/>
            <a:ext cx="1408176" cy="1143000"/>
          </a:xfrm>
          <a:prstGeom prst="rect">
            <a:avLst/>
          </a:prstGeom>
          <a:noFill/>
          <a:ln/>
        </p:spPr>
        <p:txBody>
          <a:bodyPr wrap="square" lIns="0" tIns="0" rIns="0" bIns="0" rtlCol="0" anchor="ctr"/>
          <a:lstStyle/>
          <a:p>
            <a:pPr algn="ctr" indent="0" marL="0">
              <a:buNone/>
            </a:pPr>
            <a:r>
              <a:rPr lang="en-US" sz="1000" dirty="0">
                <a:solidFill>
                  <a:srgbClr val="1D2B36"/>
                </a:solidFill>
                <a:latin typeface="Calibri" pitchFamily="34" charset="0"/>
                <a:ea typeface="Calibri" pitchFamily="34" charset="-122"/>
                <a:cs typeface="Calibri" pitchFamily="34" charset="-120"/>
              </a:rPr>
              <a:t>Químico farmacéutico, cadena de frío, transporte</a:t>
            </a:r>
            <a:endParaRPr lang="en-US" sz="1000" dirty="0"/>
          </a:p>
        </p:txBody>
      </p:sp>
      <p:sp>
        <p:nvSpPr>
          <p:cNvPr id="24" name="Shape 22"/>
          <p:cNvSpPr/>
          <p:nvPr/>
        </p:nvSpPr>
        <p:spPr>
          <a:xfrm>
            <a:off x="6281928" y="2011680"/>
            <a:ext cx="914" cy="228600"/>
          </a:xfrm>
          <a:prstGeom prst="line">
            <a:avLst/>
          </a:prstGeom>
          <a:noFill/>
          <a:ln w="15875">
            <a:solidFill>
              <a:srgbClr val="5F6F7C"/>
            </a:solidFill>
            <a:prstDash val="solid"/>
          </a:ln>
        </p:spPr>
      </p:sp>
      <p:sp>
        <p:nvSpPr>
          <p:cNvPr id="25" name="Shape 23"/>
          <p:cNvSpPr/>
          <p:nvPr/>
        </p:nvSpPr>
        <p:spPr>
          <a:xfrm>
            <a:off x="5504688" y="2240280"/>
            <a:ext cx="1554480" cy="548640"/>
          </a:xfrm>
          <a:prstGeom prst="roundRect">
            <a:avLst>
              <a:gd name="adj" fmla="val 13333"/>
            </a:avLst>
          </a:prstGeom>
          <a:solidFill>
            <a:srgbClr val="E9A23B"/>
          </a:solidFill>
          <a:ln w="6350">
            <a:solidFill>
              <a:srgbClr val="E9A23B"/>
            </a:solidFill>
            <a:prstDash val="solid"/>
          </a:ln>
        </p:spPr>
      </p:sp>
      <p:sp>
        <p:nvSpPr>
          <p:cNvPr id="26" name="Text 24"/>
          <p:cNvSpPr txBox="1"/>
          <p:nvPr/>
        </p:nvSpPr>
        <p:spPr>
          <a:xfrm>
            <a:off x="5504688" y="2240280"/>
            <a:ext cx="155448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Calidad</a:t>
            </a:r>
            <a:endParaRPr lang="en-US" sz="1150" dirty="0"/>
          </a:p>
        </p:txBody>
      </p:sp>
      <p:sp>
        <p:nvSpPr>
          <p:cNvPr id="27" name="Shape 25"/>
          <p:cNvSpPr/>
          <p:nvPr/>
        </p:nvSpPr>
        <p:spPr>
          <a:xfrm>
            <a:off x="5504688" y="2880360"/>
            <a:ext cx="1554480" cy="1143000"/>
          </a:xfrm>
          <a:prstGeom prst="roundRect">
            <a:avLst>
              <a:gd name="adj" fmla="val 6400"/>
            </a:avLst>
          </a:prstGeom>
          <a:solidFill>
            <a:srgbClr val="EEF6F6"/>
          </a:solidFill>
          <a:ln w="6350">
            <a:solidFill>
              <a:srgbClr val="EEF6F6"/>
            </a:solidFill>
            <a:prstDash val="solid"/>
          </a:ln>
        </p:spPr>
      </p:sp>
      <p:sp>
        <p:nvSpPr>
          <p:cNvPr id="28" name="Text 26"/>
          <p:cNvSpPr txBox="1"/>
          <p:nvPr/>
        </p:nvSpPr>
        <p:spPr>
          <a:xfrm>
            <a:off x="5577840" y="2880360"/>
            <a:ext cx="1408176" cy="1143000"/>
          </a:xfrm>
          <a:prstGeom prst="rect">
            <a:avLst/>
          </a:prstGeom>
          <a:noFill/>
          <a:ln/>
        </p:spPr>
        <p:txBody>
          <a:bodyPr wrap="square" lIns="0" tIns="0" rIns="0" bIns="0" rtlCol="0" anchor="ctr"/>
          <a:lstStyle/>
          <a:p>
            <a:pPr algn="ctr" indent="0" marL="0">
              <a:buNone/>
            </a:pPr>
            <a:r>
              <a:rPr lang="en-US" sz="1000" dirty="0">
                <a:solidFill>
                  <a:srgbClr val="1D2B36"/>
                </a:solidFill>
                <a:latin typeface="Calibri" pitchFamily="34" charset="0"/>
                <a:ea typeface="Calibri" pitchFamily="34" charset="-122"/>
                <a:cs typeface="Calibri" pitchFamily="34" charset="-120"/>
              </a:rPr>
              <a:t>Indicadores, habilitación, seguridad del paciente</a:t>
            </a:r>
            <a:endParaRPr lang="en-US" sz="1000" dirty="0"/>
          </a:p>
        </p:txBody>
      </p:sp>
      <p:sp>
        <p:nvSpPr>
          <p:cNvPr id="29" name="Shape 27"/>
          <p:cNvSpPr/>
          <p:nvPr/>
        </p:nvSpPr>
        <p:spPr>
          <a:xfrm>
            <a:off x="7964424" y="2011680"/>
            <a:ext cx="914" cy="228600"/>
          </a:xfrm>
          <a:prstGeom prst="line">
            <a:avLst/>
          </a:prstGeom>
          <a:noFill/>
          <a:ln w="15875">
            <a:solidFill>
              <a:srgbClr val="5F6F7C"/>
            </a:solidFill>
            <a:prstDash val="solid"/>
          </a:ln>
        </p:spPr>
      </p:sp>
      <p:sp>
        <p:nvSpPr>
          <p:cNvPr id="30" name="Shape 28"/>
          <p:cNvSpPr/>
          <p:nvPr/>
        </p:nvSpPr>
        <p:spPr>
          <a:xfrm>
            <a:off x="7187184" y="2240280"/>
            <a:ext cx="1554480" cy="548640"/>
          </a:xfrm>
          <a:prstGeom prst="roundRect">
            <a:avLst>
              <a:gd name="adj" fmla="val 13333"/>
            </a:avLst>
          </a:prstGeom>
          <a:solidFill>
            <a:srgbClr val="F26B4E"/>
          </a:solidFill>
          <a:ln w="6350">
            <a:solidFill>
              <a:srgbClr val="F26B4E"/>
            </a:solidFill>
            <a:prstDash val="solid"/>
          </a:ln>
        </p:spPr>
      </p:sp>
      <p:sp>
        <p:nvSpPr>
          <p:cNvPr id="31" name="Text 29"/>
          <p:cNvSpPr txBox="1"/>
          <p:nvPr/>
        </p:nvSpPr>
        <p:spPr>
          <a:xfrm>
            <a:off x="7187184" y="2240280"/>
            <a:ext cx="155448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Administrativa</a:t>
            </a:r>
            <a:endParaRPr lang="en-US" sz="1150" dirty="0"/>
          </a:p>
        </p:txBody>
      </p:sp>
      <p:sp>
        <p:nvSpPr>
          <p:cNvPr id="32" name="Shape 30"/>
          <p:cNvSpPr/>
          <p:nvPr/>
        </p:nvSpPr>
        <p:spPr>
          <a:xfrm>
            <a:off x="7187184" y="2880360"/>
            <a:ext cx="1554480" cy="1143000"/>
          </a:xfrm>
          <a:prstGeom prst="roundRect">
            <a:avLst>
              <a:gd name="adj" fmla="val 6400"/>
            </a:avLst>
          </a:prstGeom>
          <a:solidFill>
            <a:srgbClr val="EEF6F6"/>
          </a:solidFill>
          <a:ln w="6350">
            <a:solidFill>
              <a:srgbClr val="EEF6F6"/>
            </a:solidFill>
            <a:prstDash val="solid"/>
          </a:ln>
        </p:spPr>
      </p:sp>
      <p:sp>
        <p:nvSpPr>
          <p:cNvPr id="33" name="Text 31"/>
          <p:cNvSpPr txBox="1"/>
          <p:nvPr/>
        </p:nvSpPr>
        <p:spPr>
          <a:xfrm>
            <a:off x="7260336" y="2880360"/>
            <a:ext cx="1408176" cy="1143000"/>
          </a:xfrm>
          <a:prstGeom prst="rect">
            <a:avLst/>
          </a:prstGeom>
          <a:noFill/>
          <a:ln/>
        </p:spPr>
        <p:txBody>
          <a:bodyPr wrap="square" lIns="0" tIns="0" rIns="0" bIns="0" rtlCol="0" anchor="ctr"/>
          <a:lstStyle/>
          <a:p>
            <a:pPr algn="ctr" indent="0" marL="0">
              <a:buNone/>
            </a:pPr>
            <a:r>
              <a:rPr lang="en-US" sz="1000" dirty="0">
                <a:solidFill>
                  <a:srgbClr val="1D2B36"/>
                </a:solidFill>
                <a:latin typeface="Calibri" pitchFamily="34" charset="0"/>
                <a:ea typeface="Calibri" pitchFamily="34" charset="-122"/>
                <a:cs typeface="Calibri" pitchFamily="34" charset="-120"/>
              </a:rPr>
              <a:t>Contratos, facturación, cartera, sistemas</a:t>
            </a:r>
            <a:endParaRPr lang="en-US" sz="1000" dirty="0"/>
          </a:p>
        </p:txBody>
      </p:sp>
      <p:sp>
        <p:nvSpPr>
          <p:cNvPr id="34" name="Shape 32"/>
          <p:cNvSpPr/>
          <p:nvPr/>
        </p:nvSpPr>
        <p:spPr>
          <a:xfrm>
            <a:off x="457200" y="4160520"/>
            <a:ext cx="8229600" cy="548640"/>
          </a:xfrm>
          <a:prstGeom prst="roundRect">
            <a:avLst>
              <a:gd name="adj" fmla="val 13333"/>
            </a:avLst>
          </a:prstGeom>
          <a:solidFill>
            <a:srgbClr val="EEF6F6"/>
          </a:solidFill>
          <a:ln w="6350">
            <a:solidFill>
              <a:srgbClr val="EEF6F6"/>
            </a:solidFill>
            <a:prstDash val="solid"/>
          </a:ln>
        </p:spPr>
      </p:sp>
      <p:sp>
        <p:nvSpPr>
          <p:cNvPr id="35" name="Text 33"/>
          <p:cNvSpPr txBox="1"/>
          <p:nvPr/>
        </p:nvSpPr>
        <p:spPr>
          <a:xfrm>
            <a:off x="621792" y="4160520"/>
            <a:ext cx="7900416" cy="548640"/>
          </a:xfrm>
          <a:prstGeom prst="rect">
            <a:avLst/>
          </a:prstGeom>
          <a:noFill/>
          <a:ln/>
        </p:spPr>
        <p:txBody>
          <a:bodyPr wrap="square" lIns="0" tIns="0" rIns="0" bIns="0" rtlCol="0" anchor="ctr"/>
          <a:lstStyle/>
          <a:p>
            <a:pPr indent="0" marL="0">
              <a:buNone/>
            </a:pPr>
            <a:r>
              <a:rPr lang="en-US" sz="1150" b="1" dirty="0">
                <a:solidFill>
                  <a:srgbClr val="0E7C86"/>
                </a:solidFill>
                <a:latin typeface="Calibri" pitchFamily="34" charset="0"/>
                <a:ea typeface="Calibri" pitchFamily="34" charset="-122"/>
                <a:cs typeface="Calibri" pitchFamily="34" charset="-120"/>
              </a:rPr>
              <a:t>Modelo flexible:  </a:t>
            </a:r>
            <a:pPr indent="0" marL="0">
              <a:buNone/>
            </a:pPr>
            <a:r>
              <a:rPr lang="en-US" sz="1150" dirty="0">
                <a:solidFill>
                  <a:srgbClr val="1D2B36"/>
                </a:solidFill>
                <a:latin typeface="Calibri" pitchFamily="34" charset="0"/>
                <a:ea typeface="Calibri" pitchFamily="34" charset="-122"/>
                <a:cs typeface="Calibri" pitchFamily="34" charset="-120"/>
              </a:rPr>
              <a:t>el equipo de enfermería crece con el censo de pacientes; el núcleo médico y administrativo es fijo.</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2236"/>
        </a:solidFill>
      </p:bgPr>
    </p:bg>
    <p:spTree>
      <p:nvGrpSpPr>
        <p:cNvPr id="1" name=""/>
        <p:cNvGrpSpPr/>
        <p:nvPr/>
      </p:nvGrpSpPr>
      <p:grpSpPr>
        <a:xfrm>
          <a:off x="0" y="0"/>
          <a:ext cx="0" cy="0"/>
          <a:chOff x="0" y="0"/>
          <a:chExt cx="0" cy="0"/>
        </a:xfrm>
      </p:grpSpPr>
      <p:sp>
        <p:nvSpPr>
          <p:cNvPr id="2" name="Shape 0"/>
          <p:cNvSpPr/>
          <p:nvPr/>
        </p:nvSpPr>
        <p:spPr>
          <a:xfrm>
            <a:off x="6035040" y="-914400"/>
            <a:ext cx="4389120" cy="4389120"/>
          </a:xfrm>
          <a:prstGeom prst="ellipse">
            <a:avLst/>
          </a:prstGeom>
          <a:solidFill>
            <a:srgbClr val="2E9E6A">
              <a:alpha val="30000"/>
            </a:srgbClr>
          </a:solidFill>
          <a:ln w="12700">
            <a:solidFill>
              <a:srgbClr val="2E9E6A">
                <a:alpha val="0"/>
              </a:srgbClr>
            </a:solidFill>
            <a:prstDash val="solid"/>
          </a:ln>
        </p:spPr>
      </p:sp>
      <p:sp>
        <p:nvSpPr>
          <p:cNvPr id="3" name="Shape 1"/>
          <p:cNvSpPr/>
          <p:nvPr/>
        </p:nvSpPr>
        <p:spPr>
          <a:xfrm>
            <a:off x="7315200" y="2834640"/>
            <a:ext cx="2560320" cy="2560320"/>
          </a:xfrm>
          <a:prstGeom prst="ellipse">
            <a:avLst/>
          </a:prstGeom>
          <a:solidFill>
            <a:srgbClr val="14A3A8">
              <a:alpha val="25000"/>
            </a:srgbClr>
          </a:solidFill>
          <a:ln w="12700">
            <a:solidFill>
              <a:srgbClr val="14A3A8">
                <a:alpha val="0"/>
              </a:srgbClr>
            </a:solidFill>
            <a:prstDash val="solid"/>
          </a:ln>
        </p:spPr>
      </p:sp>
      <p:sp>
        <p:nvSpPr>
          <p:cNvPr id="4" name="Text 2"/>
          <p:cNvSpPr txBox="1"/>
          <p:nvPr/>
        </p:nvSpPr>
        <p:spPr>
          <a:xfrm>
            <a:off x="548640" y="822960"/>
            <a:ext cx="3657600" cy="1280160"/>
          </a:xfrm>
          <a:prstGeom prst="rect">
            <a:avLst/>
          </a:prstGeom>
          <a:noFill/>
          <a:ln/>
        </p:spPr>
        <p:txBody>
          <a:bodyPr wrap="square" lIns="0" tIns="0" rIns="0" bIns="0" rtlCol="0" anchor="b"/>
          <a:lstStyle/>
          <a:p>
            <a:pPr indent="0" marL="0">
              <a:buNone/>
            </a:pPr>
            <a:r>
              <a:rPr lang="en-US" sz="8400" b="1" dirty="0">
                <a:solidFill>
                  <a:srgbClr val="2E9E6A"/>
                </a:solidFill>
                <a:latin typeface="Calibri" pitchFamily="34" charset="0"/>
                <a:ea typeface="Calibri" pitchFamily="34" charset="-122"/>
                <a:cs typeface="Calibri" pitchFamily="34" charset="-120"/>
              </a:rPr>
              <a:t>05</a:t>
            </a:r>
            <a:endParaRPr lang="en-US" sz="8400" dirty="0"/>
          </a:p>
        </p:txBody>
      </p:sp>
      <p:sp>
        <p:nvSpPr>
          <p:cNvPr id="5" name="Text 3"/>
          <p:cNvSpPr txBox="1"/>
          <p:nvPr/>
        </p:nvSpPr>
        <p:spPr>
          <a:xfrm>
            <a:off x="548640" y="2240280"/>
            <a:ext cx="5943600" cy="10972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Mercado, modelo de negocio y finanzas</a:t>
            </a:r>
            <a:endParaRPr lang="en-US" sz="3400" dirty="0"/>
          </a:p>
        </p:txBody>
      </p:sp>
      <p:sp>
        <p:nvSpPr>
          <p:cNvPr id="6" name="Text 4"/>
          <p:cNvSpPr txBox="1"/>
          <p:nvPr/>
        </p:nvSpPr>
        <p:spPr>
          <a:xfrm>
            <a:off x="548640" y="3429000"/>
            <a:ext cx="5760720" cy="731520"/>
          </a:xfrm>
          <a:prstGeom prst="rect">
            <a:avLst/>
          </a:prstGeom>
          <a:noFill/>
          <a:ln/>
        </p:spPr>
        <p:txBody>
          <a:bodyPr wrap="square" lIns="0" tIns="0" rIns="0" bIns="0" rtlCol="0" anchor="t"/>
          <a:lstStyle/>
          <a:p>
            <a:pPr indent="0" marL="0">
              <a:buNone/>
            </a:pPr>
            <a:r>
              <a:rPr lang="en-US" sz="1400" dirty="0">
                <a:solidFill>
                  <a:srgbClr val="BFD3DC"/>
                </a:solidFill>
                <a:latin typeface="Calibri" pitchFamily="34" charset="0"/>
                <a:ea typeface="Calibri" pitchFamily="34" charset="-122"/>
                <a:cs typeface="Calibri" pitchFamily="34" charset="-120"/>
              </a:rPr>
              <a:t>Cómo gana dinero DOMUS mientras ahorra dinero al pagador</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2E9E6A"/>
                </a:solidFill>
                <a:latin typeface="Calibri" pitchFamily="34" charset="0"/>
                <a:ea typeface="Calibri" pitchFamily="34" charset="-122"/>
                <a:cs typeface="Calibri" pitchFamily="34" charset="-120"/>
              </a:rPr>
              <a:t>MERCADO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Clientes y propuesta de valor para cada uno</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4023360" cy="1645920"/>
          </a:xfrm>
          <a:prstGeom prst="roundRect">
            <a:avLst>
              <a:gd name="adj" fmla="val 4444"/>
            </a:avLst>
          </a:prstGeom>
          <a:solidFill>
            <a:srgbClr val="EAF6EF"/>
          </a:solidFill>
          <a:ln w="6350">
            <a:solidFill>
              <a:srgbClr val="EAF6EF"/>
            </a:solidFill>
            <a:prstDash val="solid"/>
          </a:ln>
        </p:spPr>
      </p:sp>
      <p:sp>
        <p:nvSpPr>
          <p:cNvPr id="6" name="Shape 4"/>
          <p:cNvSpPr/>
          <p:nvPr/>
        </p:nvSpPr>
        <p:spPr>
          <a:xfrm>
            <a:off x="621792" y="1371600"/>
            <a:ext cx="566928" cy="566928"/>
          </a:xfrm>
          <a:prstGeom prst="ellipse">
            <a:avLst/>
          </a:prstGeom>
          <a:solidFill>
            <a:srgbClr val="2E9E6A"/>
          </a:solidFill>
          <a:ln w="19050">
            <a:solidFill>
              <a:srgbClr val="2E9E6A"/>
            </a:solidFill>
            <a:prstDash val="solid"/>
          </a:ln>
        </p:spPr>
      </p:sp>
      <p:pic>
        <p:nvPicPr>
          <p:cNvPr id="7" name="Image 0" descr="preencoded.png">    </p:cNvPr>
          <p:cNvPicPr>
            <a:picLocks noChangeAspect="1"/>
          </p:cNvPicPr>
          <p:nvPr/>
        </p:nvPicPr>
        <p:blipFill>
          <a:blip r:embed="rId1"/>
          <a:stretch>
            <a:fillRect/>
          </a:stretch>
        </p:blipFill>
        <p:spPr>
          <a:xfrm>
            <a:off x="763524" y="1513332"/>
            <a:ext cx="283464" cy="283464"/>
          </a:xfrm>
          <a:prstGeom prst="rect">
            <a:avLst/>
          </a:prstGeom>
        </p:spPr>
      </p:pic>
      <p:sp>
        <p:nvSpPr>
          <p:cNvPr id="8" name="Text 5"/>
          <p:cNvSpPr txBox="1"/>
          <p:nvPr/>
        </p:nvSpPr>
        <p:spPr>
          <a:xfrm>
            <a:off x="1325880" y="1371600"/>
            <a:ext cx="3017520" cy="566928"/>
          </a:xfrm>
          <a:prstGeom prst="rect">
            <a:avLst/>
          </a:prstGeom>
          <a:noFill/>
          <a:ln/>
        </p:spPr>
        <p:txBody>
          <a:bodyPr wrap="square" lIns="0" tIns="0" rIns="0" bIns="0" rtlCol="0" anchor="ctr"/>
          <a:lstStyle/>
          <a:p>
            <a:pPr indent="0" marL="0">
              <a:buNone/>
            </a:pPr>
            <a:r>
              <a:rPr lang="en-US" sz="1600" b="1" dirty="0">
                <a:solidFill>
                  <a:srgbClr val="0B2236"/>
                </a:solidFill>
                <a:latin typeface="Calibri" pitchFamily="34" charset="0"/>
                <a:ea typeface="Calibri" pitchFamily="34" charset="-122"/>
                <a:cs typeface="Calibri" pitchFamily="34" charset="-120"/>
              </a:rPr>
              <a:t>EPS</a:t>
            </a:r>
            <a:endParaRPr lang="en-US" sz="1600" dirty="0"/>
          </a:p>
        </p:txBody>
      </p:sp>
      <p:sp>
        <p:nvSpPr>
          <p:cNvPr id="9" name="Text 6"/>
          <p:cNvSpPr txBox="1"/>
          <p:nvPr/>
        </p:nvSpPr>
        <p:spPr>
          <a:xfrm>
            <a:off x="640080" y="2029968"/>
            <a:ext cx="3657600" cy="77724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Menor costo por episodio, precio cerrado y predecible, menos reingresos y camas disponibles para su población.</a:t>
            </a:r>
            <a:endParaRPr lang="en-US" sz="1150" dirty="0"/>
          </a:p>
        </p:txBody>
      </p:sp>
      <p:sp>
        <p:nvSpPr>
          <p:cNvPr id="10" name="Shape 7"/>
          <p:cNvSpPr/>
          <p:nvPr/>
        </p:nvSpPr>
        <p:spPr>
          <a:xfrm>
            <a:off x="4663440" y="1188720"/>
            <a:ext cx="4023360" cy="1645920"/>
          </a:xfrm>
          <a:prstGeom prst="roundRect">
            <a:avLst>
              <a:gd name="adj" fmla="val 4444"/>
            </a:avLst>
          </a:prstGeom>
          <a:solidFill>
            <a:srgbClr val="EAF6EF"/>
          </a:solidFill>
          <a:ln w="6350">
            <a:solidFill>
              <a:srgbClr val="EAF6EF"/>
            </a:solidFill>
            <a:prstDash val="solid"/>
          </a:ln>
        </p:spPr>
      </p:sp>
      <p:sp>
        <p:nvSpPr>
          <p:cNvPr id="11" name="Shape 8"/>
          <p:cNvSpPr/>
          <p:nvPr/>
        </p:nvSpPr>
        <p:spPr>
          <a:xfrm>
            <a:off x="4828032" y="1371600"/>
            <a:ext cx="566928" cy="566928"/>
          </a:xfrm>
          <a:prstGeom prst="ellipse">
            <a:avLst/>
          </a:prstGeom>
          <a:solidFill>
            <a:srgbClr val="2E9E6A"/>
          </a:solidFill>
          <a:ln w="19050">
            <a:solidFill>
              <a:srgbClr val="2E9E6A"/>
            </a:solidFill>
            <a:prstDash val="solid"/>
          </a:ln>
        </p:spPr>
      </p:sp>
      <p:pic>
        <p:nvPicPr>
          <p:cNvPr id="12" name="Image 1" descr="preencoded.png">    </p:cNvPr>
          <p:cNvPicPr>
            <a:picLocks noChangeAspect="1"/>
          </p:cNvPicPr>
          <p:nvPr/>
        </p:nvPicPr>
        <p:blipFill>
          <a:blip r:embed="rId2"/>
          <a:stretch>
            <a:fillRect/>
          </a:stretch>
        </p:blipFill>
        <p:spPr>
          <a:xfrm>
            <a:off x="4969764" y="1513332"/>
            <a:ext cx="283464" cy="283464"/>
          </a:xfrm>
          <a:prstGeom prst="rect">
            <a:avLst/>
          </a:prstGeom>
        </p:spPr>
      </p:pic>
      <p:sp>
        <p:nvSpPr>
          <p:cNvPr id="13" name="Text 9"/>
          <p:cNvSpPr txBox="1"/>
          <p:nvPr/>
        </p:nvSpPr>
        <p:spPr>
          <a:xfrm>
            <a:off x="5532120" y="1371600"/>
            <a:ext cx="3017520" cy="566928"/>
          </a:xfrm>
          <a:prstGeom prst="rect">
            <a:avLst/>
          </a:prstGeom>
          <a:noFill/>
          <a:ln/>
        </p:spPr>
        <p:txBody>
          <a:bodyPr wrap="square" lIns="0" tIns="0" rIns="0" bIns="0" rtlCol="0" anchor="ctr"/>
          <a:lstStyle/>
          <a:p>
            <a:pPr indent="0" marL="0">
              <a:buNone/>
            </a:pPr>
            <a:r>
              <a:rPr lang="en-US" sz="1600" b="1" dirty="0">
                <a:solidFill>
                  <a:srgbClr val="0B2236"/>
                </a:solidFill>
                <a:latin typeface="Calibri" pitchFamily="34" charset="0"/>
                <a:ea typeface="Calibri" pitchFamily="34" charset="-122"/>
                <a:cs typeface="Calibri" pitchFamily="34" charset="-120"/>
              </a:rPr>
              <a:t>Clínicas e IPS</a:t>
            </a:r>
            <a:endParaRPr lang="en-US" sz="1600" dirty="0"/>
          </a:p>
        </p:txBody>
      </p:sp>
      <p:sp>
        <p:nvSpPr>
          <p:cNvPr id="14" name="Text 10"/>
          <p:cNvSpPr txBox="1"/>
          <p:nvPr/>
        </p:nvSpPr>
        <p:spPr>
          <a:xfrm>
            <a:off x="4846320" y="2029968"/>
            <a:ext cx="3657600" cy="77724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Rotación de camas, menos estancias prolongadas y más capacidad para pacientes que sí necesitan el hospital.</a:t>
            </a:r>
            <a:endParaRPr lang="en-US" sz="1150" dirty="0"/>
          </a:p>
        </p:txBody>
      </p:sp>
      <p:sp>
        <p:nvSpPr>
          <p:cNvPr id="15" name="Shape 11"/>
          <p:cNvSpPr/>
          <p:nvPr/>
        </p:nvSpPr>
        <p:spPr>
          <a:xfrm>
            <a:off x="457200" y="2971800"/>
            <a:ext cx="4023360" cy="1645920"/>
          </a:xfrm>
          <a:prstGeom prst="roundRect">
            <a:avLst>
              <a:gd name="adj" fmla="val 4444"/>
            </a:avLst>
          </a:prstGeom>
          <a:solidFill>
            <a:srgbClr val="EEF6F6"/>
          </a:solidFill>
          <a:ln w="6350">
            <a:solidFill>
              <a:srgbClr val="EEF6F6"/>
            </a:solidFill>
            <a:prstDash val="solid"/>
          </a:ln>
        </p:spPr>
      </p:sp>
      <p:sp>
        <p:nvSpPr>
          <p:cNvPr id="16" name="Shape 12"/>
          <p:cNvSpPr/>
          <p:nvPr/>
        </p:nvSpPr>
        <p:spPr>
          <a:xfrm>
            <a:off x="621792" y="3154680"/>
            <a:ext cx="566928" cy="566928"/>
          </a:xfrm>
          <a:prstGeom prst="ellipse">
            <a:avLst/>
          </a:prstGeom>
          <a:solidFill>
            <a:srgbClr val="0E7C86"/>
          </a:solidFill>
          <a:ln w="19050">
            <a:solidFill>
              <a:srgbClr val="0E7C86"/>
            </a:solidFill>
            <a:prstDash val="solid"/>
          </a:ln>
        </p:spPr>
      </p:sp>
      <p:pic>
        <p:nvPicPr>
          <p:cNvPr id="17" name="Image 2" descr="preencoded.png">    </p:cNvPr>
          <p:cNvPicPr>
            <a:picLocks noChangeAspect="1"/>
          </p:cNvPicPr>
          <p:nvPr/>
        </p:nvPicPr>
        <p:blipFill>
          <a:blip r:embed="rId3"/>
          <a:stretch>
            <a:fillRect/>
          </a:stretch>
        </p:blipFill>
        <p:spPr>
          <a:xfrm>
            <a:off x="763524" y="3296412"/>
            <a:ext cx="283464" cy="283464"/>
          </a:xfrm>
          <a:prstGeom prst="rect">
            <a:avLst/>
          </a:prstGeom>
        </p:spPr>
      </p:pic>
      <p:sp>
        <p:nvSpPr>
          <p:cNvPr id="18" name="Text 13"/>
          <p:cNvSpPr txBox="1"/>
          <p:nvPr/>
        </p:nvSpPr>
        <p:spPr>
          <a:xfrm>
            <a:off x="1325880" y="3154680"/>
            <a:ext cx="3017520" cy="566928"/>
          </a:xfrm>
          <a:prstGeom prst="rect">
            <a:avLst/>
          </a:prstGeom>
          <a:noFill/>
          <a:ln/>
        </p:spPr>
        <p:txBody>
          <a:bodyPr wrap="square" lIns="0" tIns="0" rIns="0" bIns="0" rtlCol="0" anchor="ctr"/>
          <a:lstStyle/>
          <a:p>
            <a:pPr indent="0" marL="0">
              <a:buNone/>
            </a:pPr>
            <a:r>
              <a:rPr lang="en-US" sz="1600" b="1" dirty="0">
                <a:solidFill>
                  <a:srgbClr val="0B2236"/>
                </a:solidFill>
                <a:latin typeface="Calibri" pitchFamily="34" charset="0"/>
                <a:ea typeface="Calibri" pitchFamily="34" charset="-122"/>
                <a:cs typeface="Calibri" pitchFamily="34" charset="-120"/>
              </a:rPr>
              <a:t>Medicina prepagada y pólizas</a:t>
            </a:r>
            <a:endParaRPr lang="en-US" sz="1600" dirty="0"/>
          </a:p>
        </p:txBody>
      </p:sp>
      <p:sp>
        <p:nvSpPr>
          <p:cNvPr id="19" name="Text 14"/>
          <p:cNvSpPr txBox="1"/>
          <p:nvPr/>
        </p:nvSpPr>
        <p:spPr>
          <a:xfrm>
            <a:off x="640080" y="3813048"/>
            <a:ext cx="3657600" cy="77724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Servicio premium de recuperación en casa para sus afiliados.</a:t>
            </a:r>
            <a:endParaRPr lang="en-US" sz="1150" dirty="0"/>
          </a:p>
        </p:txBody>
      </p:sp>
      <p:sp>
        <p:nvSpPr>
          <p:cNvPr id="20" name="Shape 15"/>
          <p:cNvSpPr/>
          <p:nvPr/>
        </p:nvSpPr>
        <p:spPr>
          <a:xfrm>
            <a:off x="4663440" y="2971800"/>
            <a:ext cx="4023360" cy="1645920"/>
          </a:xfrm>
          <a:prstGeom prst="roundRect">
            <a:avLst>
              <a:gd name="adj" fmla="val 4444"/>
            </a:avLst>
          </a:prstGeom>
          <a:solidFill>
            <a:srgbClr val="EEF6F6"/>
          </a:solidFill>
          <a:ln w="6350">
            <a:solidFill>
              <a:srgbClr val="EEF6F6"/>
            </a:solidFill>
            <a:prstDash val="solid"/>
          </a:ln>
        </p:spPr>
      </p:sp>
      <p:sp>
        <p:nvSpPr>
          <p:cNvPr id="21" name="Shape 16"/>
          <p:cNvSpPr/>
          <p:nvPr/>
        </p:nvSpPr>
        <p:spPr>
          <a:xfrm>
            <a:off x="4828032" y="3154680"/>
            <a:ext cx="566928" cy="566928"/>
          </a:xfrm>
          <a:prstGeom prst="ellipse">
            <a:avLst/>
          </a:prstGeom>
          <a:solidFill>
            <a:srgbClr val="0E7C86"/>
          </a:solidFill>
          <a:ln w="19050">
            <a:solidFill>
              <a:srgbClr val="0E7C86"/>
            </a:solidFill>
            <a:prstDash val="solid"/>
          </a:ln>
        </p:spPr>
      </p:sp>
      <p:pic>
        <p:nvPicPr>
          <p:cNvPr id="22" name="Image 3" descr="preencoded.png">    </p:cNvPr>
          <p:cNvPicPr>
            <a:picLocks noChangeAspect="1"/>
          </p:cNvPicPr>
          <p:nvPr/>
        </p:nvPicPr>
        <p:blipFill>
          <a:blip r:embed="rId4"/>
          <a:stretch>
            <a:fillRect/>
          </a:stretch>
        </p:blipFill>
        <p:spPr>
          <a:xfrm>
            <a:off x="4969764" y="3296412"/>
            <a:ext cx="283464" cy="283464"/>
          </a:xfrm>
          <a:prstGeom prst="rect">
            <a:avLst/>
          </a:prstGeom>
        </p:spPr>
      </p:pic>
      <p:sp>
        <p:nvSpPr>
          <p:cNvPr id="23" name="Text 17"/>
          <p:cNvSpPr txBox="1"/>
          <p:nvPr/>
        </p:nvSpPr>
        <p:spPr>
          <a:xfrm>
            <a:off x="5532120" y="3154680"/>
            <a:ext cx="3017520" cy="566928"/>
          </a:xfrm>
          <a:prstGeom prst="rect">
            <a:avLst/>
          </a:prstGeom>
          <a:noFill/>
          <a:ln/>
        </p:spPr>
        <p:txBody>
          <a:bodyPr wrap="square" lIns="0" tIns="0" rIns="0" bIns="0" rtlCol="0" anchor="ctr"/>
          <a:lstStyle/>
          <a:p>
            <a:pPr indent="0" marL="0">
              <a:buNone/>
            </a:pPr>
            <a:r>
              <a:rPr lang="en-US" sz="1600" b="1" dirty="0">
                <a:solidFill>
                  <a:srgbClr val="0B2236"/>
                </a:solidFill>
                <a:latin typeface="Calibri" pitchFamily="34" charset="0"/>
                <a:ea typeface="Calibri" pitchFamily="34" charset="-122"/>
                <a:cs typeface="Calibri" pitchFamily="34" charset="-120"/>
              </a:rPr>
              <a:t>Pacientes y familias</a:t>
            </a:r>
            <a:endParaRPr lang="en-US" sz="1600" dirty="0"/>
          </a:p>
        </p:txBody>
      </p:sp>
      <p:sp>
        <p:nvSpPr>
          <p:cNvPr id="24" name="Text 18"/>
          <p:cNvSpPr txBox="1"/>
          <p:nvPr/>
        </p:nvSpPr>
        <p:spPr>
          <a:xfrm>
            <a:off x="4846320" y="3813048"/>
            <a:ext cx="3657600" cy="77724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Recuperarse en casa, con menos riesgo de infecciones intrahospitalarias y más comodidad.</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2E9E6A"/>
                </a:solidFill>
                <a:latin typeface="Calibri" pitchFamily="34" charset="0"/>
                <a:ea typeface="Calibri" pitchFamily="34" charset="-122"/>
                <a:cs typeface="Calibri" pitchFamily="34" charset="-120"/>
              </a:rPr>
              <a:t>MODELO DE NEGOCIO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Lienzo del modelo de negocio</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43000"/>
            <a:ext cx="1600200" cy="2240280"/>
          </a:xfrm>
          <a:prstGeom prst="roundRect">
            <a:avLst>
              <a:gd name="adj" fmla="val 4571"/>
            </a:avLst>
          </a:prstGeom>
          <a:solidFill>
            <a:srgbClr val="EEF6F6"/>
          </a:solidFill>
          <a:ln w="15875">
            <a:solidFill>
              <a:srgbClr val="D5E2E4"/>
            </a:solidFill>
            <a:prstDash val="solid"/>
          </a:ln>
        </p:spPr>
      </p:sp>
      <p:sp>
        <p:nvSpPr>
          <p:cNvPr id="6" name="Text 4"/>
          <p:cNvSpPr txBox="1"/>
          <p:nvPr/>
        </p:nvSpPr>
        <p:spPr>
          <a:xfrm>
            <a:off x="548640" y="1197864"/>
            <a:ext cx="1417320" cy="292608"/>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Socios clave</a:t>
            </a:r>
            <a:endParaRPr lang="en-US" sz="1100" dirty="0"/>
          </a:p>
        </p:txBody>
      </p:sp>
      <p:sp>
        <p:nvSpPr>
          <p:cNvPr id="7" name="Text 5"/>
          <p:cNvSpPr txBox="1"/>
          <p:nvPr/>
        </p:nvSpPr>
        <p:spPr>
          <a:xfrm>
            <a:off x="548640" y="1508760"/>
            <a:ext cx="1417320" cy="1828800"/>
          </a:xfrm>
          <a:prstGeom prst="rect">
            <a:avLst/>
          </a:prstGeom>
          <a:noFill/>
          <a:ln/>
        </p:spPr>
        <p:txBody>
          <a:bodyPr wrap="square" lIns="0" tIns="0" rIns="0" bIns="0" rtlCol="0" anchor="t"/>
          <a:lstStyle/>
          <a:p>
            <a:pPr indent="0" marL="0">
              <a:buNone/>
            </a:pPr>
            <a:r>
              <a:rPr lang="en-US" sz="950" dirty="0">
                <a:solidFill>
                  <a:srgbClr val="1D2B36"/>
                </a:solidFill>
                <a:latin typeface="Calibri" pitchFamily="34" charset="0"/>
                <a:ea typeface="Calibri" pitchFamily="34" charset="-122"/>
                <a:cs typeface="Calibri" pitchFamily="34" charset="-120"/>
              </a:rPr>
              <a:t>Clínicas remitentes, infectología, laboratorio, distribuidores de antibióticos, transporte</a:t>
            </a:r>
            <a:endParaRPr lang="en-US" sz="950" dirty="0"/>
          </a:p>
        </p:txBody>
      </p:sp>
      <p:sp>
        <p:nvSpPr>
          <p:cNvPr id="8" name="Shape 6"/>
          <p:cNvSpPr/>
          <p:nvPr/>
        </p:nvSpPr>
        <p:spPr>
          <a:xfrm>
            <a:off x="2148840" y="1143000"/>
            <a:ext cx="1600200" cy="1097280"/>
          </a:xfrm>
          <a:prstGeom prst="roundRect">
            <a:avLst>
              <a:gd name="adj" fmla="val 6667"/>
            </a:avLst>
          </a:prstGeom>
          <a:solidFill>
            <a:srgbClr val="EEF6F6"/>
          </a:solidFill>
          <a:ln w="15875">
            <a:solidFill>
              <a:srgbClr val="D5E2E4"/>
            </a:solidFill>
            <a:prstDash val="solid"/>
          </a:ln>
        </p:spPr>
      </p:sp>
      <p:sp>
        <p:nvSpPr>
          <p:cNvPr id="9" name="Text 7"/>
          <p:cNvSpPr txBox="1"/>
          <p:nvPr/>
        </p:nvSpPr>
        <p:spPr>
          <a:xfrm>
            <a:off x="2240280" y="1197864"/>
            <a:ext cx="1417320" cy="292608"/>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Actividades clave</a:t>
            </a:r>
            <a:endParaRPr lang="en-US" sz="1100" dirty="0"/>
          </a:p>
        </p:txBody>
      </p:sp>
      <p:sp>
        <p:nvSpPr>
          <p:cNvPr id="10" name="Text 8"/>
          <p:cNvSpPr txBox="1"/>
          <p:nvPr/>
        </p:nvSpPr>
        <p:spPr>
          <a:xfrm>
            <a:off x="2240280" y="1508760"/>
            <a:ext cx="1417320" cy="685800"/>
          </a:xfrm>
          <a:prstGeom prst="rect">
            <a:avLst/>
          </a:prstGeom>
          <a:noFill/>
          <a:ln/>
        </p:spPr>
        <p:txBody>
          <a:bodyPr wrap="square" lIns="0" tIns="0" rIns="0" bIns="0" rtlCol="0" anchor="t"/>
          <a:lstStyle/>
          <a:p>
            <a:pPr indent="0" marL="0">
              <a:buNone/>
            </a:pPr>
            <a:r>
              <a:rPr lang="en-US" sz="950" dirty="0">
                <a:solidFill>
                  <a:srgbClr val="1D2B36"/>
                </a:solidFill>
                <a:latin typeface="Calibri" pitchFamily="34" charset="0"/>
                <a:ea typeface="Calibri" pitchFamily="34" charset="-122"/>
                <a:cs typeface="Calibri" pitchFamily="34" charset="-120"/>
              </a:rPr>
              <a:t>Selección de pacientes, aplicación, monitoreo, logística, facturación por paquete</a:t>
            </a:r>
            <a:endParaRPr lang="en-US" sz="950" dirty="0"/>
          </a:p>
        </p:txBody>
      </p:sp>
      <p:sp>
        <p:nvSpPr>
          <p:cNvPr id="11" name="Shape 9"/>
          <p:cNvSpPr/>
          <p:nvPr/>
        </p:nvSpPr>
        <p:spPr>
          <a:xfrm>
            <a:off x="2148840" y="2286000"/>
            <a:ext cx="1600200" cy="1097280"/>
          </a:xfrm>
          <a:prstGeom prst="roundRect">
            <a:avLst>
              <a:gd name="adj" fmla="val 6667"/>
            </a:avLst>
          </a:prstGeom>
          <a:solidFill>
            <a:srgbClr val="EEF6F6"/>
          </a:solidFill>
          <a:ln w="15875">
            <a:solidFill>
              <a:srgbClr val="D5E2E4"/>
            </a:solidFill>
            <a:prstDash val="solid"/>
          </a:ln>
        </p:spPr>
      </p:sp>
      <p:sp>
        <p:nvSpPr>
          <p:cNvPr id="12" name="Text 10"/>
          <p:cNvSpPr txBox="1"/>
          <p:nvPr/>
        </p:nvSpPr>
        <p:spPr>
          <a:xfrm>
            <a:off x="2240280" y="2340864"/>
            <a:ext cx="1417320" cy="292608"/>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Recursos clave</a:t>
            </a:r>
            <a:endParaRPr lang="en-US" sz="1100" dirty="0"/>
          </a:p>
        </p:txBody>
      </p:sp>
      <p:sp>
        <p:nvSpPr>
          <p:cNvPr id="13" name="Text 11"/>
          <p:cNvSpPr txBox="1"/>
          <p:nvPr/>
        </p:nvSpPr>
        <p:spPr>
          <a:xfrm>
            <a:off x="2240280" y="2651760"/>
            <a:ext cx="1417320" cy="685800"/>
          </a:xfrm>
          <a:prstGeom prst="rect">
            <a:avLst/>
          </a:prstGeom>
          <a:noFill/>
          <a:ln/>
        </p:spPr>
        <p:txBody>
          <a:bodyPr wrap="square" lIns="0" tIns="0" rIns="0" bIns="0" rtlCol="0" anchor="t"/>
          <a:lstStyle/>
          <a:p>
            <a:pPr indent="0" marL="0">
              <a:buNone/>
            </a:pPr>
            <a:r>
              <a:rPr lang="en-US" sz="950" dirty="0">
                <a:solidFill>
                  <a:srgbClr val="1D2B36"/>
                </a:solidFill>
                <a:latin typeface="Calibri" pitchFamily="34" charset="0"/>
                <a:ea typeface="Calibri" pitchFamily="34" charset="-122"/>
                <a:cs typeface="Calibri" pitchFamily="34" charset="-120"/>
              </a:rPr>
              <a:t>Equipo clínico, bombas y catéteres, software, capital de trabajo, habilitación</a:t>
            </a:r>
            <a:endParaRPr lang="en-US" sz="950" dirty="0"/>
          </a:p>
        </p:txBody>
      </p:sp>
      <p:sp>
        <p:nvSpPr>
          <p:cNvPr id="14" name="Shape 12"/>
          <p:cNvSpPr/>
          <p:nvPr/>
        </p:nvSpPr>
        <p:spPr>
          <a:xfrm>
            <a:off x="3840480" y="1143000"/>
            <a:ext cx="1600200" cy="2240280"/>
          </a:xfrm>
          <a:prstGeom prst="roundRect">
            <a:avLst>
              <a:gd name="adj" fmla="val 4571"/>
            </a:avLst>
          </a:prstGeom>
          <a:solidFill>
            <a:srgbClr val="0B2236"/>
          </a:solidFill>
          <a:ln w="15875">
            <a:solidFill>
              <a:srgbClr val="0B2236"/>
            </a:solidFill>
            <a:prstDash val="solid"/>
          </a:ln>
        </p:spPr>
      </p:sp>
      <p:sp>
        <p:nvSpPr>
          <p:cNvPr id="15" name="Text 13"/>
          <p:cNvSpPr txBox="1"/>
          <p:nvPr/>
        </p:nvSpPr>
        <p:spPr>
          <a:xfrm>
            <a:off x="3931920" y="1197864"/>
            <a:ext cx="1417320" cy="292608"/>
          </a:xfrm>
          <a:prstGeom prst="rect">
            <a:avLst/>
          </a:prstGeom>
          <a:noFill/>
          <a:ln/>
        </p:spPr>
        <p:txBody>
          <a:bodyPr wrap="square" lIns="0" tIns="0" rIns="0" bIns="0" rtlCol="0" anchor="t"/>
          <a:lstStyle/>
          <a:p>
            <a:pPr indent="0" marL="0">
              <a:buNone/>
            </a:pPr>
            <a:r>
              <a:rPr lang="en-US" sz="1100" b="1" dirty="0">
                <a:solidFill>
                  <a:srgbClr val="14A3A8"/>
                </a:solidFill>
                <a:latin typeface="Calibri" pitchFamily="34" charset="0"/>
                <a:ea typeface="Calibri" pitchFamily="34" charset="-122"/>
                <a:cs typeface="Calibri" pitchFamily="34" charset="-120"/>
              </a:rPr>
              <a:t>Propuesta de valor</a:t>
            </a:r>
            <a:endParaRPr lang="en-US" sz="1100" dirty="0"/>
          </a:p>
        </p:txBody>
      </p:sp>
      <p:sp>
        <p:nvSpPr>
          <p:cNvPr id="16" name="Text 14"/>
          <p:cNvSpPr txBox="1"/>
          <p:nvPr/>
        </p:nvSpPr>
        <p:spPr>
          <a:xfrm>
            <a:off x="3931920" y="1508760"/>
            <a:ext cx="1417320" cy="18288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Paquete cerrado por infección y resistencia, todo incluido, más barato que el día-cama y con la misma seguridad</a:t>
            </a:r>
            <a:endParaRPr lang="en-US" sz="950" dirty="0"/>
          </a:p>
        </p:txBody>
      </p:sp>
      <p:sp>
        <p:nvSpPr>
          <p:cNvPr id="17" name="Shape 15"/>
          <p:cNvSpPr/>
          <p:nvPr/>
        </p:nvSpPr>
        <p:spPr>
          <a:xfrm>
            <a:off x="5532120" y="1143000"/>
            <a:ext cx="1600200" cy="1097280"/>
          </a:xfrm>
          <a:prstGeom prst="roundRect">
            <a:avLst>
              <a:gd name="adj" fmla="val 6667"/>
            </a:avLst>
          </a:prstGeom>
          <a:solidFill>
            <a:srgbClr val="EEF6F6"/>
          </a:solidFill>
          <a:ln w="15875">
            <a:solidFill>
              <a:srgbClr val="D5E2E4"/>
            </a:solidFill>
            <a:prstDash val="solid"/>
          </a:ln>
        </p:spPr>
      </p:sp>
      <p:sp>
        <p:nvSpPr>
          <p:cNvPr id="18" name="Text 16"/>
          <p:cNvSpPr txBox="1"/>
          <p:nvPr/>
        </p:nvSpPr>
        <p:spPr>
          <a:xfrm>
            <a:off x="5623560" y="1197864"/>
            <a:ext cx="1417320" cy="292608"/>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Relación con clientes</a:t>
            </a:r>
            <a:endParaRPr lang="en-US" sz="1100" dirty="0"/>
          </a:p>
        </p:txBody>
      </p:sp>
      <p:sp>
        <p:nvSpPr>
          <p:cNvPr id="19" name="Text 17"/>
          <p:cNvSpPr txBox="1"/>
          <p:nvPr/>
        </p:nvSpPr>
        <p:spPr>
          <a:xfrm>
            <a:off x="5623560" y="1508760"/>
            <a:ext cx="1417320" cy="685800"/>
          </a:xfrm>
          <a:prstGeom prst="rect">
            <a:avLst/>
          </a:prstGeom>
          <a:noFill/>
          <a:ln/>
        </p:spPr>
        <p:txBody>
          <a:bodyPr wrap="square" lIns="0" tIns="0" rIns="0" bIns="0" rtlCol="0" anchor="t"/>
          <a:lstStyle/>
          <a:p>
            <a:pPr indent="0" marL="0">
              <a:buNone/>
            </a:pPr>
            <a:r>
              <a:rPr lang="en-US" sz="950" dirty="0">
                <a:solidFill>
                  <a:srgbClr val="1D2B36"/>
                </a:solidFill>
                <a:latin typeface="Calibri" pitchFamily="34" charset="0"/>
                <a:ea typeface="Calibri" pitchFamily="34" charset="-122"/>
                <a:cs typeface="Calibri" pitchFamily="34" charset="-120"/>
              </a:rPr>
              <a:t>Gerente de cuenta por pagador, informes mensuales de ahorro</a:t>
            </a:r>
            <a:endParaRPr lang="en-US" sz="950" dirty="0"/>
          </a:p>
        </p:txBody>
      </p:sp>
      <p:sp>
        <p:nvSpPr>
          <p:cNvPr id="20" name="Shape 18"/>
          <p:cNvSpPr/>
          <p:nvPr/>
        </p:nvSpPr>
        <p:spPr>
          <a:xfrm>
            <a:off x="5532120" y="2286000"/>
            <a:ext cx="1600200" cy="1097280"/>
          </a:xfrm>
          <a:prstGeom prst="roundRect">
            <a:avLst>
              <a:gd name="adj" fmla="val 6667"/>
            </a:avLst>
          </a:prstGeom>
          <a:solidFill>
            <a:srgbClr val="EEF6F6"/>
          </a:solidFill>
          <a:ln w="15875">
            <a:solidFill>
              <a:srgbClr val="D5E2E4"/>
            </a:solidFill>
            <a:prstDash val="solid"/>
          </a:ln>
        </p:spPr>
      </p:sp>
      <p:sp>
        <p:nvSpPr>
          <p:cNvPr id="21" name="Text 19"/>
          <p:cNvSpPr txBox="1"/>
          <p:nvPr/>
        </p:nvSpPr>
        <p:spPr>
          <a:xfrm>
            <a:off x="5623560" y="2340864"/>
            <a:ext cx="1417320" cy="292608"/>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Canales</a:t>
            </a:r>
            <a:endParaRPr lang="en-US" sz="1100" dirty="0"/>
          </a:p>
        </p:txBody>
      </p:sp>
      <p:sp>
        <p:nvSpPr>
          <p:cNvPr id="22" name="Text 20"/>
          <p:cNvSpPr txBox="1"/>
          <p:nvPr/>
        </p:nvSpPr>
        <p:spPr>
          <a:xfrm>
            <a:off x="5623560" y="2651760"/>
            <a:ext cx="1417320" cy="685800"/>
          </a:xfrm>
          <a:prstGeom prst="rect">
            <a:avLst/>
          </a:prstGeom>
          <a:noFill/>
          <a:ln/>
        </p:spPr>
        <p:txBody>
          <a:bodyPr wrap="square" lIns="0" tIns="0" rIns="0" bIns="0" rtlCol="0" anchor="t"/>
          <a:lstStyle/>
          <a:p>
            <a:pPr indent="0" marL="0">
              <a:buNone/>
            </a:pPr>
            <a:r>
              <a:rPr lang="en-US" sz="950" dirty="0">
                <a:solidFill>
                  <a:srgbClr val="1D2B36"/>
                </a:solidFill>
                <a:latin typeface="Calibri" pitchFamily="34" charset="0"/>
                <a:ea typeface="Calibri" pitchFamily="34" charset="-122"/>
                <a:cs typeface="Calibri" pitchFamily="34" charset="-120"/>
              </a:rPr>
              <a:t>Venta directa a EPS y clínicas, enlace hospitalario dentro de las IPS</a:t>
            </a:r>
            <a:endParaRPr lang="en-US" sz="950" dirty="0"/>
          </a:p>
        </p:txBody>
      </p:sp>
      <p:sp>
        <p:nvSpPr>
          <p:cNvPr id="23" name="Shape 21"/>
          <p:cNvSpPr/>
          <p:nvPr/>
        </p:nvSpPr>
        <p:spPr>
          <a:xfrm>
            <a:off x="7223760" y="1143000"/>
            <a:ext cx="1463040" cy="2240280"/>
          </a:xfrm>
          <a:prstGeom prst="roundRect">
            <a:avLst>
              <a:gd name="adj" fmla="val 5000"/>
            </a:avLst>
          </a:prstGeom>
          <a:solidFill>
            <a:srgbClr val="EEF6F6"/>
          </a:solidFill>
          <a:ln w="15875">
            <a:solidFill>
              <a:srgbClr val="D5E2E4"/>
            </a:solidFill>
            <a:prstDash val="solid"/>
          </a:ln>
        </p:spPr>
      </p:sp>
      <p:sp>
        <p:nvSpPr>
          <p:cNvPr id="24" name="Text 22"/>
          <p:cNvSpPr txBox="1"/>
          <p:nvPr/>
        </p:nvSpPr>
        <p:spPr>
          <a:xfrm>
            <a:off x="7315200" y="1197864"/>
            <a:ext cx="1280160" cy="292608"/>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Segmentos</a:t>
            </a:r>
            <a:endParaRPr lang="en-US" sz="1100" dirty="0"/>
          </a:p>
        </p:txBody>
      </p:sp>
      <p:sp>
        <p:nvSpPr>
          <p:cNvPr id="25" name="Text 23"/>
          <p:cNvSpPr txBox="1"/>
          <p:nvPr/>
        </p:nvSpPr>
        <p:spPr>
          <a:xfrm>
            <a:off x="7315200" y="1508760"/>
            <a:ext cx="1280160" cy="1828800"/>
          </a:xfrm>
          <a:prstGeom prst="rect">
            <a:avLst/>
          </a:prstGeom>
          <a:noFill/>
          <a:ln/>
        </p:spPr>
        <p:txBody>
          <a:bodyPr wrap="square" lIns="0" tIns="0" rIns="0" bIns="0" rtlCol="0" anchor="t"/>
          <a:lstStyle/>
          <a:p>
            <a:pPr indent="0" marL="0">
              <a:buNone/>
            </a:pPr>
            <a:r>
              <a:rPr lang="en-US" sz="950" dirty="0">
                <a:solidFill>
                  <a:srgbClr val="1D2B36"/>
                </a:solidFill>
                <a:latin typeface="Calibri" pitchFamily="34" charset="0"/>
                <a:ea typeface="Calibri" pitchFamily="34" charset="-122"/>
                <a:cs typeface="Calibri" pitchFamily="34" charset="-120"/>
              </a:rPr>
              <a:t>EPS, clínicas e IPS, prepagadas y pólizas</a:t>
            </a:r>
            <a:endParaRPr lang="en-US" sz="950" dirty="0"/>
          </a:p>
        </p:txBody>
      </p:sp>
      <p:sp>
        <p:nvSpPr>
          <p:cNvPr id="26" name="Shape 24"/>
          <p:cNvSpPr/>
          <p:nvPr/>
        </p:nvSpPr>
        <p:spPr>
          <a:xfrm>
            <a:off x="457200" y="3520440"/>
            <a:ext cx="4069080" cy="1188720"/>
          </a:xfrm>
          <a:prstGeom prst="roundRect">
            <a:avLst>
              <a:gd name="adj" fmla="val 6154"/>
            </a:avLst>
          </a:prstGeom>
          <a:solidFill>
            <a:srgbClr val="FDF1EC"/>
          </a:solidFill>
          <a:ln w="6350">
            <a:solidFill>
              <a:srgbClr val="FDF1EC"/>
            </a:solidFill>
            <a:prstDash val="solid"/>
          </a:ln>
        </p:spPr>
      </p:sp>
      <p:sp>
        <p:nvSpPr>
          <p:cNvPr id="27" name="Text 25"/>
          <p:cNvSpPr txBox="1"/>
          <p:nvPr/>
        </p:nvSpPr>
        <p:spPr>
          <a:xfrm>
            <a:off x="594360" y="3584448"/>
            <a:ext cx="3657600" cy="292608"/>
          </a:xfrm>
          <a:prstGeom prst="rect">
            <a:avLst/>
          </a:prstGeom>
          <a:noFill/>
          <a:ln/>
        </p:spPr>
        <p:txBody>
          <a:bodyPr wrap="square" lIns="0" tIns="0" rIns="0" bIns="0" rtlCol="0" anchor="t"/>
          <a:lstStyle/>
          <a:p>
            <a:pPr indent="0" marL="0">
              <a:buNone/>
            </a:pPr>
            <a:r>
              <a:rPr lang="en-US" sz="1100" b="1" dirty="0">
                <a:solidFill>
                  <a:srgbClr val="F26B4E"/>
                </a:solidFill>
                <a:latin typeface="Calibri" pitchFamily="34" charset="0"/>
                <a:ea typeface="Calibri" pitchFamily="34" charset="-122"/>
                <a:cs typeface="Calibri" pitchFamily="34" charset="-120"/>
              </a:rPr>
              <a:t>Estructura de costos</a:t>
            </a:r>
            <a:endParaRPr lang="en-US" sz="1100" dirty="0"/>
          </a:p>
        </p:txBody>
      </p:sp>
      <p:sp>
        <p:nvSpPr>
          <p:cNvPr id="28" name="Text 26"/>
          <p:cNvSpPr txBox="1"/>
          <p:nvPr/>
        </p:nvSpPr>
        <p:spPr>
          <a:xfrm>
            <a:off x="594360" y="3886200"/>
            <a:ext cx="3794760" cy="777240"/>
          </a:xfrm>
          <a:prstGeom prst="rect">
            <a:avLst/>
          </a:prstGeom>
          <a:noFill/>
          <a:ln/>
        </p:spPr>
        <p:txBody>
          <a:bodyPr wrap="square" lIns="0" tIns="0" rIns="0" bIns="0" rtlCol="0" anchor="t"/>
          <a:lstStyle/>
          <a:p>
            <a:pPr indent="0" marL="0">
              <a:buNone/>
            </a:pPr>
            <a:r>
              <a:rPr lang="en-US" sz="1000" dirty="0">
                <a:solidFill>
                  <a:srgbClr val="1D2B36"/>
                </a:solidFill>
                <a:latin typeface="Calibri" pitchFamily="34" charset="0"/>
                <a:ea typeface="Calibri" pitchFamily="34" charset="-122"/>
                <a:cs typeface="Calibri" pitchFamily="34" charset="-120"/>
              </a:rPr>
              <a:t>Antibióticos e insumos (variables), personal clínico, transporte, sede y bodega con cadena de frío, software, pólizas, costo financiero de la cartera</a:t>
            </a:r>
            <a:endParaRPr lang="en-US" sz="1000" dirty="0"/>
          </a:p>
        </p:txBody>
      </p:sp>
      <p:sp>
        <p:nvSpPr>
          <p:cNvPr id="29" name="Shape 27"/>
          <p:cNvSpPr/>
          <p:nvPr/>
        </p:nvSpPr>
        <p:spPr>
          <a:xfrm>
            <a:off x="4617720" y="3520440"/>
            <a:ext cx="4069080" cy="1188720"/>
          </a:xfrm>
          <a:prstGeom prst="roundRect">
            <a:avLst>
              <a:gd name="adj" fmla="val 6154"/>
            </a:avLst>
          </a:prstGeom>
          <a:solidFill>
            <a:srgbClr val="EAF6EF"/>
          </a:solidFill>
          <a:ln w="6350">
            <a:solidFill>
              <a:srgbClr val="EAF6EF"/>
            </a:solidFill>
            <a:prstDash val="solid"/>
          </a:ln>
        </p:spPr>
      </p:sp>
      <p:sp>
        <p:nvSpPr>
          <p:cNvPr id="30" name="Text 28"/>
          <p:cNvSpPr txBox="1"/>
          <p:nvPr/>
        </p:nvSpPr>
        <p:spPr>
          <a:xfrm>
            <a:off x="4754880" y="3584448"/>
            <a:ext cx="3657600" cy="292608"/>
          </a:xfrm>
          <a:prstGeom prst="rect">
            <a:avLst/>
          </a:prstGeom>
          <a:noFill/>
          <a:ln/>
        </p:spPr>
        <p:txBody>
          <a:bodyPr wrap="square" lIns="0" tIns="0" rIns="0" bIns="0" rtlCol="0" anchor="t"/>
          <a:lstStyle/>
          <a:p>
            <a:pPr indent="0" marL="0">
              <a:buNone/>
            </a:pPr>
            <a:r>
              <a:rPr lang="en-US" sz="1100" b="1" dirty="0">
                <a:solidFill>
                  <a:srgbClr val="2E9E6A"/>
                </a:solidFill>
                <a:latin typeface="Calibri" pitchFamily="34" charset="0"/>
                <a:ea typeface="Calibri" pitchFamily="34" charset="-122"/>
                <a:cs typeface="Calibri" pitchFamily="34" charset="-120"/>
              </a:rPr>
              <a:t>Fuentes de ingreso</a:t>
            </a:r>
            <a:endParaRPr lang="en-US" sz="1100" dirty="0"/>
          </a:p>
        </p:txBody>
      </p:sp>
      <p:sp>
        <p:nvSpPr>
          <p:cNvPr id="31" name="Text 29"/>
          <p:cNvSpPr txBox="1"/>
          <p:nvPr/>
        </p:nvSpPr>
        <p:spPr>
          <a:xfrm>
            <a:off x="4754880" y="3886200"/>
            <a:ext cx="3794760" cy="777240"/>
          </a:xfrm>
          <a:prstGeom prst="rect">
            <a:avLst/>
          </a:prstGeom>
          <a:noFill/>
          <a:ln/>
        </p:spPr>
        <p:txBody>
          <a:bodyPr wrap="square" lIns="0" tIns="0" rIns="0" bIns="0" rtlCol="0" anchor="t"/>
          <a:lstStyle/>
          <a:p>
            <a:pPr indent="0" marL="0">
              <a:buNone/>
            </a:pPr>
            <a:r>
              <a:rPr lang="en-US" sz="1000" dirty="0">
                <a:solidFill>
                  <a:srgbClr val="1D2B36"/>
                </a:solidFill>
                <a:latin typeface="Calibri" pitchFamily="34" charset="0"/>
                <a:ea typeface="Calibri" pitchFamily="34" charset="-122"/>
                <a:cs typeface="Calibri" pitchFamily="34" charset="-120"/>
              </a:rPr>
              <a:t>Venta de paquetes (activación + días × nivel), servicios adicionales (transición a vía oral supervisada, curaciones complejas) y contratos por volumen</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2E9E6A"/>
                </a:solidFill>
                <a:latin typeface="Calibri" pitchFamily="34" charset="0"/>
                <a:ea typeface="Calibri" pitchFamily="34" charset="-122"/>
                <a:cs typeface="Calibri" pitchFamily="34" charset="-120"/>
              </a:rPr>
              <a:t>MODELO FINANCIERO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Supuestos del modelo (escenario base)</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926080"/>
                <a:gridCol w="2194560"/>
                <a:gridCol w="3108960"/>
              </a:tblGrid>
              <a:tr h="3383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Supuesto</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Comentario</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r>
              <a:tr h="33832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Día-cama hospitalario (sin antibiótico)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1,1 M COP</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Referencia para calcular el ahorro del pagador</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3832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Tarifa diaria DOMUS N1 / N2 / N3</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0,35 / 0,65 / 1,40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Incluye antibiótico, aplicación, insumos y seguimiento</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3832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Costo del antibiótico por día N1 / N2 / N3</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0,03 / 0,25 / 0,90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Varía con el mercado; ajustar con SISMED</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3832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Costo directo del servicio por día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0,16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Enfermería, insumos, transporte, laboratorio, visitas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3832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Activación del paquete</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Precio 0,9 M · costo 0,55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Valoración, catéter, kit inicial</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3832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Mezcla de niveles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50 % N1 · 35 % N2 · 15 % N3</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Según epidemiología local de resistencia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3832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Días promedio en casa por paquete</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16 días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Mezcla de IVU, neumonía, hueso y endocarditis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3832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Costos fijos mensuales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150 M (año 1) · 175 M · 215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Núcleo clínico y administrativo, sede, software</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3832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Inversión inicial</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900 M COP</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indent="0" marL="0">
                        <a:buNone/>
                      </a:pPr>
                      <a:r>
                        <a:rPr lang="en-US" sz="1050" dirty="0">
                          <a:solidFill>
                            <a:srgbClr val="1D2B36"/>
                          </a:solidFill>
                          <a:latin typeface="Calibri" pitchFamily="34" charset="0"/>
                          <a:ea typeface="Calibri" pitchFamily="34" charset="-122"/>
                          <a:cs typeface="Calibri" pitchFamily="34" charset="-120"/>
                        </a:rPr>
                        <a:t>Habilitación, dotación, bombas, vehículos, software</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bl>
          </a:graphicData>
        </a:graphic>
      </p:graphicFrame>
      <p:sp>
        <p:nvSpPr>
          <p:cNvPr id="6" name="Text 3"/>
          <p:cNvSpPr txBox="1"/>
          <p:nvPr/>
        </p:nvSpPr>
        <p:spPr>
          <a:xfrm>
            <a:off x="457200" y="4572000"/>
            <a:ext cx="8229600" cy="228600"/>
          </a:xfrm>
          <a:prstGeom prst="rect">
            <a:avLst/>
          </a:prstGeom>
          <a:noFill/>
          <a:ln/>
        </p:spPr>
        <p:txBody>
          <a:bodyPr wrap="square" lIns="0" tIns="0" rIns="0" bIns="0" rtlCol="0" anchor="t"/>
          <a:lstStyle/>
          <a:p>
            <a:pPr indent="0" marL="0">
              <a:buNone/>
            </a:pPr>
            <a:r>
              <a:rPr lang="en-US" sz="900" i="1" dirty="0">
                <a:solidFill>
                  <a:srgbClr val="F26B4E"/>
                </a:solidFill>
                <a:latin typeface="Calibri" pitchFamily="34" charset="0"/>
                <a:ea typeface="Calibri" pitchFamily="34" charset="-122"/>
                <a:cs typeface="Calibri" pitchFamily="34" charset="-120"/>
              </a:rPr>
              <a:t>Cifras ilustrativas del modelo: validar con tarifas reales, precios SISMED y negociación con cada pagador.</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2E9E6A"/>
                </a:solidFill>
                <a:latin typeface="Calibri" pitchFamily="34" charset="0"/>
                <a:ea typeface="Calibri" pitchFamily="34" charset="-122"/>
                <a:cs typeface="Calibri" pitchFamily="34" charset="-120"/>
              </a:rPr>
              <a:t>MODELO FINANCIERO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Economía unitaria: el paquete promedio</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Text 3"/>
          <p:cNvSpPr txBox="1"/>
          <p:nvPr/>
        </p:nvSpPr>
        <p:spPr>
          <a:xfrm>
            <a:off x="457200" y="1234440"/>
            <a:ext cx="2560320" cy="548640"/>
          </a:xfrm>
          <a:prstGeom prst="rect">
            <a:avLst/>
          </a:prstGeom>
          <a:noFill/>
          <a:ln/>
        </p:spPr>
        <p:txBody>
          <a:bodyPr wrap="square" lIns="0" tIns="0" rIns="0" bIns="0" rtlCol="0" anchor="b"/>
          <a:lstStyle/>
          <a:p>
            <a:pPr indent="0" marL="0">
              <a:buNone/>
            </a:pPr>
            <a:r>
              <a:rPr lang="en-US" sz="4000" b="1" dirty="0">
                <a:solidFill>
                  <a:srgbClr val="0E7C86"/>
                </a:solidFill>
                <a:latin typeface="Calibri" pitchFamily="34" charset="0"/>
                <a:ea typeface="Calibri" pitchFamily="34" charset="-122"/>
                <a:cs typeface="Calibri" pitchFamily="34" charset="-120"/>
              </a:rPr>
              <a:t>10,7 M</a:t>
            </a:r>
            <a:endParaRPr lang="en-US" sz="4000" dirty="0"/>
          </a:p>
        </p:txBody>
      </p:sp>
      <p:sp>
        <p:nvSpPr>
          <p:cNvPr id="6" name="Text 4"/>
          <p:cNvSpPr txBox="1"/>
          <p:nvPr/>
        </p:nvSpPr>
        <p:spPr>
          <a:xfrm>
            <a:off x="457200" y="1819656"/>
            <a:ext cx="256032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ingreso promedio por paquete (16 días, mezcla de niveles)</a:t>
            </a:r>
            <a:endParaRPr lang="en-US" sz="1100" dirty="0"/>
          </a:p>
        </p:txBody>
      </p:sp>
      <p:sp>
        <p:nvSpPr>
          <p:cNvPr id="7" name="Text 5"/>
          <p:cNvSpPr txBox="1"/>
          <p:nvPr/>
        </p:nvSpPr>
        <p:spPr>
          <a:xfrm>
            <a:off x="457200" y="2468880"/>
            <a:ext cx="2560320" cy="548640"/>
          </a:xfrm>
          <a:prstGeom prst="rect">
            <a:avLst/>
          </a:prstGeom>
          <a:noFill/>
          <a:ln/>
        </p:spPr>
        <p:txBody>
          <a:bodyPr wrap="square" lIns="0" tIns="0" rIns="0" bIns="0" rtlCol="0" anchor="b"/>
          <a:lstStyle/>
          <a:p>
            <a:pPr indent="0" marL="0">
              <a:buNone/>
            </a:pPr>
            <a:r>
              <a:rPr lang="en-US" sz="4000" b="1" dirty="0">
                <a:solidFill>
                  <a:srgbClr val="2E9E6A"/>
                </a:solidFill>
                <a:latin typeface="Calibri" pitchFamily="34" charset="0"/>
                <a:ea typeface="Calibri" pitchFamily="34" charset="-122"/>
                <a:cs typeface="Calibri" pitchFamily="34" charset="-120"/>
              </a:rPr>
              <a:t>3,8 M</a:t>
            </a:r>
            <a:endParaRPr lang="en-US" sz="4000" dirty="0"/>
          </a:p>
        </p:txBody>
      </p:sp>
      <p:sp>
        <p:nvSpPr>
          <p:cNvPr id="8" name="Text 6"/>
          <p:cNvSpPr txBox="1"/>
          <p:nvPr/>
        </p:nvSpPr>
        <p:spPr>
          <a:xfrm>
            <a:off x="457200" y="3054096"/>
            <a:ext cx="256032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margen de contribución por paquete</a:t>
            </a:r>
            <a:endParaRPr lang="en-US" sz="1100" dirty="0"/>
          </a:p>
        </p:txBody>
      </p:sp>
      <p:sp>
        <p:nvSpPr>
          <p:cNvPr id="9" name="Text 7"/>
          <p:cNvSpPr txBox="1"/>
          <p:nvPr/>
        </p:nvSpPr>
        <p:spPr>
          <a:xfrm>
            <a:off x="457200" y="3657600"/>
            <a:ext cx="2560320" cy="548640"/>
          </a:xfrm>
          <a:prstGeom prst="rect">
            <a:avLst/>
          </a:prstGeom>
          <a:noFill/>
          <a:ln/>
        </p:spPr>
        <p:txBody>
          <a:bodyPr wrap="square" lIns="0" tIns="0" rIns="0" bIns="0" rtlCol="0" anchor="b"/>
          <a:lstStyle/>
          <a:p>
            <a:pPr indent="0" marL="0">
              <a:buNone/>
            </a:pPr>
            <a:r>
              <a:rPr lang="en-US" sz="3200" b="1" dirty="0">
                <a:solidFill>
                  <a:srgbClr val="2E9E6A"/>
                </a:solidFill>
                <a:latin typeface="Calibri" pitchFamily="34" charset="0"/>
                <a:ea typeface="Calibri" pitchFamily="34" charset="-122"/>
                <a:cs typeface="Calibri" pitchFamily="34" charset="-120"/>
              </a:rPr>
              <a:t>35 %</a:t>
            </a:r>
            <a:endParaRPr lang="en-US" sz="3200" dirty="0"/>
          </a:p>
        </p:txBody>
      </p:sp>
      <p:sp>
        <p:nvSpPr>
          <p:cNvPr id="10" name="Text 8"/>
          <p:cNvSpPr txBox="1"/>
          <p:nvPr/>
        </p:nvSpPr>
        <p:spPr>
          <a:xfrm>
            <a:off x="457200" y="4242816"/>
            <a:ext cx="256032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margen de contribución</a:t>
            </a:r>
            <a:endParaRPr lang="en-US" sz="1100" dirty="0"/>
          </a:p>
        </p:txBody>
      </p:sp>
      <p:graphicFrame>
        <p:nvGraphicFramePr>
          <p:cNvPr id="11" name="Chart 0" descr=""/>
          <p:cNvGraphicFramePr/>
          <p:nvPr/>
        </p:nvGraphicFramePr>
        <p:xfrm>
          <a:off x="3291840" y="1188720"/>
          <a:ext cx="5394960" cy="310896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3383280" y="4343400"/>
            <a:ext cx="5303520" cy="411480"/>
          </a:xfrm>
          <a:prstGeom prst="rect">
            <a:avLst/>
          </a:prstGeom>
          <a:noFill/>
          <a:ln/>
        </p:spPr>
        <p:txBody>
          <a:bodyPr wrap="square" lIns="0" tIns="0" rIns="0" bIns="0" rtlCol="0" anchor="t"/>
          <a:lstStyle/>
          <a:p>
            <a:pPr indent="0" marL="0">
              <a:buNone/>
            </a:pPr>
            <a:r>
              <a:rPr lang="en-US" sz="1050" i="1" dirty="0">
                <a:solidFill>
                  <a:srgbClr val="5F6F7C"/>
                </a:solidFill>
                <a:latin typeface="Calibri" pitchFamily="34" charset="0"/>
                <a:ea typeface="Calibri" pitchFamily="34" charset="-122"/>
                <a:cs typeface="Calibri" pitchFamily="34" charset="-120"/>
              </a:rPr>
              <a:t>N3 tiene menor margen porcentual por el costo del antibiótico, pero mayor margen absoluto por día (0,34 M vs 0,16 M en N1).</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2E9E6A"/>
                </a:solidFill>
                <a:latin typeface="Calibri" pitchFamily="34" charset="0"/>
                <a:ea typeface="Calibri" pitchFamily="34" charset="-122"/>
                <a:cs typeface="Calibri" pitchFamily="34" charset="-120"/>
              </a:rPr>
              <a:t>MODELO FINANCIERO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Ahorro para el pagador por paquete (nivel N2)</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graphicFrame>
        <p:nvGraphicFramePr>
          <p:cNvPr id="5" name="Chart 0" descr=""/>
          <p:cNvGraphicFramePr/>
          <p:nvPr/>
        </p:nvGraphicFramePr>
        <p:xfrm>
          <a:off x="365760" y="1143000"/>
          <a:ext cx="5852160" cy="36118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400800" y="1234440"/>
            <a:ext cx="2286000" cy="3474720"/>
          </a:xfrm>
          <a:prstGeom prst="roundRect">
            <a:avLst>
              <a:gd name="adj" fmla="val 3200"/>
            </a:avLst>
          </a:prstGeom>
          <a:solidFill>
            <a:srgbClr val="EAF6EF"/>
          </a:solidFill>
          <a:ln w="6350">
            <a:solidFill>
              <a:srgbClr val="EAF6EF"/>
            </a:solidFill>
            <a:prstDash val="solid"/>
          </a:ln>
        </p:spPr>
      </p:sp>
      <p:sp>
        <p:nvSpPr>
          <p:cNvPr id="7" name="Text 4"/>
          <p:cNvSpPr txBox="1"/>
          <p:nvPr/>
        </p:nvSpPr>
        <p:spPr>
          <a:xfrm>
            <a:off x="6400800" y="1463040"/>
            <a:ext cx="2286000" cy="822960"/>
          </a:xfrm>
          <a:prstGeom prst="rect">
            <a:avLst/>
          </a:prstGeom>
          <a:noFill/>
          <a:ln/>
        </p:spPr>
        <p:txBody>
          <a:bodyPr wrap="square" lIns="0" tIns="0" rIns="0" bIns="0" rtlCol="0" anchor="ctr"/>
          <a:lstStyle/>
          <a:p>
            <a:pPr algn="ctr" indent="0" marL="0">
              <a:buNone/>
            </a:pPr>
            <a:r>
              <a:rPr lang="en-US" sz="3400" b="1" dirty="0">
                <a:solidFill>
                  <a:srgbClr val="2E9E6A"/>
                </a:solidFill>
                <a:latin typeface="Calibri" pitchFamily="34" charset="0"/>
                <a:ea typeface="Calibri" pitchFamily="34" charset="-122"/>
                <a:cs typeface="Calibri" pitchFamily="34" charset="-120"/>
              </a:rPr>
              <a:t>42–50 %</a:t>
            </a:r>
            <a:endParaRPr lang="en-US" sz="3400" dirty="0"/>
          </a:p>
        </p:txBody>
      </p:sp>
      <p:sp>
        <p:nvSpPr>
          <p:cNvPr id="8" name="Text 5"/>
          <p:cNvSpPr txBox="1"/>
          <p:nvPr/>
        </p:nvSpPr>
        <p:spPr>
          <a:xfrm>
            <a:off x="6537960" y="2286000"/>
            <a:ext cx="2011680" cy="548640"/>
          </a:xfrm>
          <a:prstGeom prst="rect">
            <a:avLst/>
          </a:prstGeom>
          <a:noFill/>
          <a:ln/>
        </p:spPr>
        <p:txBody>
          <a:bodyPr wrap="square" lIns="0" tIns="0" rIns="0" bIns="0" rtlCol="0" anchor="t"/>
          <a:lstStyle/>
          <a:p>
            <a:pPr algn="ctr" indent="0" marL="0">
              <a:buNone/>
            </a:pPr>
            <a:r>
              <a:rPr lang="en-US" sz="1200" dirty="0">
                <a:solidFill>
                  <a:srgbClr val="1D2B36"/>
                </a:solidFill>
                <a:latin typeface="Calibri" pitchFamily="34" charset="0"/>
                <a:ea typeface="Calibri" pitchFamily="34" charset="-122"/>
                <a:cs typeface="Calibri" pitchFamily="34" charset="-120"/>
              </a:rPr>
              <a:t>de ahorro para el pagador en el nivel N2</a:t>
            </a:r>
            <a:endParaRPr lang="en-US" sz="1200" dirty="0"/>
          </a:p>
        </p:txBody>
      </p:sp>
      <p:sp>
        <p:nvSpPr>
          <p:cNvPr id="9" name="Text 6"/>
          <p:cNvSpPr txBox="1"/>
          <p:nvPr/>
        </p:nvSpPr>
        <p:spPr>
          <a:xfrm>
            <a:off x="6537960" y="3017520"/>
            <a:ext cx="2011680" cy="1463040"/>
          </a:xfrm>
          <a:prstGeom prst="rect">
            <a:avLst/>
          </a:prstGeom>
          <a:noFill/>
          <a:ln/>
        </p:spPr>
        <p:txBody>
          <a:bodyPr wrap="square" lIns="0" tIns="0" rIns="0" bIns="0" rtlCol="0" anchor="t"/>
          <a:lstStyle/>
          <a:p>
            <a:pPr algn="ctr" indent="0" marL="0">
              <a:buNone/>
            </a:pPr>
            <a:r>
              <a:rPr lang="en-US" sz="1100" dirty="0">
                <a:solidFill>
                  <a:srgbClr val="5F6F7C"/>
                </a:solidFill>
                <a:latin typeface="Calibri" pitchFamily="34" charset="0"/>
                <a:ea typeface="Calibri" pitchFamily="34" charset="-122"/>
                <a:cs typeface="Calibri" pitchFamily="34" charset="-120"/>
              </a:rPr>
              <a:t>En N1 el ahorro llega a 58–67 %; en N3, por el costo del antibiótico, es de 24–29 %.</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2E9E6A"/>
                </a:solidFill>
                <a:latin typeface="Calibri" pitchFamily="34" charset="0"/>
                <a:ea typeface="Calibri" pitchFamily="34" charset="-122"/>
                <a:cs typeface="Calibri" pitchFamily="34" charset="-120"/>
              </a:rPr>
              <a:t>MODELO FINANCIERO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Proyección a 3 años (escenario base)</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graphicFrame>
        <p:nvGraphicFramePr>
          <p:cNvPr id="5" name="Chart 0" descr=""/>
          <p:cNvGraphicFramePr/>
          <p:nvPr/>
        </p:nvGraphicFramePr>
        <p:xfrm>
          <a:off x="365760" y="1143000"/>
          <a:ext cx="530352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806440" y="1234440"/>
          <a:ext cx="2880360" cy="914400"/>
        </p:xfrm>
        <a:graphic>
          <a:graphicData uri="http://schemas.openxmlformats.org/drawingml/2006/table">
            <a:tbl>
              <a:tblPr/>
              <a:tblGrid>
                <a:gridCol w="1097280"/>
                <a:gridCol w="594360"/>
                <a:gridCol w="594360"/>
                <a:gridCol w="594360"/>
              </a:tblGrid>
              <a:tr h="384048">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Año 1</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Año 2</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Año 3</a:t>
                      </a:r>
                      <a:endParaRPr lang="en-US" sz="110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solidFill>
                      <a:srgbClr val="0B2236"/>
                    </a:solidFill>
                  </a:tcPr>
                </a:tc>
              </a:tr>
              <a:tr h="38404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Paquetes</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396</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840</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1.320</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8404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Ingresos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4.237</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8.988</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14.124</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8404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Contribución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1.501</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3.184</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5.003</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8404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Costos fijos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1.800</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2.100</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2.580</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8404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EBITDA (M)</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b="1" dirty="0">
                          <a:solidFill>
                            <a:srgbClr val="D64545"/>
                          </a:solidFill>
                          <a:latin typeface="Calibri" pitchFamily="34" charset="0"/>
                          <a:ea typeface="Calibri" pitchFamily="34" charset="-122"/>
                          <a:cs typeface="Calibri" pitchFamily="34" charset="-120"/>
                        </a:rPr>
                        <a:t>−299</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b="1" dirty="0">
                          <a:solidFill>
                            <a:srgbClr val="2E9E6A"/>
                          </a:solidFill>
                          <a:latin typeface="Calibri" pitchFamily="34" charset="0"/>
                          <a:ea typeface="Calibri" pitchFamily="34" charset="-122"/>
                          <a:cs typeface="Calibri" pitchFamily="34" charset="-120"/>
                        </a:rPr>
                        <a:t>1.084</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b="1" dirty="0">
                          <a:solidFill>
                            <a:srgbClr val="2E9E6A"/>
                          </a:solidFill>
                          <a:latin typeface="Calibri" pitchFamily="34" charset="0"/>
                          <a:ea typeface="Calibri" pitchFamily="34" charset="-122"/>
                          <a:cs typeface="Calibri" pitchFamily="34" charset="-120"/>
                        </a:rPr>
                        <a:t>2.423</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r h="384048">
                <a:tc>
                  <a:txBody>
                    <a:bodyPr/>
                    <a:lstStyle/>
                    <a:p>
                      <a:pPr indent="0" marL="0">
                        <a:buNone/>
                      </a:pPr>
                      <a:r>
                        <a:rPr lang="en-US" sz="1050" b="1" dirty="0">
                          <a:solidFill>
                            <a:srgbClr val="1D2B36"/>
                          </a:solidFill>
                          <a:latin typeface="Calibri" pitchFamily="34" charset="0"/>
                          <a:ea typeface="Calibri" pitchFamily="34" charset="-122"/>
                          <a:cs typeface="Calibri" pitchFamily="34" charset="-120"/>
                        </a:rPr>
                        <a:t>Margen EBITDA</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−7 %</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12 %</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c>
                  <a:txBody>
                    <a:bodyPr/>
                    <a:lstStyle/>
                    <a:p>
                      <a:pPr algn="ctr" indent="0" marL="0">
                        <a:buNone/>
                      </a:pPr>
                      <a:r>
                        <a:rPr lang="en-US" sz="1050" dirty="0">
                          <a:solidFill>
                            <a:srgbClr val="1D2B36"/>
                          </a:solidFill>
                          <a:latin typeface="Calibri" pitchFamily="34" charset="0"/>
                          <a:ea typeface="Calibri" pitchFamily="34" charset="-122"/>
                          <a:cs typeface="Calibri" pitchFamily="34" charset="-120"/>
                        </a:rPr>
                        <a:t>17 %</a:t>
                      </a:r>
                      <a:endParaRPr lang="en-US" sz="1050" dirty="0">
                        <a:latin typeface="Calibri" charset="0"/>
                        <a:ea typeface="Calibri" charset="0"/>
                        <a:cs typeface="Calibri" charset="0"/>
                      </a:endParaRPr>
                    </a:p>
                  </a:txBody>
                  <a:tcPr marL="76200" marR="76200" marT="38100" marB="38100" anchor="ctr">
                    <a:lnL w="9525" cap="flat" cmpd="sng" algn="ctr">
                      <a:solidFill>
                        <a:srgbClr val="D5E2E4"/>
                      </a:solidFill>
                      <a:prstDash val="solid"/>
                      <a:round/>
                      <a:headEnd type="none" w="med" len="med"/>
                      <a:tailEnd type="none" w="med" len="med"/>
                    </a:lnL>
                    <a:lnR w="9525" cap="flat" cmpd="sng" algn="ctr">
                      <a:solidFill>
                        <a:srgbClr val="D5E2E4"/>
                      </a:solidFill>
                      <a:prstDash val="solid"/>
                      <a:round/>
                      <a:headEnd type="none" w="med" len="med"/>
                      <a:tailEnd type="none" w="med" len="med"/>
                    </a:lnR>
                    <a:lnT w="9525" cap="flat" cmpd="sng" algn="ctr">
                      <a:solidFill>
                        <a:srgbClr val="D5E2E4"/>
                      </a:solidFill>
                      <a:prstDash val="solid"/>
                      <a:round/>
                      <a:headEnd type="none" w="med" len="med"/>
                      <a:tailEnd type="none" w="med" len="med"/>
                    </a:lnT>
                    <a:lnB w="9525" cap="flat" cmpd="sng" algn="ctr">
                      <a:solidFill>
                        <a:srgbClr val="D5E2E4"/>
                      </a:solidFill>
                      <a:prstDash val="solid"/>
                      <a:round/>
                      <a:headEnd type="none" w="med" len="med"/>
                      <a:tailEnd type="none" w="med" len="med"/>
                    </a:lnB>
                  </a:tcPr>
                </a:tc>
              </a:tr>
            </a:tbl>
          </a:graphicData>
        </a:graphic>
      </p:graphicFrame>
      <p:sp>
        <p:nvSpPr>
          <p:cNvPr id="7" name="Text 3"/>
          <p:cNvSpPr txBox="1"/>
          <p:nvPr/>
        </p:nvSpPr>
        <p:spPr>
          <a:xfrm>
            <a:off x="5806440" y="4069080"/>
            <a:ext cx="2880360" cy="640080"/>
          </a:xfrm>
          <a:prstGeom prst="rect">
            <a:avLst/>
          </a:prstGeom>
          <a:noFill/>
          <a:ln/>
        </p:spPr>
        <p:txBody>
          <a:bodyPr wrap="square" lIns="0" tIns="0" rIns="0" bIns="0" rtlCol="0" anchor="t"/>
          <a:lstStyle/>
          <a:p>
            <a:pPr indent="0" marL="0">
              <a:buNone/>
            </a:pPr>
            <a:r>
              <a:rPr lang="en-US" sz="900" i="1" dirty="0">
                <a:solidFill>
                  <a:srgbClr val="F26B4E"/>
                </a:solidFill>
                <a:latin typeface="Calibri" pitchFamily="34" charset="0"/>
                <a:ea typeface="Calibri" pitchFamily="34" charset="-122"/>
                <a:cs typeface="Calibri" pitchFamily="34" charset="-120"/>
              </a:rPr>
              <a:t>Cifras ilustrativas del modelo: validar con tarifas reales, precios SISMED y negociación con cada pagador.</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2E9E6A"/>
                </a:solidFill>
                <a:latin typeface="Calibri" pitchFamily="34" charset="0"/>
                <a:ea typeface="Calibri" pitchFamily="34" charset="-122"/>
                <a:cs typeface="Calibri" pitchFamily="34" charset="-120"/>
              </a:rPr>
              <a:t>MODELO FINANCIERO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Punto de equilibrio, inversión y recuperación</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Text 3"/>
          <p:cNvSpPr txBox="1"/>
          <p:nvPr/>
        </p:nvSpPr>
        <p:spPr>
          <a:xfrm>
            <a:off x="457200" y="1188720"/>
            <a:ext cx="2651760" cy="548640"/>
          </a:xfrm>
          <a:prstGeom prst="rect">
            <a:avLst/>
          </a:prstGeom>
          <a:noFill/>
          <a:ln/>
        </p:spPr>
        <p:txBody>
          <a:bodyPr wrap="square" lIns="0" tIns="0" rIns="0" bIns="0" rtlCol="0" anchor="b"/>
          <a:lstStyle/>
          <a:p>
            <a:pPr indent="0" marL="0">
              <a:buNone/>
            </a:pPr>
            <a:r>
              <a:rPr lang="en-US" sz="3800" b="1" dirty="0">
                <a:solidFill>
                  <a:srgbClr val="0E7C86"/>
                </a:solidFill>
                <a:latin typeface="Calibri" pitchFamily="34" charset="0"/>
                <a:ea typeface="Calibri" pitchFamily="34" charset="-122"/>
                <a:cs typeface="Calibri" pitchFamily="34" charset="-120"/>
              </a:rPr>
              <a:t>≈ 40</a:t>
            </a:r>
            <a:endParaRPr lang="en-US" sz="3800" dirty="0"/>
          </a:p>
        </p:txBody>
      </p:sp>
      <p:sp>
        <p:nvSpPr>
          <p:cNvPr id="6" name="Text 4"/>
          <p:cNvSpPr txBox="1"/>
          <p:nvPr/>
        </p:nvSpPr>
        <p:spPr>
          <a:xfrm>
            <a:off x="457200" y="1773936"/>
            <a:ext cx="265176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paquetes al mes para el punto de equilibrio operativo (alcanzado hacia el mes 8)</a:t>
            </a:r>
            <a:endParaRPr lang="en-US" sz="1100" dirty="0"/>
          </a:p>
        </p:txBody>
      </p:sp>
      <p:sp>
        <p:nvSpPr>
          <p:cNvPr id="7" name="Text 5"/>
          <p:cNvSpPr txBox="1"/>
          <p:nvPr/>
        </p:nvSpPr>
        <p:spPr>
          <a:xfrm>
            <a:off x="457200" y="2377440"/>
            <a:ext cx="2651760" cy="548640"/>
          </a:xfrm>
          <a:prstGeom prst="rect">
            <a:avLst/>
          </a:prstGeom>
          <a:noFill/>
          <a:ln/>
        </p:spPr>
        <p:txBody>
          <a:bodyPr wrap="square" lIns="0" tIns="0" rIns="0" bIns="0" rtlCol="0" anchor="b"/>
          <a:lstStyle/>
          <a:p>
            <a:pPr indent="0" marL="0">
              <a:buNone/>
            </a:pPr>
            <a:r>
              <a:rPr lang="en-US" sz="3200" b="1" dirty="0">
                <a:solidFill>
                  <a:srgbClr val="F26B4E"/>
                </a:solidFill>
                <a:latin typeface="Calibri" pitchFamily="34" charset="0"/>
                <a:ea typeface="Calibri" pitchFamily="34" charset="-122"/>
                <a:cs typeface="Calibri" pitchFamily="34" charset="-120"/>
              </a:rPr>
              <a:t>1.400 M</a:t>
            </a:r>
            <a:endParaRPr lang="en-US" sz="3200" dirty="0"/>
          </a:p>
        </p:txBody>
      </p:sp>
      <p:sp>
        <p:nvSpPr>
          <p:cNvPr id="8" name="Text 6"/>
          <p:cNvSpPr txBox="1"/>
          <p:nvPr/>
        </p:nvSpPr>
        <p:spPr>
          <a:xfrm>
            <a:off x="457200" y="2962656"/>
            <a:ext cx="265176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necesidad máxima de caja: 900 M de inversión + pérdidas del arranque y cartera</a:t>
            </a:r>
            <a:endParaRPr lang="en-US" sz="1100" dirty="0"/>
          </a:p>
        </p:txBody>
      </p:sp>
      <p:sp>
        <p:nvSpPr>
          <p:cNvPr id="9" name="Text 7"/>
          <p:cNvSpPr txBox="1"/>
          <p:nvPr/>
        </p:nvSpPr>
        <p:spPr>
          <a:xfrm>
            <a:off x="457200" y="3566160"/>
            <a:ext cx="2651760" cy="548640"/>
          </a:xfrm>
          <a:prstGeom prst="rect">
            <a:avLst/>
          </a:prstGeom>
          <a:noFill/>
          <a:ln/>
        </p:spPr>
        <p:txBody>
          <a:bodyPr wrap="square" lIns="0" tIns="0" rIns="0" bIns="0" rtlCol="0" anchor="b"/>
          <a:lstStyle/>
          <a:p>
            <a:pPr indent="0" marL="0">
              <a:buNone/>
            </a:pPr>
            <a:r>
              <a:rPr lang="en-US" sz="3200" b="1" dirty="0">
                <a:solidFill>
                  <a:srgbClr val="2E9E6A"/>
                </a:solidFill>
                <a:latin typeface="Calibri" pitchFamily="34" charset="0"/>
                <a:ea typeface="Calibri" pitchFamily="34" charset="-122"/>
                <a:cs typeface="Calibri" pitchFamily="34" charset="-120"/>
              </a:rPr>
              <a:t>Mes 25</a:t>
            </a:r>
            <a:endParaRPr lang="en-US" sz="3200" dirty="0"/>
          </a:p>
        </p:txBody>
      </p:sp>
      <p:sp>
        <p:nvSpPr>
          <p:cNvPr id="10" name="Text 8"/>
          <p:cNvSpPr txBox="1"/>
          <p:nvPr/>
        </p:nvSpPr>
        <p:spPr>
          <a:xfrm>
            <a:off x="457200" y="4151376"/>
            <a:ext cx="2651760" cy="548640"/>
          </a:xfrm>
          <a:prstGeom prst="rect">
            <a:avLst/>
          </a:prstGeom>
          <a:noFill/>
          <a:ln/>
        </p:spPr>
        <p:txBody>
          <a:bodyPr wrap="square" lIns="0" tIns="0" rIns="0" bIns="0" rtlCol="0" anchor="t"/>
          <a:lstStyle/>
          <a:p>
            <a:pPr indent="0" marL="0">
              <a:buNone/>
            </a:pPr>
            <a:r>
              <a:rPr lang="en-US" sz="1100" dirty="0">
                <a:solidFill>
                  <a:srgbClr val="5F6F7C"/>
                </a:solidFill>
                <a:latin typeface="Calibri" pitchFamily="34" charset="0"/>
                <a:ea typeface="Calibri" pitchFamily="34" charset="-122"/>
                <a:cs typeface="Calibri" pitchFamily="34" charset="-120"/>
              </a:rPr>
              <a:t>recuperación de la inversión en el escenario base</a:t>
            </a:r>
            <a:endParaRPr lang="en-US" sz="1100" dirty="0"/>
          </a:p>
        </p:txBody>
      </p:sp>
      <p:graphicFrame>
        <p:nvGraphicFramePr>
          <p:cNvPr id="11" name="Chart 0" descr=""/>
          <p:cNvGraphicFramePr/>
          <p:nvPr/>
        </p:nvGraphicFramePr>
        <p:xfrm>
          <a:off x="3291840" y="1143000"/>
          <a:ext cx="5394960" cy="3611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2E9E6A"/>
                </a:solidFill>
                <a:latin typeface="Calibri" pitchFamily="34" charset="0"/>
                <a:ea typeface="Calibri" pitchFamily="34" charset="-122"/>
                <a:cs typeface="Calibri" pitchFamily="34" charset="-120"/>
              </a:rPr>
              <a:t>MODELO FINANCIERO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Análisis de sensibilidad del año 2</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graphicFrame>
        <p:nvGraphicFramePr>
          <p:cNvPr id="5" name="Chart 0" descr=""/>
          <p:cNvGraphicFramePr/>
          <p:nvPr/>
        </p:nvGraphicFramePr>
        <p:xfrm>
          <a:off x="365760" y="1143000"/>
          <a:ext cx="5669280" cy="36118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263640" y="1234440"/>
            <a:ext cx="2423160" cy="3474720"/>
          </a:xfrm>
          <a:prstGeom prst="roundRect">
            <a:avLst>
              <a:gd name="adj" fmla="val 3019"/>
            </a:avLst>
          </a:prstGeom>
          <a:solidFill>
            <a:srgbClr val="EEF6F6"/>
          </a:solidFill>
          <a:ln w="6350">
            <a:solidFill>
              <a:srgbClr val="EEF6F6"/>
            </a:solidFill>
            <a:prstDash val="solid"/>
          </a:ln>
        </p:spPr>
      </p:sp>
      <p:sp>
        <p:nvSpPr>
          <p:cNvPr id="7" name="Text 4"/>
          <p:cNvSpPr txBox="1"/>
          <p:nvPr/>
        </p:nvSpPr>
        <p:spPr>
          <a:xfrm>
            <a:off x="6400800" y="1325880"/>
            <a:ext cx="2194560" cy="320040"/>
          </a:xfrm>
          <a:prstGeom prst="rect">
            <a:avLst/>
          </a:prstGeom>
          <a:noFill/>
          <a:ln/>
        </p:spPr>
        <p:txBody>
          <a:bodyPr wrap="square" lIns="0" tIns="0" rIns="0" bIns="0" rtlCol="0" anchor="t"/>
          <a:lstStyle/>
          <a:p>
            <a:pPr indent="0" marL="0">
              <a:buNone/>
            </a:pPr>
            <a:r>
              <a:rPr lang="en-US" sz="1400" b="1" dirty="0">
                <a:solidFill>
                  <a:srgbClr val="0B2236"/>
                </a:solidFill>
                <a:latin typeface="Calibri" pitchFamily="34" charset="0"/>
                <a:ea typeface="Calibri" pitchFamily="34" charset="-122"/>
                <a:cs typeface="Calibri" pitchFamily="34" charset="-120"/>
              </a:rPr>
              <a:t>Lectura</a:t>
            </a:r>
            <a:endParaRPr lang="en-US" sz="1400" dirty="0"/>
          </a:p>
        </p:txBody>
      </p:sp>
      <p:sp>
        <p:nvSpPr>
          <p:cNvPr id="8" name="Text 5"/>
          <p:cNvSpPr txBox="1"/>
          <p:nvPr/>
        </p:nvSpPr>
        <p:spPr>
          <a:xfrm>
            <a:off x="6400800" y="1691640"/>
            <a:ext cx="2194560" cy="2926080"/>
          </a:xfrm>
          <a:prstGeom prst="rect">
            <a:avLst/>
          </a:prstGeom>
          <a:noFill/>
          <a:ln/>
        </p:spPr>
        <p:txBody>
          <a:bodyPr wrap="square" lIns="0" tIns="0" rIns="0" bIns="0" rtlCol="0" anchor="t"/>
          <a:lstStyle/>
          <a:p>
            <a:pPr indent="0" marL="0">
              <a:buNone/>
            </a:pPr>
            <a:r>
              <a:rPr lang="en-US" sz="1150" dirty="0">
                <a:solidFill>
                  <a:srgbClr val="1D2B36"/>
                </a:solidFill>
                <a:latin typeface="Calibri" pitchFamily="34" charset="0"/>
                <a:ea typeface="Calibri" pitchFamily="34" charset="-122"/>
                <a:cs typeface="Calibri" pitchFamily="34" charset="-120"/>
              </a:rPr>
              <a:t>El año 2 sigue con EBITDA positivo con 20 % menos volumen o con 10 % menos precio, aunque el margen se estrecha. Si ocurren ambos a la vez, hay pérdida: la gestión comercial, el volumen mínimo en los contratos y la cartera son críticos.</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2E9E6A"/>
                </a:solidFill>
                <a:latin typeface="Calibri" pitchFamily="34" charset="0"/>
                <a:ea typeface="Calibri" pitchFamily="34" charset="-122"/>
                <a:cs typeface="Calibri" pitchFamily="34" charset="-120"/>
              </a:rPr>
              <a:t>IMPACTO</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Impacto en el sistema de salud de Bucaramanga</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234440"/>
            <a:ext cx="2624328" cy="1463040"/>
          </a:xfrm>
          <a:prstGeom prst="roundRect">
            <a:avLst>
              <a:gd name="adj" fmla="val 5000"/>
            </a:avLst>
          </a:prstGeom>
          <a:solidFill>
            <a:srgbClr val="EEF6F6"/>
          </a:solidFill>
          <a:ln w="6350">
            <a:solidFill>
              <a:srgbClr val="EEF6F6"/>
            </a:solidFill>
            <a:prstDash val="solid"/>
          </a:ln>
        </p:spPr>
      </p:sp>
      <p:sp>
        <p:nvSpPr>
          <p:cNvPr id="6" name="Text 4"/>
          <p:cNvSpPr txBox="1"/>
          <p:nvPr/>
        </p:nvSpPr>
        <p:spPr>
          <a:xfrm>
            <a:off x="457200" y="1325880"/>
            <a:ext cx="2624328" cy="731520"/>
          </a:xfrm>
          <a:prstGeom prst="rect">
            <a:avLst/>
          </a:prstGeom>
          <a:noFill/>
          <a:ln/>
        </p:spPr>
        <p:txBody>
          <a:bodyPr wrap="square" lIns="0" tIns="0" rIns="0" bIns="0" rtlCol="0" anchor="ctr"/>
          <a:lstStyle/>
          <a:p>
            <a:pPr algn="ctr" indent="0" marL="0">
              <a:buNone/>
            </a:pPr>
            <a:r>
              <a:rPr lang="en-US" sz="3600" b="1" dirty="0">
                <a:solidFill>
                  <a:srgbClr val="0E7C86"/>
                </a:solidFill>
                <a:latin typeface="Calibri" pitchFamily="34" charset="0"/>
                <a:ea typeface="Calibri" pitchFamily="34" charset="-122"/>
                <a:cs typeface="Calibri" pitchFamily="34" charset="-120"/>
              </a:rPr>
              <a:t>6.336</a:t>
            </a:r>
            <a:endParaRPr lang="en-US" sz="3600" dirty="0"/>
          </a:p>
        </p:txBody>
      </p:sp>
      <p:sp>
        <p:nvSpPr>
          <p:cNvPr id="7" name="Text 5"/>
          <p:cNvSpPr txBox="1"/>
          <p:nvPr/>
        </p:nvSpPr>
        <p:spPr>
          <a:xfrm>
            <a:off x="548640" y="2057400"/>
            <a:ext cx="2441448" cy="548640"/>
          </a:xfrm>
          <a:prstGeom prst="rect">
            <a:avLst/>
          </a:prstGeom>
          <a:noFill/>
          <a:ln/>
        </p:spPr>
        <p:txBody>
          <a:bodyPr wrap="square" lIns="0" tIns="0" rIns="0" bIns="0" rtlCol="0" anchor="t"/>
          <a:lstStyle/>
          <a:p>
            <a:pPr algn="ctr" indent="0" marL="0">
              <a:buNone/>
            </a:pPr>
            <a:r>
              <a:rPr lang="en-US" sz="1200" dirty="0">
                <a:solidFill>
                  <a:srgbClr val="5F6F7C"/>
                </a:solidFill>
                <a:latin typeface="Calibri" pitchFamily="34" charset="0"/>
                <a:ea typeface="Calibri" pitchFamily="34" charset="-122"/>
                <a:cs typeface="Calibri" pitchFamily="34" charset="-120"/>
              </a:rPr>
              <a:t>días-cama liberados en el año 1</a:t>
            </a:r>
            <a:endParaRPr lang="en-US" sz="1200" dirty="0"/>
          </a:p>
        </p:txBody>
      </p:sp>
      <p:sp>
        <p:nvSpPr>
          <p:cNvPr id="8" name="Shape 6"/>
          <p:cNvSpPr/>
          <p:nvPr/>
        </p:nvSpPr>
        <p:spPr>
          <a:xfrm>
            <a:off x="3264408" y="1234440"/>
            <a:ext cx="2624328" cy="1463040"/>
          </a:xfrm>
          <a:prstGeom prst="roundRect">
            <a:avLst>
              <a:gd name="adj" fmla="val 5000"/>
            </a:avLst>
          </a:prstGeom>
          <a:solidFill>
            <a:srgbClr val="EEF6F6"/>
          </a:solidFill>
          <a:ln w="6350">
            <a:solidFill>
              <a:srgbClr val="EEF6F6"/>
            </a:solidFill>
            <a:prstDash val="solid"/>
          </a:ln>
        </p:spPr>
      </p:sp>
      <p:sp>
        <p:nvSpPr>
          <p:cNvPr id="9" name="Text 7"/>
          <p:cNvSpPr txBox="1"/>
          <p:nvPr/>
        </p:nvSpPr>
        <p:spPr>
          <a:xfrm>
            <a:off x="3264408" y="1325880"/>
            <a:ext cx="2624328" cy="731520"/>
          </a:xfrm>
          <a:prstGeom prst="rect">
            <a:avLst/>
          </a:prstGeom>
          <a:noFill/>
          <a:ln/>
        </p:spPr>
        <p:txBody>
          <a:bodyPr wrap="square" lIns="0" tIns="0" rIns="0" bIns="0" rtlCol="0" anchor="ctr"/>
          <a:lstStyle/>
          <a:p>
            <a:pPr algn="ctr" indent="0" marL="0">
              <a:buNone/>
            </a:pPr>
            <a:r>
              <a:rPr lang="en-US" sz="3600" b="1" dirty="0">
                <a:solidFill>
                  <a:srgbClr val="2E9E6A"/>
                </a:solidFill>
                <a:latin typeface="Calibri" pitchFamily="34" charset="0"/>
                <a:ea typeface="Calibri" pitchFamily="34" charset="-122"/>
                <a:cs typeface="Calibri" pitchFamily="34" charset="-120"/>
              </a:rPr>
              <a:t>13.440</a:t>
            </a:r>
            <a:endParaRPr lang="en-US" sz="3600" dirty="0"/>
          </a:p>
        </p:txBody>
      </p:sp>
      <p:sp>
        <p:nvSpPr>
          <p:cNvPr id="10" name="Text 8"/>
          <p:cNvSpPr txBox="1"/>
          <p:nvPr/>
        </p:nvSpPr>
        <p:spPr>
          <a:xfrm>
            <a:off x="3355848" y="2057400"/>
            <a:ext cx="2441448" cy="548640"/>
          </a:xfrm>
          <a:prstGeom prst="rect">
            <a:avLst/>
          </a:prstGeom>
          <a:noFill/>
          <a:ln/>
        </p:spPr>
        <p:txBody>
          <a:bodyPr wrap="square" lIns="0" tIns="0" rIns="0" bIns="0" rtlCol="0" anchor="t"/>
          <a:lstStyle/>
          <a:p>
            <a:pPr algn="ctr" indent="0" marL="0">
              <a:buNone/>
            </a:pPr>
            <a:r>
              <a:rPr lang="en-US" sz="1200" dirty="0">
                <a:solidFill>
                  <a:srgbClr val="5F6F7C"/>
                </a:solidFill>
                <a:latin typeface="Calibri" pitchFamily="34" charset="0"/>
                <a:ea typeface="Calibri" pitchFamily="34" charset="-122"/>
                <a:cs typeface="Calibri" pitchFamily="34" charset="-120"/>
              </a:rPr>
              <a:t>días-cama liberados en el año 2</a:t>
            </a:r>
            <a:endParaRPr lang="en-US" sz="1200" dirty="0"/>
          </a:p>
        </p:txBody>
      </p:sp>
      <p:sp>
        <p:nvSpPr>
          <p:cNvPr id="11" name="Shape 9"/>
          <p:cNvSpPr/>
          <p:nvPr/>
        </p:nvSpPr>
        <p:spPr>
          <a:xfrm>
            <a:off x="6071616" y="1234440"/>
            <a:ext cx="2624328" cy="1463040"/>
          </a:xfrm>
          <a:prstGeom prst="roundRect">
            <a:avLst>
              <a:gd name="adj" fmla="val 5000"/>
            </a:avLst>
          </a:prstGeom>
          <a:solidFill>
            <a:srgbClr val="EEF6F6"/>
          </a:solidFill>
          <a:ln w="6350">
            <a:solidFill>
              <a:srgbClr val="EEF6F6"/>
            </a:solidFill>
            <a:prstDash val="solid"/>
          </a:ln>
        </p:spPr>
      </p:sp>
      <p:sp>
        <p:nvSpPr>
          <p:cNvPr id="12" name="Text 10"/>
          <p:cNvSpPr txBox="1"/>
          <p:nvPr/>
        </p:nvSpPr>
        <p:spPr>
          <a:xfrm>
            <a:off x="6071616" y="1325880"/>
            <a:ext cx="2624328" cy="731520"/>
          </a:xfrm>
          <a:prstGeom prst="rect">
            <a:avLst/>
          </a:prstGeom>
          <a:noFill/>
          <a:ln/>
        </p:spPr>
        <p:txBody>
          <a:bodyPr wrap="square" lIns="0" tIns="0" rIns="0" bIns="0" rtlCol="0" anchor="ctr"/>
          <a:lstStyle/>
          <a:p>
            <a:pPr algn="ctr" indent="0" marL="0">
              <a:buNone/>
            </a:pPr>
            <a:r>
              <a:rPr lang="en-US" sz="3600" b="1" dirty="0">
                <a:solidFill>
                  <a:srgbClr val="2E9E6A"/>
                </a:solidFill>
                <a:latin typeface="Calibri" pitchFamily="34" charset="0"/>
                <a:ea typeface="Calibri" pitchFamily="34" charset="-122"/>
                <a:cs typeface="Calibri" pitchFamily="34" charset="-120"/>
              </a:rPr>
              <a:t>21.120</a:t>
            </a:r>
            <a:endParaRPr lang="en-US" sz="3600" dirty="0"/>
          </a:p>
        </p:txBody>
      </p:sp>
      <p:sp>
        <p:nvSpPr>
          <p:cNvPr id="13" name="Text 11"/>
          <p:cNvSpPr txBox="1"/>
          <p:nvPr/>
        </p:nvSpPr>
        <p:spPr>
          <a:xfrm>
            <a:off x="6163056" y="2057400"/>
            <a:ext cx="2441448" cy="548640"/>
          </a:xfrm>
          <a:prstGeom prst="rect">
            <a:avLst/>
          </a:prstGeom>
          <a:noFill/>
          <a:ln/>
        </p:spPr>
        <p:txBody>
          <a:bodyPr wrap="square" lIns="0" tIns="0" rIns="0" bIns="0" rtlCol="0" anchor="t"/>
          <a:lstStyle/>
          <a:p>
            <a:pPr algn="ctr" indent="0" marL="0">
              <a:buNone/>
            </a:pPr>
            <a:r>
              <a:rPr lang="en-US" sz="1200" dirty="0">
                <a:solidFill>
                  <a:srgbClr val="5F6F7C"/>
                </a:solidFill>
                <a:latin typeface="Calibri" pitchFamily="34" charset="0"/>
                <a:ea typeface="Calibri" pitchFamily="34" charset="-122"/>
                <a:cs typeface="Calibri" pitchFamily="34" charset="-120"/>
              </a:rPr>
              <a:t>días-cama liberados en el año 3</a:t>
            </a:r>
            <a:endParaRPr lang="en-US" sz="1200" dirty="0"/>
          </a:p>
        </p:txBody>
      </p:sp>
      <p:sp>
        <p:nvSpPr>
          <p:cNvPr id="14" name="Shape 12"/>
          <p:cNvSpPr/>
          <p:nvPr/>
        </p:nvSpPr>
        <p:spPr>
          <a:xfrm>
            <a:off x="457200" y="2880360"/>
            <a:ext cx="8229600" cy="1828800"/>
          </a:xfrm>
          <a:prstGeom prst="roundRect">
            <a:avLst>
              <a:gd name="adj" fmla="val 4000"/>
            </a:avLst>
          </a:prstGeom>
          <a:solidFill>
            <a:srgbClr val="0B2236"/>
          </a:solidFill>
          <a:ln w="6350">
            <a:solidFill>
              <a:srgbClr val="0B2236"/>
            </a:solidFill>
            <a:prstDash val="solid"/>
          </a:ln>
        </p:spPr>
      </p:sp>
      <p:sp>
        <p:nvSpPr>
          <p:cNvPr id="15" name="Text 13"/>
          <p:cNvSpPr txBox="1"/>
          <p:nvPr/>
        </p:nvSpPr>
        <p:spPr>
          <a:xfrm>
            <a:off x="640080" y="2971800"/>
            <a:ext cx="3200400" cy="914400"/>
          </a:xfrm>
          <a:prstGeom prst="rect">
            <a:avLst/>
          </a:prstGeom>
          <a:noFill/>
          <a:ln/>
        </p:spPr>
        <p:txBody>
          <a:bodyPr wrap="square" lIns="0" tIns="0" rIns="0" bIns="0" rtlCol="0" anchor="ctr"/>
          <a:lstStyle/>
          <a:p>
            <a:pPr indent="0" marL="0">
              <a:buNone/>
            </a:pPr>
            <a:r>
              <a:rPr lang="en-US" sz="4000" b="1" dirty="0">
                <a:solidFill>
                  <a:srgbClr val="14A3A8"/>
                </a:solidFill>
                <a:latin typeface="Calibri" pitchFamily="34" charset="0"/>
                <a:ea typeface="Calibri" pitchFamily="34" charset="-122"/>
                <a:cs typeface="Calibri" pitchFamily="34" charset="-120"/>
              </a:rPr>
              <a:t>≈ 37 → 58</a:t>
            </a:r>
            <a:endParaRPr lang="en-US" sz="4000" dirty="0"/>
          </a:p>
        </p:txBody>
      </p:sp>
      <p:sp>
        <p:nvSpPr>
          <p:cNvPr id="16" name="Text 14"/>
          <p:cNvSpPr txBox="1"/>
          <p:nvPr/>
        </p:nvSpPr>
        <p:spPr>
          <a:xfrm>
            <a:off x="640080" y="3886200"/>
            <a:ext cx="3200400" cy="685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camas hospitalarias liberadas cada día (años 2 y 3)</a:t>
            </a:r>
            <a:endParaRPr lang="en-US" sz="1300" dirty="0"/>
          </a:p>
        </p:txBody>
      </p:sp>
      <p:sp>
        <p:nvSpPr>
          <p:cNvPr id="17" name="Text 15"/>
          <p:cNvSpPr txBox="1"/>
          <p:nvPr/>
        </p:nvSpPr>
        <p:spPr>
          <a:xfrm>
            <a:off x="4023360" y="3017520"/>
            <a:ext cx="4480560" cy="1554480"/>
          </a:xfrm>
          <a:prstGeom prst="rect">
            <a:avLst/>
          </a:prstGeom>
          <a:noFill/>
          <a:ln/>
        </p:spPr>
        <p:txBody>
          <a:bodyPr wrap="square" lIns="0" tIns="0" rIns="0" bIns="0" rtlCol="0" anchor="ctr"/>
          <a:lstStyle/>
          <a:p>
            <a:pPr indent="0" marL="0">
              <a:buNone/>
            </a:pPr>
            <a:r>
              <a:rPr lang="en-US" sz="1300" dirty="0">
                <a:solidFill>
                  <a:srgbClr val="E3EEF2"/>
                </a:solidFill>
                <a:latin typeface="Calibri" pitchFamily="34" charset="0"/>
                <a:ea typeface="Calibri" pitchFamily="34" charset="-122"/>
                <a:cs typeface="Calibri" pitchFamily="34" charset="-120"/>
              </a:rPr>
              <a:t>Equivale a abrir un piso completo de hospitalización sin construir nada: más camas para urgencias, cirugía y pacientes que sí necesitan el hospital, y menos exposición de los pacientes a infecciones intrahospitalarias.</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F26B4E"/>
                </a:solidFill>
                <a:latin typeface="Calibri" pitchFamily="34" charset="0"/>
                <a:ea typeface="Calibri" pitchFamily="34" charset="-122"/>
                <a:cs typeface="Calibri" pitchFamily="34" charset="-120"/>
              </a:rPr>
              <a:t>RIESGOS</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Riesgos y estrategias de mitigación</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Shape 3"/>
          <p:cNvSpPr/>
          <p:nvPr/>
        </p:nvSpPr>
        <p:spPr>
          <a:xfrm>
            <a:off x="457200" y="1188720"/>
            <a:ext cx="8229600" cy="521208"/>
          </a:xfrm>
          <a:prstGeom prst="roundRect">
            <a:avLst>
              <a:gd name="adj" fmla="val 14035"/>
            </a:avLst>
          </a:prstGeom>
          <a:solidFill>
            <a:srgbClr val="EEF6F6"/>
          </a:solidFill>
          <a:ln w="6350">
            <a:solidFill>
              <a:srgbClr val="EEF6F6"/>
            </a:solidFill>
            <a:prstDash val="solid"/>
          </a:ln>
        </p:spPr>
      </p:sp>
      <p:sp>
        <p:nvSpPr>
          <p:cNvPr id="6" name="Shape 4"/>
          <p:cNvSpPr/>
          <p:nvPr/>
        </p:nvSpPr>
        <p:spPr>
          <a:xfrm>
            <a:off x="594360" y="1362456"/>
            <a:ext cx="182880" cy="182880"/>
          </a:xfrm>
          <a:prstGeom prst="ellipse">
            <a:avLst/>
          </a:prstGeom>
          <a:solidFill>
            <a:srgbClr val="D64545"/>
          </a:solidFill>
          <a:ln w="12700">
            <a:solidFill>
              <a:srgbClr val="D64545"/>
            </a:solidFill>
            <a:prstDash val="solid"/>
          </a:ln>
        </p:spPr>
      </p:sp>
      <p:sp>
        <p:nvSpPr>
          <p:cNvPr id="7" name="Text 5"/>
          <p:cNvSpPr txBox="1"/>
          <p:nvPr/>
        </p:nvSpPr>
        <p:spPr>
          <a:xfrm>
            <a:off x="914400" y="1188720"/>
            <a:ext cx="2743200" cy="521208"/>
          </a:xfrm>
          <a:prstGeom prst="rect">
            <a:avLst/>
          </a:prstGeom>
          <a:noFill/>
          <a:ln/>
        </p:spPr>
        <p:txBody>
          <a:bodyPr wrap="square" lIns="0" tIns="0" rIns="0" bIns="0" rtlCol="0" anchor="ctr"/>
          <a:lstStyle/>
          <a:p>
            <a:pPr indent="0" marL="0">
              <a:buNone/>
            </a:pPr>
            <a:r>
              <a:rPr lang="en-US" sz="1200" b="1" dirty="0">
                <a:solidFill>
                  <a:srgbClr val="0B2236"/>
                </a:solidFill>
                <a:latin typeface="Calibri" pitchFamily="34" charset="0"/>
                <a:ea typeface="Calibri" pitchFamily="34" charset="-122"/>
                <a:cs typeface="Calibri" pitchFamily="34" charset="-120"/>
              </a:rPr>
              <a:t>Cartera y glosas de las EPS</a:t>
            </a:r>
            <a:endParaRPr lang="en-US" sz="1200" dirty="0"/>
          </a:p>
        </p:txBody>
      </p:sp>
      <p:sp>
        <p:nvSpPr>
          <p:cNvPr id="8" name="Text 6"/>
          <p:cNvSpPr txBox="1"/>
          <p:nvPr/>
        </p:nvSpPr>
        <p:spPr>
          <a:xfrm>
            <a:off x="3703320" y="1188720"/>
            <a:ext cx="4892040" cy="521208"/>
          </a:xfrm>
          <a:prstGeom prst="rect">
            <a:avLst/>
          </a:prstGeom>
          <a:noFill/>
          <a:ln/>
        </p:spPr>
        <p:txBody>
          <a:bodyPr wrap="square" lIns="0" tIns="0" rIns="0" bIns="0" rtlCol="0" anchor="ctr"/>
          <a:lstStyle/>
          <a:p>
            <a:pPr indent="0" marL="0">
              <a:buNone/>
            </a:pPr>
            <a:r>
              <a:rPr lang="en-US" sz="1100" dirty="0">
                <a:solidFill>
                  <a:srgbClr val="1D2B36"/>
                </a:solidFill>
                <a:latin typeface="Calibri" pitchFamily="34" charset="0"/>
                <a:ea typeface="Calibri" pitchFamily="34" charset="-122"/>
                <a:cs typeface="Calibri" pitchFamily="34" charset="-120"/>
              </a:rPr>
              <a:t>Pago anticipado parcial, factoring, auditoría concurrente y diversificación hacia clínicas y prepagadas</a:t>
            </a:r>
            <a:endParaRPr lang="en-US" sz="1100" dirty="0"/>
          </a:p>
        </p:txBody>
      </p:sp>
      <p:sp>
        <p:nvSpPr>
          <p:cNvPr id="9" name="Shape 7"/>
          <p:cNvSpPr/>
          <p:nvPr/>
        </p:nvSpPr>
        <p:spPr>
          <a:xfrm>
            <a:off x="457200" y="1783080"/>
            <a:ext cx="8229600" cy="521208"/>
          </a:xfrm>
          <a:prstGeom prst="roundRect">
            <a:avLst>
              <a:gd name="adj" fmla="val 14035"/>
            </a:avLst>
          </a:prstGeom>
          <a:solidFill>
            <a:srgbClr val="EEF6F6"/>
          </a:solidFill>
          <a:ln w="6350">
            <a:solidFill>
              <a:srgbClr val="EEF6F6"/>
            </a:solidFill>
            <a:prstDash val="solid"/>
          </a:ln>
        </p:spPr>
      </p:sp>
      <p:sp>
        <p:nvSpPr>
          <p:cNvPr id="10" name="Shape 8"/>
          <p:cNvSpPr/>
          <p:nvPr/>
        </p:nvSpPr>
        <p:spPr>
          <a:xfrm>
            <a:off x="594360" y="1956816"/>
            <a:ext cx="182880" cy="182880"/>
          </a:xfrm>
          <a:prstGeom prst="ellipse">
            <a:avLst/>
          </a:prstGeom>
          <a:solidFill>
            <a:srgbClr val="D64545"/>
          </a:solidFill>
          <a:ln w="12700">
            <a:solidFill>
              <a:srgbClr val="D64545"/>
            </a:solidFill>
            <a:prstDash val="solid"/>
          </a:ln>
        </p:spPr>
      </p:sp>
      <p:sp>
        <p:nvSpPr>
          <p:cNvPr id="11" name="Text 9"/>
          <p:cNvSpPr txBox="1"/>
          <p:nvPr/>
        </p:nvSpPr>
        <p:spPr>
          <a:xfrm>
            <a:off x="914400" y="1783080"/>
            <a:ext cx="2743200" cy="521208"/>
          </a:xfrm>
          <a:prstGeom prst="rect">
            <a:avLst/>
          </a:prstGeom>
          <a:noFill/>
          <a:ln/>
        </p:spPr>
        <p:txBody>
          <a:bodyPr wrap="square" lIns="0" tIns="0" rIns="0" bIns="0" rtlCol="0" anchor="ctr"/>
          <a:lstStyle/>
          <a:p>
            <a:pPr indent="0" marL="0">
              <a:buNone/>
            </a:pPr>
            <a:r>
              <a:rPr lang="en-US" sz="1200" b="1" dirty="0">
                <a:solidFill>
                  <a:srgbClr val="0B2236"/>
                </a:solidFill>
                <a:latin typeface="Calibri" pitchFamily="34" charset="0"/>
                <a:ea typeface="Calibri" pitchFamily="34" charset="-122"/>
                <a:cs typeface="Calibri" pitchFamily="34" charset="-120"/>
              </a:rPr>
              <a:t>Complicaciones en casa</a:t>
            </a:r>
            <a:endParaRPr lang="en-US" sz="1200" dirty="0"/>
          </a:p>
        </p:txBody>
      </p:sp>
      <p:sp>
        <p:nvSpPr>
          <p:cNvPr id="12" name="Text 10"/>
          <p:cNvSpPr txBox="1"/>
          <p:nvPr/>
        </p:nvSpPr>
        <p:spPr>
          <a:xfrm>
            <a:off x="3703320" y="1783080"/>
            <a:ext cx="4892040" cy="521208"/>
          </a:xfrm>
          <a:prstGeom prst="rect">
            <a:avLst/>
          </a:prstGeom>
          <a:noFill/>
          <a:ln/>
        </p:spPr>
        <p:txBody>
          <a:bodyPr wrap="square" lIns="0" tIns="0" rIns="0" bIns="0" rtlCol="0" anchor="ctr"/>
          <a:lstStyle/>
          <a:p>
            <a:pPr indent="0" marL="0">
              <a:buNone/>
            </a:pPr>
            <a:r>
              <a:rPr lang="en-US" sz="1100" dirty="0">
                <a:solidFill>
                  <a:srgbClr val="1D2B36"/>
                </a:solidFill>
                <a:latin typeface="Calibri" pitchFamily="34" charset="0"/>
                <a:ea typeface="Calibri" pitchFamily="34" charset="-122"/>
                <a:cs typeface="Calibri" pitchFamily="34" charset="-120"/>
              </a:rPr>
              <a:t>Selección estricta, protocolos IDSA, línea 24/7, retorno prioritario a la clínica y póliza de responsabilidad</a:t>
            </a:r>
            <a:endParaRPr lang="en-US" sz="1100" dirty="0"/>
          </a:p>
        </p:txBody>
      </p:sp>
      <p:sp>
        <p:nvSpPr>
          <p:cNvPr id="13" name="Shape 11"/>
          <p:cNvSpPr/>
          <p:nvPr/>
        </p:nvSpPr>
        <p:spPr>
          <a:xfrm>
            <a:off x="457200" y="2377440"/>
            <a:ext cx="8229600" cy="521208"/>
          </a:xfrm>
          <a:prstGeom prst="roundRect">
            <a:avLst>
              <a:gd name="adj" fmla="val 14035"/>
            </a:avLst>
          </a:prstGeom>
          <a:solidFill>
            <a:srgbClr val="EEF6F6"/>
          </a:solidFill>
          <a:ln w="6350">
            <a:solidFill>
              <a:srgbClr val="EEF6F6"/>
            </a:solidFill>
            <a:prstDash val="solid"/>
          </a:ln>
        </p:spPr>
      </p:sp>
      <p:sp>
        <p:nvSpPr>
          <p:cNvPr id="14" name="Shape 12"/>
          <p:cNvSpPr/>
          <p:nvPr/>
        </p:nvSpPr>
        <p:spPr>
          <a:xfrm>
            <a:off x="594360" y="2551176"/>
            <a:ext cx="182880" cy="182880"/>
          </a:xfrm>
          <a:prstGeom prst="ellipse">
            <a:avLst/>
          </a:prstGeom>
          <a:solidFill>
            <a:srgbClr val="E9A23B"/>
          </a:solidFill>
          <a:ln w="12700">
            <a:solidFill>
              <a:srgbClr val="E9A23B"/>
            </a:solidFill>
            <a:prstDash val="solid"/>
          </a:ln>
        </p:spPr>
      </p:sp>
      <p:sp>
        <p:nvSpPr>
          <p:cNvPr id="15" name="Text 13"/>
          <p:cNvSpPr txBox="1"/>
          <p:nvPr/>
        </p:nvSpPr>
        <p:spPr>
          <a:xfrm>
            <a:off x="914400" y="2377440"/>
            <a:ext cx="2743200" cy="521208"/>
          </a:xfrm>
          <a:prstGeom prst="rect">
            <a:avLst/>
          </a:prstGeom>
          <a:noFill/>
          <a:ln/>
        </p:spPr>
        <p:txBody>
          <a:bodyPr wrap="square" lIns="0" tIns="0" rIns="0" bIns="0" rtlCol="0" anchor="ctr"/>
          <a:lstStyle/>
          <a:p>
            <a:pPr indent="0" marL="0">
              <a:buNone/>
            </a:pPr>
            <a:r>
              <a:rPr lang="en-US" sz="1200" b="1" dirty="0">
                <a:solidFill>
                  <a:srgbClr val="0B2236"/>
                </a:solidFill>
                <a:latin typeface="Calibri" pitchFamily="34" charset="0"/>
                <a:ea typeface="Calibri" pitchFamily="34" charset="-122"/>
                <a:cs typeface="Calibri" pitchFamily="34" charset="-120"/>
              </a:rPr>
              <a:t>Desabastecimiento de antibióticos</a:t>
            </a:r>
            <a:endParaRPr lang="en-US" sz="1200" dirty="0"/>
          </a:p>
        </p:txBody>
      </p:sp>
      <p:sp>
        <p:nvSpPr>
          <p:cNvPr id="16" name="Text 14"/>
          <p:cNvSpPr txBox="1"/>
          <p:nvPr/>
        </p:nvSpPr>
        <p:spPr>
          <a:xfrm>
            <a:off x="3703320" y="2377440"/>
            <a:ext cx="4892040" cy="521208"/>
          </a:xfrm>
          <a:prstGeom prst="rect">
            <a:avLst/>
          </a:prstGeom>
          <a:noFill/>
          <a:ln/>
        </p:spPr>
        <p:txBody>
          <a:bodyPr wrap="square" lIns="0" tIns="0" rIns="0" bIns="0" rtlCol="0" anchor="ctr"/>
          <a:lstStyle/>
          <a:p>
            <a:pPr indent="0" marL="0">
              <a:buNone/>
            </a:pPr>
            <a:r>
              <a:rPr lang="en-US" sz="1100" dirty="0">
                <a:solidFill>
                  <a:srgbClr val="1D2B36"/>
                </a:solidFill>
                <a:latin typeface="Calibri" pitchFamily="34" charset="0"/>
                <a:ea typeface="Calibri" pitchFamily="34" charset="-122"/>
                <a:cs typeface="Calibri" pitchFamily="34" charset="-120"/>
              </a:rPr>
              <a:t>Dos proveedores por molécula, inventario de seguridad y alternativas en el protocolo</a:t>
            </a:r>
            <a:endParaRPr lang="en-US" sz="1100" dirty="0"/>
          </a:p>
        </p:txBody>
      </p:sp>
      <p:sp>
        <p:nvSpPr>
          <p:cNvPr id="17" name="Shape 15"/>
          <p:cNvSpPr/>
          <p:nvPr/>
        </p:nvSpPr>
        <p:spPr>
          <a:xfrm>
            <a:off x="457200" y="2971800"/>
            <a:ext cx="8229600" cy="521208"/>
          </a:xfrm>
          <a:prstGeom prst="roundRect">
            <a:avLst>
              <a:gd name="adj" fmla="val 14035"/>
            </a:avLst>
          </a:prstGeom>
          <a:solidFill>
            <a:srgbClr val="EEF6F6"/>
          </a:solidFill>
          <a:ln w="6350">
            <a:solidFill>
              <a:srgbClr val="EEF6F6"/>
            </a:solidFill>
            <a:prstDash val="solid"/>
          </a:ln>
        </p:spPr>
      </p:sp>
      <p:sp>
        <p:nvSpPr>
          <p:cNvPr id="18" name="Shape 16"/>
          <p:cNvSpPr/>
          <p:nvPr/>
        </p:nvSpPr>
        <p:spPr>
          <a:xfrm>
            <a:off x="594360" y="3145536"/>
            <a:ext cx="182880" cy="182880"/>
          </a:xfrm>
          <a:prstGeom prst="ellipse">
            <a:avLst/>
          </a:prstGeom>
          <a:solidFill>
            <a:srgbClr val="E9A23B"/>
          </a:solidFill>
          <a:ln w="12700">
            <a:solidFill>
              <a:srgbClr val="E9A23B"/>
            </a:solidFill>
            <a:prstDash val="solid"/>
          </a:ln>
        </p:spPr>
      </p:sp>
      <p:sp>
        <p:nvSpPr>
          <p:cNvPr id="19" name="Text 17"/>
          <p:cNvSpPr txBox="1"/>
          <p:nvPr/>
        </p:nvSpPr>
        <p:spPr>
          <a:xfrm>
            <a:off x="914400" y="2971800"/>
            <a:ext cx="2743200" cy="521208"/>
          </a:xfrm>
          <a:prstGeom prst="rect">
            <a:avLst/>
          </a:prstGeom>
          <a:noFill/>
          <a:ln/>
        </p:spPr>
        <p:txBody>
          <a:bodyPr wrap="square" lIns="0" tIns="0" rIns="0" bIns="0" rtlCol="0" anchor="ctr"/>
          <a:lstStyle/>
          <a:p>
            <a:pPr indent="0" marL="0">
              <a:buNone/>
            </a:pPr>
            <a:r>
              <a:rPr lang="en-US" sz="1200" b="1" dirty="0">
                <a:solidFill>
                  <a:srgbClr val="0B2236"/>
                </a:solidFill>
                <a:latin typeface="Calibri" pitchFamily="34" charset="0"/>
                <a:ea typeface="Calibri" pitchFamily="34" charset="-122"/>
                <a:cs typeface="Calibri" pitchFamily="34" charset="-120"/>
              </a:rPr>
              <a:t>Paso temprano a vía oral (OVIVA, POET)</a:t>
            </a:r>
            <a:endParaRPr lang="en-US" sz="1200" dirty="0"/>
          </a:p>
        </p:txBody>
      </p:sp>
      <p:sp>
        <p:nvSpPr>
          <p:cNvPr id="20" name="Text 18"/>
          <p:cNvSpPr txBox="1"/>
          <p:nvPr/>
        </p:nvSpPr>
        <p:spPr>
          <a:xfrm>
            <a:off x="3703320" y="2971800"/>
            <a:ext cx="4892040" cy="521208"/>
          </a:xfrm>
          <a:prstGeom prst="rect">
            <a:avLst/>
          </a:prstGeom>
          <a:noFill/>
          <a:ln/>
        </p:spPr>
        <p:txBody>
          <a:bodyPr wrap="square" lIns="0" tIns="0" rIns="0" bIns="0" rtlCol="0" anchor="ctr"/>
          <a:lstStyle/>
          <a:p>
            <a:pPr indent="0" marL="0">
              <a:buNone/>
            </a:pPr>
            <a:r>
              <a:rPr lang="en-US" sz="1100" dirty="0">
                <a:solidFill>
                  <a:srgbClr val="1D2B36"/>
                </a:solidFill>
                <a:latin typeface="Calibri" pitchFamily="34" charset="0"/>
                <a:ea typeface="Calibri" pitchFamily="34" charset="-122"/>
                <a:cs typeface="Calibri" pitchFamily="34" charset="-120"/>
              </a:rPr>
              <a:t>Ofrecer dentro del paquete la transición supervisada a vía oral: el cliente se mantiene</a:t>
            </a:r>
            <a:endParaRPr lang="en-US" sz="1100" dirty="0"/>
          </a:p>
        </p:txBody>
      </p:sp>
      <p:sp>
        <p:nvSpPr>
          <p:cNvPr id="21" name="Shape 19"/>
          <p:cNvSpPr/>
          <p:nvPr/>
        </p:nvSpPr>
        <p:spPr>
          <a:xfrm>
            <a:off x="457200" y="3566160"/>
            <a:ext cx="8229600" cy="521208"/>
          </a:xfrm>
          <a:prstGeom prst="roundRect">
            <a:avLst>
              <a:gd name="adj" fmla="val 14035"/>
            </a:avLst>
          </a:prstGeom>
          <a:solidFill>
            <a:srgbClr val="EEF6F6"/>
          </a:solidFill>
          <a:ln w="6350">
            <a:solidFill>
              <a:srgbClr val="EEF6F6"/>
            </a:solidFill>
            <a:prstDash val="solid"/>
          </a:ln>
        </p:spPr>
      </p:sp>
      <p:sp>
        <p:nvSpPr>
          <p:cNvPr id="22" name="Shape 20"/>
          <p:cNvSpPr/>
          <p:nvPr/>
        </p:nvSpPr>
        <p:spPr>
          <a:xfrm>
            <a:off x="594360" y="3739896"/>
            <a:ext cx="182880" cy="182880"/>
          </a:xfrm>
          <a:prstGeom prst="ellipse">
            <a:avLst/>
          </a:prstGeom>
          <a:solidFill>
            <a:srgbClr val="0E7C86"/>
          </a:solidFill>
          <a:ln w="12700">
            <a:solidFill>
              <a:srgbClr val="0E7C86"/>
            </a:solidFill>
            <a:prstDash val="solid"/>
          </a:ln>
        </p:spPr>
      </p:sp>
      <p:sp>
        <p:nvSpPr>
          <p:cNvPr id="23" name="Text 21"/>
          <p:cNvSpPr txBox="1"/>
          <p:nvPr/>
        </p:nvSpPr>
        <p:spPr>
          <a:xfrm>
            <a:off x="914400" y="3566160"/>
            <a:ext cx="2743200" cy="521208"/>
          </a:xfrm>
          <a:prstGeom prst="rect">
            <a:avLst/>
          </a:prstGeom>
          <a:noFill/>
          <a:ln/>
        </p:spPr>
        <p:txBody>
          <a:bodyPr wrap="square" lIns="0" tIns="0" rIns="0" bIns="0" rtlCol="0" anchor="ctr"/>
          <a:lstStyle/>
          <a:p>
            <a:pPr indent="0" marL="0">
              <a:buNone/>
            </a:pPr>
            <a:r>
              <a:rPr lang="en-US" sz="1200" b="1" dirty="0">
                <a:solidFill>
                  <a:srgbClr val="0B2236"/>
                </a:solidFill>
                <a:latin typeface="Calibri" pitchFamily="34" charset="0"/>
                <a:ea typeface="Calibri" pitchFamily="34" charset="-122"/>
                <a:cs typeface="Calibri" pitchFamily="34" charset="-120"/>
              </a:rPr>
              <a:t>Cambios regulatorios y reforma</a:t>
            </a:r>
            <a:endParaRPr lang="en-US" sz="1200" dirty="0"/>
          </a:p>
        </p:txBody>
      </p:sp>
      <p:sp>
        <p:nvSpPr>
          <p:cNvPr id="24" name="Text 22"/>
          <p:cNvSpPr txBox="1"/>
          <p:nvPr/>
        </p:nvSpPr>
        <p:spPr>
          <a:xfrm>
            <a:off x="3703320" y="3566160"/>
            <a:ext cx="4892040" cy="521208"/>
          </a:xfrm>
          <a:prstGeom prst="rect">
            <a:avLst/>
          </a:prstGeom>
          <a:noFill/>
          <a:ln/>
        </p:spPr>
        <p:txBody>
          <a:bodyPr wrap="square" lIns="0" tIns="0" rIns="0" bIns="0" rtlCol="0" anchor="ctr"/>
          <a:lstStyle/>
          <a:p>
            <a:pPr indent="0" marL="0">
              <a:buNone/>
            </a:pPr>
            <a:r>
              <a:rPr lang="en-US" sz="1100" dirty="0">
                <a:solidFill>
                  <a:srgbClr val="1D2B36"/>
                </a:solidFill>
                <a:latin typeface="Calibri" pitchFamily="34" charset="0"/>
                <a:ea typeface="Calibri" pitchFamily="34" charset="-122"/>
                <a:cs typeface="Calibri" pitchFamily="34" charset="-120"/>
              </a:rPr>
              <a:t>Habilitación al día, asesoría jurídica y contratos con cláusulas de ajuste</a:t>
            </a:r>
            <a:endParaRPr lang="en-US" sz="1100" dirty="0"/>
          </a:p>
        </p:txBody>
      </p:sp>
      <p:sp>
        <p:nvSpPr>
          <p:cNvPr id="25" name="Shape 23"/>
          <p:cNvSpPr/>
          <p:nvPr/>
        </p:nvSpPr>
        <p:spPr>
          <a:xfrm>
            <a:off x="457200" y="4160520"/>
            <a:ext cx="8229600" cy="521208"/>
          </a:xfrm>
          <a:prstGeom prst="roundRect">
            <a:avLst>
              <a:gd name="adj" fmla="val 14035"/>
            </a:avLst>
          </a:prstGeom>
          <a:solidFill>
            <a:srgbClr val="EEF6F6"/>
          </a:solidFill>
          <a:ln w="6350">
            <a:solidFill>
              <a:srgbClr val="EEF6F6"/>
            </a:solidFill>
            <a:prstDash val="solid"/>
          </a:ln>
        </p:spPr>
      </p:sp>
      <p:sp>
        <p:nvSpPr>
          <p:cNvPr id="26" name="Shape 24"/>
          <p:cNvSpPr/>
          <p:nvPr/>
        </p:nvSpPr>
        <p:spPr>
          <a:xfrm>
            <a:off x="594360" y="4334256"/>
            <a:ext cx="182880" cy="182880"/>
          </a:xfrm>
          <a:prstGeom prst="ellipse">
            <a:avLst/>
          </a:prstGeom>
          <a:solidFill>
            <a:srgbClr val="0E7C86"/>
          </a:solidFill>
          <a:ln w="12700">
            <a:solidFill>
              <a:srgbClr val="0E7C86"/>
            </a:solidFill>
            <a:prstDash val="solid"/>
          </a:ln>
        </p:spPr>
      </p:sp>
      <p:sp>
        <p:nvSpPr>
          <p:cNvPr id="27" name="Text 25"/>
          <p:cNvSpPr txBox="1"/>
          <p:nvPr/>
        </p:nvSpPr>
        <p:spPr>
          <a:xfrm>
            <a:off x="914400" y="4160520"/>
            <a:ext cx="2743200" cy="521208"/>
          </a:xfrm>
          <a:prstGeom prst="rect">
            <a:avLst/>
          </a:prstGeom>
          <a:noFill/>
          <a:ln/>
        </p:spPr>
        <p:txBody>
          <a:bodyPr wrap="square" lIns="0" tIns="0" rIns="0" bIns="0" rtlCol="0" anchor="ctr"/>
          <a:lstStyle/>
          <a:p>
            <a:pPr indent="0" marL="0">
              <a:buNone/>
            </a:pPr>
            <a:r>
              <a:rPr lang="en-US" sz="1200" b="1" dirty="0">
                <a:solidFill>
                  <a:srgbClr val="0B2236"/>
                </a:solidFill>
                <a:latin typeface="Calibri" pitchFamily="34" charset="0"/>
                <a:ea typeface="Calibri" pitchFamily="34" charset="-122"/>
                <a:cs typeface="Calibri" pitchFamily="34" charset="-120"/>
              </a:rPr>
              <a:t>Rotación de personal</a:t>
            </a:r>
            <a:endParaRPr lang="en-US" sz="1200" dirty="0"/>
          </a:p>
        </p:txBody>
      </p:sp>
      <p:sp>
        <p:nvSpPr>
          <p:cNvPr id="28" name="Text 26"/>
          <p:cNvSpPr txBox="1"/>
          <p:nvPr/>
        </p:nvSpPr>
        <p:spPr>
          <a:xfrm>
            <a:off x="3703320" y="4160520"/>
            <a:ext cx="4892040" cy="521208"/>
          </a:xfrm>
          <a:prstGeom prst="rect">
            <a:avLst/>
          </a:prstGeom>
          <a:noFill/>
          <a:ln/>
        </p:spPr>
        <p:txBody>
          <a:bodyPr wrap="square" lIns="0" tIns="0" rIns="0" bIns="0" rtlCol="0" anchor="ctr"/>
          <a:lstStyle/>
          <a:p>
            <a:pPr indent="0" marL="0">
              <a:buNone/>
            </a:pPr>
            <a:r>
              <a:rPr lang="en-US" sz="1100" dirty="0">
                <a:solidFill>
                  <a:srgbClr val="1D2B36"/>
                </a:solidFill>
                <a:latin typeface="Calibri" pitchFamily="34" charset="0"/>
                <a:ea typeface="Calibri" pitchFamily="34" charset="-122"/>
                <a:cs typeface="Calibri" pitchFamily="34" charset="-120"/>
              </a:rPr>
              <a:t>Plan de carrera, capacitación y esquema de incentivos por indicadores</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2236"/>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300" kern="0" dirty="0">
                <a:solidFill>
                  <a:srgbClr val="F9B7A6"/>
                </a:solidFill>
                <a:latin typeface="Calibri" pitchFamily="34" charset="0"/>
                <a:ea typeface="Calibri" pitchFamily="34" charset="-122"/>
                <a:cs typeface="Calibri" pitchFamily="34" charset="-120"/>
              </a:rPr>
              <a:t>CONCLUSIONES Y PRÓXIMOS PASOS</a:t>
            </a:r>
            <a:endParaRPr lang="en-US" sz="1200" dirty="0"/>
          </a:p>
        </p:txBody>
      </p:sp>
      <p:sp>
        <p:nvSpPr>
          <p:cNvPr id="3" name="Text 1"/>
          <p:cNvSpPr txBox="1"/>
          <p:nvPr/>
        </p:nvSpPr>
        <p:spPr>
          <a:xfrm>
            <a:off x="548640" y="685800"/>
            <a:ext cx="8046720" cy="54864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DOMUS: menos días de hospital, la misma seguridad en casa</a:t>
            </a:r>
            <a:endParaRPr lang="en-US" sz="2400" dirty="0"/>
          </a:p>
        </p:txBody>
      </p:sp>
      <p:sp>
        <p:nvSpPr>
          <p:cNvPr id="4" name="Shape 2"/>
          <p:cNvSpPr/>
          <p:nvPr/>
        </p:nvSpPr>
        <p:spPr>
          <a:xfrm>
            <a:off x="548640" y="1527048"/>
            <a:ext cx="420624" cy="420624"/>
          </a:xfrm>
          <a:prstGeom prst="ellipse">
            <a:avLst/>
          </a:prstGeom>
          <a:solidFill>
            <a:srgbClr val="0E7C86"/>
          </a:solidFill>
          <a:ln w="12700">
            <a:solidFill>
              <a:srgbClr val="0E7C86"/>
            </a:solidFill>
            <a:prstDash val="solid"/>
          </a:ln>
        </p:spPr>
      </p:sp>
      <p:sp>
        <p:nvSpPr>
          <p:cNvPr id="5" name="Text 3"/>
          <p:cNvSpPr txBox="1"/>
          <p:nvPr/>
        </p:nvSpPr>
        <p:spPr>
          <a:xfrm>
            <a:off x="548640" y="1527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88720" y="1463040"/>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Paquetes cerrados por infección y perfil de resistencia: el precio refleja el antibiótico real.</a:t>
            </a:r>
            <a:endParaRPr lang="en-US" sz="1400" dirty="0"/>
          </a:p>
        </p:txBody>
      </p:sp>
      <p:sp>
        <p:nvSpPr>
          <p:cNvPr id="7" name="Shape 5"/>
          <p:cNvSpPr/>
          <p:nvPr/>
        </p:nvSpPr>
        <p:spPr>
          <a:xfrm>
            <a:off x="548640" y="2167128"/>
            <a:ext cx="420624" cy="420624"/>
          </a:xfrm>
          <a:prstGeom prst="ellipse">
            <a:avLst/>
          </a:prstGeom>
          <a:solidFill>
            <a:srgbClr val="0E7C86"/>
          </a:solidFill>
          <a:ln w="12700">
            <a:solidFill>
              <a:srgbClr val="0E7C86"/>
            </a:solidFill>
            <a:prstDash val="solid"/>
          </a:ln>
        </p:spPr>
      </p:sp>
      <p:sp>
        <p:nvSpPr>
          <p:cNvPr id="8" name="Text 6"/>
          <p:cNvSpPr txBox="1"/>
          <p:nvPr/>
        </p:nvSpPr>
        <p:spPr>
          <a:xfrm>
            <a:off x="548640" y="21671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88720" y="2103120"/>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Todo incluido: antibiótico, aplicación, insumos y seguimiento por medicina general y medicina interna.</a:t>
            </a:r>
            <a:endParaRPr lang="en-US" sz="1400" dirty="0"/>
          </a:p>
        </p:txBody>
      </p:sp>
      <p:sp>
        <p:nvSpPr>
          <p:cNvPr id="10" name="Shape 8"/>
          <p:cNvSpPr/>
          <p:nvPr/>
        </p:nvSpPr>
        <p:spPr>
          <a:xfrm>
            <a:off x="548640" y="2807208"/>
            <a:ext cx="420624" cy="420624"/>
          </a:xfrm>
          <a:prstGeom prst="ellipse">
            <a:avLst/>
          </a:prstGeom>
          <a:solidFill>
            <a:srgbClr val="0E7C86"/>
          </a:solidFill>
          <a:ln w="12700">
            <a:solidFill>
              <a:srgbClr val="0E7C86"/>
            </a:solidFill>
            <a:prstDash val="solid"/>
          </a:ln>
        </p:spPr>
      </p:sp>
      <p:sp>
        <p:nvSpPr>
          <p:cNvPr id="11" name="Text 9"/>
          <p:cNvSpPr txBox="1"/>
          <p:nvPr/>
        </p:nvSpPr>
        <p:spPr>
          <a:xfrm>
            <a:off x="548640" y="2807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188720" y="2743200"/>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Ahorro estimado para el pagador del 24 % al 67 % por episodio, según nivel y duración.</a:t>
            </a:r>
            <a:endParaRPr lang="en-US" sz="1400" dirty="0"/>
          </a:p>
        </p:txBody>
      </p:sp>
      <p:sp>
        <p:nvSpPr>
          <p:cNvPr id="13" name="Shape 11"/>
          <p:cNvSpPr/>
          <p:nvPr/>
        </p:nvSpPr>
        <p:spPr>
          <a:xfrm>
            <a:off x="548640" y="3447288"/>
            <a:ext cx="420624" cy="420624"/>
          </a:xfrm>
          <a:prstGeom prst="ellipse">
            <a:avLst/>
          </a:prstGeom>
          <a:solidFill>
            <a:srgbClr val="0E7C86"/>
          </a:solidFill>
          <a:ln w="12700">
            <a:solidFill>
              <a:srgbClr val="0E7C86"/>
            </a:solidFill>
            <a:prstDash val="solid"/>
          </a:ln>
        </p:spPr>
      </p:sp>
      <p:sp>
        <p:nvSpPr>
          <p:cNvPr id="14" name="Text 12"/>
          <p:cNvSpPr txBox="1"/>
          <p:nvPr/>
        </p:nvSpPr>
        <p:spPr>
          <a:xfrm>
            <a:off x="548640" y="34472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188720" y="3383280"/>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Rentable desde el año 2 en el escenario base, con recuperación de la inversión hacia el mes 25.</a:t>
            </a:r>
            <a:endParaRPr lang="en-US" sz="1400" dirty="0"/>
          </a:p>
        </p:txBody>
      </p:sp>
      <p:sp>
        <p:nvSpPr>
          <p:cNvPr id="16" name="Shape 14"/>
          <p:cNvSpPr/>
          <p:nvPr/>
        </p:nvSpPr>
        <p:spPr>
          <a:xfrm>
            <a:off x="548640" y="4087368"/>
            <a:ext cx="420624" cy="420624"/>
          </a:xfrm>
          <a:prstGeom prst="ellipse">
            <a:avLst/>
          </a:prstGeom>
          <a:solidFill>
            <a:srgbClr val="F26B4E"/>
          </a:solidFill>
          <a:ln w="12700">
            <a:solidFill>
              <a:srgbClr val="F26B4E"/>
            </a:solidFill>
            <a:prstDash val="solid"/>
          </a:ln>
        </p:spPr>
      </p:sp>
      <p:sp>
        <p:nvSpPr>
          <p:cNvPr id="17" name="Text 15"/>
          <p:cNvSpPr txBox="1"/>
          <p:nvPr/>
        </p:nvSpPr>
        <p:spPr>
          <a:xfrm>
            <a:off x="548640" y="4087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188720" y="4023360"/>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Próximo paso: piloto de 3 meses con una EPS y una clínica de Bucaramanga, con indicadores medidos.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BFD3DC"/>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7772400" cy="237744"/>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REFERENCIAS</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ctr"/>
          <a:lstStyle/>
          <a:p>
            <a:pPr indent="0" marL="0">
              <a:buNone/>
            </a:pPr>
            <a:r>
              <a:rPr lang="en-US" sz="2500" b="1" dirty="0">
                <a:solidFill>
                  <a:srgbClr val="0B2236"/>
                </a:solidFill>
                <a:latin typeface="Calibri" pitchFamily="34" charset="0"/>
                <a:ea typeface="Calibri" pitchFamily="34" charset="-122"/>
                <a:cs typeface="Calibri" pitchFamily="34" charset="-120"/>
              </a:rPr>
              <a:t>Referencias</a:t>
            </a:r>
            <a:endParaRPr lang="en-US" sz="2500" dirty="0"/>
          </a:p>
        </p:txBody>
      </p:sp>
      <p:sp>
        <p:nvSpPr>
          <p:cNvPr id="4" name="Text 2"/>
          <p:cNvSpPr txBox="1"/>
          <p:nvPr/>
        </p:nvSpPr>
        <p:spPr>
          <a:xfrm>
            <a:off x="457200" y="4864608"/>
            <a:ext cx="6400800" cy="182880"/>
          </a:xfrm>
          <a:prstGeom prst="rect">
            <a:avLst/>
          </a:prstGeom>
          <a:noFill/>
          <a:ln/>
        </p:spPr>
        <p:txBody>
          <a:bodyPr wrap="square" lIns="0" tIns="0" rIns="0" bIns="0" rtlCol="0" anchor="t"/>
          <a:lstStyle/>
          <a:p>
            <a:pPr indent="0" marL="0">
              <a:buNone/>
            </a:pPr>
            <a:r>
              <a:rPr lang="en-US" sz="800" dirty="0">
                <a:solidFill>
                  <a:srgbClr val="5F6F7C"/>
                </a:solidFill>
                <a:latin typeface="Calibri" pitchFamily="34" charset="0"/>
                <a:ea typeface="Calibri" pitchFamily="34" charset="-122"/>
                <a:cs typeface="Calibri" pitchFamily="34" charset="-120"/>
              </a:rPr>
              <a:t>DOMUS · Antibioticoterapia en casa por paquetes · N. F. Sanabria Duarte</a:t>
            </a:r>
            <a:endParaRPr lang="en-US" sz="800" dirty="0"/>
          </a:p>
        </p:txBody>
      </p:sp>
      <p:sp>
        <p:nvSpPr>
          <p:cNvPr id="5" name="Text 3"/>
          <p:cNvSpPr txBox="1"/>
          <p:nvPr/>
        </p:nvSpPr>
        <p:spPr>
          <a:xfrm>
            <a:off x="457200" y="1188720"/>
            <a:ext cx="8229600" cy="3566160"/>
          </a:xfrm>
          <a:prstGeom prst="rect">
            <a:avLst/>
          </a:prstGeom>
          <a:noFill/>
          <a:ln/>
        </p:spPr>
        <p:txBody>
          <a:bodyPr wrap="square" lIns="0" tIns="0" rIns="0" bIns="0" rtlCol="0" anchor="t"/>
          <a:lstStyle/>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1. Levine DM, et al. Hospital-level care at home for acutely ill adults: a randomized controlled trial. Ann Intern Med. 2020;172(2):77-85.</a:t>
            </a:r>
            <a:endParaRPr lang="en-US" sz="1050" dirty="0"/>
          </a:p>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2. Edgar K, et al. Admission avoidance hospital at home. Cochrane Database Syst Rev. 2024;3:CD007491.</a:t>
            </a:r>
            <a:endParaRPr lang="en-US" sz="1050" dirty="0"/>
          </a:p>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3. Norris AH, et al. 2018 IDSA clinical practice guideline for the management of outpatient parenteral antimicrobial therapy. Clin Infect Dis. 2019;68(1):e1-e35.</a:t>
            </a:r>
            <a:endParaRPr lang="en-US" sz="1050" dirty="0"/>
          </a:p>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4. Ministerio de Salud y Protección Social. Resolución 3100 de 2019 (habilitación de servicios de salud) y modificaciones.</a:t>
            </a:r>
            <a:endParaRPr lang="en-US" sz="1050" dirty="0"/>
          </a:p>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5. Instituto Nacional de Salud. Vigilancia por WHONET de resistencia antimicrobiana en el ámbito hospitalario, Colombia.</a:t>
            </a:r>
            <a:endParaRPr lang="en-US" sz="1050" dirty="0"/>
          </a:p>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6. Actualización sobre la resistencia antimicrobiana en instituciones de salud de nivel III y IV en Colombia, 2018-2021. Biomédica. 2023;43(4).</a:t>
            </a:r>
            <a:endParaRPr lang="en-US" sz="1050" dirty="0"/>
          </a:p>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7. Alcaldía de Bucaramanga. Análisis de Situación de Salud (ASIS) 2024 · Bucaramanga Metropolitana Cómo Vamos 2026.</a:t>
            </a:r>
            <a:endParaRPr lang="en-US" sz="1050" dirty="0"/>
          </a:p>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8. Li HK, et al. Oral versus intravenous antibiotics for bone and joint infection (OVIVA). N Engl J Med. 2019;380:425-36.</a:t>
            </a:r>
            <a:endParaRPr lang="en-US" sz="1050" dirty="0"/>
          </a:p>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9. Iversen K, et al. Partial oral versus intravenous antibiotic treatment of endocarditis (POET). N Engl J Med. 2019;380:415-24.</a:t>
            </a:r>
            <a:endParaRPr lang="en-US" sz="1050" dirty="0"/>
          </a:p>
          <a:p>
            <a:pPr indent="0" marL="0">
              <a:spcAft>
                <a:spcPts val="400"/>
              </a:spcAft>
              <a:buNone/>
            </a:pPr>
            <a:r>
              <a:rPr lang="en-US" sz="1050" dirty="0">
                <a:solidFill>
                  <a:srgbClr val="1D2B36"/>
                </a:solidFill>
                <a:latin typeface="Calibri" pitchFamily="34" charset="0"/>
                <a:ea typeface="Calibri" pitchFamily="34" charset="-122"/>
                <a:cs typeface="Calibri" pitchFamily="34" charset="-120"/>
              </a:rPr>
              <a:t>10. Figuras 3-1 (Planeación estratégica) y 1-8 (Nuevos modelos organizacionales): material de clase, Pearson.</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F7C"/>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DOMUS: antibioticoterapia en casa por paquetes</dc:title>
  <dc:subject>PptxGenJS Presentation</dc:subject>
  <dc:creator>Nestor Fabian Sanabria Duarte</dc:creator>
  <cp:lastModifiedBy>Nestor Fabian Sanabria Duarte</cp:lastModifiedBy>
  <cp:revision>1</cp:revision>
  <dcterms:created xsi:type="dcterms:W3CDTF">2026-10-07T21:30:34Z</dcterms:created>
  <dcterms:modified xsi:type="dcterms:W3CDTF">2026-10-07T21:30:34Z</dcterms:modified>
</cp:coreProperties>
</file>
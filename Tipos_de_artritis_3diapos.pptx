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poner un nombre, el abordaje de toda artritis empieza por clasificar el patron. Tres preguntas resuelven la mayor parte del diferencial. Primera: ¿es inflamatoria o mecanica? Lo definen la rigidez matutina prolongada, el calor, los reactantes de fase aguda elevados y un liquido sinovial inflamatorio, con mas de 2000 celulas por milimetro cubico. Segunda: ¿cuantas articulaciones? Monoartritis, oligoartritis de dos a cuatro, o poliartritis de cinco o mas; el numero orienta la causa. Tercera: ¿es aguda, de menos de seis semanas, o cronica? Las agudas incluyen la septica, las artritis por cristales y las virales; las cronicas, la artritis reumatoide, la psoriasica y la artrosis. Integrando patron, tiempo y numero acotamos el diferencial antes de solicitar la primera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 de las artritis inflamatorias conviene reconocer los grandes tipos. La artritis reumatoide es una poliartritis cronica, simetrica, de pequenas articulaciones -metacarpofalangicas e interfalangicas proximales-, con factor reumatoide o anti-CCP, y tendencia erosiva. La artritis psoriasica se distingue por la dactilitis, la entesitis, el compromiso de interfalangicas distales y de las unas, sobre una psoriasis cutanea. Las espondiloartritis, incluida la reactiva, cursan con dolor axial inflamatorio y entesitis, se asocian a HLA-B27 y la reactiva aparece tras una infeccion gastrointestinal o genitourinaria. Las artritis por cristales -gota por urato y la enfermedad por pirofosfato o CPPD- se presentan como monoartritis agudas y se confirman con el analisis del liquido sinovial. La artritis septica es una monoartritis caliente de inicio agudo, una urgencia que obliga a artrocentesis y cultivo. Y el lupus y otras conectivopatias dan una poliartritis no erosiva, de tipo Jaccoud, con ANA y afectacion de otros organos. El patron clinico orienta hacia cada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Identificar el tipo de artritis no es un ejercicio academico: cambia la conducta en cuatro planos. Primero, la urgencia: la artritis septica es una emergencia que exige artrocentesis y antibioticos inmediatos, porque sin tratamiento destruye la articulacion en dias. Segundo, la ventana de oportunidad: en la artritis reumatoide, iniciar los FAME de forma temprana previene la erosion irreversible y modifica el pronostico. Tercero, el tratamiento dirigido: cada artritis tiene su terapia -las artritis por cristales se tratan con colchicina o AINE y luego hipouricemiantes; la psoriasica con FAME y biologicos; la artrosis no requiere inmunosupresion-. Y cuarto, evitar errores costosos: no se debe infiltrar ni inmunosuprimir a ciegas, porque los corticoides pueden enmascarar una infeccion; siempre confirmar antes de tratar. En sintesis, identificar bien la artritis define la urgencia, el tratamiento y el pronostico del paciente.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ARTRITIS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nombre, clasifica el patrón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las artritis se acotan con tres preguntas, antes de pedir una sola prueba.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2432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88900" dist="38100" dir="5400000">
              <a:srgbClr val="9AA6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08176" y="1783080"/>
            <a:ext cx="731520" cy="73152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  <a:effectLst>
            <a:outerShdw sx="100000" sy="100000" kx="0" ky="0" algn="bl" rotWithShape="0" blurRad="1129030000" dist="483870000" dir="324000000000">
              <a:srgbClr val="9AA6C2">
                <a:alpha val="280000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741" y="1958645"/>
            <a:ext cx="380390" cy="3803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60604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¿Inflamatoria o mecánica?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32004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Inflamatoria: rigidez prolongada, calor, VSG/PCR altas, líquido &gt; 2000 cél/mm³.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Mecánica: rigidez breve, sin calor, reactantes normales.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64408" y="1600200"/>
            <a:ext cx="262432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4CC9F0"/>
            </a:solidFill>
            <a:prstDash val="solid"/>
          </a:ln>
          <a:effectLst>
            <a:outerShdw sx="100000" sy="100000" kx="0" ky="0" algn="bl" rotWithShape="0" blurRad="14338681000000" dist="6145149000000" dir="19440000000000000">
              <a:srgbClr val="9AA6C2">
                <a:alpha val="2800000000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15384" y="1783080"/>
            <a:ext cx="731520" cy="73152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  <a:effectLst>
            <a:outerShdw sx="100000" sy="100000" kx="0" ky="0" algn="bl" rotWithShape="0" blurRad="182101248700000000" dist="78043392300000000" dir="1.1664e+21">
              <a:srgbClr val="9AA6C2">
                <a:alpha val="2800000000000000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949" y="195864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55848" y="260604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articulaciones?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32004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Monoartritis: 1.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Oligoartritis: 2–4.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Poliartritis: ≥ 5.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orienta la causa.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71616" y="1600200"/>
            <a:ext cx="262432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2.31268585849e+21" dist="991151082210000000000" dir="6.9984e+25">
              <a:srgbClr val="9AA6C2">
                <a:alpha val="2.8e+24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22592" y="1783080"/>
            <a:ext cx="731520" cy="73152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  <a:effectLst>
            <a:outerShdw sx="100000" sy="100000" kx="0" ky="0" algn="bl" rotWithShape="0" blurRad="2.9371110402823e+25" dist="1.2587618744067e+25" dir="4.19904e+30">
              <a:srgbClr val="9AA6C2">
                <a:alpha val="2.8000000000000003e+29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57" y="195864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63056" y="260604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¿Aguda o crónica?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236208" y="32004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Aguda (&lt; 6 semanas): séptica, cristales, viral.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Crónica (&gt; 6 semanas): AR, psoriásica, artrosis.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7200" y="4315968"/>
            <a:ext cx="8229600" cy="914"/>
          </a:xfrm>
          <a:prstGeom prst="roundRect">
            <a:avLst>
              <a:gd name="adj" fmla="val 10004376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3.730131021158521e+29" dist="1.598627580496509e+29" dir="2.519424e+35">
              <a:srgbClr val="9AA6C2">
                <a:alpha val="2.8000000000000005e+34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512064" y="4315968"/>
            <a:ext cx="8119872" cy="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3" name="Shape 18"/>
          <p:cNvSpPr/>
          <p:nvPr/>
        </p:nvSpPr>
        <p:spPr>
          <a:xfrm>
            <a:off x="457200" y="4315968"/>
            <a:ext cx="8229600" cy="347472"/>
          </a:xfrm>
          <a:prstGeom prst="roundRect">
            <a:avLst>
              <a:gd name="adj" fmla="val 26316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4.737266396871321e+33" dist="2.0302570272305663e+33" dir="1.5116544e+40">
              <a:srgbClr val="9AA6C2">
                <a:alpha val="2.8000000000000006e+39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512064" y="4315968"/>
            <a:ext cx="8119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+ tiempo + número de articulaciones = diagnóstico diferencial acotado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ARTRITIS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cada artritis inflamatoria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2624328" cy="1353312"/>
          </a:xfrm>
          <a:prstGeom prst="roundRect">
            <a:avLst>
              <a:gd name="adj" fmla="val 6757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6.016328324026578e+37" dist="2.578426424582819e+37" dir="9.069926400000001e+44">
              <a:srgbClr val="9AA6C2">
                <a:alpha val="2.8000000000000005e+4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490472"/>
            <a:ext cx="457200" cy="45720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  <a:effectLst>
            <a:outerShdw sx="100000" sy="100000" kx="0" ky="0" algn="bl" rotWithShape="0" blurRad="7.640736971513755e+41" dist="3.2746015592201804e+41" dir="5.44195584e+49">
              <a:srgbClr val="9AA6C2">
                <a:alpha val="2.8000000000000003e+49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00200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52144" y="147218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2002536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Poliartritis crónica, simétrica, de pequeñas articulaciones (MCF/IFP); FR/anti-CCP; erosiva.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64408" y="1325880"/>
            <a:ext cx="2624328" cy="1353312"/>
          </a:xfrm>
          <a:prstGeom prst="roundRect">
            <a:avLst>
              <a:gd name="adj" fmla="val 6757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9.703735953822469e+45" dist="4.158743980209629e+45" dir="3.2651735040000005e+54">
              <a:srgbClr val="9AA6C2">
                <a:alpha val="2.8e+54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0712" y="1490472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.2323744661354536e+50" dist="5.281604854866228e+49" dir="1.9591041024000004e+59">
              <a:srgbClr val="9AA6C2">
                <a:alpha val="2.8000000000000002e+59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0020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59352" y="147218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psoriásica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410712" y="2002536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Dactilitis, entesitis, compromiso de IFD y uñas; psoriasis cutánea.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71616" y="1325880"/>
            <a:ext cx="2624328" cy="1353312"/>
          </a:xfrm>
          <a:prstGeom prst="roundRect">
            <a:avLst>
              <a:gd name="adj" fmla="val 6757"/>
            </a:avLst>
          </a:prstGeom>
          <a:solidFill>
            <a:srgbClr val="4CC9F0">
              <a:alpha val="10000"/>
            </a:srgbClr>
          </a:solidFill>
          <a:ln w="19050">
            <a:solidFill>
              <a:srgbClr val="4CC9F0"/>
            </a:solidFill>
            <a:prstDash val="solid"/>
          </a:ln>
          <a:effectLst>
            <a:outerShdw sx="100000" sy="100000" kx="0" ky="0" algn="bl" rotWithShape="0" blurRad="1.5651155719920262e+54" dist="6.70763816568011e+53" dir="1.1754624614400003e+64">
              <a:srgbClr val="9AA6C2">
                <a:alpha val="2.8e+64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490472"/>
            <a:ext cx="457200" cy="45720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  <a:effectLst>
            <a:outerShdw sx="100000" sy="100000" kx="0" ky="0" algn="bl" rotWithShape="0" blurRad="1.9876967764298733e+58" dist="8.518700470413739e+57" dir="7.052774768640002e+68">
              <a:srgbClr val="9AA6C2">
                <a:alpha val="2.8000000000000002e+69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60020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66560" y="147218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Espondiloartritis / reactiva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2002536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axial inflamatorio y entesitis; HLA-B27; reactiva tras infección.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2788920"/>
            <a:ext cx="2624328" cy="1353312"/>
          </a:xfrm>
          <a:prstGeom prst="roundRect">
            <a:avLst>
              <a:gd name="adj" fmla="val 6757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2.524374906065939e+62" dist="1.081874959742545e+62" dir="4.2316648611840007e+73">
              <a:srgbClr val="9AA6C2">
                <a:alpha val="2.8e+74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3504" y="2953512"/>
            <a:ext cx="457200" cy="45720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  <a:effectLst>
            <a:outerShdw sx="100000" sy="100000" kx="0" ky="0" algn="bl" rotWithShape="0" blurRad="3.2059561307037426e+66" dist="1.373981198873032e+66" dir="2.5389989167104004e+78">
              <a:srgbClr val="9AA6C2">
                <a:alpha val="2.8e+79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063240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52144" y="293522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cristales (gota / CPPD)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03504" y="3465576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Monoartritis aguda por urato o pirofosfato; diagnóstico por líquido sinovial.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64408" y="2788920"/>
            <a:ext cx="2624328" cy="1353312"/>
          </a:xfrm>
          <a:prstGeom prst="roundRect">
            <a:avLst>
              <a:gd name="adj" fmla="val 6757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4.071564285993753e+70" dist="1.7449561225687507e+70" dir="1.5233993500262402e+83">
              <a:srgbClr val="9AA6C2">
                <a:alpha val="2.8000000000000002e+84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10712" y="2953512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5.170886643212067e+74" dist="2.2160942756623134e+74" dir="9.14039610015744e+87">
              <a:srgbClr val="9AA6C2">
                <a:alpha val="2.8000000000000004e+89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063240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959352" y="293522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séptica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3410712" y="3465576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Monoartritis caliente de inicio agudo; urgencia; artrocentesis y cultivo.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71616" y="2788920"/>
            <a:ext cx="2624328" cy="1353312"/>
          </a:xfrm>
          <a:prstGeom prst="roundRect">
            <a:avLst>
              <a:gd name="adj" fmla="val 6757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6.567026036879325e+78" dist="2.814439730091138e+78" dir="5.484237660094465e+92">
              <a:srgbClr val="9AA6C2">
                <a:alpha val="2.8000000000000004e+94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17920" y="2953512"/>
            <a:ext cx="457200" cy="45720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  <a:effectLst>
            <a:outerShdw sx="100000" sy="100000" kx="0" ky="0" algn="bl" rotWithShape="0" blurRad="8.340123066836742e+82" dist="3.574338457215745e+82" dir="3.2905425960566786e+97">
              <a:srgbClr val="9AA6C2">
                <a:alpha val="2.8000000000000003e+99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063240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766560" y="293522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Lupus / conectivopatías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6217920" y="3465576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Poliartritis no erosiva (Jaccoud); ANA; compromiso de otros órganos.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57200" y="4279392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1.0591956294882662e+87" dist="4.539409840663996e+86" dir="1.9743255576340073e+102">
              <a:srgbClr val="9AA6C2">
                <a:alpha val="2.8000000000000003e+104"/>
              </a:srgbClr>
            </a:outerShdw>
          </a:effectLst>
        </p:spPr>
      </p:sp>
      <p:sp>
        <p:nvSpPr>
          <p:cNvPr id="36" name="Text 28"/>
          <p:cNvSpPr txBox="1"/>
          <p:nvPr/>
        </p:nvSpPr>
        <p:spPr>
          <a:xfrm>
            <a:off x="512064" y="4279392"/>
            <a:ext cx="8119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—agudo o crónico, mono o poliarticular, con o sin cristales— orienta hacia cada tipo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IMPORTANCIA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 identificar cada artritis?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.3451784494500981e+91" dist="5.765050497643275e+90" dir="1.1845953345804043e+107">
              <a:srgbClr val="9AA6C2">
                <a:alpha val="2.8e+10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463040"/>
            <a:ext cx="512064" cy="51206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.7083766308016246e+95" dist="7.321614132006959e+94" dir="7.107572007482426e+111">
              <a:srgbClr val="9AA6C2">
                <a:alpha val="2.8e+114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687" y="1585935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4447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 que no espera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99339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artritis séptica es una emergencia: artrocentesis y antibióticos inmediatos; sin tratamiento destruye la articulación en días.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402336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2.1696383211180632e+99" dist="9.298449947648839e+98" dir="4.2645432044894554e+116">
              <a:srgbClr val="9AA6C2">
                <a:alpha val="2.8e+119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28032" y="1463040"/>
            <a:ext cx="512064" cy="512064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  <a:effectLst>
            <a:outerShdw sx="100000" sy="100000" kx="0" ky="0" algn="bl" rotWithShape="0" blurRad="2.7554406678199403e+103" dist="1.1809031433514024e+103" dir="2.5587259226936733e+121">
              <a:srgbClr val="9AA6C2">
                <a:alpha val="2.8e+124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927" y="1585935"/>
            <a:ext cx="266273" cy="26627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0" y="14447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oportunidad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864608" y="199339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AR, iniciar FAME de forma temprana previene la erosión irreversible y cambia el pronóstico.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2743200"/>
            <a:ext cx="402336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9050">
            <a:solidFill>
              <a:srgbClr val="4CC9F0"/>
            </a:solidFill>
            <a:prstDash val="solid"/>
          </a:ln>
          <a:effectLst>
            <a:outerShdw sx="100000" sy="100000" kx="0" ky="0" algn="bl" rotWithShape="0" blurRad="3.499409648131324e+107" dist="1.499746992056281e+107" dir="1.535235553616204e+126">
              <a:srgbClr val="9AA6C2">
                <a:alpha val="2.8e+129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" y="2926080"/>
            <a:ext cx="512064" cy="51206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  <a:effectLst>
            <a:outerShdw sx="100000" sy="100000" kx="0" ky="0" algn="bl" rotWithShape="0" blurRad="4.4442502531267815e+111" dist="1.904678679911477e+111" dir="9.211413321697224e+130">
              <a:srgbClr val="9AA6C2">
                <a:alpha val="2.8e+134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87" y="3048975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29077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dirigido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658368" y="345643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artritis tiene su terapia: cristales → colchicina/AINE e hipouricemiantes; psoriásica → FAME y biológicos; artrosis → no inmunosupresión.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2743200"/>
            <a:ext cx="402336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5.644197821471012e+115" dist="2.418941923487576e+115" dir="5.526847993018334e+135">
              <a:srgbClr val="9AA6C2">
                <a:alpha val="2.8e+139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28032" y="2926080"/>
            <a:ext cx="512064" cy="51206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  <a:effectLst>
            <a:outerShdw sx="100000" sy="100000" kx="0" ky="0" algn="bl" rotWithShape="0" blurRad="7.168131233268186e+119" dist="3.0720562428292216e+119" dir="3.3161087958110005e+140">
              <a:srgbClr val="9AA6C2">
                <a:alpha val="2.7999999999999997e+144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927" y="3048975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0" y="29077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errores costosos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4864608" y="345643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infiltrar ni inmunosuprimir a ciegas: los corticoides pueden enmascarar una infección. Confirmar antes de tratar.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57200" y="4224528"/>
            <a:ext cx="8229600" cy="402336"/>
          </a:xfrm>
          <a:prstGeom prst="roundRect">
            <a:avLst>
              <a:gd name="adj" fmla="val 2272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9.103526666250596e+123" dist="3.9015114283931116e+123" dir="1.9896652774866004e+145">
              <a:srgbClr val="9AA6C2">
                <a:alpha val="2.8e+149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512064" y="4224528"/>
            <a:ext cx="8119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bien la artritis define la urgencia, el tratamiento y el pronóstico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Tipos de artritis</dc:title>
  <dc:subject>PptxGenJS Presentation</dc:subject>
  <dc:creator>Nestor Fabian Sanabria Duarte</dc:creator>
  <cp:lastModifiedBy>Nestor Fabian Sanabria Duarte</cp:lastModifiedBy>
  <cp:revision>1</cp:revision>
  <dcterms:created xsi:type="dcterms:W3CDTF">2026-10-26T14:26:11Z</dcterms:created>
  <dcterms:modified xsi:type="dcterms:W3CDTF">2026-10-26T14:26:11Z</dcterms:modified>
</cp:coreProperties>
</file>
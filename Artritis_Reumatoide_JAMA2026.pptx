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8.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9.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0.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2.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Tipo de los 123 artículos incluidos</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 sourceLinked="0"/>
            <c:txPr>
              <a:bodyPr/>
              <a:lstStyle/>
              <a:p>
                <a:pPr>
                  <a:defRPr b="0" i="0" strike="noStrike" sz="1100" u="none">
                    <a:solidFill>
                      <a:srgbClr val="2B2330"/>
                    </a:solidFill>
                    <a:latin typeface="Calibri"/>
                  </a:defRPr>
                </a:pPr>
              </a:p>
            </c:txPr>
            <c:showLegendKey val="0"/>
            <c:showVal val="1"/>
            <c:showCatName val="0"/>
            <c:showSerName val="0"/>
            <c:showPercent val="0"/>
            <c:showBubbleSize val="0"/>
            <c:showLeaderLines val="0"/>
          </c:dLbls>
          <c:cat>
            <c:multiLvlStrRef>
              <c:f>Sheet1!$A$2:$A$8</c:f>
              <c:multiLvlStrCache>
                <c:ptCount val="7"/>
                <c:lvl>
                  <c:pt idx="0">
                    <c:v>Ensayos clínicos aleatorizados</c:v>
                  </c:pt>
                  <c:pt idx="1">
                    <c:v>Estudios de cohorte</c:v>
                  </c:pt>
                  <c:pt idx="2">
                    <c:v>Guías / recomendaciones</c:v>
                  </c:pt>
                  <c:pt idx="3">
                    <c:v>Revisiones sistemáticas y MA</c:v>
                  </c:pt>
                  <c:pt idx="4">
                    <c:v>Ciencia básica / traslacional</c:v>
                  </c:pt>
                  <c:pt idx="5">
                    <c:v>Revisiones narrativas</c:v>
                  </c:pt>
                  <c:pt idx="6">
                    <c:v>Investigación de desenlaces</c:v>
                  </c:pt>
                </c:lvl>
              </c:multiLvlStrCache>
            </c:multiLvlStrRef>
          </c:cat>
          <c:val>
            <c:numRef>
              <c:f>Sheet1!$B$2:$B$8</c:f>
              <c:numCache>
                <c:formatCode>General</c:formatCode>
                <c:ptCount val="7"/>
                <c:pt idx="0">
                  <c:v>46</c:v>
                </c:pt>
                <c:pt idx="1">
                  <c:v>28</c:v>
                </c:pt>
                <c:pt idx="2">
                  <c:v>15</c:v>
                </c:pt>
                <c:pt idx="3">
                  <c:v>11</c:v>
                </c:pt>
                <c:pt idx="4">
                  <c:v>9</c:v>
                </c:pt>
                <c:pt idx="5">
                  <c:v>8</c:v>
                </c:pt>
                <c:pt idx="6">
                  <c:v>6</c:v>
                </c:pt>
              </c:numCache>
            </c:numRef>
          </c:val>
        </c:ser>
        <c:dLbls>
          <c:numFmt formatCode="#,##0" sourceLinked="0"/>
          <c:txPr>
            <a:bodyPr/>
            <a:lstStyle/>
            <a:p>
              <a:pPr>
                <a:defRPr b="0" i="0" strike="noStrike" sz="11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1433"/>
                </a:solidFill>
                <a:latin typeface="Calibri"/>
              </a:defRPr>
            </a:pPr>
            <a:r>
              <a:rPr sz="1300" b="0" i="0" u="none" strike="noStrike">
                <a:solidFill>
                  <a:srgbClr val="2A1433"/>
                </a:solidFill>
                <a:latin typeface="Calibri"/>
              </a:rPr>
              <a:t>Concordancia de AR en gemelos</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Gemelos monocigóticos</c:v>
                  </c:pt>
                  <c:pt idx="1">
                    <c:v>Gemelos dicigóticos</c:v>
                  </c:pt>
                </c:lvl>
              </c:multiLvlStrCache>
            </c:multiLvlStrRef>
          </c:cat>
          <c:val>
            <c:numRef>
              <c:f>Sheet1!$B$2:$B$3</c:f>
              <c:numCache>
                <c:formatCode>General</c:formatCode>
                <c:ptCount val="2"/>
                <c:pt idx="0">
                  <c:v>0.15</c:v>
                </c:pt>
                <c:pt idx="1">
                  <c:v>0.035</c:v>
                </c:pt>
              </c:numCache>
            </c:numRef>
          </c:val>
        </c:ser>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Articulaciones afectadas con más frecuencia</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D9472F"/>
            </a:solidFill>
            <a:effectLst/>
          </c:spPr>
          <c:invertIfNegative val="0"/>
          <c:dLbls>
            <c:numFmt formatCode="0%" sourceLinked="0"/>
            <c:txPr>
              <a:bodyPr/>
              <a:lstStyle/>
              <a:p>
                <a:pPr>
                  <a:defRPr b="0" i="0" strike="noStrike" sz="1200" u="none">
                    <a:solidFill>
                      <a:srgbClr val="2B23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Muñeca</c:v>
                  </c:pt>
                  <c:pt idx="1">
                    <c:v>MCF e IFP</c:v>
                  </c:pt>
                  <c:pt idx="2">
                    <c:v>Rodilla</c:v>
                  </c:pt>
                  <c:pt idx="3">
                    <c:v>MTF</c:v>
                  </c:pt>
                </c:lvl>
              </c:multiLvlStrCache>
            </c:multiLvlStrRef>
          </c:cat>
          <c:val>
            <c:numRef>
              <c:f>Sheet1!$B$2:$B$5</c:f>
              <c:numCache>
                <c:formatCode>General</c:formatCode>
                <c:ptCount val="4"/>
                <c:pt idx="0">
                  <c:v>0.75</c:v>
                </c:pt>
                <c:pt idx="1">
                  <c:v>0.65</c:v>
                </c:pt>
                <c:pt idx="2">
                  <c:v>0.5</c:v>
                </c:pt>
                <c:pt idx="3">
                  <c:v>0.45</c:v>
                </c:pt>
              </c:numCache>
            </c:numRef>
          </c:val>
        </c:ser>
        <c:dLbls>
          <c:numFmt formatCode="0%" sourceLinked="0"/>
          <c:txPr>
            <a:bodyPr/>
            <a:lstStyle/>
            <a:p>
              <a:pPr>
                <a:defRPr b="0" i="0" strike="noStrike" sz="12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Distribución entre quienes tuvieron manifestaciones extraarticulares</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Nódulos reumatoides</c:v>
                  </c:pt>
                  <c:pt idx="1">
                    <c:v>Fibrosis pulmonar</c:v>
                  </c:pt>
                  <c:pt idx="2">
                    <c:v>Vasculitis</c:v>
                  </c:pt>
                </c:lvl>
              </c:multiLvlStrCache>
            </c:multiLvlStrRef>
          </c:cat>
          <c:val>
            <c:numRef>
              <c:f>Sheet1!$B$2:$B$4</c:f>
              <c:numCache>
                <c:formatCode>General</c:formatCode>
                <c:ptCount val="3"/>
                <c:pt idx="0">
                  <c:v>0.45</c:v>
                </c:pt>
                <c:pt idx="1">
                  <c:v>0.22</c:v>
                </c:pt>
                <c:pt idx="2">
                  <c:v>0.03</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c:v>
                </c:pt>
              </c:strCache>
            </c:strRef>
          </c:tx>
          <c:spPr>
            <a:solidFill>
              <a:srgbClr val="1F7F79"/>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Tratar hasta el objetivo</c:v>
                  </c:pt>
                  <c:pt idx="1">
                    <c:v>Atención habitual</c:v>
                  </c:pt>
                </c:lvl>
              </c:multiLvlStrCache>
            </c:multiLvlStrRef>
          </c:cat>
          <c:val>
            <c:numRef>
              <c:f>Sheet1!$B$2:$B$3</c:f>
              <c:numCache>
                <c:formatCode>General</c:formatCode>
                <c:ptCount val="2"/>
                <c:pt idx="0">
                  <c:v>0.71</c:v>
                </c:pt>
                <c:pt idx="1">
                  <c:v>0.18</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A1433"/>
                </a:solidFill>
                <a:latin typeface="Calibri"/>
              </a:defRPr>
            </a:pPr>
            <a:r>
              <a:rPr sz="1150" b="0" i="0" u="none" strike="noStrike">
                <a:solidFill>
                  <a:srgbClr val="2A1433"/>
                </a:solidFill>
                <a:latin typeface="Calibri"/>
              </a:rPr>
              <a:t>Respuesta ACR70 (MA de 3 ECA, n = 557)</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Oral</c:v>
                  </c:pt>
                  <c:pt idx="1">
                    <c:v>Parenteral</c:v>
                  </c:pt>
                </c:lvl>
              </c:multiLvlStrCache>
            </c:multiLvlStrRef>
          </c:cat>
          <c:val>
            <c:numRef>
              <c:f>Sheet1!$B$2:$B$3</c:f>
              <c:numCache>
                <c:formatCode>General</c:formatCode>
                <c:ptCount val="2"/>
                <c:pt idx="0">
                  <c:v>0.262</c:v>
                </c:pt>
                <c:pt idx="1">
                  <c:v>0.319</c:v>
                </c:pt>
              </c:numCache>
            </c:numRef>
          </c:val>
        </c:ser>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MTX en monoterapia</c:v>
                  </c:pt>
                  <c:pt idx="1">
                    <c:v>FAME convencionales combinados</c:v>
                  </c:pt>
                </c:lvl>
              </c:multiLvlStrCache>
            </c:multiLvlStrRef>
          </c:cat>
          <c:val>
            <c:numRef>
              <c:f>Sheet1!$B$2:$B$3</c:f>
              <c:numCache>
                <c:formatCode>General</c:formatCode>
                <c:ptCount val="2"/>
                <c:pt idx="0">
                  <c:v>0.47</c:v>
                </c:pt>
                <c:pt idx="1">
                  <c:v>0.41</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1433"/>
                </a:solidFill>
                <a:latin typeface="Calibri"/>
              </a:defRPr>
            </a:pPr>
            <a:r>
              <a:rPr sz="1300" b="0" i="0" u="none" strike="noStrike">
                <a:solidFill>
                  <a:srgbClr val="2A1433"/>
                </a:solidFill>
                <a:latin typeface="Calibri"/>
              </a:rPr>
              <a:t>Remisión CDAI (≤ 2,8) a 6 meses</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7A1F45"/>
            </a:solidFill>
            <a:effectLst/>
          </c:spPr>
          <c:invertIfNegative val="0"/>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MTX + glucocorticoides</c:v>
                  </c:pt>
                  <c:pt idx="1">
                    <c:v>MTX + certolizumab pegol</c:v>
                  </c:pt>
                  <c:pt idx="2">
                    <c:v>MTX + abatacept</c:v>
                  </c:pt>
                  <c:pt idx="3">
                    <c:v>MTX + tocilizumab</c:v>
                  </c:pt>
                </c:lvl>
              </c:multiLvlStrCache>
            </c:multiLvlStrRef>
          </c:cat>
          <c:val>
            <c:numRef>
              <c:f>Sheet1!$B$2:$B$5</c:f>
              <c:numCache>
                <c:formatCode>General</c:formatCode>
                <c:ptCount val="4"/>
                <c:pt idx="0">
                  <c:v>0.427</c:v>
                </c:pt>
                <c:pt idx="1">
                  <c:v>0.526</c:v>
                </c:pt>
                <c:pt idx="2">
                  <c:v>0.563</c:v>
                </c:pt>
                <c:pt idx="3">
                  <c:v>0.487</c:v>
                </c:pt>
              </c:numCache>
            </c:numRef>
          </c:val>
        </c:ser>
        <c:dLbls>
          <c:numFmt formatCode="0.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Biológico + MTX</c:v>
                </c:pt>
              </c:strCache>
            </c:strRef>
          </c:tx>
          <c:spPr>
            <a:solidFill>
              <a:srgbClr val="7A1F45"/>
            </a:solidFill>
            <a:effectLst/>
          </c:spPr>
          <c:invertIfNegative val="0"/>
          <c:dLbls>
            <c:numFmt formatCode="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Sheet1!$A$2:$A$4</c:f>
              <c:multiLvlStrCache>
                <c:ptCount val="3"/>
                <c:lvl>
                  <c:pt idx="0">
                    <c:v>Anti-TNF / anti-IL-6R
(ACR70; MA 3 ECA, n=1601)</c:v>
                  </c:pt>
                  <c:pt idx="1">
                    <c:v>Abatacept
(remisión CDAI; n=351)</c:v>
                  </c:pt>
                  <c:pt idx="2">
                    <c:v>Tocilizumab
(remisión 6 m; n=223)</c:v>
                  </c:pt>
                </c:lvl>
              </c:multiLvlStrCache>
            </c:multiLvlStrRef>
          </c:cat>
          <c:val>
            <c:numRef>
              <c:f>Sheet1!$B$2:$B$4</c:f>
              <c:numCache>
                <c:formatCode>General</c:formatCode>
                <c:ptCount val="3"/>
                <c:pt idx="0">
                  <c:v>0.34</c:v>
                </c:pt>
                <c:pt idx="1">
                  <c:v>0.42</c:v>
                </c:pt>
                <c:pt idx="2">
                  <c:v>0.7</c:v>
                </c:pt>
              </c:numCache>
            </c:numRef>
          </c:val>
        </c:ser>
        <c:ser>
          <c:idx val="1"/>
          <c:order val="1"/>
          <c:tx>
            <c:strRef>
              <c:f>Sheet1!$C$1</c:f>
              <c:strCache>
                <c:ptCount val="1"/>
                <c:pt idx="0">
                  <c:v>Biológico solo</c:v>
                </c:pt>
              </c:strCache>
            </c:strRef>
          </c:tx>
          <c:spPr>
            <a:solidFill>
              <a:srgbClr val="C9A9B8"/>
            </a:solidFill>
            <a:effectLst/>
          </c:spPr>
          <c:invertIfNegative val="0"/>
          <c:dLbls>
            <c:numFmt formatCode="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Sheet1!$A$2:$A$4</c:f>
              <c:multiLvlStrCache>
                <c:ptCount val="3"/>
                <c:lvl>
                  <c:pt idx="0">
                    <c:v>Anti-TNF / anti-IL-6R
(ACR70; MA 3 ECA, n=1601)</c:v>
                  </c:pt>
                  <c:pt idx="1">
                    <c:v>Abatacept
(remisión CDAI; n=351)</c:v>
                  </c:pt>
                  <c:pt idx="2">
                    <c:v>Tocilizumab
(remisión 6 m; n=223)</c:v>
                  </c:pt>
                </c:lvl>
              </c:multiLvlStrCache>
            </c:multiLvlStrRef>
          </c:cat>
          <c:val>
            <c:numRef>
              <c:f>Sheet1!$C$2:$C$4</c:f>
              <c:numCache>
                <c:formatCode>General</c:formatCode>
                <c:ptCount val="3"/>
                <c:pt idx="0">
                  <c:v>0.25</c:v>
                </c:pt>
                <c:pt idx="1">
                  <c:v>0.31</c:v>
                </c:pt>
                <c:pt idx="2">
                  <c:v>0.55</c:v>
                </c:pt>
              </c:numCache>
            </c:numRef>
          </c:val>
        </c:ser>
        <c:dLbls>
          <c:numFmt formatCode="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33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330"/>
              </a:solidFil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2A1433"/>
                </a:solidFill>
                <a:latin typeface="Calibri"/>
              </a:defRPr>
            </a:pPr>
            <a:r>
              <a:rPr sz="1250" b="0" i="0" u="none" strike="noStrike">
                <a:solidFill>
                  <a:srgbClr val="2A1433"/>
                </a:solidFill>
                <a:latin typeface="Calibri"/>
              </a:rPr>
              <a:t>ORAL Strategy (n = 1146): respuesta ACR50</a:t>
            </a:r>
          </a:p>
        </c:rich>
      </c:tx>
      <c:layout/>
      <c:overlay val="0"/>
    </c:title>
    <c:autoTitleDeleted val="0"/>
    <c:plotArea>
      <c:layout/>
      <c:barChart>
        <c:barDir val="bar"/>
        <c:grouping val="clustered"/>
        <c:varyColors val="0"/>
        <c:ser>
          <c:idx val="0"/>
          <c:order val="0"/>
          <c:tx>
            <c:strRef>
              <c:f>Sheet1!$B$1</c:f>
              <c:strCache>
                <c:ptCount val="1"/>
                <c:pt idx="0">
                  <c:v>Serie</c:v>
                </c:pt>
              </c:strCache>
            </c:strRef>
          </c:tx>
          <c:spPr>
            <a:solidFill>
              <a:srgbClr val="1F7F79"/>
            </a:solidFill>
            <a:effectLst/>
          </c:spPr>
          <c:invertIfNegative val="0"/>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Tofacitinib solo</c:v>
                  </c:pt>
                  <c:pt idx="1">
                    <c:v>Tofacitinib + MTX</c:v>
                  </c:pt>
                  <c:pt idx="2">
                    <c:v>Adalimumab + MTX</c:v>
                  </c:pt>
                </c:lvl>
              </c:multiLvlStrCache>
            </c:multiLvlStrRef>
          </c:cat>
          <c:val>
            <c:numRef>
              <c:f>Sheet1!$B$2:$B$4</c:f>
              <c:numCache>
                <c:formatCode>General</c:formatCode>
                <c:ptCount val="3"/>
                <c:pt idx="0">
                  <c:v>0.38</c:v>
                </c:pt>
                <c:pt idx="1">
                  <c:v>0.46</c:v>
                </c:pt>
                <c:pt idx="2">
                  <c:v>0.44</c:v>
                </c:pt>
              </c:numCache>
            </c:numRef>
          </c:val>
        </c:ser>
        <c:dLbls>
          <c:numFmt formatCode="0%" sourceLinked="0"/>
          <c:txPr>
            <a:bodyPr/>
            <a:lstStyle/>
            <a:p>
              <a:pPr>
                <a:defRPr b="0" i="0" strike="noStrike" sz="1300" u="none">
                  <a:solidFill>
                    <a:srgbClr val="2B23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433"/>
                </a:solidFill>
                <a:latin typeface="Calibri"/>
              </a:defRPr>
            </a:pPr>
            <a:r>
              <a:rPr sz="1200" b="0" i="0" u="none" strike="noStrike">
                <a:solidFill>
                  <a:srgbClr val="2A1433"/>
                </a:solidFill>
                <a:latin typeface="Calibri"/>
              </a:rPr>
              <a:t>Tofacitinib vs anti-TNF (≥ 50 años + ≥ 1 FRCV)</a:t>
            </a:r>
          </a:p>
        </c:rich>
      </c:tx>
      <c:layout/>
      <c:overlay val="0"/>
    </c:title>
    <c:autoTitleDeleted val="0"/>
    <c:plotArea>
      <c:layout/>
      <c:barChart>
        <c:barDir val="col"/>
        <c:grouping val="clustered"/>
        <c:varyColors val="0"/>
        <c:ser>
          <c:idx val="0"/>
          <c:order val="0"/>
          <c:tx>
            <c:strRef>
              <c:f>Sheet1!$B$1</c:f>
              <c:strCache>
                <c:ptCount val="1"/>
                <c:pt idx="0">
                  <c:v>Tofacitinib</c:v>
                </c:pt>
              </c:strCache>
            </c:strRef>
          </c:tx>
          <c:spPr>
            <a:solidFill>
              <a:srgbClr val="D9472F"/>
            </a:solidFill>
            <a:effectLst/>
          </c:spPr>
          <c:invertIfNegative val="0"/>
          <c:dLbls>
            <c:numFmt formatCode="0.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Sheet1!$A$2:$A$3</c:f>
              <c:multiLvlStrCache>
                <c:ptCount val="2"/>
                <c:lvl>
                  <c:pt idx="0">
                    <c:v>MACE</c:v>
                  </c:pt>
                  <c:pt idx="1">
                    <c:v>Cáncer (excl. piel no melanoma)</c:v>
                  </c:pt>
                </c:lvl>
              </c:multiLvlStrCache>
            </c:multiLvlStrRef>
          </c:cat>
          <c:val>
            <c:numRef>
              <c:f>Sheet1!$B$2:$B$3</c:f>
              <c:numCache>
                <c:formatCode>General</c:formatCode>
                <c:ptCount val="2"/>
                <c:pt idx="0">
                  <c:v>0.034</c:v>
                </c:pt>
                <c:pt idx="1">
                  <c:v>0.042</c:v>
                </c:pt>
              </c:numCache>
            </c:numRef>
          </c:val>
        </c:ser>
        <c:ser>
          <c:idx val="1"/>
          <c:order val="1"/>
          <c:tx>
            <c:strRef>
              <c:f>Sheet1!$C$1</c:f>
              <c:strCache>
                <c:ptCount val="1"/>
                <c:pt idx="0">
                  <c:v>Anti-TNF</c:v>
                </c:pt>
              </c:strCache>
            </c:strRef>
          </c:tx>
          <c:spPr>
            <a:solidFill>
              <a:srgbClr val="C9A9B8"/>
            </a:solidFill>
            <a:effectLst/>
          </c:spPr>
          <c:invertIfNegative val="0"/>
          <c:dLbls>
            <c:numFmt formatCode="0.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cat>
            <c:multiLvlStrRef>
              <c:f>Sheet1!$A$2:$A$3</c:f>
              <c:multiLvlStrCache>
                <c:ptCount val="2"/>
                <c:lvl>
                  <c:pt idx="0">
                    <c:v>MACE</c:v>
                  </c:pt>
                  <c:pt idx="1">
                    <c:v>Cáncer (excl. piel no melanoma)</c:v>
                  </c:pt>
                </c:lvl>
              </c:multiLvlStrCache>
            </c:multiLvlStrRef>
          </c:cat>
          <c:val>
            <c:numRef>
              <c:f>Sheet1!$C$2:$C$3</c:f>
              <c:numCache>
                <c:formatCode>General</c:formatCode>
                <c:ptCount val="2"/>
                <c:pt idx="0">
                  <c:v>0.025</c:v>
                </c:pt>
                <c:pt idx="1">
                  <c:v>0.029</c:v>
                </c:pt>
              </c:numCache>
            </c:numRef>
          </c:val>
        </c:ser>
        <c:dLbls>
          <c:numFmt formatCode="0.0%" sourceLinked="0"/>
          <c:txPr>
            <a:bodyPr/>
            <a:lstStyle/>
            <a:p>
              <a:pPr>
                <a:defRPr b="0" i="0" strike="noStrike" sz="1200" u="none">
                  <a:solidFill>
                    <a:srgbClr val="2B23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330"/>
                </a:solidFill>
                <a:latin typeface="Arial"/>
              </a:defRPr>
            </a:pPr>
            <a:endParaRPr lang="en-US"/>
          </a:p>
        </c:txPr>
        <c:crossAx val="2094734552"/>
        <c:crosses val="autoZero"/>
        <c:auto val="1"/>
        <c:lblAlgn val="ctr"/>
        <c:noMultiLvlLbl val="1"/>
      </c:catAx>
      <c:valAx>
        <c:axId val="2094734552"/>
        <c:scaling>
          <c:orientation val="minMax"/>
          <c:max val="0.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330"/>
              </a:solidFil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Desenlace a 10 años</c:v>
                </c:pt>
              </c:strCache>
            </c:strRef>
          </c:tx>
          <c:spPr>
            <a:solidFill>
              <a:schemeClr val="accent1"/>
            </a:solidFill>
            <a:ln w="9525" cap="flat">
              <a:solidFill>
                <a:srgbClr val="F9F9F9"/>
              </a:solidFill>
              <a:prstDash val="solid"/>
              <a:round/>
            </a:ln>
            <a:effectLst/>
          </c:spPr>
          <c:dPt>
            <c:idx val="0"/>
            <c:bubble3D val="0"/>
            <c:spPr>
              <a:solidFill>
                <a:srgbClr val="1F7F79"/>
              </a:solidFill>
              <a:effectLst/>
            </c:spPr>
          </c:dPt>
          <c:dPt>
            <c:idx val="1"/>
            <c:bubble3D val="0"/>
            <c:spPr>
              <a:solidFill>
                <a:srgbClr val="7FB9B4"/>
              </a:solidFill>
              <a:effectLst/>
            </c:spPr>
          </c:dPt>
          <c:dPt>
            <c:idx val="2"/>
            <c:bubble3D val="0"/>
            <c:spPr>
              <a:solidFill>
                <a:srgbClr val="D9472F"/>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Remisión CDAI sostenida</c:v>
                </c:pt>
                <c:pt idx="1">
                  <c:v>Baja actividad</c:v>
                </c:pt>
                <c:pt idx="2">
                  <c:v>Control insuficiente</c:v>
                </c:pt>
              </c:strCache>
            </c:strRef>
          </c:cat>
          <c:val>
            <c:numRef>
              <c:f>Sheet1!$B$2:$B$4</c:f>
              <c:numCache>
                <c:ptCount val="3"/>
                <c:pt idx="0">
                  <c:v>40</c:v>
                </c:pt>
                <c:pt idx="1">
                  <c:v>40</c:v>
                </c:pt>
                <c:pt idx="2">
                  <c:v>20</c:v>
                </c:pt>
              </c:numCache>
            </c:numRef>
          </c:val>
        </c:ser>
        <c:firstSliceAng val="0"/>
        <c:holeSize val="55"/>
      </c:doughnutChart>
      <c:spPr>
        <a:noFill/>
        <a:ln>
          <a:noFill/>
        </a:ln>
        <a:effectLst/>
      </c:spPr>
    </c:plotArea>
    <c:legend>
      <c:legendPos val="b"/>
      <c:overlay val="0"/>
      <c:txPr>
        <a:bodyPr/>
        <a:lstStyle/>
        <a:p>
          <a:pPr>
            <a:defRPr sz="1000">
              <a:solidFill>
                <a:srgbClr val="2B23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artículo de revisión clínica de JAMA 2026 sobre artritis reumatoide (AR) en adultos, escrito por Smolen, Kerschbaumer, Aletaha y Robinson (Universidad Médica de Viena y Universidad de Stanford). Smolen es además coordinador del grupo de recomendaciones EULAR para el manejo de la 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Seguiremos la misma estructura del artículo: contexto, métodos, fisiopatología, epidemiología, clínica, diagnóstico y evaluación, tratamiento, seguridad, pronóstico, consideraciones prácticas, limitaciones y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 es una enfermedad autoinmune crónica caracterizada por sinovitis simétrica, autoanticuerpos y destrucción articular progresiva. Afecta al 0,53 % de los adultos del mundo y al 0,74 % en EE. UU., donde es la enfermedad autoinmune más común. Incidencia estimada: 18,3 por 100 000 en EE. UU. y 11,8 por 100 000 a nivel global. Es 2 a 3 veces más frecuente en mujeres, con pico entre los 55 y 75 años. Con terapias eficaces (metotrexato + glucocorticoides, FAME biológicos, inhibidores JAK) dirigidas a remisión o baja actividad en 6 meses, se logra con frecuencia remisión sostenida.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realizó una búsqueda en PubMed/MEDLINE hasta el 6 de julio de 2026. Se tamizaron 15 886 artículos priorizando ensayos clínicos aleatorizados, revisiones sistemáticas/metaanálisis y cohortes grandes, sobre todo publicados después de la revisión narrativa de JAMA de 2018. Se evaluaron 620 en detalle y se incluyeron 123: 46 ECA, 28 cohortes, 11 revisiones sistemáticas/metaanálisis, 15 guías, 9 artículos de ciencia básica, 6 de investigación de desenlaces y 8 revisiones narrativas. Financiación: Unión Europea (Horizon Europe, SQUEEZE); el financiador no participó en el manuscrito. Los autores declaran vínculos con la industria farmacéutica.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inflamación sinovial en AR involucra células de la inmunidad innata y adaptativa, fibroblastos y neovascularización, que forman una membrana hiperplásica y destructiva llamada pannus. La destrucción ósea la median osteoclastos derivados de macrófagos y el daño del cartílago, fibroblastos activados. La inflamación crónica podría estar precedida por disrupción de barreras mucosas: periodontitis en la boca, inflamación pulmonar por tabaquismo y aumento de la permeabilidad intestinal. Bacterias como Porphyromonas gingivalis o Prevotella interactúan con el sistema inmune, y antígenos microbianos citrulinados podrían iniciar la producción de autoanticuerpos.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linfocitos T tienen un papel importante en el inicio de la AR, dada la respuesta de autoanticuerpos específica y la asociación genética con el MHC. La inflamación sinovial y el daño articular se propagan por células innatas (macrófagos), fibroblastos, linfocitos B continuamente activados y células plasmáticas que producen autoanticuerpos. El primer autoanticuerpo descrito fue el factor reumatoide, dirigido contra la porción Fc de la IgG. Los anticuerpos antipéptido citrulinado (ACPA) también son frecuentes; al unirse a sus antígenos forman inmunocomplejos en la articulación, y el FR potencia su formación y la activación del complemento, lo que activa la producción de TNF e IL-6 por los macrófagos. Estas vías llevan a la degradación del cartílago y el hueso.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1A del artículo. Antígenos modificados (p. ej., proteínas citrulinadas) o péptidos extraños potencialmente de reactividad cruzada se presentan por MHC clase II (epítope compartido) con coestimulación CD80/CD86 a linfocitos T CD4 naïve, rompiendo la tolerancia. Los T activados se diferencian a TH1 o Tfh, secretan IL-2 e IFN-γ, activan macrófagos y ayudan a los linfocitos B, que se diferencian a células plasmáticas productoras de ACPA y FR. Los inmunocomplejos se unen a receptores Fc y de complemento y amplifican la inflamación. Los T CD8 activados por MHC I secretan IFN-γ, TNF y granzima K. El virus de Epstein-Barr puede activar linfocitos B independientemente. Las citocinas inducen RANKL en fibroblastos sinoviales, lo que diferencia macrófagos en osteoclastos que erosionan el hueso; fibroblastos y condrocitos secretan metaloproteinasas que degradan el cartílago. La neovascularización mantiene el influjo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1B, redibujada. La AR evoluciona desde la predisposición (genética, sexo femenino, tabaquismo, periodontitis, infección por Epstein-Barr, exposición a sílice y contaminantes, cambios del microbioma) y la formación de neoantígenos por citrulinación; luego el inicio de la AR con activación de linfocitos T y B y producción de ACPA y FR; después la fase pre-AR con autoinmunidad y sinovitis asintomáticas y síntomas iniciales como artralgias; finalmente la AR establecida con tumefacción, expansión de fibroblastos y daño de cartílago y hueso. Las primeras etapas se consideran reversibles; a partir de la pre-AR el proceso tiende a ser irreversible.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 afecta más a mujeres (2:1 a 3:1) con pico entre 55 y 75 años. La susceptibilidad genética explica alrededor del 60 % del riesgo: la concordancia en gemelos monocigóticos es del 15 % frente a 3,5 % en dicigóticos. Entre los muchos genes asociados, el más importante es la familia del epítope compartido HLA-DRB1, presente en el 70 %-80 % de los pacientes.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Tabaquismo: en un estudio de casos y controles en EE. UU., el 57 % de 644 pacientes con AR había fumado alguna vez frente al 49 % de controles (OR 1,34). El tabaco produce inflamación crónica de la vía aérea y citrulinación mediada por la peptidil-arginina deiminasa; el sistema inmune trata esas proteínas como extrañas. El tabaco también se asocia a periodontitis. Periodontitis: en una cohorte nacional de Taiwán la incidencia de AR fue 23,4 vs 8,3 por 10 000 personas-año (HR ajustado 1,90); en el Reino Unido 13,9 vs 12,4. La reactivación del virus de Epstein-Barr se ha asociado a AR, sin causalidad clara. La exposición a sílice y a contaminantes del aire también se asocia a mayor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pacientes presentan tumefacción sinovial simétrica y dolor en múltiples articulaciones. La tumefacción es blanda y fluctuante a la palpación, a diferencia de la tumefacción dura de la artrosis. Algunos tienen dolor y sensibilidad sin tumefacción evidente. Las articulaciones más afectadas son la muñeca (~75 %), metacarpofalángicas e interfalángicas proximales (~65 %), rodilla (~50 %) y metatarsofalángicas (~45 %). Las interfalángicas distales no se afectan, a diferencia de la artrosis y la artritis psoriásica. Rigidez matutina de más de 30 minutos en ~75 % y tenosinovitis, en especial del extensor cubital del carpo, en ~20 %.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2 del artículo. A: artritis temprana con tumefacción en interfalángicas proximales y metacarpofalángicas, y tenosinovitis. B: AR de larga evolución con subluxación metacarpofalángica y deformidad en cuello de cisne. C: nódulo reumatoide y lesión de vasculitis. D: radiografía con daño grave en metacarpofalángicas y muñeca, con erosiones y estrechamiento del espacio articular. E: el mismo paciente 6 años antes, con articulaciones casi normales: ilustra por qué el diagnóstico y el tratamiento tempranos son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manifestaciones extraarticulares (nódulos reumatoides, vasculitis reumatoide, enfermedad pulmonar intersticial) son poco comunes en la AR temprana, pero pueden aparecer en quienes han tenido AR por al menos 3 años sin remisión o baja actividad. En 1226 pacientes suecos con AR temprana seguidos 9,3 años en promedio con FAME, 238 (19,4 %) presentaron manifestaciones extraarticulares: 45 % nódulos, 22 % fibrosis pulmonar y 3 % vasculitis.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paciente evaluado por AR debe tener prueba de autoanticuerpos. Con FR y/o ACPA se consideran seropositivos; sin ellos, seronegativos. Al diagnóstico son positivos en 40 %-60 %, y la prevalencia sube a ~80 % con 3 años o más de enfermedad. En una cohorte de inicio de 242 pacientes seronegativos, 28 (12 %) se volvieron seropositivos en 3 años. La elevación de PCR y VSG y la anemia normocítica normocrómica de enfermedad crónica ocurren en el 25 % durante el primer año. Los ACPA pueden detectarse unos 14 años antes de los síntomas y el FR unos 10 años antes. Las personas seropositivas sin tumefacción se consideran pre-AR; ACR y EULAR crearon criterios de estratificación del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existen criterios diagnósticos formales para AR, porque el diagnóstico puede hacerse en pacientes que no cumplen todos los criterios de clasificación usados en ensayos. Sin embargo, los criterios de clasificación ACR/EULAR 2010 apoyan el diagnóstico: suman puntos por número y tipo de articulaciones afectadas (0 a 5), serología de FR y ACPA (0 a 3), duración de síntomas (0 a 1) y reactantes de fase aguda (0 a 1). Con 6 o más puntos se clasifica como AR. La presencia de erosiones típicas —rupturas corticales o cavidades en la superficie ósea yuxtaarticular— en al menos 3 articulaciones de manos o pies se asocia fuertemente con el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todo paciente evaluado o diagnosticado con AR se le debe hacer radiografía convencional de las articulaciones afectadas para identificar estrechamiento del espacio articular (daño del cartílago) y erosiones, más evidentes en manos y pies. Si el diagnóstico es temprano, las radiografías suelen ser normales. En AR activa deben repetirse anualmente. El estrechamiento del espacio articular se asocia más con la discapacidad funcional que las erosiones. La ecografía y la resonancia pueden detectar sinovitis o tenosinovitis no visibles en la radiografía, pero no aportan beneficio adicional para el seguimiento más allá de la clínica y la radiografía (p. ej., ensayo TaSER).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respuesta al tratamiento se evalúa con variables fiables y sensibles al cambio: recuento de articulaciones tumefactas y dolorosas (el de 28 articulaciones es fácil de hacer), evaluaciones globales de la actividad y del dolor, reactantes de fase aguda y función física, por ejemplo con el HAQ. Los reumatólogos integran estos componentes en índices compuestos. El CDAI suma 4 componentes: tumefactas, dolorosas y las evaluaciones globales del paciente y del evaluador. El SDAI añade la PCR. En AR activa se recomienda evaluar la actividad cada 1 a 3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2 del artículo. CDAI: remisión ≤2,8; baja actividad &gt;2,8 a 10; moderada &gt;10 a 22; alta &gt;22; un aumento de 4,5 define brote. SDAI: remisión ≤3,3; baja &gt;3,3 a 11; moderada &gt;11 a 26; alta &gt;26; brote con aumento ≥4,7. DAS28-PCR: remisión &lt;2,6; baja 2,6 a 3,2; moderada &gt;3,2 a 5,1; alta &gt;5,1. El CDAI es útil en la práctica porque no requiere laboratorio. El DAS28 se usa en ensayos y registros pero es más complejo y la PCR pesa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 y EULAR definen la remisión clínica como CDAI ≤2,8 o SDAI ≤3,3, o la definición booleana: articulaciones tumefactas ≤1, dolorosas ≤1, PCR ≤1 mg/dL y evaluación global del paciente ≤2 (o, sin PCR, los otros tres). Los criterios ACR20, ACR50 y ACR70 exigen una mejoría de al menos 20 %, 50 % o 70 % en articulaciones tumefactas y dolorosas y en 3 de 5 variables: evaluación global del paciente, dolor, evaluación del médico, función (HAQ) y reactantes de fase aguda. No miden actividad sino respuesta, requieren una medición basal y se usan en ensayos; el ACR70 se corresponde con baja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en pacientes sin tratamiento previo con AR de 3 años o menos es la remisión en los 6 meses posteriores al inicio de FAME; con más de 3 años de evolución, la baja actividad es una alternativa. Tras iniciar el FAME, se evalúa la actividad al menos mensualmente; si no hay mejoría de al menos 50 % del CDAI a los 3 meses o remisión a los 6, se cambia la terapia. Esta estrategia de tratar hasta el objetivo mejora los desenlaces: en el ensayo TICORA, 55 pacientes con seguimiento mensual y escalamiento por protocolo frente a 55 con atención trimestral habitual: ACR70 a 18 meses en 71 % vs 18 % (OR 11). Incluye la toma de decisiones compartida, que mejora la adherencia. Recomendaciones de referencia: ACR 2021 y EULAR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pacientes con AR deben tratarse con FAME, que modifican la enfermedad porque previenen el daño articular irreversible, a diferencia de AINE y analgésicos. Hay FAME sintéticos convencionales, biológicos y sintéticos dirigidos (inhibidores JAK). Todos reducen la tumefacción, el dolor y el daño articular y pueden revertir la discapacidad. Los analgésicos solo son coadyuvantes hasta alcanzar el objetivo o para dolor persistente. Las terapias dirigidas —biológicos e inhibidores JAK— frenan la progresión del daño articular incluso en pacientes que siguen con síntomas.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recomienda metotrexato como FAME de primera línea en todos los pacientes sin contraindicaciones (insuficiencia renal, hepatopatía, alcohol, embarazo). Se inicia con 7,5 a 10 mg orales semanales y se sube a 20 a 25 mg semanales (0,3 mg/kg) en 4 a 8 semanas. Se añade ácido fólico (1 mg/día a 15 mg/semana) para reducir efectos adversos. La vía oral no es inferior a la subcutánea: en un metaanálisis de 3 ECA con 557 pacientes, ACR70 26,2 % con oral vs 31,9 % con parenteral (OR 0,75; IC 0,51-1,09). Si no se tolera la vía oral pese al folato, puede usarse la subcutánea.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iniciar metotrexato, EULAR recomienda considerar glucocorticoides: prednisona 5 a 7,5 mg/día por 6 a 12 semanas, con descenso y suspensión en 3 meses, o una dosis única de 80 a 160 mg de metilprednisolona intramuscular. Con metotrexato más glucocorticoides, más del 40 % de los pacientes recién diagnosticados logran remisión. Si no se alcanza el objetivo, o si al reducir o suspender el glucocorticoide ocurre un brote (pérdida de la baja actividad y paso a actividad moderada o alta), se debe añadir un biológico o un inhibidor JAK. A diferencia de EULAR, la guía ACR 2021 recomienda condicionalmente iniciar sin glucocorticoides, con evidencia de certeza muy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Combinar FAME convencionales (metotrexato con sulfasalazina e hidroxicloroquina, o con leflunomida) no se recomienda como primera línea por más efectos adversos como anemia y toxicidad hepática, sin mejor eficacia. En un análisis secundario del ensayo NORD-STAR con 217 pacientes, la remisión CDAI a 24 semanas no fue mayor con la combinación (41 %) que con metotrexato solo (47 %). Si hay intolerancia o contraindicación al metotrexato, EULAR recomienda sulfasalazina 2 a 4 g/día o leflunomida 20 mg/día, de eficacia similar: en un metaanálisis de 6 ECA con 1984 pacientes, la respuesta fue 56 % con leflunomida vs 58 % con metotrexato. Aun así, el metotrexato es de primera elección por su mayor evidencia y su administración semanal.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3, sección de FAME sintéticos convencionales. Metotrexato 15 a 25 mg/semana: ACR70 de 21 %-40 % en pacientes sin FAME previos; remisión CDAI del 43 % a 6 meses combinado con glucocorticoides; efectos adversos: náuseas, estomatitis, elevación de transaminasas, mielosupresión (reducidos con folato), neumonitis en 1 % y teratogenicidad. Sulfasalazina 2 a 4 g/día: contraindicada en alergia a sulfonamidas; efectos: náuseas, exantema, leucopenia, lupus inducido, Stevens-Johnson raro y oligospermia reversible. Leflunomida 20 mg/día, inhibe la dihidroorotato deshidrogenasa: diarrea, hipertensión, elevación de transaminasas, alopecia y teratogenicidad.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FAME biológicos actúan sobre moléculas solubles o estructuras de superficie de las células implicadas en la inflamación. Contra TNF-α: adalimumab, certolizumab pegol, etanercept, golimumab e infliximab. Contra el receptor de IL-6: sarilumab y tocilizumab. Abatacept bloquea la coestimulación CD80/CD86 y rituximab se une al antígeno CD20 de los linfocitos B. Todos tienen una eficacia similar en los ensayos. EULAR recomienda añadir cualquier biológico en pacientes con metotrexato u otro FAME convencional que no logran una reducción del 50 % de la actividad a los 3 meses o remisión o baja actividad a los 6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ensayo NORD-STAR, 795 pacientes con AR temprana fueron aleatorizados 1:1:1:1 a tratamiento convencional con metotrexato más glucocorticoides o a metotrexato más un biológico: certolizumab pegol (anti-TNF), abatacept (inhibidor de la coestimulación) o tocilizumab (anti-receptor de IL-6). La remisión CDAI a 6 meses fue 42,7 % con metotrexato más glucocorticoides, similar a la de los biológicos: 52,6 % certolizumab, 56,3 % abatacept y 48,7 % tocilizumab. Esto respalda iniciar con metotrexato y glucocorticoides.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biológicos son más eficaces combinados con metotrexato que en monoterapia. En un metaanálisis de 3 ECA (1601 pacientes), anti-TNF o anti-IL-6R más metotrexato lograron ACR70 en 34 % vs 25 % en monoterapia (OR 1,82). Otro ECA de 351 pacientes: remisión CDAI 42 % con abatacept más metotrexato vs 31 % con abatacept solo. En 223 pacientes con respuesta insuficiente a metotrexato, cambiar a tocilizumab dio 55 % de remisión a 6 meses, frente a 70 % si se añadía (p = 0,02). La dosis de metotrexato puede ser tan baja como 10 mg/semana. Si el paciente no tolera ningún FAME convencional, se prefieren los anti-IL-6R: en el ensayo ADACTA (163 vs 162 pacientes), baja actividad CDAI a la semana 24 en 30,7 % con tocilizumab vs 19,8 % con adalimumab; resultados similares con sarilumab.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3, sección de biológicos. Los anti-TNF logran ACR70 cercano al 20 % en pacientes con respuesta insuficiente a metotrexato, sin diferencias clínicas ni radiográficas entre ellos. Tocilizumab 22 %, sarilumab 25 %, rituximab 22 % y abatacept 22 %. Tras falla a anti-TNF, ACR70 entre 9 % y 20 %. Rituximab muestra respuestas similares a los anti-TNF en ensayos comparativos. Efectos adversos: infecciones y reactivación de tuberculosis con la mayoría; con anti-TNF además cambios psoriasiformes, exacerbación de enfermedades desmielinizantes y lupus inducido; con anti-IL-6R perforación intestinal, neutropenia e hiperlipidemia; con rituximab reactivación de hepatitis B e hipogammaglobulinemia. Hay biosimilares de etanercept, infliximab, adalimumab, rituximab y tocilizumab con eficacia similar al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inhibidores de JAK bloquean moléculas de transducción de señales activadas por diversas citocinas. Incluyen baricitinib, filgotinib, peficitinib, tofacitinib y upadacitinib, todos orales. ACR70 tras falla a metotrexato de 20 % a 30 %, y de 12 % a 21 % tras falla a anti-TNF. Tofacitinib con metotrexato fue no inferior a adalimumab más metotrexato; baricitinib y upadacitinib fueron superiores a adalimumab más metotrexato, aunque EULAR considera que la diferencia no es clínicamente relevante. Filgotinib no está aprobado en EE. UU. y peficitinib está aprobado en Asia. Efectos adversos: infecciones, tuberculosis, herpes zóster, citopenias, hiperlipidemia, elevación de CPK, cáncer de piel no melanoma y eventos tromboembólicos venosos.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faltan ensayos comparativos directos, EULAR concluye que los inhibidores JAK tienen eficacias similares al añadirse a metotrexato, con ACR70 de 20 % a 30 %. Un metaanálisis en red de 39 ECA controlados con placebo (16 894 pacientes) mostró RR de ACR20 entre 1,57 (filgotinib) y 2,02 (tofacitinib). Como con los biológicos, es mejor añadir que cambiar: en ORAL Strategy (1146 pacientes) el ACR50 fue 38 % con tofacitinib solo, 46 % con tofacitinib más metotrexato y 44 % con adalimumab más metotrexato. Un metaanálisis de 2022 de 3 ECA (2290 pacientes) mostró ACR70 de 40,4 % con JAK más metotrexato vs 32,3 % en monoterapia.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septiembre de 2021, con base en el mayor riesgo de eventos cardiovasculares, tromboembólicos y cáncer, la FDA concluyó que los inhibidores JAK deben reservarse para pacientes que no mejoran o no toleran uno o más anti-TNF. En cambio, la Agencia Europea de Medicamentos, al igual que EULAR, no desaconseja su uso en pacientes con respuesta insuficiente a metotrexato que tengan bajo riesgo cardiovascular, tromboembólico o de cáncer.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biológicos y los inhibidores JAK aumentan el riesgo de infecciones graves. En una cohorte danesa emparejada, el riesgo a 12 meses fue 5,9 % con biológicos vs 1,5 % en la población general. Con anti-TNF frente a FAME convencionales el RR fue 1,48; datos similares con JAK. Como los anti-TNF, y en menor grado otros biológicos y JAK, pueden reactivar tuberculosis, el tamizaje de TB latente es obligatorio, con isoniazida si es positivo. El herpes zóster ocurre en hasta 7,5 % al año con JAK. Por eso se deben actualizar las vacunas antes de iniciar; la guía ACR 2022 recomienda neumococo, herpes zóster, influenza, COVID-19, vacunas por edad, VPH entre 26 y 45 años y hepatitis B en no vacunados menores de 60. Los fármacos de la vía IL-6 y los JAK aumentan el riesgo de diverticulitis y perforación intestinal.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Tofacitinib se ha asociado a más eventos cardiovasculares mayores y cáncer que los anti-TNF, y varios JAK a eventos tromboembólicos. En un ensayo en pacientes de 50 años o más con al menos un factor de riesgo cardiovascular (1455 con tofacitinib 5 mg, 1456 con 10 mg y 1451 con anti-TNF), los MACE fueron 3,4 % vs 2,5 % (HR 1,33) y los cánceres, excluyendo piel no melanoma, 4,2 % vs 2,9 % (HR 1,48), ambos más allá del margen de no inferioridad de 1,8. Un ECA reciente de baricitinib (2433 pacientes) frente a anti-TNF (1207) en pacientes con riesgo aumentado de tromboembolia venosa mostró MACE similares (1,8 % vs 1,9 %; HR 1,06), pero la tromboembolia venosa no demostró no inferioridad (0,79 vs 0,51 por 100 personas-año; HR 1,61) y el cáncer no fue estadísticamente distinto (3,6 % vs 2,8 %).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algoritmo: tras el diagnóstico, ideal en las primeras 6 semanas de síntomas, se inicia metotrexato y se considera un glucocorticoide a corto plazo; si hay contraindicación, sulfasalazina o leflunomida. Si a los 3 meses no hay mejoría de al menos 50 % o a los 6 meses no hay remisión, se añade un biológico o un inhibidor JAK (este último en pacientes sin riesgo alto cardiovascular, tromboembólico o de cáncer). Si no se logra el objetivo con el primer agente dirigido, se puede usar otro con igual o distinto mecanismo; si falla un segundo del mismo mecanismo, se debe cambiar a un mecanismo diferente. Con estas estrategias, la remisión o baja actividad global sube a cerca del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una cohorte de inicio de 521 pacientes, cerca del 40 % logró remisión CDAI sostenida a 10 años y otro 40 % baja actividad, que es el objetivo principal en AR de más de 3 años: en total ~80 % en remisión o baja actividad, mientras ~20 % tiene control insuficiente pese a biológicos y JAK. La seropositividad se asocia a más progresión del daño: RR 2,07 con FR positivo (10 cohortes, 2727 pacientes) y 2,49 con ACPA positivo (5 cohortes, 1100 pacientes). En un estudio prospectivo hubo erosiones en 62,7 % de seropositivos vs 29,3 % de seronegativos a 3 años, pese a más uso de FAME en los seropositivos (80,8 % vs 55,6 %). En un registro de 8908 pacientes, la razón de mortalidad estandarizada fue 1,5 en mujeres y 1,4 en hombres, atribuible a la alta actividad; con baja actividad no aumentó.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mejor predictor de remisión es la respuesta clínica tras 3 meses de tratamiento. Entre 2393 pacientes con AR temprana y alta actividad basal (SDAI &gt; 26, media 40), quienes seguían con SDAI mayor de 40 a los 3 meses tenían un 80 % de probabilidad de seguir con enfermedad activa al año; en cambio, quienes mejoraron a SDAI ≤12 (reducción &gt; 50 %) tenían 75 % de probabilidad de remisión o baja actividad al año. Por eso la evaluación a los 3 meses es un punto de decisión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no se logra remisión o baja actividad con el primer biológico o JAK, se puede prescribir otro con el mismo o distinto mecanismo; si no hay mejoría con un segundo del mismo mecanismo, se cambia a uno diferente. Además de los FAME: AINE, paracetamol y tramadol para el dolor; fisioterapia, terapia ocupacional con férulas y apoyo psicológico o antidepresivos cuando se necesiten. Como la AR aumenta el riesgo de infarto, insuficiencia cardiaca y ACV, deben aplicarse medidas preventivas como estatinas y control de la presión arterial. En fumadores se debe ofrecer tratamiento para dejar de fumar, porque el tabaco aumenta la actividad de la AR y dejarlo la reduce. Los biosimilares aprobados tienen eficacia y seguridad similares a los originales y son más baratos.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recuadro del artículo resume tres preguntas. Diagnóstico: historia clínica y tumefacción característica de muñecas, metacarpofalángicas e interfalángicas proximales de ambas manos, sin afectar las distales; ~75 % tiene rigidez matutina de más de 30 minutos; la mayoría tiene FR o ACPA y PCR elevada. Evaluación: CDAI cada 1 a 3 meses; alta actividad &gt; 22, baja ≤10, remisión ≤2,8. Nota: el recuadro define respuesta mínima, moderada y mayor como mejorías de 50 %, 75 % y 85 %, mientras que la nota de la Tabla 2 menciona 50 %, 70 % y 85 %. Tratamiento: FAME al diagnóstico, metotrexato oral 20-25 mg/semana con prednisona 5-7,5 mg/día hasta 3 meses; si no hay reducción de 50 % a los 3 meses o remisión a los 6, añadir un biológico; un JAK puede considerarse en pacientes de bajo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autores reconocen limitaciones: primero, no es una revisión sistemática y no se evaluó formalmente la calidad de los artículos seleccionados; segundo, solo se incluyeron artículos en inglés; tercero, pudieron omitirse artículos relevantes; y cuarto, temas como la AR preclínica, la AR difícil de tratar, el tratamiento durante el embarazo y la lactancia, los biomarcadores de respuesta y las futuras terapias como células T con receptor quimérico de antígeno (CAR-T) o activadores biespecíficos de células T quedaron fuera del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Conclusiones: la AR es una enfermedad autoinmune crónica que causa destrucción articular. La terapia inicial de primera línea es el metotrexato, considerando glucocorticoides como terapia adicional. En los pacientes que no logran remisión con este tratamiento inicial, añadir FAME biológicos o inhibidores JAK aumenta las tasas globales de remisión o baja actividad hasta aproximadamente el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espacio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8C8D6"/>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8C8D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5" Type="http://schemas.openxmlformats.org/officeDocument/2006/relationships/chart" Target="/ppt/charts/chart5.xml"/><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433"/>
        </a:solidFill>
      </p:bgPr>
    </p:bg>
    <p:spTree>
      <p:nvGrpSpPr>
        <p:cNvPr id="1" name=""/>
        <p:cNvGrpSpPr/>
        <p:nvPr/>
      </p:nvGrpSpPr>
      <p:grpSpPr>
        <a:xfrm>
          <a:off x="0" y="0"/>
          <a:ext cx="0" cy="0"/>
          <a:chOff x="0" y="0"/>
          <a:chExt cx="0" cy="0"/>
        </a:xfrm>
      </p:grpSpPr>
      <p:sp>
        <p:nvSpPr>
          <p:cNvPr id="2" name="Shape 0"/>
          <p:cNvSpPr/>
          <p:nvPr/>
        </p:nvSpPr>
        <p:spPr>
          <a:xfrm>
            <a:off x="5760720" y="-1097280"/>
            <a:ext cx="4754880" cy="4754880"/>
          </a:xfrm>
          <a:prstGeom prst="ellipse">
            <a:avLst/>
          </a:prstGeom>
          <a:solidFill>
            <a:srgbClr val="7A1F45">
              <a:alpha val="65000"/>
            </a:srgbClr>
          </a:solidFill>
          <a:ln w="12700">
            <a:solidFill>
              <a:srgbClr val="7A1F45">
                <a:alpha val="0"/>
              </a:srgbClr>
            </a:solidFill>
            <a:prstDash val="solid"/>
          </a:ln>
        </p:spPr>
      </p:sp>
      <p:sp>
        <p:nvSpPr>
          <p:cNvPr id="3" name="Shape 1"/>
          <p:cNvSpPr/>
          <p:nvPr/>
        </p:nvSpPr>
        <p:spPr>
          <a:xfrm>
            <a:off x="6949440" y="2651760"/>
            <a:ext cx="3108960" cy="3108960"/>
          </a:xfrm>
          <a:prstGeom prst="ellipse">
            <a:avLst/>
          </a:prstGeom>
          <a:solidFill>
            <a:srgbClr val="D9472F">
              <a:alpha val="45000"/>
            </a:srgbClr>
          </a:solidFill>
          <a:ln w="12700">
            <a:solidFill>
              <a:srgbClr val="D9472F">
                <a:alpha val="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7086600" y="868680"/>
            <a:ext cx="1554480" cy="1554480"/>
          </a:xfrm>
          <a:prstGeom prst="rect">
            <a:avLst/>
          </a:prstGeom>
        </p:spPr>
      </p:pic>
      <p:sp>
        <p:nvSpPr>
          <p:cNvPr id="5" name="Text 2"/>
          <p:cNvSpPr txBox="1"/>
          <p:nvPr/>
        </p:nvSpPr>
        <p:spPr>
          <a:xfrm>
            <a:off x="548640" y="731520"/>
            <a:ext cx="5486400" cy="274320"/>
          </a:xfrm>
          <a:prstGeom prst="rect">
            <a:avLst/>
          </a:prstGeom>
          <a:noFill/>
          <a:ln/>
        </p:spPr>
        <p:txBody>
          <a:bodyPr wrap="square" lIns="0" tIns="0" rIns="0" bIns="0" rtlCol="0" anchor="t"/>
          <a:lstStyle/>
          <a:p>
            <a:pPr indent="0" marL="0">
              <a:buNone/>
            </a:pPr>
            <a:r>
              <a:rPr lang="en-US" sz="1200" b="1" spc="300" kern="0" dirty="0">
                <a:solidFill>
                  <a:srgbClr val="F2B8A8"/>
                </a:solidFill>
                <a:latin typeface="Calibri" pitchFamily="34" charset="0"/>
                <a:ea typeface="Calibri" pitchFamily="34" charset="-122"/>
                <a:cs typeface="Calibri" pitchFamily="34" charset="-120"/>
              </a:rPr>
              <a:t>JAMA · CLINICAL REVIEW &amp; EDUCATION · 2026</a:t>
            </a:r>
            <a:endParaRPr lang="en-US" sz="1200" dirty="0"/>
          </a:p>
        </p:txBody>
      </p:sp>
      <p:sp>
        <p:nvSpPr>
          <p:cNvPr id="6" name="Text 3"/>
          <p:cNvSpPr txBox="1"/>
          <p:nvPr/>
        </p:nvSpPr>
        <p:spPr>
          <a:xfrm>
            <a:off x="548640" y="1234440"/>
            <a:ext cx="5852160" cy="128016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Artritis reumatoide en adultos</a:t>
            </a:r>
            <a:endParaRPr lang="en-US" sz="4000" dirty="0"/>
          </a:p>
        </p:txBody>
      </p:sp>
      <p:sp>
        <p:nvSpPr>
          <p:cNvPr id="7" name="Text 4"/>
          <p:cNvSpPr txBox="1"/>
          <p:nvPr/>
        </p:nvSpPr>
        <p:spPr>
          <a:xfrm>
            <a:off x="548640" y="2560320"/>
            <a:ext cx="5486400" cy="457200"/>
          </a:xfrm>
          <a:prstGeom prst="rect">
            <a:avLst/>
          </a:prstGeom>
          <a:noFill/>
          <a:ln/>
        </p:spPr>
        <p:txBody>
          <a:bodyPr wrap="square" lIns="0" tIns="0" rIns="0" bIns="0" rtlCol="0" anchor="t"/>
          <a:lstStyle/>
          <a:p>
            <a:pPr indent="0" marL="0">
              <a:buNone/>
            </a:pPr>
            <a:r>
              <a:rPr lang="en-US" sz="2400" i="1" dirty="0">
                <a:solidFill>
                  <a:srgbClr val="F2B8A8"/>
                </a:solidFill>
                <a:latin typeface="Cambria" pitchFamily="34" charset="0"/>
                <a:ea typeface="Cambria" pitchFamily="34" charset="-122"/>
                <a:cs typeface="Cambria" pitchFamily="34" charset="-120"/>
              </a:rPr>
              <a:t>Una revisión</a:t>
            </a:r>
            <a:endParaRPr lang="en-US" sz="2400" dirty="0"/>
          </a:p>
        </p:txBody>
      </p:sp>
      <p:sp>
        <p:nvSpPr>
          <p:cNvPr id="8" name="Text 5"/>
          <p:cNvSpPr txBox="1"/>
          <p:nvPr/>
        </p:nvSpPr>
        <p:spPr>
          <a:xfrm>
            <a:off x="548640" y="3337560"/>
            <a:ext cx="585216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Josef S. Smolen · Andreas Kerschbaumer · Daniel Aletaha · William H. Robinson</a:t>
            </a:r>
            <a:endParaRPr lang="en-US" sz="1300" dirty="0"/>
          </a:p>
        </p:txBody>
      </p:sp>
      <p:sp>
        <p:nvSpPr>
          <p:cNvPr id="9" name="Text 6"/>
          <p:cNvSpPr txBox="1"/>
          <p:nvPr/>
        </p:nvSpPr>
        <p:spPr>
          <a:xfrm>
            <a:off x="548640" y="3630168"/>
            <a:ext cx="5852160" cy="274320"/>
          </a:xfrm>
          <a:prstGeom prst="rect">
            <a:avLst/>
          </a:prstGeom>
          <a:noFill/>
          <a:ln/>
        </p:spPr>
        <p:txBody>
          <a:bodyPr wrap="square" lIns="0" tIns="0" rIns="0" bIns="0" rtlCol="0" anchor="t"/>
          <a:lstStyle/>
          <a:p>
            <a:pPr indent="0" marL="0">
              <a:buNone/>
            </a:pPr>
            <a:r>
              <a:rPr lang="en-US" sz="1150" dirty="0">
                <a:solidFill>
                  <a:srgbClr val="D8C8D6"/>
                </a:solidFill>
                <a:latin typeface="Calibri" pitchFamily="34" charset="0"/>
                <a:ea typeface="Calibri" pitchFamily="34" charset="-122"/>
                <a:cs typeface="Calibri" pitchFamily="34" charset="-120"/>
              </a:rPr>
              <a:t>Medical University of Vienna (Austria) · Stanford University (EE. UU.)</a:t>
            </a:r>
            <a:endParaRPr lang="en-US" sz="1150" dirty="0"/>
          </a:p>
        </p:txBody>
      </p:sp>
      <p:sp>
        <p:nvSpPr>
          <p:cNvPr id="10" name="Text 7"/>
          <p:cNvSpPr txBox="1"/>
          <p:nvPr/>
        </p:nvSpPr>
        <p:spPr>
          <a:xfrm>
            <a:off x="548640" y="4343400"/>
            <a:ext cx="6400800" cy="274320"/>
          </a:xfrm>
          <a:prstGeom prst="rect">
            <a:avLst/>
          </a:prstGeom>
          <a:noFill/>
          <a:ln/>
        </p:spPr>
        <p:txBody>
          <a:bodyPr wrap="square" lIns="0" tIns="0" rIns="0" bIns="0" rtlCol="0" anchor="t"/>
          <a:lstStyle/>
          <a:p>
            <a:pPr indent="0" marL="0">
              <a:buNone/>
            </a:pPr>
            <a:r>
              <a:rPr lang="en-US" sz="1100" dirty="0">
                <a:solidFill>
                  <a:srgbClr val="D8C8D6"/>
                </a:solidFill>
                <a:latin typeface="Calibri" pitchFamily="34" charset="0"/>
                <a:ea typeface="Calibri" pitchFamily="34" charset="-122"/>
                <a:cs typeface="Calibri" pitchFamily="34" charset="-120"/>
              </a:rPr>
              <a:t>JAMA. Publicado en línea el 10 de septiembre de 2026 · doi:10.1001/jama.2026.15455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CONTENIDO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Hoja de ruta de la presentación</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548640" y="1325880"/>
            <a:ext cx="384048" cy="384048"/>
          </a:xfrm>
          <a:prstGeom prst="ellipse">
            <a:avLst/>
          </a:prstGeom>
          <a:solidFill>
            <a:srgbClr val="7A1F45"/>
          </a:solidFill>
          <a:ln w="12700">
            <a:solidFill>
              <a:srgbClr val="7A1F45"/>
            </a:solidFill>
            <a:prstDash val="solid"/>
          </a:ln>
        </p:spPr>
      </p:sp>
      <p:sp>
        <p:nvSpPr>
          <p:cNvPr id="6" name="Text 4"/>
          <p:cNvSpPr txBox="1"/>
          <p:nvPr/>
        </p:nvSpPr>
        <p:spPr>
          <a:xfrm>
            <a:off x="54864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97280" y="132588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Contexto e importancia</a:t>
            </a:r>
            <a:endParaRPr lang="en-US" sz="1500" dirty="0"/>
          </a:p>
        </p:txBody>
      </p:sp>
      <p:sp>
        <p:nvSpPr>
          <p:cNvPr id="8" name="Shape 6"/>
          <p:cNvSpPr/>
          <p:nvPr/>
        </p:nvSpPr>
        <p:spPr>
          <a:xfrm>
            <a:off x="548640" y="1874520"/>
            <a:ext cx="384048" cy="384048"/>
          </a:xfrm>
          <a:prstGeom prst="ellipse">
            <a:avLst/>
          </a:prstGeom>
          <a:solidFill>
            <a:srgbClr val="7A1F45"/>
          </a:solidFill>
          <a:ln w="12700">
            <a:solidFill>
              <a:srgbClr val="7A1F45"/>
            </a:solidFill>
            <a:prstDash val="solid"/>
          </a:ln>
        </p:spPr>
      </p:sp>
      <p:sp>
        <p:nvSpPr>
          <p:cNvPr id="9" name="Text 7"/>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097280" y="187452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Metodología de la revisión</a:t>
            </a:r>
            <a:endParaRPr lang="en-US" sz="1500" dirty="0"/>
          </a:p>
        </p:txBody>
      </p:sp>
      <p:sp>
        <p:nvSpPr>
          <p:cNvPr id="11" name="Shape 9"/>
          <p:cNvSpPr/>
          <p:nvPr/>
        </p:nvSpPr>
        <p:spPr>
          <a:xfrm>
            <a:off x="548640" y="2423160"/>
            <a:ext cx="384048" cy="384048"/>
          </a:xfrm>
          <a:prstGeom prst="ellipse">
            <a:avLst/>
          </a:prstGeom>
          <a:solidFill>
            <a:srgbClr val="7A1F45"/>
          </a:solidFill>
          <a:ln w="12700">
            <a:solidFill>
              <a:srgbClr val="7A1F45"/>
            </a:solidFill>
            <a:prstDash val="solid"/>
          </a:ln>
        </p:spPr>
      </p:sp>
      <p:sp>
        <p:nvSpPr>
          <p:cNvPr id="12" name="Text 10"/>
          <p:cNvSpPr txBox="1"/>
          <p:nvPr/>
        </p:nvSpPr>
        <p:spPr>
          <a:xfrm>
            <a:off x="54864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097280" y="242316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Fisiopatología y evolución</a:t>
            </a:r>
            <a:endParaRPr lang="en-US" sz="1500" dirty="0"/>
          </a:p>
        </p:txBody>
      </p:sp>
      <p:sp>
        <p:nvSpPr>
          <p:cNvPr id="14" name="Shape 12"/>
          <p:cNvSpPr/>
          <p:nvPr/>
        </p:nvSpPr>
        <p:spPr>
          <a:xfrm>
            <a:off x="548640" y="2971800"/>
            <a:ext cx="384048" cy="384048"/>
          </a:xfrm>
          <a:prstGeom prst="ellipse">
            <a:avLst/>
          </a:prstGeom>
          <a:solidFill>
            <a:srgbClr val="7A1F45"/>
          </a:solidFill>
          <a:ln w="12700">
            <a:solidFill>
              <a:srgbClr val="7A1F45"/>
            </a:solidFill>
            <a:prstDash val="solid"/>
          </a:ln>
        </p:spPr>
      </p:sp>
      <p:sp>
        <p:nvSpPr>
          <p:cNvPr id="15" name="Text 13"/>
          <p:cNvSpPr txBox="1"/>
          <p:nvPr/>
        </p:nvSpPr>
        <p:spPr>
          <a:xfrm>
            <a:off x="548640"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097280" y="297180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Epidemiología y factores de riesgo</a:t>
            </a:r>
            <a:endParaRPr lang="en-US" sz="1500" dirty="0"/>
          </a:p>
        </p:txBody>
      </p:sp>
      <p:sp>
        <p:nvSpPr>
          <p:cNvPr id="17" name="Shape 15"/>
          <p:cNvSpPr/>
          <p:nvPr/>
        </p:nvSpPr>
        <p:spPr>
          <a:xfrm>
            <a:off x="548640" y="3520440"/>
            <a:ext cx="384048" cy="384048"/>
          </a:xfrm>
          <a:prstGeom prst="ellipse">
            <a:avLst/>
          </a:prstGeom>
          <a:solidFill>
            <a:srgbClr val="7A1F45"/>
          </a:solidFill>
          <a:ln w="12700">
            <a:solidFill>
              <a:srgbClr val="7A1F45"/>
            </a:solidFill>
            <a:prstDash val="solid"/>
          </a:ln>
        </p:spPr>
      </p:sp>
      <p:sp>
        <p:nvSpPr>
          <p:cNvPr id="18" name="Text 16"/>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9" name="Text 17"/>
          <p:cNvSpPr txBox="1"/>
          <p:nvPr/>
        </p:nvSpPr>
        <p:spPr>
          <a:xfrm>
            <a:off x="1097280" y="352044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Presentación clínica</a:t>
            </a:r>
            <a:endParaRPr lang="en-US" sz="1500" dirty="0"/>
          </a:p>
        </p:txBody>
      </p:sp>
      <p:sp>
        <p:nvSpPr>
          <p:cNvPr id="20" name="Shape 18"/>
          <p:cNvSpPr/>
          <p:nvPr/>
        </p:nvSpPr>
        <p:spPr>
          <a:xfrm>
            <a:off x="548640" y="4069080"/>
            <a:ext cx="384048" cy="384048"/>
          </a:xfrm>
          <a:prstGeom prst="ellipse">
            <a:avLst/>
          </a:prstGeom>
          <a:solidFill>
            <a:srgbClr val="7A1F45"/>
          </a:solidFill>
          <a:ln w="12700">
            <a:solidFill>
              <a:srgbClr val="7A1F45"/>
            </a:solidFill>
            <a:prstDash val="solid"/>
          </a:ln>
        </p:spPr>
      </p:sp>
      <p:sp>
        <p:nvSpPr>
          <p:cNvPr id="21" name="Text 19"/>
          <p:cNvSpPr txBox="1"/>
          <p:nvPr/>
        </p:nvSpPr>
        <p:spPr>
          <a:xfrm>
            <a:off x="54864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2" name="Text 20"/>
          <p:cNvSpPr txBox="1"/>
          <p:nvPr/>
        </p:nvSpPr>
        <p:spPr>
          <a:xfrm>
            <a:off x="1097280" y="406908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Laboratorio e imagen</a:t>
            </a:r>
            <a:endParaRPr lang="en-US" sz="1500" dirty="0"/>
          </a:p>
        </p:txBody>
      </p:sp>
      <p:sp>
        <p:nvSpPr>
          <p:cNvPr id="23" name="Shape 21"/>
          <p:cNvSpPr/>
          <p:nvPr/>
        </p:nvSpPr>
        <p:spPr>
          <a:xfrm>
            <a:off x="4754880" y="1325880"/>
            <a:ext cx="384048" cy="384048"/>
          </a:xfrm>
          <a:prstGeom prst="ellipse">
            <a:avLst/>
          </a:prstGeom>
          <a:solidFill>
            <a:srgbClr val="D9472F"/>
          </a:solidFill>
          <a:ln w="12700">
            <a:solidFill>
              <a:srgbClr val="D9472F"/>
            </a:solidFill>
            <a:prstDash val="solid"/>
          </a:ln>
        </p:spPr>
      </p:sp>
      <p:sp>
        <p:nvSpPr>
          <p:cNvPr id="24" name="Text 22"/>
          <p:cNvSpPr txBox="1"/>
          <p:nvPr/>
        </p:nvSpPr>
        <p:spPr>
          <a:xfrm>
            <a:off x="47548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5" name="Text 23"/>
          <p:cNvSpPr txBox="1"/>
          <p:nvPr/>
        </p:nvSpPr>
        <p:spPr>
          <a:xfrm>
            <a:off x="5303520" y="132588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Clasificación y evaluación de actividad</a:t>
            </a:r>
            <a:endParaRPr lang="en-US" sz="1500" dirty="0"/>
          </a:p>
        </p:txBody>
      </p:sp>
      <p:sp>
        <p:nvSpPr>
          <p:cNvPr id="26" name="Shape 24"/>
          <p:cNvSpPr/>
          <p:nvPr/>
        </p:nvSpPr>
        <p:spPr>
          <a:xfrm>
            <a:off x="4754880" y="1874520"/>
            <a:ext cx="384048" cy="384048"/>
          </a:xfrm>
          <a:prstGeom prst="ellipse">
            <a:avLst/>
          </a:prstGeom>
          <a:solidFill>
            <a:srgbClr val="D9472F"/>
          </a:solidFill>
          <a:ln w="12700">
            <a:solidFill>
              <a:srgbClr val="D9472F"/>
            </a:solidFill>
            <a:prstDash val="solid"/>
          </a:ln>
        </p:spPr>
      </p:sp>
      <p:sp>
        <p:nvSpPr>
          <p:cNvPr id="27" name="Text 25"/>
          <p:cNvSpPr txBox="1"/>
          <p:nvPr/>
        </p:nvSpPr>
        <p:spPr>
          <a:xfrm>
            <a:off x="475488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28" name="Text 26"/>
          <p:cNvSpPr txBox="1"/>
          <p:nvPr/>
        </p:nvSpPr>
        <p:spPr>
          <a:xfrm>
            <a:off x="5303520" y="187452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Tratamiento: estrategia y FAME</a:t>
            </a:r>
            <a:endParaRPr lang="en-US" sz="1500" dirty="0"/>
          </a:p>
        </p:txBody>
      </p:sp>
      <p:sp>
        <p:nvSpPr>
          <p:cNvPr id="29" name="Shape 27"/>
          <p:cNvSpPr/>
          <p:nvPr/>
        </p:nvSpPr>
        <p:spPr>
          <a:xfrm>
            <a:off x="4754880" y="2423160"/>
            <a:ext cx="384048" cy="384048"/>
          </a:xfrm>
          <a:prstGeom prst="ellipse">
            <a:avLst/>
          </a:prstGeom>
          <a:solidFill>
            <a:srgbClr val="D9472F"/>
          </a:solidFill>
          <a:ln w="12700">
            <a:solidFill>
              <a:srgbClr val="D9472F"/>
            </a:solidFill>
            <a:prstDash val="solid"/>
          </a:ln>
        </p:spPr>
      </p:sp>
      <p:sp>
        <p:nvSpPr>
          <p:cNvPr id="30" name="Text 28"/>
          <p:cNvSpPr txBox="1"/>
          <p:nvPr/>
        </p:nvSpPr>
        <p:spPr>
          <a:xfrm>
            <a:off x="475488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1" name="Text 29"/>
          <p:cNvSpPr txBox="1"/>
          <p:nvPr/>
        </p:nvSpPr>
        <p:spPr>
          <a:xfrm>
            <a:off x="5303520" y="242316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Eventos adversos y regulación</a:t>
            </a:r>
            <a:endParaRPr lang="en-US" sz="1500" dirty="0"/>
          </a:p>
        </p:txBody>
      </p:sp>
      <p:sp>
        <p:nvSpPr>
          <p:cNvPr id="32" name="Shape 30"/>
          <p:cNvSpPr/>
          <p:nvPr/>
        </p:nvSpPr>
        <p:spPr>
          <a:xfrm>
            <a:off x="4754880" y="2971800"/>
            <a:ext cx="384048" cy="384048"/>
          </a:xfrm>
          <a:prstGeom prst="ellipse">
            <a:avLst/>
          </a:prstGeom>
          <a:solidFill>
            <a:srgbClr val="D9472F"/>
          </a:solidFill>
          <a:ln w="12700">
            <a:solidFill>
              <a:srgbClr val="D9472F"/>
            </a:solidFill>
            <a:prstDash val="solid"/>
          </a:ln>
        </p:spPr>
      </p:sp>
      <p:sp>
        <p:nvSpPr>
          <p:cNvPr id="33" name="Text 31"/>
          <p:cNvSpPr txBox="1"/>
          <p:nvPr/>
        </p:nvSpPr>
        <p:spPr>
          <a:xfrm>
            <a:off x="4754880"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10</a:t>
            </a:r>
            <a:endParaRPr lang="en-US" sz="1300" dirty="0"/>
          </a:p>
        </p:txBody>
      </p:sp>
      <p:sp>
        <p:nvSpPr>
          <p:cNvPr id="34" name="Text 32"/>
          <p:cNvSpPr txBox="1"/>
          <p:nvPr/>
        </p:nvSpPr>
        <p:spPr>
          <a:xfrm>
            <a:off x="5303520" y="297180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Pronóstico y consideraciones prácticas</a:t>
            </a:r>
            <a:endParaRPr lang="en-US" sz="1500" dirty="0"/>
          </a:p>
        </p:txBody>
      </p:sp>
      <p:sp>
        <p:nvSpPr>
          <p:cNvPr id="35" name="Shape 33"/>
          <p:cNvSpPr/>
          <p:nvPr/>
        </p:nvSpPr>
        <p:spPr>
          <a:xfrm>
            <a:off x="4754880" y="3520440"/>
            <a:ext cx="384048" cy="384048"/>
          </a:xfrm>
          <a:prstGeom prst="ellipse">
            <a:avLst/>
          </a:prstGeom>
          <a:solidFill>
            <a:srgbClr val="D9472F"/>
          </a:solidFill>
          <a:ln w="12700">
            <a:solidFill>
              <a:srgbClr val="D9472F"/>
            </a:solidFill>
            <a:prstDash val="solid"/>
          </a:ln>
        </p:spPr>
      </p:sp>
      <p:sp>
        <p:nvSpPr>
          <p:cNvPr id="36" name="Text 34"/>
          <p:cNvSpPr txBox="1"/>
          <p:nvPr/>
        </p:nvSpPr>
        <p:spPr>
          <a:xfrm>
            <a:off x="475488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11</a:t>
            </a:r>
            <a:endParaRPr lang="en-US" sz="1300" dirty="0"/>
          </a:p>
        </p:txBody>
      </p:sp>
      <p:sp>
        <p:nvSpPr>
          <p:cNvPr id="37" name="Text 35"/>
          <p:cNvSpPr txBox="1"/>
          <p:nvPr/>
        </p:nvSpPr>
        <p:spPr>
          <a:xfrm>
            <a:off x="5303520" y="3520440"/>
            <a:ext cx="3474720" cy="384048"/>
          </a:xfrm>
          <a:prstGeom prst="rect">
            <a:avLst/>
          </a:prstGeom>
          <a:noFill/>
          <a:ln/>
        </p:spPr>
        <p:txBody>
          <a:bodyPr wrap="square" lIns="0" tIns="0" rIns="0" bIns="0" rtlCol="0" anchor="ctr"/>
          <a:lstStyle/>
          <a:p>
            <a:pPr indent="0" marL="0">
              <a:buNone/>
            </a:pPr>
            <a:r>
              <a:rPr lang="en-US" sz="1500" dirty="0">
                <a:solidFill>
                  <a:srgbClr val="2B2330"/>
                </a:solidFill>
                <a:latin typeface="Calibri" pitchFamily="34" charset="0"/>
                <a:ea typeface="Calibri" pitchFamily="34" charset="-122"/>
                <a:cs typeface="Calibri" pitchFamily="34" charset="-120"/>
              </a:rPr>
              <a:t>Limitaciones y conclusiones</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CONTEXTO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¿Qué es la artritis reumatoide?</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3931920" cy="3337560"/>
          </a:xfrm>
          <a:prstGeom prst="roundRect">
            <a:avLst>
              <a:gd name="adj" fmla="val 2192"/>
            </a:avLst>
          </a:prstGeom>
          <a:solidFill>
            <a:srgbClr val="F7EEF1"/>
          </a:solidFill>
          <a:ln w="12700">
            <a:solidFill>
              <a:srgbClr val="F7EEF1"/>
            </a:solidFill>
            <a:prstDash val="solid"/>
          </a:ln>
        </p:spPr>
      </p:sp>
      <p:sp>
        <p:nvSpPr>
          <p:cNvPr id="6" name="Shape 4"/>
          <p:cNvSpPr/>
          <p:nvPr/>
        </p:nvSpPr>
        <p:spPr>
          <a:xfrm>
            <a:off x="685800" y="1463040"/>
            <a:ext cx="548640" cy="548640"/>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822960" y="1600200"/>
            <a:ext cx="274320" cy="274320"/>
          </a:xfrm>
          <a:prstGeom prst="rect">
            <a:avLst/>
          </a:prstGeom>
        </p:spPr>
      </p:pic>
      <p:sp>
        <p:nvSpPr>
          <p:cNvPr id="8" name="Text 5"/>
          <p:cNvSpPr txBox="1"/>
          <p:nvPr/>
        </p:nvSpPr>
        <p:spPr>
          <a:xfrm>
            <a:off x="1371600" y="1463040"/>
            <a:ext cx="2926080" cy="548640"/>
          </a:xfrm>
          <a:prstGeom prst="rect">
            <a:avLst/>
          </a:prstGeom>
          <a:noFill/>
          <a:ln/>
        </p:spPr>
        <p:txBody>
          <a:bodyPr wrap="square" lIns="0" tIns="0" rIns="0" bIns="0" rtlCol="0" anchor="ctr"/>
          <a:lstStyle/>
          <a:p>
            <a:pPr indent="0" marL="0">
              <a:buNone/>
            </a:pPr>
            <a:r>
              <a:rPr lang="en-US" sz="1600" b="1" dirty="0">
                <a:solidFill>
                  <a:srgbClr val="2A1433"/>
                </a:solidFill>
                <a:latin typeface="Cambria" pitchFamily="34" charset="0"/>
                <a:ea typeface="Cambria" pitchFamily="34" charset="-122"/>
                <a:cs typeface="Cambria" pitchFamily="34" charset="-120"/>
              </a:rPr>
              <a:t>Enfermedad autoinmune crónica</a:t>
            </a:r>
            <a:endParaRPr lang="en-US" sz="1600" dirty="0"/>
          </a:p>
        </p:txBody>
      </p:sp>
      <p:sp>
        <p:nvSpPr>
          <p:cNvPr id="9" name="Text 6"/>
          <p:cNvSpPr txBox="1"/>
          <p:nvPr/>
        </p:nvSpPr>
        <p:spPr>
          <a:xfrm>
            <a:off x="685800" y="2148840"/>
            <a:ext cx="3566160" cy="23774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B2330"/>
                </a:solidFill>
                <a:latin typeface="Calibri" pitchFamily="34" charset="0"/>
                <a:ea typeface="Calibri" pitchFamily="34" charset="-122"/>
                <a:cs typeface="Calibri" pitchFamily="34" charset="-120"/>
              </a:rPr>
              <a:t>Sinovitis simétrica, formación de autoanticuerpos y destrucción progresiva del cartílago y el hueso</a:t>
            </a:r>
            <a:endParaRPr lang="en-US" sz="1300" dirty="0"/>
          </a:p>
          <a:p>
            <a:pPr marL="177800" indent="-177800">
              <a:spcAft>
                <a:spcPts val="600"/>
              </a:spcAft>
              <a:buSzPct val="100000"/>
              <a:buChar char="•"/>
            </a:pPr>
            <a:r>
              <a:rPr lang="en-US" sz="1300" dirty="0">
                <a:solidFill>
                  <a:srgbClr val="2B2330"/>
                </a:solidFill>
                <a:latin typeface="Calibri" pitchFamily="34" charset="0"/>
                <a:ea typeface="Calibri" pitchFamily="34" charset="-122"/>
                <a:cs typeface="Calibri" pitchFamily="34" charset="-120"/>
              </a:rPr>
              <a:t>Puede llevar a discapacidad irreversible</a:t>
            </a:r>
            <a:endParaRPr lang="en-US" sz="1300" dirty="0"/>
          </a:p>
          <a:p>
            <a:pPr marL="177800" indent="-177800">
              <a:spcAft>
                <a:spcPts val="600"/>
              </a:spcAft>
              <a:buSzPct val="100000"/>
              <a:buChar char="•"/>
            </a:pPr>
            <a:r>
              <a:rPr lang="en-US" sz="1300" dirty="0">
                <a:solidFill>
                  <a:srgbClr val="2B2330"/>
                </a:solidFill>
                <a:latin typeface="Calibri" pitchFamily="34" charset="0"/>
                <a:ea typeface="Calibri" pitchFamily="34" charset="-122"/>
                <a:cs typeface="Calibri" pitchFamily="34" charset="-120"/>
              </a:rPr>
              <a:t>Es la enfermedad autoinmune más frecuente en EE. UU.</a:t>
            </a:r>
            <a:endParaRPr lang="en-US" sz="1300" dirty="0"/>
          </a:p>
          <a:p>
            <a:pPr marL="177800" indent="-177800">
              <a:spcAft>
                <a:spcPts val="600"/>
              </a:spcAft>
              <a:buSzPct val="100000"/>
              <a:buChar char="•"/>
            </a:pPr>
            <a:r>
              <a:rPr lang="en-US" sz="1300" dirty="0">
                <a:solidFill>
                  <a:srgbClr val="2B2330"/>
                </a:solidFill>
                <a:latin typeface="Calibri" pitchFamily="34" charset="0"/>
                <a:ea typeface="Calibri" pitchFamily="34" charset="-122"/>
                <a:cs typeface="Calibri" pitchFamily="34" charset="-120"/>
              </a:rPr>
              <a:t>Sin tratamiento temprano e intensivo: nódulos, vasculitis, fibrosis pulmonar</a:t>
            </a:r>
            <a:endParaRPr lang="en-US" sz="1300" dirty="0"/>
          </a:p>
        </p:txBody>
      </p:sp>
      <p:sp>
        <p:nvSpPr>
          <p:cNvPr id="10" name="Text 7"/>
          <p:cNvSpPr txBox="1"/>
          <p:nvPr/>
        </p:nvSpPr>
        <p:spPr>
          <a:xfrm>
            <a:off x="4846320" y="1234440"/>
            <a:ext cx="1920240" cy="566928"/>
          </a:xfrm>
          <a:prstGeom prst="rect">
            <a:avLst/>
          </a:prstGeom>
          <a:noFill/>
          <a:ln/>
        </p:spPr>
        <p:txBody>
          <a:bodyPr wrap="square" lIns="0" tIns="0" rIns="0" bIns="0" rtlCol="0" anchor="b"/>
          <a:lstStyle/>
          <a:p>
            <a:pPr indent="0" marL="0">
              <a:buNone/>
            </a:pPr>
            <a:r>
              <a:rPr lang="en-US" sz="3400" b="1" dirty="0">
                <a:solidFill>
                  <a:srgbClr val="D9472F"/>
                </a:solidFill>
                <a:latin typeface="Cambria" pitchFamily="34" charset="0"/>
                <a:ea typeface="Cambria" pitchFamily="34" charset="-122"/>
                <a:cs typeface="Cambria" pitchFamily="34" charset="-120"/>
              </a:rPr>
              <a:t>0,53 %</a:t>
            </a:r>
            <a:endParaRPr lang="en-US" sz="3400" dirty="0"/>
          </a:p>
        </p:txBody>
      </p:sp>
      <p:sp>
        <p:nvSpPr>
          <p:cNvPr id="11" name="Text 8"/>
          <p:cNvSpPr txBox="1"/>
          <p:nvPr/>
        </p:nvSpPr>
        <p:spPr>
          <a:xfrm>
            <a:off x="484632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 los adultos en el mundo</a:t>
            </a:r>
            <a:endParaRPr lang="en-US" sz="1150" dirty="0"/>
          </a:p>
        </p:txBody>
      </p:sp>
      <p:sp>
        <p:nvSpPr>
          <p:cNvPr id="12" name="Text 9"/>
          <p:cNvSpPr txBox="1"/>
          <p:nvPr/>
        </p:nvSpPr>
        <p:spPr>
          <a:xfrm>
            <a:off x="6858000" y="1234440"/>
            <a:ext cx="1920240" cy="566928"/>
          </a:xfrm>
          <a:prstGeom prst="rect">
            <a:avLst/>
          </a:prstGeom>
          <a:noFill/>
          <a:ln/>
        </p:spPr>
        <p:txBody>
          <a:bodyPr wrap="square" lIns="0" tIns="0" rIns="0" bIns="0" rtlCol="0" anchor="b"/>
          <a:lstStyle/>
          <a:p>
            <a:pPr indent="0" marL="0">
              <a:buNone/>
            </a:pPr>
            <a:r>
              <a:rPr lang="en-US" sz="3400" b="1" dirty="0">
                <a:solidFill>
                  <a:srgbClr val="D9472F"/>
                </a:solidFill>
                <a:latin typeface="Cambria" pitchFamily="34" charset="0"/>
                <a:ea typeface="Cambria" pitchFamily="34" charset="-122"/>
                <a:cs typeface="Cambria" pitchFamily="34" charset="-120"/>
              </a:rPr>
              <a:t>0,74 %</a:t>
            </a:r>
            <a:endParaRPr lang="en-US" sz="3400" dirty="0"/>
          </a:p>
        </p:txBody>
      </p:sp>
      <p:sp>
        <p:nvSpPr>
          <p:cNvPr id="13" name="Text 10"/>
          <p:cNvSpPr txBox="1"/>
          <p:nvPr/>
        </p:nvSpPr>
        <p:spPr>
          <a:xfrm>
            <a:off x="68580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 los adultos en EE. UU.</a:t>
            </a:r>
            <a:endParaRPr lang="en-US" sz="1150" dirty="0"/>
          </a:p>
        </p:txBody>
      </p:sp>
      <p:sp>
        <p:nvSpPr>
          <p:cNvPr id="14" name="Text 11"/>
          <p:cNvSpPr txBox="1"/>
          <p:nvPr/>
        </p:nvSpPr>
        <p:spPr>
          <a:xfrm>
            <a:off x="4846320" y="2377440"/>
            <a:ext cx="1920240" cy="566928"/>
          </a:xfrm>
          <a:prstGeom prst="rect">
            <a:avLst/>
          </a:prstGeom>
          <a:noFill/>
          <a:ln/>
        </p:spPr>
        <p:txBody>
          <a:bodyPr wrap="square" lIns="0" tIns="0" rIns="0" bIns="0" rtlCol="0" anchor="b"/>
          <a:lstStyle/>
          <a:p>
            <a:pPr indent="0" marL="0">
              <a:buNone/>
            </a:pPr>
            <a:r>
              <a:rPr lang="en-US" sz="3000" b="1" dirty="0">
                <a:solidFill>
                  <a:srgbClr val="7A1F45"/>
                </a:solidFill>
                <a:latin typeface="Cambria" pitchFamily="34" charset="0"/>
                <a:ea typeface="Cambria" pitchFamily="34" charset="-122"/>
                <a:cs typeface="Cambria" pitchFamily="34" charset="-120"/>
              </a:rPr>
              <a:t>2:1 – 3:1</a:t>
            </a:r>
            <a:endParaRPr lang="en-US" sz="3000" dirty="0"/>
          </a:p>
        </p:txBody>
      </p:sp>
      <p:sp>
        <p:nvSpPr>
          <p:cNvPr id="15" name="Text 12"/>
          <p:cNvSpPr txBox="1"/>
          <p:nvPr/>
        </p:nvSpPr>
        <p:spPr>
          <a:xfrm>
            <a:off x="4846320" y="2980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relación mujer : hombre</a:t>
            </a:r>
            <a:endParaRPr lang="en-US" sz="1150" dirty="0"/>
          </a:p>
        </p:txBody>
      </p:sp>
      <p:sp>
        <p:nvSpPr>
          <p:cNvPr id="16" name="Text 13"/>
          <p:cNvSpPr txBox="1"/>
          <p:nvPr/>
        </p:nvSpPr>
        <p:spPr>
          <a:xfrm>
            <a:off x="6858000" y="2377440"/>
            <a:ext cx="1920240" cy="566928"/>
          </a:xfrm>
          <a:prstGeom prst="rect">
            <a:avLst/>
          </a:prstGeom>
          <a:noFill/>
          <a:ln/>
        </p:spPr>
        <p:txBody>
          <a:bodyPr wrap="square" lIns="0" tIns="0" rIns="0" bIns="0" rtlCol="0" anchor="b"/>
          <a:lstStyle/>
          <a:p>
            <a:pPr indent="0" marL="0">
              <a:buNone/>
            </a:pPr>
            <a:r>
              <a:rPr lang="en-US" sz="3000" b="1" dirty="0">
                <a:solidFill>
                  <a:srgbClr val="7A1F45"/>
                </a:solidFill>
                <a:latin typeface="Cambria" pitchFamily="34" charset="0"/>
                <a:ea typeface="Cambria" pitchFamily="34" charset="-122"/>
                <a:cs typeface="Cambria" pitchFamily="34" charset="-120"/>
              </a:rPr>
              <a:t>55–75 años</a:t>
            </a:r>
            <a:endParaRPr lang="en-US" sz="3000" dirty="0"/>
          </a:p>
        </p:txBody>
      </p:sp>
      <p:sp>
        <p:nvSpPr>
          <p:cNvPr id="17" name="Text 14"/>
          <p:cNvSpPr txBox="1"/>
          <p:nvPr/>
        </p:nvSpPr>
        <p:spPr>
          <a:xfrm>
            <a:off x="6858000" y="2980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pico de incidencia</a:t>
            </a:r>
            <a:endParaRPr lang="en-US" sz="1150" dirty="0"/>
          </a:p>
        </p:txBody>
      </p:sp>
      <p:sp>
        <p:nvSpPr>
          <p:cNvPr id="18" name="Text 15"/>
          <p:cNvSpPr txBox="1"/>
          <p:nvPr/>
        </p:nvSpPr>
        <p:spPr>
          <a:xfrm>
            <a:off x="4846320" y="3520440"/>
            <a:ext cx="1920240" cy="566928"/>
          </a:xfrm>
          <a:prstGeom prst="rect">
            <a:avLst/>
          </a:prstGeom>
          <a:noFill/>
          <a:ln/>
        </p:spPr>
        <p:txBody>
          <a:bodyPr wrap="square" lIns="0" tIns="0" rIns="0" bIns="0" rtlCol="0" anchor="b"/>
          <a:lstStyle/>
          <a:p>
            <a:pPr indent="0" marL="0">
              <a:buNone/>
            </a:pPr>
            <a:r>
              <a:rPr lang="en-US" sz="3000" b="1" dirty="0">
                <a:solidFill>
                  <a:srgbClr val="1F7F79"/>
                </a:solidFill>
                <a:latin typeface="Cambria" pitchFamily="34" charset="0"/>
                <a:ea typeface="Cambria" pitchFamily="34" charset="-122"/>
                <a:cs typeface="Cambria" pitchFamily="34" charset="-120"/>
              </a:rPr>
              <a:t>18,3</a:t>
            </a:r>
            <a:endParaRPr lang="en-US" sz="3000" dirty="0"/>
          </a:p>
        </p:txBody>
      </p:sp>
      <p:sp>
        <p:nvSpPr>
          <p:cNvPr id="19" name="Text 16"/>
          <p:cNvSpPr txBox="1"/>
          <p:nvPr/>
        </p:nvSpPr>
        <p:spPr>
          <a:xfrm>
            <a:off x="4846320" y="4123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incidencia en EE. UU. por 100 000</a:t>
            </a:r>
            <a:endParaRPr lang="en-US" sz="1150" dirty="0"/>
          </a:p>
        </p:txBody>
      </p:sp>
      <p:sp>
        <p:nvSpPr>
          <p:cNvPr id="20" name="Text 17"/>
          <p:cNvSpPr txBox="1"/>
          <p:nvPr/>
        </p:nvSpPr>
        <p:spPr>
          <a:xfrm>
            <a:off x="6858000" y="3520440"/>
            <a:ext cx="1920240" cy="566928"/>
          </a:xfrm>
          <a:prstGeom prst="rect">
            <a:avLst/>
          </a:prstGeom>
          <a:noFill/>
          <a:ln/>
        </p:spPr>
        <p:txBody>
          <a:bodyPr wrap="square" lIns="0" tIns="0" rIns="0" bIns="0" rtlCol="0" anchor="b"/>
          <a:lstStyle/>
          <a:p>
            <a:pPr indent="0" marL="0">
              <a:buNone/>
            </a:pPr>
            <a:r>
              <a:rPr lang="en-US" sz="3000" b="1" dirty="0">
                <a:solidFill>
                  <a:srgbClr val="1F7F79"/>
                </a:solidFill>
                <a:latin typeface="Cambria" pitchFamily="34" charset="0"/>
                <a:ea typeface="Cambria" pitchFamily="34" charset="-122"/>
                <a:cs typeface="Cambria" pitchFamily="34" charset="-120"/>
              </a:rPr>
              <a:t>11,8</a:t>
            </a:r>
            <a:endParaRPr lang="en-US" sz="3000" dirty="0"/>
          </a:p>
        </p:txBody>
      </p:sp>
      <p:sp>
        <p:nvSpPr>
          <p:cNvPr id="21" name="Text 18"/>
          <p:cNvSpPr txBox="1"/>
          <p:nvPr/>
        </p:nvSpPr>
        <p:spPr>
          <a:xfrm>
            <a:off x="6858000" y="4123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incidencia global por 100 000</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METODOLOGÍA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Cómo se construyó la revisión</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188720"/>
            <a:ext cx="8229600" cy="411480"/>
          </a:xfrm>
          <a:prstGeom prst="rect">
            <a:avLst/>
          </a:prstGeom>
          <a:noFill/>
          <a:ln/>
        </p:spPr>
        <p:txBody>
          <a:bodyPr wrap="square" lIns="0" tIns="0" rIns="0" bIns="0" rtlCol="0" anchor="t"/>
          <a:lstStyle/>
          <a:p>
            <a:pPr indent="0" marL="0">
              <a:buNone/>
            </a:pPr>
            <a:r>
              <a:rPr lang="en-US" sz="1250" dirty="0">
                <a:solidFill>
                  <a:srgbClr val="6E6573"/>
                </a:solidFill>
                <a:latin typeface="Calibri" pitchFamily="34" charset="0"/>
                <a:ea typeface="Calibri" pitchFamily="34" charset="-122"/>
                <a:cs typeface="Calibri" pitchFamily="34" charset="-120"/>
              </a:rPr>
              <a:t>Búsqueda en PubMed/MEDLINE desde el inicio hasta el 6 de julio de 2026 · énfasis en estudios posteriores a la revisión de JAMA de 2018</a:t>
            </a:r>
            <a:endParaRPr lang="en-US" sz="1250" dirty="0"/>
          </a:p>
        </p:txBody>
      </p:sp>
      <p:sp>
        <p:nvSpPr>
          <p:cNvPr id="6" name="Shape 4"/>
          <p:cNvSpPr/>
          <p:nvPr/>
        </p:nvSpPr>
        <p:spPr>
          <a:xfrm>
            <a:off x="457200" y="1783080"/>
            <a:ext cx="3566160" cy="731520"/>
          </a:xfrm>
          <a:prstGeom prst="roundRect">
            <a:avLst>
              <a:gd name="adj" fmla="val 10000"/>
            </a:avLst>
          </a:prstGeom>
          <a:solidFill>
            <a:srgbClr val="7A1F45"/>
          </a:solidFill>
          <a:ln w="12700">
            <a:solidFill>
              <a:srgbClr val="7A1F45"/>
            </a:solidFill>
            <a:prstDash val="solid"/>
          </a:ln>
        </p:spPr>
      </p:sp>
      <p:sp>
        <p:nvSpPr>
          <p:cNvPr id="7" name="Text 5"/>
          <p:cNvSpPr txBox="1"/>
          <p:nvPr/>
        </p:nvSpPr>
        <p:spPr>
          <a:xfrm>
            <a:off x="457200" y="1783080"/>
            <a:ext cx="356616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15 886  </a:t>
            </a:r>
            <a:pPr algn="ctr" indent="0" marL="0">
              <a:buNone/>
            </a:pPr>
            <a:r>
              <a:rPr lang="en-US" sz="1200" dirty="0">
                <a:solidFill>
                  <a:srgbClr val="FFFFFF"/>
                </a:solidFill>
                <a:latin typeface="Calibri" pitchFamily="34" charset="0"/>
                <a:ea typeface="Calibri" pitchFamily="34" charset="-122"/>
                <a:cs typeface="Calibri" pitchFamily="34" charset="-120"/>
              </a:rPr>
              <a:t>artículos tamizados</a:t>
            </a:r>
            <a:endParaRPr lang="en-US" sz="1400" dirty="0"/>
          </a:p>
        </p:txBody>
      </p:sp>
      <p:sp>
        <p:nvSpPr>
          <p:cNvPr id="8" name="Shape 6"/>
          <p:cNvSpPr/>
          <p:nvPr/>
        </p:nvSpPr>
        <p:spPr>
          <a:xfrm>
            <a:off x="731520" y="2697480"/>
            <a:ext cx="3017520" cy="731520"/>
          </a:xfrm>
          <a:prstGeom prst="roundRect">
            <a:avLst>
              <a:gd name="adj" fmla="val 10000"/>
            </a:avLst>
          </a:prstGeom>
          <a:solidFill>
            <a:srgbClr val="A2456A"/>
          </a:solidFill>
          <a:ln w="12700">
            <a:solidFill>
              <a:srgbClr val="A2456A"/>
            </a:solidFill>
            <a:prstDash val="solid"/>
          </a:ln>
        </p:spPr>
      </p:sp>
      <p:sp>
        <p:nvSpPr>
          <p:cNvPr id="9" name="Text 7"/>
          <p:cNvSpPr txBox="1"/>
          <p:nvPr/>
        </p:nvSpPr>
        <p:spPr>
          <a:xfrm>
            <a:off x="731520" y="2697480"/>
            <a:ext cx="3017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620  </a:t>
            </a:r>
            <a:pPr algn="ctr" indent="0" marL="0">
              <a:buNone/>
            </a:pPr>
            <a:r>
              <a:rPr lang="en-US" sz="1200" dirty="0">
                <a:solidFill>
                  <a:srgbClr val="FFFFFF"/>
                </a:solidFill>
                <a:latin typeface="Calibri" pitchFamily="34" charset="0"/>
                <a:ea typeface="Calibri" pitchFamily="34" charset="-122"/>
                <a:cs typeface="Calibri" pitchFamily="34" charset="-120"/>
              </a:rPr>
              <a:t>evaluados en detalle</a:t>
            </a:r>
            <a:endParaRPr lang="en-US" sz="1400" dirty="0"/>
          </a:p>
        </p:txBody>
      </p:sp>
      <p:sp>
        <p:nvSpPr>
          <p:cNvPr id="10" name="Shape 8"/>
          <p:cNvSpPr/>
          <p:nvPr/>
        </p:nvSpPr>
        <p:spPr>
          <a:xfrm>
            <a:off x="1005840" y="3611880"/>
            <a:ext cx="2468880" cy="731520"/>
          </a:xfrm>
          <a:prstGeom prst="roundRect">
            <a:avLst>
              <a:gd name="adj" fmla="val 10000"/>
            </a:avLst>
          </a:prstGeom>
          <a:solidFill>
            <a:srgbClr val="D9472F"/>
          </a:solidFill>
          <a:ln w="12700">
            <a:solidFill>
              <a:srgbClr val="D9472F"/>
            </a:solidFill>
            <a:prstDash val="solid"/>
          </a:ln>
        </p:spPr>
      </p:sp>
      <p:sp>
        <p:nvSpPr>
          <p:cNvPr id="11" name="Text 9"/>
          <p:cNvSpPr txBox="1"/>
          <p:nvPr/>
        </p:nvSpPr>
        <p:spPr>
          <a:xfrm>
            <a:off x="1005840" y="3611880"/>
            <a:ext cx="246888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123  </a:t>
            </a:r>
            <a:pPr algn="ctr" indent="0" marL="0">
              <a:buNone/>
            </a:pPr>
            <a:r>
              <a:rPr lang="en-US" sz="1200" dirty="0">
                <a:solidFill>
                  <a:srgbClr val="FFFFFF"/>
                </a:solidFill>
                <a:latin typeface="Calibri" pitchFamily="34" charset="0"/>
                <a:ea typeface="Calibri" pitchFamily="34" charset="-122"/>
                <a:cs typeface="Calibri" pitchFamily="34" charset="-120"/>
              </a:rPr>
              <a:t>incluidos en la revisión</a:t>
            </a:r>
            <a:endParaRPr lang="en-US" sz="1400" dirty="0"/>
          </a:p>
        </p:txBody>
      </p:sp>
      <p:graphicFrame>
        <p:nvGraphicFramePr>
          <p:cNvPr id="12" name="Chart 0" descr=""/>
          <p:cNvGraphicFramePr/>
          <p:nvPr/>
        </p:nvGraphicFramePr>
        <p:xfrm>
          <a:off x="4389120" y="1691640"/>
          <a:ext cx="4389120"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FISIOPATOLOGÍA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De la mucosa a la articulación</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234440"/>
            <a:ext cx="4023360" cy="320040"/>
          </a:xfrm>
          <a:prstGeom prst="rect">
            <a:avLst/>
          </a:prstGeom>
          <a:noFill/>
          <a:ln/>
        </p:spPr>
        <p:txBody>
          <a:bodyPr wrap="square" lIns="0" tIns="0" rIns="0" bIns="0" rtlCol="0" anchor="t"/>
          <a:lstStyle/>
          <a:p>
            <a:pPr indent="0" marL="0">
              <a:buNone/>
            </a:pPr>
            <a:r>
              <a:rPr lang="en-US" sz="1600" b="1" dirty="0">
                <a:solidFill>
                  <a:srgbClr val="7A1F45"/>
                </a:solidFill>
                <a:latin typeface="Cambria" pitchFamily="34" charset="0"/>
                <a:ea typeface="Cambria" pitchFamily="34" charset="-122"/>
                <a:cs typeface="Cambria" pitchFamily="34" charset="-120"/>
              </a:rPr>
              <a:t>Hipótesis del origen mucoso</a:t>
            </a:r>
            <a:endParaRPr lang="en-US" sz="1600" dirty="0"/>
          </a:p>
        </p:txBody>
      </p:sp>
      <p:sp>
        <p:nvSpPr>
          <p:cNvPr id="6" name="Shape 4"/>
          <p:cNvSpPr/>
          <p:nvPr/>
        </p:nvSpPr>
        <p:spPr>
          <a:xfrm>
            <a:off x="457200" y="1691640"/>
            <a:ext cx="548640" cy="54864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594360" y="1828800"/>
            <a:ext cx="274320" cy="274320"/>
          </a:xfrm>
          <a:prstGeom prst="rect">
            <a:avLst/>
          </a:prstGeom>
        </p:spPr>
      </p:pic>
      <p:sp>
        <p:nvSpPr>
          <p:cNvPr id="8" name="Text 5"/>
          <p:cNvSpPr txBox="1"/>
          <p:nvPr/>
        </p:nvSpPr>
        <p:spPr>
          <a:xfrm>
            <a:off x="1143000" y="1691640"/>
            <a:ext cx="3200400" cy="256032"/>
          </a:xfrm>
          <a:prstGeom prst="rect">
            <a:avLst/>
          </a:prstGeom>
          <a:noFill/>
          <a:ln/>
        </p:spPr>
        <p:txBody>
          <a:bodyPr wrap="square" lIns="0" tIns="0" rIns="0" bIns="0" rtlCol="0" anchor="t"/>
          <a:lstStyle/>
          <a:p>
            <a:pPr indent="0" marL="0">
              <a:buNone/>
            </a:pPr>
            <a:r>
              <a:rPr lang="en-US" sz="1400" b="1" dirty="0">
                <a:solidFill>
                  <a:srgbClr val="2A1433"/>
                </a:solidFill>
                <a:latin typeface="Calibri" pitchFamily="34" charset="0"/>
                <a:ea typeface="Calibri" pitchFamily="34" charset="-122"/>
                <a:cs typeface="Calibri" pitchFamily="34" charset="-120"/>
              </a:rPr>
              <a:t>Boca</a:t>
            </a:r>
            <a:endParaRPr lang="en-US" sz="1400" dirty="0"/>
          </a:p>
        </p:txBody>
      </p:sp>
      <p:sp>
        <p:nvSpPr>
          <p:cNvPr id="9" name="Text 6"/>
          <p:cNvSpPr txBox="1"/>
          <p:nvPr/>
        </p:nvSpPr>
        <p:spPr>
          <a:xfrm>
            <a:off x="1143000" y="1947672"/>
            <a:ext cx="3200400" cy="365760"/>
          </a:xfrm>
          <a:prstGeom prst="rect">
            <a:avLst/>
          </a:prstGeom>
          <a:noFill/>
          <a:ln/>
        </p:spPr>
        <p:txBody>
          <a:bodyPr wrap="square" lIns="0" tIns="0" rIns="0" bIns="0" rtlCol="0" anchor="t"/>
          <a:lstStyle/>
          <a:p>
            <a:pPr indent="0" marL="0">
              <a:buNone/>
            </a:pPr>
            <a:r>
              <a:rPr lang="en-US" sz="1200" dirty="0">
                <a:solidFill>
                  <a:srgbClr val="6E6573"/>
                </a:solidFill>
                <a:latin typeface="Calibri" pitchFamily="34" charset="0"/>
                <a:ea typeface="Calibri" pitchFamily="34" charset="-122"/>
                <a:cs typeface="Calibri" pitchFamily="34" charset="-120"/>
              </a:rPr>
              <a:t>Periodontitis · Porphyromonas gingivalis</a:t>
            </a:r>
            <a:endParaRPr lang="en-US" sz="1200" dirty="0"/>
          </a:p>
        </p:txBody>
      </p:sp>
      <p:sp>
        <p:nvSpPr>
          <p:cNvPr id="10" name="Shape 7"/>
          <p:cNvSpPr/>
          <p:nvPr/>
        </p:nvSpPr>
        <p:spPr>
          <a:xfrm>
            <a:off x="457200" y="2468880"/>
            <a:ext cx="548640" cy="548640"/>
          </a:xfrm>
          <a:prstGeom prst="ellipse">
            <a:avLst/>
          </a:prstGeom>
          <a:solidFill>
            <a:srgbClr val="D9472F"/>
          </a:solidFill>
          <a:ln w="12700">
            <a:solidFill>
              <a:srgbClr val="D9472F"/>
            </a:solidFill>
            <a:prstDash val="solid"/>
          </a:ln>
        </p:spPr>
      </p:sp>
      <p:pic>
        <p:nvPicPr>
          <p:cNvPr id="11" name="Image 1" descr="preencoded.png">    </p:cNvPr>
          <p:cNvPicPr>
            <a:picLocks noChangeAspect="1"/>
          </p:cNvPicPr>
          <p:nvPr/>
        </p:nvPicPr>
        <p:blipFill>
          <a:blip r:embed="rId2"/>
          <a:stretch>
            <a:fillRect/>
          </a:stretch>
        </p:blipFill>
        <p:spPr>
          <a:xfrm>
            <a:off x="594360" y="2606040"/>
            <a:ext cx="274320" cy="274320"/>
          </a:xfrm>
          <a:prstGeom prst="rect">
            <a:avLst/>
          </a:prstGeom>
        </p:spPr>
      </p:pic>
      <p:sp>
        <p:nvSpPr>
          <p:cNvPr id="12" name="Text 8"/>
          <p:cNvSpPr txBox="1"/>
          <p:nvPr/>
        </p:nvSpPr>
        <p:spPr>
          <a:xfrm>
            <a:off x="1143000" y="2468880"/>
            <a:ext cx="3200400" cy="256032"/>
          </a:xfrm>
          <a:prstGeom prst="rect">
            <a:avLst/>
          </a:prstGeom>
          <a:noFill/>
          <a:ln/>
        </p:spPr>
        <p:txBody>
          <a:bodyPr wrap="square" lIns="0" tIns="0" rIns="0" bIns="0" rtlCol="0" anchor="t"/>
          <a:lstStyle/>
          <a:p>
            <a:pPr indent="0" marL="0">
              <a:buNone/>
            </a:pPr>
            <a:r>
              <a:rPr lang="en-US" sz="1400" b="1" dirty="0">
                <a:solidFill>
                  <a:srgbClr val="2A1433"/>
                </a:solidFill>
                <a:latin typeface="Calibri" pitchFamily="34" charset="0"/>
                <a:ea typeface="Calibri" pitchFamily="34" charset="-122"/>
                <a:cs typeface="Calibri" pitchFamily="34" charset="-120"/>
              </a:rPr>
              <a:t>Pulmón</a:t>
            </a:r>
            <a:endParaRPr lang="en-US" sz="1400" dirty="0"/>
          </a:p>
        </p:txBody>
      </p:sp>
      <p:sp>
        <p:nvSpPr>
          <p:cNvPr id="13" name="Text 9"/>
          <p:cNvSpPr txBox="1"/>
          <p:nvPr/>
        </p:nvSpPr>
        <p:spPr>
          <a:xfrm>
            <a:off x="1143000" y="2724912"/>
            <a:ext cx="3200400" cy="365760"/>
          </a:xfrm>
          <a:prstGeom prst="rect">
            <a:avLst/>
          </a:prstGeom>
          <a:noFill/>
          <a:ln/>
        </p:spPr>
        <p:txBody>
          <a:bodyPr wrap="square" lIns="0" tIns="0" rIns="0" bIns="0" rtlCol="0" anchor="t"/>
          <a:lstStyle/>
          <a:p>
            <a:pPr indent="0" marL="0">
              <a:buNone/>
            </a:pPr>
            <a:r>
              <a:rPr lang="en-US" sz="1200" dirty="0">
                <a:solidFill>
                  <a:srgbClr val="6E6573"/>
                </a:solidFill>
                <a:latin typeface="Calibri" pitchFamily="34" charset="0"/>
                <a:ea typeface="Calibri" pitchFamily="34" charset="-122"/>
                <a:cs typeface="Calibri" pitchFamily="34" charset="-120"/>
              </a:rPr>
              <a:t>Inflamación por tabaquismo y factores ambientales</a:t>
            </a:r>
            <a:endParaRPr lang="en-US" sz="1200" dirty="0"/>
          </a:p>
        </p:txBody>
      </p:sp>
      <p:sp>
        <p:nvSpPr>
          <p:cNvPr id="14" name="Shape 10"/>
          <p:cNvSpPr/>
          <p:nvPr/>
        </p:nvSpPr>
        <p:spPr>
          <a:xfrm>
            <a:off x="457200" y="3246120"/>
            <a:ext cx="548640" cy="548640"/>
          </a:xfrm>
          <a:prstGeom prst="ellipse">
            <a:avLst/>
          </a:prstGeom>
          <a:solidFill>
            <a:srgbClr val="D9472F"/>
          </a:solidFill>
          <a:ln w="12700">
            <a:solidFill>
              <a:srgbClr val="D9472F"/>
            </a:solidFill>
            <a:prstDash val="solid"/>
          </a:ln>
        </p:spPr>
      </p:sp>
      <p:pic>
        <p:nvPicPr>
          <p:cNvPr id="15" name="Image 2" descr="preencoded.png">    </p:cNvPr>
          <p:cNvPicPr>
            <a:picLocks noChangeAspect="1"/>
          </p:cNvPicPr>
          <p:nvPr/>
        </p:nvPicPr>
        <p:blipFill>
          <a:blip r:embed="rId3"/>
          <a:stretch>
            <a:fillRect/>
          </a:stretch>
        </p:blipFill>
        <p:spPr>
          <a:xfrm>
            <a:off x="594360" y="3383280"/>
            <a:ext cx="274320" cy="274320"/>
          </a:xfrm>
          <a:prstGeom prst="rect">
            <a:avLst/>
          </a:prstGeom>
        </p:spPr>
      </p:pic>
      <p:sp>
        <p:nvSpPr>
          <p:cNvPr id="16" name="Text 11"/>
          <p:cNvSpPr txBox="1"/>
          <p:nvPr/>
        </p:nvSpPr>
        <p:spPr>
          <a:xfrm>
            <a:off x="1143000" y="3246120"/>
            <a:ext cx="3200400" cy="256032"/>
          </a:xfrm>
          <a:prstGeom prst="rect">
            <a:avLst/>
          </a:prstGeom>
          <a:noFill/>
          <a:ln/>
        </p:spPr>
        <p:txBody>
          <a:bodyPr wrap="square" lIns="0" tIns="0" rIns="0" bIns="0" rtlCol="0" anchor="t"/>
          <a:lstStyle/>
          <a:p>
            <a:pPr indent="0" marL="0">
              <a:buNone/>
            </a:pPr>
            <a:r>
              <a:rPr lang="en-US" sz="1400" b="1" dirty="0">
                <a:solidFill>
                  <a:srgbClr val="2A1433"/>
                </a:solidFill>
                <a:latin typeface="Calibri" pitchFamily="34" charset="0"/>
                <a:ea typeface="Calibri" pitchFamily="34" charset="-122"/>
                <a:cs typeface="Calibri" pitchFamily="34" charset="-120"/>
              </a:rPr>
              <a:t>Intestino</a:t>
            </a:r>
            <a:endParaRPr lang="en-US" sz="1400" dirty="0"/>
          </a:p>
        </p:txBody>
      </p:sp>
      <p:sp>
        <p:nvSpPr>
          <p:cNvPr id="17" name="Text 12"/>
          <p:cNvSpPr txBox="1"/>
          <p:nvPr/>
        </p:nvSpPr>
        <p:spPr>
          <a:xfrm>
            <a:off x="1143000" y="3502152"/>
            <a:ext cx="3200400" cy="365760"/>
          </a:xfrm>
          <a:prstGeom prst="rect">
            <a:avLst/>
          </a:prstGeom>
          <a:noFill/>
          <a:ln/>
        </p:spPr>
        <p:txBody>
          <a:bodyPr wrap="square" lIns="0" tIns="0" rIns="0" bIns="0" rtlCol="0" anchor="t"/>
          <a:lstStyle/>
          <a:p>
            <a:pPr indent="0" marL="0">
              <a:buNone/>
            </a:pPr>
            <a:r>
              <a:rPr lang="en-US" sz="1200" dirty="0">
                <a:solidFill>
                  <a:srgbClr val="6E6573"/>
                </a:solidFill>
                <a:latin typeface="Calibri" pitchFamily="34" charset="0"/>
                <a:ea typeface="Calibri" pitchFamily="34" charset="-122"/>
                <a:cs typeface="Calibri" pitchFamily="34" charset="-120"/>
              </a:rPr>
              <a:t>Mayor permeabilidad · Prevotella</a:t>
            </a:r>
            <a:endParaRPr lang="en-US" sz="1200" dirty="0"/>
          </a:p>
        </p:txBody>
      </p:sp>
      <p:sp>
        <p:nvSpPr>
          <p:cNvPr id="18" name="Shape 13"/>
          <p:cNvSpPr/>
          <p:nvPr/>
        </p:nvSpPr>
        <p:spPr>
          <a:xfrm>
            <a:off x="457200" y="4023360"/>
            <a:ext cx="3931920" cy="658368"/>
          </a:xfrm>
          <a:prstGeom prst="roundRect">
            <a:avLst>
              <a:gd name="adj" fmla="val 11111"/>
            </a:avLst>
          </a:prstGeom>
          <a:solidFill>
            <a:srgbClr val="F7EEF1"/>
          </a:solidFill>
          <a:ln w="12700">
            <a:solidFill>
              <a:srgbClr val="F7EEF1"/>
            </a:solidFill>
            <a:prstDash val="solid"/>
          </a:ln>
        </p:spPr>
      </p:sp>
      <p:sp>
        <p:nvSpPr>
          <p:cNvPr id="19" name="Text 14"/>
          <p:cNvSpPr txBox="1"/>
          <p:nvPr/>
        </p:nvSpPr>
        <p:spPr>
          <a:xfrm>
            <a:off x="594360" y="4069080"/>
            <a:ext cx="3657600" cy="566928"/>
          </a:xfrm>
          <a:prstGeom prst="rect">
            <a:avLst/>
          </a:prstGeom>
          <a:noFill/>
          <a:ln/>
        </p:spPr>
        <p:txBody>
          <a:bodyPr wrap="square" lIns="0" tIns="0" rIns="0" bIns="0" rtlCol="0" anchor="ctr"/>
          <a:lstStyle/>
          <a:p>
            <a:pPr indent="0" marL="0">
              <a:buNone/>
            </a:pPr>
            <a:r>
              <a:rPr lang="en-US" sz="1150" i="1" dirty="0">
                <a:solidFill>
                  <a:srgbClr val="2A1433"/>
                </a:solidFill>
                <a:latin typeface="Calibri" pitchFamily="34" charset="0"/>
                <a:ea typeface="Calibri" pitchFamily="34" charset="-122"/>
                <a:cs typeface="Calibri" pitchFamily="34" charset="-120"/>
              </a:rPr>
              <a:t>Antígenos microbianos citrulinados en las mucosas pueden desencadenar y mantener la producción sistémica de (auto)anticuerpos.</a:t>
            </a:r>
            <a:endParaRPr lang="en-US" sz="1150" dirty="0"/>
          </a:p>
        </p:txBody>
      </p:sp>
      <p:sp>
        <p:nvSpPr>
          <p:cNvPr id="20" name="Text 15"/>
          <p:cNvSpPr txBox="1"/>
          <p:nvPr/>
        </p:nvSpPr>
        <p:spPr>
          <a:xfrm>
            <a:off x="4754880" y="1234440"/>
            <a:ext cx="4023360" cy="320040"/>
          </a:xfrm>
          <a:prstGeom prst="rect">
            <a:avLst/>
          </a:prstGeom>
          <a:noFill/>
          <a:ln/>
        </p:spPr>
        <p:txBody>
          <a:bodyPr wrap="square" lIns="0" tIns="0" rIns="0" bIns="0" rtlCol="0" anchor="t"/>
          <a:lstStyle/>
          <a:p>
            <a:pPr indent="0" marL="0">
              <a:buNone/>
            </a:pPr>
            <a:r>
              <a:rPr lang="en-US" sz="1600" b="1" dirty="0">
                <a:solidFill>
                  <a:srgbClr val="7A1F45"/>
                </a:solidFill>
                <a:latin typeface="Cambria" pitchFamily="34" charset="0"/>
                <a:ea typeface="Cambria" pitchFamily="34" charset="-122"/>
                <a:cs typeface="Cambria" pitchFamily="34" charset="-120"/>
              </a:rPr>
              <a:t>La sinovial reumatoide (pannus)</a:t>
            </a:r>
            <a:endParaRPr lang="en-US" sz="1600" dirty="0"/>
          </a:p>
        </p:txBody>
      </p:sp>
      <p:sp>
        <p:nvSpPr>
          <p:cNvPr id="21" name="Shape 16"/>
          <p:cNvSpPr/>
          <p:nvPr/>
        </p:nvSpPr>
        <p:spPr>
          <a:xfrm>
            <a:off x="4754880" y="1691640"/>
            <a:ext cx="3931920" cy="2990088"/>
          </a:xfrm>
          <a:prstGeom prst="roundRect">
            <a:avLst>
              <a:gd name="adj" fmla="val 2446"/>
            </a:avLst>
          </a:prstGeom>
          <a:solidFill>
            <a:srgbClr val="F7EEF1"/>
          </a:solidFill>
          <a:ln w="12700">
            <a:solidFill>
              <a:srgbClr val="F7EEF1"/>
            </a:solidFill>
            <a:prstDash val="solid"/>
          </a:ln>
        </p:spPr>
      </p:sp>
      <p:sp>
        <p:nvSpPr>
          <p:cNvPr id="22" name="Text 17"/>
          <p:cNvSpPr txBox="1"/>
          <p:nvPr/>
        </p:nvSpPr>
        <p:spPr>
          <a:xfrm>
            <a:off x="4937760" y="1828800"/>
            <a:ext cx="3611880" cy="274320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7A1F45"/>
                </a:solidFill>
                <a:latin typeface="Calibri" pitchFamily="34" charset="0"/>
                <a:ea typeface="Calibri" pitchFamily="34" charset="-122"/>
                <a:cs typeface="Calibri" pitchFamily="34" charset="-120"/>
              </a:rPr>
              <a:t>Composición: </a:t>
            </a:r>
            <a:pPr indent="0" marL="0">
              <a:buNone/>
            </a:pPr>
            <a:r>
              <a:rPr lang="en-US" sz="1300" dirty="0">
                <a:solidFill>
                  <a:srgbClr val="2B2330"/>
                </a:solidFill>
                <a:latin typeface="Calibri" pitchFamily="34" charset="0"/>
                <a:ea typeface="Calibri" pitchFamily="34" charset="-122"/>
                <a:cs typeface="Calibri" pitchFamily="34" charset="-120"/>
              </a:rPr>
              <a:t>células de la inmunidad innata y adaptativa, fibroblastos y aumento de la vascularización</a:t>
            </a:r>
            <a:endParaRPr lang="en-US" sz="1300" dirty="0"/>
          </a:p>
          <a:p>
            <a:pPr marL="177800" indent="-177800">
              <a:spcAft>
                <a:spcPts val="800"/>
              </a:spcAft>
              <a:buSzPct val="100000"/>
              <a:buChar char="•"/>
            </a:pPr>
            <a:r>
              <a:rPr lang="en-US" sz="1300" b="1" dirty="0">
                <a:solidFill>
                  <a:srgbClr val="7A1F45"/>
                </a:solidFill>
                <a:latin typeface="Calibri" pitchFamily="34" charset="0"/>
                <a:ea typeface="Calibri" pitchFamily="34" charset="-122"/>
                <a:cs typeface="Calibri" pitchFamily="34" charset="-120"/>
              </a:rPr>
              <a:t>Membrana hiperplásica y destructiva </a:t>
            </a:r>
            <a:pPr indent="0" marL="0">
              <a:buNone/>
            </a:pPr>
            <a:r>
              <a:rPr lang="en-US" sz="1300" dirty="0">
                <a:solidFill>
                  <a:srgbClr val="2B2330"/>
                </a:solidFill>
                <a:latin typeface="Calibri" pitchFamily="34" charset="0"/>
                <a:ea typeface="Calibri" pitchFamily="34" charset="-122"/>
                <a:cs typeface="Calibri" pitchFamily="34" charset="-120"/>
              </a:rPr>
              <a:t>(pannus) que invade el cartílago y el hueso adyacentes</a:t>
            </a:r>
            <a:endParaRPr lang="en-US" sz="1300" dirty="0"/>
          </a:p>
          <a:p>
            <a:pPr marL="177800" indent="-177800">
              <a:spcAft>
                <a:spcPts val="800"/>
              </a:spcAft>
              <a:buSzPct val="100000"/>
              <a:buChar char="•"/>
            </a:pPr>
            <a:r>
              <a:rPr lang="en-US" sz="1300" b="1" dirty="0">
                <a:solidFill>
                  <a:srgbClr val="7A1F45"/>
                </a:solidFill>
                <a:latin typeface="Calibri" pitchFamily="34" charset="0"/>
                <a:ea typeface="Calibri" pitchFamily="34" charset="-122"/>
                <a:cs typeface="Calibri" pitchFamily="34" charset="-120"/>
              </a:rPr>
              <a:t>Erosión ósea: </a:t>
            </a:r>
            <a:pPr indent="0" marL="0">
              <a:buNone/>
            </a:pPr>
            <a:r>
              <a:rPr lang="en-US" sz="1300" dirty="0">
                <a:solidFill>
                  <a:srgbClr val="2B2330"/>
                </a:solidFill>
                <a:latin typeface="Calibri" pitchFamily="34" charset="0"/>
                <a:ea typeface="Calibri" pitchFamily="34" charset="-122"/>
                <a:cs typeface="Calibri" pitchFamily="34" charset="-120"/>
              </a:rPr>
              <a:t>osteoclastos derivados de macrófagos</a:t>
            </a:r>
            <a:endParaRPr lang="en-US" sz="1300" dirty="0"/>
          </a:p>
          <a:p>
            <a:pPr marL="177800" indent="-177800">
              <a:spcAft>
                <a:spcPts val="800"/>
              </a:spcAft>
              <a:buSzPct val="100000"/>
              <a:buChar char="•"/>
            </a:pPr>
            <a:r>
              <a:rPr lang="en-US" sz="1300" b="1" dirty="0">
                <a:solidFill>
                  <a:srgbClr val="7A1F45"/>
                </a:solidFill>
                <a:latin typeface="Calibri" pitchFamily="34" charset="0"/>
                <a:ea typeface="Calibri" pitchFamily="34" charset="-122"/>
                <a:cs typeface="Calibri" pitchFamily="34" charset="-120"/>
              </a:rPr>
              <a:t>Daño del cartílago: </a:t>
            </a:r>
            <a:pPr indent="0" marL="0">
              <a:buNone/>
            </a:pPr>
            <a:r>
              <a:rPr lang="en-US" sz="1300" dirty="0">
                <a:solidFill>
                  <a:srgbClr val="2B2330"/>
                </a:solidFill>
                <a:latin typeface="Calibri" pitchFamily="34" charset="0"/>
                <a:ea typeface="Calibri" pitchFamily="34" charset="-122"/>
                <a:cs typeface="Calibri" pitchFamily="34" charset="-120"/>
              </a:rPr>
              <a:t>fibroblastos activados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FISIOPATOLOGÍA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La cascada autoinmune</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325880"/>
            <a:ext cx="1517904" cy="2834640"/>
          </a:xfrm>
          <a:prstGeom prst="roundRect">
            <a:avLst>
              <a:gd name="adj" fmla="val 4819"/>
            </a:avLst>
          </a:prstGeom>
          <a:solidFill>
            <a:srgbClr val="F7EEF1"/>
          </a:solidFill>
          <a:ln w="12700">
            <a:solidFill>
              <a:srgbClr val="F7EEF1"/>
            </a:solidFill>
            <a:prstDash val="solid"/>
          </a:ln>
        </p:spPr>
      </p:sp>
      <p:sp>
        <p:nvSpPr>
          <p:cNvPr id="6" name="Shape 4"/>
          <p:cNvSpPr/>
          <p:nvPr/>
        </p:nvSpPr>
        <p:spPr>
          <a:xfrm>
            <a:off x="932688" y="1481328"/>
            <a:ext cx="566928" cy="566928"/>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1074420" y="1623060"/>
            <a:ext cx="283464" cy="283464"/>
          </a:xfrm>
          <a:prstGeom prst="rect">
            <a:avLst/>
          </a:prstGeom>
        </p:spPr>
      </p:pic>
      <p:sp>
        <p:nvSpPr>
          <p:cNvPr id="8" name="Text 5"/>
          <p:cNvSpPr txBox="1"/>
          <p:nvPr/>
        </p:nvSpPr>
        <p:spPr>
          <a:xfrm>
            <a:off x="548640" y="2148840"/>
            <a:ext cx="1335024" cy="50292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Linfocitos T</a:t>
            </a:r>
            <a:endParaRPr lang="en-US" sz="1300" dirty="0"/>
          </a:p>
        </p:txBody>
      </p:sp>
      <p:sp>
        <p:nvSpPr>
          <p:cNvPr id="9" name="Text 6"/>
          <p:cNvSpPr txBox="1"/>
          <p:nvPr/>
        </p:nvSpPr>
        <p:spPr>
          <a:xfrm>
            <a:off x="566928" y="2697480"/>
            <a:ext cx="1298448" cy="141732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Asociación genética con el complejo mayor de histocompatibilidad (MHC); inician la respuesta específica</a:t>
            </a:r>
            <a:endParaRPr lang="en-US" sz="1100" dirty="0"/>
          </a:p>
        </p:txBody>
      </p:sp>
      <p:sp>
        <p:nvSpPr>
          <p:cNvPr id="10" name="Shape 7"/>
          <p:cNvSpPr/>
          <p:nvPr/>
        </p:nvSpPr>
        <p:spPr>
          <a:xfrm>
            <a:off x="1984248" y="2743200"/>
            <a:ext cx="146304" cy="914"/>
          </a:xfrm>
          <a:prstGeom prst="line">
            <a:avLst/>
          </a:prstGeom>
          <a:noFill/>
          <a:ln w="25400">
            <a:solidFill>
              <a:srgbClr val="D9472F"/>
            </a:solidFill>
            <a:prstDash val="solid"/>
            <a:tailEnd type="triangle"/>
          </a:ln>
        </p:spPr>
      </p:sp>
      <p:sp>
        <p:nvSpPr>
          <p:cNvPr id="11" name="Shape 8"/>
          <p:cNvSpPr/>
          <p:nvPr/>
        </p:nvSpPr>
        <p:spPr>
          <a:xfrm>
            <a:off x="2139696" y="1325880"/>
            <a:ext cx="1517904" cy="2834640"/>
          </a:xfrm>
          <a:prstGeom prst="roundRect">
            <a:avLst>
              <a:gd name="adj" fmla="val 4819"/>
            </a:avLst>
          </a:prstGeom>
          <a:solidFill>
            <a:srgbClr val="F7EEF1"/>
          </a:solidFill>
          <a:ln w="12700">
            <a:solidFill>
              <a:srgbClr val="F7EEF1"/>
            </a:solidFill>
            <a:prstDash val="solid"/>
          </a:ln>
        </p:spPr>
      </p:sp>
      <p:sp>
        <p:nvSpPr>
          <p:cNvPr id="12" name="Shape 9"/>
          <p:cNvSpPr/>
          <p:nvPr/>
        </p:nvSpPr>
        <p:spPr>
          <a:xfrm>
            <a:off x="2615184" y="1481328"/>
            <a:ext cx="566928" cy="566928"/>
          </a:xfrm>
          <a:prstGeom prst="ellipse">
            <a:avLst/>
          </a:prstGeom>
          <a:solidFill>
            <a:srgbClr val="7A1F45"/>
          </a:solidFill>
          <a:ln w="12700">
            <a:solidFill>
              <a:srgbClr val="7A1F45"/>
            </a:solidFill>
            <a:prstDash val="solid"/>
          </a:ln>
        </p:spPr>
      </p:sp>
      <p:pic>
        <p:nvPicPr>
          <p:cNvPr id="13" name="Image 1" descr="preencoded.png">    </p:cNvPr>
          <p:cNvPicPr>
            <a:picLocks noChangeAspect="1"/>
          </p:cNvPicPr>
          <p:nvPr/>
        </p:nvPicPr>
        <p:blipFill>
          <a:blip r:embed="rId2"/>
          <a:stretch>
            <a:fillRect/>
          </a:stretch>
        </p:blipFill>
        <p:spPr>
          <a:xfrm>
            <a:off x="2756916" y="1623060"/>
            <a:ext cx="283464" cy="283464"/>
          </a:xfrm>
          <a:prstGeom prst="rect">
            <a:avLst/>
          </a:prstGeom>
        </p:spPr>
      </p:pic>
      <p:sp>
        <p:nvSpPr>
          <p:cNvPr id="14" name="Text 10"/>
          <p:cNvSpPr txBox="1"/>
          <p:nvPr/>
        </p:nvSpPr>
        <p:spPr>
          <a:xfrm>
            <a:off x="2231136" y="2148840"/>
            <a:ext cx="1335024" cy="50292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Linfocitos B y células plasmáticas</a:t>
            </a:r>
            <a:endParaRPr lang="en-US" sz="1300" dirty="0"/>
          </a:p>
        </p:txBody>
      </p:sp>
      <p:sp>
        <p:nvSpPr>
          <p:cNvPr id="15" name="Text 11"/>
          <p:cNvSpPr txBox="1"/>
          <p:nvPr/>
        </p:nvSpPr>
        <p:spPr>
          <a:xfrm>
            <a:off x="2249424" y="2697480"/>
            <a:ext cx="1298448" cy="141732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Producen autoanticuerpos: factor reumatoide (contra el Fc de la IgG) y ACPA</a:t>
            </a:r>
            <a:endParaRPr lang="en-US" sz="1100" dirty="0"/>
          </a:p>
        </p:txBody>
      </p:sp>
      <p:sp>
        <p:nvSpPr>
          <p:cNvPr id="16" name="Shape 12"/>
          <p:cNvSpPr/>
          <p:nvPr/>
        </p:nvSpPr>
        <p:spPr>
          <a:xfrm>
            <a:off x="3666744" y="2743200"/>
            <a:ext cx="146304" cy="914"/>
          </a:xfrm>
          <a:prstGeom prst="line">
            <a:avLst/>
          </a:prstGeom>
          <a:noFill/>
          <a:ln w="25400">
            <a:solidFill>
              <a:srgbClr val="D9472F"/>
            </a:solidFill>
            <a:prstDash val="solid"/>
            <a:tailEnd type="triangle"/>
          </a:ln>
        </p:spPr>
      </p:sp>
      <p:sp>
        <p:nvSpPr>
          <p:cNvPr id="17" name="Shape 13"/>
          <p:cNvSpPr/>
          <p:nvPr/>
        </p:nvSpPr>
        <p:spPr>
          <a:xfrm>
            <a:off x="3822192" y="1325880"/>
            <a:ext cx="1517904" cy="2834640"/>
          </a:xfrm>
          <a:prstGeom prst="roundRect">
            <a:avLst>
              <a:gd name="adj" fmla="val 4819"/>
            </a:avLst>
          </a:prstGeom>
          <a:solidFill>
            <a:srgbClr val="F7EEF1"/>
          </a:solidFill>
          <a:ln w="12700">
            <a:solidFill>
              <a:srgbClr val="F7EEF1"/>
            </a:solidFill>
            <a:prstDash val="solid"/>
          </a:ln>
        </p:spPr>
      </p:sp>
      <p:sp>
        <p:nvSpPr>
          <p:cNvPr id="18" name="Shape 14"/>
          <p:cNvSpPr/>
          <p:nvPr/>
        </p:nvSpPr>
        <p:spPr>
          <a:xfrm>
            <a:off x="4297680" y="1481328"/>
            <a:ext cx="566928" cy="566928"/>
          </a:xfrm>
          <a:prstGeom prst="ellipse">
            <a:avLst/>
          </a:prstGeom>
          <a:solidFill>
            <a:srgbClr val="7A1F45"/>
          </a:solidFill>
          <a:ln w="12700">
            <a:solidFill>
              <a:srgbClr val="7A1F45"/>
            </a:solidFill>
            <a:prstDash val="solid"/>
          </a:ln>
        </p:spPr>
      </p:sp>
      <p:pic>
        <p:nvPicPr>
          <p:cNvPr id="19" name="Image 2" descr="preencoded.png">    </p:cNvPr>
          <p:cNvPicPr>
            <a:picLocks noChangeAspect="1"/>
          </p:cNvPicPr>
          <p:nvPr/>
        </p:nvPicPr>
        <p:blipFill>
          <a:blip r:embed="rId3"/>
          <a:stretch>
            <a:fillRect/>
          </a:stretch>
        </p:blipFill>
        <p:spPr>
          <a:xfrm>
            <a:off x="4439412" y="1623060"/>
            <a:ext cx="283464" cy="283464"/>
          </a:xfrm>
          <a:prstGeom prst="rect">
            <a:avLst/>
          </a:prstGeom>
        </p:spPr>
      </p:pic>
      <p:sp>
        <p:nvSpPr>
          <p:cNvPr id="20" name="Text 15"/>
          <p:cNvSpPr txBox="1"/>
          <p:nvPr/>
        </p:nvSpPr>
        <p:spPr>
          <a:xfrm>
            <a:off x="3913632" y="2148840"/>
            <a:ext cx="1335024" cy="50292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Inmunocomplejos</a:t>
            </a:r>
            <a:endParaRPr lang="en-US" sz="1300" dirty="0"/>
          </a:p>
        </p:txBody>
      </p:sp>
      <p:sp>
        <p:nvSpPr>
          <p:cNvPr id="21" name="Text 16"/>
          <p:cNvSpPr txBox="1"/>
          <p:nvPr/>
        </p:nvSpPr>
        <p:spPr>
          <a:xfrm>
            <a:off x="3931920" y="2697480"/>
            <a:ext cx="1298448" cy="141732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ACPA unidos a su antígeno en la articulación; el FR amplifica los complejos y activa el complemento</a:t>
            </a:r>
            <a:endParaRPr lang="en-US" sz="1100" dirty="0"/>
          </a:p>
        </p:txBody>
      </p:sp>
      <p:sp>
        <p:nvSpPr>
          <p:cNvPr id="22" name="Shape 17"/>
          <p:cNvSpPr/>
          <p:nvPr/>
        </p:nvSpPr>
        <p:spPr>
          <a:xfrm>
            <a:off x="5349240" y="2743200"/>
            <a:ext cx="146304" cy="914"/>
          </a:xfrm>
          <a:prstGeom prst="line">
            <a:avLst/>
          </a:prstGeom>
          <a:noFill/>
          <a:ln w="25400">
            <a:solidFill>
              <a:srgbClr val="D9472F"/>
            </a:solidFill>
            <a:prstDash val="solid"/>
            <a:tailEnd type="triangle"/>
          </a:ln>
        </p:spPr>
      </p:sp>
      <p:sp>
        <p:nvSpPr>
          <p:cNvPr id="23" name="Shape 18"/>
          <p:cNvSpPr/>
          <p:nvPr/>
        </p:nvSpPr>
        <p:spPr>
          <a:xfrm>
            <a:off x="5504688" y="1325880"/>
            <a:ext cx="1517904" cy="2834640"/>
          </a:xfrm>
          <a:prstGeom prst="roundRect">
            <a:avLst>
              <a:gd name="adj" fmla="val 4819"/>
            </a:avLst>
          </a:prstGeom>
          <a:solidFill>
            <a:srgbClr val="F7EEF1"/>
          </a:solidFill>
          <a:ln w="12700">
            <a:solidFill>
              <a:srgbClr val="F7EEF1"/>
            </a:solidFill>
            <a:prstDash val="solid"/>
          </a:ln>
        </p:spPr>
      </p:sp>
      <p:sp>
        <p:nvSpPr>
          <p:cNvPr id="24" name="Shape 19"/>
          <p:cNvSpPr/>
          <p:nvPr/>
        </p:nvSpPr>
        <p:spPr>
          <a:xfrm>
            <a:off x="5980176" y="1481328"/>
            <a:ext cx="566928" cy="566928"/>
          </a:xfrm>
          <a:prstGeom prst="ellipse">
            <a:avLst/>
          </a:prstGeom>
          <a:solidFill>
            <a:srgbClr val="7A1F45"/>
          </a:solidFill>
          <a:ln w="12700">
            <a:solidFill>
              <a:srgbClr val="7A1F45"/>
            </a:solidFill>
            <a:prstDash val="solid"/>
          </a:ln>
        </p:spPr>
      </p:sp>
      <p:pic>
        <p:nvPicPr>
          <p:cNvPr id="25" name="Image 3" descr="preencoded.png">    </p:cNvPr>
          <p:cNvPicPr>
            <a:picLocks noChangeAspect="1"/>
          </p:cNvPicPr>
          <p:nvPr/>
        </p:nvPicPr>
        <p:blipFill>
          <a:blip r:embed="rId4"/>
          <a:stretch>
            <a:fillRect/>
          </a:stretch>
        </p:blipFill>
        <p:spPr>
          <a:xfrm>
            <a:off x="6121908" y="1623060"/>
            <a:ext cx="283464" cy="283464"/>
          </a:xfrm>
          <a:prstGeom prst="rect">
            <a:avLst/>
          </a:prstGeom>
        </p:spPr>
      </p:pic>
      <p:sp>
        <p:nvSpPr>
          <p:cNvPr id="26" name="Text 20"/>
          <p:cNvSpPr txBox="1"/>
          <p:nvPr/>
        </p:nvSpPr>
        <p:spPr>
          <a:xfrm>
            <a:off x="5596128" y="2148840"/>
            <a:ext cx="1335024" cy="50292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Citocinas</a:t>
            </a:r>
            <a:endParaRPr lang="en-US" sz="1300" dirty="0"/>
          </a:p>
        </p:txBody>
      </p:sp>
      <p:sp>
        <p:nvSpPr>
          <p:cNvPr id="27" name="Text 21"/>
          <p:cNvSpPr txBox="1"/>
          <p:nvPr/>
        </p:nvSpPr>
        <p:spPr>
          <a:xfrm>
            <a:off x="5614416" y="2697480"/>
            <a:ext cx="1298448" cy="141732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Macrófagos activados liberan TNF e IL-6</a:t>
            </a:r>
            <a:endParaRPr lang="en-US" sz="1100" dirty="0"/>
          </a:p>
        </p:txBody>
      </p:sp>
      <p:sp>
        <p:nvSpPr>
          <p:cNvPr id="28" name="Shape 22"/>
          <p:cNvSpPr/>
          <p:nvPr/>
        </p:nvSpPr>
        <p:spPr>
          <a:xfrm>
            <a:off x="7031736" y="2743200"/>
            <a:ext cx="146304" cy="914"/>
          </a:xfrm>
          <a:prstGeom prst="line">
            <a:avLst/>
          </a:prstGeom>
          <a:noFill/>
          <a:ln w="25400">
            <a:solidFill>
              <a:srgbClr val="D9472F"/>
            </a:solidFill>
            <a:prstDash val="solid"/>
            <a:tailEnd type="triangle"/>
          </a:ln>
        </p:spPr>
      </p:sp>
      <p:sp>
        <p:nvSpPr>
          <p:cNvPr id="29" name="Shape 23"/>
          <p:cNvSpPr/>
          <p:nvPr/>
        </p:nvSpPr>
        <p:spPr>
          <a:xfrm>
            <a:off x="7187184" y="1325880"/>
            <a:ext cx="1517904" cy="2834640"/>
          </a:xfrm>
          <a:prstGeom prst="roundRect">
            <a:avLst>
              <a:gd name="adj" fmla="val 4819"/>
            </a:avLst>
          </a:prstGeom>
          <a:solidFill>
            <a:srgbClr val="FBE3DE"/>
          </a:solidFill>
          <a:ln w="12700">
            <a:solidFill>
              <a:srgbClr val="FBE3DE"/>
            </a:solidFill>
            <a:prstDash val="solid"/>
          </a:ln>
        </p:spPr>
      </p:sp>
      <p:sp>
        <p:nvSpPr>
          <p:cNvPr id="30" name="Shape 24"/>
          <p:cNvSpPr/>
          <p:nvPr/>
        </p:nvSpPr>
        <p:spPr>
          <a:xfrm>
            <a:off x="7662672" y="1481328"/>
            <a:ext cx="566928" cy="566928"/>
          </a:xfrm>
          <a:prstGeom prst="ellipse">
            <a:avLst/>
          </a:prstGeom>
          <a:solidFill>
            <a:srgbClr val="D9472F"/>
          </a:solidFill>
          <a:ln w="12700">
            <a:solidFill>
              <a:srgbClr val="D9472F"/>
            </a:solidFill>
            <a:prstDash val="solid"/>
          </a:ln>
        </p:spPr>
      </p:sp>
      <p:pic>
        <p:nvPicPr>
          <p:cNvPr id="31" name="Image 4" descr="preencoded.png">    </p:cNvPr>
          <p:cNvPicPr>
            <a:picLocks noChangeAspect="1"/>
          </p:cNvPicPr>
          <p:nvPr/>
        </p:nvPicPr>
        <p:blipFill>
          <a:blip r:embed="rId5"/>
          <a:stretch>
            <a:fillRect/>
          </a:stretch>
        </p:blipFill>
        <p:spPr>
          <a:xfrm>
            <a:off x="7804404" y="1623060"/>
            <a:ext cx="283464" cy="283464"/>
          </a:xfrm>
          <a:prstGeom prst="rect">
            <a:avLst/>
          </a:prstGeom>
        </p:spPr>
      </p:pic>
      <p:sp>
        <p:nvSpPr>
          <p:cNvPr id="32" name="Text 25"/>
          <p:cNvSpPr txBox="1"/>
          <p:nvPr/>
        </p:nvSpPr>
        <p:spPr>
          <a:xfrm>
            <a:off x="7278624" y="2148840"/>
            <a:ext cx="1335024" cy="502920"/>
          </a:xfrm>
          <a:prstGeom prst="rect">
            <a:avLst/>
          </a:prstGeom>
          <a:noFill/>
          <a:ln/>
        </p:spPr>
        <p:txBody>
          <a:bodyPr wrap="square" lIns="0" tIns="0" rIns="0" bIns="0" rtlCol="0" anchor="ctr"/>
          <a:lstStyle/>
          <a:p>
            <a:pPr algn="ctr" indent="0" marL="0">
              <a:buNone/>
            </a:pPr>
            <a:r>
              <a:rPr lang="en-US" sz="1300" b="1" dirty="0">
                <a:solidFill>
                  <a:srgbClr val="2A1433"/>
                </a:solidFill>
                <a:latin typeface="Calibri" pitchFamily="34" charset="0"/>
                <a:ea typeface="Calibri" pitchFamily="34" charset="-122"/>
                <a:cs typeface="Calibri" pitchFamily="34" charset="-120"/>
              </a:rPr>
              <a:t>Destrucción</a:t>
            </a:r>
            <a:endParaRPr lang="en-US" sz="1300" dirty="0"/>
          </a:p>
        </p:txBody>
      </p:sp>
      <p:sp>
        <p:nvSpPr>
          <p:cNvPr id="33" name="Text 26"/>
          <p:cNvSpPr txBox="1"/>
          <p:nvPr/>
        </p:nvSpPr>
        <p:spPr>
          <a:xfrm>
            <a:off x="7296912" y="2697480"/>
            <a:ext cx="1298448" cy="1417320"/>
          </a:xfrm>
          <a:prstGeom prst="rect">
            <a:avLst/>
          </a:prstGeom>
          <a:noFill/>
          <a:ln/>
        </p:spPr>
        <p:txBody>
          <a:bodyPr wrap="square" lIns="0" tIns="0" rIns="0" bIns="0" rtlCol="0" anchor="t"/>
          <a:lstStyle/>
          <a:p>
            <a:pPr algn="ctr" indent="0" marL="0">
              <a:buNone/>
            </a:pPr>
            <a:r>
              <a:rPr lang="en-US" sz="1100" dirty="0">
                <a:solidFill>
                  <a:srgbClr val="2B2330"/>
                </a:solidFill>
                <a:latin typeface="Calibri" pitchFamily="34" charset="0"/>
                <a:ea typeface="Calibri" pitchFamily="34" charset="-122"/>
                <a:cs typeface="Calibri" pitchFamily="34" charset="-120"/>
              </a:rPr>
              <a:t>Degradación de cartílago y hueso → daño y deformidad articular</a:t>
            </a:r>
            <a:endParaRPr lang="en-US" sz="1100" dirty="0"/>
          </a:p>
        </p:txBody>
      </p:sp>
      <p:sp>
        <p:nvSpPr>
          <p:cNvPr id="34" name="Text 27"/>
          <p:cNvSpPr txBox="1"/>
          <p:nvPr/>
        </p:nvSpPr>
        <p:spPr>
          <a:xfrm>
            <a:off x="457200" y="4315968"/>
            <a:ext cx="8229600" cy="365760"/>
          </a:xfrm>
          <a:prstGeom prst="rect">
            <a:avLst/>
          </a:prstGeom>
          <a:noFill/>
          <a:ln/>
        </p:spPr>
        <p:txBody>
          <a:bodyPr wrap="square" lIns="0" tIns="0" rIns="0" bIns="0" rtlCol="0" anchor="t"/>
          <a:lstStyle/>
          <a:p>
            <a:pPr indent="0" marL="0">
              <a:buNone/>
            </a:pPr>
            <a:r>
              <a:rPr lang="en-US" sz="1200" i="1" dirty="0">
                <a:solidFill>
                  <a:srgbClr val="6E6573"/>
                </a:solidFill>
                <a:latin typeface="Calibri" pitchFamily="34" charset="0"/>
                <a:ea typeface="Calibri" pitchFamily="34" charset="-122"/>
                <a:cs typeface="Calibri" pitchFamily="34" charset="-120"/>
              </a:rPr>
              <a:t>En la AR también se forman autoanticuerpos contra otras proteínas modificadas (neoantígenos por modificaciones postraduccionales).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FISIOPATOLOGÍA · FIGURA 1A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Cascada inmunopatogénica en la AR</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pic>
        <p:nvPicPr>
          <p:cNvPr id="5" name="Image 0" descr="Figura 1A: cascada inmunopatogénica de la artritis reumatoide">    </p:cNvPr>
          <p:cNvPicPr>
            <a:picLocks noChangeAspect="1"/>
          </p:cNvPicPr>
          <p:nvPr/>
        </p:nvPicPr>
        <p:blipFill>
          <a:blip r:embed="rId1"/>
          <a:stretch>
            <a:fillRect/>
          </a:stretch>
        </p:blipFill>
        <p:spPr>
          <a:xfrm>
            <a:off x="457200" y="1188720"/>
            <a:ext cx="5248656" cy="3566160"/>
          </a:xfrm>
          <a:prstGeom prst="rect">
            <a:avLst/>
          </a:prstGeom>
        </p:spPr>
      </p:pic>
      <p:sp>
        <p:nvSpPr>
          <p:cNvPr id="6" name="Shape 3"/>
          <p:cNvSpPr/>
          <p:nvPr/>
        </p:nvSpPr>
        <p:spPr>
          <a:xfrm>
            <a:off x="5897880" y="1225296"/>
            <a:ext cx="310896" cy="310896"/>
          </a:xfrm>
          <a:prstGeom prst="ellipse">
            <a:avLst/>
          </a:prstGeom>
          <a:solidFill>
            <a:srgbClr val="7A1F45"/>
          </a:solidFill>
          <a:ln w="12700">
            <a:solidFill>
              <a:srgbClr val="7A1F45"/>
            </a:solidFill>
            <a:prstDash val="solid"/>
          </a:ln>
        </p:spPr>
      </p:sp>
      <p:sp>
        <p:nvSpPr>
          <p:cNvPr id="7" name="Text 4"/>
          <p:cNvSpPr txBox="1"/>
          <p:nvPr/>
        </p:nvSpPr>
        <p:spPr>
          <a:xfrm>
            <a:off x="5897880" y="12252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5"/>
          <p:cNvSpPr txBox="1"/>
          <p:nvPr/>
        </p:nvSpPr>
        <p:spPr>
          <a:xfrm>
            <a:off x="6309360" y="1188720"/>
            <a:ext cx="2423160" cy="676656"/>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La célula presentadora (MHC II, epítope compartido + CD80/86) activa al linfocito T CD4 naïve: se rompe la tolerancia</a:t>
            </a:r>
            <a:endParaRPr lang="en-US" sz="1050" dirty="0"/>
          </a:p>
        </p:txBody>
      </p:sp>
      <p:sp>
        <p:nvSpPr>
          <p:cNvPr id="9" name="Shape 6"/>
          <p:cNvSpPr/>
          <p:nvPr/>
        </p:nvSpPr>
        <p:spPr>
          <a:xfrm>
            <a:off x="5897880" y="1938528"/>
            <a:ext cx="310896" cy="310896"/>
          </a:xfrm>
          <a:prstGeom prst="ellipse">
            <a:avLst/>
          </a:prstGeom>
          <a:solidFill>
            <a:srgbClr val="7A1F45"/>
          </a:solidFill>
          <a:ln w="12700">
            <a:solidFill>
              <a:srgbClr val="7A1F45"/>
            </a:solidFill>
            <a:prstDash val="solid"/>
          </a:ln>
        </p:spPr>
      </p:sp>
      <p:sp>
        <p:nvSpPr>
          <p:cNvPr id="10" name="Text 7"/>
          <p:cNvSpPr txBox="1"/>
          <p:nvPr/>
        </p:nvSpPr>
        <p:spPr>
          <a:xfrm>
            <a:off x="5897880" y="1938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1" name="Text 8"/>
          <p:cNvSpPr txBox="1"/>
          <p:nvPr/>
        </p:nvSpPr>
        <p:spPr>
          <a:xfrm>
            <a:off x="6309360" y="1901952"/>
            <a:ext cx="2423160" cy="676656"/>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T CD4 → TH1/TH17/Tfh: IL-2, IFN-γ; activan macrófagos y ayudan a los linfocitos B</a:t>
            </a:r>
            <a:endParaRPr lang="en-US" sz="1050" dirty="0"/>
          </a:p>
        </p:txBody>
      </p:sp>
      <p:sp>
        <p:nvSpPr>
          <p:cNvPr id="12" name="Shape 9"/>
          <p:cNvSpPr/>
          <p:nvPr/>
        </p:nvSpPr>
        <p:spPr>
          <a:xfrm>
            <a:off x="5897880" y="2651760"/>
            <a:ext cx="310896" cy="310896"/>
          </a:xfrm>
          <a:prstGeom prst="ellipse">
            <a:avLst/>
          </a:prstGeom>
          <a:solidFill>
            <a:srgbClr val="7A1F45"/>
          </a:solidFill>
          <a:ln w="12700">
            <a:solidFill>
              <a:srgbClr val="7A1F45"/>
            </a:solidFill>
            <a:prstDash val="solid"/>
          </a:ln>
        </p:spPr>
      </p:sp>
      <p:sp>
        <p:nvSpPr>
          <p:cNvPr id="13" name="Text 10"/>
          <p:cNvSpPr txBox="1"/>
          <p:nvPr/>
        </p:nvSpPr>
        <p:spPr>
          <a:xfrm>
            <a:off x="5897880"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4" name="Text 11"/>
          <p:cNvSpPr txBox="1"/>
          <p:nvPr/>
        </p:nvSpPr>
        <p:spPr>
          <a:xfrm>
            <a:off x="6309360" y="2615184"/>
            <a:ext cx="2423160" cy="676656"/>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Células plasmáticas → ACPA y FR; inmunocomplejos activan FcR y complemento</a:t>
            </a:r>
            <a:endParaRPr lang="en-US" sz="1050" dirty="0"/>
          </a:p>
        </p:txBody>
      </p:sp>
      <p:sp>
        <p:nvSpPr>
          <p:cNvPr id="15" name="Shape 12"/>
          <p:cNvSpPr/>
          <p:nvPr/>
        </p:nvSpPr>
        <p:spPr>
          <a:xfrm>
            <a:off x="5897880" y="3364992"/>
            <a:ext cx="310896" cy="310896"/>
          </a:xfrm>
          <a:prstGeom prst="ellipse">
            <a:avLst/>
          </a:prstGeom>
          <a:solidFill>
            <a:srgbClr val="7A1F45"/>
          </a:solidFill>
          <a:ln w="12700">
            <a:solidFill>
              <a:srgbClr val="7A1F45"/>
            </a:solidFill>
            <a:prstDash val="solid"/>
          </a:ln>
        </p:spPr>
      </p:sp>
      <p:sp>
        <p:nvSpPr>
          <p:cNvPr id="16" name="Text 13"/>
          <p:cNvSpPr txBox="1"/>
          <p:nvPr/>
        </p:nvSpPr>
        <p:spPr>
          <a:xfrm>
            <a:off x="5897880" y="33649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7" name="Text 14"/>
          <p:cNvSpPr txBox="1"/>
          <p:nvPr/>
        </p:nvSpPr>
        <p:spPr>
          <a:xfrm>
            <a:off x="6309360" y="3328416"/>
            <a:ext cx="2423160" cy="676656"/>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T CD8 (MHC I): IFN-γ, TNF, granzima K; el VEB puede activar linfocitos B</a:t>
            </a:r>
            <a:endParaRPr lang="en-US" sz="1050" dirty="0"/>
          </a:p>
        </p:txBody>
      </p:sp>
      <p:sp>
        <p:nvSpPr>
          <p:cNvPr id="18" name="Shape 15"/>
          <p:cNvSpPr/>
          <p:nvPr/>
        </p:nvSpPr>
        <p:spPr>
          <a:xfrm>
            <a:off x="5897880" y="4078224"/>
            <a:ext cx="310896" cy="310896"/>
          </a:xfrm>
          <a:prstGeom prst="ellipse">
            <a:avLst/>
          </a:prstGeom>
          <a:solidFill>
            <a:srgbClr val="D9472F"/>
          </a:solidFill>
          <a:ln w="12700">
            <a:solidFill>
              <a:srgbClr val="D9472F"/>
            </a:solidFill>
            <a:prstDash val="solid"/>
          </a:ln>
        </p:spPr>
      </p:sp>
      <p:sp>
        <p:nvSpPr>
          <p:cNvPr id="19" name="Text 16"/>
          <p:cNvSpPr txBox="1"/>
          <p:nvPr/>
        </p:nvSpPr>
        <p:spPr>
          <a:xfrm>
            <a:off x="5897880" y="40782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0" name="Text 17"/>
          <p:cNvSpPr txBox="1"/>
          <p:nvPr/>
        </p:nvSpPr>
        <p:spPr>
          <a:xfrm>
            <a:off x="6309360" y="4041648"/>
            <a:ext cx="2423160" cy="676656"/>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RANKL de fibroblastos → osteoclastos (erosión); MMP → degradación del cartílago</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FISIOPATOLOGÍA · FIGURA 1B</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Evolución: de la predisposición a la AR establecida</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2331720" cy="2788920"/>
          </a:xfrm>
          <a:prstGeom prst="roundRect">
            <a:avLst>
              <a:gd name="adj" fmla="val 3137"/>
            </a:avLst>
          </a:prstGeom>
          <a:solidFill>
            <a:srgbClr val="E8EEF6"/>
          </a:solidFill>
          <a:ln w="12700">
            <a:solidFill>
              <a:srgbClr val="E8EEF6"/>
            </a:solidFill>
            <a:prstDash val="solid"/>
          </a:ln>
        </p:spPr>
      </p:sp>
      <p:sp>
        <p:nvSpPr>
          <p:cNvPr id="6" name="Text 4"/>
          <p:cNvSpPr txBox="1"/>
          <p:nvPr/>
        </p:nvSpPr>
        <p:spPr>
          <a:xfrm>
            <a:off x="566928" y="1371600"/>
            <a:ext cx="2112264" cy="365760"/>
          </a:xfrm>
          <a:prstGeom prst="rect">
            <a:avLst/>
          </a:prstGeom>
          <a:noFill/>
          <a:ln/>
        </p:spPr>
        <p:txBody>
          <a:bodyPr wrap="square" lIns="0" tIns="0" rIns="0" bIns="0" rtlCol="0" anchor="t"/>
          <a:lstStyle/>
          <a:p>
            <a:pPr indent="0" marL="0">
              <a:buNone/>
            </a:pPr>
            <a:r>
              <a:rPr lang="en-US" sz="1500" b="1" dirty="0">
                <a:solidFill>
                  <a:srgbClr val="3E5C80"/>
                </a:solidFill>
                <a:latin typeface="Cambria" pitchFamily="34" charset="0"/>
                <a:ea typeface="Cambria" pitchFamily="34" charset="-122"/>
                <a:cs typeface="Cambria" pitchFamily="34" charset="-120"/>
              </a:rPr>
              <a:t>Predisposición</a:t>
            </a:r>
            <a:endParaRPr lang="en-US" sz="1500" dirty="0"/>
          </a:p>
        </p:txBody>
      </p:sp>
      <p:sp>
        <p:nvSpPr>
          <p:cNvPr id="7" name="Text 5"/>
          <p:cNvSpPr txBox="1"/>
          <p:nvPr/>
        </p:nvSpPr>
        <p:spPr>
          <a:xfrm>
            <a:off x="566928" y="1783080"/>
            <a:ext cx="2130552" cy="224028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Factores desde el nacimiento hasta la adultez joven: genética, sexo femenino, tabaquismo, periodontitis, VEB, sílice y contaminantes, microbioma intestinal</a:t>
            </a:r>
            <a:endParaRPr lang="en-US" sz="1100" dirty="0"/>
          </a:p>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Formación de neoantígenos (p. ej., citrulinación)</a:t>
            </a:r>
            <a:endParaRPr lang="en-US" sz="1100" dirty="0"/>
          </a:p>
        </p:txBody>
      </p:sp>
      <p:sp>
        <p:nvSpPr>
          <p:cNvPr id="8" name="Shape 6"/>
          <p:cNvSpPr/>
          <p:nvPr/>
        </p:nvSpPr>
        <p:spPr>
          <a:xfrm>
            <a:off x="2880360" y="1280160"/>
            <a:ext cx="1600200" cy="2788920"/>
          </a:xfrm>
          <a:prstGeom prst="roundRect">
            <a:avLst>
              <a:gd name="adj" fmla="val 4571"/>
            </a:avLst>
          </a:prstGeom>
          <a:solidFill>
            <a:srgbClr val="F6F0DC"/>
          </a:solidFill>
          <a:ln w="12700">
            <a:solidFill>
              <a:srgbClr val="F6F0DC"/>
            </a:solidFill>
            <a:prstDash val="solid"/>
          </a:ln>
        </p:spPr>
      </p:sp>
      <p:sp>
        <p:nvSpPr>
          <p:cNvPr id="9" name="Text 7"/>
          <p:cNvSpPr txBox="1"/>
          <p:nvPr/>
        </p:nvSpPr>
        <p:spPr>
          <a:xfrm>
            <a:off x="2990088" y="1371600"/>
            <a:ext cx="1380744" cy="365760"/>
          </a:xfrm>
          <a:prstGeom prst="rect">
            <a:avLst/>
          </a:prstGeom>
          <a:noFill/>
          <a:ln/>
        </p:spPr>
        <p:txBody>
          <a:bodyPr wrap="square" lIns="0" tIns="0" rIns="0" bIns="0" rtlCol="0" anchor="t"/>
          <a:lstStyle/>
          <a:p>
            <a:pPr indent="0" marL="0">
              <a:buNone/>
            </a:pPr>
            <a:r>
              <a:rPr lang="en-US" sz="1500" b="1" dirty="0">
                <a:solidFill>
                  <a:srgbClr val="8A6D1E"/>
                </a:solidFill>
                <a:latin typeface="Cambria" pitchFamily="34" charset="0"/>
                <a:ea typeface="Cambria" pitchFamily="34" charset="-122"/>
                <a:cs typeface="Cambria" pitchFamily="34" charset="-120"/>
              </a:rPr>
              <a:t>Inicio de la AR</a:t>
            </a:r>
            <a:endParaRPr lang="en-US" sz="1500" dirty="0"/>
          </a:p>
        </p:txBody>
      </p:sp>
      <p:sp>
        <p:nvSpPr>
          <p:cNvPr id="10" name="Text 8"/>
          <p:cNvSpPr txBox="1"/>
          <p:nvPr/>
        </p:nvSpPr>
        <p:spPr>
          <a:xfrm>
            <a:off x="2990088" y="1783080"/>
            <a:ext cx="1399032" cy="224028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Activación de linfocitos T</a:t>
            </a:r>
            <a:endParaRPr lang="en-US" sz="1100" dirty="0"/>
          </a:p>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Activación de linfocitos B: ACPA y factor reumatoide</a:t>
            </a:r>
            <a:endParaRPr lang="en-US" sz="1100" dirty="0"/>
          </a:p>
        </p:txBody>
      </p:sp>
      <p:sp>
        <p:nvSpPr>
          <p:cNvPr id="11" name="Shape 9"/>
          <p:cNvSpPr/>
          <p:nvPr/>
        </p:nvSpPr>
        <p:spPr>
          <a:xfrm>
            <a:off x="4572000" y="1280160"/>
            <a:ext cx="2194560" cy="2788920"/>
          </a:xfrm>
          <a:prstGeom prst="roundRect">
            <a:avLst>
              <a:gd name="adj" fmla="val 3333"/>
            </a:avLst>
          </a:prstGeom>
          <a:solidFill>
            <a:srgbClr val="F9E6E2"/>
          </a:solidFill>
          <a:ln w="12700">
            <a:solidFill>
              <a:srgbClr val="F9E6E2"/>
            </a:solidFill>
            <a:prstDash val="solid"/>
          </a:ln>
        </p:spPr>
      </p:sp>
      <p:sp>
        <p:nvSpPr>
          <p:cNvPr id="12" name="Text 10"/>
          <p:cNvSpPr txBox="1"/>
          <p:nvPr/>
        </p:nvSpPr>
        <p:spPr>
          <a:xfrm>
            <a:off x="4681728" y="1371600"/>
            <a:ext cx="1975104" cy="365760"/>
          </a:xfrm>
          <a:prstGeom prst="rect">
            <a:avLst/>
          </a:prstGeom>
          <a:noFill/>
          <a:ln/>
        </p:spPr>
        <p:txBody>
          <a:bodyPr wrap="square" lIns="0" tIns="0" rIns="0" bIns="0" rtlCol="0" anchor="t"/>
          <a:lstStyle/>
          <a:p>
            <a:pPr indent="0" marL="0">
              <a:buNone/>
            </a:pPr>
            <a:r>
              <a:rPr lang="en-US" sz="1500" b="1" dirty="0">
                <a:solidFill>
                  <a:srgbClr val="9C3A2E"/>
                </a:solidFill>
                <a:latin typeface="Cambria" pitchFamily="34" charset="0"/>
                <a:ea typeface="Cambria" pitchFamily="34" charset="-122"/>
                <a:cs typeface="Cambria" pitchFamily="34" charset="-120"/>
              </a:rPr>
              <a:t>Pre-AR</a:t>
            </a:r>
            <a:endParaRPr lang="en-US" sz="1500" dirty="0"/>
          </a:p>
        </p:txBody>
      </p:sp>
      <p:sp>
        <p:nvSpPr>
          <p:cNvPr id="13" name="Text 11"/>
          <p:cNvSpPr txBox="1"/>
          <p:nvPr/>
        </p:nvSpPr>
        <p:spPr>
          <a:xfrm>
            <a:off x="4681728" y="1783080"/>
            <a:ext cx="1993392" cy="224028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Autoinmunidad y sinovitis asintomáticas: influjo de T, B y macrófagos; inmunocomplejos</a:t>
            </a:r>
            <a:endParaRPr lang="en-US" sz="1100" dirty="0"/>
          </a:p>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Síntomas iniciales: artralgias, más autoanticuerpos, complemento, TNF, IL-6, IFN</a:t>
            </a:r>
            <a:endParaRPr lang="en-US" sz="1100" dirty="0"/>
          </a:p>
        </p:txBody>
      </p:sp>
      <p:sp>
        <p:nvSpPr>
          <p:cNvPr id="14" name="Shape 12"/>
          <p:cNvSpPr/>
          <p:nvPr/>
        </p:nvSpPr>
        <p:spPr>
          <a:xfrm>
            <a:off x="6858000" y="1280160"/>
            <a:ext cx="1828800" cy="2788920"/>
          </a:xfrm>
          <a:prstGeom prst="roundRect">
            <a:avLst>
              <a:gd name="adj" fmla="val 4000"/>
            </a:avLst>
          </a:prstGeom>
          <a:solidFill>
            <a:srgbClr val="F6D5D8"/>
          </a:solidFill>
          <a:ln w="12700">
            <a:solidFill>
              <a:srgbClr val="F6D5D8"/>
            </a:solidFill>
            <a:prstDash val="solid"/>
          </a:ln>
        </p:spPr>
      </p:sp>
      <p:sp>
        <p:nvSpPr>
          <p:cNvPr id="15" name="Text 13"/>
          <p:cNvSpPr txBox="1"/>
          <p:nvPr/>
        </p:nvSpPr>
        <p:spPr>
          <a:xfrm>
            <a:off x="6967728" y="1371600"/>
            <a:ext cx="1609344" cy="365760"/>
          </a:xfrm>
          <a:prstGeom prst="rect">
            <a:avLst/>
          </a:prstGeom>
          <a:noFill/>
          <a:ln/>
        </p:spPr>
        <p:txBody>
          <a:bodyPr wrap="square" lIns="0" tIns="0" rIns="0" bIns="0" rtlCol="0" anchor="t"/>
          <a:lstStyle/>
          <a:p>
            <a:pPr indent="0" marL="0">
              <a:buNone/>
            </a:pPr>
            <a:r>
              <a:rPr lang="en-US" sz="1500" b="1" dirty="0">
                <a:solidFill>
                  <a:srgbClr val="B0243A"/>
                </a:solidFill>
                <a:latin typeface="Cambria" pitchFamily="34" charset="0"/>
                <a:ea typeface="Cambria" pitchFamily="34" charset="-122"/>
                <a:cs typeface="Cambria" pitchFamily="34" charset="-120"/>
              </a:rPr>
              <a:t>AR establecida</a:t>
            </a:r>
            <a:endParaRPr lang="en-US" sz="1500" dirty="0"/>
          </a:p>
        </p:txBody>
      </p:sp>
      <p:sp>
        <p:nvSpPr>
          <p:cNvPr id="16" name="Text 14"/>
          <p:cNvSpPr txBox="1"/>
          <p:nvPr/>
        </p:nvSpPr>
        <p:spPr>
          <a:xfrm>
            <a:off x="6967728" y="1783080"/>
            <a:ext cx="1627632" cy="224028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Tumefacción articular</a:t>
            </a:r>
            <a:endParaRPr lang="en-US" sz="1100" dirty="0"/>
          </a:p>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Más influjo celular y expansión de fibroblastos</a:t>
            </a:r>
            <a:endParaRPr lang="en-US" sz="1100" dirty="0"/>
          </a:p>
          <a:p>
            <a:pPr marL="177800" indent="-177800">
              <a:spcAft>
                <a:spcPts val="500"/>
              </a:spcAft>
              <a:buSzPct val="100000"/>
              <a:buChar char="•"/>
            </a:pPr>
            <a:r>
              <a:rPr lang="en-US" sz="1100" dirty="0">
                <a:solidFill>
                  <a:srgbClr val="2B2330"/>
                </a:solidFill>
                <a:latin typeface="Calibri" pitchFamily="34" charset="0"/>
                <a:ea typeface="Calibri" pitchFamily="34" charset="-122"/>
                <a:cs typeface="Calibri" pitchFamily="34" charset="-120"/>
              </a:rPr>
              <a:t>Degradación de cartílago y daño óseo por osteoclastos</a:t>
            </a:r>
            <a:endParaRPr lang="en-US" sz="1100" dirty="0"/>
          </a:p>
        </p:txBody>
      </p:sp>
      <p:sp>
        <p:nvSpPr>
          <p:cNvPr id="17" name="Shape 15"/>
          <p:cNvSpPr/>
          <p:nvPr/>
        </p:nvSpPr>
        <p:spPr>
          <a:xfrm flipH="1">
            <a:off x="502920" y="4315968"/>
            <a:ext cx="2240280" cy="914"/>
          </a:xfrm>
          <a:prstGeom prst="line">
            <a:avLst/>
          </a:prstGeom>
          <a:noFill/>
          <a:ln w="25400">
            <a:solidFill>
              <a:srgbClr val="3E5C80"/>
            </a:solidFill>
            <a:prstDash val="solid"/>
            <a:tailEnd type="triangle"/>
          </a:ln>
        </p:spPr>
      </p:sp>
      <p:sp>
        <p:nvSpPr>
          <p:cNvPr id="18" name="Shape 16"/>
          <p:cNvSpPr/>
          <p:nvPr/>
        </p:nvSpPr>
        <p:spPr>
          <a:xfrm>
            <a:off x="502920" y="4315968"/>
            <a:ext cx="3931920" cy="914"/>
          </a:xfrm>
          <a:prstGeom prst="line">
            <a:avLst/>
          </a:prstGeom>
          <a:noFill/>
          <a:ln w="25400">
            <a:solidFill>
              <a:srgbClr val="3E5C80"/>
            </a:solidFill>
            <a:prstDash val="solid"/>
            <a:tailEnd type="triangle"/>
          </a:ln>
        </p:spPr>
      </p:sp>
      <p:sp>
        <p:nvSpPr>
          <p:cNvPr id="19" name="Text 17"/>
          <p:cNvSpPr txBox="1"/>
          <p:nvPr/>
        </p:nvSpPr>
        <p:spPr>
          <a:xfrm>
            <a:off x="1463040" y="4370832"/>
            <a:ext cx="2103120" cy="274320"/>
          </a:xfrm>
          <a:prstGeom prst="rect">
            <a:avLst/>
          </a:prstGeom>
          <a:noFill/>
          <a:ln/>
        </p:spPr>
        <p:txBody>
          <a:bodyPr wrap="square" lIns="0" tIns="0" rIns="0" bIns="0" rtlCol="0" anchor="t"/>
          <a:lstStyle/>
          <a:p>
            <a:pPr algn="ctr" indent="0" marL="0">
              <a:buNone/>
            </a:pPr>
            <a:r>
              <a:rPr lang="en-US" sz="1200" b="1" i="1" dirty="0">
                <a:solidFill>
                  <a:srgbClr val="3E5C80"/>
                </a:solidFill>
                <a:latin typeface="Calibri" pitchFamily="34" charset="0"/>
                <a:ea typeface="Calibri" pitchFamily="34" charset="-122"/>
                <a:cs typeface="Calibri" pitchFamily="34" charset="-120"/>
              </a:rPr>
              <a:t>Enfermedad reversible</a:t>
            </a:r>
            <a:endParaRPr lang="en-US" sz="1200" dirty="0"/>
          </a:p>
        </p:txBody>
      </p:sp>
      <p:sp>
        <p:nvSpPr>
          <p:cNvPr id="20" name="Shape 18"/>
          <p:cNvSpPr/>
          <p:nvPr/>
        </p:nvSpPr>
        <p:spPr>
          <a:xfrm>
            <a:off x="4572000" y="4315968"/>
            <a:ext cx="4114800" cy="914"/>
          </a:xfrm>
          <a:prstGeom prst="line">
            <a:avLst/>
          </a:prstGeom>
          <a:noFill/>
          <a:ln w="25400">
            <a:solidFill>
              <a:srgbClr val="D9472F"/>
            </a:solidFill>
            <a:prstDash val="solid"/>
            <a:tailEnd type="triangle"/>
          </a:ln>
        </p:spPr>
      </p:sp>
      <p:sp>
        <p:nvSpPr>
          <p:cNvPr id="21" name="Text 19"/>
          <p:cNvSpPr txBox="1"/>
          <p:nvPr/>
        </p:nvSpPr>
        <p:spPr>
          <a:xfrm>
            <a:off x="5577840" y="4370832"/>
            <a:ext cx="2194560" cy="274320"/>
          </a:xfrm>
          <a:prstGeom prst="rect">
            <a:avLst/>
          </a:prstGeom>
          <a:noFill/>
          <a:ln/>
        </p:spPr>
        <p:txBody>
          <a:bodyPr wrap="square" lIns="0" tIns="0" rIns="0" bIns="0" rtlCol="0" anchor="t"/>
          <a:lstStyle/>
          <a:p>
            <a:pPr algn="ctr" indent="0" marL="0">
              <a:buNone/>
            </a:pPr>
            <a:r>
              <a:rPr lang="en-US" sz="1200" b="1" i="1" dirty="0">
                <a:solidFill>
                  <a:srgbClr val="D9472F"/>
                </a:solidFill>
                <a:latin typeface="Calibri" pitchFamily="34" charset="0"/>
                <a:ea typeface="Calibri" pitchFamily="34" charset="-122"/>
                <a:cs typeface="Calibri" pitchFamily="34" charset="-120"/>
              </a:rPr>
              <a:t>Enfermedad irreversible</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EPIDEMIOLOGÍA Y FACTORES DE RIESGO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La genética explica ~60 % del riesgo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234440"/>
            <a:ext cx="2468880" cy="566928"/>
          </a:xfrm>
          <a:prstGeom prst="rect">
            <a:avLst/>
          </a:prstGeom>
          <a:noFill/>
          <a:ln/>
        </p:spPr>
        <p:txBody>
          <a:bodyPr wrap="square" lIns="0" tIns="0" rIns="0" bIns="0" rtlCol="0" anchor="b"/>
          <a:lstStyle/>
          <a:p>
            <a:pPr indent="0" marL="0">
              <a:buNone/>
            </a:pPr>
            <a:r>
              <a:rPr lang="en-US" sz="4000" b="1" dirty="0">
                <a:solidFill>
                  <a:srgbClr val="7A1F45"/>
                </a:solidFill>
                <a:latin typeface="Cambria" pitchFamily="34" charset="0"/>
                <a:ea typeface="Cambria" pitchFamily="34" charset="-122"/>
                <a:cs typeface="Cambria" pitchFamily="34" charset="-120"/>
              </a:rPr>
              <a:t>60 %</a:t>
            </a:r>
            <a:endParaRPr lang="en-US" sz="4000" dirty="0"/>
          </a:p>
        </p:txBody>
      </p:sp>
      <p:sp>
        <p:nvSpPr>
          <p:cNvPr id="6" name="Text 4"/>
          <p:cNvSpPr txBox="1"/>
          <p:nvPr/>
        </p:nvSpPr>
        <p:spPr>
          <a:xfrm>
            <a:off x="457200" y="1837944"/>
            <a:ext cx="24688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del riesgo de AR atribuible a susceptibilidad genética</a:t>
            </a:r>
            <a:endParaRPr lang="en-US" sz="1150" dirty="0"/>
          </a:p>
        </p:txBody>
      </p:sp>
      <p:sp>
        <p:nvSpPr>
          <p:cNvPr id="7" name="Text 5"/>
          <p:cNvSpPr txBox="1"/>
          <p:nvPr/>
        </p:nvSpPr>
        <p:spPr>
          <a:xfrm>
            <a:off x="457200" y="2423160"/>
            <a:ext cx="2468880" cy="566928"/>
          </a:xfrm>
          <a:prstGeom prst="rect">
            <a:avLst/>
          </a:prstGeom>
          <a:noFill/>
          <a:ln/>
        </p:spPr>
        <p:txBody>
          <a:bodyPr wrap="square" lIns="0" tIns="0" rIns="0" bIns="0" rtlCol="0" anchor="b"/>
          <a:lstStyle/>
          <a:p>
            <a:pPr indent="0" marL="0">
              <a:buNone/>
            </a:pPr>
            <a:r>
              <a:rPr lang="en-US" sz="3600" b="1" dirty="0">
                <a:solidFill>
                  <a:srgbClr val="D9472F"/>
                </a:solidFill>
                <a:latin typeface="Cambria" pitchFamily="34" charset="0"/>
                <a:ea typeface="Cambria" pitchFamily="34" charset="-122"/>
                <a:cs typeface="Cambria" pitchFamily="34" charset="-120"/>
              </a:rPr>
              <a:t>70–80 %</a:t>
            </a:r>
            <a:endParaRPr lang="en-US" sz="3600" dirty="0"/>
          </a:p>
        </p:txBody>
      </p:sp>
      <p:sp>
        <p:nvSpPr>
          <p:cNvPr id="8" name="Text 6"/>
          <p:cNvSpPr txBox="1"/>
          <p:nvPr/>
        </p:nvSpPr>
        <p:spPr>
          <a:xfrm>
            <a:off x="457200" y="3026664"/>
            <a:ext cx="24688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 los pacientes portan el epítope compartido HLA-DRB1</a:t>
            </a:r>
            <a:endParaRPr lang="en-US" sz="1150" dirty="0"/>
          </a:p>
        </p:txBody>
      </p:sp>
      <p:sp>
        <p:nvSpPr>
          <p:cNvPr id="9" name="Shape 7"/>
          <p:cNvSpPr/>
          <p:nvPr/>
        </p:nvSpPr>
        <p:spPr>
          <a:xfrm>
            <a:off x="457200" y="3611880"/>
            <a:ext cx="2651760" cy="1051560"/>
          </a:xfrm>
          <a:prstGeom prst="roundRect">
            <a:avLst>
              <a:gd name="adj" fmla="val 6957"/>
            </a:avLst>
          </a:prstGeom>
          <a:solidFill>
            <a:srgbClr val="F7EEF1"/>
          </a:solidFill>
          <a:ln w="12700">
            <a:solidFill>
              <a:srgbClr val="F7EEF1"/>
            </a:solidFill>
            <a:prstDash val="solid"/>
          </a:ln>
        </p:spPr>
      </p:sp>
      <p:sp>
        <p:nvSpPr>
          <p:cNvPr id="10" name="Text 8"/>
          <p:cNvSpPr txBox="1"/>
          <p:nvPr/>
        </p:nvSpPr>
        <p:spPr>
          <a:xfrm>
            <a:off x="594360" y="3675888"/>
            <a:ext cx="2377440" cy="914400"/>
          </a:xfrm>
          <a:prstGeom prst="rect">
            <a:avLst/>
          </a:prstGeom>
          <a:noFill/>
          <a:ln/>
        </p:spPr>
        <p:txBody>
          <a:bodyPr wrap="square" lIns="0" tIns="0" rIns="0" bIns="0" rtlCol="0" anchor="ctr"/>
          <a:lstStyle/>
          <a:p>
            <a:pPr indent="0" marL="0">
              <a:buNone/>
            </a:pPr>
            <a:r>
              <a:rPr lang="en-US" sz="1150" dirty="0">
                <a:solidFill>
                  <a:srgbClr val="2A1433"/>
                </a:solidFill>
                <a:latin typeface="Calibri" pitchFamily="34" charset="0"/>
                <a:ea typeface="Calibri" pitchFamily="34" charset="-122"/>
                <a:cs typeface="Calibri" pitchFamily="34" charset="-120"/>
              </a:rPr>
              <a:t>HLA-DRB1 es el grupo de genes de respuesta inmune más importante entre los muchos asociados a la AR.</a:t>
            </a:r>
            <a:endParaRPr lang="en-US" sz="1150" dirty="0"/>
          </a:p>
        </p:txBody>
      </p:sp>
      <p:graphicFrame>
        <p:nvGraphicFramePr>
          <p:cNvPr id="11" name="Chart 0" descr=""/>
          <p:cNvGraphicFramePr/>
          <p:nvPr/>
        </p:nvGraphicFramePr>
        <p:xfrm>
          <a:off x="3474720" y="1234440"/>
          <a:ext cx="5212080" cy="210312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3566160" y="3611880"/>
            <a:ext cx="502920" cy="502920"/>
          </a:xfrm>
          <a:prstGeom prst="ellipse">
            <a:avLst/>
          </a:prstGeom>
          <a:solidFill>
            <a:srgbClr val="D9472F"/>
          </a:solidFill>
          <a:ln w="12700">
            <a:solidFill>
              <a:srgbClr val="D9472F"/>
            </a:solidFill>
            <a:prstDash val="solid"/>
          </a:ln>
        </p:spPr>
      </p:sp>
      <p:pic>
        <p:nvPicPr>
          <p:cNvPr id="13" name="Image 0" descr="preencoded.png">    </p:cNvPr>
          <p:cNvPicPr>
            <a:picLocks noChangeAspect="1"/>
          </p:cNvPicPr>
          <p:nvPr/>
        </p:nvPicPr>
        <p:blipFill>
          <a:blip r:embed="rId2"/>
          <a:stretch>
            <a:fillRect/>
          </a:stretch>
        </p:blipFill>
        <p:spPr>
          <a:xfrm>
            <a:off x="3691890" y="3737610"/>
            <a:ext cx="251460" cy="251460"/>
          </a:xfrm>
          <a:prstGeom prst="rect">
            <a:avLst/>
          </a:prstGeom>
        </p:spPr>
      </p:pic>
      <p:sp>
        <p:nvSpPr>
          <p:cNvPr id="14" name="Text 10"/>
          <p:cNvSpPr txBox="1"/>
          <p:nvPr/>
        </p:nvSpPr>
        <p:spPr>
          <a:xfrm>
            <a:off x="4206240" y="3611880"/>
            <a:ext cx="4480560" cy="502920"/>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Sexo: </a:t>
            </a:r>
            <a:pPr indent="0" marL="0">
              <a:buNone/>
            </a:pPr>
            <a:r>
              <a:rPr lang="en-US" sz="1300" dirty="0">
                <a:solidFill>
                  <a:srgbClr val="2B2330"/>
                </a:solidFill>
                <a:latin typeface="Calibri" pitchFamily="34" charset="0"/>
                <a:ea typeface="Calibri" pitchFamily="34" charset="-122"/>
                <a:cs typeface="Calibri" pitchFamily="34" charset="-120"/>
              </a:rPr>
              <a:t>mujeres 2 a 3 veces más afectadas que los hombres.</a:t>
            </a:r>
            <a:endParaRPr lang="en-US" sz="1300" dirty="0"/>
          </a:p>
        </p:txBody>
      </p:sp>
      <p:sp>
        <p:nvSpPr>
          <p:cNvPr id="15" name="Shape 11"/>
          <p:cNvSpPr/>
          <p:nvPr/>
        </p:nvSpPr>
        <p:spPr>
          <a:xfrm>
            <a:off x="3566160" y="4206240"/>
            <a:ext cx="502920" cy="502920"/>
          </a:xfrm>
          <a:prstGeom prst="ellipse">
            <a:avLst/>
          </a:prstGeom>
          <a:solidFill>
            <a:srgbClr val="D9472F"/>
          </a:solidFill>
          <a:ln w="12700">
            <a:solidFill>
              <a:srgbClr val="D9472F"/>
            </a:solidFill>
            <a:prstDash val="solid"/>
          </a:ln>
        </p:spPr>
      </p:sp>
      <p:pic>
        <p:nvPicPr>
          <p:cNvPr id="16" name="Image 1" descr="preencoded.png">    </p:cNvPr>
          <p:cNvPicPr>
            <a:picLocks noChangeAspect="1"/>
          </p:cNvPicPr>
          <p:nvPr/>
        </p:nvPicPr>
        <p:blipFill>
          <a:blip r:embed="rId3"/>
          <a:stretch>
            <a:fillRect/>
          </a:stretch>
        </p:blipFill>
        <p:spPr>
          <a:xfrm>
            <a:off x="3691890" y="4331970"/>
            <a:ext cx="251460" cy="251460"/>
          </a:xfrm>
          <a:prstGeom prst="rect">
            <a:avLst/>
          </a:prstGeom>
        </p:spPr>
      </p:pic>
      <p:sp>
        <p:nvSpPr>
          <p:cNvPr id="17" name="Text 12"/>
          <p:cNvSpPr txBox="1"/>
          <p:nvPr/>
        </p:nvSpPr>
        <p:spPr>
          <a:xfrm>
            <a:off x="4206240" y="4206240"/>
            <a:ext cx="4480560" cy="502920"/>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Edad: </a:t>
            </a:r>
            <a:pPr indent="0" marL="0">
              <a:buNone/>
            </a:pPr>
            <a:r>
              <a:rPr lang="en-US" sz="1300" dirty="0">
                <a:solidFill>
                  <a:srgbClr val="2B2330"/>
                </a:solidFill>
                <a:latin typeface="Calibri" pitchFamily="34" charset="0"/>
                <a:ea typeface="Calibri" pitchFamily="34" charset="-122"/>
                <a:cs typeface="Calibri" pitchFamily="34" charset="-120"/>
              </a:rPr>
              <a:t>pico de incidencia entre los 55 y los 75 años.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EPIDEMIOLOGÍA Y FACTORES DE RIESGO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Factores ambientales asociados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4023360" cy="1572768"/>
          </a:xfrm>
          <a:prstGeom prst="roundRect">
            <a:avLst>
              <a:gd name="adj" fmla="val 4651"/>
            </a:avLst>
          </a:prstGeom>
          <a:solidFill>
            <a:srgbClr val="F7EEF1"/>
          </a:solidFill>
          <a:ln w="12700">
            <a:solidFill>
              <a:srgbClr val="F7EEF1"/>
            </a:solidFill>
            <a:prstDash val="solid"/>
          </a:ln>
        </p:spPr>
      </p:sp>
      <p:sp>
        <p:nvSpPr>
          <p:cNvPr id="6" name="Shape 4"/>
          <p:cNvSpPr/>
          <p:nvPr/>
        </p:nvSpPr>
        <p:spPr>
          <a:xfrm>
            <a:off x="640080" y="1463040"/>
            <a:ext cx="548640" cy="54864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77240" y="1600200"/>
            <a:ext cx="274320" cy="274320"/>
          </a:xfrm>
          <a:prstGeom prst="rect">
            <a:avLst/>
          </a:prstGeom>
        </p:spPr>
      </p:pic>
      <p:sp>
        <p:nvSpPr>
          <p:cNvPr id="8" name="Text 5"/>
          <p:cNvSpPr txBox="1"/>
          <p:nvPr/>
        </p:nvSpPr>
        <p:spPr>
          <a:xfrm>
            <a:off x="1325880" y="1463040"/>
            <a:ext cx="3017520" cy="54864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Tabaquismo</a:t>
            </a:r>
            <a:endParaRPr lang="en-US" sz="1500" dirty="0"/>
          </a:p>
        </p:txBody>
      </p:sp>
      <p:sp>
        <p:nvSpPr>
          <p:cNvPr id="9" name="Text 6"/>
          <p:cNvSpPr txBox="1"/>
          <p:nvPr/>
        </p:nvSpPr>
        <p:spPr>
          <a:xfrm>
            <a:off x="1325880" y="2029968"/>
            <a:ext cx="3017520" cy="77724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Casos-controles EE. UU. (644 pacientes): alguna vez fumaron 57 % vs 49 % de controles (OR 1,34; IC 95 % 1,0–1,81). Induce citrulinación mediada por PAD en la vía aérea.</a:t>
            </a:r>
            <a:endParaRPr lang="en-US" sz="1100" dirty="0"/>
          </a:p>
        </p:txBody>
      </p:sp>
      <p:sp>
        <p:nvSpPr>
          <p:cNvPr id="10" name="Shape 7"/>
          <p:cNvSpPr/>
          <p:nvPr/>
        </p:nvSpPr>
        <p:spPr>
          <a:xfrm>
            <a:off x="4663440" y="1280160"/>
            <a:ext cx="4023360" cy="1572768"/>
          </a:xfrm>
          <a:prstGeom prst="roundRect">
            <a:avLst>
              <a:gd name="adj" fmla="val 4651"/>
            </a:avLst>
          </a:prstGeom>
          <a:solidFill>
            <a:srgbClr val="F7EEF1"/>
          </a:solidFill>
          <a:ln w="12700">
            <a:solidFill>
              <a:srgbClr val="F7EEF1"/>
            </a:solidFill>
            <a:prstDash val="solid"/>
          </a:ln>
        </p:spPr>
      </p:sp>
      <p:sp>
        <p:nvSpPr>
          <p:cNvPr id="11" name="Shape 8"/>
          <p:cNvSpPr/>
          <p:nvPr/>
        </p:nvSpPr>
        <p:spPr>
          <a:xfrm>
            <a:off x="4846320" y="1463040"/>
            <a:ext cx="548640" cy="548640"/>
          </a:xfrm>
          <a:prstGeom prst="ellipse">
            <a:avLst/>
          </a:prstGeom>
          <a:solidFill>
            <a:srgbClr val="D9472F"/>
          </a:solidFill>
          <a:ln w="12700">
            <a:solidFill>
              <a:srgbClr val="D9472F"/>
            </a:solidFill>
            <a:prstDash val="solid"/>
          </a:ln>
        </p:spPr>
      </p:sp>
      <p:pic>
        <p:nvPicPr>
          <p:cNvPr id="12" name="Image 1" descr="preencoded.png">    </p:cNvPr>
          <p:cNvPicPr>
            <a:picLocks noChangeAspect="1"/>
          </p:cNvPicPr>
          <p:nvPr/>
        </p:nvPicPr>
        <p:blipFill>
          <a:blip r:embed="rId2"/>
          <a:stretch>
            <a:fillRect/>
          </a:stretch>
        </p:blipFill>
        <p:spPr>
          <a:xfrm>
            <a:off x="4983480" y="1600200"/>
            <a:ext cx="274320" cy="274320"/>
          </a:xfrm>
          <a:prstGeom prst="rect">
            <a:avLst/>
          </a:prstGeom>
        </p:spPr>
      </p:pic>
      <p:sp>
        <p:nvSpPr>
          <p:cNvPr id="13" name="Text 9"/>
          <p:cNvSpPr txBox="1"/>
          <p:nvPr/>
        </p:nvSpPr>
        <p:spPr>
          <a:xfrm>
            <a:off x="5532120" y="1463040"/>
            <a:ext cx="3017520" cy="54864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Periodontitis</a:t>
            </a:r>
            <a:endParaRPr lang="en-US" sz="1500" dirty="0"/>
          </a:p>
        </p:txBody>
      </p:sp>
      <p:sp>
        <p:nvSpPr>
          <p:cNvPr id="14" name="Text 10"/>
          <p:cNvSpPr txBox="1"/>
          <p:nvPr/>
        </p:nvSpPr>
        <p:spPr>
          <a:xfrm>
            <a:off x="5532120" y="2029968"/>
            <a:ext cx="3017520" cy="77724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Taiwán: 23,4 vs 8,3 por 10 000 personas-año (HR ajustado 1,90; IC 95 % 1,57–2,3). Reino Unido: 13,9 vs 12,4 por 10 000 p-a.</a:t>
            </a:r>
            <a:endParaRPr lang="en-US" sz="1100" dirty="0"/>
          </a:p>
        </p:txBody>
      </p:sp>
      <p:sp>
        <p:nvSpPr>
          <p:cNvPr id="15" name="Shape 11"/>
          <p:cNvSpPr/>
          <p:nvPr/>
        </p:nvSpPr>
        <p:spPr>
          <a:xfrm>
            <a:off x="457200" y="3017520"/>
            <a:ext cx="4023360" cy="1572768"/>
          </a:xfrm>
          <a:prstGeom prst="roundRect">
            <a:avLst>
              <a:gd name="adj" fmla="val 4651"/>
            </a:avLst>
          </a:prstGeom>
          <a:solidFill>
            <a:srgbClr val="F7EEF1"/>
          </a:solidFill>
          <a:ln w="12700">
            <a:solidFill>
              <a:srgbClr val="F7EEF1"/>
            </a:solidFill>
            <a:prstDash val="solid"/>
          </a:ln>
        </p:spPr>
      </p:sp>
      <p:sp>
        <p:nvSpPr>
          <p:cNvPr id="16" name="Shape 12"/>
          <p:cNvSpPr/>
          <p:nvPr/>
        </p:nvSpPr>
        <p:spPr>
          <a:xfrm>
            <a:off x="640080" y="3200400"/>
            <a:ext cx="548640" cy="548640"/>
          </a:xfrm>
          <a:prstGeom prst="ellipse">
            <a:avLst/>
          </a:prstGeom>
          <a:solidFill>
            <a:srgbClr val="7A1F45"/>
          </a:solidFill>
          <a:ln w="12700">
            <a:solidFill>
              <a:srgbClr val="7A1F45"/>
            </a:solidFill>
            <a:prstDash val="solid"/>
          </a:ln>
        </p:spPr>
      </p:sp>
      <p:pic>
        <p:nvPicPr>
          <p:cNvPr id="17" name="Image 2" descr="preencoded.png">    </p:cNvPr>
          <p:cNvPicPr>
            <a:picLocks noChangeAspect="1"/>
          </p:cNvPicPr>
          <p:nvPr/>
        </p:nvPicPr>
        <p:blipFill>
          <a:blip r:embed="rId3"/>
          <a:stretch>
            <a:fillRect/>
          </a:stretch>
        </p:blipFill>
        <p:spPr>
          <a:xfrm>
            <a:off x="777240" y="3337560"/>
            <a:ext cx="274320" cy="274320"/>
          </a:xfrm>
          <a:prstGeom prst="rect">
            <a:avLst/>
          </a:prstGeom>
        </p:spPr>
      </p:pic>
      <p:sp>
        <p:nvSpPr>
          <p:cNvPr id="18" name="Text 13"/>
          <p:cNvSpPr txBox="1"/>
          <p:nvPr/>
        </p:nvSpPr>
        <p:spPr>
          <a:xfrm>
            <a:off x="1325880" y="3200400"/>
            <a:ext cx="3017520" cy="54864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Virus de Epstein-Barr</a:t>
            </a:r>
            <a:endParaRPr lang="en-US" sz="1500" dirty="0"/>
          </a:p>
        </p:txBody>
      </p:sp>
      <p:sp>
        <p:nvSpPr>
          <p:cNvPr id="19" name="Text 14"/>
          <p:cNvSpPr txBox="1"/>
          <p:nvPr/>
        </p:nvSpPr>
        <p:spPr>
          <a:xfrm>
            <a:off x="1325880" y="3767328"/>
            <a:ext cx="3017520" cy="77724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Su reactivación se asocia a la AR, aunque la relación causal aún no es clara.</a:t>
            </a:r>
            <a:endParaRPr lang="en-US" sz="1100" dirty="0"/>
          </a:p>
        </p:txBody>
      </p:sp>
      <p:sp>
        <p:nvSpPr>
          <p:cNvPr id="20" name="Shape 15"/>
          <p:cNvSpPr/>
          <p:nvPr/>
        </p:nvSpPr>
        <p:spPr>
          <a:xfrm>
            <a:off x="4663440" y="3017520"/>
            <a:ext cx="4023360" cy="1572768"/>
          </a:xfrm>
          <a:prstGeom prst="roundRect">
            <a:avLst>
              <a:gd name="adj" fmla="val 4651"/>
            </a:avLst>
          </a:prstGeom>
          <a:solidFill>
            <a:srgbClr val="F7EEF1"/>
          </a:solidFill>
          <a:ln w="12700">
            <a:solidFill>
              <a:srgbClr val="F7EEF1"/>
            </a:solidFill>
            <a:prstDash val="solid"/>
          </a:ln>
        </p:spPr>
      </p:sp>
      <p:sp>
        <p:nvSpPr>
          <p:cNvPr id="21" name="Shape 16"/>
          <p:cNvSpPr/>
          <p:nvPr/>
        </p:nvSpPr>
        <p:spPr>
          <a:xfrm>
            <a:off x="4846320" y="3200400"/>
            <a:ext cx="548640" cy="548640"/>
          </a:xfrm>
          <a:prstGeom prst="ellipse">
            <a:avLst/>
          </a:prstGeom>
          <a:solidFill>
            <a:srgbClr val="7A1F45"/>
          </a:solidFill>
          <a:ln w="12700">
            <a:solidFill>
              <a:srgbClr val="7A1F45"/>
            </a:solidFill>
            <a:prstDash val="solid"/>
          </a:ln>
        </p:spPr>
      </p:sp>
      <p:pic>
        <p:nvPicPr>
          <p:cNvPr id="22" name="Image 3" descr="preencoded.png">    </p:cNvPr>
          <p:cNvPicPr>
            <a:picLocks noChangeAspect="1"/>
          </p:cNvPicPr>
          <p:nvPr/>
        </p:nvPicPr>
        <p:blipFill>
          <a:blip r:embed="rId4"/>
          <a:stretch>
            <a:fillRect/>
          </a:stretch>
        </p:blipFill>
        <p:spPr>
          <a:xfrm>
            <a:off x="4983480" y="3337560"/>
            <a:ext cx="274320" cy="274320"/>
          </a:xfrm>
          <a:prstGeom prst="rect">
            <a:avLst/>
          </a:prstGeom>
        </p:spPr>
      </p:pic>
      <p:sp>
        <p:nvSpPr>
          <p:cNvPr id="23" name="Text 17"/>
          <p:cNvSpPr txBox="1"/>
          <p:nvPr/>
        </p:nvSpPr>
        <p:spPr>
          <a:xfrm>
            <a:off x="5532120" y="3200400"/>
            <a:ext cx="3017520" cy="54864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Sílice y contaminación</a:t>
            </a:r>
            <a:endParaRPr lang="en-US" sz="1500" dirty="0"/>
          </a:p>
        </p:txBody>
      </p:sp>
      <p:sp>
        <p:nvSpPr>
          <p:cNvPr id="24" name="Text 18"/>
          <p:cNvSpPr txBox="1"/>
          <p:nvPr/>
        </p:nvSpPr>
        <p:spPr>
          <a:xfrm>
            <a:off x="5532120" y="3767328"/>
            <a:ext cx="3017520" cy="77724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La exposición a sílice y a contaminantes del aire también aumenta el riesgo.</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PRESENTACIÓN CLÍNICA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Poliartritis simétrica de pequeñas articulaciones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5" name="Chart 0" descr=""/>
          <p:cNvGraphicFramePr/>
          <p:nvPr/>
        </p:nvGraphicFramePr>
        <p:xfrm>
          <a:off x="365760" y="1234440"/>
          <a:ext cx="4206240" cy="2834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4160520"/>
            <a:ext cx="4114800" cy="411480"/>
          </a:xfrm>
          <a:prstGeom prst="rect">
            <a:avLst/>
          </a:prstGeom>
          <a:noFill/>
          <a:ln/>
        </p:spPr>
        <p:txBody>
          <a:bodyPr wrap="square" lIns="0" tIns="0" rIns="0" bIns="0" rtlCol="0" anchor="t"/>
          <a:lstStyle/>
          <a:p>
            <a:pPr indent="0" marL="0">
              <a:buNone/>
            </a:pPr>
            <a:r>
              <a:rPr lang="en-US" sz="950" dirty="0">
                <a:solidFill>
                  <a:srgbClr val="6E6573"/>
                </a:solidFill>
                <a:latin typeface="Calibri" pitchFamily="34" charset="0"/>
                <a:ea typeface="Calibri" pitchFamily="34" charset="-122"/>
                <a:cs typeface="Calibri" pitchFamily="34" charset="-120"/>
              </a:rPr>
              <a:t>MCF: metacarpofalángicas · IFP: interfalángicas proximales · MTF: metatarsofalángicas</a:t>
            </a:r>
            <a:endParaRPr lang="en-US" sz="950" dirty="0"/>
          </a:p>
        </p:txBody>
      </p:sp>
      <p:sp>
        <p:nvSpPr>
          <p:cNvPr id="7" name="Text 4"/>
          <p:cNvSpPr txBox="1"/>
          <p:nvPr/>
        </p:nvSpPr>
        <p:spPr>
          <a:xfrm>
            <a:off x="4846320" y="1325880"/>
            <a:ext cx="3840480" cy="3291840"/>
          </a:xfrm>
          <a:prstGeom prst="rect">
            <a:avLst/>
          </a:prstGeom>
          <a:noFill/>
          <a:ln/>
        </p:spPr>
        <p:txBody>
          <a:bodyPr wrap="square" lIns="0" tIns="0" rIns="0" bIns="0" rtlCol="0" anchor="t"/>
          <a:lstStyle/>
          <a:p>
            <a:pPr marL="177800" indent="-177800">
              <a:spcAft>
                <a:spcPts val="900"/>
              </a:spcAft>
              <a:buSzPct val="100000"/>
              <a:buChar char="•"/>
            </a:pPr>
            <a:r>
              <a:rPr lang="en-US" sz="1300" b="1" dirty="0">
                <a:solidFill>
                  <a:srgbClr val="7A1F45"/>
                </a:solidFill>
                <a:latin typeface="Calibri" pitchFamily="34" charset="0"/>
                <a:ea typeface="Calibri" pitchFamily="34" charset="-122"/>
                <a:cs typeface="Calibri" pitchFamily="34" charset="-120"/>
              </a:rPr>
              <a:t>Tumefacción blanda y fluctuante </a:t>
            </a:r>
            <a:pPr indent="0" marL="0">
              <a:buNone/>
            </a:pPr>
            <a:r>
              <a:rPr lang="en-US" sz="1300" dirty="0">
                <a:solidFill>
                  <a:srgbClr val="2B2330"/>
                </a:solidFill>
                <a:latin typeface="Calibri" pitchFamily="34" charset="0"/>
                <a:ea typeface="Calibri" pitchFamily="34" charset="-122"/>
                <a:cs typeface="Calibri" pitchFamily="34" charset="-120"/>
              </a:rPr>
              <a:t>(vs. tumefacción dura, ósea, de la artrosis)</a:t>
            </a:r>
            <a:endParaRPr lang="en-US" sz="1300" dirty="0"/>
          </a:p>
          <a:p>
            <a:pPr marL="177800" indent="-177800">
              <a:spcAft>
                <a:spcPts val="900"/>
              </a:spcAft>
              <a:buSzPct val="100000"/>
              <a:buChar char="•"/>
            </a:pPr>
            <a:r>
              <a:rPr lang="en-US" sz="1300" b="1" dirty="0">
                <a:solidFill>
                  <a:srgbClr val="7A1F45"/>
                </a:solidFill>
                <a:latin typeface="Calibri" pitchFamily="34" charset="0"/>
                <a:ea typeface="Calibri" pitchFamily="34" charset="-122"/>
                <a:cs typeface="Calibri" pitchFamily="34" charset="-120"/>
              </a:rPr>
              <a:t>Algunos pacientes </a:t>
            </a:r>
            <a:pPr indent="0" marL="0">
              <a:buNone/>
            </a:pPr>
            <a:r>
              <a:rPr lang="en-US" sz="1300" dirty="0">
                <a:solidFill>
                  <a:srgbClr val="2B2330"/>
                </a:solidFill>
                <a:latin typeface="Calibri" pitchFamily="34" charset="0"/>
                <a:ea typeface="Calibri" pitchFamily="34" charset="-122"/>
                <a:cs typeface="Calibri" pitchFamily="34" charset="-120"/>
              </a:rPr>
              <a:t>tienen dolor y sensibilidad sin tumefacción evidente</a:t>
            </a:r>
            <a:endParaRPr lang="en-US" sz="1300" dirty="0"/>
          </a:p>
          <a:p>
            <a:pPr marL="177800" indent="-177800">
              <a:spcAft>
                <a:spcPts val="900"/>
              </a:spcAft>
              <a:buSzPct val="100000"/>
              <a:buChar char="•"/>
            </a:pPr>
            <a:r>
              <a:rPr lang="en-US" sz="1300" b="1" dirty="0">
                <a:solidFill>
                  <a:srgbClr val="7A1F45"/>
                </a:solidFill>
                <a:latin typeface="Calibri" pitchFamily="34" charset="0"/>
                <a:ea typeface="Calibri" pitchFamily="34" charset="-122"/>
                <a:cs typeface="Calibri" pitchFamily="34" charset="-120"/>
              </a:rPr>
              <a:t>Interfalángicas distales respetadas </a:t>
            </a:r>
            <a:pPr indent="0" marL="0">
              <a:buNone/>
            </a:pPr>
            <a:r>
              <a:rPr lang="en-US" sz="1300" dirty="0">
                <a:solidFill>
                  <a:srgbClr val="2B2330"/>
                </a:solidFill>
                <a:latin typeface="Calibri" pitchFamily="34" charset="0"/>
                <a:ea typeface="Calibri" pitchFamily="34" charset="-122"/>
                <a:cs typeface="Calibri" pitchFamily="34" charset="-120"/>
              </a:rPr>
              <a:t>(a diferencia de artrosis y artritis psoriásica)</a:t>
            </a:r>
            <a:endParaRPr lang="en-US" sz="1300" dirty="0"/>
          </a:p>
          <a:p>
            <a:pPr marL="177800" indent="-177800">
              <a:spcAft>
                <a:spcPts val="900"/>
              </a:spcAft>
              <a:buSzPct val="100000"/>
              <a:buChar char="•"/>
            </a:pPr>
            <a:r>
              <a:rPr lang="en-US" sz="1300" b="1" dirty="0">
                <a:solidFill>
                  <a:srgbClr val="7A1F45"/>
                </a:solidFill>
                <a:latin typeface="Calibri" pitchFamily="34" charset="0"/>
                <a:ea typeface="Calibri" pitchFamily="34" charset="-122"/>
                <a:cs typeface="Calibri" pitchFamily="34" charset="-120"/>
              </a:rPr>
              <a:t>Rigidez matutina &gt; 30 min </a:t>
            </a:r>
            <a:pPr indent="0" marL="0">
              <a:buNone/>
            </a:pPr>
            <a:r>
              <a:rPr lang="en-US" sz="1300" dirty="0">
                <a:solidFill>
                  <a:srgbClr val="2B2330"/>
                </a:solidFill>
                <a:latin typeface="Calibri" pitchFamily="34" charset="0"/>
                <a:ea typeface="Calibri" pitchFamily="34" charset="-122"/>
                <a:cs typeface="Calibri" pitchFamily="34" charset="-120"/>
              </a:rPr>
              <a:t>(a veces horas) en ~75 %</a:t>
            </a:r>
            <a:endParaRPr lang="en-US" sz="1300" dirty="0"/>
          </a:p>
          <a:p>
            <a:pPr marL="177800" indent="-177800">
              <a:spcAft>
                <a:spcPts val="900"/>
              </a:spcAft>
              <a:buSzPct val="100000"/>
              <a:buChar char="•"/>
            </a:pPr>
            <a:r>
              <a:rPr lang="en-US" sz="1300" b="1" dirty="0">
                <a:solidFill>
                  <a:srgbClr val="7A1F45"/>
                </a:solidFill>
                <a:latin typeface="Calibri" pitchFamily="34" charset="0"/>
                <a:ea typeface="Calibri" pitchFamily="34" charset="-122"/>
                <a:cs typeface="Calibri" pitchFamily="34" charset="-120"/>
              </a:rPr>
              <a:t>Tenosinovitis </a:t>
            </a:r>
            <a:pPr indent="0" marL="0">
              <a:buNone/>
            </a:pPr>
            <a:r>
              <a:rPr lang="en-US" sz="1300" dirty="0">
                <a:solidFill>
                  <a:srgbClr val="2B2330"/>
                </a:solidFill>
                <a:latin typeface="Calibri" pitchFamily="34" charset="0"/>
                <a:ea typeface="Calibri" pitchFamily="34" charset="-122"/>
                <a:cs typeface="Calibri" pitchFamily="34" charset="-120"/>
              </a:rPr>
              <a:t>clínica en ~20 %, sobre todo del extensor cubital del carpo</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PRESENTACIÓN CLÍNICA · FIGURA 2</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Aspectos clínicos y radiológicos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pic>
        <p:nvPicPr>
          <p:cNvPr id="5" name="Image 0" descr="Figura 2: fotografías e imágenes de la artritis reumatoide">    </p:cNvPr>
          <p:cNvPicPr>
            <a:picLocks noChangeAspect="1"/>
          </p:cNvPicPr>
          <p:nvPr/>
        </p:nvPicPr>
        <p:blipFill>
          <a:blip r:embed="rId1"/>
          <a:stretch>
            <a:fillRect/>
          </a:stretch>
        </p:blipFill>
        <p:spPr>
          <a:xfrm>
            <a:off x="457200" y="1188720"/>
            <a:ext cx="3246120" cy="3547872"/>
          </a:xfrm>
          <a:prstGeom prst="rect">
            <a:avLst/>
          </a:prstGeom>
        </p:spPr>
      </p:pic>
      <p:sp>
        <p:nvSpPr>
          <p:cNvPr id="6" name="Shape 3"/>
          <p:cNvSpPr/>
          <p:nvPr/>
        </p:nvSpPr>
        <p:spPr>
          <a:xfrm>
            <a:off x="4023360" y="1234440"/>
            <a:ext cx="365760" cy="365760"/>
          </a:xfrm>
          <a:prstGeom prst="ellipse">
            <a:avLst/>
          </a:prstGeom>
          <a:solidFill>
            <a:srgbClr val="7A1F45"/>
          </a:solidFill>
          <a:ln w="12700">
            <a:solidFill>
              <a:srgbClr val="7A1F45"/>
            </a:solidFill>
            <a:prstDash val="solid"/>
          </a:ln>
        </p:spPr>
      </p:sp>
      <p:sp>
        <p:nvSpPr>
          <p:cNvPr id="7" name="Text 4"/>
          <p:cNvSpPr txBox="1"/>
          <p:nvPr/>
        </p:nvSpPr>
        <p:spPr>
          <a:xfrm>
            <a:off x="4023360" y="1234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a:t>
            </a:r>
            <a:endParaRPr lang="en-US" sz="1300" dirty="0"/>
          </a:p>
        </p:txBody>
      </p:sp>
      <p:sp>
        <p:nvSpPr>
          <p:cNvPr id="8" name="Text 5"/>
          <p:cNvSpPr txBox="1"/>
          <p:nvPr/>
        </p:nvSpPr>
        <p:spPr>
          <a:xfrm>
            <a:off x="4526280" y="1188720"/>
            <a:ext cx="41605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Artritis temprana: tumefacción en IFP y MCF (flechas azules) y tenosinovitis (flecha roja).</a:t>
            </a:r>
            <a:endParaRPr lang="en-US" sz="1200" dirty="0"/>
          </a:p>
        </p:txBody>
      </p:sp>
      <p:sp>
        <p:nvSpPr>
          <p:cNvPr id="9" name="Shape 6"/>
          <p:cNvSpPr/>
          <p:nvPr/>
        </p:nvSpPr>
        <p:spPr>
          <a:xfrm>
            <a:off x="4023360" y="1947672"/>
            <a:ext cx="365760" cy="365760"/>
          </a:xfrm>
          <a:prstGeom prst="ellipse">
            <a:avLst/>
          </a:prstGeom>
          <a:solidFill>
            <a:srgbClr val="7A1F45"/>
          </a:solidFill>
          <a:ln w="12700">
            <a:solidFill>
              <a:srgbClr val="7A1F45"/>
            </a:solidFill>
            <a:prstDash val="solid"/>
          </a:ln>
        </p:spPr>
      </p:sp>
      <p:sp>
        <p:nvSpPr>
          <p:cNvPr id="10" name="Text 7"/>
          <p:cNvSpPr txBox="1"/>
          <p:nvPr/>
        </p:nvSpPr>
        <p:spPr>
          <a:xfrm>
            <a:off x="4023360" y="19476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t>
            </a:r>
            <a:endParaRPr lang="en-US" sz="1300" dirty="0"/>
          </a:p>
        </p:txBody>
      </p:sp>
      <p:sp>
        <p:nvSpPr>
          <p:cNvPr id="11" name="Text 8"/>
          <p:cNvSpPr txBox="1"/>
          <p:nvPr/>
        </p:nvSpPr>
        <p:spPr>
          <a:xfrm>
            <a:off x="4526280" y="1901952"/>
            <a:ext cx="41605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AR de larga evolución: subluxación de las MCF y deformidad en "cuello de cisne" del 5.º dedo.</a:t>
            </a:r>
            <a:endParaRPr lang="en-US" sz="1200" dirty="0"/>
          </a:p>
        </p:txBody>
      </p:sp>
      <p:sp>
        <p:nvSpPr>
          <p:cNvPr id="12" name="Shape 9"/>
          <p:cNvSpPr/>
          <p:nvPr/>
        </p:nvSpPr>
        <p:spPr>
          <a:xfrm>
            <a:off x="4023360" y="2660904"/>
            <a:ext cx="365760" cy="365760"/>
          </a:xfrm>
          <a:prstGeom prst="ellipse">
            <a:avLst/>
          </a:prstGeom>
          <a:solidFill>
            <a:srgbClr val="7A1F45"/>
          </a:solidFill>
          <a:ln w="12700">
            <a:solidFill>
              <a:srgbClr val="7A1F45"/>
            </a:solidFill>
            <a:prstDash val="solid"/>
          </a:ln>
        </p:spPr>
      </p:sp>
      <p:sp>
        <p:nvSpPr>
          <p:cNvPr id="13" name="Text 10"/>
          <p:cNvSpPr txBox="1"/>
          <p:nvPr/>
        </p:nvSpPr>
        <p:spPr>
          <a:xfrm>
            <a:off x="4023360" y="26609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a:t>
            </a:r>
            <a:endParaRPr lang="en-US" sz="1300" dirty="0"/>
          </a:p>
        </p:txBody>
      </p:sp>
      <p:sp>
        <p:nvSpPr>
          <p:cNvPr id="14" name="Text 11"/>
          <p:cNvSpPr txBox="1"/>
          <p:nvPr/>
        </p:nvSpPr>
        <p:spPr>
          <a:xfrm>
            <a:off x="4526280" y="2615184"/>
            <a:ext cx="41605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Nódulo reumatoide (flecha roja) y lesión de vasculitis reumatoide (flecha azul).</a:t>
            </a:r>
            <a:endParaRPr lang="en-US" sz="1200" dirty="0"/>
          </a:p>
        </p:txBody>
      </p:sp>
      <p:sp>
        <p:nvSpPr>
          <p:cNvPr id="15" name="Shape 12"/>
          <p:cNvSpPr/>
          <p:nvPr/>
        </p:nvSpPr>
        <p:spPr>
          <a:xfrm>
            <a:off x="4023360" y="3374136"/>
            <a:ext cx="365760" cy="365760"/>
          </a:xfrm>
          <a:prstGeom prst="ellipse">
            <a:avLst/>
          </a:prstGeom>
          <a:solidFill>
            <a:srgbClr val="D9472F"/>
          </a:solidFill>
          <a:ln w="12700">
            <a:solidFill>
              <a:srgbClr val="D9472F"/>
            </a:solidFill>
            <a:prstDash val="solid"/>
          </a:ln>
        </p:spPr>
      </p:sp>
      <p:sp>
        <p:nvSpPr>
          <p:cNvPr id="16" name="Text 13"/>
          <p:cNvSpPr txBox="1"/>
          <p:nvPr/>
        </p:nvSpPr>
        <p:spPr>
          <a:xfrm>
            <a:off x="4023360" y="3374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a:t>
            </a:r>
            <a:endParaRPr lang="en-US" sz="1300" dirty="0"/>
          </a:p>
        </p:txBody>
      </p:sp>
      <p:sp>
        <p:nvSpPr>
          <p:cNvPr id="17" name="Text 14"/>
          <p:cNvSpPr txBox="1"/>
          <p:nvPr/>
        </p:nvSpPr>
        <p:spPr>
          <a:xfrm>
            <a:off x="4526280" y="3328416"/>
            <a:ext cx="41605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Radiografía con daño grave en MCF y muñeca: erosiones y estrechamiento del espacio articular.</a:t>
            </a:r>
            <a:endParaRPr lang="en-US" sz="1200" dirty="0"/>
          </a:p>
        </p:txBody>
      </p:sp>
      <p:sp>
        <p:nvSpPr>
          <p:cNvPr id="18" name="Shape 15"/>
          <p:cNvSpPr/>
          <p:nvPr/>
        </p:nvSpPr>
        <p:spPr>
          <a:xfrm>
            <a:off x="4023360" y="4087368"/>
            <a:ext cx="365760" cy="365760"/>
          </a:xfrm>
          <a:prstGeom prst="ellipse">
            <a:avLst/>
          </a:prstGeom>
          <a:solidFill>
            <a:srgbClr val="D9472F"/>
          </a:solidFill>
          <a:ln w="12700">
            <a:solidFill>
              <a:srgbClr val="D9472F"/>
            </a:solidFill>
            <a:prstDash val="solid"/>
          </a:ln>
        </p:spPr>
      </p:sp>
      <p:sp>
        <p:nvSpPr>
          <p:cNvPr id="19" name="Text 16"/>
          <p:cNvSpPr txBox="1"/>
          <p:nvPr/>
        </p:nvSpPr>
        <p:spPr>
          <a:xfrm>
            <a:off x="4023360" y="4087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a:t>
            </a:r>
            <a:endParaRPr lang="en-US" sz="1300" dirty="0"/>
          </a:p>
        </p:txBody>
      </p:sp>
      <p:sp>
        <p:nvSpPr>
          <p:cNvPr id="20" name="Text 17"/>
          <p:cNvSpPr txBox="1"/>
          <p:nvPr/>
        </p:nvSpPr>
        <p:spPr>
          <a:xfrm>
            <a:off x="4526280" y="4041648"/>
            <a:ext cx="41605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El mismo paciente 6 años antes, en fase temprana: articulaciones casi normales.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PRESENTACIÓN CLÍNICA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Manifestaciones extraarticulares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234440"/>
            <a:ext cx="2926080" cy="566928"/>
          </a:xfrm>
          <a:prstGeom prst="rect">
            <a:avLst/>
          </a:prstGeom>
          <a:noFill/>
          <a:ln/>
        </p:spPr>
        <p:txBody>
          <a:bodyPr wrap="square" lIns="0" tIns="0" rIns="0" bIns="0" rtlCol="0" anchor="b"/>
          <a:lstStyle/>
          <a:p>
            <a:pPr indent="0" marL="0">
              <a:buNone/>
            </a:pPr>
            <a:r>
              <a:rPr lang="en-US" sz="4400" b="1" dirty="0">
                <a:solidFill>
                  <a:srgbClr val="D9472F"/>
                </a:solidFill>
                <a:latin typeface="Cambria" pitchFamily="34" charset="0"/>
                <a:ea typeface="Cambria" pitchFamily="34" charset="-122"/>
                <a:cs typeface="Cambria" pitchFamily="34" charset="-120"/>
              </a:rPr>
              <a:t>19,4 %</a:t>
            </a:r>
            <a:endParaRPr lang="en-US" sz="4400" dirty="0"/>
          </a:p>
        </p:txBody>
      </p:sp>
      <p:sp>
        <p:nvSpPr>
          <p:cNvPr id="6" name="Text 4"/>
          <p:cNvSpPr txBox="1"/>
          <p:nvPr/>
        </p:nvSpPr>
        <p:spPr>
          <a:xfrm>
            <a:off x="457200" y="1837944"/>
            <a:ext cx="29260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 1226 pacientes suecos con AR temprana (seguimiento medio 9,3 años con FAME) desarrollaron manifestaciones extraarticulares</a:t>
            </a:r>
            <a:endParaRPr lang="en-US" sz="1150" dirty="0"/>
          </a:p>
        </p:txBody>
      </p:sp>
      <p:sp>
        <p:nvSpPr>
          <p:cNvPr id="7" name="Shape 5"/>
          <p:cNvSpPr/>
          <p:nvPr/>
        </p:nvSpPr>
        <p:spPr>
          <a:xfrm>
            <a:off x="457200" y="2697480"/>
            <a:ext cx="3108960" cy="1965960"/>
          </a:xfrm>
          <a:prstGeom prst="roundRect">
            <a:avLst>
              <a:gd name="adj" fmla="val 3721"/>
            </a:avLst>
          </a:prstGeom>
          <a:solidFill>
            <a:srgbClr val="F7EEF1"/>
          </a:solidFill>
          <a:ln w="12700">
            <a:solidFill>
              <a:srgbClr val="F7EEF1"/>
            </a:solidFill>
            <a:prstDash val="solid"/>
          </a:ln>
        </p:spPr>
      </p:sp>
      <p:sp>
        <p:nvSpPr>
          <p:cNvPr id="8" name="Text 6"/>
          <p:cNvSpPr txBox="1"/>
          <p:nvPr/>
        </p:nvSpPr>
        <p:spPr>
          <a:xfrm>
            <a:off x="640080" y="2834640"/>
            <a:ext cx="2788920" cy="1737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Poco frecuentes en la AR temprana</a:t>
            </a:r>
            <a:endParaRPr lang="en-US" sz="1250" dirty="0"/>
          </a:p>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Aparecen en pacientes con ≥ 3 años de AR sin remisión ni baja actividad</a:t>
            </a:r>
            <a:endParaRPr lang="en-US" sz="1250" dirty="0"/>
          </a:p>
          <a:p>
            <a:pPr marL="177800" indent="-177800">
              <a:spcAft>
                <a:spcPts val="700"/>
              </a:spcAft>
              <a:buSzPct val="100000"/>
              <a:buChar char="•"/>
            </a:pPr>
            <a:r>
              <a:rPr lang="en-US" sz="1250" dirty="0">
                <a:solidFill>
                  <a:srgbClr val="2B2330"/>
                </a:solidFill>
                <a:latin typeface="Calibri" pitchFamily="34" charset="0"/>
                <a:ea typeface="Calibri" pitchFamily="34" charset="-122"/>
                <a:cs typeface="Calibri" pitchFamily="34" charset="-120"/>
              </a:rPr>
              <a:t>Nódulos: antebrazo cerca del codo o dorso de los dedos</a:t>
            </a:r>
            <a:endParaRPr lang="en-US" sz="1250" dirty="0"/>
          </a:p>
        </p:txBody>
      </p:sp>
      <p:graphicFrame>
        <p:nvGraphicFramePr>
          <p:cNvPr id="9" name="Chart 0" descr=""/>
          <p:cNvGraphicFramePr/>
          <p:nvPr/>
        </p:nvGraphicFramePr>
        <p:xfrm>
          <a:off x="3931920" y="1280160"/>
          <a:ext cx="4754880"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EVALUACIÓN DE LABORATORIO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Autoanticuerpos y reactantes de fase aguda</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234440"/>
            <a:ext cx="1920240" cy="566928"/>
          </a:xfrm>
          <a:prstGeom prst="rect">
            <a:avLst/>
          </a:prstGeom>
          <a:noFill/>
          <a:ln/>
        </p:spPr>
        <p:txBody>
          <a:bodyPr wrap="square" lIns="0" tIns="0" rIns="0" bIns="0" rtlCol="0" anchor="b"/>
          <a:lstStyle/>
          <a:p>
            <a:pPr indent="0" marL="0">
              <a:buNone/>
            </a:pPr>
            <a:r>
              <a:rPr lang="en-US" sz="3000" b="1" dirty="0">
                <a:solidFill>
                  <a:srgbClr val="7A1F45"/>
                </a:solidFill>
                <a:latin typeface="Cambria" pitchFamily="34" charset="0"/>
                <a:ea typeface="Cambria" pitchFamily="34" charset="-122"/>
                <a:cs typeface="Cambria" pitchFamily="34" charset="-120"/>
              </a:rPr>
              <a:t>40–60 %</a:t>
            </a:r>
            <a:endParaRPr lang="en-US" sz="3000" dirty="0"/>
          </a:p>
        </p:txBody>
      </p:sp>
      <p:sp>
        <p:nvSpPr>
          <p:cNvPr id="6" name="Text 4"/>
          <p:cNvSpPr txBox="1"/>
          <p:nvPr/>
        </p:nvSpPr>
        <p:spPr>
          <a:xfrm>
            <a:off x="4572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seropositivos (FR y/o ACPA) al diagnóstico</a:t>
            </a:r>
            <a:endParaRPr lang="en-US" sz="1150" dirty="0"/>
          </a:p>
        </p:txBody>
      </p:sp>
      <p:sp>
        <p:nvSpPr>
          <p:cNvPr id="7" name="Text 5"/>
          <p:cNvSpPr txBox="1"/>
          <p:nvPr/>
        </p:nvSpPr>
        <p:spPr>
          <a:xfrm>
            <a:off x="2514600" y="1234440"/>
            <a:ext cx="1920240" cy="566928"/>
          </a:xfrm>
          <a:prstGeom prst="rect">
            <a:avLst/>
          </a:prstGeom>
          <a:noFill/>
          <a:ln/>
        </p:spPr>
        <p:txBody>
          <a:bodyPr wrap="square" lIns="0" tIns="0" rIns="0" bIns="0" rtlCol="0" anchor="b"/>
          <a:lstStyle/>
          <a:p>
            <a:pPr indent="0" marL="0">
              <a:buNone/>
            </a:pPr>
            <a:r>
              <a:rPr lang="en-US" sz="3000" b="1" dirty="0">
                <a:solidFill>
                  <a:srgbClr val="7A1F45"/>
                </a:solidFill>
                <a:latin typeface="Cambria" pitchFamily="34" charset="0"/>
                <a:ea typeface="Cambria" pitchFamily="34" charset="-122"/>
                <a:cs typeface="Cambria" pitchFamily="34" charset="-120"/>
              </a:rPr>
              <a:t>~80 %</a:t>
            </a:r>
            <a:endParaRPr lang="en-US" sz="3000" dirty="0"/>
          </a:p>
        </p:txBody>
      </p:sp>
      <p:sp>
        <p:nvSpPr>
          <p:cNvPr id="8" name="Text 6"/>
          <p:cNvSpPr txBox="1"/>
          <p:nvPr/>
        </p:nvSpPr>
        <p:spPr>
          <a:xfrm>
            <a:off x="25146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seropositivos con ≥ 3 años de enfermedad</a:t>
            </a:r>
            <a:endParaRPr lang="en-US" sz="1150" dirty="0"/>
          </a:p>
        </p:txBody>
      </p:sp>
      <p:sp>
        <p:nvSpPr>
          <p:cNvPr id="9" name="Text 7"/>
          <p:cNvSpPr txBox="1"/>
          <p:nvPr/>
        </p:nvSpPr>
        <p:spPr>
          <a:xfrm>
            <a:off x="4572000" y="1234440"/>
            <a:ext cx="1920240" cy="566928"/>
          </a:xfrm>
          <a:prstGeom prst="rect">
            <a:avLst/>
          </a:prstGeom>
          <a:noFill/>
          <a:ln/>
        </p:spPr>
        <p:txBody>
          <a:bodyPr wrap="square" lIns="0" tIns="0" rIns="0" bIns="0" rtlCol="0" anchor="b"/>
          <a:lstStyle/>
          <a:p>
            <a:pPr indent="0" marL="0">
              <a:buNone/>
            </a:pPr>
            <a:r>
              <a:rPr lang="en-US" sz="3000" b="1" dirty="0">
                <a:solidFill>
                  <a:srgbClr val="D9472F"/>
                </a:solidFill>
                <a:latin typeface="Cambria" pitchFamily="34" charset="0"/>
                <a:ea typeface="Cambria" pitchFamily="34" charset="-122"/>
                <a:cs typeface="Cambria" pitchFamily="34" charset="-120"/>
              </a:rPr>
              <a:t>12 %</a:t>
            </a:r>
            <a:endParaRPr lang="en-US" sz="3000" dirty="0"/>
          </a:p>
        </p:txBody>
      </p:sp>
      <p:sp>
        <p:nvSpPr>
          <p:cNvPr id="10" name="Text 8"/>
          <p:cNvSpPr txBox="1"/>
          <p:nvPr/>
        </p:nvSpPr>
        <p:spPr>
          <a:xfrm>
            <a:off x="4572000" y="1837944"/>
            <a:ext cx="19202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de seronegativos se vuelven seropositivos en 3 años (28/242)</a:t>
            </a:r>
            <a:endParaRPr lang="en-US" sz="1150" dirty="0"/>
          </a:p>
        </p:txBody>
      </p:sp>
      <p:sp>
        <p:nvSpPr>
          <p:cNvPr id="11" name="Text 9"/>
          <p:cNvSpPr txBox="1"/>
          <p:nvPr/>
        </p:nvSpPr>
        <p:spPr>
          <a:xfrm>
            <a:off x="6629400" y="1234440"/>
            <a:ext cx="2057400" cy="566928"/>
          </a:xfrm>
          <a:prstGeom prst="rect">
            <a:avLst/>
          </a:prstGeom>
          <a:noFill/>
          <a:ln/>
        </p:spPr>
        <p:txBody>
          <a:bodyPr wrap="square" lIns="0" tIns="0" rIns="0" bIns="0" rtlCol="0" anchor="b"/>
          <a:lstStyle/>
          <a:p>
            <a:pPr indent="0" marL="0">
              <a:buNone/>
            </a:pPr>
            <a:r>
              <a:rPr lang="en-US" sz="3000" b="1" dirty="0">
                <a:solidFill>
                  <a:srgbClr val="D9472F"/>
                </a:solidFill>
                <a:latin typeface="Cambria" pitchFamily="34" charset="0"/>
                <a:ea typeface="Cambria" pitchFamily="34" charset="-122"/>
                <a:cs typeface="Cambria" pitchFamily="34" charset="-120"/>
              </a:rPr>
              <a:t>25 %</a:t>
            </a:r>
            <a:endParaRPr lang="en-US" sz="3000" dirty="0"/>
          </a:p>
        </p:txBody>
      </p:sp>
      <p:sp>
        <p:nvSpPr>
          <p:cNvPr id="12" name="Text 10"/>
          <p:cNvSpPr txBox="1"/>
          <p:nvPr/>
        </p:nvSpPr>
        <p:spPr>
          <a:xfrm>
            <a:off x="6629400" y="1837944"/>
            <a:ext cx="205740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con PCR/VSG elevadas y anemia de enfermedad crónica (Hb &lt; 12 g/dL) en el 1.er año</a:t>
            </a:r>
            <a:endParaRPr lang="en-US" sz="1150" dirty="0"/>
          </a:p>
        </p:txBody>
      </p:sp>
      <p:sp>
        <p:nvSpPr>
          <p:cNvPr id="13" name="Text 11"/>
          <p:cNvSpPr txBox="1"/>
          <p:nvPr/>
        </p:nvSpPr>
        <p:spPr>
          <a:xfrm>
            <a:off x="457200" y="2606040"/>
            <a:ext cx="82296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Los autoanticuerpos preceden a la clínica (pre-AR)</a:t>
            </a:r>
            <a:endParaRPr lang="en-US" sz="1500" dirty="0"/>
          </a:p>
        </p:txBody>
      </p:sp>
      <p:sp>
        <p:nvSpPr>
          <p:cNvPr id="14" name="Shape 12"/>
          <p:cNvSpPr/>
          <p:nvPr/>
        </p:nvSpPr>
        <p:spPr>
          <a:xfrm>
            <a:off x="731520" y="3749040"/>
            <a:ext cx="7680960" cy="0"/>
          </a:xfrm>
          <a:prstGeom prst="line">
            <a:avLst/>
          </a:prstGeom>
          <a:noFill/>
          <a:ln w="38100">
            <a:solidFill>
              <a:srgbClr val="D9CCD2"/>
            </a:solidFill>
            <a:prstDash val="solid"/>
          </a:ln>
        </p:spPr>
      </p:sp>
      <p:sp>
        <p:nvSpPr>
          <p:cNvPr id="15" name="Shape 13"/>
          <p:cNvSpPr/>
          <p:nvPr/>
        </p:nvSpPr>
        <p:spPr>
          <a:xfrm>
            <a:off x="603504" y="3621024"/>
            <a:ext cx="256032" cy="256032"/>
          </a:xfrm>
          <a:prstGeom prst="ellipse">
            <a:avLst/>
          </a:prstGeom>
          <a:solidFill>
            <a:srgbClr val="7A1F45"/>
          </a:solidFill>
          <a:ln w="25400">
            <a:solidFill>
              <a:srgbClr val="FFFFFF"/>
            </a:solidFill>
            <a:prstDash val="solid"/>
          </a:ln>
        </p:spPr>
      </p:sp>
      <p:sp>
        <p:nvSpPr>
          <p:cNvPr id="16" name="Text 14"/>
          <p:cNvSpPr txBox="1"/>
          <p:nvPr/>
        </p:nvSpPr>
        <p:spPr>
          <a:xfrm>
            <a:off x="-182880" y="3108960"/>
            <a:ext cx="1828800" cy="457200"/>
          </a:xfrm>
          <a:prstGeom prst="rect">
            <a:avLst/>
          </a:prstGeom>
          <a:noFill/>
          <a:ln/>
        </p:spPr>
        <p:txBody>
          <a:bodyPr wrap="square" lIns="0" tIns="0" rIns="0" bIns="0" rtlCol="0" anchor="b"/>
          <a:lstStyle/>
          <a:p>
            <a:pPr algn="ctr" indent="0" marL="0">
              <a:buNone/>
            </a:pPr>
            <a:r>
              <a:rPr lang="en-US" sz="1600" b="1" dirty="0">
                <a:solidFill>
                  <a:srgbClr val="7A1F45"/>
                </a:solidFill>
                <a:latin typeface="Cambria" pitchFamily="34" charset="0"/>
                <a:ea typeface="Cambria" pitchFamily="34" charset="-122"/>
                <a:cs typeface="Cambria" pitchFamily="34" charset="-120"/>
              </a:rPr>
              <a:t>−14 años</a:t>
            </a:r>
            <a:endParaRPr lang="en-US" sz="1600" dirty="0"/>
          </a:p>
        </p:txBody>
      </p:sp>
      <p:sp>
        <p:nvSpPr>
          <p:cNvPr id="17" name="Text 15"/>
          <p:cNvSpPr txBox="1"/>
          <p:nvPr/>
        </p:nvSpPr>
        <p:spPr>
          <a:xfrm>
            <a:off x="-182880" y="3977640"/>
            <a:ext cx="1828800" cy="45720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Pueden detectarse ACPA</a:t>
            </a:r>
            <a:endParaRPr lang="en-US" sz="1150" dirty="0"/>
          </a:p>
        </p:txBody>
      </p:sp>
      <p:sp>
        <p:nvSpPr>
          <p:cNvPr id="18" name="Shape 16"/>
          <p:cNvSpPr/>
          <p:nvPr/>
        </p:nvSpPr>
        <p:spPr>
          <a:xfrm>
            <a:off x="3346704" y="3621024"/>
            <a:ext cx="256032" cy="256032"/>
          </a:xfrm>
          <a:prstGeom prst="ellipse">
            <a:avLst/>
          </a:prstGeom>
          <a:solidFill>
            <a:srgbClr val="7A1F45"/>
          </a:solidFill>
          <a:ln w="25400">
            <a:solidFill>
              <a:srgbClr val="FFFFFF"/>
            </a:solidFill>
            <a:prstDash val="solid"/>
          </a:ln>
        </p:spPr>
      </p:sp>
      <p:sp>
        <p:nvSpPr>
          <p:cNvPr id="19" name="Text 17"/>
          <p:cNvSpPr txBox="1"/>
          <p:nvPr/>
        </p:nvSpPr>
        <p:spPr>
          <a:xfrm>
            <a:off x="2560320" y="3108960"/>
            <a:ext cx="1828800" cy="457200"/>
          </a:xfrm>
          <a:prstGeom prst="rect">
            <a:avLst/>
          </a:prstGeom>
          <a:noFill/>
          <a:ln/>
        </p:spPr>
        <p:txBody>
          <a:bodyPr wrap="square" lIns="0" tIns="0" rIns="0" bIns="0" rtlCol="0" anchor="b"/>
          <a:lstStyle/>
          <a:p>
            <a:pPr algn="ctr" indent="0" marL="0">
              <a:buNone/>
            </a:pPr>
            <a:r>
              <a:rPr lang="en-US" sz="1600" b="1" dirty="0">
                <a:solidFill>
                  <a:srgbClr val="7A1F45"/>
                </a:solidFill>
                <a:latin typeface="Cambria" pitchFamily="34" charset="0"/>
                <a:ea typeface="Cambria" pitchFamily="34" charset="-122"/>
                <a:cs typeface="Cambria" pitchFamily="34" charset="-120"/>
              </a:rPr>
              <a:t>−10 años</a:t>
            </a:r>
            <a:endParaRPr lang="en-US" sz="1600" dirty="0"/>
          </a:p>
        </p:txBody>
      </p:sp>
      <p:sp>
        <p:nvSpPr>
          <p:cNvPr id="20" name="Text 18"/>
          <p:cNvSpPr txBox="1"/>
          <p:nvPr/>
        </p:nvSpPr>
        <p:spPr>
          <a:xfrm>
            <a:off x="2560320" y="3977640"/>
            <a:ext cx="1828800" cy="45720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Puede aparecer el factor reumatoide</a:t>
            </a:r>
            <a:endParaRPr lang="en-US" sz="1150" dirty="0"/>
          </a:p>
        </p:txBody>
      </p:sp>
      <p:sp>
        <p:nvSpPr>
          <p:cNvPr id="21" name="Shape 19"/>
          <p:cNvSpPr/>
          <p:nvPr/>
        </p:nvSpPr>
        <p:spPr>
          <a:xfrm>
            <a:off x="8010144" y="3621024"/>
            <a:ext cx="256032" cy="256032"/>
          </a:xfrm>
          <a:prstGeom prst="ellipse">
            <a:avLst/>
          </a:prstGeom>
          <a:solidFill>
            <a:srgbClr val="D9472F"/>
          </a:solidFill>
          <a:ln w="25400">
            <a:solidFill>
              <a:srgbClr val="FFFFFF"/>
            </a:solidFill>
            <a:prstDash val="solid"/>
          </a:ln>
        </p:spPr>
      </p:sp>
      <p:sp>
        <p:nvSpPr>
          <p:cNvPr id="22" name="Text 20"/>
          <p:cNvSpPr txBox="1"/>
          <p:nvPr/>
        </p:nvSpPr>
        <p:spPr>
          <a:xfrm>
            <a:off x="7223760" y="3108960"/>
            <a:ext cx="1828800" cy="457200"/>
          </a:xfrm>
          <a:prstGeom prst="rect">
            <a:avLst/>
          </a:prstGeom>
          <a:noFill/>
          <a:ln/>
        </p:spPr>
        <p:txBody>
          <a:bodyPr wrap="square" lIns="0" tIns="0" rIns="0" bIns="0" rtlCol="0" anchor="b"/>
          <a:lstStyle/>
          <a:p>
            <a:pPr algn="ctr" indent="0" marL="0">
              <a:buNone/>
            </a:pPr>
            <a:r>
              <a:rPr lang="en-US" sz="1600" b="1" dirty="0">
                <a:solidFill>
                  <a:srgbClr val="D9472F"/>
                </a:solidFill>
                <a:latin typeface="Cambria" pitchFamily="34" charset="0"/>
                <a:ea typeface="Cambria" pitchFamily="34" charset="-122"/>
                <a:cs typeface="Cambria" pitchFamily="34" charset="-120"/>
              </a:rPr>
              <a:t>Año 0</a:t>
            </a:r>
            <a:endParaRPr lang="en-US" sz="1600" dirty="0"/>
          </a:p>
        </p:txBody>
      </p:sp>
      <p:sp>
        <p:nvSpPr>
          <p:cNvPr id="23" name="Text 21"/>
          <p:cNvSpPr txBox="1"/>
          <p:nvPr/>
        </p:nvSpPr>
        <p:spPr>
          <a:xfrm>
            <a:off x="7223760" y="3977640"/>
            <a:ext cx="1828800" cy="45720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Signos y síntomas de AR</a:t>
            </a:r>
            <a:endParaRPr lang="en-US" sz="1150" dirty="0"/>
          </a:p>
        </p:txBody>
      </p:sp>
      <p:sp>
        <p:nvSpPr>
          <p:cNvPr id="24" name="Text 22"/>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100" i="1" dirty="0">
                <a:solidFill>
                  <a:srgbClr val="6E6573"/>
                </a:solidFill>
                <a:latin typeface="Calibri" pitchFamily="34" charset="0"/>
                <a:ea typeface="Calibri" pitchFamily="34" charset="-122"/>
                <a:cs typeface="Calibri" pitchFamily="34" charset="-120"/>
              </a:rPr>
              <a:t>Personas seropositivas sin tumefacción = pre-AR. ACR y EULAR tienen criterios para estratificar su riesgo de progresar a AR.</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CLASIFICACIÓN Y DIAGNÓSTICO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Criterios de clasificación ACR/EULAR 2010</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577840" cy="914400"/>
        </p:xfrm>
        <a:graphic>
          <a:graphicData uri="http://schemas.openxmlformats.org/drawingml/2006/table">
            <a:tbl>
              <a:tblPr/>
              <a:tblGrid>
                <a:gridCol w="1554480"/>
                <a:gridCol w="3383280"/>
                <a:gridCol w="640080"/>
              </a:tblGrid>
              <a:tr h="2468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Dominio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Puntos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246888">
                <a:tc rowSpan="5">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Articulaciones (0–5)</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F7EEF1"/>
                    </a:solidFill>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 articulación grande</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2–10 articulaciones grandes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1–3 articulaciones pequeñas (no cuentan las grandes)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4–10 articulaciones pequeñas (no cuentan las grandes)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&gt; 10 articulaciones (≥ 1 pequeña)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rowSpan="3">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Serología (0–3)</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F7EEF1"/>
                    </a:solidFill>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FR y ACPA negativos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FR o ACPA positivos bajos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FR o ACPA positivos altos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rowSpan="2">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Duración de síntomas (0–1)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F7EEF1"/>
                    </a:solidFill>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&lt; 6 semanas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 6 semanas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rowSpan="2">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Reactantes de fase aguda (0–1)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F7EEF1"/>
                    </a:solidFill>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PCR y VSG normales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246888">
                <a:tc vMerge="1">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PCR o VSG anormales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6" name="Shape 3"/>
          <p:cNvSpPr/>
          <p:nvPr/>
        </p:nvSpPr>
        <p:spPr>
          <a:xfrm>
            <a:off x="6309360" y="1188720"/>
            <a:ext cx="2377440" cy="1234440"/>
          </a:xfrm>
          <a:prstGeom prst="roundRect">
            <a:avLst>
              <a:gd name="adj" fmla="val 5926"/>
            </a:avLst>
          </a:prstGeom>
          <a:solidFill>
            <a:srgbClr val="7A1F45"/>
          </a:solidFill>
          <a:ln w="12700">
            <a:solidFill>
              <a:srgbClr val="7A1F45"/>
            </a:solidFill>
            <a:prstDash val="solid"/>
          </a:ln>
        </p:spPr>
      </p:sp>
      <p:sp>
        <p:nvSpPr>
          <p:cNvPr id="7" name="Text 4"/>
          <p:cNvSpPr txBox="1"/>
          <p:nvPr/>
        </p:nvSpPr>
        <p:spPr>
          <a:xfrm>
            <a:off x="6400800" y="1234440"/>
            <a:ext cx="2194560" cy="11430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 6 puntos</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permite clasificar como AR</a:t>
            </a:r>
            <a:endParaRPr lang="en-US" sz="1400" dirty="0"/>
          </a:p>
        </p:txBody>
      </p:sp>
      <p:sp>
        <p:nvSpPr>
          <p:cNvPr id="8" name="Text 5"/>
          <p:cNvSpPr txBox="1"/>
          <p:nvPr/>
        </p:nvSpPr>
        <p:spPr>
          <a:xfrm>
            <a:off x="6309360" y="2606040"/>
            <a:ext cx="2377440" cy="21031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2B2330"/>
                </a:solidFill>
                <a:latin typeface="Calibri" pitchFamily="34" charset="0"/>
                <a:ea typeface="Calibri" pitchFamily="34" charset="-122"/>
                <a:cs typeface="Calibri" pitchFamily="34" charset="-120"/>
              </a:rPr>
              <a:t>No existen criterios diagnósticos formales: el diagnóstico es clínico e individual</a:t>
            </a:r>
            <a:endParaRPr lang="en-US" sz="1100" dirty="0"/>
          </a:p>
          <a:p>
            <a:pPr marL="177800" indent="-177800">
              <a:spcAft>
                <a:spcPts val="600"/>
              </a:spcAft>
              <a:buSzPct val="100000"/>
              <a:buChar char="•"/>
            </a:pPr>
            <a:r>
              <a:rPr lang="en-US" sz="1100" dirty="0">
                <a:solidFill>
                  <a:srgbClr val="2B2330"/>
                </a:solidFill>
                <a:latin typeface="Calibri" pitchFamily="34" charset="0"/>
                <a:ea typeface="Calibri" pitchFamily="34" charset="-122"/>
                <a:cs typeface="Calibri" pitchFamily="34" charset="-120"/>
              </a:rPr>
              <a:t>Los criterios de clasificación buscan poblaciones homogéneas para estudios, pero apoyan el diagnóstico</a:t>
            </a:r>
            <a:endParaRPr lang="en-US" sz="1100" dirty="0"/>
          </a:p>
          <a:p>
            <a:pPr marL="177800" indent="-177800">
              <a:spcAft>
                <a:spcPts val="600"/>
              </a:spcAft>
              <a:buSzPct val="100000"/>
              <a:buChar char="•"/>
            </a:pPr>
            <a:r>
              <a:rPr lang="en-US" sz="1100" dirty="0">
                <a:solidFill>
                  <a:srgbClr val="2B2330"/>
                </a:solidFill>
                <a:latin typeface="Calibri" pitchFamily="34" charset="0"/>
                <a:ea typeface="Calibri" pitchFamily="34" charset="-122"/>
                <a:cs typeface="Calibri" pitchFamily="34" charset="-120"/>
              </a:rPr>
              <a:t>Erosiones típicas en ≥ 3 articulaciones de manos o pies se asocian fuertemente con AR</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CLASIFICACIÓN Y DIAGNÓSTICO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El papel de la imagen</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3977640" cy="3383280"/>
          </a:xfrm>
          <a:prstGeom prst="roundRect">
            <a:avLst>
              <a:gd name="adj" fmla="val 2162"/>
            </a:avLst>
          </a:prstGeom>
          <a:solidFill>
            <a:srgbClr val="F7EEF1"/>
          </a:solidFill>
          <a:ln w="12700">
            <a:solidFill>
              <a:srgbClr val="F7EEF1"/>
            </a:solidFill>
            <a:prstDash val="solid"/>
          </a:ln>
        </p:spPr>
      </p:sp>
      <p:sp>
        <p:nvSpPr>
          <p:cNvPr id="6" name="Shape 4"/>
          <p:cNvSpPr/>
          <p:nvPr/>
        </p:nvSpPr>
        <p:spPr>
          <a:xfrm>
            <a:off x="640080" y="1463040"/>
            <a:ext cx="594360" cy="594360"/>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88670" y="1611630"/>
            <a:ext cx="297180" cy="297180"/>
          </a:xfrm>
          <a:prstGeom prst="rect">
            <a:avLst/>
          </a:prstGeom>
        </p:spPr>
      </p:pic>
      <p:sp>
        <p:nvSpPr>
          <p:cNvPr id="8" name="Text 5"/>
          <p:cNvSpPr txBox="1"/>
          <p:nvPr/>
        </p:nvSpPr>
        <p:spPr>
          <a:xfrm>
            <a:off x="1371600" y="1463040"/>
            <a:ext cx="2926080" cy="594360"/>
          </a:xfrm>
          <a:prstGeom prst="rect">
            <a:avLst/>
          </a:prstGeom>
          <a:noFill/>
          <a:ln/>
        </p:spPr>
        <p:txBody>
          <a:bodyPr wrap="square" lIns="0" tIns="0" rIns="0" bIns="0" rtlCol="0" anchor="ctr"/>
          <a:lstStyle/>
          <a:p>
            <a:pPr indent="0" marL="0">
              <a:buNone/>
            </a:pPr>
            <a:r>
              <a:rPr lang="en-US" sz="1600" b="1" dirty="0">
                <a:solidFill>
                  <a:srgbClr val="2A1433"/>
                </a:solidFill>
                <a:latin typeface="Cambria" pitchFamily="34" charset="0"/>
                <a:ea typeface="Cambria" pitchFamily="34" charset="-122"/>
                <a:cs typeface="Cambria" pitchFamily="34" charset="-120"/>
              </a:rPr>
              <a:t>Radiografía convencional</a:t>
            </a:r>
            <a:endParaRPr lang="en-US" sz="1600" dirty="0"/>
          </a:p>
        </p:txBody>
      </p:sp>
      <p:sp>
        <p:nvSpPr>
          <p:cNvPr id="9" name="Text 6"/>
          <p:cNvSpPr txBox="1"/>
          <p:nvPr/>
        </p:nvSpPr>
        <p:spPr>
          <a:xfrm>
            <a:off x="640080" y="2194560"/>
            <a:ext cx="3657600"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B2330"/>
                </a:solidFill>
                <a:latin typeface="Calibri" pitchFamily="34" charset="0"/>
                <a:ea typeface="Calibri" pitchFamily="34" charset="-122"/>
                <a:cs typeface="Calibri" pitchFamily="34" charset="-120"/>
              </a:rPr>
              <a:t>Indicada en todo paciente evaluado o diagnosticado con AR</a:t>
            </a:r>
            <a:endParaRPr lang="en-US" sz="1200" dirty="0"/>
          </a:p>
          <a:p>
            <a:pPr marL="177800" indent="-177800">
              <a:spcAft>
                <a:spcPts val="500"/>
              </a:spcAft>
              <a:buSzPct val="100000"/>
              <a:buChar char="•"/>
            </a:pPr>
            <a:r>
              <a:rPr lang="en-US" sz="1200" dirty="0">
                <a:solidFill>
                  <a:srgbClr val="2B2330"/>
                </a:solidFill>
                <a:latin typeface="Calibri" pitchFamily="34" charset="0"/>
                <a:ea typeface="Calibri" pitchFamily="34" charset="-122"/>
                <a:cs typeface="Calibri" pitchFamily="34" charset="-120"/>
              </a:rPr>
              <a:t>Muestra estrechamiento del espacio articular (daño del cartílago) y erosiones, sobre todo en manos y pies</a:t>
            </a:r>
            <a:endParaRPr lang="en-US" sz="1200" dirty="0"/>
          </a:p>
          <a:p>
            <a:pPr marL="177800" indent="-177800">
              <a:spcAft>
                <a:spcPts val="500"/>
              </a:spcAft>
              <a:buSzPct val="100000"/>
              <a:buChar char="•"/>
            </a:pPr>
            <a:r>
              <a:rPr lang="en-US" sz="1200" dirty="0">
                <a:solidFill>
                  <a:srgbClr val="2B2330"/>
                </a:solidFill>
                <a:latin typeface="Calibri" pitchFamily="34" charset="0"/>
                <a:ea typeface="Calibri" pitchFamily="34" charset="-122"/>
                <a:cs typeface="Calibri" pitchFamily="34" charset="-120"/>
              </a:rPr>
              <a:t>Suele ser normal si el diagnóstico es temprano</a:t>
            </a:r>
            <a:endParaRPr lang="en-US" sz="1200" dirty="0"/>
          </a:p>
          <a:p>
            <a:pPr marL="177800" indent="-177800">
              <a:spcAft>
                <a:spcPts val="500"/>
              </a:spcAft>
              <a:buSzPct val="100000"/>
              <a:buChar char="•"/>
            </a:pPr>
            <a:r>
              <a:rPr lang="en-US" sz="1200" dirty="0">
                <a:solidFill>
                  <a:srgbClr val="2B2330"/>
                </a:solidFill>
                <a:latin typeface="Calibri" pitchFamily="34" charset="0"/>
                <a:ea typeface="Calibri" pitchFamily="34" charset="-122"/>
                <a:cs typeface="Calibri" pitchFamily="34" charset="-120"/>
              </a:rPr>
              <a:t>Anual en AR activa (tumefacción, dolor, marcadores inflamatorios)</a:t>
            </a:r>
            <a:endParaRPr lang="en-US" sz="1200" dirty="0"/>
          </a:p>
          <a:p>
            <a:pPr marL="177800" indent="-177800">
              <a:spcAft>
                <a:spcPts val="500"/>
              </a:spcAft>
              <a:buSzPct val="100000"/>
              <a:buChar char="•"/>
            </a:pPr>
            <a:r>
              <a:rPr lang="en-US" sz="1200" dirty="0">
                <a:solidFill>
                  <a:srgbClr val="2B2330"/>
                </a:solidFill>
                <a:latin typeface="Calibri" pitchFamily="34" charset="0"/>
                <a:ea typeface="Calibri" pitchFamily="34" charset="-122"/>
                <a:cs typeface="Calibri" pitchFamily="34" charset="-120"/>
              </a:rPr>
              <a:t>El estrechamiento articular se asocia más a la discapacidad funcional que las erosiones</a:t>
            </a:r>
            <a:endParaRPr lang="en-US" sz="1200" dirty="0"/>
          </a:p>
        </p:txBody>
      </p:sp>
      <p:sp>
        <p:nvSpPr>
          <p:cNvPr id="10" name="Shape 7"/>
          <p:cNvSpPr/>
          <p:nvPr/>
        </p:nvSpPr>
        <p:spPr>
          <a:xfrm>
            <a:off x="4709160" y="1280160"/>
            <a:ext cx="3977640" cy="3383280"/>
          </a:xfrm>
          <a:prstGeom prst="roundRect">
            <a:avLst>
              <a:gd name="adj" fmla="val 2162"/>
            </a:avLst>
          </a:prstGeom>
          <a:solidFill>
            <a:srgbClr val="E9F3F2"/>
          </a:solidFill>
          <a:ln w="12700">
            <a:solidFill>
              <a:srgbClr val="E9F3F2"/>
            </a:solidFill>
            <a:prstDash val="solid"/>
          </a:ln>
        </p:spPr>
      </p:sp>
      <p:sp>
        <p:nvSpPr>
          <p:cNvPr id="11" name="Shape 8"/>
          <p:cNvSpPr/>
          <p:nvPr/>
        </p:nvSpPr>
        <p:spPr>
          <a:xfrm>
            <a:off x="4892040" y="1463040"/>
            <a:ext cx="594360" cy="594360"/>
          </a:xfrm>
          <a:prstGeom prst="ellipse">
            <a:avLst/>
          </a:prstGeom>
          <a:solidFill>
            <a:srgbClr val="1F7F79"/>
          </a:solidFill>
          <a:ln w="12700">
            <a:solidFill>
              <a:srgbClr val="1F7F79"/>
            </a:solidFill>
            <a:prstDash val="solid"/>
          </a:ln>
        </p:spPr>
      </p:sp>
      <p:pic>
        <p:nvPicPr>
          <p:cNvPr id="12" name="Image 1" descr="preencoded.png">    </p:cNvPr>
          <p:cNvPicPr>
            <a:picLocks noChangeAspect="1"/>
          </p:cNvPicPr>
          <p:nvPr/>
        </p:nvPicPr>
        <p:blipFill>
          <a:blip r:embed="rId2"/>
          <a:stretch>
            <a:fillRect/>
          </a:stretch>
        </p:blipFill>
        <p:spPr>
          <a:xfrm>
            <a:off x="5040630" y="1611630"/>
            <a:ext cx="297180" cy="297180"/>
          </a:xfrm>
          <a:prstGeom prst="rect">
            <a:avLst/>
          </a:prstGeom>
        </p:spPr>
      </p:pic>
      <p:sp>
        <p:nvSpPr>
          <p:cNvPr id="13" name="Text 9"/>
          <p:cNvSpPr txBox="1"/>
          <p:nvPr/>
        </p:nvSpPr>
        <p:spPr>
          <a:xfrm>
            <a:off x="5623560" y="1463040"/>
            <a:ext cx="2926080" cy="594360"/>
          </a:xfrm>
          <a:prstGeom prst="rect">
            <a:avLst/>
          </a:prstGeom>
          <a:noFill/>
          <a:ln/>
        </p:spPr>
        <p:txBody>
          <a:bodyPr wrap="square" lIns="0" tIns="0" rIns="0" bIns="0" rtlCol="0" anchor="ctr"/>
          <a:lstStyle/>
          <a:p>
            <a:pPr indent="0" marL="0">
              <a:buNone/>
            </a:pPr>
            <a:r>
              <a:rPr lang="en-US" sz="1600" b="1" dirty="0">
                <a:solidFill>
                  <a:srgbClr val="2A1433"/>
                </a:solidFill>
                <a:latin typeface="Cambria" pitchFamily="34" charset="0"/>
                <a:ea typeface="Cambria" pitchFamily="34" charset="-122"/>
                <a:cs typeface="Cambria" pitchFamily="34" charset="-120"/>
              </a:rPr>
              <a:t>Ecografía y resonancia magnética</a:t>
            </a:r>
            <a:endParaRPr lang="en-US" sz="1600" dirty="0"/>
          </a:p>
        </p:txBody>
      </p:sp>
      <p:sp>
        <p:nvSpPr>
          <p:cNvPr id="14" name="Text 10"/>
          <p:cNvSpPr txBox="1"/>
          <p:nvPr/>
        </p:nvSpPr>
        <p:spPr>
          <a:xfrm>
            <a:off x="4892040" y="2194560"/>
            <a:ext cx="3657600" cy="23774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2B2330"/>
                </a:solidFill>
                <a:latin typeface="Calibri" pitchFamily="34" charset="0"/>
                <a:ea typeface="Calibri" pitchFamily="34" charset="-122"/>
                <a:cs typeface="Calibri" pitchFamily="34" charset="-120"/>
              </a:rPr>
              <a:t>Detectan sinovitis y tenosinovitis no visibles en la radiografía</a:t>
            </a:r>
            <a:endParaRPr lang="en-US" sz="1200" dirty="0"/>
          </a:p>
          <a:p>
            <a:pPr marL="177800" indent="-177800">
              <a:spcAft>
                <a:spcPts val="800"/>
              </a:spcAft>
              <a:buSzPct val="100000"/>
              <a:buChar char="•"/>
            </a:pPr>
            <a:r>
              <a:rPr lang="en-US" sz="1200" dirty="0">
                <a:solidFill>
                  <a:srgbClr val="2B2330"/>
                </a:solidFill>
                <a:latin typeface="Calibri" pitchFamily="34" charset="0"/>
                <a:ea typeface="Calibri" pitchFamily="34" charset="-122"/>
                <a:cs typeface="Calibri" pitchFamily="34" charset="-120"/>
              </a:rPr>
              <a:t>No aportan beneficio adicional sobre la evaluación clínica o la radiografía simple como herramientas de seguimiento o desenlace</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EVALUACIÓN DE LA ACTIVIDAD</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Variables clave e índices compuestos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325880"/>
            <a:ext cx="1417320" cy="1143000"/>
          </a:xfrm>
          <a:prstGeom prst="roundRect">
            <a:avLst>
              <a:gd name="adj" fmla="val 6400"/>
            </a:avLst>
          </a:prstGeom>
          <a:solidFill>
            <a:srgbClr val="F7EEF1"/>
          </a:solidFill>
          <a:ln w="12700">
            <a:solidFill>
              <a:srgbClr val="F7EEF1"/>
            </a:solidFill>
            <a:prstDash val="solid"/>
          </a:ln>
        </p:spPr>
      </p:sp>
      <p:sp>
        <p:nvSpPr>
          <p:cNvPr id="6" name="Text 4"/>
          <p:cNvSpPr txBox="1"/>
          <p:nvPr/>
        </p:nvSpPr>
        <p:spPr>
          <a:xfrm>
            <a:off x="457200" y="1371600"/>
            <a:ext cx="1417320" cy="457200"/>
          </a:xfrm>
          <a:prstGeom prst="rect">
            <a:avLst/>
          </a:prstGeom>
          <a:noFill/>
          <a:ln/>
        </p:spPr>
        <p:txBody>
          <a:bodyPr wrap="square" lIns="0" tIns="0" rIns="0" bIns="0" rtlCol="0" anchor="ctr"/>
          <a:lstStyle/>
          <a:p>
            <a:pPr algn="ctr" indent="0" marL="0">
              <a:buNone/>
            </a:pPr>
            <a:r>
              <a:rPr lang="en-US" sz="2000" b="1" dirty="0">
                <a:solidFill>
                  <a:srgbClr val="7A1F45"/>
                </a:solidFill>
                <a:latin typeface="Cambria" pitchFamily="34" charset="0"/>
                <a:ea typeface="Cambria" pitchFamily="34" charset="-122"/>
                <a:cs typeface="Cambria" pitchFamily="34" charset="-120"/>
              </a:rPr>
              <a:t>NAT28</a:t>
            </a:r>
            <a:endParaRPr lang="en-US" sz="2000" dirty="0"/>
          </a:p>
        </p:txBody>
      </p:sp>
      <p:sp>
        <p:nvSpPr>
          <p:cNvPr id="7" name="Text 5"/>
          <p:cNvSpPr txBox="1"/>
          <p:nvPr/>
        </p:nvSpPr>
        <p:spPr>
          <a:xfrm>
            <a:off x="530352" y="1828800"/>
            <a:ext cx="1271016" cy="594360"/>
          </a:xfrm>
          <a:prstGeom prst="rect">
            <a:avLst/>
          </a:prstGeom>
          <a:noFill/>
          <a:ln/>
        </p:spPr>
        <p:txBody>
          <a:bodyPr wrap="square" lIns="0" tIns="0" rIns="0" bIns="0" rtlCol="0" anchor="t"/>
          <a:lstStyle/>
          <a:p>
            <a:pPr algn="ctr" indent="0" marL="0">
              <a:buNone/>
            </a:pPr>
            <a:r>
              <a:rPr lang="en-US" sz="1050" dirty="0">
                <a:solidFill>
                  <a:srgbClr val="2B2330"/>
                </a:solidFill>
                <a:latin typeface="Calibri" pitchFamily="34" charset="0"/>
                <a:ea typeface="Calibri" pitchFamily="34" charset="-122"/>
                <a:cs typeface="Calibri" pitchFamily="34" charset="-120"/>
              </a:rPr>
              <a:t>articulaciones tumefactas</a:t>
            </a:r>
            <a:endParaRPr lang="en-US" sz="1050" dirty="0"/>
          </a:p>
        </p:txBody>
      </p:sp>
      <p:sp>
        <p:nvSpPr>
          <p:cNvPr id="8" name="Text 6"/>
          <p:cNvSpPr txBox="1"/>
          <p:nvPr/>
        </p:nvSpPr>
        <p:spPr>
          <a:xfrm>
            <a:off x="1874520" y="1325880"/>
            <a:ext cx="256032" cy="1143000"/>
          </a:xfrm>
          <a:prstGeom prst="rect">
            <a:avLst/>
          </a:prstGeom>
          <a:noFill/>
          <a:ln/>
        </p:spPr>
        <p:txBody>
          <a:bodyPr wrap="square" lIns="0" tIns="0" rIns="0" bIns="0" rtlCol="0" anchor="ctr"/>
          <a:lstStyle/>
          <a:p>
            <a:pPr algn="ctr" indent="0" marL="0">
              <a:buNone/>
            </a:pPr>
            <a:r>
              <a:rPr lang="en-US" sz="2200" b="1" dirty="0">
                <a:solidFill>
                  <a:srgbClr val="6E6573"/>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130552" y="1325880"/>
            <a:ext cx="1417320" cy="1143000"/>
          </a:xfrm>
          <a:prstGeom prst="roundRect">
            <a:avLst>
              <a:gd name="adj" fmla="val 6400"/>
            </a:avLst>
          </a:prstGeom>
          <a:solidFill>
            <a:srgbClr val="F7EEF1"/>
          </a:solidFill>
          <a:ln w="12700">
            <a:solidFill>
              <a:srgbClr val="F7EEF1"/>
            </a:solidFill>
            <a:prstDash val="solid"/>
          </a:ln>
        </p:spPr>
      </p:sp>
      <p:sp>
        <p:nvSpPr>
          <p:cNvPr id="10" name="Text 8"/>
          <p:cNvSpPr txBox="1"/>
          <p:nvPr/>
        </p:nvSpPr>
        <p:spPr>
          <a:xfrm>
            <a:off x="2130552" y="1371600"/>
            <a:ext cx="1417320" cy="457200"/>
          </a:xfrm>
          <a:prstGeom prst="rect">
            <a:avLst/>
          </a:prstGeom>
          <a:noFill/>
          <a:ln/>
        </p:spPr>
        <p:txBody>
          <a:bodyPr wrap="square" lIns="0" tIns="0" rIns="0" bIns="0" rtlCol="0" anchor="ctr"/>
          <a:lstStyle/>
          <a:p>
            <a:pPr algn="ctr" indent="0" marL="0">
              <a:buNone/>
            </a:pPr>
            <a:r>
              <a:rPr lang="en-US" sz="2000" b="1" dirty="0">
                <a:solidFill>
                  <a:srgbClr val="7A1F45"/>
                </a:solidFill>
                <a:latin typeface="Cambria" pitchFamily="34" charset="0"/>
                <a:ea typeface="Cambria" pitchFamily="34" charset="-122"/>
                <a:cs typeface="Cambria" pitchFamily="34" charset="-120"/>
              </a:rPr>
              <a:t>NAD28</a:t>
            </a:r>
            <a:endParaRPr lang="en-US" sz="2000" dirty="0"/>
          </a:p>
        </p:txBody>
      </p:sp>
      <p:sp>
        <p:nvSpPr>
          <p:cNvPr id="11" name="Text 9"/>
          <p:cNvSpPr txBox="1"/>
          <p:nvPr/>
        </p:nvSpPr>
        <p:spPr>
          <a:xfrm>
            <a:off x="2203704" y="1828800"/>
            <a:ext cx="1271016" cy="594360"/>
          </a:xfrm>
          <a:prstGeom prst="rect">
            <a:avLst/>
          </a:prstGeom>
          <a:noFill/>
          <a:ln/>
        </p:spPr>
        <p:txBody>
          <a:bodyPr wrap="square" lIns="0" tIns="0" rIns="0" bIns="0" rtlCol="0" anchor="t"/>
          <a:lstStyle/>
          <a:p>
            <a:pPr algn="ctr" indent="0" marL="0">
              <a:buNone/>
            </a:pPr>
            <a:r>
              <a:rPr lang="en-US" sz="1050" dirty="0">
                <a:solidFill>
                  <a:srgbClr val="2B2330"/>
                </a:solidFill>
                <a:latin typeface="Calibri" pitchFamily="34" charset="0"/>
                <a:ea typeface="Calibri" pitchFamily="34" charset="-122"/>
                <a:cs typeface="Calibri" pitchFamily="34" charset="-120"/>
              </a:rPr>
              <a:t>articulaciones dolorosas</a:t>
            </a:r>
            <a:endParaRPr lang="en-US" sz="1050" dirty="0"/>
          </a:p>
        </p:txBody>
      </p:sp>
      <p:sp>
        <p:nvSpPr>
          <p:cNvPr id="12" name="Text 10"/>
          <p:cNvSpPr txBox="1"/>
          <p:nvPr/>
        </p:nvSpPr>
        <p:spPr>
          <a:xfrm>
            <a:off x="3547872" y="1325880"/>
            <a:ext cx="256032" cy="1143000"/>
          </a:xfrm>
          <a:prstGeom prst="rect">
            <a:avLst/>
          </a:prstGeom>
          <a:noFill/>
          <a:ln/>
        </p:spPr>
        <p:txBody>
          <a:bodyPr wrap="square" lIns="0" tIns="0" rIns="0" bIns="0" rtlCol="0" anchor="ctr"/>
          <a:lstStyle/>
          <a:p>
            <a:pPr algn="ctr" indent="0" marL="0">
              <a:buNone/>
            </a:pPr>
            <a:r>
              <a:rPr lang="en-US" sz="2200" b="1" dirty="0">
                <a:solidFill>
                  <a:srgbClr val="6E6573"/>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3803904" y="1325880"/>
            <a:ext cx="1417320" cy="1143000"/>
          </a:xfrm>
          <a:prstGeom prst="roundRect">
            <a:avLst>
              <a:gd name="adj" fmla="val 6400"/>
            </a:avLst>
          </a:prstGeom>
          <a:solidFill>
            <a:srgbClr val="F7EEF1"/>
          </a:solidFill>
          <a:ln w="12700">
            <a:solidFill>
              <a:srgbClr val="F7EEF1"/>
            </a:solidFill>
            <a:prstDash val="solid"/>
          </a:ln>
        </p:spPr>
      </p:sp>
      <p:sp>
        <p:nvSpPr>
          <p:cNvPr id="14" name="Text 12"/>
          <p:cNvSpPr txBox="1"/>
          <p:nvPr/>
        </p:nvSpPr>
        <p:spPr>
          <a:xfrm>
            <a:off x="3803904" y="1371600"/>
            <a:ext cx="1417320" cy="457200"/>
          </a:xfrm>
          <a:prstGeom prst="rect">
            <a:avLst/>
          </a:prstGeom>
          <a:noFill/>
          <a:ln/>
        </p:spPr>
        <p:txBody>
          <a:bodyPr wrap="square" lIns="0" tIns="0" rIns="0" bIns="0" rtlCol="0" anchor="ctr"/>
          <a:lstStyle/>
          <a:p>
            <a:pPr algn="ctr" indent="0" marL="0">
              <a:buNone/>
            </a:pPr>
            <a:r>
              <a:rPr lang="en-US" sz="2000" b="1" dirty="0">
                <a:solidFill>
                  <a:srgbClr val="7A1F45"/>
                </a:solidFill>
                <a:latin typeface="Cambria" pitchFamily="34" charset="0"/>
                <a:ea typeface="Cambria" pitchFamily="34" charset="-122"/>
                <a:cs typeface="Cambria" pitchFamily="34" charset="-120"/>
              </a:rPr>
              <a:t>EGP</a:t>
            </a:r>
            <a:endParaRPr lang="en-US" sz="2000" dirty="0"/>
          </a:p>
        </p:txBody>
      </p:sp>
      <p:sp>
        <p:nvSpPr>
          <p:cNvPr id="15" name="Text 13"/>
          <p:cNvSpPr txBox="1"/>
          <p:nvPr/>
        </p:nvSpPr>
        <p:spPr>
          <a:xfrm>
            <a:off x="3877056" y="1828800"/>
            <a:ext cx="1271016" cy="594360"/>
          </a:xfrm>
          <a:prstGeom prst="rect">
            <a:avLst/>
          </a:prstGeom>
          <a:noFill/>
          <a:ln/>
        </p:spPr>
        <p:txBody>
          <a:bodyPr wrap="square" lIns="0" tIns="0" rIns="0" bIns="0" rtlCol="0" anchor="t"/>
          <a:lstStyle/>
          <a:p>
            <a:pPr algn="ctr" indent="0" marL="0">
              <a:buNone/>
            </a:pPr>
            <a:r>
              <a:rPr lang="en-US" sz="1050" dirty="0">
                <a:solidFill>
                  <a:srgbClr val="2B2330"/>
                </a:solidFill>
                <a:latin typeface="Calibri" pitchFamily="34" charset="0"/>
                <a:ea typeface="Calibri" pitchFamily="34" charset="-122"/>
                <a:cs typeface="Calibri" pitchFamily="34" charset="-120"/>
              </a:rPr>
              <a:t>evaluación global del paciente (0–10)</a:t>
            </a:r>
            <a:endParaRPr lang="en-US" sz="1050" dirty="0"/>
          </a:p>
        </p:txBody>
      </p:sp>
      <p:sp>
        <p:nvSpPr>
          <p:cNvPr id="16" name="Text 14"/>
          <p:cNvSpPr txBox="1"/>
          <p:nvPr/>
        </p:nvSpPr>
        <p:spPr>
          <a:xfrm>
            <a:off x="5221224" y="1325880"/>
            <a:ext cx="256032" cy="1143000"/>
          </a:xfrm>
          <a:prstGeom prst="rect">
            <a:avLst/>
          </a:prstGeom>
          <a:noFill/>
          <a:ln/>
        </p:spPr>
        <p:txBody>
          <a:bodyPr wrap="square" lIns="0" tIns="0" rIns="0" bIns="0" rtlCol="0" anchor="ctr"/>
          <a:lstStyle/>
          <a:p>
            <a:pPr algn="ctr" indent="0" marL="0">
              <a:buNone/>
            </a:pPr>
            <a:r>
              <a:rPr lang="en-US" sz="2200" b="1" dirty="0">
                <a:solidFill>
                  <a:srgbClr val="6E6573"/>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5477256" y="1325880"/>
            <a:ext cx="1417320" cy="1143000"/>
          </a:xfrm>
          <a:prstGeom prst="roundRect">
            <a:avLst>
              <a:gd name="adj" fmla="val 6400"/>
            </a:avLst>
          </a:prstGeom>
          <a:solidFill>
            <a:srgbClr val="F7EEF1"/>
          </a:solidFill>
          <a:ln w="12700">
            <a:solidFill>
              <a:srgbClr val="F7EEF1"/>
            </a:solidFill>
            <a:prstDash val="solid"/>
          </a:ln>
        </p:spPr>
      </p:sp>
      <p:sp>
        <p:nvSpPr>
          <p:cNvPr id="18" name="Text 16"/>
          <p:cNvSpPr txBox="1"/>
          <p:nvPr/>
        </p:nvSpPr>
        <p:spPr>
          <a:xfrm>
            <a:off x="5477256" y="1371600"/>
            <a:ext cx="1417320" cy="457200"/>
          </a:xfrm>
          <a:prstGeom prst="rect">
            <a:avLst/>
          </a:prstGeom>
          <a:noFill/>
          <a:ln/>
        </p:spPr>
        <p:txBody>
          <a:bodyPr wrap="square" lIns="0" tIns="0" rIns="0" bIns="0" rtlCol="0" anchor="ctr"/>
          <a:lstStyle/>
          <a:p>
            <a:pPr algn="ctr" indent="0" marL="0">
              <a:buNone/>
            </a:pPr>
            <a:r>
              <a:rPr lang="en-US" sz="2000" b="1" dirty="0">
                <a:solidFill>
                  <a:srgbClr val="7A1F45"/>
                </a:solidFill>
                <a:latin typeface="Cambria" pitchFamily="34" charset="0"/>
                <a:ea typeface="Cambria" pitchFamily="34" charset="-122"/>
                <a:cs typeface="Cambria" pitchFamily="34" charset="-120"/>
              </a:rPr>
              <a:t>EGE</a:t>
            </a:r>
            <a:endParaRPr lang="en-US" sz="2000" dirty="0"/>
          </a:p>
        </p:txBody>
      </p:sp>
      <p:sp>
        <p:nvSpPr>
          <p:cNvPr id="19" name="Text 17"/>
          <p:cNvSpPr txBox="1"/>
          <p:nvPr/>
        </p:nvSpPr>
        <p:spPr>
          <a:xfrm>
            <a:off x="5550408" y="1828800"/>
            <a:ext cx="1271016" cy="594360"/>
          </a:xfrm>
          <a:prstGeom prst="rect">
            <a:avLst/>
          </a:prstGeom>
          <a:noFill/>
          <a:ln/>
        </p:spPr>
        <p:txBody>
          <a:bodyPr wrap="square" lIns="0" tIns="0" rIns="0" bIns="0" rtlCol="0" anchor="t"/>
          <a:lstStyle/>
          <a:p>
            <a:pPr algn="ctr" indent="0" marL="0">
              <a:buNone/>
            </a:pPr>
            <a:r>
              <a:rPr lang="en-US" sz="1050" dirty="0">
                <a:solidFill>
                  <a:srgbClr val="2B2330"/>
                </a:solidFill>
                <a:latin typeface="Calibri" pitchFamily="34" charset="0"/>
                <a:ea typeface="Calibri" pitchFamily="34" charset="-122"/>
                <a:cs typeface="Calibri" pitchFamily="34" charset="-120"/>
              </a:rPr>
              <a:t>evaluación global del evaluador (0–10)</a:t>
            </a:r>
            <a:endParaRPr lang="en-US" sz="1050" dirty="0"/>
          </a:p>
        </p:txBody>
      </p:sp>
      <p:sp>
        <p:nvSpPr>
          <p:cNvPr id="20" name="Text 18"/>
          <p:cNvSpPr txBox="1"/>
          <p:nvPr/>
        </p:nvSpPr>
        <p:spPr>
          <a:xfrm>
            <a:off x="7068312" y="1325880"/>
            <a:ext cx="274320" cy="1143000"/>
          </a:xfrm>
          <a:prstGeom prst="rect">
            <a:avLst/>
          </a:prstGeom>
          <a:noFill/>
          <a:ln/>
        </p:spPr>
        <p:txBody>
          <a:bodyPr wrap="square" lIns="0" tIns="0" rIns="0" bIns="0" rtlCol="0" anchor="ctr"/>
          <a:lstStyle/>
          <a:p>
            <a:pPr algn="ctr" indent="0" marL="0">
              <a:buNone/>
            </a:pPr>
            <a:r>
              <a:rPr lang="en-US" sz="2400" b="1" dirty="0">
                <a:solidFill>
                  <a:srgbClr val="6E6573"/>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7360920" y="1325880"/>
            <a:ext cx="1325880" cy="1143000"/>
          </a:xfrm>
          <a:prstGeom prst="roundRect">
            <a:avLst>
              <a:gd name="adj" fmla="val 6400"/>
            </a:avLst>
          </a:prstGeom>
          <a:solidFill>
            <a:srgbClr val="7A1F45"/>
          </a:solidFill>
          <a:ln w="12700">
            <a:solidFill>
              <a:srgbClr val="7A1F45"/>
            </a:solidFill>
            <a:prstDash val="solid"/>
          </a:ln>
        </p:spPr>
      </p:sp>
      <p:sp>
        <p:nvSpPr>
          <p:cNvPr id="22" name="Text 20"/>
          <p:cNvSpPr txBox="1"/>
          <p:nvPr/>
        </p:nvSpPr>
        <p:spPr>
          <a:xfrm>
            <a:off x="7360920" y="1325880"/>
            <a:ext cx="1325880" cy="11430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CDAI</a:t>
            </a:r>
            <a:endParaRPr lang="en-US" sz="2400" dirty="0"/>
          </a:p>
        </p:txBody>
      </p:sp>
      <p:sp>
        <p:nvSpPr>
          <p:cNvPr id="23" name="Text 21"/>
          <p:cNvSpPr txBox="1"/>
          <p:nvPr/>
        </p:nvSpPr>
        <p:spPr>
          <a:xfrm>
            <a:off x="457200" y="2606040"/>
            <a:ext cx="8229600" cy="320040"/>
          </a:xfrm>
          <a:prstGeom prst="rect">
            <a:avLst/>
          </a:prstGeom>
          <a:noFill/>
          <a:ln/>
        </p:spPr>
        <p:txBody>
          <a:bodyPr wrap="square" lIns="0" tIns="0" rIns="0" bIns="0" rtlCol="0" anchor="t"/>
          <a:lstStyle/>
          <a:p>
            <a:pPr indent="0" marL="0">
              <a:buNone/>
            </a:pPr>
            <a:r>
              <a:rPr lang="en-US" sz="1400" b="1" dirty="0">
                <a:solidFill>
                  <a:srgbClr val="D9472F"/>
                </a:solidFill>
                <a:latin typeface="Calibri" pitchFamily="34" charset="0"/>
                <a:ea typeface="Calibri" pitchFamily="34" charset="-122"/>
                <a:cs typeface="Calibri" pitchFamily="34" charset="-120"/>
              </a:rPr>
              <a:t>SDAI</a:t>
            </a:r>
            <a:pPr indent="0" marL="0">
              <a:buNone/>
            </a:pPr>
            <a:r>
              <a:rPr lang="en-US" sz="1400" dirty="0">
                <a:solidFill>
                  <a:srgbClr val="2B2330"/>
                </a:solidFill>
                <a:latin typeface="Calibri" pitchFamily="34" charset="0"/>
                <a:ea typeface="Calibri" pitchFamily="34" charset="-122"/>
                <a:cs typeface="Calibri" pitchFamily="34" charset="-120"/>
              </a:rPr>
              <a:t> = CDAI + PCR (mg/dL, máx. 10)</a:t>
            </a:r>
            <a:endParaRPr lang="en-US" sz="1400" dirty="0"/>
          </a:p>
        </p:txBody>
      </p:sp>
      <p:sp>
        <p:nvSpPr>
          <p:cNvPr id="24" name="Text 22"/>
          <p:cNvSpPr txBox="1"/>
          <p:nvPr/>
        </p:nvSpPr>
        <p:spPr>
          <a:xfrm>
            <a:off x="457200" y="3063240"/>
            <a:ext cx="8229600" cy="164592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rgbClr val="7A1F45"/>
                </a:solidFill>
                <a:latin typeface="Calibri" pitchFamily="34" charset="0"/>
                <a:ea typeface="Calibri" pitchFamily="34" charset="-122"/>
                <a:cs typeface="Calibri" pitchFamily="34" charset="-120"/>
              </a:rPr>
              <a:t>Otras variables sensibles al cambio: </a:t>
            </a:r>
            <a:pPr indent="0" marL="0">
              <a:buNone/>
            </a:pPr>
            <a:r>
              <a:rPr lang="en-US" sz="1300" dirty="0">
                <a:solidFill>
                  <a:srgbClr val="2B2330"/>
                </a:solidFill>
                <a:latin typeface="Calibri" pitchFamily="34" charset="0"/>
                <a:ea typeface="Calibri" pitchFamily="34" charset="-122"/>
                <a:cs typeface="Calibri" pitchFamily="34" charset="-120"/>
              </a:rPr>
              <a:t>dolor, reactantes de fase aguda y función física (HAQ-DI)</a:t>
            </a:r>
            <a:endParaRPr lang="en-US" sz="1300" dirty="0"/>
          </a:p>
          <a:p>
            <a:pPr marL="177800" indent="-177800">
              <a:spcAft>
                <a:spcPts val="700"/>
              </a:spcAft>
              <a:buSzPct val="100000"/>
              <a:buChar char="•"/>
            </a:pPr>
            <a:r>
              <a:rPr lang="en-US" sz="1300" b="1" dirty="0">
                <a:solidFill>
                  <a:srgbClr val="7A1F45"/>
                </a:solidFill>
                <a:latin typeface="Calibri" pitchFamily="34" charset="0"/>
                <a:ea typeface="Calibri" pitchFamily="34" charset="-122"/>
                <a:cs typeface="Calibri" pitchFamily="34" charset="-120"/>
              </a:rPr>
              <a:t>NAT28/NAD28: </a:t>
            </a:r>
            <a:pPr indent="0" marL="0">
              <a:buNone/>
            </a:pPr>
            <a:r>
              <a:rPr lang="en-US" sz="1300" dirty="0">
                <a:solidFill>
                  <a:srgbClr val="2B2330"/>
                </a:solidFill>
                <a:latin typeface="Calibri" pitchFamily="34" charset="0"/>
                <a:ea typeface="Calibri" pitchFamily="34" charset="-122"/>
                <a:cs typeface="Calibri" pitchFamily="34" charset="-120"/>
              </a:rPr>
              <a:t>hombros, codos, muñecas, MCF, IFP y rodillas; fácil de hacer a la cabecera (excluye pies y tobillos)</a:t>
            </a:r>
            <a:endParaRPr lang="en-US" sz="1300" dirty="0"/>
          </a:p>
          <a:p>
            <a:pPr marL="177800" indent="-177800">
              <a:spcAft>
                <a:spcPts val="700"/>
              </a:spcAft>
              <a:buSzPct val="100000"/>
              <a:buChar char="•"/>
            </a:pPr>
            <a:r>
              <a:rPr lang="en-US" sz="1300" b="1" dirty="0">
                <a:solidFill>
                  <a:srgbClr val="7A1F45"/>
                </a:solidFill>
                <a:latin typeface="Calibri" pitchFamily="34" charset="0"/>
                <a:ea typeface="Calibri" pitchFamily="34" charset="-122"/>
                <a:cs typeface="Calibri" pitchFamily="34" charset="-120"/>
              </a:rPr>
              <a:t>Frecuencia: </a:t>
            </a:r>
            <a:pPr indent="0" marL="0">
              <a:buNone/>
            </a:pPr>
            <a:r>
              <a:rPr lang="en-US" sz="1300" dirty="0">
                <a:solidFill>
                  <a:srgbClr val="2B2330"/>
                </a:solidFill>
                <a:latin typeface="Calibri" pitchFamily="34" charset="0"/>
                <a:ea typeface="Calibri" pitchFamily="34" charset="-122"/>
                <a:cs typeface="Calibri" pitchFamily="34" charset="-120"/>
              </a:rPr>
              <a:t>en AR activa, evaluar la actividad cada 1–3 meses (al menos mensual tras iniciar FAME)</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EVALUACIÓN DE LA ACTIVIDAD · TABLA 2</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Umbrales de actividad de la enfermedad</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463040"/>
                <a:gridCol w="1371600"/>
                <a:gridCol w="1371600"/>
                <a:gridCol w="1371600"/>
                <a:gridCol w="1371600"/>
                <a:gridCol w="128016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Índice</a:t>
                      </a:r>
                      <a:endParaRPr lang="en-US" sz="110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Remisión</a:t>
                      </a:r>
                      <a:endParaRPr lang="en-US" sz="110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Baja</a:t>
                      </a:r>
                      <a:endParaRPr lang="en-US" sz="110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Moderada</a:t>
                      </a:r>
                      <a:endParaRPr lang="en-US" sz="110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Alta</a:t>
                      </a:r>
                      <a:endParaRPr lang="en-US" sz="110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Brote</a:t>
                      </a:r>
                      <a:endParaRPr lang="en-US" sz="110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1F45"/>
                    </a:solidFill>
                  </a:tcPr>
                </a:tc>
              </a:tr>
              <a:tr h="384048">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CDAI</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 2,8</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EDEA"/>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2,8 – 10</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6E4"/>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10 – 22</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BD9"/>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22</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D5D0"/>
                    </a:solidFill>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 4,5</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r>
              <a:tr h="384048">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SDAI</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 3,3</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EDEA"/>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3,3 – 11</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6E4"/>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11 – 26</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BD9"/>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26</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D5D0"/>
                    </a:solidFill>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 ≥ 4,7</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r>
              <a:tr h="384048">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DAS28-PCR</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&lt; 2,6</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EDEA"/>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2,6 – 3,2</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6E4"/>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3,2 – 5,1</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BD9"/>
                    </a:solidFill>
                  </a:tcPr>
                </a:tc>
                <a:tc>
                  <a:txBody>
                    <a:bodyPr/>
                    <a:lstStyle/>
                    <a:p>
                      <a:pPr algn="ctr" indent="0" marL="0">
                        <a:buNone/>
                      </a:pPr>
                      <a:r>
                        <a:rPr lang="en-US" sz="1050" b="1" dirty="0">
                          <a:solidFill>
                            <a:srgbClr val="2B2330"/>
                          </a:solidFill>
                          <a:latin typeface="Calibri" pitchFamily="34" charset="0"/>
                          <a:ea typeface="Calibri" pitchFamily="34" charset="-122"/>
                          <a:cs typeface="Calibri" pitchFamily="34" charset="-120"/>
                        </a:rPr>
                        <a:t>&gt; 5,1</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D5D0"/>
                    </a:solidFill>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r>
            </a:tbl>
          </a:graphicData>
        </a:graphic>
      </p:graphicFrame>
      <p:sp>
        <p:nvSpPr>
          <p:cNvPr id="6" name="Shape 3"/>
          <p:cNvSpPr/>
          <p:nvPr/>
        </p:nvSpPr>
        <p:spPr>
          <a:xfrm>
            <a:off x="457200" y="3017520"/>
            <a:ext cx="2615184" cy="1097280"/>
          </a:xfrm>
          <a:prstGeom prst="roundRect">
            <a:avLst>
              <a:gd name="adj" fmla="val 6667"/>
            </a:avLst>
          </a:prstGeom>
          <a:solidFill>
            <a:srgbClr val="F7EEF1"/>
          </a:solidFill>
          <a:ln w="12700">
            <a:solidFill>
              <a:srgbClr val="F7EEF1"/>
            </a:solidFill>
            <a:prstDash val="solid"/>
          </a:ln>
        </p:spPr>
      </p:sp>
      <p:sp>
        <p:nvSpPr>
          <p:cNvPr id="7" name="Text 4"/>
          <p:cNvSpPr txBox="1"/>
          <p:nvPr/>
        </p:nvSpPr>
        <p:spPr>
          <a:xfrm>
            <a:off x="594360" y="3090672"/>
            <a:ext cx="2377440" cy="292608"/>
          </a:xfrm>
          <a:prstGeom prst="rect">
            <a:avLst/>
          </a:prstGeom>
          <a:noFill/>
          <a:ln/>
        </p:spPr>
        <p:txBody>
          <a:bodyPr wrap="square" lIns="0" tIns="0" rIns="0" bIns="0" rtlCol="0" anchor="t"/>
          <a:lstStyle/>
          <a:p>
            <a:pPr indent="0" marL="0">
              <a:buNone/>
            </a:pPr>
            <a:r>
              <a:rPr lang="en-US" sz="1300" b="1" dirty="0">
                <a:solidFill>
                  <a:srgbClr val="7A1F45"/>
                </a:solidFill>
                <a:latin typeface="Calibri" pitchFamily="34" charset="0"/>
                <a:ea typeface="Calibri" pitchFamily="34" charset="-122"/>
                <a:cs typeface="Calibri" pitchFamily="34" charset="-120"/>
              </a:rPr>
              <a:t>CDAI</a:t>
            </a:r>
            <a:endParaRPr lang="en-US" sz="1300" dirty="0"/>
          </a:p>
        </p:txBody>
      </p:sp>
      <p:sp>
        <p:nvSpPr>
          <p:cNvPr id="8" name="Text 5"/>
          <p:cNvSpPr txBox="1"/>
          <p:nvPr/>
        </p:nvSpPr>
        <p:spPr>
          <a:xfrm>
            <a:off x="594360" y="3401568"/>
            <a:ext cx="2377440" cy="68580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Útil en la práctica diaria: no requiere laboratorio y es simple de calcular.</a:t>
            </a:r>
            <a:endParaRPr lang="en-US" sz="1100" dirty="0"/>
          </a:p>
        </p:txBody>
      </p:sp>
      <p:sp>
        <p:nvSpPr>
          <p:cNvPr id="9" name="Shape 6"/>
          <p:cNvSpPr/>
          <p:nvPr/>
        </p:nvSpPr>
        <p:spPr>
          <a:xfrm>
            <a:off x="3264408" y="3017520"/>
            <a:ext cx="2615184" cy="1097280"/>
          </a:xfrm>
          <a:prstGeom prst="roundRect">
            <a:avLst>
              <a:gd name="adj" fmla="val 6667"/>
            </a:avLst>
          </a:prstGeom>
          <a:solidFill>
            <a:srgbClr val="F7EEF1"/>
          </a:solidFill>
          <a:ln w="12700">
            <a:solidFill>
              <a:srgbClr val="F7EEF1"/>
            </a:solidFill>
            <a:prstDash val="solid"/>
          </a:ln>
        </p:spPr>
      </p:sp>
      <p:sp>
        <p:nvSpPr>
          <p:cNvPr id="10" name="Text 7"/>
          <p:cNvSpPr txBox="1"/>
          <p:nvPr/>
        </p:nvSpPr>
        <p:spPr>
          <a:xfrm>
            <a:off x="3401568" y="3090672"/>
            <a:ext cx="2377440" cy="292608"/>
          </a:xfrm>
          <a:prstGeom prst="rect">
            <a:avLst/>
          </a:prstGeom>
          <a:noFill/>
          <a:ln/>
        </p:spPr>
        <p:txBody>
          <a:bodyPr wrap="square" lIns="0" tIns="0" rIns="0" bIns="0" rtlCol="0" anchor="t"/>
          <a:lstStyle/>
          <a:p>
            <a:pPr indent="0" marL="0">
              <a:buNone/>
            </a:pPr>
            <a:r>
              <a:rPr lang="en-US" sz="1300" b="1" dirty="0">
                <a:solidFill>
                  <a:srgbClr val="7A1F45"/>
                </a:solidFill>
                <a:latin typeface="Calibri" pitchFamily="34" charset="0"/>
                <a:ea typeface="Calibri" pitchFamily="34" charset="-122"/>
                <a:cs typeface="Calibri" pitchFamily="34" charset="-120"/>
              </a:rPr>
              <a:t>SDAI</a:t>
            </a:r>
            <a:endParaRPr lang="en-US" sz="1300" dirty="0"/>
          </a:p>
        </p:txBody>
      </p:sp>
      <p:sp>
        <p:nvSpPr>
          <p:cNvPr id="11" name="Text 8"/>
          <p:cNvSpPr txBox="1"/>
          <p:nvPr/>
        </p:nvSpPr>
        <p:spPr>
          <a:xfrm>
            <a:off x="3401568" y="3401568"/>
            <a:ext cx="2377440" cy="68580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Similar al CDAI, pero requiere PCR.</a:t>
            </a:r>
            <a:endParaRPr lang="en-US" sz="1100" dirty="0"/>
          </a:p>
        </p:txBody>
      </p:sp>
      <p:sp>
        <p:nvSpPr>
          <p:cNvPr id="12" name="Shape 9"/>
          <p:cNvSpPr/>
          <p:nvPr/>
        </p:nvSpPr>
        <p:spPr>
          <a:xfrm>
            <a:off x="6071616" y="3017520"/>
            <a:ext cx="2615184" cy="1097280"/>
          </a:xfrm>
          <a:prstGeom prst="roundRect">
            <a:avLst>
              <a:gd name="adj" fmla="val 6667"/>
            </a:avLst>
          </a:prstGeom>
          <a:solidFill>
            <a:srgbClr val="F7EEF1"/>
          </a:solidFill>
          <a:ln w="12700">
            <a:solidFill>
              <a:srgbClr val="F7EEF1"/>
            </a:solidFill>
            <a:prstDash val="solid"/>
          </a:ln>
        </p:spPr>
      </p:sp>
      <p:sp>
        <p:nvSpPr>
          <p:cNvPr id="13" name="Text 10"/>
          <p:cNvSpPr txBox="1"/>
          <p:nvPr/>
        </p:nvSpPr>
        <p:spPr>
          <a:xfrm>
            <a:off x="6208776" y="3090672"/>
            <a:ext cx="2377440" cy="292608"/>
          </a:xfrm>
          <a:prstGeom prst="rect">
            <a:avLst/>
          </a:prstGeom>
          <a:noFill/>
          <a:ln/>
        </p:spPr>
        <p:txBody>
          <a:bodyPr wrap="square" lIns="0" tIns="0" rIns="0" bIns="0" rtlCol="0" anchor="t"/>
          <a:lstStyle/>
          <a:p>
            <a:pPr indent="0" marL="0">
              <a:buNone/>
            </a:pPr>
            <a:r>
              <a:rPr lang="en-US" sz="1300" b="1" dirty="0">
                <a:solidFill>
                  <a:srgbClr val="7A1F45"/>
                </a:solidFill>
                <a:latin typeface="Calibri" pitchFamily="34" charset="0"/>
                <a:ea typeface="Calibri" pitchFamily="34" charset="-122"/>
                <a:cs typeface="Calibri" pitchFamily="34" charset="-120"/>
              </a:rPr>
              <a:t>DAS28-PCR</a:t>
            </a:r>
            <a:endParaRPr lang="en-US" sz="1300" dirty="0"/>
          </a:p>
        </p:txBody>
      </p:sp>
      <p:sp>
        <p:nvSpPr>
          <p:cNvPr id="14" name="Text 11"/>
          <p:cNvSpPr txBox="1"/>
          <p:nvPr/>
        </p:nvSpPr>
        <p:spPr>
          <a:xfrm>
            <a:off x="6208776" y="3401568"/>
            <a:ext cx="2377440" cy="68580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Frecuente en ensayos y registros; cálculo más complejo, la PCR tiene mucho peso.</a:t>
            </a:r>
            <a:endParaRPr lang="en-US" sz="1100" dirty="0"/>
          </a:p>
        </p:txBody>
      </p:sp>
      <p:sp>
        <p:nvSpPr>
          <p:cNvPr id="15" name="Text 12"/>
          <p:cNvSpPr txBox="1"/>
          <p:nvPr/>
        </p:nvSpPr>
        <p:spPr>
          <a:xfrm>
            <a:off x="457200" y="4224528"/>
            <a:ext cx="8229600" cy="457200"/>
          </a:xfrm>
          <a:prstGeom prst="rect">
            <a:avLst/>
          </a:prstGeom>
          <a:noFill/>
          <a:ln/>
        </p:spPr>
        <p:txBody>
          <a:bodyPr wrap="square" lIns="0" tIns="0" rIns="0" bIns="0" rtlCol="0" anchor="t"/>
          <a:lstStyle/>
          <a:p>
            <a:pPr indent="0" marL="0">
              <a:buNone/>
            </a:pPr>
            <a:r>
              <a:rPr lang="en-US" sz="1000" i="1" dirty="0">
                <a:solidFill>
                  <a:srgbClr val="6E6573"/>
                </a:solidFill>
                <a:latin typeface="Calibri" pitchFamily="34" charset="0"/>
                <a:ea typeface="Calibri" pitchFamily="34" charset="-122"/>
                <a:cs typeface="Calibri" pitchFamily="34" charset="-120"/>
              </a:rPr>
              <a:t>Respuesta menor, moderada y mayor: mejoría del 50 %, 70 % y 85 % en el índice, respectivamente. DAS28-PCR = 0,56·√NAD28 + 0,28·√NAT28 + 0,36·ln(PCR+1) + 0,014·EGP + 0,96.</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EVALUACIÓN DE LA ACTIVIDAD</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Definiciones de remisión y de respuesta</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3977640" cy="3383280"/>
          </a:xfrm>
          <a:prstGeom prst="roundRect">
            <a:avLst>
              <a:gd name="adj" fmla="val 2162"/>
            </a:avLst>
          </a:prstGeom>
          <a:solidFill>
            <a:srgbClr val="E9F3F2"/>
          </a:solidFill>
          <a:ln w="12700">
            <a:solidFill>
              <a:srgbClr val="E9F3F2"/>
            </a:solidFill>
            <a:prstDash val="solid"/>
          </a:ln>
        </p:spPr>
      </p:sp>
      <p:sp>
        <p:nvSpPr>
          <p:cNvPr id="6" name="Shape 4"/>
          <p:cNvSpPr/>
          <p:nvPr/>
        </p:nvSpPr>
        <p:spPr>
          <a:xfrm>
            <a:off x="640080" y="1463040"/>
            <a:ext cx="594360" cy="594360"/>
          </a:xfrm>
          <a:prstGeom prst="ellipse">
            <a:avLst/>
          </a:prstGeom>
          <a:solidFill>
            <a:srgbClr val="1F7F79"/>
          </a:solidFill>
          <a:ln w="12700">
            <a:solidFill>
              <a:srgbClr val="1F7F79"/>
            </a:solidFill>
            <a:prstDash val="solid"/>
          </a:ln>
        </p:spPr>
      </p:sp>
      <p:pic>
        <p:nvPicPr>
          <p:cNvPr id="7" name="Image 0" descr="preencoded.png">    </p:cNvPr>
          <p:cNvPicPr>
            <a:picLocks noChangeAspect="1"/>
          </p:cNvPicPr>
          <p:nvPr/>
        </p:nvPicPr>
        <p:blipFill>
          <a:blip r:embed="rId1"/>
          <a:stretch>
            <a:fillRect/>
          </a:stretch>
        </p:blipFill>
        <p:spPr>
          <a:xfrm>
            <a:off x="788670" y="1611630"/>
            <a:ext cx="297180" cy="297180"/>
          </a:xfrm>
          <a:prstGeom prst="rect">
            <a:avLst/>
          </a:prstGeom>
        </p:spPr>
      </p:pic>
      <p:sp>
        <p:nvSpPr>
          <p:cNvPr id="8" name="Text 5"/>
          <p:cNvSpPr txBox="1"/>
          <p:nvPr/>
        </p:nvSpPr>
        <p:spPr>
          <a:xfrm>
            <a:off x="1371600" y="1463040"/>
            <a:ext cx="2971800" cy="59436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Remisión ACR/EULAR (revisada)</a:t>
            </a:r>
            <a:endParaRPr lang="en-US" sz="1500" dirty="0"/>
          </a:p>
        </p:txBody>
      </p:sp>
      <p:sp>
        <p:nvSpPr>
          <p:cNvPr id="9" name="Text 6"/>
          <p:cNvSpPr txBox="1"/>
          <p:nvPr/>
        </p:nvSpPr>
        <p:spPr>
          <a:xfrm>
            <a:off x="640080" y="2194560"/>
            <a:ext cx="3657600" cy="457200"/>
          </a:xfrm>
          <a:prstGeom prst="rect">
            <a:avLst/>
          </a:prstGeom>
          <a:noFill/>
          <a:ln/>
        </p:spPr>
        <p:txBody>
          <a:bodyPr wrap="square" lIns="0" tIns="0" rIns="0" bIns="0" rtlCol="0" anchor="t"/>
          <a:lstStyle/>
          <a:p>
            <a:pPr indent="0" marL="0">
              <a:buNone/>
            </a:pPr>
            <a:r>
              <a:rPr lang="en-US" sz="1200" dirty="0">
                <a:solidFill>
                  <a:srgbClr val="6E6573"/>
                </a:solidFill>
                <a:latin typeface="Calibri" pitchFamily="34" charset="0"/>
                <a:ea typeface="Calibri" pitchFamily="34" charset="-122"/>
                <a:cs typeface="Calibri" pitchFamily="34" charset="-120"/>
              </a:rPr>
              <a:t>Definición de consenso internacional, con criterios estrictos:</a:t>
            </a:r>
            <a:endParaRPr lang="en-US" sz="1200" dirty="0"/>
          </a:p>
        </p:txBody>
      </p:sp>
      <p:sp>
        <p:nvSpPr>
          <p:cNvPr id="10" name="Text 7"/>
          <p:cNvSpPr txBox="1"/>
          <p:nvPr/>
        </p:nvSpPr>
        <p:spPr>
          <a:xfrm>
            <a:off x="640080" y="2697480"/>
            <a:ext cx="3657600" cy="1920240"/>
          </a:xfrm>
          <a:prstGeom prst="rect">
            <a:avLst/>
          </a:prstGeom>
          <a:noFill/>
          <a:ln/>
        </p:spPr>
        <p:txBody>
          <a:bodyPr wrap="square" lIns="0" tIns="0" rIns="0" bIns="0" rtlCol="0" anchor="t"/>
          <a:lstStyle/>
          <a:p>
            <a:pPr marL="177800" indent="-177800">
              <a:spcAft>
                <a:spcPts val="800"/>
              </a:spcAft>
              <a:buSzPct val="100000"/>
              <a:buChar char="•"/>
            </a:pPr>
            <a:r>
              <a:rPr lang="en-US" sz="1300" b="1" dirty="0">
                <a:solidFill>
                  <a:srgbClr val="1F7F79"/>
                </a:solidFill>
                <a:latin typeface="Calibri" pitchFamily="34" charset="0"/>
                <a:ea typeface="Calibri" pitchFamily="34" charset="-122"/>
                <a:cs typeface="Calibri" pitchFamily="34" charset="-120"/>
              </a:rPr>
              <a:t>CDAI ≤ 2,8 </a:t>
            </a:r>
            <a:pPr indent="0" marL="0">
              <a:buNone/>
            </a:pPr>
            <a:r>
              <a:rPr lang="en-US" sz="1300" dirty="0">
                <a:solidFill>
                  <a:srgbClr val="2B2330"/>
                </a:solidFill>
                <a:latin typeface="Calibri" pitchFamily="34" charset="0"/>
                <a:ea typeface="Calibri" pitchFamily="34" charset="-122"/>
                <a:cs typeface="Calibri" pitchFamily="34" charset="-120"/>
              </a:rPr>
              <a:t>o</a:t>
            </a:r>
            <a:endParaRPr lang="en-US" sz="1300" dirty="0"/>
          </a:p>
          <a:p>
            <a:pPr marL="177800" indent="-177800">
              <a:spcAft>
                <a:spcPts val="800"/>
              </a:spcAft>
              <a:buSzPct val="100000"/>
              <a:buChar char="•"/>
            </a:pPr>
            <a:r>
              <a:rPr lang="en-US" sz="1300" b="1" dirty="0">
                <a:solidFill>
                  <a:srgbClr val="1F7F79"/>
                </a:solidFill>
                <a:latin typeface="Calibri" pitchFamily="34" charset="0"/>
                <a:ea typeface="Calibri" pitchFamily="34" charset="-122"/>
                <a:cs typeface="Calibri" pitchFamily="34" charset="-120"/>
              </a:rPr>
              <a:t>SDAI ≤ 3,3 </a:t>
            </a:r>
            <a:pPr indent="0" marL="0">
              <a:buNone/>
            </a:pPr>
            <a:r>
              <a:rPr lang="en-US" sz="1300" dirty="0">
                <a:solidFill>
                  <a:srgbClr val="2B2330"/>
                </a:solidFill>
                <a:latin typeface="Calibri" pitchFamily="34" charset="0"/>
                <a:ea typeface="Calibri" pitchFamily="34" charset="-122"/>
                <a:cs typeface="Calibri" pitchFamily="34" charset="-120"/>
              </a:rPr>
              <a:t>o</a:t>
            </a:r>
            <a:endParaRPr lang="en-US" sz="1300" dirty="0"/>
          </a:p>
          <a:p>
            <a:pPr marL="177800" indent="-177800">
              <a:spcAft>
                <a:spcPts val="800"/>
              </a:spcAft>
              <a:buSzPct val="100000"/>
              <a:buChar char="•"/>
            </a:pPr>
            <a:r>
              <a:rPr lang="en-US" sz="1300" b="1" dirty="0">
                <a:solidFill>
                  <a:srgbClr val="1F7F79"/>
                </a:solidFill>
                <a:latin typeface="Calibri" pitchFamily="34" charset="0"/>
                <a:ea typeface="Calibri" pitchFamily="34" charset="-122"/>
                <a:cs typeface="Calibri" pitchFamily="34" charset="-120"/>
              </a:rPr>
              <a:t>Booleana: </a:t>
            </a:r>
            <a:pPr indent="0" marL="0">
              <a:buNone/>
            </a:pPr>
            <a:r>
              <a:rPr lang="en-US" sz="1300" dirty="0">
                <a:solidFill>
                  <a:srgbClr val="2B2330"/>
                </a:solidFill>
                <a:latin typeface="Calibri" pitchFamily="34" charset="0"/>
                <a:ea typeface="Calibri" pitchFamily="34" charset="-122"/>
                <a:cs typeface="Calibri" pitchFamily="34" charset="-120"/>
              </a:rPr>
              <a:t>NAT28 ≤ 1, NAD28 ≤ 1, PCR ≤ 1 mg/dL y EGP ≤ 2 (sin PCR: NAT28 ≤ 1, NAD28 ≤ 1 y EGP ≤ 2)</a:t>
            </a:r>
            <a:endParaRPr lang="en-US" sz="1300" dirty="0"/>
          </a:p>
        </p:txBody>
      </p:sp>
      <p:sp>
        <p:nvSpPr>
          <p:cNvPr id="11" name="Shape 8"/>
          <p:cNvSpPr/>
          <p:nvPr/>
        </p:nvSpPr>
        <p:spPr>
          <a:xfrm>
            <a:off x="4709160" y="1280160"/>
            <a:ext cx="3977640" cy="3383280"/>
          </a:xfrm>
          <a:prstGeom prst="roundRect">
            <a:avLst>
              <a:gd name="adj" fmla="val 2162"/>
            </a:avLst>
          </a:prstGeom>
          <a:solidFill>
            <a:srgbClr val="F7EEF1"/>
          </a:solidFill>
          <a:ln w="12700">
            <a:solidFill>
              <a:srgbClr val="F7EEF1"/>
            </a:solidFill>
            <a:prstDash val="solid"/>
          </a:ln>
        </p:spPr>
      </p:sp>
      <p:sp>
        <p:nvSpPr>
          <p:cNvPr id="12" name="Shape 9"/>
          <p:cNvSpPr/>
          <p:nvPr/>
        </p:nvSpPr>
        <p:spPr>
          <a:xfrm>
            <a:off x="4892040" y="1463040"/>
            <a:ext cx="594360" cy="594360"/>
          </a:xfrm>
          <a:prstGeom prst="ellipse">
            <a:avLst/>
          </a:prstGeom>
          <a:solidFill>
            <a:srgbClr val="7A1F45"/>
          </a:solidFill>
          <a:ln w="12700">
            <a:solidFill>
              <a:srgbClr val="7A1F45"/>
            </a:solidFill>
            <a:prstDash val="solid"/>
          </a:ln>
        </p:spPr>
      </p:sp>
      <p:pic>
        <p:nvPicPr>
          <p:cNvPr id="13" name="Image 1" descr="preencoded.png">    </p:cNvPr>
          <p:cNvPicPr>
            <a:picLocks noChangeAspect="1"/>
          </p:cNvPicPr>
          <p:nvPr/>
        </p:nvPicPr>
        <p:blipFill>
          <a:blip r:embed="rId2"/>
          <a:stretch>
            <a:fillRect/>
          </a:stretch>
        </p:blipFill>
        <p:spPr>
          <a:xfrm>
            <a:off x="5040630" y="1611630"/>
            <a:ext cx="297180" cy="297180"/>
          </a:xfrm>
          <a:prstGeom prst="rect">
            <a:avLst/>
          </a:prstGeom>
        </p:spPr>
      </p:pic>
      <p:sp>
        <p:nvSpPr>
          <p:cNvPr id="14" name="Text 10"/>
          <p:cNvSpPr txBox="1"/>
          <p:nvPr/>
        </p:nvSpPr>
        <p:spPr>
          <a:xfrm>
            <a:off x="5623560" y="1463040"/>
            <a:ext cx="2971800" cy="59436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Criterios de respuesta ACR20/50/70</a:t>
            </a:r>
            <a:endParaRPr lang="en-US" sz="1500" dirty="0"/>
          </a:p>
        </p:txBody>
      </p:sp>
      <p:sp>
        <p:nvSpPr>
          <p:cNvPr id="15" name="Text 11"/>
          <p:cNvSpPr txBox="1"/>
          <p:nvPr/>
        </p:nvSpPr>
        <p:spPr>
          <a:xfrm>
            <a:off x="4892040" y="2194560"/>
            <a:ext cx="3657600" cy="24231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Mejoría ≥ 20/50/70 % </a:t>
            </a:r>
            <a:pPr indent="0" marL="0">
              <a:buNone/>
            </a:pPr>
            <a:r>
              <a:rPr lang="en-US" sz="1250" dirty="0">
                <a:solidFill>
                  <a:srgbClr val="2B2330"/>
                </a:solidFill>
                <a:latin typeface="Calibri" pitchFamily="34" charset="0"/>
                <a:ea typeface="Calibri" pitchFamily="34" charset="-122"/>
                <a:cs typeface="Calibri" pitchFamily="34" charset="-120"/>
              </a:rPr>
              <a:t>en NAT28 y NAD28 y en 3 de 5: EGP, dolor, evaluación del médico, HAQ, PCR/VSG</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Medida de respuesta, </a:t>
            </a:r>
            <a:pPr indent="0" marL="0">
              <a:buNone/>
            </a:pPr>
            <a:r>
              <a:rPr lang="en-US" sz="1250" dirty="0">
                <a:solidFill>
                  <a:srgbClr val="2B2330"/>
                </a:solidFill>
                <a:latin typeface="Calibri" pitchFamily="34" charset="0"/>
                <a:ea typeface="Calibri" pitchFamily="34" charset="-122"/>
                <a:cs typeface="Calibri" pitchFamily="34" charset="-120"/>
              </a:rPr>
              <a:t>no de actividad: requiere la basal</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Se usan en ensayos </a:t>
            </a:r>
            <a:pPr indent="0" marL="0">
              <a:buNone/>
            </a:pPr>
            <a:r>
              <a:rPr lang="en-US" sz="1250" dirty="0">
                <a:solidFill>
                  <a:srgbClr val="2B2330"/>
                </a:solidFill>
                <a:latin typeface="Calibri" pitchFamily="34" charset="0"/>
                <a:ea typeface="Calibri" pitchFamily="34" charset="-122"/>
                <a:cs typeface="Calibri" pitchFamily="34" charset="-120"/>
              </a:rPr>
              <a:t>para demostrar eficacia</a:t>
            </a:r>
            <a:endParaRPr lang="en-US" sz="1250" dirty="0"/>
          </a:p>
          <a:p>
            <a:pPr marL="177800" indent="-177800">
              <a:spcAft>
                <a:spcPts val="700"/>
              </a:spcAft>
              <a:buSzPct val="100000"/>
              <a:buChar char="•"/>
            </a:pPr>
            <a:r>
              <a:rPr lang="en-US" sz="1250" b="1" dirty="0">
                <a:solidFill>
                  <a:srgbClr val="7A1F45"/>
                </a:solidFill>
                <a:latin typeface="Calibri" pitchFamily="34" charset="0"/>
                <a:ea typeface="Calibri" pitchFamily="34" charset="-122"/>
                <a:cs typeface="Calibri" pitchFamily="34" charset="-120"/>
              </a:rPr>
              <a:t>ACR70 </a:t>
            </a:r>
            <a:pPr indent="0" marL="0">
              <a:buNone/>
            </a:pPr>
            <a:r>
              <a:rPr lang="en-US" sz="1250" dirty="0">
                <a:solidFill>
                  <a:srgbClr val="2B2330"/>
                </a:solidFill>
                <a:latin typeface="Calibri" pitchFamily="34" charset="0"/>
                <a:ea typeface="Calibri" pitchFamily="34" charset="-122"/>
                <a:cs typeface="Calibri" pitchFamily="34" charset="-120"/>
              </a:rPr>
              <a:t>se alinea con baja actividad</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Estrategia "tratar hasta el objetivo"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1097280" y="1234440"/>
            <a:ext cx="640080" cy="640080"/>
          </a:xfrm>
          <a:prstGeom prst="ellipse">
            <a:avLst/>
          </a:prstGeom>
          <a:solidFill>
            <a:srgbClr val="7A1F45"/>
          </a:solidFill>
          <a:ln w="12700">
            <a:solidFill>
              <a:srgbClr val="7A1F45"/>
            </a:solidFill>
            <a:prstDash val="solid"/>
          </a:ln>
        </p:spPr>
      </p:sp>
      <p:pic>
        <p:nvPicPr>
          <p:cNvPr id="6" name="Image 0" descr="preencoded.png">    </p:cNvPr>
          <p:cNvPicPr>
            <a:picLocks noChangeAspect="1"/>
          </p:cNvPicPr>
          <p:nvPr/>
        </p:nvPicPr>
        <p:blipFill>
          <a:blip r:embed="rId1"/>
          <a:stretch>
            <a:fillRect/>
          </a:stretch>
        </p:blipFill>
        <p:spPr>
          <a:xfrm>
            <a:off x="1257300" y="1394460"/>
            <a:ext cx="320040" cy="320040"/>
          </a:xfrm>
          <a:prstGeom prst="rect">
            <a:avLst/>
          </a:prstGeom>
        </p:spPr>
      </p:pic>
      <p:sp>
        <p:nvSpPr>
          <p:cNvPr id="7" name="Shape 4"/>
          <p:cNvSpPr/>
          <p:nvPr/>
        </p:nvSpPr>
        <p:spPr>
          <a:xfrm>
            <a:off x="1828800" y="1554480"/>
            <a:ext cx="1280160" cy="914"/>
          </a:xfrm>
          <a:prstGeom prst="line">
            <a:avLst/>
          </a:prstGeom>
          <a:noFill/>
          <a:ln w="25400">
            <a:solidFill>
              <a:srgbClr val="D9CCD2"/>
            </a:solidFill>
            <a:prstDash val="solid"/>
            <a:tailEnd type="triangle"/>
          </a:ln>
        </p:spPr>
      </p:sp>
      <p:sp>
        <p:nvSpPr>
          <p:cNvPr id="8" name="Text 5"/>
          <p:cNvSpPr txBox="1"/>
          <p:nvPr/>
        </p:nvSpPr>
        <p:spPr>
          <a:xfrm>
            <a:off x="457200" y="1938528"/>
            <a:ext cx="1920240" cy="32004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Diagnóstico</a:t>
            </a:r>
            <a:endParaRPr lang="en-US" sz="1400" dirty="0"/>
          </a:p>
        </p:txBody>
      </p:sp>
      <p:sp>
        <p:nvSpPr>
          <p:cNvPr id="9" name="Text 6"/>
          <p:cNvSpPr txBox="1"/>
          <p:nvPr/>
        </p:nvSpPr>
        <p:spPr>
          <a:xfrm>
            <a:off x="457200" y="2240280"/>
            <a:ext cx="1920240" cy="502920"/>
          </a:xfrm>
          <a:prstGeom prst="rect">
            <a:avLst/>
          </a:prstGeom>
          <a:noFill/>
          <a:ln/>
        </p:spPr>
        <p:txBody>
          <a:bodyPr wrap="square" lIns="0" tIns="0" rIns="0" bIns="0" rtlCol="0" anchor="t"/>
          <a:lstStyle/>
          <a:p>
            <a:pPr algn="ctr" indent="0" marL="0">
              <a:buNone/>
            </a:pPr>
            <a:r>
              <a:rPr lang="en-US" sz="1100" dirty="0">
                <a:solidFill>
                  <a:srgbClr val="6E6573"/>
                </a:solidFill>
                <a:latin typeface="Calibri" pitchFamily="34" charset="0"/>
                <a:ea typeface="Calibri" pitchFamily="34" charset="-122"/>
                <a:cs typeface="Calibri" pitchFamily="34" charset="-120"/>
              </a:rPr>
              <a:t>Idealmente ≤ 6 semanas desde el inicio de síntomas</a:t>
            </a:r>
            <a:endParaRPr lang="en-US" sz="1100" dirty="0"/>
          </a:p>
        </p:txBody>
      </p:sp>
      <p:sp>
        <p:nvSpPr>
          <p:cNvPr id="10" name="Shape 7"/>
          <p:cNvSpPr/>
          <p:nvPr/>
        </p:nvSpPr>
        <p:spPr>
          <a:xfrm>
            <a:off x="3200400" y="1234440"/>
            <a:ext cx="640080" cy="640080"/>
          </a:xfrm>
          <a:prstGeom prst="ellipse">
            <a:avLst/>
          </a:prstGeom>
          <a:solidFill>
            <a:srgbClr val="7A1F45"/>
          </a:solidFill>
          <a:ln w="12700">
            <a:solidFill>
              <a:srgbClr val="7A1F45"/>
            </a:solidFill>
            <a:prstDash val="solid"/>
          </a:ln>
        </p:spPr>
      </p:sp>
      <p:pic>
        <p:nvPicPr>
          <p:cNvPr id="11" name="Image 1" descr="preencoded.png">    </p:cNvPr>
          <p:cNvPicPr>
            <a:picLocks noChangeAspect="1"/>
          </p:cNvPicPr>
          <p:nvPr/>
        </p:nvPicPr>
        <p:blipFill>
          <a:blip r:embed="rId2"/>
          <a:stretch>
            <a:fillRect/>
          </a:stretch>
        </p:blipFill>
        <p:spPr>
          <a:xfrm>
            <a:off x="3360420" y="1394460"/>
            <a:ext cx="320040" cy="320040"/>
          </a:xfrm>
          <a:prstGeom prst="rect">
            <a:avLst/>
          </a:prstGeom>
        </p:spPr>
      </p:pic>
      <p:sp>
        <p:nvSpPr>
          <p:cNvPr id="12" name="Shape 8"/>
          <p:cNvSpPr/>
          <p:nvPr/>
        </p:nvSpPr>
        <p:spPr>
          <a:xfrm>
            <a:off x="3931920" y="1554480"/>
            <a:ext cx="1280160" cy="914"/>
          </a:xfrm>
          <a:prstGeom prst="line">
            <a:avLst/>
          </a:prstGeom>
          <a:noFill/>
          <a:ln w="25400">
            <a:solidFill>
              <a:srgbClr val="D9CCD2"/>
            </a:solidFill>
            <a:prstDash val="solid"/>
            <a:tailEnd type="triangle"/>
          </a:ln>
        </p:spPr>
      </p:sp>
      <p:sp>
        <p:nvSpPr>
          <p:cNvPr id="13" name="Text 9"/>
          <p:cNvSpPr txBox="1"/>
          <p:nvPr/>
        </p:nvSpPr>
        <p:spPr>
          <a:xfrm>
            <a:off x="2560320" y="1938528"/>
            <a:ext cx="1920240" cy="32004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Iniciar FAME</a:t>
            </a:r>
            <a:endParaRPr lang="en-US" sz="1400" dirty="0"/>
          </a:p>
        </p:txBody>
      </p:sp>
      <p:sp>
        <p:nvSpPr>
          <p:cNvPr id="14" name="Text 10"/>
          <p:cNvSpPr txBox="1"/>
          <p:nvPr/>
        </p:nvSpPr>
        <p:spPr>
          <a:xfrm>
            <a:off x="2560320" y="2240280"/>
            <a:ext cx="1920240" cy="502920"/>
          </a:xfrm>
          <a:prstGeom prst="rect">
            <a:avLst/>
          </a:prstGeom>
          <a:noFill/>
          <a:ln/>
        </p:spPr>
        <p:txBody>
          <a:bodyPr wrap="square" lIns="0" tIns="0" rIns="0" bIns="0" rtlCol="0" anchor="t"/>
          <a:lstStyle/>
          <a:p>
            <a:pPr algn="ctr" indent="0" marL="0">
              <a:buNone/>
            </a:pPr>
            <a:r>
              <a:rPr lang="en-US" sz="1100" dirty="0">
                <a:solidFill>
                  <a:srgbClr val="6E6573"/>
                </a:solidFill>
                <a:latin typeface="Calibri" pitchFamily="34" charset="0"/>
                <a:ea typeface="Calibri" pitchFamily="34" charset="-122"/>
                <a:cs typeface="Calibri" pitchFamily="34" charset="-120"/>
              </a:rPr>
              <a:t>De inmediato al diagnosticar</a:t>
            </a:r>
            <a:endParaRPr lang="en-US" sz="1100" dirty="0"/>
          </a:p>
        </p:txBody>
      </p:sp>
      <p:sp>
        <p:nvSpPr>
          <p:cNvPr id="15" name="Shape 11"/>
          <p:cNvSpPr/>
          <p:nvPr/>
        </p:nvSpPr>
        <p:spPr>
          <a:xfrm>
            <a:off x="5303520" y="1234440"/>
            <a:ext cx="640080" cy="640080"/>
          </a:xfrm>
          <a:prstGeom prst="ellipse">
            <a:avLst/>
          </a:prstGeom>
          <a:solidFill>
            <a:srgbClr val="7A1F45"/>
          </a:solidFill>
          <a:ln w="12700">
            <a:solidFill>
              <a:srgbClr val="7A1F45"/>
            </a:solidFill>
            <a:prstDash val="solid"/>
          </a:ln>
        </p:spPr>
      </p:sp>
      <p:pic>
        <p:nvPicPr>
          <p:cNvPr id="16" name="Image 2" descr="preencoded.png">    </p:cNvPr>
          <p:cNvPicPr>
            <a:picLocks noChangeAspect="1"/>
          </p:cNvPicPr>
          <p:nvPr/>
        </p:nvPicPr>
        <p:blipFill>
          <a:blip r:embed="rId3"/>
          <a:stretch>
            <a:fillRect/>
          </a:stretch>
        </p:blipFill>
        <p:spPr>
          <a:xfrm>
            <a:off x="5463540" y="1394460"/>
            <a:ext cx="320040" cy="320040"/>
          </a:xfrm>
          <a:prstGeom prst="rect">
            <a:avLst/>
          </a:prstGeom>
        </p:spPr>
      </p:pic>
      <p:sp>
        <p:nvSpPr>
          <p:cNvPr id="17" name="Shape 12"/>
          <p:cNvSpPr/>
          <p:nvPr/>
        </p:nvSpPr>
        <p:spPr>
          <a:xfrm>
            <a:off x="6035040" y="1554480"/>
            <a:ext cx="1280160" cy="914"/>
          </a:xfrm>
          <a:prstGeom prst="line">
            <a:avLst/>
          </a:prstGeom>
          <a:noFill/>
          <a:ln w="25400">
            <a:solidFill>
              <a:srgbClr val="D9CCD2"/>
            </a:solidFill>
            <a:prstDash val="solid"/>
            <a:tailEnd type="triangle"/>
          </a:ln>
        </p:spPr>
      </p:sp>
      <p:sp>
        <p:nvSpPr>
          <p:cNvPr id="18" name="Text 13"/>
          <p:cNvSpPr txBox="1"/>
          <p:nvPr/>
        </p:nvSpPr>
        <p:spPr>
          <a:xfrm>
            <a:off x="4663440" y="1938528"/>
            <a:ext cx="1920240" cy="32004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Mes 3</a:t>
            </a:r>
            <a:endParaRPr lang="en-US" sz="1400" dirty="0"/>
          </a:p>
        </p:txBody>
      </p:sp>
      <p:sp>
        <p:nvSpPr>
          <p:cNvPr id="19" name="Text 14"/>
          <p:cNvSpPr txBox="1"/>
          <p:nvPr/>
        </p:nvSpPr>
        <p:spPr>
          <a:xfrm>
            <a:off x="4663440" y="2240280"/>
            <a:ext cx="1920240" cy="502920"/>
          </a:xfrm>
          <a:prstGeom prst="rect">
            <a:avLst/>
          </a:prstGeom>
          <a:noFill/>
          <a:ln/>
        </p:spPr>
        <p:txBody>
          <a:bodyPr wrap="square" lIns="0" tIns="0" rIns="0" bIns="0" rtlCol="0" anchor="t"/>
          <a:lstStyle/>
          <a:p>
            <a:pPr algn="ctr" indent="0" marL="0">
              <a:buNone/>
            </a:pPr>
            <a:r>
              <a:rPr lang="en-US" sz="1100" dirty="0">
                <a:solidFill>
                  <a:srgbClr val="6E6573"/>
                </a:solidFill>
                <a:latin typeface="Calibri" pitchFamily="34" charset="0"/>
                <a:ea typeface="Calibri" pitchFamily="34" charset="-122"/>
                <a:cs typeface="Calibri" pitchFamily="34" charset="-120"/>
              </a:rPr>
              <a:t>Mejoría ≥ 50 % del CDAI</a:t>
            </a:r>
            <a:endParaRPr lang="en-US" sz="1100" dirty="0"/>
          </a:p>
        </p:txBody>
      </p:sp>
      <p:sp>
        <p:nvSpPr>
          <p:cNvPr id="20" name="Shape 15"/>
          <p:cNvSpPr/>
          <p:nvPr/>
        </p:nvSpPr>
        <p:spPr>
          <a:xfrm>
            <a:off x="7406640" y="1234440"/>
            <a:ext cx="640080" cy="640080"/>
          </a:xfrm>
          <a:prstGeom prst="ellipse">
            <a:avLst/>
          </a:prstGeom>
          <a:solidFill>
            <a:srgbClr val="1F7F79"/>
          </a:solidFill>
          <a:ln w="12700">
            <a:solidFill>
              <a:srgbClr val="1F7F79"/>
            </a:solidFill>
            <a:prstDash val="solid"/>
          </a:ln>
        </p:spPr>
      </p:sp>
      <p:pic>
        <p:nvPicPr>
          <p:cNvPr id="21" name="Image 3" descr="preencoded.png">    </p:cNvPr>
          <p:cNvPicPr>
            <a:picLocks noChangeAspect="1"/>
          </p:cNvPicPr>
          <p:nvPr/>
        </p:nvPicPr>
        <p:blipFill>
          <a:blip r:embed="rId4"/>
          <a:stretch>
            <a:fillRect/>
          </a:stretch>
        </p:blipFill>
        <p:spPr>
          <a:xfrm>
            <a:off x="7566660" y="1394460"/>
            <a:ext cx="320040" cy="320040"/>
          </a:xfrm>
          <a:prstGeom prst="rect">
            <a:avLst/>
          </a:prstGeom>
        </p:spPr>
      </p:pic>
      <p:sp>
        <p:nvSpPr>
          <p:cNvPr id="22" name="Text 16"/>
          <p:cNvSpPr txBox="1"/>
          <p:nvPr/>
        </p:nvSpPr>
        <p:spPr>
          <a:xfrm>
            <a:off x="6766560" y="1938528"/>
            <a:ext cx="1920240" cy="320040"/>
          </a:xfrm>
          <a:prstGeom prst="rect">
            <a:avLst/>
          </a:prstGeom>
          <a:noFill/>
          <a:ln/>
        </p:spPr>
        <p:txBody>
          <a:bodyPr wrap="square" lIns="0" tIns="0" rIns="0" bIns="0" rtlCol="0" anchor="t"/>
          <a:lstStyle/>
          <a:p>
            <a:pPr algn="ctr" indent="0" marL="0">
              <a:buNone/>
            </a:pPr>
            <a:r>
              <a:rPr lang="en-US" sz="1400" b="1" dirty="0">
                <a:solidFill>
                  <a:srgbClr val="2A1433"/>
                </a:solidFill>
                <a:latin typeface="Calibri" pitchFamily="34" charset="0"/>
                <a:ea typeface="Calibri" pitchFamily="34" charset="-122"/>
                <a:cs typeface="Calibri" pitchFamily="34" charset="-120"/>
              </a:rPr>
              <a:t>Mes 6</a:t>
            </a:r>
            <a:endParaRPr lang="en-US" sz="1400" dirty="0"/>
          </a:p>
        </p:txBody>
      </p:sp>
      <p:sp>
        <p:nvSpPr>
          <p:cNvPr id="23" name="Text 17"/>
          <p:cNvSpPr txBox="1"/>
          <p:nvPr/>
        </p:nvSpPr>
        <p:spPr>
          <a:xfrm>
            <a:off x="6766560" y="2240280"/>
            <a:ext cx="1920240" cy="502920"/>
          </a:xfrm>
          <a:prstGeom prst="rect">
            <a:avLst/>
          </a:prstGeom>
          <a:noFill/>
          <a:ln/>
        </p:spPr>
        <p:txBody>
          <a:bodyPr wrap="square" lIns="0" tIns="0" rIns="0" bIns="0" rtlCol="0" anchor="t"/>
          <a:lstStyle/>
          <a:p>
            <a:pPr algn="ctr" indent="0" marL="0">
              <a:buNone/>
            </a:pPr>
            <a:r>
              <a:rPr lang="en-US" sz="1100" dirty="0">
                <a:solidFill>
                  <a:srgbClr val="6E6573"/>
                </a:solidFill>
                <a:latin typeface="Calibri" pitchFamily="34" charset="0"/>
                <a:ea typeface="Calibri" pitchFamily="34" charset="-122"/>
                <a:cs typeface="Calibri" pitchFamily="34" charset="-120"/>
              </a:rPr>
              <a:t>Remisión (o baja actividad si AR &gt; 3 años)</a:t>
            </a:r>
            <a:endParaRPr lang="en-US" sz="1100" dirty="0"/>
          </a:p>
        </p:txBody>
      </p:sp>
      <p:sp>
        <p:nvSpPr>
          <p:cNvPr id="24" name="Text 18"/>
          <p:cNvSpPr txBox="1"/>
          <p:nvPr/>
        </p:nvSpPr>
        <p:spPr>
          <a:xfrm>
            <a:off x="457200" y="2834640"/>
            <a:ext cx="8229600" cy="274320"/>
          </a:xfrm>
          <a:prstGeom prst="rect">
            <a:avLst/>
          </a:prstGeom>
          <a:noFill/>
          <a:ln/>
        </p:spPr>
        <p:txBody>
          <a:bodyPr wrap="square" lIns="0" tIns="0" rIns="0" bIns="0" rtlCol="0" anchor="t"/>
          <a:lstStyle/>
          <a:p>
            <a:pPr algn="ctr" indent="0" marL="0">
              <a:buNone/>
            </a:pPr>
            <a:r>
              <a:rPr lang="en-US" sz="1200" i="1" dirty="0">
                <a:solidFill>
                  <a:srgbClr val="7A1F45"/>
                </a:solidFill>
                <a:latin typeface="Calibri" pitchFamily="34" charset="0"/>
                <a:ea typeface="Calibri" pitchFamily="34" charset="-122"/>
                <a:cs typeface="Calibri" pitchFamily="34" charset="-120"/>
              </a:rPr>
              <a:t>Si no se alcanza el objetivo → ajustar o cambiar el FAME · evaluación formal al menos mensual · decisión compartida con el paciente</a:t>
            </a:r>
            <a:endParaRPr lang="en-US" sz="1200" dirty="0"/>
          </a:p>
        </p:txBody>
      </p:sp>
      <p:sp>
        <p:nvSpPr>
          <p:cNvPr id="25" name="Shape 19"/>
          <p:cNvSpPr/>
          <p:nvPr/>
        </p:nvSpPr>
        <p:spPr>
          <a:xfrm>
            <a:off x="457200" y="3246120"/>
            <a:ext cx="8229600" cy="1417320"/>
          </a:xfrm>
          <a:prstGeom prst="roundRect">
            <a:avLst>
              <a:gd name="adj" fmla="val 5161"/>
            </a:avLst>
          </a:prstGeom>
          <a:solidFill>
            <a:srgbClr val="F7EEF1"/>
          </a:solidFill>
          <a:ln w="12700">
            <a:solidFill>
              <a:srgbClr val="F7EEF1"/>
            </a:solidFill>
            <a:prstDash val="solid"/>
          </a:ln>
        </p:spPr>
      </p:sp>
      <p:sp>
        <p:nvSpPr>
          <p:cNvPr id="26" name="Text 20"/>
          <p:cNvSpPr txBox="1"/>
          <p:nvPr/>
        </p:nvSpPr>
        <p:spPr>
          <a:xfrm>
            <a:off x="640080" y="3337560"/>
            <a:ext cx="3931920" cy="320040"/>
          </a:xfrm>
          <a:prstGeom prst="rect">
            <a:avLst/>
          </a:prstGeom>
          <a:noFill/>
          <a:ln/>
        </p:spPr>
        <p:txBody>
          <a:bodyPr wrap="square" lIns="0" tIns="0" rIns="0" bIns="0" rtlCol="0" anchor="t"/>
          <a:lstStyle/>
          <a:p>
            <a:pPr indent="0" marL="0">
              <a:buNone/>
            </a:pPr>
            <a:r>
              <a:rPr lang="en-US" sz="1400" b="1" dirty="0">
                <a:solidFill>
                  <a:srgbClr val="2A1433"/>
                </a:solidFill>
                <a:latin typeface="Cambria" pitchFamily="34" charset="0"/>
                <a:ea typeface="Cambria" pitchFamily="34" charset="-122"/>
                <a:cs typeface="Cambria" pitchFamily="34" charset="-120"/>
              </a:rPr>
              <a:t>Ensayo TICORA (110 pacientes)</a:t>
            </a:r>
            <a:endParaRPr lang="en-US" sz="1400" dirty="0"/>
          </a:p>
        </p:txBody>
      </p:sp>
      <p:sp>
        <p:nvSpPr>
          <p:cNvPr id="27" name="Text 21"/>
          <p:cNvSpPr txBox="1"/>
          <p:nvPr/>
        </p:nvSpPr>
        <p:spPr>
          <a:xfrm>
            <a:off x="640080" y="3657600"/>
            <a:ext cx="3931920" cy="91440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Control mensual con índices de actividad y escalamiento por protocolo vs. atención habitual trimestral. Respuesta ACR70 a los 18 meses (OR 11; IC 95 % 4,5–27).</a:t>
            </a:r>
            <a:endParaRPr lang="en-US" sz="1150" dirty="0"/>
          </a:p>
        </p:txBody>
      </p:sp>
      <p:graphicFrame>
        <p:nvGraphicFramePr>
          <p:cNvPr id="28" name="Chart 0" descr=""/>
          <p:cNvGraphicFramePr/>
          <p:nvPr/>
        </p:nvGraphicFramePr>
        <p:xfrm>
          <a:off x="4663440" y="3291840"/>
          <a:ext cx="3931920" cy="132588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Todos los pacientes con AR deben recibir FAME</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34440"/>
            <a:ext cx="2615184" cy="2697480"/>
          </a:xfrm>
          <a:prstGeom prst="roundRect">
            <a:avLst>
              <a:gd name="adj" fmla="val 2797"/>
            </a:avLst>
          </a:prstGeom>
          <a:solidFill>
            <a:srgbClr val="F7EEF1"/>
          </a:solidFill>
          <a:ln w="12700">
            <a:solidFill>
              <a:srgbClr val="F7EEF1"/>
            </a:solidFill>
            <a:prstDash val="solid"/>
          </a:ln>
        </p:spPr>
      </p:sp>
      <p:sp>
        <p:nvSpPr>
          <p:cNvPr id="6" name="Shape 4"/>
          <p:cNvSpPr/>
          <p:nvPr/>
        </p:nvSpPr>
        <p:spPr>
          <a:xfrm>
            <a:off x="621792" y="1371600"/>
            <a:ext cx="530352" cy="530352"/>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54380" y="1504188"/>
            <a:ext cx="265176" cy="265176"/>
          </a:xfrm>
          <a:prstGeom prst="rect">
            <a:avLst/>
          </a:prstGeom>
        </p:spPr>
      </p:pic>
      <p:sp>
        <p:nvSpPr>
          <p:cNvPr id="8" name="Text 5"/>
          <p:cNvSpPr txBox="1"/>
          <p:nvPr/>
        </p:nvSpPr>
        <p:spPr>
          <a:xfrm>
            <a:off x="1261872" y="1371600"/>
            <a:ext cx="1737360" cy="530352"/>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FAME sintéticos convencionales</a:t>
            </a:r>
            <a:endParaRPr lang="en-US" sz="1300" dirty="0"/>
          </a:p>
        </p:txBody>
      </p:sp>
      <p:sp>
        <p:nvSpPr>
          <p:cNvPr id="9" name="Text 6"/>
          <p:cNvSpPr txBox="1"/>
          <p:nvPr/>
        </p:nvSpPr>
        <p:spPr>
          <a:xfrm>
            <a:off x="621792" y="2011680"/>
            <a:ext cx="2331720" cy="18745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Metotrexato (1.ª línea)</a:t>
            </a:r>
            <a:endParaRPr lang="en-US" sz="1150" dirty="0"/>
          </a:p>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Sulfasalazina</a:t>
            </a:r>
            <a:endParaRPr lang="en-US" sz="1150" dirty="0"/>
          </a:p>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Leflunomida</a:t>
            </a:r>
            <a:endParaRPr lang="en-US" sz="1150" dirty="0"/>
          </a:p>
        </p:txBody>
      </p:sp>
      <p:sp>
        <p:nvSpPr>
          <p:cNvPr id="10" name="Shape 7"/>
          <p:cNvSpPr/>
          <p:nvPr/>
        </p:nvSpPr>
        <p:spPr>
          <a:xfrm>
            <a:off x="3264408" y="1234440"/>
            <a:ext cx="2615184" cy="2697480"/>
          </a:xfrm>
          <a:prstGeom prst="roundRect">
            <a:avLst>
              <a:gd name="adj" fmla="val 2797"/>
            </a:avLst>
          </a:prstGeom>
          <a:solidFill>
            <a:srgbClr val="FBE3DE"/>
          </a:solidFill>
          <a:ln w="12700">
            <a:solidFill>
              <a:srgbClr val="FBE3DE"/>
            </a:solidFill>
            <a:prstDash val="solid"/>
          </a:ln>
        </p:spPr>
      </p:sp>
      <p:sp>
        <p:nvSpPr>
          <p:cNvPr id="11" name="Shape 8"/>
          <p:cNvSpPr/>
          <p:nvPr/>
        </p:nvSpPr>
        <p:spPr>
          <a:xfrm>
            <a:off x="3429000" y="1371600"/>
            <a:ext cx="530352" cy="530352"/>
          </a:xfrm>
          <a:prstGeom prst="ellipse">
            <a:avLst/>
          </a:prstGeom>
          <a:solidFill>
            <a:srgbClr val="D9472F"/>
          </a:solidFill>
          <a:ln w="12700">
            <a:solidFill>
              <a:srgbClr val="D9472F"/>
            </a:solidFill>
            <a:prstDash val="solid"/>
          </a:ln>
        </p:spPr>
      </p:sp>
      <p:pic>
        <p:nvPicPr>
          <p:cNvPr id="12" name="Image 1" descr="preencoded.png">    </p:cNvPr>
          <p:cNvPicPr>
            <a:picLocks noChangeAspect="1"/>
          </p:cNvPicPr>
          <p:nvPr/>
        </p:nvPicPr>
        <p:blipFill>
          <a:blip r:embed="rId2"/>
          <a:stretch>
            <a:fillRect/>
          </a:stretch>
        </p:blipFill>
        <p:spPr>
          <a:xfrm>
            <a:off x="3561588" y="1504188"/>
            <a:ext cx="265176" cy="265176"/>
          </a:xfrm>
          <a:prstGeom prst="rect">
            <a:avLst/>
          </a:prstGeom>
        </p:spPr>
      </p:pic>
      <p:sp>
        <p:nvSpPr>
          <p:cNvPr id="13" name="Text 9"/>
          <p:cNvSpPr txBox="1"/>
          <p:nvPr/>
        </p:nvSpPr>
        <p:spPr>
          <a:xfrm>
            <a:off x="4069080" y="1371600"/>
            <a:ext cx="1737360" cy="530352"/>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FAME biológicos</a:t>
            </a:r>
            <a:endParaRPr lang="en-US" sz="1300" dirty="0"/>
          </a:p>
        </p:txBody>
      </p:sp>
      <p:sp>
        <p:nvSpPr>
          <p:cNvPr id="14" name="Text 10"/>
          <p:cNvSpPr txBox="1"/>
          <p:nvPr/>
        </p:nvSpPr>
        <p:spPr>
          <a:xfrm>
            <a:off x="3429000" y="2011680"/>
            <a:ext cx="2331720" cy="18745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Anti-TNF: adalimumab, certolizumab pegol, etanercept, golimumab, infliximab</a:t>
            </a:r>
            <a:endParaRPr lang="en-US" sz="1150" dirty="0"/>
          </a:p>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Anti-receptor de IL-6: tocilizumab, sarilumab</a:t>
            </a:r>
            <a:endParaRPr lang="en-US" sz="1150" dirty="0"/>
          </a:p>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Abatacept (CD80/CD86)</a:t>
            </a:r>
            <a:endParaRPr lang="en-US" sz="1150" dirty="0"/>
          </a:p>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Rituximab (CD20)</a:t>
            </a:r>
            <a:endParaRPr lang="en-US" sz="1150" dirty="0"/>
          </a:p>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Biosimilares</a:t>
            </a:r>
            <a:endParaRPr lang="en-US" sz="1150" dirty="0"/>
          </a:p>
        </p:txBody>
      </p:sp>
      <p:sp>
        <p:nvSpPr>
          <p:cNvPr id="15" name="Shape 11"/>
          <p:cNvSpPr/>
          <p:nvPr/>
        </p:nvSpPr>
        <p:spPr>
          <a:xfrm>
            <a:off x="6071616" y="1234440"/>
            <a:ext cx="2615184" cy="2697480"/>
          </a:xfrm>
          <a:prstGeom prst="roundRect">
            <a:avLst>
              <a:gd name="adj" fmla="val 2797"/>
            </a:avLst>
          </a:prstGeom>
          <a:solidFill>
            <a:srgbClr val="E9F3F2"/>
          </a:solidFill>
          <a:ln w="12700">
            <a:solidFill>
              <a:srgbClr val="E9F3F2"/>
            </a:solidFill>
            <a:prstDash val="solid"/>
          </a:ln>
        </p:spPr>
      </p:sp>
      <p:sp>
        <p:nvSpPr>
          <p:cNvPr id="16" name="Shape 12"/>
          <p:cNvSpPr/>
          <p:nvPr/>
        </p:nvSpPr>
        <p:spPr>
          <a:xfrm>
            <a:off x="6236208" y="1371600"/>
            <a:ext cx="530352" cy="530352"/>
          </a:xfrm>
          <a:prstGeom prst="ellipse">
            <a:avLst/>
          </a:prstGeom>
          <a:solidFill>
            <a:srgbClr val="1F7F79"/>
          </a:solidFill>
          <a:ln w="12700">
            <a:solidFill>
              <a:srgbClr val="1F7F79"/>
            </a:solidFill>
            <a:prstDash val="solid"/>
          </a:ln>
        </p:spPr>
      </p:sp>
      <p:pic>
        <p:nvPicPr>
          <p:cNvPr id="17" name="Image 2" descr="preencoded.png">    </p:cNvPr>
          <p:cNvPicPr>
            <a:picLocks noChangeAspect="1"/>
          </p:cNvPicPr>
          <p:nvPr/>
        </p:nvPicPr>
        <p:blipFill>
          <a:blip r:embed="rId3"/>
          <a:stretch>
            <a:fillRect/>
          </a:stretch>
        </p:blipFill>
        <p:spPr>
          <a:xfrm>
            <a:off x="6368796" y="1504188"/>
            <a:ext cx="265176" cy="265176"/>
          </a:xfrm>
          <a:prstGeom prst="rect">
            <a:avLst/>
          </a:prstGeom>
        </p:spPr>
      </p:pic>
      <p:sp>
        <p:nvSpPr>
          <p:cNvPr id="18" name="Text 13"/>
          <p:cNvSpPr txBox="1"/>
          <p:nvPr/>
        </p:nvSpPr>
        <p:spPr>
          <a:xfrm>
            <a:off x="6876288" y="1371600"/>
            <a:ext cx="1737360" cy="530352"/>
          </a:xfrm>
          <a:prstGeom prst="rect">
            <a:avLst/>
          </a:prstGeom>
          <a:noFill/>
          <a:ln/>
        </p:spPr>
        <p:txBody>
          <a:bodyPr wrap="square" lIns="0" tIns="0" rIns="0" bIns="0" rtlCol="0" anchor="ctr"/>
          <a:lstStyle/>
          <a:p>
            <a:pPr indent="0" marL="0">
              <a:buNone/>
            </a:pPr>
            <a:r>
              <a:rPr lang="en-US" sz="1300" b="1" dirty="0">
                <a:solidFill>
                  <a:srgbClr val="2A1433"/>
                </a:solidFill>
                <a:latin typeface="Calibri" pitchFamily="34" charset="0"/>
                <a:ea typeface="Calibri" pitchFamily="34" charset="-122"/>
                <a:cs typeface="Calibri" pitchFamily="34" charset="-120"/>
              </a:rPr>
              <a:t>FAME sintéticos dirigidos</a:t>
            </a:r>
            <a:endParaRPr lang="en-US" sz="1300" dirty="0"/>
          </a:p>
        </p:txBody>
      </p:sp>
      <p:sp>
        <p:nvSpPr>
          <p:cNvPr id="19" name="Text 14"/>
          <p:cNvSpPr txBox="1"/>
          <p:nvPr/>
        </p:nvSpPr>
        <p:spPr>
          <a:xfrm>
            <a:off x="6236208" y="2011680"/>
            <a:ext cx="2331720" cy="18745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2B2330"/>
                </a:solidFill>
                <a:latin typeface="Calibri" pitchFamily="34" charset="0"/>
                <a:ea typeface="Calibri" pitchFamily="34" charset="-122"/>
                <a:cs typeface="Calibri" pitchFamily="34" charset="-120"/>
              </a:rPr>
              <a:t>Inhibidores JAK: tofacitinib, baricitinib, filgotinib, upadacitinib, peficitinib</a:t>
            </a:r>
            <a:endParaRPr lang="en-US" sz="1150" dirty="0"/>
          </a:p>
        </p:txBody>
      </p:sp>
      <p:sp>
        <p:nvSpPr>
          <p:cNvPr id="20" name="Shape 15"/>
          <p:cNvSpPr/>
          <p:nvPr/>
        </p:nvSpPr>
        <p:spPr>
          <a:xfrm>
            <a:off x="457200" y="4069080"/>
            <a:ext cx="8229600" cy="621792"/>
          </a:xfrm>
          <a:prstGeom prst="roundRect">
            <a:avLst>
              <a:gd name="adj" fmla="val 11765"/>
            </a:avLst>
          </a:prstGeom>
          <a:solidFill>
            <a:srgbClr val="F3F1F4"/>
          </a:solidFill>
          <a:ln w="12700">
            <a:solidFill>
              <a:srgbClr val="F3F1F4"/>
            </a:solidFill>
            <a:prstDash val="solid"/>
          </a:ln>
        </p:spPr>
      </p:sp>
      <p:sp>
        <p:nvSpPr>
          <p:cNvPr id="21" name="Shape 16"/>
          <p:cNvSpPr/>
          <p:nvPr/>
        </p:nvSpPr>
        <p:spPr>
          <a:xfrm>
            <a:off x="566928" y="4142232"/>
            <a:ext cx="457200" cy="457200"/>
          </a:xfrm>
          <a:prstGeom prst="ellipse">
            <a:avLst/>
          </a:prstGeom>
          <a:solidFill>
            <a:srgbClr val="6E6573"/>
          </a:solidFill>
          <a:ln w="12700">
            <a:solidFill>
              <a:srgbClr val="6E6573"/>
            </a:solidFill>
            <a:prstDash val="solid"/>
          </a:ln>
        </p:spPr>
      </p:sp>
      <p:pic>
        <p:nvPicPr>
          <p:cNvPr id="22" name="Image 3" descr="preencoded.png">    </p:cNvPr>
          <p:cNvPicPr>
            <a:picLocks noChangeAspect="1"/>
          </p:cNvPicPr>
          <p:nvPr/>
        </p:nvPicPr>
        <p:blipFill>
          <a:blip r:embed="rId4"/>
          <a:stretch>
            <a:fillRect/>
          </a:stretch>
        </p:blipFill>
        <p:spPr>
          <a:xfrm>
            <a:off x="681228" y="4256532"/>
            <a:ext cx="228600" cy="228600"/>
          </a:xfrm>
          <a:prstGeom prst="rect">
            <a:avLst/>
          </a:prstGeom>
        </p:spPr>
      </p:pic>
      <p:sp>
        <p:nvSpPr>
          <p:cNvPr id="23" name="Text 17"/>
          <p:cNvSpPr txBox="1"/>
          <p:nvPr/>
        </p:nvSpPr>
        <p:spPr>
          <a:xfrm>
            <a:off x="1143000" y="4096512"/>
            <a:ext cx="7406640" cy="566928"/>
          </a:xfrm>
          <a:prstGeom prst="rect">
            <a:avLst/>
          </a:prstGeom>
          <a:noFill/>
          <a:ln/>
        </p:spPr>
        <p:txBody>
          <a:bodyPr wrap="square" lIns="0" tIns="0" rIns="0" bIns="0" rtlCol="0" anchor="ctr"/>
          <a:lstStyle/>
          <a:p>
            <a:pPr indent="0" marL="0">
              <a:buNone/>
            </a:pPr>
            <a:r>
              <a:rPr lang="en-US" sz="1150" dirty="0">
                <a:solidFill>
                  <a:srgbClr val="2B2330"/>
                </a:solidFill>
                <a:latin typeface="Calibri" pitchFamily="34" charset="0"/>
                <a:ea typeface="Calibri" pitchFamily="34" charset="-122"/>
                <a:cs typeface="Calibri" pitchFamily="34" charset="-120"/>
              </a:rPr>
              <a:t>AINE, paracetamol o tramadol alivian dolor y tumefacción pero NO modifican la enfermedad: solo como coadyuvantes hasta alcanzar el objetivo o para dolor persistente.</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CONVENCIONALES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Metotrexato: el FAME de primera línea</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234440"/>
            <a:ext cx="45720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Escalada de dosis recomendada por EULAR</a:t>
            </a:r>
            <a:endParaRPr lang="en-US" sz="1500" dirty="0"/>
          </a:p>
        </p:txBody>
      </p:sp>
      <p:sp>
        <p:nvSpPr>
          <p:cNvPr id="6" name="Shape 4"/>
          <p:cNvSpPr/>
          <p:nvPr/>
        </p:nvSpPr>
        <p:spPr>
          <a:xfrm>
            <a:off x="457200" y="1645920"/>
            <a:ext cx="2194560" cy="1188720"/>
          </a:xfrm>
          <a:prstGeom prst="roundRect">
            <a:avLst>
              <a:gd name="adj" fmla="val 6154"/>
            </a:avLst>
          </a:prstGeom>
          <a:solidFill>
            <a:srgbClr val="F7EEF1"/>
          </a:solidFill>
          <a:ln w="12700">
            <a:solidFill>
              <a:srgbClr val="F7EEF1"/>
            </a:solidFill>
            <a:prstDash val="solid"/>
          </a:ln>
        </p:spPr>
      </p:sp>
      <p:sp>
        <p:nvSpPr>
          <p:cNvPr id="7" name="Text 5"/>
          <p:cNvSpPr txBox="1"/>
          <p:nvPr/>
        </p:nvSpPr>
        <p:spPr>
          <a:xfrm>
            <a:off x="457200" y="1709928"/>
            <a:ext cx="2194560" cy="274320"/>
          </a:xfrm>
          <a:prstGeom prst="rect">
            <a:avLst/>
          </a:prstGeom>
          <a:noFill/>
          <a:ln/>
        </p:spPr>
        <p:txBody>
          <a:bodyPr wrap="square" lIns="0" tIns="0" rIns="0" bIns="0" rtlCol="0" anchor="t"/>
          <a:lstStyle/>
          <a:p>
            <a:pPr algn="ctr" indent="0" marL="0">
              <a:buNone/>
            </a:pPr>
            <a:r>
              <a:rPr lang="en-US" sz="1150" b="1" dirty="0">
                <a:solidFill>
                  <a:srgbClr val="6E6573"/>
                </a:solidFill>
                <a:latin typeface="Calibri" pitchFamily="34" charset="0"/>
                <a:ea typeface="Calibri" pitchFamily="34" charset="-122"/>
                <a:cs typeface="Calibri" pitchFamily="34" charset="-120"/>
              </a:rPr>
              <a:t>Inicio</a:t>
            </a:r>
            <a:endParaRPr lang="en-US" sz="1150" dirty="0"/>
          </a:p>
        </p:txBody>
      </p:sp>
      <p:sp>
        <p:nvSpPr>
          <p:cNvPr id="8" name="Text 6"/>
          <p:cNvSpPr txBox="1"/>
          <p:nvPr/>
        </p:nvSpPr>
        <p:spPr>
          <a:xfrm>
            <a:off x="457200" y="1965960"/>
            <a:ext cx="2194560" cy="457200"/>
          </a:xfrm>
          <a:prstGeom prst="rect">
            <a:avLst/>
          </a:prstGeom>
          <a:noFill/>
          <a:ln/>
        </p:spPr>
        <p:txBody>
          <a:bodyPr wrap="square" lIns="0" tIns="0" rIns="0" bIns="0" rtlCol="0" anchor="ctr"/>
          <a:lstStyle/>
          <a:p>
            <a:pPr algn="ctr" indent="0" marL="0">
              <a:buNone/>
            </a:pPr>
            <a:r>
              <a:rPr lang="en-US" sz="2400" b="1" dirty="0">
                <a:solidFill>
                  <a:srgbClr val="7A1F45"/>
                </a:solidFill>
                <a:latin typeface="Cambria" pitchFamily="34" charset="0"/>
                <a:ea typeface="Cambria" pitchFamily="34" charset="-122"/>
                <a:cs typeface="Cambria" pitchFamily="34" charset="-120"/>
              </a:rPr>
              <a:t>7,5–10 mg</a:t>
            </a:r>
            <a:endParaRPr lang="en-US" sz="2400" dirty="0"/>
          </a:p>
        </p:txBody>
      </p:sp>
      <p:sp>
        <p:nvSpPr>
          <p:cNvPr id="9" name="Text 7"/>
          <p:cNvSpPr txBox="1"/>
          <p:nvPr/>
        </p:nvSpPr>
        <p:spPr>
          <a:xfrm>
            <a:off x="457200" y="2441448"/>
            <a:ext cx="2194560" cy="320040"/>
          </a:xfrm>
          <a:prstGeom prst="rect">
            <a:avLst/>
          </a:prstGeom>
          <a:noFill/>
          <a:ln/>
        </p:spPr>
        <p:txBody>
          <a:bodyPr wrap="square" lIns="0" tIns="0" rIns="0" bIns="0" rtlCol="0" anchor="t"/>
          <a:lstStyle/>
          <a:p>
            <a:pPr algn="ctr" indent="0" marL="0">
              <a:buNone/>
            </a:pPr>
            <a:r>
              <a:rPr lang="en-US" sz="1150" dirty="0">
                <a:solidFill>
                  <a:srgbClr val="2B2330"/>
                </a:solidFill>
                <a:latin typeface="Calibri" pitchFamily="34" charset="0"/>
                <a:ea typeface="Calibri" pitchFamily="34" charset="-122"/>
                <a:cs typeface="Calibri" pitchFamily="34" charset="-120"/>
              </a:rPr>
              <a:t>v.o. semanal</a:t>
            </a:r>
            <a:endParaRPr lang="en-US" sz="1150" dirty="0"/>
          </a:p>
        </p:txBody>
      </p:sp>
      <p:sp>
        <p:nvSpPr>
          <p:cNvPr id="10" name="Shape 8"/>
          <p:cNvSpPr/>
          <p:nvPr/>
        </p:nvSpPr>
        <p:spPr>
          <a:xfrm>
            <a:off x="2971800" y="1645920"/>
            <a:ext cx="2194560" cy="1188720"/>
          </a:xfrm>
          <a:prstGeom prst="roundRect">
            <a:avLst>
              <a:gd name="adj" fmla="val 6154"/>
            </a:avLst>
          </a:prstGeom>
          <a:solidFill>
            <a:srgbClr val="7A1F45"/>
          </a:solidFill>
          <a:ln w="12700">
            <a:solidFill>
              <a:srgbClr val="7A1F45"/>
            </a:solidFill>
            <a:prstDash val="solid"/>
          </a:ln>
        </p:spPr>
      </p:sp>
      <p:sp>
        <p:nvSpPr>
          <p:cNvPr id="11" name="Text 9"/>
          <p:cNvSpPr txBox="1"/>
          <p:nvPr/>
        </p:nvSpPr>
        <p:spPr>
          <a:xfrm>
            <a:off x="2971800" y="1709928"/>
            <a:ext cx="2194560" cy="274320"/>
          </a:xfrm>
          <a:prstGeom prst="rect">
            <a:avLst/>
          </a:prstGeom>
          <a:noFill/>
          <a:ln/>
        </p:spPr>
        <p:txBody>
          <a:bodyPr wrap="square" lIns="0" tIns="0" rIns="0" bIns="0" rtlCol="0" anchor="t"/>
          <a:lstStyle/>
          <a:p>
            <a:pPr algn="ctr" indent="0" marL="0">
              <a:buNone/>
            </a:pPr>
            <a:r>
              <a:rPr lang="en-US" sz="1150" b="1" dirty="0">
                <a:solidFill>
                  <a:srgbClr val="F2B8A8"/>
                </a:solidFill>
                <a:latin typeface="Calibri" pitchFamily="34" charset="0"/>
                <a:ea typeface="Calibri" pitchFamily="34" charset="-122"/>
                <a:cs typeface="Calibri" pitchFamily="34" charset="-120"/>
              </a:rPr>
              <a:t>4–8 semanas</a:t>
            </a:r>
            <a:endParaRPr lang="en-US" sz="1150" dirty="0"/>
          </a:p>
        </p:txBody>
      </p:sp>
      <p:sp>
        <p:nvSpPr>
          <p:cNvPr id="12" name="Text 10"/>
          <p:cNvSpPr txBox="1"/>
          <p:nvPr/>
        </p:nvSpPr>
        <p:spPr>
          <a:xfrm>
            <a:off x="2971800" y="1965960"/>
            <a:ext cx="21945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20–25 mg</a:t>
            </a:r>
            <a:endParaRPr lang="en-US" sz="2400" dirty="0"/>
          </a:p>
        </p:txBody>
      </p:sp>
      <p:sp>
        <p:nvSpPr>
          <p:cNvPr id="13" name="Text 11"/>
          <p:cNvSpPr txBox="1"/>
          <p:nvPr/>
        </p:nvSpPr>
        <p:spPr>
          <a:xfrm>
            <a:off x="2971800" y="2441448"/>
            <a:ext cx="2194560" cy="32004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semanal (0,3 mg/kg)</a:t>
            </a:r>
            <a:endParaRPr lang="en-US" sz="1150" dirty="0"/>
          </a:p>
        </p:txBody>
      </p:sp>
      <p:sp>
        <p:nvSpPr>
          <p:cNvPr id="14" name="Shape 12"/>
          <p:cNvSpPr/>
          <p:nvPr/>
        </p:nvSpPr>
        <p:spPr>
          <a:xfrm>
            <a:off x="2670048" y="2240280"/>
            <a:ext cx="283464" cy="914"/>
          </a:xfrm>
          <a:prstGeom prst="line">
            <a:avLst/>
          </a:prstGeom>
          <a:noFill/>
          <a:ln w="31750">
            <a:solidFill>
              <a:srgbClr val="D9472F"/>
            </a:solidFill>
            <a:prstDash val="solid"/>
            <a:tailEnd type="triangle"/>
          </a:ln>
        </p:spPr>
      </p:sp>
      <p:sp>
        <p:nvSpPr>
          <p:cNvPr id="15" name="Text 13"/>
          <p:cNvSpPr txBox="1"/>
          <p:nvPr/>
        </p:nvSpPr>
        <p:spPr>
          <a:xfrm>
            <a:off x="457200" y="3017520"/>
            <a:ext cx="4754880" cy="169164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7A1F45"/>
                </a:solidFill>
                <a:latin typeface="Calibri" pitchFamily="34" charset="0"/>
                <a:ea typeface="Calibri" pitchFamily="34" charset="-122"/>
                <a:cs typeface="Calibri" pitchFamily="34" charset="-120"/>
              </a:rPr>
              <a:t>Ácido fólico </a:t>
            </a:r>
            <a:pPr indent="0" marL="0">
              <a:buNone/>
            </a:pPr>
            <a:r>
              <a:rPr lang="en-US" sz="1200" dirty="0">
                <a:solidFill>
                  <a:srgbClr val="2B2330"/>
                </a:solidFill>
                <a:latin typeface="Calibri" pitchFamily="34" charset="0"/>
                <a:ea typeface="Calibri" pitchFamily="34" charset="-122"/>
                <a:cs typeface="Calibri" pitchFamily="34" charset="-120"/>
              </a:rPr>
              <a:t>(1 mg/d a 15 mg/sem) para reducir náuseas, vómitos, molestias abdominales y elevación de transaminasas</a:t>
            </a:r>
            <a:endParaRPr lang="en-US" sz="1200" dirty="0"/>
          </a:p>
          <a:p>
            <a:pPr marL="177800" indent="-177800">
              <a:spcAft>
                <a:spcPts val="600"/>
              </a:spcAft>
              <a:buSzPct val="100000"/>
              <a:buChar char="•"/>
            </a:pPr>
            <a:r>
              <a:rPr lang="en-US" sz="1200" b="1" dirty="0">
                <a:solidFill>
                  <a:srgbClr val="7A1F45"/>
                </a:solidFill>
                <a:latin typeface="Calibri" pitchFamily="34" charset="0"/>
                <a:ea typeface="Calibri" pitchFamily="34" charset="-122"/>
                <a:cs typeface="Calibri" pitchFamily="34" charset="-120"/>
              </a:rPr>
              <a:t>Contraindicaciones: </a:t>
            </a:r>
            <a:pPr indent="0" marL="0">
              <a:buNone/>
            </a:pPr>
            <a:r>
              <a:rPr lang="en-US" sz="1200" dirty="0">
                <a:solidFill>
                  <a:srgbClr val="2B2330"/>
                </a:solidFill>
                <a:latin typeface="Calibri" pitchFamily="34" charset="0"/>
                <a:ea typeface="Calibri" pitchFamily="34" charset="-122"/>
                <a:cs typeface="Calibri" pitchFamily="34" charset="-120"/>
              </a:rPr>
              <a:t>insuficiencia renal, hepatopatía, consumo elevado de alcohol, embarazo</a:t>
            </a:r>
            <a:endParaRPr lang="en-US" sz="1200" dirty="0"/>
          </a:p>
          <a:p>
            <a:pPr marL="177800" indent="-177800">
              <a:spcAft>
                <a:spcPts val="600"/>
              </a:spcAft>
              <a:buSzPct val="100000"/>
              <a:buChar char="•"/>
            </a:pPr>
            <a:r>
              <a:rPr lang="en-US" sz="1200" b="1" dirty="0">
                <a:solidFill>
                  <a:srgbClr val="7A1F45"/>
                </a:solidFill>
                <a:latin typeface="Calibri" pitchFamily="34" charset="0"/>
                <a:ea typeface="Calibri" pitchFamily="34" charset="-122"/>
                <a:cs typeface="Calibri" pitchFamily="34" charset="-120"/>
              </a:rPr>
              <a:t>Vía subcutánea </a:t>
            </a:r>
            <a:pPr indent="0" marL="0">
              <a:buNone/>
            </a:pPr>
            <a:r>
              <a:rPr lang="en-US" sz="1200" dirty="0">
                <a:solidFill>
                  <a:srgbClr val="2B2330"/>
                </a:solidFill>
                <a:latin typeface="Calibri" pitchFamily="34" charset="0"/>
                <a:ea typeface="Calibri" pitchFamily="34" charset="-122"/>
                <a:cs typeface="Calibri" pitchFamily="34" charset="-120"/>
              </a:rPr>
              <a:t>si hay intolerancia a la oral pese al folato</a:t>
            </a:r>
            <a:endParaRPr lang="en-US" sz="1200" dirty="0"/>
          </a:p>
        </p:txBody>
      </p:sp>
      <p:graphicFrame>
        <p:nvGraphicFramePr>
          <p:cNvPr id="16" name="Chart 0" descr=""/>
          <p:cNvGraphicFramePr/>
          <p:nvPr/>
        </p:nvGraphicFramePr>
        <p:xfrm>
          <a:off x="5486400" y="1234440"/>
          <a:ext cx="3200400" cy="228600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577840" y="3657600"/>
            <a:ext cx="3108960" cy="1005840"/>
          </a:xfrm>
          <a:prstGeom prst="roundRect">
            <a:avLst>
              <a:gd name="adj" fmla="val 7273"/>
            </a:avLst>
          </a:prstGeom>
          <a:solidFill>
            <a:srgbClr val="E9F3F2"/>
          </a:solidFill>
          <a:ln w="12700">
            <a:solidFill>
              <a:srgbClr val="E9F3F2"/>
            </a:solidFill>
            <a:prstDash val="solid"/>
          </a:ln>
        </p:spPr>
      </p:sp>
      <p:sp>
        <p:nvSpPr>
          <p:cNvPr id="18" name="Text 15"/>
          <p:cNvSpPr txBox="1"/>
          <p:nvPr/>
        </p:nvSpPr>
        <p:spPr>
          <a:xfrm>
            <a:off x="5715000" y="3703320"/>
            <a:ext cx="2834640" cy="914400"/>
          </a:xfrm>
          <a:prstGeom prst="rect">
            <a:avLst/>
          </a:prstGeom>
          <a:noFill/>
          <a:ln/>
        </p:spPr>
        <p:txBody>
          <a:bodyPr wrap="square" lIns="0" tIns="0" rIns="0" bIns="0" rtlCol="0" anchor="ctr"/>
          <a:lstStyle/>
          <a:p>
            <a:pPr indent="0" marL="0">
              <a:buNone/>
            </a:pPr>
            <a:r>
              <a:rPr lang="en-US" sz="1200" b="1" dirty="0">
                <a:solidFill>
                  <a:srgbClr val="1F7F79"/>
                </a:solidFill>
                <a:latin typeface="Calibri" pitchFamily="34" charset="0"/>
                <a:ea typeface="Calibri" pitchFamily="34" charset="-122"/>
                <a:cs typeface="Calibri" pitchFamily="34" charset="-120"/>
              </a:rPr>
              <a:t>OR 0,75 (IC 95 % 0,51–1,09): la vía oral no es inferior a la subcutánea.</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CONVENCIONALES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Glucocorticoides como terapia puente</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3977640" cy="2331720"/>
          </a:xfrm>
          <a:prstGeom prst="roundRect">
            <a:avLst>
              <a:gd name="adj" fmla="val 3137"/>
            </a:avLst>
          </a:prstGeom>
          <a:solidFill>
            <a:srgbClr val="F7EEF1"/>
          </a:solidFill>
          <a:ln w="12700">
            <a:solidFill>
              <a:srgbClr val="F7EEF1"/>
            </a:solidFill>
            <a:prstDash val="solid"/>
          </a:ln>
        </p:spPr>
      </p:sp>
      <p:sp>
        <p:nvSpPr>
          <p:cNvPr id="6" name="Text 4"/>
          <p:cNvSpPr txBox="1"/>
          <p:nvPr/>
        </p:nvSpPr>
        <p:spPr>
          <a:xfrm>
            <a:off x="640080" y="1371600"/>
            <a:ext cx="3657600" cy="365760"/>
          </a:xfrm>
          <a:prstGeom prst="rect">
            <a:avLst/>
          </a:prstGeom>
          <a:noFill/>
          <a:ln/>
        </p:spPr>
        <p:txBody>
          <a:bodyPr wrap="square" lIns="0" tIns="0" rIns="0" bIns="0" rtlCol="0" anchor="t"/>
          <a:lstStyle/>
          <a:p>
            <a:pPr indent="0" marL="0">
              <a:buNone/>
            </a:pPr>
            <a:r>
              <a:rPr lang="en-US" sz="1800" b="1" dirty="0">
                <a:solidFill>
                  <a:srgbClr val="7A1F45"/>
                </a:solidFill>
                <a:latin typeface="Cambria" pitchFamily="34" charset="0"/>
                <a:ea typeface="Cambria" pitchFamily="34" charset="-122"/>
                <a:cs typeface="Cambria" pitchFamily="34" charset="-120"/>
              </a:rPr>
              <a:t>EULAR 2025</a:t>
            </a:r>
            <a:endParaRPr lang="en-US" sz="1800" dirty="0"/>
          </a:p>
        </p:txBody>
      </p:sp>
      <p:sp>
        <p:nvSpPr>
          <p:cNvPr id="7" name="Text 5"/>
          <p:cNvSpPr txBox="1"/>
          <p:nvPr/>
        </p:nvSpPr>
        <p:spPr>
          <a:xfrm>
            <a:off x="640080" y="1828800"/>
            <a:ext cx="3657600" cy="173736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7A1F45"/>
                </a:solidFill>
                <a:latin typeface="Calibri" pitchFamily="34" charset="0"/>
                <a:ea typeface="Calibri" pitchFamily="34" charset="-122"/>
                <a:cs typeface="Calibri" pitchFamily="34" charset="-120"/>
              </a:rPr>
              <a:t>Prednisona 5–7,5 mg/d </a:t>
            </a:r>
            <a:pPr indent="0" marL="0">
              <a:buNone/>
            </a:pPr>
            <a:r>
              <a:rPr lang="en-US" sz="1250" dirty="0">
                <a:solidFill>
                  <a:srgbClr val="2B2330"/>
                </a:solidFill>
                <a:latin typeface="Calibri" pitchFamily="34" charset="0"/>
                <a:ea typeface="Calibri" pitchFamily="34" charset="-122"/>
                <a:cs typeface="Calibri" pitchFamily="34" charset="-120"/>
              </a:rPr>
              <a:t>por 6–12 semanas, con descenso y suspensión en ≤ 3 meses</a:t>
            </a:r>
            <a:endParaRPr lang="en-US" sz="1250" dirty="0"/>
          </a:p>
          <a:p>
            <a:pPr marL="177800" indent="-177800">
              <a:spcAft>
                <a:spcPts val="600"/>
              </a:spcAft>
              <a:buSzPct val="100000"/>
              <a:buChar char="•"/>
            </a:pPr>
            <a:r>
              <a:rPr lang="en-US" sz="1250" b="1" dirty="0">
                <a:solidFill>
                  <a:srgbClr val="7A1F45"/>
                </a:solidFill>
                <a:latin typeface="Calibri" pitchFamily="34" charset="0"/>
                <a:ea typeface="Calibri" pitchFamily="34" charset="-122"/>
                <a:cs typeface="Calibri" pitchFamily="34" charset="-120"/>
              </a:rPr>
              <a:t>o metilprednisolona IM </a:t>
            </a:r>
            <a:pPr indent="0" marL="0">
              <a:buNone/>
            </a:pPr>
            <a:r>
              <a:rPr lang="en-US" sz="1250" dirty="0">
                <a:solidFill>
                  <a:srgbClr val="2B2330"/>
                </a:solidFill>
                <a:latin typeface="Calibri" pitchFamily="34" charset="0"/>
                <a:ea typeface="Calibri" pitchFamily="34" charset="-122"/>
                <a:cs typeface="Calibri" pitchFamily="34" charset="-120"/>
              </a:rPr>
              <a:t>80–160 mg en dosis única</a:t>
            </a:r>
            <a:endParaRPr lang="en-US" sz="1250" dirty="0"/>
          </a:p>
          <a:p>
            <a:pPr marL="177800" indent="-177800">
              <a:spcAft>
                <a:spcPts val="600"/>
              </a:spcAft>
              <a:buSzPct val="100000"/>
              <a:buChar char="•"/>
            </a:pPr>
            <a:r>
              <a:rPr lang="en-US" sz="1250" b="1" dirty="0">
                <a:solidFill>
                  <a:srgbClr val="7A1F45"/>
                </a:solidFill>
                <a:latin typeface="Calibri" pitchFamily="34" charset="0"/>
                <a:ea typeface="Calibri" pitchFamily="34" charset="-122"/>
                <a:cs typeface="Calibri" pitchFamily="34" charset="-120"/>
              </a:rPr>
              <a:t>Considerar al iniciar </a:t>
            </a:r>
            <a:pPr indent="0" marL="0">
              <a:buNone/>
            </a:pPr>
            <a:r>
              <a:rPr lang="en-US" sz="1250" dirty="0">
                <a:solidFill>
                  <a:srgbClr val="2B2330"/>
                </a:solidFill>
                <a:latin typeface="Calibri" pitchFamily="34" charset="0"/>
                <a:ea typeface="Calibri" pitchFamily="34" charset="-122"/>
                <a:cs typeface="Calibri" pitchFamily="34" charset="-120"/>
              </a:rPr>
              <a:t>metotrexato</a:t>
            </a:r>
            <a:endParaRPr lang="en-US" sz="1250" dirty="0"/>
          </a:p>
        </p:txBody>
      </p:sp>
      <p:sp>
        <p:nvSpPr>
          <p:cNvPr id="8" name="Shape 6"/>
          <p:cNvSpPr/>
          <p:nvPr/>
        </p:nvSpPr>
        <p:spPr>
          <a:xfrm>
            <a:off x="4709160" y="1280160"/>
            <a:ext cx="3977640" cy="2331720"/>
          </a:xfrm>
          <a:prstGeom prst="roundRect">
            <a:avLst>
              <a:gd name="adj" fmla="val 3137"/>
            </a:avLst>
          </a:prstGeom>
          <a:solidFill>
            <a:srgbClr val="F3F1F4"/>
          </a:solidFill>
          <a:ln w="12700">
            <a:solidFill>
              <a:srgbClr val="F3F1F4"/>
            </a:solidFill>
            <a:prstDash val="solid"/>
          </a:ln>
        </p:spPr>
      </p:sp>
      <p:sp>
        <p:nvSpPr>
          <p:cNvPr id="9" name="Text 7"/>
          <p:cNvSpPr txBox="1"/>
          <p:nvPr/>
        </p:nvSpPr>
        <p:spPr>
          <a:xfrm>
            <a:off x="4892040" y="1371600"/>
            <a:ext cx="3657600" cy="365760"/>
          </a:xfrm>
          <a:prstGeom prst="rect">
            <a:avLst/>
          </a:prstGeom>
          <a:noFill/>
          <a:ln/>
        </p:spPr>
        <p:txBody>
          <a:bodyPr wrap="square" lIns="0" tIns="0" rIns="0" bIns="0" rtlCol="0" anchor="t"/>
          <a:lstStyle/>
          <a:p>
            <a:pPr indent="0" marL="0">
              <a:buNone/>
            </a:pPr>
            <a:r>
              <a:rPr lang="en-US" sz="1800" b="1" dirty="0">
                <a:solidFill>
                  <a:srgbClr val="6E6573"/>
                </a:solidFill>
                <a:latin typeface="Cambria" pitchFamily="34" charset="0"/>
                <a:ea typeface="Cambria" pitchFamily="34" charset="-122"/>
                <a:cs typeface="Cambria" pitchFamily="34" charset="-120"/>
              </a:rPr>
              <a:t>ACR 2021</a:t>
            </a:r>
            <a:endParaRPr lang="en-US" sz="1800" dirty="0"/>
          </a:p>
        </p:txBody>
      </p:sp>
      <p:sp>
        <p:nvSpPr>
          <p:cNvPr id="10" name="Text 8"/>
          <p:cNvSpPr txBox="1"/>
          <p:nvPr/>
        </p:nvSpPr>
        <p:spPr>
          <a:xfrm>
            <a:off x="4892040" y="1828800"/>
            <a:ext cx="365760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Recomienda "condicionalmente" iniciar el FAME convencional sin glucocorticoides a corto plazo</a:t>
            </a:r>
            <a:endParaRPr lang="en-US" sz="1250" dirty="0"/>
          </a:p>
          <a:p>
            <a:pPr marL="177800" indent="-177800">
              <a:spcAft>
                <a:spcPts val="600"/>
              </a:spcAft>
              <a:buSzPct val="100000"/>
              <a:buChar char="•"/>
            </a:pPr>
            <a:r>
              <a:rPr lang="en-US" sz="1250" dirty="0">
                <a:solidFill>
                  <a:srgbClr val="2B2330"/>
                </a:solidFill>
                <a:latin typeface="Calibri" pitchFamily="34" charset="0"/>
                <a:ea typeface="Calibri" pitchFamily="34" charset="-122"/>
                <a:cs typeface="Calibri" pitchFamily="34" charset="-120"/>
              </a:rPr>
              <a:t>Certeza de la evidencia: "muy baja"</a:t>
            </a:r>
            <a:endParaRPr lang="en-US" sz="1250" dirty="0"/>
          </a:p>
        </p:txBody>
      </p:sp>
      <p:sp>
        <p:nvSpPr>
          <p:cNvPr id="11" name="Shape 9"/>
          <p:cNvSpPr/>
          <p:nvPr/>
        </p:nvSpPr>
        <p:spPr>
          <a:xfrm>
            <a:off x="457200" y="3794760"/>
            <a:ext cx="731520" cy="731520"/>
          </a:xfrm>
          <a:prstGeom prst="ellipse">
            <a:avLst/>
          </a:prstGeom>
          <a:solidFill>
            <a:srgbClr val="1F7F79"/>
          </a:solidFill>
          <a:ln w="12700">
            <a:solidFill>
              <a:srgbClr val="1F7F79"/>
            </a:solidFill>
            <a:prstDash val="solid"/>
          </a:ln>
        </p:spPr>
      </p:sp>
      <p:pic>
        <p:nvPicPr>
          <p:cNvPr id="12" name="Image 0" descr="preencoded.png">    </p:cNvPr>
          <p:cNvPicPr>
            <a:picLocks noChangeAspect="1"/>
          </p:cNvPicPr>
          <p:nvPr/>
        </p:nvPicPr>
        <p:blipFill>
          <a:blip r:embed="rId1"/>
          <a:stretch>
            <a:fillRect/>
          </a:stretch>
        </p:blipFill>
        <p:spPr>
          <a:xfrm>
            <a:off x="640080" y="3977640"/>
            <a:ext cx="365760" cy="365760"/>
          </a:xfrm>
          <a:prstGeom prst="rect">
            <a:avLst/>
          </a:prstGeom>
        </p:spPr>
      </p:pic>
      <p:sp>
        <p:nvSpPr>
          <p:cNvPr id="13" name="Text 10"/>
          <p:cNvSpPr txBox="1"/>
          <p:nvPr/>
        </p:nvSpPr>
        <p:spPr>
          <a:xfrm>
            <a:off x="1371600" y="3794760"/>
            <a:ext cx="7315200" cy="731520"/>
          </a:xfrm>
          <a:prstGeom prst="rect">
            <a:avLst/>
          </a:prstGeom>
          <a:noFill/>
          <a:ln/>
        </p:spPr>
        <p:txBody>
          <a:bodyPr wrap="square" lIns="0" tIns="0" rIns="0" bIns="0" rtlCol="0" anchor="ctr"/>
          <a:lstStyle/>
          <a:p>
            <a:pPr indent="0" marL="0">
              <a:buNone/>
            </a:pPr>
            <a:r>
              <a:rPr lang="en-US" sz="2600" b="1" dirty="0">
                <a:solidFill>
                  <a:srgbClr val="1F7F79"/>
                </a:solidFill>
                <a:latin typeface="Cambria" pitchFamily="34" charset="0"/>
                <a:ea typeface="Cambria" pitchFamily="34" charset="-122"/>
                <a:cs typeface="Cambria" pitchFamily="34" charset="-120"/>
              </a:rPr>
              <a:t>&gt; 40 %</a:t>
            </a:r>
            <a:pPr indent="0" marL="0">
              <a:buNone/>
            </a:pPr>
            <a:r>
              <a:rPr lang="en-US" sz="1300" dirty="0">
                <a:solidFill>
                  <a:srgbClr val="2B2330"/>
                </a:solidFill>
                <a:latin typeface="Calibri" pitchFamily="34" charset="0"/>
                <a:ea typeface="Calibri" pitchFamily="34" charset="-122"/>
                <a:cs typeface="Calibri" pitchFamily="34" charset="-120"/>
              </a:rPr>
              <a:t>  de los pacientes con AR recién diagnosticada alcanzan remisión con metotrexato + glucocorticoides.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CONVENCIONALES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Combinaciones y alternativas al metotrexato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234440"/>
            <a:ext cx="4114800" cy="548640"/>
          </a:xfrm>
          <a:prstGeom prst="rect">
            <a:avLst/>
          </a:prstGeom>
          <a:noFill/>
          <a:ln/>
        </p:spPr>
        <p:txBody>
          <a:bodyPr wrap="square" lIns="0" tIns="0" rIns="0" bIns="0" rtlCol="0" anchor="t"/>
          <a:lstStyle/>
          <a:p>
            <a:pPr indent="0" marL="0">
              <a:buNone/>
            </a:pPr>
            <a:r>
              <a:rPr lang="en-US" sz="1400" b="1" dirty="0">
                <a:solidFill>
                  <a:srgbClr val="2A1433"/>
                </a:solidFill>
                <a:latin typeface="Cambria" pitchFamily="34" charset="0"/>
                <a:ea typeface="Cambria" pitchFamily="34" charset="-122"/>
                <a:cs typeface="Cambria" pitchFamily="34" charset="-120"/>
              </a:rPr>
              <a:t>Combinar FAME convencionales no se recomienda de entrada</a:t>
            </a:r>
            <a:endParaRPr lang="en-US" sz="1400" dirty="0"/>
          </a:p>
        </p:txBody>
      </p:sp>
      <p:graphicFrame>
        <p:nvGraphicFramePr>
          <p:cNvPr id="6" name="Chart 0" descr=""/>
          <p:cNvGraphicFramePr/>
          <p:nvPr/>
        </p:nvGraphicFramePr>
        <p:xfrm>
          <a:off x="365760" y="1783080"/>
          <a:ext cx="4114800" cy="1554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3383280"/>
            <a:ext cx="4023360" cy="548640"/>
          </a:xfrm>
          <a:prstGeom prst="rect">
            <a:avLst/>
          </a:prstGeom>
          <a:noFill/>
          <a:ln/>
        </p:spPr>
        <p:txBody>
          <a:bodyPr wrap="square" lIns="0" tIns="0" rIns="0" bIns="0" rtlCol="0" anchor="t"/>
          <a:lstStyle/>
          <a:p>
            <a:pPr indent="0" marL="0">
              <a:buNone/>
            </a:pPr>
            <a:r>
              <a:rPr lang="en-US" sz="1050" i="1" dirty="0">
                <a:solidFill>
                  <a:srgbClr val="6E6573"/>
                </a:solidFill>
                <a:latin typeface="Calibri" pitchFamily="34" charset="0"/>
                <a:ea typeface="Calibri" pitchFamily="34" charset="-122"/>
                <a:cs typeface="Calibri" pitchFamily="34" charset="-120"/>
              </a:rPr>
              <a:t>Remisión CDAI a 24 semanas · NORD-STAR, análisis secundario (n = 217). Más anemia y hepatotoxicidad sin mayor eficacia.</a:t>
            </a:r>
            <a:endParaRPr lang="en-US" sz="1050" dirty="0"/>
          </a:p>
        </p:txBody>
      </p:sp>
      <p:sp>
        <p:nvSpPr>
          <p:cNvPr id="8" name="Text 5"/>
          <p:cNvSpPr txBox="1"/>
          <p:nvPr/>
        </p:nvSpPr>
        <p:spPr>
          <a:xfrm>
            <a:off x="4754880" y="1234440"/>
            <a:ext cx="3931920" cy="548640"/>
          </a:xfrm>
          <a:prstGeom prst="rect">
            <a:avLst/>
          </a:prstGeom>
          <a:noFill/>
          <a:ln/>
        </p:spPr>
        <p:txBody>
          <a:bodyPr wrap="square" lIns="0" tIns="0" rIns="0" bIns="0" rtlCol="0" anchor="t"/>
          <a:lstStyle/>
          <a:p>
            <a:pPr indent="0" marL="0">
              <a:buNone/>
            </a:pPr>
            <a:r>
              <a:rPr lang="en-US" sz="1400" b="1" dirty="0">
                <a:solidFill>
                  <a:srgbClr val="2A1433"/>
                </a:solidFill>
                <a:latin typeface="Cambria" pitchFamily="34" charset="0"/>
                <a:ea typeface="Cambria" pitchFamily="34" charset="-122"/>
                <a:cs typeface="Cambria" pitchFamily="34" charset="-120"/>
              </a:rPr>
              <a:t>Si hay intolerancia o contraindicación al MTX</a:t>
            </a:r>
            <a:endParaRPr lang="en-US" sz="1400" dirty="0"/>
          </a:p>
        </p:txBody>
      </p:sp>
      <p:sp>
        <p:nvSpPr>
          <p:cNvPr id="9" name="Shape 6"/>
          <p:cNvSpPr/>
          <p:nvPr/>
        </p:nvSpPr>
        <p:spPr>
          <a:xfrm>
            <a:off x="4754880" y="1783080"/>
            <a:ext cx="3931920" cy="658368"/>
          </a:xfrm>
          <a:prstGeom prst="roundRect">
            <a:avLst>
              <a:gd name="adj" fmla="val 11111"/>
            </a:avLst>
          </a:prstGeom>
          <a:solidFill>
            <a:srgbClr val="F7EEF1"/>
          </a:solidFill>
          <a:ln w="12700">
            <a:solidFill>
              <a:srgbClr val="F7EEF1"/>
            </a:solidFill>
            <a:prstDash val="solid"/>
          </a:ln>
        </p:spPr>
      </p:sp>
      <p:sp>
        <p:nvSpPr>
          <p:cNvPr id="10" name="Text 7"/>
          <p:cNvSpPr txBox="1"/>
          <p:nvPr/>
        </p:nvSpPr>
        <p:spPr>
          <a:xfrm>
            <a:off x="4892040" y="1783080"/>
            <a:ext cx="1371600" cy="658368"/>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Sulfasalazina</a:t>
            </a:r>
            <a:endParaRPr lang="en-US" sz="1300" dirty="0"/>
          </a:p>
        </p:txBody>
      </p:sp>
      <p:sp>
        <p:nvSpPr>
          <p:cNvPr id="11" name="Text 8"/>
          <p:cNvSpPr txBox="1"/>
          <p:nvPr/>
        </p:nvSpPr>
        <p:spPr>
          <a:xfrm>
            <a:off x="6263640" y="1783080"/>
            <a:ext cx="23317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2–4 g/d (idealmente con cubierta entérica)</a:t>
            </a:r>
            <a:endParaRPr lang="en-US" sz="1200" dirty="0"/>
          </a:p>
        </p:txBody>
      </p:sp>
      <p:sp>
        <p:nvSpPr>
          <p:cNvPr id="12" name="Shape 9"/>
          <p:cNvSpPr/>
          <p:nvPr/>
        </p:nvSpPr>
        <p:spPr>
          <a:xfrm>
            <a:off x="4754880" y="2560320"/>
            <a:ext cx="3931920" cy="658368"/>
          </a:xfrm>
          <a:prstGeom prst="roundRect">
            <a:avLst>
              <a:gd name="adj" fmla="val 11111"/>
            </a:avLst>
          </a:prstGeom>
          <a:solidFill>
            <a:srgbClr val="F7EEF1"/>
          </a:solidFill>
          <a:ln w="12700">
            <a:solidFill>
              <a:srgbClr val="F7EEF1"/>
            </a:solidFill>
            <a:prstDash val="solid"/>
          </a:ln>
        </p:spPr>
      </p:sp>
      <p:sp>
        <p:nvSpPr>
          <p:cNvPr id="13" name="Text 10"/>
          <p:cNvSpPr txBox="1"/>
          <p:nvPr/>
        </p:nvSpPr>
        <p:spPr>
          <a:xfrm>
            <a:off x="4892040" y="2560320"/>
            <a:ext cx="1371600" cy="658368"/>
          </a:xfrm>
          <a:prstGeom prst="rect">
            <a:avLst/>
          </a:prstGeom>
          <a:noFill/>
          <a:ln/>
        </p:spPr>
        <p:txBody>
          <a:bodyPr wrap="square" lIns="0" tIns="0" rIns="0" bIns="0" rtlCol="0" anchor="ctr"/>
          <a:lstStyle/>
          <a:p>
            <a:pPr indent="0" marL="0">
              <a:buNone/>
            </a:pPr>
            <a:r>
              <a:rPr lang="en-US" sz="1300" b="1" dirty="0">
                <a:solidFill>
                  <a:srgbClr val="7A1F45"/>
                </a:solidFill>
                <a:latin typeface="Calibri" pitchFamily="34" charset="0"/>
                <a:ea typeface="Calibri" pitchFamily="34" charset="-122"/>
                <a:cs typeface="Calibri" pitchFamily="34" charset="-120"/>
              </a:rPr>
              <a:t>Leflunomida</a:t>
            </a:r>
            <a:endParaRPr lang="en-US" sz="1300" dirty="0"/>
          </a:p>
        </p:txBody>
      </p:sp>
      <p:sp>
        <p:nvSpPr>
          <p:cNvPr id="14" name="Text 11"/>
          <p:cNvSpPr txBox="1"/>
          <p:nvPr/>
        </p:nvSpPr>
        <p:spPr>
          <a:xfrm>
            <a:off x="6263640" y="2560320"/>
            <a:ext cx="2331720" cy="658368"/>
          </a:xfrm>
          <a:prstGeom prst="rect">
            <a:avLst/>
          </a:prstGeom>
          <a:noFill/>
          <a:ln/>
        </p:spPr>
        <p:txBody>
          <a:bodyPr wrap="square" lIns="0" tIns="0" rIns="0" bIns="0" rtlCol="0" anchor="ctr"/>
          <a:lstStyle/>
          <a:p>
            <a:pPr indent="0" marL="0">
              <a:buNone/>
            </a:pPr>
            <a:r>
              <a:rPr lang="en-US" sz="1200" dirty="0">
                <a:solidFill>
                  <a:srgbClr val="2B2330"/>
                </a:solidFill>
                <a:latin typeface="Calibri" pitchFamily="34" charset="0"/>
                <a:ea typeface="Calibri" pitchFamily="34" charset="-122"/>
                <a:cs typeface="Calibri" pitchFamily="34" charset="-120"/>
              </a:rPr>
              <a:t>20 mg/d</a:t>
            </a:r>
            <a:endParaRPr lang="en-US" sz="1200" dirty="0"/>
          </a:p>
        </p:txBody>
      </p:sp>
      <p:sp>
        <p:nvSpPr>
          <p:cNvPr id="15" name="Text 12"/>
          <p:cNvSpPr txBox="1"/>
          <p:nvPr/>
        </p:nvSpPr>
        <p:spPr>
          <a:xfrm>
            <a:off x="4754880" y="3383280"/>
            <a:ext cx="3931920" cy="548640"/>
          </a:xfrm>
          <a:prstGeom prst="rect">
            <a:avLst/>
          </a:prstGeom>
          <a:noFill/>
          <a:ln/>
        </p:spPr>
        <p:txBody>
          <a:bodyPr wrap="square" lIns="0" tIns="0" rIns="0" bIns="0" rtlCol="0" anchor="t"/>
          <a:lstStyle/>
          <a:p>
            <a:pPr indent="0" marL="0">
              <a:buNone/>
            </a:pPr>
            <a:r>
              <a:rPr lang="en-US" sz="1050" i="1" dirty="0">
                <a:solidFill>
                  <a:srgbClr val="6E6573"/>
                </a:solidFill>
                <a:latin typeface="Calibri" pitchFamily="34" charset="0"/>
                <a:ea typeface="Calibri" pitchFamily="34" charset="-122"/>
                <a:cs typeface="Calibri" pitchFamily="34" charset="-120"/>
              </a:rPr>
              <a:t>MA de 6 ECA (n = 1984): respuesta clínica 56 % con leflunomida vs 58 % con metotrexato.</a:t>
            </a:r>
            <a:endParaRPr lang="en-US" sz="1050" dirty="0"/>
          </a:p>
        </p:txBody>
      </p:sp>
      <p:sp>
        <p:nvSpPr>
          <p:cNvPr id="16" name="Shape 13"/>
          <p:cNvSpPr/>
          <p:nvPr/>
        </p:nvSpPr>
        <p:spPr>
          <a:xfrm>
            <a:off x="457200" y="4023360"/>
            <a:ext cx="8229600" cy="658368"/>
          </a:xfrm>
          <a:prstGeom prst="roundRect">
            <a:avLst>
              <a:gd name="adj" fmla="val 11111"/>
            </a:avLst>
          </a:prstGeom>
          <a:solidFill>
            <a:srgbClr val="E9F3F2"/>
          </a:solidFill>
          <a:ln w="12700">
            <a:solidFill>
              <a:srgbClr val="E9F3F2"/>
            </a:solidFill>
            <a:prstDash val="solid"/>
          </a:ln>
        </p:spPr>
      </p:sp>
      <p:sp>
        <p:nvSpPr>
          <p:cNvPr id="17" name="Text 14"/>
          <p:cNvSpPr txBox="1"/>
          <p:nvPr/>
        </p:nvSpPr>
        <p:spPr>
          <a:xfrm>
            <a:off x="640080" y="4041648"/>
            <a:ext cx="7863840" cy="621792"/>
          </a:xfrm>
          <a:prstGeom prst="rect">
            <a:avLst/>
          </a:prstGeom>
          <a:noFill/>
          <a:ln/>
        </p:spPr>
        <p:txBody>
          <a:bodyPr wrap="square" lIns="0" tIns="0" rIns="0" bIns="0" rtlCol="0" anchor="ctr"/>
          <a:lstStyle/>
          <a:p>
            <a:pPr indent="0" marL="0">
              <a:buNone/>
            </a:pPr>
            <a:r>
              <a:rPr lang="en-US" sz="1200" b="1" dirty="0">
                <a:solidFill>
                  <a:srgbClr val="1F7F79"/>
                </a:solidFill>
                <a:latin typeface="Calibri" pitchFamily="34" charset="0"/>
                <a:ea typeface="Calibri" pitchFamily="34" charset="-122"/>
                <a:cs typeface="Calibri" pitchFamily="34" charset="-120"/>
              </a:rPr>
              <a:t>¿Por qué el metotrexato primero?  </a:t>
            </a:r>
            <a:pPr indent="0" marL="0">
              <a:buNone/>
            </a:pPr>
            <a:r>
              <a:rPr lang="en-US" sz="1200" dirty="0">
                <a:solidFill>
                  <a:srgbClr val="2B2330"/>
                </a:solidFill>
                <a:latin typeface="Calibri" pitchFamily="34" charset="0"/>
                <a:ea typeface="Calibri" pitchFamily="34" charset="-122"/>
                <a:cs typeface="Calibri" pitchFamily="34" charset="-120"/>
              </a:rPr>
              <a:t>Tiene mucha más evidencia que cualquier otro FAME convencional y se administra una vez por semana (vs. 6 tabletas diarias de sulfasalazina o leflunomida diaria).</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TABLA 3</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FAME sintéticos convencionales: resumen</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143000"/>
                <a:gridCol w="1600200"/>
                <a:gridCol w="1234440"/>
                <a:gridCol w="2011680"/>
                <a:gridCol w="22402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Fármaco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Dosis de mantenimiento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ACR70 en pacientes sin FAME previos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Comentario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Eventos adversos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9601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Metotrexato</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15–25 mg/sem (0,3 mg/kg), v.o. o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21–40 % (sin glucocorticoides)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Remisión CDAI 43 % a 6 meses (con GC); frena el daño articular</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Náuseas 10 %, estomatitis 3–10 %, ↑ transaminasas 15 %, mielosupresión 3–10 % (↓ con folato); neumonitis 1 %; teratogénico</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9601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Sulfasalazina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2–4 g/d v.o. (cubierta entérica)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8 % (2 g/d)</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3 g/d mejor que 1,5 g/d; hasta 4 g/d sin diferencia vs MTX; contraindicada en alergia a sulfonamidas</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Náuseas 19 %, exantema 13 %, GI 8–13 %, leucopenia 3 %, lupus inducido, Stevens-Johnson &lt; 1 %, oligospermia reversible</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77724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Leflunomida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20 mg/d v.o. · diana: dihidroorotato deshidrogenasa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Frena la progresión del daño articular</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Diarrea 27 %, ↑ transaminasas 10 %, hipertensión 9 %, alopecia 9 %, hipersensibilidad 5 %; teratogénica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BIOLÓGICOS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Dianas de los FAME biológicos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2377440" cy="621792"/>
          </a:xfrm>
          <a:prstGeom prst="roundRect">
            <a:avLst>
              <a:gd name="adj" fmla="val 11765"/>
            </a:avLst>
          </a:prstGeom>
          <a:solidFill>
            <a:srgbClr val="D9472F"/>
          </a:solidFill>
          <a:ln w="12700">
            <a:solidFill>
              <a:srgbClr val="D9472F"/>
            </a:solidFill>
            <a:prstDash val="solid"/>
          </a:ln>
        </p:spPr>
      </p:sp>
      <p:sp>
        <p:nvSpPr>
          <p:cNvPr id="6" name="Text 4"/>
          <p:cNvSpPr txBox="1"/>
          <p:nvPr/>
        </p:nvSpPr>
        <p:spPr>
          <a:xfrm>
            <a:off x="548640" y="1280160"/>
            <a:ext cx="219456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TNF-α</a:t>
            </a:r>
            <a:endParaRPr lang="en-US" sz="1300" dirty="0"/>
          </a:p>
        </p:txBody>
      </p:sp>
      <p:sp>
        <p:nvSpPr>
          <p:cNvPr id="7" name="Shape 5"/>
          <p:cNvSpPr/>
          <p:nvPr/>
        </p:nvSpPr>
        <p:spPr>
          <a:xfrm>
            <a:off x="2926080" y="1280160"/>
            <a:ext cx="5760720" cy="621792"/>
          </a:xfrm>
          <a:prstGeom prst="roundRect">
            <a:avLst>
              <a:gd name="adj" fmla="val 11765"/>
            </a:avLst>
          </a:prstGeom>
          <a:solidFill>
            <a:srgbClr val="F7EEF1"/>
          </a:solidFill>
          <a:ln w="12700">
            <a:solidFill>
              <a:srgbClr val="F7EEF1"/>
            </a:solidFill>
            <a:prstDash val="solid"/>
          </a:ln>
        </p:spPr>
      </p:sp>
      <p:sp>
        <p:nvSpPr>
          <p:cNvPr id="8" name="Text 6"/>
          <p:cNvSpPr txBox="1"/>
          <p:nvPr/>
        </p:nvSpPr>
        <p:spPr>
          <a:xfrm>
            <a:off x="3108960" y="1280160"/>
            <a:ext cx="5486400" cy="621792"/>
          </a:xfrm>
          <a:prstGeom prst="rect">
            <a:avLst/>
          </a:prstGeom>
          <a:noFill/>
          <a:ln/>
        </p:spPr>
        <p:txBody>
          <a:bodyPr wrap="square" lIns="0" tIns="0" rIns="0" bIns="0" rtlCol="0" anchor="ctr"/>
          <a:lstStyle/>
          <a:p>
            <a:pPr indent="0" marL="0">
              <a:buNone/>
            </a:pPr>
            <a:r>
              <a:rPr lang="en-US" sz="1300" dirty="0">
                <a:solidFill>
                  <a:srgbClr val="2B2330"/>
                </a:solidFill>
                <a:latin typeface="Calibri" pitchFamily="34" charset="0"/>
                <a:ea typeface="Calibri" pitchFamily="34" charset="-122"/>
                <a:cs typeface="Calibri" pitchFamily="34" charset="-120"/>
              </a:rPr>
              <a:t>Adalimumab · certolizumab pegol · etanercept · golimumab · infliximab</a:t>
            </a:r>
            <a:endParaRPr lang="en-US" sz="1300" dirty="0"/>
          </a:p>
        </p:txBody>
      </p:sp>
      <p:sp>
        <p:nvSpPr>
          <p:cNvPr id="9" name="Shape 7"/>
          <p:cNvSpPr/>
          <p:nvPr/>
        </p:nvSpPr>
        <p:spPr>
          <a:xfrm>
            <a:off x="457200" y="2029968"/>
            <a:ext cx="2377440" cy="621792"/>
          </a:xfrm>
          <a:prstGeom prst="roundRect">
            <a:avLst>
              <a:gd name="adj" fmla="val 11765"/>
            </a:avLst>
          </a:prstGeom>
          <a:solidFill>
            <a:srgbClr val="7A1F45"/>
          </a:solidFill>
          <a:ln w="12700">
            <a:solidFill>
              <a:srgbClr val="7A1F45"/>
            </a:solidFill>
            <a:prstDash val="solid"/>
          </a:ln>
        </p:spPr>
      </p:sp>
      <p:sp>
        <p:nvSpPr>
          <p:cNvPr id="10" name="Text 8"/>
          <p:cNvSpPr txBox="1"/>
          <p:nvPr/>
        </p:nvSpPr>
        <p:spPr>
          <a:xfrm>
            <a:off x="548640" y="2029968"/>
            <a:ext cx="219456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Receptor de IL-6</a:t>
            </a:r>
            <a:endParaRPr lang="en-US" sz="1300" dirty="0"/>
          </a:p>
        </p:txBody>
      </p:sp>
      <p:sp>
        <p:nvSpPr>
          <p:cNvPr id="11" name="Shape 9"/>
          <p:cNvSpPr/>
          <p:nvPr/>
        </p:nvSpPr>
        <p:spPr>
          <a:xfrm>
            <a:off x="2926080" y="2029968"/>
            <a:ext cx="5760720" cy="621792"/>
          </a:xfrm>
          <a:prstGeom prst="roundRect">
            <a:avLst>
              <a:gd name="adj" fmla="val 11765"/>
            </a:avLst>
          </a:prstGeom>
          <a:solidFill>
            <a:srgbClr val="F7EEF1"/>
          </a:solidFill>
          <a:ln w="12700">
            <a:solidFill>
              <a:srgbClr val="F7EEF1"/>
            </a:solidFill>
            <a:prstDash val="solid"/>
          </a:ln>
        </p:spPr>
      </p:sp>
      <p:sp>
        <p:nvSpPr>
          <p:cNvPr id="12" name="Text 10"/>
          <p:cNvSpPr txBox="1"/>
          <p:nvPr/>
        </p:nvSpPr>
        <p:spPr>
          <a:xfrm>
            <a:off x="3108960" y="2029968"/>
            <a:ext cx="5486400" cy="621792"/>
          </a:xfrm>
          <a:prstGeom prst="rect">
            <a:avLst/>
          </a:prstGeom>
          <a:noFill/>
          <a:ln/>
        </p:spPr>
        <p:txBody>
          <a:bodyPr wrap="square" lIns="0" tIns="0" rIns="0" bIns="0" rtlCol="0" anchor="ctr"/>
          <a:lstStyle/>
          <a:p>
            <a:pPr indent="0" marL="0">
              <a:buNone/>
            </a:pPr>
            <a:r>
              <a:rPr lang="en-US" sz="1300" dirty="0">
                <a:solidFill>
                  <a:srgbClr val="2B2330"/>
                </a:solidFill>
                <a:latin typeface="Calibri" pitchFamily="34" charset="0"/>
                <a:ea typeface="Calibri" pitchFamily="34" charset="-122"/>
                <a:cs typeface="Calibri" pitchFamily="34" charset="-120"/>
              </a:rPr>
              <a:t>Tocilizumab · sarilumab</a:t>
            </a:r>
            <a:endParaRPr lang="en-US" sz="1300" dirty="0"/>
          </a:p>
        </p:txBody>
      </p:sp>
      <p:sp>
        <p:nvSpPr>
          <p:cNvPr id="13" name="Shape 11"/>
          <p:cNvSpPr/>
          <p:nvPr/>
        </p:nvSpPr>
        <p:spPr>
          <a:xfrm>
            <a:off x="457200" y="2779776"/>
            <a:ext cx="2377440" cy="621792"/>
          </a:xfrm>
          <a:prstGeom prst="roundRect">
            <a:avLst>
              <a:gd name="adj" fmla="val 11765"/>
            </a:avLst>
          </a:prstGeom>
          <a:solidFill>
            <a:srgbClr val="9C3A6A"/>
          </a:solidFill>
          <a:ln w="12700">
            <a:solidFill>
              <a:srgbClr val="9C3A6A"/>
            </a:solidFill>
            <a:prstDash val="solid"/>
          </a:ln>
        </p:spPr>
      </p:sp>
      <p:sp>
        <p:nvSpPr>
          <p:cNvPr id="14" name="Text 12"/>
          <p:cNvSpPr txBox="1"/>
          <p:nvPr/>
        </p:nvSpPr>
        <p:spPr>
          <a:xfrm>
            <a:off x="548640" y="2779776"/>
            <a:ext cx="219456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CD80/CD86 (coestimulación)</a:t>
            </a:r>
            <a:endParaRPr lang="en-US" sz="1300" dirty="0"/>
          </a:p>
        </p:txBody>
      </p:sp>
      <p:sp>
        <p:nvSpPr>
          <p:cNvPr id="15" name="Shape 13"/>
          <p:cNvSpPr/>
          <p:nvPr/>
        </p:nvSpPr>
        <p:spPr>
          <a:xfrm>
            <a:off x="2926080" y="2779776"/>
            <a:ext cx="5760720" cy="621792"/>
          </a:xfrm>
          <a:prstGeom prst="roundRect">
            <a:avLst>
              <a:gd name="adj" fmla="val 11765"/>
            </a:avLst>
          </a:prstGeom>
          <a:solidFill>
            <a:srgbClr val="F7EEF1"/>
          </a:solidFill>
          <a:ln w="12700">
            <a:solidFill>
              <a:srgbClr val="F7EEF1"/>
            </a:solidFill>
            <a:prstDash val="solid"/>
          </a:ln>
        </p:spPr>
      </p:sp>
      <p:sp>
        <p:nvSpPr>
          <p:cNvPr id="16" name="Text 14"/>
          <p:cNvSpPr txBox="1"/>
          <p:nvPr/>
        </p:nvSpPr>
        <p:spPr>
          <a:xfrm>
            <a:off x="3108960" y="2779776"/>
            <a:ext cx="5486400" cy="621792"/>
          </a:xfrm>
          <a:prstGeom prst="rect">
            <a:avLst/>
          </a:prstGeom>
          <a:noFill/>
          <a:ln/>
        </p:spPr>
        <p:txBody>
          <a:bodyPr wrap="square" lIns="0" tIns="0" rIns="0" bIns="0" rtlCol="0" anchor="ctr"/>
          <a:lstStyle/>
          <a:p>
            <a:pPr indent="0" marL="0">
              <a:buNone/>
            </a:pPr>
            <a:r>
              <a:rPr lang="en-US" sz="1300" dirty="0">
                <a:solidFill>
                  <a:srgbClr val="2B2330"/>
                </a:solidFill>
                <a:latin typeface="Calibri" pitchFamily="34" charset="0"/>
                <a:ea typeface="Calibri" pitchFamily="34" charset="-122"/>
                <a:cs typeface="Calibri" pitchFamily="34" charset="-120"/>
              </a:rPr>
              <a:t>Abatacept</a:t>
            </a:r>
            <a:endParaRPr lang="en-US" sz="1300" dirty="0"/>
          </a:p>
        </p:txBody>
      </p:sp>
      <p:sp>
        <p:nvSpPr>
          <p:cNvPr id="17" name="Shape 15"/>
          <p:cNvSpPr/>
          <p:nvPr/>
        </p:nvSpPr>
        <p:spPr>
          <a:xfrm>
            <a:off x="457200" y="3529584"/>
            <a:ext cx="2377440" cy="621792"/>
          </a:xfrm>
          <a:prstGeom prst="roundRect">
            <a:avLst>
              <a:gd name="adj" fmla="val 11765"/>
            </a:avLst>
          </a:prstGeom>
          <a:solidFill>
            <a:srgbClr val="1F7F79"/>
          </a:solidFill>
          <a:ln w="12700">
            <a:solidFill>
              <a:srgbClr val="1F7F79"/>
            </a:solidFill>
            <a:prstDash val="solid"/>
          </a:ln>
        </p:spPr>
      </p:sp>
      <p:sp>
        <p:nvSpPr>
          <p:cNvPr id="18" name="Text 16"/>
          <p:cNvSpPr txBox="1"/>
          <p:nvPr/>
        </p:nvSpPr>
        <p:spPr>
          <a:xfrm>
            <a:off x="548640" y="3529584"/>
            <a:ext cx="219456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CD20 (linfocito B)</a:t>
            </a:r>
            <a:endParaRPr lang="en-US" sz="1300" dirty="0"/>
          </a:p>
        </p:txBody>
      </p:sp>
      <p:sp>
        <p:nvSpPr>
          <p:cNvPr id="19" name="Shape 17"/>
          <p:cNvSpPr/>
          <p:nvPr/>
        </p:nvSpPr>
        <p:spPr>
          <a:xfrm>
            <a:off x="2926080" y="3529584"/>
            <a:ext cx="5760720" cy="621792"/>
          </a:xfrm>
          <a:prstGeom prst="roundRect">
            <a:avLst>
              <a:gd name="adj" fmla="val 11765"/>
            </a:avLst>
          </a:prstGeom>
          <a:solidFill>
            <a:srgbClr val="F7EEF1"/>
          </a:solidFill>
          <a:ln w="12700">
            <a:solidFill>
              <a:srgbClr val="F7EEF1"/>
            </a:solidFill>
            <a:prstDash val="solid"/>
          </a:ln>
        </p:spPr>
      </p:sp>
      <p:sp>
        <p:nvSpPr>
          <p:cNvPr id="20" name="Text 18"/>
          <p:cNvSpPr txBox="1"/>
          <p:nvPr/>
        </p:nvSpPr>
        <p:spPr>
          <a:xfrm>
            <a:off x="3108960" y="3529584"/>
            <a:ext cx="5486400" cy="621792"/>
          </a:xfrm>
          <a:prstGeom prst="rect">
            <a:avLst/>
          </a:prstGeom>
          <a:noFill/>
          <a:ln/>
        </p:spPr>
        <p:txBody>
          <a:bodyPr wrap="square" lIns="0" tIns="0" rIns="0" bIns="0" rtlCol="0" anchor="ctr"/>
          <a:lstStyle/>
          <a:p>
            <a:pPr indent="0" marL="0">
              <a:buNone/>
            </a:pPr>
            <a:r>
              <a:rPr lang="en-US" sz="1300" dirty="0">
                <a:solidFill>
                  <a:srgbClr val="2B2330"/>
                </a:solidFill>
                <a:latin typeface="Calibri" pitchFamily="34" charset="0"/>
                <a:ea typeface="Calibri" pitchFamily="34" charset="-122"/>
                <a:cs typeface="Calibri" pitchFamily="34" charset="-120"/>
              </a:rPr>
              <a:t>Rituximab</a:t>
            </a:r>
            <a:endParaRPr lang="en-US" sz="1300" dirty="0"/>
          </a:p>
        </p:txBody>
      </p:sp>
      <p:sp>
        <p:nvSpPr>
          <p:cNvPr id="21" name="Shape 19"/>
          <p:cNvSpPr/>
          <p:nvPr/>
        </p:nvSpPr>
        <p:spPr>
          <a:xfrm>
            <a:off x="457200" y="4297680"/>
            <a:ext cx="8229600" cy="411480"/>
          </a:xfrm>
          <a:prstGeom prst="roundRect">
            <a:avLst>
              <a:gd name="adj" fmla="val 17778"/>
            </a:avLst>
          </a:prstGeom>
          <a:solidFill>
            <a:srgbClr val="FFFFFF"/>
          </a:solidFill>
          <a:ln w="12700">
            <a:solidFill>
              <a:srgbClr val="FFFFFF"/>
            </a:solidFill>
            <a:prstDash val="solid"/>
          </a:ln>
        </p:spPr>
      </p:sp>
      <p:sp>
        <p:nvSpPr>
          <p:cNvPr id="22" name="Text 20"/>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200" b="1" dirty="0">
                <a:solidFill>
                  <a:srgbClr val="7A1F45"/>
                </a:solidFill>
                <a:latin typeface="Calibri" pitchFamily="34" charset="0"/>
                <a:ea typeface="Calibri" pitchFamily="34" charset="-122"/>
                <a:cs typeface="Calibri" pitchFamily="34" charset="-120"/>
              </a:rPr>
              <a:t>Todos los biológicos tienen eficacia similar. </a:t>
            </a:r>
            <a:pPr indent="0" marL="0">
              <a:buNone/>
            </a:pPr>
            <a:r>
              <a:rPr lang="en-US" sz="1200" dirty="0">
                <a:solidFill>
                  <a:srgbClr val="2B2330"/>
                </a:solidFill>
                <a:latin typeface="Calibri" pitchFamily="34" charset="0"/>
                <a:ea typeface="Calibri" pitchFamily="34" charset="-122"/>
                <a:cs typeface="Calibri" pitchFamily="34" charset="-120"/>
              </a:rPr>
              <a:t>EULAR: añadir cualquiera si con MTX u otro FAME convencional no se logra ↓ 50 % a los 3 meses o remisión/baja actividad a los 6 meses.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BIOLÓGICOS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NORD-STAR: convencional activo vs. biológicos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5" name="Chart 0" descr=""/>
          <p:cNvGraphicFramePr/>
          <p:nvPr/>
        </p:nvGraphicFramePr>
        <p:xfrm>
          <a:off x="365760" y="123444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852160" y="1234440"/>
            <a:ext cx="2834640" cy="566928"/>
          </a:xfrm>
          <a:prstGeom prst="rect">
            <a:avLst/>
          </a:prstGeom>
          <a:noFill/>
          <a:ln/>
        </p:spPr>
        <p:txBody>
          <a:bodyPr wrap="square" lIns="0" tIns="0" rIns="0" bIns="0" rtlCol="0" anchor="b"/>
          <a:lstStyle/>
          <a:p>
            <a:pPr indent="0" marL="0">
              <a:buNone/>
            </a:pPr>
            <a:r>
              <a:rPr lang="en-US" sz="3600" b="1" dirty="0">
                <a:solidFill>
                  <a:srgbClr val="7A1F45"/>
                </a:solidFill>
                <a:latin typeface="Cambria" pitchFamily="34" charset="0"/>
                <a:ea typeface="Cambria" pitchFamily="34" charset="-122"/>
                <a:cs typeface="Cambria" pitchFamily="34" charset="-120"/>
              </a:rPr>
              <a:t>795</a:t>
            </a:r>
            <a:endParaRPr lang="en-US" sz="3600" dirty="0"/>
          </a:p>
        </p:txBody>
      </p:sp>
      <p:sp>
        <p:nvSpPr>
          <p:cNvPr id="7" name="Text 4"/>
          <p:cNvSpPr txBox="1"/>
          <p:nvPr/>
        </p:nvSpPr>
        <p:spPr>
          <a:xfrm>
            <a:off x="5852160" y="1837944"/>
            <a:ext cx="283464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pacientes con AR temprana, aleatorizados 1:1:1:1</a:t>
            </a:r>
            <a:endParaRPr lang="en-US" sz="1150" dirty="0"/>
          </a:p>
        </p:txBody>
      </p:sp>
      <p:sp>
        <p:nvSpPr>
          <p:cNvPr id="8" name="Shape 5"/>
          <p:cNvSpPr/>
          <p:nvPr/>
        </p:nvSpPr>
        <p:spPr>
          <a:xfrm>
            <a:off x="5852160" y="2514600"/>
            <a:ext cx="2834640" cy="2148840"/>
          </a:xfrm>
          <a:prstGeom prst="roundRect">
            <a:avLst>
              <a:gd name="adj" fmla="val 3404"/>
            </a:avLst>
          </a:prstGeom>
          <a:solidFill>
            <a:srgbClr val="F7EEF1"/>
          </a:solidFill>
          <a:ln w="12700">
            <a:solidFill>
              <a:srgbClr val="F7EEF1"/>
            </a:solidFill>
            <a:prstDash val="solid"/>
          </a:ln>
        </p:spPr>
      </p:sp>
      <p:sp>
        <p:nvSpPr>
          <p:cNvPr id="9" name="Text 6"/>
          <p:cNvSpPr txBox="1"/>
          <p:nvPr/>
        </p:nvSpPr>
        <p:spPr>
          <a:xfrm>
            <a:off x="5989320" y="2606040"/>
            <a:ext cx="2606040" cy="201168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2B2330"/>
                </a:solidFill>
                <a:latin typeface="Calibri" pitchFamily="34" charset="0"/>
                <a:ea typeface="Calibri" pitchFamily="34" charset="-122"/>
                <a:cs typeface="Calibri" pitchFamily="34" charset="-120"/>
              </a:rPr>
              <a:t>La remisión con MTX + GC (IC 95 % 36,1–49,3 %) fue similar a la de las 3 estrategias con biológico</a:t>
            </a:r>
            <a:endParaRPr lang="en-US" sz="1150" dirty="0"/>
          </a:p>
          <a:p>
            <a:pPr marL="177800" indent="-177800">
              <a:spcAft>
                <a:spcPts val="700"/>
              </a:spcAft>
              <a:buSzPct val="100000"/>
              <a:buChar char="•"/>
            </a:pPr>
            <a:r>
              <a:rPr lang="en-US" sz="1150" dirty="0">
                <a:solidFill>
                  <a:srgbClr val="2B2330"/>
                </a:solidFill>
                <a:latin typeface="Calibri" pitchFamily="34" charset="0"/>
                <a:ea typeface="Calibri" pitchFamily="34" charset="-122"/>
                <a:cs typeface="Calibri" pitchFamily="34" charset="-120"/>
              </a:rPr>
              <a:t>Certolizumab 45,6–59,7 %; abatacept 49,6–63,0 %; tocilizumab 41,2–56,1 %</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BIOLÓGICOS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Mejor en combinación con metotrexato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5" name="Chart 0" descr=""/>
          <p:cNvGraphicFramePr/>
          <p:nvPr/>
        </p:nvGraphicFramePr>
        <p:xfrm>
          <a:off x="365760" y="1188720"/>
          <a:ext cx="5212080" cy="3520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52160" y="1234440"/>
            <a:ext cx="2834640" cy="1417320"/>
          </a:xfrm>
          <a:prstGeom prst="roundRect">
            <a:avLst>
              <a:gd name="adj" fmla="val 5161"/>
            </a:avLst>
          </a:prstGeom>
          <a:solidFill>
            <a:srgbClr val="F7EEF1"/>
          </a:solidFill>
          <a:ln w="12700">
            <a:solidFill>
              <a:srgbClr val="F7EEF1"/>
            </a:solidFill>
            <a:prstDash val="solid"/>
          </a:ln>
        </p:spPr>
      </p:sp>
      <p:sp>
        <p:nvSpPr>
          <p:cNvPr id="7" name="Text 4"/>
          <p:cNvSpPr txBox="1"/>
          <p:nvPr/>
        </p:nvSpPr>
        <p:spPr>
          <a:xfrm>
            <a:off x="5989320" y="1298448"/>
            <a:ext cx="2560320" cy="1280160"/>
          </a:xfrm>
          <a:prstGeom prst="rect">
            <a:avLst/>
          </a:prstGeom>
          <a:noFill/>
          <a:ln/>
        </p:spPr>
        <p:txBody>
          <a:bodyPr wrap="square" lIns="0" tIns="0" rIns="0" bIns="0" rtlCol="0" anchor="ctr"/>
          <a:lstStyle/>
          <a:p>
            <a:pPr indent="0" marL="0">
              <a:buNone/>
            </a:pPr>
            <a:r>
              <a:rPr lang="en-US" sz="1150" dirty="0">
                <a:solidFill>
                  <a:srgbClr val="2B2330"/>
                </a:solidFill>
                <a:latin typeface="Calibri" pitchFamily="34" charset="0"/>
                <a:ea typeface="Calibri" pitchFamily="34" charset="-122"/>
                <a:cs typeface="Calibri" pitchFamily="34" charset="-120"/>
              </a:rPr>
              <a:t>El efecto aditivo se observa incluso con MTX 10 mg/sem; sulfasalazina o leflunomida dan un beneficio similar.</a:t>
            </a:r>
            <a:endParaRPr lang="en-US" sz="1150" dirty="0"/>
          </a:p>
        </p:txBody>
      </p:sp>
      <p:sp>
        <p:nvSpPr>
          <p:cNvPr id="8" name="Shape 5"/>
          <p:cNvSpPr/>
          <p:nvPr/>
        </p:nvSpPr>
        <p:spPr>
          <a:xfrm>
            <a:off x="5852160" y="2788920"/>
            <a:ext cx="2834640" cy="1874520"/>
          </a:xfrm>
          <a:prstGeom prst="roundRect">
            <a:avLst>
              <a:gd name="adj" fmla="val 3902"/>
            </a:avLst>
          </a:prstGeom>
          <a:solidFill>
            <a:srgbClr val="E9F3F2"/>
          </a:solidFill>
          <a:ln w="12700">
            <a:solidFill>
              <a:srgbClr val="E9F3F2"/>
            </a:solidFill>
            <a:prstDash val="solid"/>
          </a:ln>
        </p:spPr>
      </p:sp>
      <p:sp>
        <p:nvSpPr>
          <p:cNvPr id="9" name="Text 6"/>
          <p:cNvSpPr txBox="1"/>
          <p:nvPr/>
        </p:nvSpPr>
        <p:spPr>
          <a:xfrm>
            <a:off x="5989320" y="2852928"/>
            <a:ext cx="2560320" cy="457200"/>
          </a:xfrm>
          <a:prstGeom prst="rect">
            <a:avLst/>
          </a:prstGeom>
          <a:noFill/>
          <a:ln/>
        </p:spPr>
        <p:txBody>
          <a:bodyPr wrap="square" lIns="0" tIns="0" rIns="0" bIns="0" rtlCol="0" anchor="t"/>
          <a:lstStyle/>
          <a:p>
            <a:pPr indent="0" marL="0">
              <a:buNone/>
            </a:pPr>
            <a:r>
              <a:rPr lang="en-US" sz="1200" b="1" dirty="0">
                <a:solidFill>
                  <a:srgbClr val="1F7F79"/>
                </a:solidFill>
                <a:latin typeface="Calibri" pitchFamily="34" charset="0"/>
                <a:ea typeface="Calibri" pitchFamily="34" charset="-122"/>
                <a:cs typeface="Calibri" pitchFamily="34" charset="-120"/>
              </a:rPr>
              <a:t>Si no se tolera ningún FAME convencional</a:t>
            </a:r>
            <a:endParaRPr lang="en-US" sz="1200" dirty="0"/>
          </a:p>
        </p:txBody>
      </p:sp>
      <p:sp>
        <p:nvSpPr>
          <p:cNvPr id="10" name="Text 7"/>
          <p:cNvSpPr txBox="1"/>
          <p:nvPr/>
        </p:nvSpPr>
        <p:spPr>
          <a:xfrm>
            <a:off x="5989320" y="3291840"/>
            <a:ext cx="2560320" cy="1325880"/>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Preferir anti-IL-6R. ADACTA: baja actividad CDAI a 24 sem 30,7 % con tocilizumab vs 19,8 % con adalimumab en monoterapia (p = 0,02). Resultados similares con sarilumab.</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TABLA 3</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FAME biológicos: dosis y eficacia</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760720" cy="914400"/>
        </p:xfrm>
        <a:graphic>
          <a:graphicData uri="http://schemas.openxmlformats.org/drawingml/2006/table">
            <a:tbl>
              <a:tblPr/>
              <a:tblGrid>
                <a:gridCol w="1234440"/>
                <a:gridCol w="1920240"/>
                <a:gridCol w="960120"/>
                <a:gridCol w="822960"/>
                <a:gridCol w="82296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Fármaco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Dosis de mantenimiento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Diana</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ACR70 falla MTX</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ACR70 falla anti-TNF</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Etanercept</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50 mg semanal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TNF</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N/E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Infliximab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3–5 mg/kg cada 6 sem i.v.</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TNF</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N/E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Adalimumab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40 mg cada 2 sem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TNF</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N/E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Golimumab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50 mg mensual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TNF</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Certolizumab pegol</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200 mg cada 2 sem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TNF</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9 % (sem 12)</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Tocilizumab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162 mg semanal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Receptor IL-6</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Sarilumab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200 mg cada 2 sem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Receptor IL-6</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25 %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Rituximab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500–1000 mg ×2 (2 sem) c/6 m i.v.</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CD20</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01752">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Abatacept</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125 mg semanal s.c.</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CD80/CD86</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6" name="Shape 3"/>
          <p:cNvSpPr/>
          <p:nvPr/>
        </p:nvSpPr>
        <p:spPr>
          <a:xfrm>
            <a:off x="6400800" y="1188720"/>
            <a:ext cx="2286000" cy="3520440"/>
          </a:xfrm>
          <a:prstGeom prst="roundRect">
            <a:avLst>
              <a:gd name="adj" fmla="val 3200"/>
            </a:avLst>
          </a:prstGeom>
          <a:solidFill>
            <a:srgbClr val="F7EEF1"/>
          </a:solidFill>
          <a:ln w="12700">
            <a:solidFill>
              <a:srgbClr val="F7EEF1"/>
            </a:solidFill>
            <a:prstDash val="solid"/>
          </a:ln>
        </p:spPr>
      </p:sp>
      <p:sp>
        <p:nvSpPr>
          <p:cNvPr id="7" name="Text 4"/>
          <p:cNvSpPr txBox="1"/>
          <p:nvPr/>
        </p:nvSpPr>
        <p:spPr>
          <a:xfrm>
            <a:off x="6537960" y="1261872"/>
            <a:ext cx="2011680" cy="320040"/>
          </a:xfrm>
          <a:prstGeom prst="rect">
            <a:avLst/>
          </a:prstGeom>
          <a:noFill/>
          <a:ln/>
        </p:spPr>
        <p:txBody>
          <a:bodyPr wrap="square" lIns="0" tIns="0" rIns="0" bIns="0" rtlCol="0" anchor="t"/>
          <a:lstStyle/>
          <a:p>
            <a:pPr indent="0" marL="0">
              <a:buNone/>
            </a:pPr>
            <a:r>
              <a:rPr lang="en-US" sz="1300" b="1" dirty="0">
                <a:solidFill>
                  <a:srgbClr val="7A1F45"/>
                </a:solidFill>
                <a:latin typeface="Calibri" pitchFamily="34" charset="0"/>
                <a:ea typeface="Calibri" pitchFamily="34" charset="-122"/>
                <a:cs typeface="Calibri" pitchFamily="34" charset="-120"/>
              </a:rPr>
              <a:t>Eventos adversos</a:t>
            </a:r>
            <a:endParaRPr lang="en-US" sz="1300" dirty="0"/>
          </a:p>
        </p:txBody>
      </p:sp>
      <p:sp>
        <p:nvSpPr>
          <p:cNvPr id="8" name="Text 5"/>
          <p:cNvSpPr txBox="1"/>
          <p:nvPr/>
        </p:nvSpPr>
        <p:spPr>
          <a:xfrm>
            <a:off x="6537960" y="1627632"/>
            <a:ext cx="2057400" cy="251460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7A1F45"/>
                </a:solidFill>
                <a:latin typeface="Calibri" pitchFamily="34" charset="0"/>
                <a:ea typeface="Calibri" pitchFamily="34" charset="-122"/>
                <a:cs typeface="Calibri" pitchFamily="34" charset="-120"/>
              </a:rPr>
              <a:t>Anti-TNF: </a:t>
            </a:r>
            <a:pPr indent="0" marL="0">
              <a:buNone/>
            </a:pPr>
            <a:r>
              <a:rPr lang="en-US" sz="1050" dirty="0">
                <a:solidFill>
                  <a:srgbClr val="2B2330"/>
                </a:solidFill>
                <a:latin typeface="Calibri" pitchFamily="34" charset="0"/>
                <a:ea typeface="Calibri" pitchFamily="34" charset="-122"/>
                <a:cs typeface="Calibri" pitchFamily="34" charset="-120"/>
              </a:rPr>
              <a:t>infecciones, TB, lesiones psoriasiformes, desmielinización, lupus inducido</a:t>
            </a:r>
            <a:endParaRPr lang="en-US" sz="1050" dirty="0"/>
          </a:p>
          <a:p>
            <a:pPr marL="177800" indent="-177800">
              <a:spcAft>
                <a:spcPts val="500"/>
              </a:spcAft>
              <a:buSzPct val="100000"/>
              <a:buChar char="•"/>
            </a:pPr>
            <a:r>
              <a:rPr lang="en-US" sz="1050" b="1" dirty="0">
                <a:solidFill>
                  <a:srgbClr val="7A1F45"/>
                </a:solidFill>
                <a:latin typeface="Calibri" pitchFamily="34" charset="0"/>
                <a:ea typeface="Calibri" pitchFamily="34" charset="-122"/>
                <a:cs typeface="Calibri" pitchFamily="34" charset="-120"/>
              </a:rPr>
              <a:t>Anti-IL-6R: </a:t>
            </a:r>
            <a:pPr indent="0" marL="0">
              <a:buNone/>
            </a:pPr>
            <a:r>
              <a:rPr lang="en-US" sz="1050" dirty="0">
                <a:solidFill>
                  <a:srgbClr val="2B2330"/>
                </a:solidFill>
                <a:latin typeface="Calibri" pitchFamily="34" charset="0"/>
                <a:ea typeface="Calibri" pitchFamily="34" charset="-122"/>
                <a:cs typeface="Calibri" pitchFamily="34" charset="-120"/>
              </a:rPr>
              <a:t>perforación intestinal, neutropenia, hiperlipidemia</a:t>
            </a:r>
            <a:endParaRPr lang="en-US" sz="1050" dirty="0"/>
          </a:p>
          <a:p>
            <a:pPr marL="177800" indent="-177800">
              <a:spcAft>
                <a:spcPts val="500"/>
              </a:spcAft>
              <a:buSzPct val="100000"/>
              <a:buChar char="•"/>
            </a:pPr>
            <a:r>
              <a:rPr lang="en-US" sz="1050" b="1" dirty="0">
                <a:solidFill>
                  <a:srgbClr val="7A1F45"/>
                </a:solidFill>
                <a:latin typeface="Calibri" pitchFamily="34" charset="0"/>
                <a:ea typeface="Calibri" pitchFamily="34" charset="-122"/>
                <a:cs typeface="Calibri" pitchFamily="34" charset="-120"/>
              </a:rPr>
              <a:t>Rituximab: </a:t>
            </a:r>
            <a:pPr indent="0" marL="0">
              <a:buNone/>
            </a:pPr>
            <a:r>
              <a:rPr lang="en-US" sz="1050" dirty="0">
                <a:solidFill>
                  <a:srgbClr val="2B2330"/>
                </a:solidFill>
                <a:latin typeface="Calibri" pitchFamily="34" charset="0"/>
                <a:ea typeface="Calibri" pitchFamily="34" charset="-122"/>
                <a:cs typeface="Calibri" pitchFamily="34" charset="-120"/>
              </a:rPr>
              <a:t>reactivación de hepatitis B, hipogammaglobulinemia</a:t>
            </a:r>
            <a:endParaRPr lang="en-US" sz="1050" dirty="0"/>
          </a:p>
          <a:p>
            <a:pPr marL="177800" indent="-177800">
              <a:spcAft>
                <a:spcPts val="500"/>
              </a:spcAft>
              <a:buSzPct val="100000"/>
              <a:buChar char="•"/>
            </a:pPr>
            <a:r>
              <a:rPr lang="en-US" sz="1050" b="1" dirty="0">
                <a:solidFill>
                  <a:srgbClr val="7A1F45"/>
                </a:solidFill>
                <a:latin typeface="Calibri" pitchFamily="34" charset="0"/>
                <a:ea typeface="Calibri" pitchFamily="34" charset="-122"/>
                <a:cs typeface="Calibri" pitchFamily="34" charset="-120"/>
              </a:rPr>
              <a:t>Biosimilares </a:t>
            </a:r>
            <a:pPr indent="0" marL="0">
              <a:buNone/>
            </a:pPr>
            <a:r>
              <a:rPr lang="en-US" sz="1050" dirty="0">
                <a:solidFill>
                  <a:srgbClr val="2B2330"/>
                </a:solidFill>
                <a:latin typeface="Calibri" pitchFamily="34" charset="0"/>
                <a:ea typeface="Calibri" pitchFamily="34" charset="-122"/>
                <a:cs typeface="Calibri" pitchFamily="34" charset="-120"/>
              </a:rPr>
              <a:t>con eficacia similar al original</a:t>
            </a:r>
            <a:endParaRPr lang="en-US" sz="1050" dirty="0"/>
          </a:p>
        </p:txBody>
      </p:sp>
      <p:sp>
        <p:nvSpPr>
          <p:cNvPr id="9" name="Text 6"/>
          <p:cNvSpPr txBox="1"/>
          <p:nvPr/>
        </p:nvSpPr>
        <p:spPr>
          <a:xfrm>
            <a:off x="6537960" y="4206240"/>
            <a:ext cx="2057400" cy="365760"/>
          </a:xfrm>
          <a:prstGeom prst="rect">
            <a:avLst/>
          </a:prstGeom>
          <a:noFill/>
          <a:ln/>
        </p:spPr>
        <p:txBody>
          <a:bodyPr wrap="square" lIns="0" tIns="0" rIns="0" bIns="0" rtlCol="0" anchor="t"/>
          <a:lstStyle/>
          <a:p>
            <a:pPr indent="0" marL="0">
              <a:buNone/>
            </a:pPr>
            <a:r>
              <a:rPr lang="en-US" sz="900" i="1" dirty="0">
                <a:solidFill>
                  <a:srgbClr val="6E6573"/>
                </a:solidFill>
                <a:latin typeface="Calibri" pitchFamily="34" charset="0"/>
                <a:ea typeface="Calibri" pitchFamily="34" charset="-122"/>
                <a:cs typeface="Calibri" pitchFamily="34" charset="-120"/>
              </a:rPr>
              <a:t>* N/E: no estudiado directamente en ECA</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SINTÉTICOS DIRIGIDOS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Inhibidores de JAK</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97280"/>
                <a:gridCol w="1737360"/>
                <a:gridCol w="1143000"/>
                <a:gridCol w="868680"/>
                <a:gridCol w="914400"/>
                <a:gridCol w="24688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Fármaco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Dosis</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Diana</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ACR70 falla a MTX</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ACR70 falla a anti-TNF</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Comentario</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5029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Tofacitinib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5 mg c/12 h; 11 mg/d (liberación prolongada)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JAK1, JAK2, JAK3</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14 %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Con MTX no inferior a adalimumab + MTX</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5720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Baricitinib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4 mg/d (EE. UU.: 2 mg/d)</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JAK1, JAK2</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24 %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17 %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Superior a adalimumab + MTX; diferencia no clínicamente relevante</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1148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Filgotinib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100 mg/d</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JAK1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30 %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~21 %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No licenciado en EE. UU.</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5720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Upadacitinib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15 mg/d</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JAK1 (JAK2)</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21 %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12 %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Superior a adalimumab + MTX; diferencia no clínicamente relevante</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41148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Peficitinib</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100–150 mg/d</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JAK1, JAK2, JAK3</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24 %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indent="0" marL="0">
                        <a:buNone/>
                      </a:pPr>
                      <a:r>
                        <a:rPr lang="en-US" sz="1050" dirty="0">
                          <a:solidFill>
                            <a:srgbClr val="2B2330"/>
                          </a:solidFill>
                          <a:latin typeface="Calibri" pitchFamily="34" charset="0"/>
                          <a:ea typeface="Calibri" pitchFamily="34" charset="-122"/>
                          <a:cs typeface="Calibri" pitchFamily="34" charset="-120"/>
                        </a:rPr>
                        <a:t>Aprobado en Asia (p. ej., Japón)</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6" name="Shape 3"/>
          <p:cNvSpPr/>
          <p:nvPr/>
        </p:nvSpPr>
        <p:spPr>
          <a:xfrm>
            <a:off x="457200" y="4069080"/>
            <a:ext cx="8229600" cy="621792"/>
          </a:xfrm>
          <a:prstGeom prst="roundRect">
            <a:avLst>
              <a:gd name="adj" fmla="val 11765"/>
            </a:avLst>
          </a:prstGeom>
          <a:solidFill>
            <a:srgbClr val="F7EEF1"/>
          </a:solidFill>
          <a:ln w="12700">
            <a:solidFill>
              <a:srgbClr val="F7EEF1"/>
            </a:solidFill>
            <a:prstDash val="solid"/>
          </a:ln>
        </p:spPr>
      </p:sp>
      <p:sp>
        <p:nvSpPr>
          <p:cNvPr id="7" name="Text 4"/>
          <p:cNvSpPr txBox="1"/>
          <p:nvPr/>
        </p:nvSpPr>
        <p:spPr>
          <a:xfrm>
            <a:off x="594360" y="4087368"/>
            <a:ext cx="7955280" cy="585216"/>
          </a:xfrm>
          <a:prstGeom prst="rect">
            <a:avLst/>
          </a:prstGeom>
          <a:noFill/>
          <a:ln/>
        </p:spPr>
        <p:txBody>
          <a:bodyPr wrap="square" lIns="0" tIns="0" rIns="0" bIns="0" rtlCol="0" anchor="ctr"/>
          <a:lstStyle/>
          <a:p>
            <a:pPr indent="0" marL="0">
              <a:buNone/>
            </a:pPr>
            <a:r>
              <a:rPr lang="en-US" sz="1100" b="1" dirty="0">
                <a:solidFill>
                  <a:srgbClr val="7A1F45"/>
                </a:solidFill>
                <a:latin typeface="Calibri" pitchFamily="34" charset="0"/>
                <a:ea typeface="Calibri" pitchFamily="34" charset="-122"/>
                <a:cs typeface="Calibri" pitchFamily="34" charset="-120"/>
              </a:rPr>
              <a:t>Mecanismo: </a:t>
            </a:r>
            <a:pPr indent="0" marL="0">
              <a:buNone/>
            </a:pPr>
            <a:r>
              <a:rPr lang="en-US" sz="1100" dirty="0">
                <a:solidFill>
                  <a:srgbClr val="2B2330"/>
                </a:solidFill>
                <a:latin typeface="Calibri" pitchFamily="34" charset="0"/>
                <a:ea typeface="Calibri" pitchFamily="34" charset="-122"/>
                <a:cs typeface="Calibri" pitchFamily="34" charset="-120"/>
              </a:rPr>
              <a:t>bloquean la señalización intracelular de múltiples citocinas. Todos por vía oral. EA: infecciones, TB, herpes zóster, citopenias, hiperlipidemia, ↑ CPK, cáncer de piel no melanoma, tromboembolia venosa.</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 · FAME SINTÉTICOS DIRIGIDOS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Eficacia de los inhibidores de JAK</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5" name="Chart 0" descr=""/>
          <p:cNvGraphicFramePr/>
          <p:nvPr/>
        </p:nvGraphicFramePr>
        <p:xfrm>
          <a:off x="365760" y="1234440"/>
          <a:ext cx="4754880" cy="2377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3703320"/>
            <a:ext cx="4572000" cy="960120"/>
          </a:xfrm>
          <a:prstGeom prst="rect">
            <a:avLst/>
          </a:prstGeom>
          <a:noFill/>
          <a:ln/>
        </p:spPr>
        <p:txBody>
          <a:bodyPr wrap="square" lIns="0" tIns="0" rIns="0" bIns="0" rtlCol="0" anchor="t"/>
          <a:lstStyle/>
          <a:p>
            <a:pPr indent="0" marL="0">
              <a:buNone/>
            </a:pPr>
            <a:r>
              <a:rPr lang="en-US" sz="1100" i="1" dirty="0">
                <a:solidFill>
                  <a:srgbClr val="6E6573"/>
                </a:solidFill>
                <a:latin typeface="Calibri" pitchFamily="34" charset="0"/>
                <a:ea typeface="Calibri" pitchFamily="34" charset="-122"/>
                <a:cs typeface="Calibri" pitchFamily="34" charset="-120"/>
              </a:rPr>
              <a:t>Tofacitinib + MTX no inferior a adalimumab + MTX (diferencia 2,2 %). Tofacitinib en monoterapia no alcanzó la no inferioridad frente a la combinación (−7,7 %; margen −13 %).</a:t>
            </a:r>
            <a:endParaRPr lang="en-US" sz="1100" dirty="0"/>
          </a:p>
        </p:txBody>
      </p:sp>
      <p:sp>
        <p:nvSpPr>
          <p:cNvPr id="7" name="Shape 4"/>
          <p:cNvSpPr/>
          <p:nvPr/>
        </p:nvSpPr>
        <p:spPr>
          <a:xfrm>
            <a:off x="5394960" y="1234440"/>
            <a:ext cx="3291840" cy="1024128"/>
          </a:xfrm>
          <a:prstGeom prst="roundRect">
            <a:avLst>
              <a:gd name="adj" fmla="val 7143"/>
            </a:avLst>
          </a:prstGeom>
          <a:solidFill>
            <a:srgbClr val="F7EEF1"/>
          </a:solidFill>
          <a:ln w="12700">
            <a:solidFill>
              <a:srgbClr val="F7EEF1"/>
            </a:solidFill>
            <a:prstDash val="solid"/>
          </a:ln>
        </p:spPr>
      </p:sp>
      <p:sp>
        <p:nvSpPr>
          <p:cNvPr id="8" name="Text 5"/>
          <p:cNvSpPr txBox="1"/>
          <p:nvPr/>
        </p:nvSpPr>
        <p:spPr>
          <a:xfrm>
            <a:off x="5532120" y="1280160"/>
            <a:ext cx="3017520" cy="457200"/>
          </a:xfrm>
          <a:prstGeom prst="rect">
            <a:avLst/>
          </a:prstGeom>
          <a:noFill/>
          <a:ln/>
        </p:spPr>
        <p:txBody>
          <a:bodyPr wrap="square" lIns="0" tIns="0" rIns="0" bIns="0" rtlCol="0" anchor="ctr"/>
          <a:lstStyle/>
          <a:p>
            <a:pPr indent="0" marL="0">
              <a:buNone/>
            </a:pPr>
            <a:r>
              <a:rPr lang="en-US" sz="2100" b="1" dirty="0">
                <a:solidFill>
                  <a:srgbClr val="7A1F45"/>
                </a:solidFill>
                <a:latin typeface="Cambria" pitchFamily="34" charset="0"/>
                <a:ea typeface="Cambria" pitchFamily="34" charset="-122"/>
                <a:cs typeface="Cambria" pitchFamily="34" charset="-120"/>
              </a:rPr>
              <a:t>20–30 %</a:t>
            </a:r>
            <a:endParaRPr lang="en-US" sz="2100" dirty="0"/>
          </a:p>
        </p:txBody>
      </p:sp>
      <p:sp>
        <p:nvSpPr>
          <p:cNvPr id="9" name="Text 6"/>
          <p:cNvSpPr txBox="1"/>
          <p:nvPr/>
        </p:nvSpPr>
        <p:spPr>
          <a:xfrm>
            <a:off x="5532120" y="1737360"/>
            <a:ext cx="3063240" cy="50292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ACR70 al añadir cualquier JAKi a MTX (EULAR: eficacias similares)</a:t>
            </a:r>
            <a:endParaRPr lang="en-US" sz="1050" dirty="0"/>
          </a:p>
        </p:txBody>
      </p:sp>
      <p:sp>
        <p:nvSpPr>
          <p:cNvPr id="10" name="Shape 7"/>
          <p:cNvSpPr/>
          <p:nvPr/>
        </p:nvSpPr>
        <p:spPr>
          <a:xfrm>
            <a:off x="5394960" y="2395728"/>
            <a:ext cx="3291840" cy="1024128"/>
          </a:xfrm>
          <a:prstGeom prst="roundRect">
            <a:avLst>
              <a:gd name="adj" fmla="val 7143"/>
            </a:avLst>
          </a:prstGeom>
          <a:solidFill>
            <a:srgbClr val="F7EEF1"/>
          </a:solidFill>
          <a:ln w="12700">
            <a:solidFill>
              <a:srgbClr val="F7EEF1"/>
            </a:solidFill>
            <a:prstDash val="solid"/>
          </a:ln>
        </p:spPr>
      </p:sp>
      <p:sp>
        <p:nvSpPr>
          <p:cNvPr id="11" name="Text 8"/>
          <p:cNvSpPr txBox="1"/>
          <p:nvPr/>
        </p:nvSpPr>
        <p:spPr>
          <a:xfrm>
            <a:off x="5532120" y="2441448"/>
            <a:ext cx="3017520" cy="457200"/>
          </a:xfrm>
          <a:prstGeom prst="rect">
            <a:avLst/>
          </a:prstGeom>
          <a:noFill/>
          <a:ln/>
        </p:spPr>
        <p:txBody>
          <a:bodyPr wrap="square" lIns="0" tIns="0" rIns="0" bIns="0" rtlCol="0" anchor="ctr"/>
          <a:lstStyle/>
          <a:p>
            <a:pPr indent="0" marL="0">
              <a:buNone/>
            </a:pPr>
            <a:r>
              <a:rPr lang="en-US" sz="2100" b="1" dirty="0">
                <a:solidFill>
                  <a:srgbClr val="D9472F"/>
                </a:solidFill>
                <a:latin typeface="Cambria" pitchFamily="34" charset="0"/>
                <a:ea typeface="Cambria" pitchFamily="34" charset="-122"/>
                <a:cs typeface="Cambria" pitchFamily="34" charset="-120"/>
              </a:rPr>
              <a:t>RR 1,57–2,02</a:t>
            </a:r>
            <a:endParaRPr lang="en-US" sz="2100" dirty="0"/>
          </a:p>
        </p:txBody>
      </p:sp>
      <p:sp>
        <p:nvSpPr>
          <p:cNvPr id="12" name="Text 9"/>
          <p:cNvSpPr txBox="1"/>
          <p:nvPr/>
        </p:nvSpPr>
        <p:spPr>
          <a:xfrm>
            <a:off x="5532120" y="2898648"/>
            <a:ext cx="3063240" cy="50292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ACR20 vs placebo (filgotinib → tofacitinib): MN de 39 ECA, n = 16 894</a:t>
            </a:r>
            <a:endParaRPr lang="en-US" sz="1050" dirty="0"/>
          </a:p>
        </p:txBody>
      </p:sp>
      <p:sp>
        <p:nvSpPr>
          <p:cNvPr id="13" name="Shape 10"/>
          <p:cNvSpPr/>
          <p:nvPr/>
        </p:nvSpPr>
        <p:spPr>
          <a:xfrm>
            <a:off x="5394960" y="3557016"/>
            <a:ext cx="3291840" cy="1024128"/>
          </a:xfrm>
          <a:prstGeom prst="roundRect">
            <a:avLst>
              <a:gd name="adj" fmla="val 7143"/>
            </a:avLst>
          </a:prstGeom>
          <a:solidFill>
            <a:srgbClr val="F7EEF1"/>
          </a:solidFill>
          <a:ln w="12700">
            <a:solidFill>
              <a:srgbClr val="F7EEF1"/>
            </a:solidFill>
            <a:prstDash val="solid"/>
          </a:ln>
        </p:spPr>
      </p:sp>
      <p:sp>
        <p:nvSpPr>
          <p:cNvPr id="14" name="Text 11"/>
          <p:cNvSpPr txBox="1"/>
          <p:nvPr/>
        </p:nvSpPr>
        <p:spPr>
          <a:xfrm>
            <a:off x="5532120" y="3602736"/>
            <a:ext cx="3017520" cy="457200"/>
          </a:xfrm>
          <a:prstGeom prst="rect">
            <a:avLst/>
          </a:prstGeom>
          <a:noFill/>
          <a:ln/>
        </p:spPr>
        <p:txBody>
          <a:bodyPr wrap="square" lIns="0" tIns="0" rIns="0" bIns="0" rtlCol="0" anchor="ctr"/>
          <a:lstStyle/>
          <a:p>
            <a:pPr indent="0" marL="0">
              <a:buNone/>
            </a:pPr>
            <a:r>
              <a:rPr lang="en-US" sz="2100" b="1" dirty="0">
                <a:solidFill>
                  <a:srgbClr val="1F7F79"/>
                </a:solidFill>
                <a:latin typeface="Cambria" pitchFamily="34" charset="0"/>
                <a:ea typeface="Cambria" pitchFamily="34" charset="-122"/>
                <a:cs typeface="Cambria" pitchFamily="34" charset="-120"/>
              </a:rPr>
              <a:t>40,4 vs 32,3 %</a:t>
            </a:r>
            <a:endParaRPr lang="en-US" sz="2100" dirty="0"/>
          </a:p>
        </p:txBody>
      </p:sp>
      <p:sp>
        <p:nvSpPr>
          <p:cNvPr id="15" name="Text 12"/>
          <p:cNvSpPr txBox="1"/>
          <p:nvPr/>
        </p:nvSpPr>
        <p:spPr>
          <a:xfrm>
            <a:off x="5532120" y="4059936"/>
            <a:ext cx="3063240" cy="502920"/>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ACR70 con JAKi + MTX vs JAKi solo (MA 2022, 3 ECA, n = 2290; p = 0,01)</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SEGURIDAD Y REGULACIÓN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Inhibidores de JAK: FDA vs. EMA/EULAR</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3977640" cy="2651760"/>
          </a:xfrm>
          <a:prstGeom prst="roundRect">
            <a:avLst>
              <a:gd name="adj" fmla="val 2759"/>
            </a:avLst>
          </a:prstGeom>
          <a:solidFill>
            <a:srgbClr val="FBE3DE"/>
          </a:solidFill>
          <a:ln w="12700">
            <a:solidFill>
              <a:srgbClr val="FBE3DE"/>
            </a:solidFill>
            <a:prstDash val="solid"/>
          </a:ln>
        </p:spPr>
      </p:sp>
      <p:sp>
        <p:nvSpPr>
          <p:cNvPr id="6" name="Shape 4"/>
          <p:cNvSpPr/>
          <p:nvPr/>
        </p:nvSpPr>
        <p:spPr>
          <a:xfrm>
            <a:off x="640080" y="1463040"/>
            <a:ext cx="594360" cy="594360"/>
          </a:xfrm>
          <a:prstGeom prst="ellipse">
            <a:avLst/>
          </a:prstGeom>
          <a:solidFill>
            <a:srgbClr val="D9472F"/>
          </a:solidFill>
          <a:ln w="12700">
            <a:solidFill>
              <a:srgbClr val="D9472F"/>
            </a:solidFill>
            <a:prstDash val="solid"/>
          </a:ln>
        </p:spPr>
      </p:sp>
      <p:pic>
        <p:nvPicPr>
          <p:cNvPr id="7" name="Image 0" descr="preencoded.png">    </p:cNvPr>
          <p:cNvPicPr>
            <a:picLocks noChangeAspect="1"/>
          </p:cNvPicPr>
          <p:nvPr/>
        </p:nvPicPr>
        <p:blipFill>
          <a:blip r:embed="rId1"/>
          <a:stretch>
            <a:fillRect/>
          </a:stretch>
        </p:blipFill>
        <p:spPr>
          <a:xfrm>
            <a:off x="788670" y="1611630"/>
            <a:ext cx="297180" cy="297180"/>
          </a:xfrm>
          <a:prstGeom prst="rect">
            <a:avLst/>
          </a:prstGeom>
        </p:spPr>
      </p:pic>
      <p:sp>
        <p:nvSpPr>
          <p:cNvPr id="8" name="Text 5"/>
          <p:cNvSpPr txBox="1"/>
          <p:nvPr/>
        </p:nvSpPr>
        <p:spPr>
          <a:xfrm>
            <a:off x="1371600" y="1463040"/>
            <a:ext cx="2971800" cy="59436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FDA (EE. UU.) · septiembre 2021</a:t>
            </a:r>
            <a:endParaRPr lang="en-US" sz="1500" dirty="0"/>
          </a:p>
        </p:txBody>
      </p:sp>
      <p:sp>
        <p:nvSpPr>
          <p:cNvPr id="9" name="Text 6"/>
          <p:cNvSpPr txBox="1"/>
          <p:nvPr/>
        </p:nvSpPr>
        <p:spPr>
          <a:xfrm>
            <a:off x="640080" y="2240280"/>
            <a:ext cx="3611880" cy="1600200"/>
          </a:xfrm>
          <a:prstGeom prst="rect">
            <a:avLst/>
          </a:prstGeom>
          <a:noFill/>
          <a:ln/>
        </p:spPr>
        <p:txBody>
          <a:bodyPr wrap="square" lIns="0" tIns="0" rIns="0" bIns="0" rtlCol="0" anchor="t"/>
          <a:lstStyle/>
          <a:p>
            <a:pPr indent="0" marL="0">
              <a:buNone/>
            </a:pPr>
            <a:r>
              <a:rPr lang="en-US" sz="1300" dirty="0">
                <a:solidFill>
                  <a:srgbClr val="2B2330"/>
                </a:solidFill>
                <a:latin typeface="Calibri" pitchFamily="34" charset="0"/>
                <a:ea typeface="Calibri" pitchFamily="34" charset="-122"/>
                <a:cs typeface="Calibri" pitchFamily="34" charset="-120"/>
              </a:rPr>
              <a:t>Por mayor riesgo de eventos cardiovasculares, tromboembólicos y cáncer, reservar los inhibidores JAK para pacientes sin mejoría o con intolerancia a ≥ 1 anti-TNF.</a:t>
            </a:r>
            <a:endParaRPr lang="en-US" sz="1300" dirty="0"/>
          </a:p>
        </p:txBody>
      </p:sp>
      <p:sp>
        <p:nvSpPr>
          <p:cNvPr id="10" name="Shape 7"/>
          <p:cNvSpPr/>
          <p:nvPr/>
        </p:nvSpPr>
        <p:spPr>
          <a:xfrm>
            <a:off x="4709160" y="1280160"/>
            <a:ext cx="3977640" cy="2651760"/>
          </a:xfrm>
          <a:prstGeom prst="roundRect">
            <a:avLst>
              <a:gd name="adj" fmla="val 2759"/>
            </a:avLst>
          </a:prstGeom>
          <a:solidFill>
            <a:srgbClr val="E9F3F2"/>
          </a:solidFill>
          <a:ln w="12700">
            <a:solidFill>
              <a:srgbClr val="E9F3F2"/>
            </a:solidFill>
            <a:prstDash val="solid"/>
          </a:ln>
        </p:spPr>
      </p:sp>
      <p:sp>
        <p:nvSpPr>
          <p:cNvPr id="11" name="Shape 8"/>
          <p:cNvSpPr/>
          <p:nvPr/>
        </p:nvSpPr>
        <p:spPr>
          <a:xfrm>
            <a:off x="4892040" y="1463040"/>
            <a:ext cx="594360" cy="594360"/>
          </a:xfrm>
          <a:prstGeom prst="ellipse">
            <a:avLst/>
          </a:prstGeom>
          <a:solidFill>
            <a:srgbClr val="1F7F79"/>
          </a:solidFill>
          <a:ln w="12700">
            <a:solidFill>
              <a:srgbClr val="1F7F79"/>
            </a:solidFill>
            <a:prstDash val="solid"/>
          </a:ln>
        </p:spPr>
      </p:sp>
      <p:pic>
        <p:nvPicPr>
          <p:cNvPr id="12" name="Image 1" descr="preencoded.png">    </p:cNvPr>
          <p:cNvPicPr>
            <a:picLocks noChangeAspect="1"/>
          </p:cNvPicPr>
          <p:nvPr/>
        </p:nvPicPr>
        <p:blipFill>
          <a:blip r:embed="rId2"/>
          <a:stretch>
            <a:fillRect/>
          </a:stretch>
        </p:blipFill>
        <p:spPr>
          <a:xfrm>
            <a:off x="5040630" y="1611630"/>
            <a:ext cx="297180" cy="297180"/>
          </a:xfrm>
          <a:prstGeom prst="rect">
            <a:avLst/>
          </a:prstGeom>
        </p:spPr>
      </p:pic>
      <p:sp>
        <p:nvSpPr>
          <p:cNvPr id="13" name="Text 9"/>
          <p:cNvSpPr txBox="1"/>
          <p:nvPr/>
        </p:nvSpPr>
        <p:spPr>
          <a:xfrm>
            <a:off x="5623560" y="1463040"/>
            <a:ext cx="2971800" cy="594360"/>
          </a:xfrm>
          <a:prstGeom prst="rect">
            <a:avLst/>
          </a:prstGeom>
          <a:noFill/>
          <a:ln/>
        </p:spPr>
        <p:txBody>
          <a:bodyPr wrap="square" lIns="0" tIns="0" rIns="0" bIns="0" rtlCol="0" anchor="ctr"/>
          <a:lstStyle/>
          <a:p>
            <a:pPr indent="0" marL="0">
              <a:buNone/>
            </a:pPr>
            <a:r>
              <a:rPr lang="en-US" sz="1500" b="1" dirty="0">
                <a:solidFill>
                  <a:srgbClr val="2A1433"/>
                </a:solidFill>
                <a:latin typeface="Cambria" pitchFamily="34" charset="0"/>
                <a:ea typeface="Cambria" pitchFamily="34" charset="-122"/>
                <a:cs typeface="Cambria" pitchFamily="34" charset="-120"/>
              </a:rPr>
              <a:t>EMA (Europa) y EULAR</a:t>
            </a:r>
            <a:endParaRPr lang="en-US" sz="1500" dirty="0"/>
          </a:p>
        </p:txBody>
      </p:sp>
      <p:sp>
        <p:nvSpPr>
          <p:cNvPr id="14" name="Text 10"/>
          <p:cNvSpPr txBox="1"/>
          <p:nvPr/>
        </p:nvSpPr>
        <p:spPr>
          <a:xfrm>
            <a:off x="4892040" y="2240280"/>
            <a:ext cx="3611880" cy="1600200"/>
          </a:xfrm>
          <a:prstGeom prst="rect">
            <a:avLst/>
          </a:prstGeom>
          <a:noFill/>
          <a:ln/>
        </p:spPr>
        <p:txBody>
          <a:bodyPr wrap="square" lIns="0" tIns="0" rIns="0" bIns="0" rtlCol="0" anchor="t"/>
          <a:lstStyle/>
          <a:p>
            <a:pPr indent="0" marL="0">
              <a:buNone/>
            </a:pPr>
            <a:r>
              <a:rPr lang="en-US" sz="1300" dirty="0">
                <a:solidFill>
                  <a:srgbClr val="2B2330"/>
                </a:solidFill>
                <a:latin typeface="Calibri" pitchFamily="34" charset="0"/>
                <a:ea typeface="Calibri" pitchFamily="34" charset="-122"/>
                <a:cs typeface="Calibri" pitchFamily="34" charset="-120"/>
              </a:rPr>
              <a:t>No desaconsejan su uso tras respuesta insuficiente a metotrexato en pacientes con bajo riesgo cardiovascular, tromboembólico y de cáncer.</a:t>
            </a:r>
            <a:endParaRPr lang="en-US" sz="1300" dirty="0"/>
          </a:p>
        </p:txBody>
      </p:sp>
      <p:sp>
        <p:nvSpPr>
          <p:cNvPr id="15" name="Shape 11"/>
          <p:cNvSpPr/>
          <p:nvPr/>
        </p:nvSpPr>
        <p:spPr>
          <a:xfrm>
            <a:off x="457200" y="4114800"/>
            <a:ext cx="8229600" cy="566928"/>
          </a:xfrm>
          <a:prstGeom prst="roundRect">
            <a:avLst>
              <a:gd name="adj" fmla="val 12903"/>
            </a:avLst>
          </a:prstGeom>
          <a:solidFill>
            <a:srgbClr val="F7EEF1"/>
          </a:solidFill>
          <a:ln w="12700">
            <a:solidFill>
              <a:srgbClr val="F7EEF1"/>
            </a:solidFill>
            <a:prstDash val="solid"/>
          </a:ln>
        </p:spPr>
      </p:sp>
      <p:sp>
        <p:nvSpPr>
          <p:cNvPr id="16" name="Text 12"/>
          <p:cNvSpPr txBox="1"/>
          <p:nvPr/>
        </p:nvSpPr>
        <p:spPr>
          <a:xfrm>
            <a:off x="640080" y="4114800"/>
            <a:ext cx="7863840" cy="566928"/>
          </a:xfrm>
          <a:prstGeom prst="rect">
            <a:avLst/>
          </a:prstGeom>
          <a:noFill/>
          <a:ln/>
        </p:spPr>
        <p:txBody>
          <a:bodyPr wrap="square" lIns="0" tIns="0" rIns="0" bIns="0" rtlCol="0" anchor="ctr"/>
          <a:lstStyle/>
          <a:p>
            <a:pPr indent="0" marL="0">
              <a:buNone/>
            </a:pPr>
            <a:r>
              <a:rPr lang="en-US" sz="1250" b="1" dirty="0">
                <a:solidFill>
                  <a:srgbClr val="7A1F45"/>
                </a:solidFill>
                <a:latin typeface="Calibri" pitchFamily="34" charset="0"/>
                <a:ea typeface="Calibri" pitchFamily="34" charset="-122"/>
                <a:cs typeface="Calibri" pitchFamily="34" charset="-120"/>
              </a:rPr>
              <a:t>Práctica: considerar JAKi solo en pacientes sin riesgo alto de tromboembolia, enfermedad cardiovascular o cáncer.</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SEGURIDAD Y REGULACIÓN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Eventos adversos de biológicos e inhibidores de JAK</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188720"/>
            <a:ext cx="2011680" cy="566928"/>
          </a:xfrm>
          <a:prstGeom prst="rect">
            <a:avLst/>
          </a:prstGeom>
          <a:noFill/>
          <a:ln/>
        </p:spPr>
        <p:txBody>
          <a:bodyPr wrap="square" lIns="0" tIns="0" rIns="0" bIns="0" rtlCol="0" anchor="b"/>
          <a:lstStyle/>
          <a:p>
            <a:pPr indent="0" marL="0">
              <a:buNone/>
            </a:pPr>
            <a:r>
              <a:rPr lang="en-US" sz="2400" b="1" dirty="0">
                <a:solidFill>
                  <a:srgbClr val="D9472F"/>
                </a:solidFill>
                <a:latin typeface="Cambria" pitchFamily="34" charset="0"/>
                <a:ea typeface="Cambria" pitchFamily="34" charset="-122"/>
                <a:cs typeface="Cambria" pitchFamily="34" charset="-120"/>
              </a:rPr>
              <a:t>5,9 % vs 1,5 %</a:t>
            </a:r>
            <a:endParaRPr lang="en-US" sz="2400" dirty="0"/>
          </a:p>
        </p:txBody>
      </p:sp>
      <p:sp>
        <p:nvSpPr>
          <p:cNvPr id="6" name="Text 4"/>
          <p:cNvSpPr txBox="1"/>
          <p:nvPr/>
        </p:nvSpPr>
        <p:spPr>
          <a:xfrm>
            <a:off x="457200" y="1792224"/>
            <a:ext cx="20116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infección grave a 12 meses: biológico vs población general (Dinamarca)</a:t>
            </a:r>
            <a:endParaRPr lang="en-US" sz="1150" dirty="0"/>
          </a:p>
        </p:txBody>
      </p:sp>
      <p:sp>
        <p:nvSpPr>
          <p:cNvPr id="7" name="Text 5"/>
          <p:cNvSpPr txBox="1"/>
          <p:nvPr/>
        </p:nvSpPr>
        <p:spPr>
          <a:xfrm>
            <a:off x="457200" y="2377440"/>
            <a:ext cx="2011680" cy="566928"/>
          </a:xfrm>
          <a:prstGeom prst="rect">
            <a:avLst/>
          </a:prstGeom>
          <a:noFill/>
          <a:ln/>
        </p:spPr>
        <p:txBody>
          <a:bodyPr wrap="square" lIns="0" tIns="0" rIns="0" bIns="0" rtlCol="0" anchor="b"/>
          <a:lstStyle/>
          <a:p>
            <a:pPr indent="0" marL="0">
              <a:buNone/>
            </a:pPr>
            <a:r>
              <a:rPr lang="en-US" sz="2400" b="1" dirty="0">
                <a:solidFill>
                  <a:srgbClr val="D9472F"/>
                </a:solidFill>
                <a:latin typeface="Cambria" pitchFamily="34" charset="0"/>
                <a:ea typeface="Cambria" pitchFamily="34" charset="-122"/>
                <a:cs typeface="Cambria" pitchFamily="34" charset="-120"/>
              </a:rPr>
              <a:t>RR 1,48</a:t>
            </a:r>
            <a:endParaRPr lang="en-US" sz="2400" dirty="0"/>
          </a:p>
        </p:txBody>
      </p:sp>
      <p:sp>
        <p:nvSpPr>
          <p:cNvPr id="8" name="Text 6"/>
          <p:cNvSpPr txBox="1"/>
          <p:nvPr/>
        </p:nvSpPr>
        <p:spPr>
          <a:xfrm>
            <a:off x="457200" y="2980944"/>
            <a:ext cx="20116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infección grave con anti-TNF vs FAME convencional (7 registros)</a:t>
            </a:r>
            <a:endParaRPr lang="en-US" sz="1150" dirty="0"/>
          </a:p>
        </p:txBody>
      </p:sp>
      <p:sp>
        <p:nvSpPr>
          <p:cNvPr id="9" name="Text 7"/>
          <p:cNvSpPr txBox="1"/>
          <p:nvPr/>
        </p:nvSpPr>
        <p:spPr>
          <a:xfrm>
            <a:off x="457200" y="3566160"/>
            <a:ext cx="2011680" cy="566928"/>
          </a:xfrm>
          <a:prstGeom prst="rect">
            <a:avLst/>
          </a:prstGeom>
          <a:noFill/>
          <a:ln/>
        </p:spPr>
        <p:txBody>
          <a:bodyPr wrap="square" lIns="0" tIns="0" rIns="0" bIns="0" rtlCol="0" anchor="b"/>
          <a:lstStyle/>
          <a:p>
            <a:pPr indent="0" marL="0">
              <a:buNone/>
            </a:pPr>
            <a:r>
              <a:rPr lang="en-US" sz="2400" b="1" dirty="0">
                <a:solidFill>
                  <a:srgbClr val="7A1F45"/>
                </a:solidFill>
                <a:latin typeface="Cambria" pitchFamily="34" charset="0"/>
                <a:ea typeface="Cambria" pitchFamily="34" charset="-122"/>
                <a:cs typeface="Cambria" pitchFamily="34" charset="-120"/>
              </a:rPr>
              <a:t>≤ 7,5 %</a:t>
            </a:r>
            <a:endParaRPr lang="en-US" sz="2400" dirty="0"/>
          </a:p>
        </p:txBody>
      </p:sp>
      <p:sp>
        <p:nvSpPr>
          <p:cNvPr id="10" name="Text 8"/>
          <p:cNvSpPr txBox="1"/>
          <p:nvPr/>
        </p:nvSpPr>
        <p:spPr>
          <a:xfrm>
            <a:off x="457200" y="4169664"/>
            <a:ext cx="20116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herpes zóster al año con JAKi (quizá menos con filgotinib)</a:t>
            </a:r>
            <a:endParaRPr lang="en-US" sz="1150" dirty="0"/>
          </a:p>
        </p:txBody>
      </p:sp>
      <p:sp>
        <p:nvSpPr>
          <p:cNvPr id="11" name="Shape 9"/>
          <p:cNvSpPr/>
          <p:nvPr/>
        </p:nvSpPr>
        <p:spPr>
          <a:xfrm>
            <a:off x="2743200" y="1234440"/>
            <a:ext cx="5943600" cy="1024128"/>
          </a:xfrm>
          <a:prstGeom prst="roundRect">
            <a:avLst>
              <a:gd name="adj" fmla="val 7143"/>
            </a:avLst>
          </a:prstGeom>
          <a:solidFill>
            <a:srgbClr val="F7EEF1"/>
          </a:solidFill>
          <a:ln w="12700">
            <a:solidFill>
              <a:srgbClr val="F7EEF1"/>
            </a:solidFill>
            <a:prstDash val="solid"/>
          </a:ln>
        </p:spPr>
      </p:sp>
      <p:sp>
        <p:nvSpPr>
          <p:cNvPr id="12" name="Shape 10"/>
          <p:cNvSpPr/>
          <p:nvPr/>
        </p:nvSpPr>
        <p:spPr>
          <a:xfrm>
            <a:off x="2880360" y="1463040"/>
            <a:ext cx="548640" cy="548640"/>
          </a:xfrm>
          <a:prstGeom prst="ellipse">
            <a:avLst/>
          </a:prstGeom>
          <a:solidFill>
            <a:srgbClr val="7A1F45"/>
          </a:solidFill>
          <a:ln w="12700">
            <a:solidFill>
              <a:srgbClr val="7A1F45"/>
            </a:solidFill>
            <a:prstDash val="solid"/>
          </a:ln>
        </p:spPr>
      </p:sp>
      <p:pic>
        <p:nvPicPr>
          <p:cNvPr id="13" name="Image 0" descr="preencoded.png">    </p:cNvPr>
          <p:cNvPicPr>
            <a:picLocks noChangeAspect="1"/>
          </p:cNvPicPr>
          <p:nvPr/>
        </p:nvPicPr>
        <p:blipFill>
          <a:blip r:embed="rId1"/>
          <a:stretch>
            <a:fillRect/>
          </a:stretch>
        </p:blipFill>
        <p:spPr>
          <a:xfrm>
            <a:off x="3017520" y="1600200"/>
            <a:ext cx="274320" cy="274320"/>
          </a:xfrm>
          <a:prstGeom prst="rect">
            <a:avLst/>
          </a:prstGeom>
        </p:spPr>
      </p:pic>
      <p:sp>
        <p:nvSpPr>
          <p:cNvPr id="14" name="Text 11"/>
          <p:cNvSpPr txBox="1"/>
          <p:nvPr/>
        </p:nvSpPr>
        <p:spPr>
          <a:xfrm>
            <a:off x="3611880" y="1307592"/>
            <a:ext cx="493776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Tuberculosis</a:t>
            </a:r>
            <a:endParaRPr lang="en-US" sz="1300" dirty="0"/>
          </a:p>
        </p:txBody>
      </p:sp>
      <p:sp>
        <p:nvSpPr>
          <p:cNvPr id="15" name="Text 12"/>
          <p:cNvSpPr txBox="1"/>
          <p:nvPr/>
        </p:nvSpPr>
        <p:spPr>
          <a:xfrm>
            <a:off x="3611880" y="1600200"/>
            <a:ext cx="4983480" cy="621792"/>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Tamizaje de TB latente obligatorio antes de iniciar; si es positivo, profilaxis con isoniazida.</a:t>
            </a:r>
            <a:endParaRPr lang="en-US" sz="1100" dirty="0"/>
          </a:p>
        </p:txBody>
      </p:sp>
      <p:sp>
        <p:nvSpPr>
          <p:cNvPr id="16" name="Shape 13"/>
          <p:cNvSpPr/>
          <p:nvPr/>
        </p:nvSpPr>
        <p:spPr>
          <a:xfrm>
            <a:off x="2743200" y="2395728"/>
            <a:ext cx="5943600" cy="1024128"/>
          </a:xfrm>
          <a:prstGeom prst="roundRect">
            <a:avLst>
              <a:gd name="adj" fmla="val 7143"/>
            </a:avLst>
          </a:prstGeom>
          <a:solidFill>
            <a:srgbClr val="F7EEF1"/>
          </a:solidFill>
          <a:ln w="12700">
            <a:solidFill>
              <a:srgbClr val="F7EEF1"/>
            </a:solidFill>
            <a:prstDash val="solid"/>
          </a:ln>
        </p:spPr>
      </p:sp>
      <p:sp>
        <p:nvSpPr>
          <p:cNvPr id="17" name="Shape 14"/>
          <p:cNvSpPr/>
          <p:nvPr/>
        </p:nvSpPr>
        <p:spPr>
          <a:xfrm>
            <a:off x="2880360" y="2624328"/>
            <a:ext cx="548640" cy="548640"/>
          </a:xfrm>
          <a:prstGeom prst="ellipse">
            <a:avLst/>
          </a:prstGeom>
          <a:solidFill>
            <a:srgbClr val="7A1F45"/>
          </a:solidFill>
          <a:ln w="12700">
            <a:solidFill>
              <a:srgbClr val="7A1F45"/>
            </a:solidFill>
            <a:prstDash val="solid"/>
          </a:ln>
        </p:spPr>
      </p:sp>
      <p:pic>
        <p:nvPicPr>
          <p:cNvPr id="18" name="Image 1" descr="preencoded.png">    </p:cNvPr>
          <p:cNvPicPr>
            <a:picLocks noChangeAspect="1"/>
          </p:cNvPicPr>
          <p:nvPr/>
        </p:nvPicPr>
        <p:blipFill>
          <a:blip r:embed="rId2"/>
          <a:stretch>
            <a:fillRect/>
          </a:stretch>
        </p:blipFill>
        <p:spPr>
          <a:xfrm>
            <a:off x="3017520" y="2761488"/>
            <a:ext cx="274320" cy="274320"/>
          </a:xfrm>
          <a:prstGeom prst="rect">
            <a:avLst/>
          </a:prstGeom>
        </p:spPr>
      </p:pic>
      <p:sp>
        <p:nvSpPr>
          <p:cNvPr id="19" name="Text 15"/>
          <p:cNvSpPr txBox="1"/>
          <p:nvPr/>
        </p:nvSpPr>
        <p:spPr>
          <a:xfrm>
            <a:off x="3611880" y="2468880"/>
            <a:ext cx="493776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Vacunación (ACR 2022)</a:t>
            </a:r>
            <a:endParaRPr lang="en-US" sz="1300" dirty="0"/>
          </a:p>
        </p:txBody>
      </p:sp>
      <p:sp>
        <p:nvSpPr>
          <p:cNvPr id="20" name="Text 16"/>
          <p:cNvSpPr txBox="1"/>
          <p:nvPr/>
        </p:nvSpPr>
        <p:spPr>
          <a:xfrm>
            <a:off x="3611880" y="2761488"/>
            <a:ext cx="4983480" cy="621792"/>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Neumococo, herpes zóster, influenza, COVID-19 y las de la edad; VPH (26–45 años); hepatitis B si no vacunado y &lt; 60 años. Actualizar antes de iniciar.</a:t>
            </a:r>
            <a:endParaRPr lang="en-US" sz="1100" dirty="0"/>
          </a:p>
        </p:txBody>
      </p:sp>
      <p:sp>
        <p:nvSpPr>
          <p:cNvPr id="21" name="Shape 17"/>
          <p:cNvSpPr/>
          <p:nvPr/>
        </p:nvSpPr>
        <p:spPr>
          <a:xfrm>
            <a:off x="2743200" y="3557016"/>
            <a:ext cx="5943600" cy="1024128"/>
          </a:xfrm>
          <a:prstGeom prst="roundRect">
            <a:avLst>
              <a:gd name="adj" fmla="val 7143"/>
            </a:avLst>
          </a:prstGeom>
          <a:solidFill>
            <a:srgbClr val="F7EEF1"/>
          </a:solidFill>
          <a:ln w="12700">
            <a:solidFill>
              <a:srgbClr val="F7EEF1"/>
            </a:solidFill>
            <a:prstDash val="solid"/>
          </a:ln>
        </p:spPr>
      </p:sp>
      <p:sp>
        <p:nvSpPr>
          <p:cNvPr id="22" name="Shape 18"/>
          <p:cNvSpPr/>
          <p:nvPr/>
        </p:nvSpPr>
        <p:spPr>
          <a:xfrm>
            <a:off x="2880360" y="3785616"/>
            <a:ext cx="548640" cy="548640"/>
          </a:xfrm>
          <a:prstGeom prst="ellipse">
            <a:avLst/>
          </a:prstGeom>
          <a:solidFill>
            <a:srgbClr val="7A1F45"/>
          </a:solidFill>
          <a:ln w="12700">
            <a:solidFill>
              <a:srgbClr val="7A1F45"/>
            </a:solidFill>
            <a:prstDash val="solid"/>
          </a:ln>
        </p:spPr>
      </p:sp>
      <p:pic>
        <p:nvPicPr>
          <p:cNvPr id="23" name="Image 2" descr="preencoded.png">    </p:cNvPr>
          <p:cNvPicPr>
            <a:picLocks noChangeAspect="1"/>
          </p:cNvPicPr>
          <p:nvPr/>
        </p:nvPicPr>
        <p:blipFill>
          <a:blip r:embed="rId3"/>
          <a:stretch>
            <a:fillRect/>
          </a:stretch>
        </p:blipFill>
        <p:spPr>
          <a:xfrm>
            <a:off x="3017520" y="3922776"/>
            <a:ext cx="274320" cy="274320"/>
          </a:xfrm>
          <a:prstGeom prst="rect">
            <a:avLst/>
          </a:prstGeom>
        </p:spPr>
      </p:pic>
      <p:sp>
        <p:nvSpPr>
          <p:cNvPr id="24" name="Text 19"/>
          <p:cNvSpPr txBox="1"/>
          <p:nvPr/>
        </p:nvSpPr>
        <p:spPr>
          <a:xfrm>
            <a:off x="3611880" y="3630168"/>
            <a:ext cx="4937760" cy="274320"/>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Diverticulitis y perforación</a:t>
            </a:r>
            <a:endParaRPr lang="en-US" sz="1300" dirty="0"/>
          </a:p>
        </p:txBody>
      </p:sp>
      <p:sp>
        <p:nvSpPr>
          <p:cNvPr id="25" name="Text 20"/>
          <p:cNvSpPr txBox="1"/>
          <p:nvPr/>
        </p:nvSpPr>
        <p:spPr>
          <a:xfrm>
            <a:off x="3611880" y="3922776"/>
            <a:ext cx="4983480" cy="621792"/>
          </a:xfrm>
          <a:prstGeom prst="rect">
            <a:avLst/>
          </a:prstGeom>
          <a:noFill/>
          <a:ln/>
        </p:spPr>
        <p:txBody>
          <a:bodyPr wrap="square" lIns="0" tIns="0" rIns="0" bIns="0" rtlCol="0" anchor="t"/>
          <a:lstStyle/>
          <a:p>
            <a:pPr indent="0" marL="0">
              <a:buNone/>
            </a:pPr>
            <a:r>
              <a:rPr lang="en-US" sz="1100" dirty="0">
                <a:solidFill>
                  <a:srgbClr val="2B2330"/>
                </a:solidFill>
                <a:latin typeface="Calibri" pitchFamily="34" charset="0"/>
                <a:ea typeface="Calibri" pitchFamily="34" charset="-122"/>
                <a:cs typeface="Calibri" pitchFamily="34" charset="-120"/>
              </a:rPr>
              <a:t>Mayor riesgo con fármacos de la vía IL-6 (tocilizumab, sarilumab) y JAKi, sobre todo con antecedentes de diverticulitis.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SEGURIDAD Y REGULACIÓN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JAKi: riesgo cardiovascular, trombótico y de cáncer</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5" name="Chart 0" descr=""/>
          <p:cNvGraphicFramePr/>
          <p:nvPr/>
        </p:nvGraphicFramePr>
        <p:xfrm>
          <a:off x="365760" y="1188720"/>
          <a:ext cx="4206240" cy="2514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3794760"/>
            <a:ext cx="4114800" cy="868680"/>
          </a:xfrm>
          <a:prstGeom prst="rect">
            <a:avLst/>
          </a:prstGeom>
          <a:noFill/>
          <a:ln/>
        </p:spPr>
        <p:txBody>
          <a:bodyPr wrap="square" lIns="0" tIns="0" rIns="0" bIns="0" rtlCol="0" anchor="t"/>
          <a:lstStyle/>
          <a:p>
            <a:pPr indent="0" marL="0">
              <a:buNone/>
            </a:pPr>
            <a:r>
              <a:rPr lang="en-US" sz="1100" i="1" dirty="0">
                <a:solidFill>
                  <a:srgbClr val="6E6573"/>
                </a:solidFill>
                <a:latin typeface="Calibri" pitchFamily="34" charset="0"/>
                <a:ea typeface="Calibri" pitchFamily="34" charset="-122"/>
                <a:cs typeface="Calibri" pitchFamily="34" charset="-120"/>
              </a:rPr>
              <a:t>n = 4362 · MACE HR 1,33 (IC 95 % 0,91–1,94) · cáncer HR 1,48 (1,04–2,09): ambos fuera del margen de no inferioridad de 1,8.</a:t>
            </a:r>
            <a:endParaRPr lang="en-US" sz="1100" dirty="0"/>
          </a:p>
        </p:txBody>
      </p:sp>
      <p:sp>
        <p:nvSpPr>
          <p:cNvPr id="7" name="Text 4"/>
          <p:cNvSpPr txBox="1"/>
          <p:nvPr/>
        </p:nvSpPr>
        <p:spPr>
          <a:xfrm>
            <a:off x="4846320" y="1188720"/>
            <a:ext cx="3840480" cy="320040"/>
          </a:xfrm>
          <a:prstGeom prst="rect">
            <a:avLst/>
          </a:prstGeom>
          <a:noFill/>
          <a:ln/>
        </p:spPr>
        <p:txBody>
          <a:bodyPr wrap="square" lIns="0" tIns="0" rIns="0" bIns="0" rtlCol="0" anchor="t"/>
          <a:lstStyle/>
          <a:p>
            <a:pPr indent="0" marL="0">
              <a:buNone/>
            </a:pPr>
            <a:r>
              <a:rPr lang="en-US" sz="1250" b="1" dirty="0">
                <a:solidFill>
                  <a:srgbClr val="2A1433"/>
                </a:solidFill>
                <a:latin typeface="Calibri" pitchFamily="34" charset="0"/>
                <a:ea typeface="Calibri" pitchFamily="34" charset="-122"/>
                <a:cs typeface="Calibri" pitchFamily="34" charset="-120"/>
              </a:rPr>
              <a:t>Baricitinib vs anti-TNF (riesgo aumentado de TEV)</a:t>
            </a:r>
            <a:endParaRPr lang="en-US" sz="12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846320" y="1554480"/>
          <a:ext cx="3840480" cy="914400"/>
        </p:xfrm>
        <a:graphic>
          <a:graphicData uri="http://schemas.openxmlformats.org/drawingml/2006/table">
            <a:tbl>
              <a:tblPr/>
              <a:tblGrid>
                <a:gridCol w="1325880"/>
                <a:gridCol w="777240"/>
                <a:gridCol w="685800"/>
                <a:gridCol w="105156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Desenlace</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Baricitinib</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Anti-TNF</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HR (IC 95 %)</a:t>
                      </a:r>
                      <a:endParaRPr lang="en-US" sz="110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solidFill>
                      <a:srgbClr val="7A1F45"/>
                    </a:solidFill>
                  </a:tcPr>
                </a:tc>
              </a:tr>
              <a:tr h="36576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MACE</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1,8 %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1,9 %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1,06 (0,64–1,76)</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36576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TEV (por 100 p-a)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0,79</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0,51</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1,61 (0,97–2,66)</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r h="502920">
                <a:tc>
                  <a:txBody>
                    <a:bodyPr/>
                    <a:lstStyle/>
                    <a:p>
                      <a:pPr indent="0" marL="0">
                        <a:buNone/>
                      </a:pPr>
                      <a:r>
                        <a:rPr lang="en-US" sz="1050" b="1" dirty="0">
                          <a:solidFill>
                            <a:srgbClr val="2B2330"/>
                          </a:solidFill>
                          <a:latin typeface="Calibri" pitchFamily="34" charset="0"/>
                          <a:ea typeface="Calibri" pitchFamily="34" charset="-122"/>
                          <a:cs typeface="Calibri" pitchFamily="34" charset="-120"/>
                        </a:rPr>
                        <a:t>Cáncer (excl. piel no melanoma)</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3,6 %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2,8 %</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c>
                  <a:txBody>
                    <a:bodyPr/>
                    <a:lstStyle/>
                    <a:p>
                      <a:pPr algn="ctr" indent="0" marL="0">
                        <a:buNone/>
                      </a:pPr>
                      <a:r>
                        <a:rPr lang="en-US" sz="1050" dirty="0">
                          <a:solidFill>
                            <a:srgbClr val="2B2330"/>
                          </a:solidFill>
                          <a:latin typeface="Calibri" pitchFamily="34" charset="0"/>
                          <a:ea typeface="Calibri" pitchFamily="34" charset="-122"/>
                          <a:cs typeface="Calibri" pitchFamily="34" charset="-120"/>
                        </a:rPr>
                        <a:t>1,27 (0,85–1,89)</a:t>
                      </a:r>
                      <a:endParaRPr lang="en-US" sz="1050" dirty="0">
                        <a:latin typeface="Calibri" charset="0"/>
                        <a:ea typeface="Calibri" charset="0"/>
                        <a:cs typeface="Calibri" charset="0"/>
                      </a:endParaRPr>
                    </a:p>
                  </a:txBody>
                  <a:tcPr marL="91440" marR="91440" marT="45720" marB="45720" anchor="ctr">
                    <a:lnL w="6350" cap="flat" cmpd="sng" algn="ctr">
                      <a:solidFill>
                        <a:srgbClr val="D9CCD2"/>
                      </a:solidFill>
                      <a:prstDash val="solid"/>
                      <a:round/>
                      <a:headEnd type="none" w="med" len="med"/>
                      <a:tailEnd type="none" w="med" len="med"/>
                    </a:lnL>
                    <a:lnR w="6350" cap="flat" cmpd="sng" algn="ctr">
                      <a:solidFill>
                        <a:srgbClr val="D9CCD2"/>
                      </a:solidFill>
                      <a:prstDash val="solid"/>
                      <a:round/>
                      <a:headEnd type="none" w="med" len="med"/>
                      <a:tailEnd type="none" w="med" len="med"/>
                    </a:lnR>
                    <a:lnT w="6350" cap="flat" cmpd="sng" algn="ctr">
                      <a:solidFill>
                        <a:srgbClr val="D9CCD2"/>
                      </a:solidFill>
                      <a:prstDash val="solid"/>
                      <a:round/>
                      <a:headEnd type="none" w="med" len="med"/>
                      <a:tailEnd type="none" w="med" len="med"/>
                    </a:lnT>
                    <a:lnB w="6350" cap="flat" cmpd="sng" algn="ctr">
                      <a:solidFill>
                        <a:srgbClr val="D9CCD2"/>
                      </a:solidFill>
                      <a:prstDash val="solid"/>
                      <a:round/>
                      <a:headEnd type="none" w="med" len="med"/>
                      <a:tailEnd type="none" w="med" len="med"/>
                    </a:lnB>
                  </a:tcPr>
                </a:tc>
              </a:tr>
            </a:tbl>
          </a:graphicData>
        </a:graphic>
      </p:graphicFrame>
      <p:sp>
        <p:nvSpPr>
          <p:cNvPr id="9" name="Shape 5"/>
          <p:cNvSpPr/>
          <p:nvPr/>
        </p:nvSpPr>
        <p:spPr>
          <a:xfrm>
            <a:off x="4846320" y="3337560"/>
            <a:ext cx="3840480" cy="1325880"/>
          </a:xfrm>
          <a:prstGeom prst="roundRect">
            <a:avLst>
              <a:gd name="adj" fmla="val 5517"/>
            </a:avLst>
          </a:prstGeom>
          <a:solidFill>
            <a:srgbClr val="F7EEF1"/>
          </a:solidFill>
          <a:ln w="12700">
            <a:solidFill>
              <a:srgbClr val="F7EEF1"/>
            </a:solidFill>
            <a:prstDash val="solid"/>
          </a:ln>
        </p:spPr>
      </p:sp>
      <p:sp>
        <p:nvSpPr>
          <p:cNvPr id="10" name="Text 6"/>
          <p:cNvSpPr txBox="1"/>
          <p:nvPr/>
        </p:nvSpPr>
        <p:spPr>
          <a:xfrm>
            <a:off x="4983480" y="3383280"/>
            <a:ext cx="3566160" cy="1234440"/>
          </a:xfrm>
          <a:prstGeom prst="rect">
            <a:avLst/>
          </a:prstGeom>
          <a:noFill/>
          <a:ln/>
        </p:spPr>
        <p:txBody>
          <a:bodyPr wrap="square" lIns="0" tIns="0" rIns="0" bIns="0" rtlCol="0" anchor="ctr"/>
          <a:lstStyle/>
          <a:p>
            <a:pPr indent="0" marL="0">
              <a:buNone/>
            </a:pPr>
            <a:r>
              <a:rPr lang="en-US" sz="1150" dirty="0">
                <a:solidFill>
                  <a:srgbClr val="2B2330"/>
                </a:solidFill>
                <a:latin typeface="Calibri" pitchFamily="34" charset="0"/>
                <a:ea typeface="Calibri" pitchFamily="34" charset="-122"/>
                <a:cs typeface="Calibri" pitchFamily="34" charset="-120"/>
              </a:rPr>
              <a:t>n = 2433 con baricitinib vs 1207 con anti-TNF: MACE no inferior; TEV sin demostrar no inferioridad (p = 0,07); cáncer sin diferencia significativa (p = 0,24).</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TRATAMIENTO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Algoritmo terapéutico resumido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1920240" cy="960120"/>
          </a:xfrm>
          <a:prstGeom prst="roundRect">
            <a:avLst>
              <a:gd name="adj" fmla="val 7619"/>
            </a:avLst>
          </a:prstGeom>
          <a:solidFill>
            <a:srgbClr val="2A1433"/>
          </a:solidFill>
          <a:ln w="12700">
            <a:solidFill>
              <a:srgbClr val="2A1433"/>
            </a:solidFill>
            <a:prstDash val="solid"/>
          </a:ln>
        </p:spPr>
      </p:sp>
      <p:sp>
        <p:nvSpPr>
          <p:cNvPr id="6" name="Text 4"/>
          <p:cNvSpPr txBox="1"/>
          <p:nvPr/>
        </p:nvSpPr>
        <p:spPr>
          <a:xfrm>
            <a:off x="530352" y="1280160"/>
            <a:ext cx="1773936" cy="9601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Diagnóstico de AR</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(idealmente ≤ 6 semanas de síntomas)</a:t>
            </a:r>
            <a:endParaRPr lang="en-US" sz="1150" dirty="0"/>
          </a:p>
        </p:txBody>
      </p:sp>
      <p:sp>
        <p:nvSpPr>
          <p:cNvPr id="7" name="Shape 5"/>
          <p:cNvSpPr/>
          <p:nvPr/>
        </p:nvSpPr>
        <p:spPr>
          <a:xfrm>
            <a:off x="2395728" y="1755648"/>
            <a:ext cx="301752" cy="914"/>
          </a:xfrm>
          <a:prstGeom prst="line">
            <a:avLst/>
          </a:prstGeom>
          <a:noFill/>
          <a:ln w="25400">
            <a:solidFill>
              <a:srgbClr val="6E6573"/>
            </a:solidFill>
            <a:prstDash val="solid"/>
            <a:tailEnd type="triangle"/>
          </a:ln>
        </p:spPr>
      </p:sp>
      <p:sp>
        <p:nvSpPr>
          <p:cNvPr id="8" name="Shape 6"/>
          <p:cNvSpPr/>
          <p:nvPr/>
        </p:nvSpPr>
        <p:spPr>
          <a:xfrm>
            <a:off x="2715768" y="1280160"/>
            <a:ext cx="2331720" cy="960120"/>
          </a:xfrm>
          <a:prstGeom prst="roundRect">
            <a:avLst>
              <a:gd name="adj" fmla="val 7619"/>
            </a:avLst>
          </a:prstGeom>
          <a:solidFill>
            <a:srgbClr val="7A1F45"/>
          </a:solidFill>
          <a:ln w="12700">
            <a:solidFill>
              <a:srgbClr val="7A1F45"/>
            </a:solidFill>
            <a:prstDash val="solid"/>
          </a:ln>
        </p:spPr>
      </p:sp>
      <p:sp>
        <p:nvSpPr>
          <p:cNvPr id="9" name="Text 7"/>
          <p:cNvSpPr txBox="1"/>
          <p:nvPr/>
        </p:nvSpPr>
        <p:spPr>
          <a:xfrm>
            <a:off x="2788920" y="1280160"/>
            <a:ext cx="2185416" cy="9601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Metotrexato + glucocorticoide a corto plazo</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(SSZ o LEF si hay contraindicación)</a:t>
            </a:r>
            <a:endParaRPr lang="en-US" sz="1150" dirty="0"/>
          </a:p>
        </p:txBody>
      </p:sp>
      <p:sp>
        <p:nvSpPr>
          <p:cNvPr id="10" name="Shape 8"/>
          <p:cNvSpPr/>
          <p:nvPr/>
        </p:nvSpPr>
        <p:spPr>
          <a:xfrm>
            <a:off x="5065776" y="1755648"/>
            <a:ext cx="301752" cy="914"/>
          </a:xfrm>
          <a:prstGeom prst="line">
            <a:avLst/>
          </a:prstGeom>
          <a:noFill/>
          <a:ln w="25400">
            <a:solidFill>
              <a:srgbClr val="6E6573"/>
            </a:solidFill>
            <a:prstDash val="solid"/>
            <a:tailEnd type="triangle"/>
          </a:ln>
        </p:spPr>
      </p:sp>
      <p:sp>
        <p:nvSpPr>
          <p:cNvPr id="11" name="Shape 9"/>
          <p:cNvSpPr/>
          <p:nvPr/>
        </p:nvSpPr>
        <p:spPr>
          <a:xfrm>
            <a:off x="5385816" y="1280160"/>
            <a:ext cx="1600200" cy="960120"/>
          </a:xfrm>
          <a:prstGeom prst="roundRect">
            <a:avLst>
              <a:gd name="adj" fmla="val 7619"/>
            </a:avLst>
          </a:prstGeom>
          <a:solidFill>
            <a:srgbClr val="F3F1F4"/>
          </a:solidFill>
          <a:ln w="12700">
            <a:solidFill>
              <a:srgbClr val="F3F1F4"/>
            </a:solidFill>
            <a:prstDash val="solid"/>
          </a:ln>
        </p:spPr>
      </p:sp>
      <p:sp>
        <p:nvSpPr>
          <p:cNvPr id="12" name="Text 10"/>
          <p:cNvSpPr txBox="1"/>
          <p:nvPr/>
        </p:nvSpPr>
        <p:spPr>
          <a:xfrm>
            <a:off x="5458968" y="1280160"/>
            <a:ext cx="1453896" cy="960120"/>
          </a:xfrm>
          <a:prstGeom prst="rect">
            <a:avLst/>
          </a:prstGeom>
          <a:noFill/>
          <a:ln/>
        </p:spPr>
        <p:txBody>
          <a:bodyPr wrap="square" lIns="0" tIns="0" rIns="0" bIns="0" rtlCol="0" anchor="ctr"/>
          <a:lstStyle/>
          <a:p>
            <a:pPr algn="ctr" indent="0" marL="0">
              <a:buNone/>
            </a:pPr>
            <a:r>
              <a:rPr lang="en-US" sz="1150" b="1" dirty="0">
                <a:solidFill>
                  <a:srgbClr val="2A1433"/>
                </a:solidFill>
                <a:latin typeface="Calibri" pitchFamily="34" charset="0"/>
                <a:ea typeface="Calibri" pitchFamily="34" charset="-122"/>
                <a:cs typeface="Calibri" pitchFamily="34" charset="-120"/>
              </a:rPr>
              <a:t>¿↓ ≥ 50 % a 3 meses y remisión a 6 meses?</a:t>
            </a:r>
            <a:endParaRPr lang="en-US" sz="1150" dirty="0"/>
          </a:p>
        </p:txBody>
      </p:sp>
      <p:sp>
        <p:nvSpPr>
          <p:cNvPr id="13" name="Shape 11"/>
          <p:cNvSpPr/>
          <p:nvPr/>
        </p:nvSpPr>
        <p:spPr>
          <a:xfrm>
            <a:off x="7004304" y="1755648"/>
            <a:ext cx="301752" cy="914"/>
          </a:xfrm>
          <a:prstGeom prst="line">
            <a:avLst/>
          </a:prstGeom>
          <a:noFill/>
          <a:ln w="25400">
            <a:solidFill>
              <a:srgbClr val="1F7F79"/>
            </a:solidFill>
            <a:prstDash val="solid"/>
            <a:tailEnd type="triangle"/>
          </a:ln>
        </p:spPr>
      </p:sp>
      <p:sp>
        <p:nvSpPr>
          <p:cNvPr id="14" name="Text 12"/>
          <p:cNvSpPr txBox="1"/>
          <p:nvPr/>
        </p:nvSpPr>
        <p:spPr>
          <a:xfrm>
            <a:off x="6949440" y="1417320"/>
            <a:ext cx="411480" cy="274320"/>
          </a:xfrm>
          <a:prstGeom prst="rect">
            <a:avLst/>
          </a:prstGeom>
          <a:noFill/>
          <a:ln/>
        </p:spPr>
        <p:txBody>
          <a:bodyPr wrap="square" lIns="0" tIns="0" rIns="0" bIns="0" rtlCol="0" anchor="t"/>
          <a:lstStyle/>
          <a:p>
            <a:pPr algn="ctr" indent="0" marL="0">
              <a:buNone/>
            </a:pPr>
            <a:r>
              <a:rPr lang="en-US" sz="1100" b="1" dirty="0">
                <a:solidFill>
                  <a:srgbClr val="1F7F79"/>
                </a:solidFill>
                <a:latin typeface="Calibri" pitchFamily="34" charset="0"/>
                <a:ea typeface="Calibri" pitchFamily="34" charset="-122"/>
                <a:cs typeface="Calibri" pitchFamily="34" charset="-120"/>
              </a:rPr>
              <a:t>Sí</a:t>
            </a:r>
            <a:endParaRPr lang="en-US" sz="1100" dirty="0"/>
          </a:p>
        </p:txBody>
      </p:sp>
      <p:sp>
        <p:nvSpPr>
          <p:cNvPr id="15" name="Shape 13"/>
          <p:cNvSpPr/>
          <p:nvPr/>
        </p:nvSpPr>
        <p:spPr>
          <a:xfrm>
            <a:off x="7324344" y="1280160"/>
            <a:ext cx="1362456" cy="960120"/>
          </a:xfrm>
          <a:prstGeom prst="roundRect">
            <a:avLst>
              <a:gd name="adj" fmla="val 7619"/>
            </a:avLst>
          </a:prstGeom>
          <a:solidFill>
            <a:srgbClr val="1F7F79"/>
          </a:solidFill>
          <a:ln w="12700">
            <a:solidFill>
              <a:srgbClr val="1F7F79"/>
            </a:solidFill>
            <a:prstDash val="solid"/>
          </a:ln>
        </p:spPr>
      </p:sp>
      <p:sp>
        <p:nvSpPr>
          <p:cNvPr id="16" name="Text 14"/>
          <p:cNvSpPr txBox="1"/>
          <p:nvPr/>
        </p:nvSpPr>
        <p:spPr>
          <a:xfrm>
            <a:off x="7397496" y="1280160"/>
            <a:ext cx="1216152" cy="9601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Continuar y vigilar</a:t>
            </a:r>
            <a:endParaRPr lang="en-US" sz="1150" dirty="0"/>
          </a:p>
        </p:txBody>
      </p:sp>
      <p:sp>
        <p:nvSpPr>
          <p:cNvPr id="17" name="Shape 15"/>
          <p:cNvSpPr/>
          <p:nvPr/>
        </p:nvSpPr>
        <p:spPr>
          <a:xfrm>
            <a:off x="6185916" y="2258568"/>
            <a:ext cx="914" cy="438912"/>
          </a:xfrm>
          <a:prstGeom prst="line">
            <a:avLst/>
          </a:prstGeom>
          <a:noFill/>
          <a:ln w="25400">
            <a:solidFill>
              <a:srgbClr val="D9472F"/>
            </a:solidFill>
            <a:prstDash val="solid"/>
            <a:tailEnd type="triangle"/>
          </a:ln>
        </p:spPr>
      </p:sp>
      <p:sp>
        <p:nvSpPr>
          <p:cNvPr id="18" name="Text 16"/>
          <p:cNvSpPr txBox="1"/>
          <p:nvPr/>
        </p:nvSpPr>
        <p:spPr>
          <a:xfrm>
            <a:off x="6263640" y="2304288"/>
            <a:ext cx="411480" cy="274320"/>
          </a:xfrm>
          <a:prstGeom prst="rect">
            <a:avLst/>
          </a:prstGeom>
          <a:noFill/>
          <a:ln/>
        </p:spPr>
        <p:txBody>
          <a:bodyPr wrap="square" lIns="0" tIns="0" rIns="0" bIns="0" rtlCol="0" anchor="t"/>
          <a:lstStyle/>
          <a:p>
            <a:pPr indent="0" marL="0">
              <a:buNone/>
            </a:pPr>
            <a:r>
              <a:rPr lang="en-US" sz="1100" b="1" dirty="0">
                <a:solidFill>
                  <a:srgbClr val="D9472F"/>
                </a:solidFill>
                <a:latin typeface="Calibri" pitchFamily="34" charset="0"/>
                <a:ea typeface="Calibri" pitchFamily="34" charset="-122"/>
                <a:cs typeface="Calibri" pitchFamily="34" charset="-120"/>
              </a:rPr>
              <a:t>No</a:t>
            </a:r>
            <a:endParaRPr lang="en-US" sz="1100" dirty="0"/>
          </a:p>
        </p:txBody>
      </p:sp>
      <p:sp>
        <p:nvSpPr>
          <p:cNvPr id="19" name="Shape 17"/>
          <p:cNvSpPr/>
          <p:nvPr/>
        </p:nvSpPr>
        <p:spPr>
          <a:xfrm>
            <a:off x="4480560" y="2715768"/>
            <a:ext cx="3410712" cy="868680"/>
          </a:xfrm>
          <a:prstGeom prst="roundRect">
            <a:avLst>
              <a:gd name="adj" fmla="val 8421"/>
            </a:avLst>
          </a:prstGeom>
          <a:solidFill>
            <a:srgbClr val="D9472F"/>
          </a:solidFill>
          <a:ln w="12700">
            <a:solidFill>
              <a:srgbClr val="D9472F"/>
            </a:solidFill>
            <a:prstDash val="solid"/>
          </a:ln>
        </p:spPr>
      </p:sp>
      <p:sp>
        <p:nvSpPr>
          <p:cNvPr id="20" name="Text 18"/>
          <p:cNvSpPr txBox="1"/>
          <p:nvPr/>
        </p:nvSpPr>
        <p:spPr>
          <a:xfrm>
            <a:off x="4553712" y="2715768"/>
            <a:ext cx="3264408"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AÑADIR biológico (anti-TNF, anti-IL-6R, abatacept, rituximab) o JAKi (si bajo riesgo CV, TEV y cáncer)</a:t>
            </a:r>
            <a:endParaRPr lang="en-US" sz="1150" dirty="0"/>
          </a:p>
        </p:txBody>
      </p:sp>
      <p:sp>
        <p:nvSpPr>
          <p:cNvPr id="21" name="Shape 19"/>
          <p:cNvSpPr/>
          <p:nvPr/>
        </p:nvSpPr>
        <p:spPr>
          <a:xfrm flipH="1">
            <a:off x="3886200" y="3150108"/>
            <a:ext cx="576072" cy="914"/>
          </a:xfrm>
          <a:prstGeom prst="line">
            <a:avLst/>
          </a:prstGeom>
          <a:noFill/>
          <a:ln w="25400">
            <a:solidFill>
              <a:srgbClr val="6E6573"/>
            </a:solidFill>
            <a:prstDash val="solid"/>
            <a:tailEnd type="triangle"/>
          </a:ln>
        </p:spPr>
      </p:sp>
      <p:sp>
        <p:nvSpPr>
          <p:cNvPr id="22" name="Shape 20"/>
          <p:cNvSpPr/>
          <p:nvPr/>
        </p:nvSpPr>
        <p:spPr>
          <a:xfrm>
            <a:off x="457200" y="2715768"/>
            <a:ext cx="3410712" cy="868680"/>
          </a:xfrm>
          <a:prstGeom prst="roundRect">
            <a:avLst>
              <a:gd name="adj" fmla="val 8421"/>
            </a:avLst>
          </a:prstGeom>
          <a:solidFill>
            <a:srgbClr val="FBE3DE"/>
          </a:solidFill>
          <a:ln w="12700">
            <a:solidFill>
              <a:srgbClr val="FBE3DE"/>
            </a:solidFill>
            <a:prstDash val="solid"/>
          </a:ln>
        </p:spPr>
      </p:sp>
      <p:sp>
        <p:nvSpPr>
          <p:cNvPr id="23" name="Text 21"/>
          <p:cNvSpPr txBox="1"/>
          <p:nvPr/>
        </p:nvSpPr>
        <p:spPr>
          <a:xfrm>
            <a:off x="530352" y="2715768"/>
            <a:ext cx="3264408" cy="868680"/>
          </a:xfrm>
          <a:prstGeom prst="rect">
            <a:avLst/>
          </a:prstGeom>
          <a:noFill/>
          <a:ln/>
        </p:spPr>
        <p:txBody>
          <a:bodyPr wrap="square" lIns="0" tIns="0" rIns="0" bIns="0" rtlCol="0" anchor="ctr"/>
          <a:lstStyle/>
          <a:p>
            <a:pPr algn="ctr" indent="0" marL="0">
              <a:buNone/>
            </a:pPr>
            <a:r>
              <a:rPr lang="en-US" sz="1150" dirty="0">
                <a:solidFill>
                  <a:srgbClr val="2A1433"/>
                </a:solidFill>
                <a:latin typeface="Calibri" pitchFamily="34" charset="0"/>
                <a:ea typeface="Calibri" pitchFamily="34" charset="-122"/>
                <a:cs typeface="Calibri" pitchFamily="34" charset="-120"/>
              </a:rPr>
              <a:t>Si falla: otro agente con igual o distinto mecanismo; si falla un 2.º del mismo mecanismo → cambiar de mecanismo</a:t>
            </a:r>
            <a:endParaRPr lang="en-US" sz="1150" dirty="0"/>
          </a:p>
        </p:txBody>
      </p:sp>
      <p:sp>
        <p:nvSpPr>
          <p:cNvPr id="24" name="Shape 22"/>
          <p:cNvSpPr/>
          <p:nvPr/>
        </p:nvSpPr>
        <p:spPr>
          <a:xfrm>
            <a:off x="457200" y="3794760"/>
            <a:ext cx="8229600" cy="868680"/>
          </a:xfrm>
          <a:prstGeom prst="roundRect">
            <a:avLst>
              <a:gd name="adj" fmla="val 8421"/>
            </a:avLst>
          </a:prstGeom>
          <a:solidFill>
            <a:srgbClr val="F7EEF1"/>
          </a:solidFill>
          <a:ln w="12700">
            <a:solidFill>
              <a:srgbClr val="F7EEF1"/>
            </a:solidFill>
            <a:prstDash val="solid"/>
          </a:ln>
        </p:spPr>
      </p:sp>
      <p:sp>
        <p:nvSpPr>
          <p:cNvPr id="25" name="Text 23"/>
          <p:cNvSpPr txBox="1"/>
          <p:nvPr/>
        </p:nvSpPr>
        <p:spPr>
          <a:xfrm>
            <a:off x="640080" y="3794760"/>
            <a:ext cx="7863840" cy="868680"/>
          </a:xfrm>
          <a:prstGeom prst="rect">
            <a:avLst/>
          </a:prstGeom>
          <a:noFill/>
          <a:ln/>
        </p:spPr>
        <p:txBody>
          <a:bodyPr wrap="square" lIns="0" tIns="0" rIns="0" bIns="0" rtlCol="0" anchor="ctr"/>
          <a:lstStyle/>
          <a:p>
            <a:pPr indent="0" marL="0">
              <a:buNone/>
            </a:pPr>
            <a:r>
              <a:rPr lang="en-US" sz="1200" b="1" dirty="0">
                <a:solidFill>
                  <a:srgbClr val="7A1F45"/>
                </a:solidFill>
                <a:latin typeface="Calibri" pitchFamily="34" charset="0"/>
                <a:ea typeface="Calibri" pitchFamily="34" charset="-122"/>
                <a:cs typeface="Calibri" pitchFamily="34" charset="-120"/>
              </a:rPr>
              <a:t>Durante todo el proceso: </a:t>
            </a:r>
            <a:pPr indent="0" marL="0">
              <a:buNone/>
            </a:pPr>
            <a:r>
              <a:rPr lang="en-US" sz="1200" dirty="0">
                <a:solidFill>
                  <a:srgbClr val="2B2330"/>
                </a:solidFill>
                <a:latin typeface="Calibri" pitchFamily="34" charset="0"/>
                <a:ea typeface="Calibri" pitchFamily="34" charset="-122"/>
                <a:cs typeface="Calibri" pitchFamily="34" charset="-120"/>
              </a:rPr>
              <a:t>medir la actividad (CDAI) cada 1–3 meses · decisiones compartidas · analgésicos solo coadyuvantes · tamizaje de TB y vacunas antes de biológicos/JAKi.</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PRONÓSTICO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¿Cómo les va a los pacientes?</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graphicFrame>
        <p:nvGraphicFramePr>
          <p:cNvPr id="5" name="Chart 0" descr=""/>
          <p:cNvGraphicFramePr/>
          <p:nvPr/>
        </p:nvGraphicFramePr>
        <p:xfrm>
          <a:off x="365760" y="1188720"/>
          <a:ext cx="301752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4343400"/>
            <a:ext cx="2926080" cy="274320"/>
          </a:xfrm>
          <a:prstGeom prst="rect">
            <a:avLst/>
          </a:prstGeom>
          <a:noFill/>
          <a:ln/>
        </p:spPr>
        <p:txBody>
          <a:bodyPr wrap="square" lIns="0" tIns="0" rIns="0" bIns="0" rtlCol="0" anchor="t"/>
          <a:lstStyle/>
          <a:p>
            <a:pPr algn="ctr" indent="0" marL="0">
              <a:buNone/>
            </a:pPr>
            <a:r>
              <a:rPr lang="en-US" sz="1050" i="1" dirty="0">
                <a:solidFill>
                  <a:srgbClr val="6E6573"/>
                </a:solidFill>
                <a:latin typeface="Calibri" pitchFamily="34" charset="0"/>
                <a:ea typeface="Calibri" pitchFamily="34" charset="-122"/>
                <a:cs typeface="Calibri" pitchFamily="34" charset="-120"/>
              </a:rPr>
              <a:t>Cohorte de inicio, n = 521</a:t>
            </a:r>
            <a:endParaRPr lang="en-US" sz="1050" dirty="0"/>
          </a:p>
        </p:txBody>
      </p:sp>
      <p:sp>
        <p:nvSpPr>
          <p:cNvPr id="7" name="Text 4"/>
          <p:cNvSpPr txBox="1"/>
          <p:nvPr/>
        </p:nvSpPr>
        <p:spPr>
          <a:xfrm>
            <a:off x="3657600" y="1234440"/>
            <a:ext cx="50292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Seropositividad = más daño</a:t>
            </a:r>
            <a:endParaRPr lang="en-US" sz="1500" dirty="0"/>
          </a:p>
        </p:txBody>
      </p:sp>
      <p:sp>
        <p:nvSpPr>
          <p:cNvPr id="8" name="Text 5"/>
          <p:cNvSpPr txBox="1"/>
          <p:nvPr/>
        </p:nvSpPr>
        <p:spPr>
          <a:xfrm>
            <a:off x="3657600" y="1463040"/>
            <a:ext cx="1554480" cy="566928"/>
          </a:xfrm>
          <a:prstGeom prst="rect">
            <a:avLst/>
          </a:prstGeom>
          <a:noFill/>
          <a:ln/>
        </p:spPr>
        <p:txBody>
          <a:bodyPr wrap="square" lIns="0" tIns="0" rIns="0" bIns="0" rtlCol="0" anchor="b"/>
          <a:lstStyle/>
          <a:p>
            <a:pPr indent="0" marL="0">
              <a:buNone/>
            </a:pPr>
            <a:r>
              <a:rPr lang="en-US" sz="2200" b="1" dirty="0">
                <a:solidFill>
                  <a:srgbClr val="D9472F"/>
                </a:solidFill>
                <a:latin typeface="Cambria" pitchFamily="34" charset="0"/>
                <a:ea typeface="Cambria" pitchFamily="34" charset="-122"/>
                <a:cs typeface="Cambria" pitchFamily="34" charset="-120"/>
              </a:rPr>
              <a:t>RR 2,07</a:t>
            </a:r>
            <a:endParaRPr lang="en-US" sz="2200" dirty="0"/>
          </a:p>
        </p:txBody>
      </p:sp>
      <p:sp>
        <p:nvSpPr>
          <p:cNvPr id="9" name="Text 6"/>
          <p:cNvSpPr txBox="1"/>
          <p:nvPr/>
        </p:nvSpPr>
        <p:spPr>
          <a:xfrm>
            <a:off x="3657600" y="2066544"/>
            <a:ext cx="15544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progresión radiográfica con FR+ (10 cohortes)</a:t>
            </a:r>
            <a:endParaRPr lang="en-US" sz="1150" dirty="0"/>
          </a:p>
        </p:txBody>
      </p:sp>
      <p:sp>
        <p:nvSpPr>
          <p:cNvPr id="10" name="Text 7"/>
          <p:cNvSpPr txBox="1"/>
          <p:nvPr/>
        </p:nvSpPr>
        <p:spPr>
          <a:xfrm>
            <a:off x="5349240" y="1463040"/>
            <a:ext cx="1554480" cy="566928"/>
          </a:xfrm>
          <a:prstGeom prst="rect">
            <a:avLst/>
          </a:prstGeom>
          <a:noFill/>
          <a:ln/>
        </p:spPr>
        <p:txBody>
          <a:bodyPr wrap="square" lIns="0" tIns="0" rIns="0" bIns="0" rtlCol="0" anchor="b"/>
          <a:lstStyle/>
          <a:p>
            <a:pPr indent="0" marL="0">
              <a:buNone/>
            </a:pPr>
            <a:r>
              <a:rPr lang="en-US" sz="2200" b="1" dirty="0">
                <a:solidFill>
                  <a:srgbClr val="D9472F"/>
                </a:solidFill>
                <a:latin typeface="Cambria" pitchFamily="34" charset="0"/>
                <a:ea typeface="Cambria" pitchFamily="34" charset="-122"/>
                <a:cs typeface="Cambria" pitchFamily="34" charset="-120"/>
              </a:rPr>
              <a:t>RR 2,49</a:t>
            </a:r>
            <a:endParaRPr lang="en-US" sz="2200" dirty="0"/>
          </a:p>
        </p:txBody>
      </p:sp>
      <p:sp>
        <p:nvSpPr>
          <p:cNvPr id="11" name="Text 8"/>
          <p:cNvSpPr txBox="1"/>
          <p:nvPr/>
        </p:nvSpPr>
        <p:spPr>
          <a:xfrm>
            <a:off x="5349240" y="2066544"/>
            <a:ext cx="15544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progresión radiográfica con ACPA+ (5 cohortes)</a:t>
            </a:r>
            <a:endParaRPr lang="en-US" sz="1150" dirty="0"/>
          </a:p>
        </p:txBody>
      </p:sp>
      <p:sp>
        <p:nvSpPr>
          <p:cNvPr id="12" name="Text 9"/>
          <p:cNvSpPr txBox="1"/>
          <p:nvPr/>
        </p:nvSpPr>
        <p:spPr>
          <a:xfrm>
            <a:off x="6949440" y="1463040"/>
            <a:ext cx="1783080" cy="566928"/>
          </a:xfrm>
          <a:prstGeom prst="rect">
            <a:avLst/>
          </a:prstGeom>
          <a:noFill/>
          <a:ln/>
        </p:spPr>
        <p:txBody>
          <a:bodyPr wrap="square" lIns="0" tIns="0" rIns="0" bIns="0" rtlCol="0" anchor="b"/>
          <a:lstStyle/>
          <a:p>
            <a:pPr indent="0" marL="0">
              <a:buNone/>
            </a:pPr>
            <a:r>
              <a:rPr lang="en-US" sz="1800" b="1" dirty="0">
                <a:solidFill>
                  <a:srgbClr val="D9472F"/>
                </a:solidFill>
                <a:latin typeface="Cambria" pitchFamily="34" charset="0"/>
                <a:ea typeface="Cambria" pitchFamily="34" charset="-122"/>
                <a:cs typeface="Cambria" pitchFamily="34" charset="-120"/>
              </a:rPr>
              <a:t>62,7 vs 29,3 %</a:t>
            </a:r>
            <a:endParaRPr lang="en-US" sz="1800" dirty="0"/>
          </a:p>
        </p:txBody>
      </p:sp>
      <p:sp>
        <p:nvSpPr>
          <p:cNvPr id="13" name="Text 10"/>
          <p:cNvSpPr txBox="1"/>
          <p:nvPr/>
        </p:nvSpPr>
        <p:spPr>
          <a:xfrm>
            <a:off x="6949440" y="2066544"/>
            <a:ext cx="1783080" cy="502920"/>
          </a:xfrm>
          <a:prstGeom prst="rect">
            <a:avLst/>
          </a:prstGeom>
          <a:noFill/>
          <a:ln/>
        </p:spPr>
        <p:txBody>
          <a:bodyPr wrap="square" lIns="0" tIns="0" rIns="0" bIns="0" rtlCol="0" anchor="t"/>
          <a:lstStyle/>
          <a:p>
            <a:pPr indent="0" marL="0">
              <a:buNone/>
            </a:pPr>
            <a:r>
              <a:rPr lang="en-US" sz="1150" dirty="0">
                <a:solidFill>
                  <a:srgbClr val="6E6573"/>
                </a:solidFill>
                <a:latin typeface="Calibri" pitchFamily="34" charset="0"/>
                <a:ea typeface="Calibri" pitchFamily="34" charset="-122"/>
                <a:cs typeface="Calibri" pitchFamily="34" charset="-120"/>
              </a:rPr>
              <a:t>erosiones a 3 años: seropositivos vs seronegativos</a:t>
            </a:r>
            <a:endParaRPr lang="en-US" sz="1150" dirty="0"/>
          </a:p>
        </p:txBody>
      </p:sp>
      <p:sp>
        <p:nvSpPr>
          <p:cNvPr id="14" name="Text 11"/>
          <p:cNvSpPr txBox="1"/>
          <p:nvPr/>
        </p:nvSpPr>
        <p:spPr>
          <a:xfrm>
            <a:off x="3657600" y="2880360"/>
            <a:ext cx="5029200" cy="32004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Mortalidad (registro, n = 8908)</a:t>
            </a:r>
            <a:endParaRPr lang="en-US" sz="1500" dirty="0"/>
          </a:p>
        </p:txBody>
      </p:sp>
      <p:sp>
        <p:nvSpPr>
          <p:cNvPr id="15" name="Shape 12"/>
          <p:cNvSpPr/>
          <p:nvPr/>
        </p:nvSpPr>
        <p:spPr>
          <a:xfrm>
            <a:off x="3657600" y="3246120"/>
            <a:ext cx="5029200" cy="1417320"/>
          </a:xfrm>
          <a:prstGeom prst="roundRect">
            <a:avLst>
              <a:gd name="adj" fmla="val 5161"/>
            </a:avLst>
          </a:prstGeom>
          <a:solidFill>
            <a:srgbClr val="F7EEF1"/>
          </a:solidFill>
          <a:ln w="12700">
            <a:solidFill>
              <a:srgbClr val="F7EEF1"/>
            </a:solidFill>
            <a:prstDash val="solid"/>
          </a:ln>
        </p:spPr>
      </p:sp>
      <p:sp>
        <p:nvSpPr>
          <p:cNvPr id="16" name="Text 13"/>
          <p:cNvSpPr txBox="1"/>
          <p:nvPr/>
        </p:nvSpPr>
        <p:spPr>
          <a:xfrm>
            <a:off x="3794760" y="3337560"/>
            <a:ext cx="4754880" cy="128016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7A1F45"/>
                </a:solidFill>
                <a:latin typeface="Calibri" pitchFamily="34" charset="0"/>
                <a:ea typeface="Calibri" pitchFamily="34" charset="-122"/>
                <a:cs typeface="Calibri" pitchFamily="34" charset="-120"/>
              </a:rPr>
              <a:t>Razón de mortalidad estandarizada: </a:t>
            </a:r>
            <a:pPr indent="0" marL="0">
              <a:buNone/>
            </a:pPr>
            <a:r>
              <a:rPr lang="en-US" sz="1250" dirty="0">
                <a:solidFill>
                  <a:srgbClr val="2B2330"/>
                </a:solidFill>
                <a:latin typeface="Calibri" pitchFamily="34" charset="0"/>
                <a:ea typeface="Calibri" pitchFamily="34" charset="-122"/>
                <a:cs typeface="Calibri" pitchFamily="34" charset="-120"/>
              </a:rPr>
              <a:t>mujeres 1,5; hombres 1,4</a:t>
            </a:r>
            <a:endParaRPr lang="en-US" sz="1250" dirty="0"/>
          </a:p>
          <a:p>
            <a:pPr marL="177800" indent="-177800">
              <a:spcAft>
                <a:spcPts val="500"/>
              </a:spcAft>
              <a:buSzPct val="100000"/>
              <a:buChar char="•"/>
            </a:pPr>
            <a:r>
              <a:rPr lang="en-US" sz="1250" b="1" dirty="0">
                <a:solidFill>
                  <a:srgbClr val="7A1F45"/>
                </a:solidFill>
                <a:latin typeface="Calibri" pitchFamily="34" charset="0"/>
                <a:ea typeface="Calibri" pitchFamily="34" charset="-122"/>
                <a:cs typeface="Calibri" pitchFamily="34" charset="-120"/>
              </a:rPr>
              <a:t>Se explica por la alta actividad </a:t>
            </a:r>
            <a:pPr indent="0" marL="0">
              <a:buNone/>
            </a:pPr>
            <a:r>
              <a:rPr lang="en-US" sz="1250" dirty="0">
                <a:solidFill>
                  <a:srgbClr val="2B2330"/>
                </a:solidFill>
                <a:latin typeface="Calibri" pitchFamily="34" charset="0"/>
                <a:ea typeface="Calibri" pitchFamily="34" charset="-122"/>
                <a:cs typeface="Calibri" pitchFamily="34" charset="-120"/>
              </a:rPr>
              <a:t>(DAS28 &gt; 5,1)</a:t>
            </a:r>
            <a:endParaRPr lang="en-US" sz="1250" dirty="0"/>
          </a:p>
          <a:p>
            <a:pPr marL="177800" indent="-177800">
              <a:spcAft>
                <a:spcPts val="500"/>
              </a:spcAft>
              <a:buSzPct val="100000"/>
              <a:buChar char="•"/>
            </a:pPr>
            <a:r>
              <a:rPr lang="en-US" sz="1250" b="1" dirty="0">
                <a:solidFill>
                  <a:srgbClr val="7A1F45"/>
                </a:solidFill>
                <a:latin typeface="Calibri" pitchFamily="34" charset="0"/>
                <a:ea typeface="Calibri" pitchFamily="34" charset="-122"/>
                <a:cs typeface="Calibri" pitchFamily="34" charset="-120"/>
              </a:rPr>
              <a:t>Con baja actividad (DAS28 &lt; 3,2) </a:t>
            </a:r>
            <a:pPr indent="0" marL="0">
              <a:buNone/>
            </a:pPr>
            <a:r>
              <a:rPr lang="en-US" sz="1250" dirty="0">
                <a:solidFill>
                  <a:srgbClr val="2B2330"/>
                </a:solidFill>
                <a:latin typeface="Calibri" pitchFamily="34" charset="0"/>
                <a:ea typeface="Calibri" pitchFamily="34" charset="-122"/>
                <a:cs typeface="Calibri" pitchFamily="34" charset="-120"/>
              </a:rPr>
              <a:t>no hay exceso de mortalidad</a:t>
            </a:r>
            <a:endParaRPr lang="en-US" sz="12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CONSIDERACIONES PRÁCTICAS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La respuesta a los 3 meses predice el futuro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Text 3"/>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300" dirty="0">
                <a:solidFill>
                  <a:srgbClr val="6E6573"/>
                </a:solidFill>
                <a:latin typeface="Calibri" pitchFamily="34" charset="0"/>
                <a:ea typeface="Calibri" pitchFamily="34" charset="-122"/>
                <a:cs typeface="Calibri" pitchFamily="34" charset="-120"/>
              </a:rPr>
              <a:t>2393 pacientes con AR temprana y alta actividad basal (SDAI &gt; 26; media 40,0)</a:t>
            </a:r>
            <a:endParaRPr lang="en-US" sz="1300" dirty="0"/>
          </a:p>
        </p:txBody>
      </p:sp>
      <p:sp>
        <p:nvSpPr>
          <p:cNvPr id="6" name="Shape 4"/>
          <p:cNvSpPr/>
          <p:nvPr/>
        </p:nvSpPr>
        <p:spPr>
          <a:xfrm>
            <a:off x="457200" y="1691640"/>
            <a:ext cx="3977640" cy="2971800"/>
          </a:xfrm>
          <a:prstGeom prst="roundRect">
            <a:avLst>
              <a:gd name="adj" fmla="val 2462"/>
            </a:avLst>
          </a:prstGeom>
          <a:solidFill>
            <a:srgbClr val="FBE3DE"/>
          </a:solidFill>
          <a:ln w="12700">
            <a:solidFill>
              <a:srgbClr val="FBE3DE"/>
            </a:solidFill>
            <a:prstDash val="solid"/>
          </a:ln>
        </p:spPr>
      </p:sp>
      <p:sp>
        <p:nvSpPr>
          <p:cNvPr id="7" name="Text 5"/>
          <p:cNvSpPr txBox="1"/>
          <p:nvPr/>
        </p:nvSpPr>
        <p:spPr>
          <a:xfrm>
            <a:off x="640080" y="1810512"/>
            <a:ext cx="3657600" cy="365760"/>
          </a:xfrm>
          <a:prstGeom prst="rect">
            <a:avLst/>
          </a:prstGeom>
          <a:noFill/>
          <a:ln/>
        </p:spPr>
        <p:txBody>
          <a:bodyPr wrap="square" lIns="0" tIns="0" rIns="0" bIns="0" rtlCol="0" anchor="t"/>
          <a:lstStyle/>
          <a:p>
            <a:pPr indent="0" marL="0">
              <a:buNone/>
            </a:pPr>
            <a:r>
              <a:rPr lang="en-US" sz="1500" b="1" dirty="0">
                <a:solidFill>
                  <a:srgbClr val="2A1433"/>
                </a:solidFill>
                <a:latin typeface="Calibri" pitchFamily="34" charset="0"/>
                <a:ea typeface="Calibri" pitchFamily="34" charset="-122"/>
                <a:cs typeface="Calibri" pitchFamily="34" charset="-120"/>
              </a:rPr>
              <a:t>SDAI &gt; 40 a los 3 meses</a:t>
            </a:r>
            <a:endParaRPr lang="en-US" sz="1500" dirty="0"/>
          </a:p>
        </p:txBody>
      </p:sp>
      <p:sp>
        <p:nvSpPr>
          <p:cNvPr id="8" name="Text 6"/>
          <p:cNvSpPr txBox="1"/>
          <p:nvPr/>
        </p:nvSpPr>
        <p:spPr>
          <a:xfrm>
            <a:off x="640080" y="2240280"/>
            <a:ext cx="3657600" cy="1097280"/>
          </a:xfrm>
          <a:prstGeom prst="rect">
            <a:avLst/>
          </a:prstGeom>
          <a:noFill/>
          <a:ln/>
        </p:spPr>
        <p:txBody>
          <a:bodyPr wrap="square" lIns="0" tIns="0" rIns="0" bIns="0" rtlCol="0" anchor="ctr"/>
          <a:lstStyle/>
          <a:p>
            <a:pPr indent="0" marL="0">
              <a:buNone/>
            </a:pPr>
            <a:r>
              <a:rPr lang="en-US" sz="6400" b="1" dirty="0">
                <a:solidFill>
                  <a:srgbClr val="D9472F"/>
                </a:solidFill>
                <a:latin typeface="Cambria" pitchFamily="34" charset="0"/>
                <a:ea typeface="Cambria" pitchFamily="34" charset="-122"/>
                <a:cs typeface="Cambria" pitchFamily="34" charset="-120"/>
              </a:rPr>
              <a:t>80 %</a:t>
            </a:r>
            <a:endParaRPr lang="en-US" sz="6400" dirty="0"/>
          </a:p>
        </p:txBody>
      </p:sp>
      <p:sp>
        <p:nvSpPr>
          <p:cNvPr id="9" name="Text 7"/>
          <p:cNvSpPr txBox="1"/>
          <p:nvPr/>
        </p:nvSpPr>
        <p:spPr>
          <a:xfrm>
            <a:off x="640080" y="3429000"/>
            <a:ext cx="3566160" cy="731520"/>
          </a:xfrm>
          <a:prstGeom prst="rect">
            <a:avLst/>
          </a:prstGeom>
          <a:noFill/>
          <a:ln/>
        </p:spPr>
        <p:txBody>
          <a:bodyPr wrap="square" lIns="0" tIns="0" rIns="0" bIns="0" rtlCol="0" anchor="t"/>
          <a:lstStyle/>
          <a:p>
            <a:pPr indent="0" marL="0">
              <a:buNone/>
            </a:pPr>
            <a:r>
              <a:rPr lang="en-US" sz="1400" dirty="0">
                <a:solidFill>
                  <a:srgbClr val="2B2330"/>
                </a:solidFill>
                <a:latin typeface="Calibri" pitchFamily="34" charset="0"/>
                <a:ea typeface="Calibri" pitchFamily="34" charset="-122"/>
                <a:cs typeface="Calibri" pitchFamily="34" charset="-120"/>
              </a:rPr>
              <a:t>probabilidad de seguir con enfermedad activa al año</a:t>
            </a:r>
            <a:endParaRPr lang="en-US" sz="1400" dirty="0"/>
          </a:p>
        </p:txBody>
      </p:sp>
      <p:sp>
        <p:nvSpPr>
          <p:cNvPr id="10" name="Shape 8"/>
          <p:cNvSpPr/>
          <p:nvPr/>
        </p:nvSpPr>
        <p:spPr>
          <a:xfrm>
            <a:off x="4709160" y="1691640"/>
            <a:ext cx="3977640" cy="2971800"/>
          </a:xfrm>
          <a:prstGeom prst="roundRect">
            <a:avLst>
              <a:gd name="adj" fmla="val 2462"/>
            </a:avLst>
          </a:prstGeom>
          <a:solidFill>
            <a:srgbClr val="E9F3F2"/>
          </a:solidFill>
          <a:ln w="12700">
            <a:solidFill>
              <a:srgbClr val="E9F3F2"/>
            </a:solidFill>
            <a:prstDash val="solid"/>
          </a:ln>
        </p:spPr>
      </p:sp>
      <p:sp>
        <p:nvSpPr>
          <p:cNvPr id="11" name="Text 9"/>
          <p:cNvSpPr txBox="1"/>
          <p:nvPr/>
        </p:nvSpPr>
        <p:spPr>
          <a:xfrm>
            <a:off x="4892040" y="1810512"/>
            <a:ext cx="3657600" cy="365760"/>
          </a:xfrm>
          <a:prstGeom prst="rect">
            <a:avLst/>
          </a:prstGeom>
          <a:noFill/>
          <a:ln/>
        </p:spPr>
        <p:txBody>
          <a:bodyPr wrap="square" lIns="0" tIns="0" rIns="0" bIns="0" rtlCol="0" anchor="t"/>
          <a:lstStyle/>
          <a:p>
            <a:pPr indent="0" marL="0">
              <a:buNone/>
            </a:pPr>
            <a:r>
              <a:rPr lang="en-US" sz="1500" b="1" dirty="0">
                <a:solidFill>
                  <a:srgbClr val="2A1433"/>
                </a:solidFill>
                <a:latin typeface="Calibri" pitchFamily="34" charset="0"/>
                <a:ea typeface="Calibri" pitchFamily="34" charset="-122"/>
                <a:cs typeface="Calibri" pitchFamily="34" charset="-120"/>
              </a:rPr>
              <a:t>SDAI ≤ 12 a los 3 meses (↓ &gt; 50 %)</a:t>
            </a:r>
            <a:endParaRPr lang="en-US" sz="1500" dirty="0"/>
          </a:p>
        </p:txBody>
      </p:sp>
      <p:sp>
        <p:nvSpPr>
          <p:cNvPr id="12" name="Text 10"/>
          <p:cNvSpPr txBox="1"/>
          <p:nvPr/>
        </p:nvSpPr>
        <p:spPr>
          <a:xfrm>
            <a:off x="4892040" y="2240280"/>
            <a:ext cx="3657600" cy="1097280"/>
          </a:xfrm>
          <a:prstGeom prst="rect">
            <a:avLst/>
          </a:prstGeom>
          <a:noFill/>
          <a:ln/>
        </p:spPr>
        <p:txBody>
          <a:bodyPr wrap="square" lIns="0" tIns="0" rIns="0" bIns="0" rtlCol="0" anchor="ctr"/>
          <a:lstStyle/>
          <a:p>
            <a:pPr indent="0" marL="0">
              <a:buNone/>
            </a:pPr>
            <a:r>
              <a:rPr lang="en-US" sz="6400" b="1" dirty="0">
                <a:solidFill>
                  <a:srgbClr val="1F7F79"/>
                </a:solidFill>
                <a:latin typeface="Cambria" pitchFamily="34" charset="0"/>
                <a:ea typeface="Cambria" pitchFamily="34" charset="-122"/>
                <a:cs typeface="Cambria" pitchFamily="34" charset="-120"/>
              </a:rPr>
              <a:t>75 %</a:t>
            </a:r>
            <a:endParaRPr lang="en-US" sz="6400" dirty="0"/>
          </a:p>
        </p:txBody>
      </p:sp>
      <p:sp>
        <p:nvSpPr>
          <p:cNvPr id="13" name="Text 11"/>
          <p:cNvSpPr txBox="1"/>
          <p:nvPr/>
        </p:nvSpPr>
        <p:spPr>
          <a:xfrm>
            <a:off x="4892040" y="3429000"/>
            <a:ext cx="3566160" cy="731520"/>
          </a:xfrm>
          <a:prstGeom prst="rect">
            <a:avLst/>
          </a:prstGeom>
          <a:noFill/>
          <a:ln/>
        </p:spPr>
        <p:txBody>
          <a:bodyPr wrap="square" lIns="0" tIns="0" rIns="0" bIns="0" rtlCol="0" anchor="t"/>
          <a:lstStyle/>
          <a:p>
            <a:pPr indent="0" marL="0">
              <a:buNone/>
            </a:pPr>
            <a:r>
              <a:rPr lang="en-US" sz="1400" dirty="0">
                <a:solidFill>
                  <a:srgbClr val="2B2330"/>
                </a:solidFill>
                <a:latin typeface="Calibri" pitchFamily="34" charset="0"/>
                <a:ea typeface="Calibri" pitchFamily="34" charset="-122"/>
                <a:cs typeface="Calibri" pitchFamily="34" charset="-120"/>
              </a:rPr>
              <a:t>probabilidad de remisión o baja actividad al año</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CONSIDERACIONES PRÁCTICAS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Manejo integral del paciente</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34440"/>
            <a:ext cx="502920" cy="502920"/>
          </a:xfrm>
          <a:prstGeom prst="ellipse">
            <a:avLst/>
          </a:prstGeom>
          <a:solidFill>
            <a:srgbClr val="7A1F45"/>
          </a:solidFill>
          <a:ln w="12700">
            <a:solidFill>
              <a:srgbClr val="7A1F45"/>
            </a:solidFill>
            <a:prstDash val="solid"/>
          </a:ln>
        </p:spPr>
      </p:sp>
      <p:pic>
        <p:nvPicPr>
          <p:cNvPr id="6" name="Image 0" descr="preencoded.png">    </p:cNvPr>
          <p:cNvPicPr>
            <a:picLocks noChangeAspect="1"/>
          </p:cNvPicPr>
          <p:nvPr/>
        </p:nvPicPr>
        <p:blipFill>
          <a:blip r:embed="rId1"/>
          <a:stretch>
            <a:fillRect/>
          </a:stretch>
        </p:blipFill>
        <p:spPr>
          <a:xfrm>
            <a:off x="582930" y="1360170"/>
            <a:ext cx="251460" cy="251460"/>
          </a:xfrm>
          <a:prstGeom prst="rect">
            <a:avLst/>
          </a:prstGeom>
        </p:spPr>
      </p:pic>
      <p:sp>
        <p:nvSpPr>
          <p:cNvPr id="7" name="Text 4"/>
          <p:cNvSpPr txBox="1"/>
          <p:nvPr/>
        </p:nvSpPr>
        <p:spPr>
          <a:xfrm>
            <a:off x="1097280" y="1188720"/>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Cambio de terapia</a:t>
            </a:r>
            <a:endParaRPr lang="en-US" sz="1300" dirty="0"/>
          </a:p>
        </p:txBody>
      </p:sp>
      <p:sp>
        <p:nvSpPr>
          <p:cNvPr id="8" name="Text 5"/>
          <p:cNvSpPr txBox="1"/>
          <p:nvPr/>
        </p:nvSpPr>
        <p:spPr>
          <a:xfrm>
            <a:off x="1097280" y="1444752"/>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Si falla el 1.er biológico/JAKi: otro de igual o distinto mecanismo; tras 2 del mismo, cambiar de mecanismo.</a:t>
            </a:r>
            <a:endParaRPr lang="en-US" sz="1050" dirty="0"/>
          </a:p>
        </p:txBody>
      </p:sp>
      <p:sp>
        <p:nvSpPr>
          <p:cNvPr id="9" name="Shape 6"/>
          <p:cNvSpPr/>
          <p:nvPr/>
        </p:nvSpPr>
        <p:spPr>
          <a:xfrm>
            <a:off x="4663440" y="1234440"/>
            <a:ext cx="502920" cy="502920"/>
          </a:xfrm>
          <a:prstGeom prst="ellipse">
            <a:avLst/>
          </a:prstGeom>
          <a:solidFill>
            <a:srgbClr val="7A1F45"/>
          </a:solidFill>
          <a:ln w="12700">
            <a:solidFill>
              <a:srgbClr val="7A1F45"/>
            </a:solidFill>
            <a:prstDash val="solid"/>
          </a:ln>
        </p:spPr>
      </p:sp>
      <p:pic>
        <p:nvPicPr>
          <p:cNvPr id="10" name="Image 1" descr="preencoded.png">    </p:cNvPr>
          <p:cNvPicPr>
            <a:picLocks noChangeAspect="1"/>
          </p:cNvPicPr>
          <p:nvPr/>
        </p:nvPicPr>
        <p:blipFill>
          <a:blip r:embed="rId2"/>
          <a:stretch>
            <a:fillRect/>
          </a:stretch>
        </p:blipFill>
        <p:spPr>
          <a:xfrm>
            <a:off x="4789170" y="1360170"/>
            <a:ext cx="251460" cy="251460"/>
          </a:xfrm>
          <a:prstGeom prst="rect">
            <a:avLst/>
          </a:prstGeom>
        </p:spPr>
      </p:pic>
      <p:sp>
        <p:nvSpPr>
          <p:cNvPr id="11" name="Text 7"/>
          <p:cNvSpPr txBox="1"/>
          <p:nvPr/>
        </p:nvSpPr>
        <p:spPr>
          <a:xfrm>
            <a:off x="5303520" y="1188720"/>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Analgesia</a:t>
            </a:r>
            <a:endParaRPr lang="en-US" sz="1300" dirty="0"/>
          </a:p>
        </p:txBody>
      </p:sp>
      <p:sp>
        <p:nvSpPr>
          <p:cNvPr id="12" name="Text 8"/>
          <p:cNvSpPr txBox="1"/>
          <p:nvPr/>
        </p:nvSpPr>
        <p:spPr>
          <a:xfrm>
            <a:off x="5303520" y="1444752"/>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AINE, paracetamol y tramadol pueden ayudar con el dolor articular.</a:t>
            </a:r>
            <a:endParaRPr lang="en-US" sz="1050" dirty="0"/>
          </a:p>
        </p:txBody>
      </p:sp>
      <p:sp>
        <p:nvSpPr>
          <p:cNvPr id="13" name="Shape 9"/>
          <p:cNvSpPr/>
          <p:nvPr/>
        </p:nvSpPr>
        <p:spPr>
          <a:xfrm>
            <a:off x="457200" y="2121408"/>
            <a:ext cx="502920" cy="502920"/>
          </a:xfrm>
          <a:prstGeom prst="ellipse">
            <a:avLst/>
          </a:prstGeom>
          <a:solidFill>
            <a:srgbClr val="7A1F45"/>
          </a:solidFill>
          <a:ln w="12700">
            <a:solidFill>
              <a:srgbClr val="7A1F45"/>
            </a:solidFill>
            <a:prstDash val="solid"/>
          </a:ln>
        </p:spPr>
      </p:sp>
      <p:pic>
        <p:nvPicPr>
          <p:cNvPr id="14" name="Image 2" descr="preencoded.png">    </p:cNvPr>
          <p:cNvPicPr>
            <a:picLocks noChangeAspect="1"/>
          </p:cNvPicPr>
          <p:nvPr/>
        </p:nvPicPr>
        <p:blipFill>
          <a:blip r:embed="rId3"/>
          <a:stretch>
            <a:fillRect/>
          </a:stretch>
        </p:blipFill>
        <p:spPr>
          <a:xfrm>
            <a:off x="582930" y="2247138"/>
            <a:ext cx="251460" cy="251460"/>
          </a:xfrm>
          <a:prstGeom prst="rect">
            <a:avLst/>
          </a:prstGeom>
        </p:spPr>
      </p:pic>
      <p:sp>
        <p:nvSpPr>
          <p:cNvPr id="15" name="Text 10"/>
          <p:cNvSpPr txBox="1"/>
          <p:nvPr/>
        </p:nvSpPr>
        <p:spPr>
          <a:xfrm>
            <a:off x="1097280" y="2075688"/>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Rehabilitación</a:t>
            </a:r>
            <a:endParaRPr lang="en-US" sz="1300" dirty="0"/>
          </a:p>
        </p:txBody>
      </p:sp>
      <p:sp>
        <p:nvSpPr>
          <p:cNvPr id="16" name="Text 11"/>
          <p:cNvSpPr txBox="1"/>
          <p:nvPr/>
        </p:nvSpPr>
        <p:spPr>
          <a:xfrm>
            <a:off x="1097280" y="2331720"/>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Fisioterapia y terapia ocupacional, incluidas férulas para prevenir o mejorar la mala alineación.</a:t>
            </a:r>
            <a:endParaRPr lang="en-US" sz="1050" dirty="0"/>
          </a:p>
        </p:txBody>
      </p:sp>
      <p:sp>
        <p:nvSpPr>
          <p:cNvPr id="17" name="Shape 12"/>
          <p:cNvSpPr/>
          <p:nvPr/>
        </p:nvSpPr>
        <p:spPr>
          <a:xfrm>
            <a:off x="4663440" y="2121408"/>
            <a:ext cx="502920" cy="502920"/>
          </a:xfrm>
          <a:prstGeom prst="ellipse">
            <a:avLst/>
          </a:prstGeom>
          <a:solidFill>
            <a:srgbClr val="7A1F45"/>
          </a:solidFill>
          <a:ln w="12700">
            <a:solidFill>
              <a:srgbClr val="7A1F45"/>
            </a:solidFill>
            <a:prstDash val="solid"/>
          </a:ln>
        </p:spPr>
      </p:sp>
      <p:pic>
        <p:nvPicPr>
          <p:cNvPr id="18" name="Image 3" descr="preencoded.png">    </p:cNvPr>
          <p:cNvPicPr>
            <a:picLocks noChangeAspect="1"/>
          </p:cNvPicPr>
          <p:nvPr/>
        </p:nvPicPr>
        <p:blipFill>
          <a:blip r:embed="rId4"/>
          <a:stretch>
            <a:fillRect/>
          </a:stretch>
        </p:blipFill>
        <p:spPr>
          <a:xfrm>
            <a:off x="4789170" y="2247138"/>
            <a:ext cx="251460" cy="251460"/>
          </a:xfrm>
          <a:prstGeom prst="rect">
            <a:avLst/>
          </a:prstGeom>
        </p:spPr>
      </p:pic>
      <p:sp>
        <p:nvSpPr>
          <p:cNvPr id="19" name="Text 13"/>
          <p:cNvSpPr txBox="1"/>
          <p:nvPr/>
        </p:nvSpPr>
        <p:spPr>
          <a:xfrm>
            <a:off x="5303520" y="2075688"/>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Salud mental</a:t>
            </a:r>
            <a:endParaRPr lang="en-US" sz="1300" dirty="0"/>
          </a:p>
        </p:txBody>
      </p:sp>
      <p:sp>
        <p:nvSpPr>
          <p:cNvPr id="20" name="Text 14"/>
          <p:cNvSpPr txBox="1"/>
          <p:nvPr/>
        </p:nvSpPr>
        <p:spPr>
          <a:xfrm>
            <a:off x="5303520" y="2331720"/>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Consejería psicológica o tratamiento antidepresivo cuando esté indicado.</a:t>
            </a:r>
            <a:endParaRPr lang="en-US" sz="1050" dirty="0"/>
          </a:p>
        </p:txBody>
      </p:sp>
      <p:sp>
        <p:nvSpPr>
          <p:cNvPr id="21" name="Shape 15"/>
          <p:cNvSpPr/>
          <p:nvPr/>
        </p:nvSpPr>
        <p:spPr>
          <a:xfrm>
            <a:off x="457200" y="3008376"/>
            <a:ext cx="502920" cy="502920"/>
          </a:xfrm>
          <a:prstGeom prst="ellipse">
            <a:avLst/>
          </a:prstGeom>
          <a:solidFill>
            <a:srgbClr val="D9472F"/>
          </a:solidFill>
          <a:ln w="12700">
            <a:solidFill>
              <a:srgbClr val="D9472F"/>
            </a:solidFill>
            <a:prstDash val="solid"/>
          </a:ln>
        </p:spPr>
      </p:sp>
      <p:pic>
        <p:nvPicPr>
          <p:cNvPr id="22" name="Image 4" descr="preencoded.png">    </p:cNvPr>
          <p:cNvPicPr>
            <a:picLocks noChangeAspect="1"/>
          </p:cNvPicPr>
          <p:nvPr/>
        </p:nvPicPr>
        <p:blipFill>
          <a:blip r:embed="rId5"/>
          <a:stretch>
            <a:fillRect/>
          </a:stretch>
        </p:blipFill>
        <p:spPr>
          <a:xfrm>
            <a:off x="582930" y="3134106"/>
            <a:ext cx="251460" cy="251460"/>
          </a:xfrm>
          <a:prstGeom prst="rect">
            <a:avLst/>
          </a:prstGeom>
        </p:spPr>
      </p:pic>
      <p:sp>
        <p:nvSpPr>
          <p:cNvPr id="23" name="Text 16"/>
          <p:cNvSpPr txBox="1"/>
          <p:nvPr/>
        </p:nvSpPr>
        <p:spPr>
          <a:xfrm>
            <a:off x="1097280" y="2962656"/>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Riesgo cardiovascular</a:t>
            </a:r>
            <a:endParaRPr lang="en-US" sz="1300" dirty="0"/>
          </a:p>
        </p:txBody>
      </p:sp>
      <p:sp>
        <p:nvSpPr>
          <p:cNvPr id="24" name="Text 17"/>
          <p:cNvSpPr txBox="1"/>
          <p:nvPr/>
        </p:nvSpPr>
        <p:spPr>
          <a:xfrm>
            <a:off x="1097280" y="3218688"/>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Más infarto, insuficiencia cardiaca y ACV: estatinas y control de la presión según guías.</a:t>
            </a:r>
            <a:endParaRPr lang="en-US" sz="1050" dirty="0"/>
          </a:p>
        </p:txBody>
      </p:sp>
      <p:sp>
        <p:nvSpPr>
          <p:cNvPr id="25" name="Shape 18"/>
          <p:cNvSpPr/>
          <p:nvPr/>
        </p:nvSpPr>
        <p:spPr>
          <a:xfrm>
            <a:off x="4663440" y="3008376"/>
            <a:ext cx="502920" cy="502920"/>
          </a:xfrm>
          <a:prstGeom prst="ellipse">
            <a:avLst/>
          </a:prstGeom>
          <a:solidFill>
            <a:srgbClr val="D9472F"/>
          </a:solidFill>
          <a:ln w="12700">
            <a:solidFill>
              <a:srgbClr val="D9472F"/>
            </a:solidFill>
            <a:prstDash val="solid"/>
          </a:ln>
        </p:spPr>
      </p:sp>
      <p:pic>
        <p:nvPicPr>
          <p:cNvPr id="26" name="Image 5" descr="preencoded.png">    </p:cNvPr>
          <p:cNvPicPr>
            <a:picLocks noChangeAspect="1"/>
          </p:cNvPicPr>
          <p:nvPr/>
        </p:nvPicPr>
        <p:blipFill>
          <a:blip r:embed="rId6"/>
          <a:stretch>
            <a:fillRect/>
          </a:stretch>
        </p:blipFill>
        <p:spPr>
          <a:xfrm>
            <a:off x="4789170" y="3134106"/>
            <a:ext cx="251460" cy="251460"/>
          </a:xfrm>
          <a:prstGeom prst="rect">
            <a:avLst/>
          </a:prstGeom>
        </p:spPr>
      </p:pic>
      <p:sp>
        <p:nvSpPr>
          <p:cNvPr id="27" name="Text 19"/>
          <p:cNvSpPr txBox="1"/>
          <p:nvPr/>
        </p:nvSpPr>
        <p:spPr>
          <a:xfrm>
            <a:off x="5303520" y="2962656"/>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Dejar de fumar</a:t>
            </a:r>
            <a:endParaRPr lang="en-US" sz="1300" dirty="0"/>
          </a:p>
        </p:txBody>
      </p:sp>
      <p:sp>
        <p:nvSpPr>
          <p:cNvPr id="28" name="Text 20"/>
          <p:cNvSpPr txBox="1"/>
          <p:nvPr/>
        </p:nvSpPr>
        <p:spPr>
          <a:xfrm>
            <a:off x="5303520" y="3218688"/>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Fumar aumenta la actividad de la AR; dejarlo la reduce (además del beneficio CV y oncológico).</a:t>
            </a:r>
            <a:endParaRPr lang="en-US" sz="1050" dirty="0"/>
          </a:p>
        </p:txBody>
      </p:sp>
      <p:sp>
        <p:nvSpPr>
          <p:cNvPr id="29" name="Shape 21"/>
          <p:cNvSpPr/>
          <p:nvPr/>
        </p:nvSpPr>
        <p:spPr>
          <a:xfrm>
            <a:off x="457200" y="3895344"/>
            <a:ext cx="502920" cy="502920"/>
          </a:xfrm>
          <a:prstGeom prst="ellipse">
            <a:avLst/>
          </a:prstGeom>
          <a:solidFill>
            <a:srgbClr val="7A1F45"/>
          </a:solidFill>
          <a:ln w="12700">
            <a:solidFill>
              <a:srgbClr val="7A1F45"/>
            </a:solidFill>
            <a:prstDash val="solid"/>
          </a:ln>
        </p:spPr>
      </p:sp>
      <p:pic>
        <p:nvPicPr>
          <p:cNvPr id="30" name="Image 6" descr="preencoded.png">    </p:cNvPr>
          <p:cNvPicPr>
            <a:picLocks noChangeAspect="1"/>
          </p:cNvPicPr>
          <p:nvPr/>
        </p:nvPicPr>
        <p:blipFill>
          <a:blip r:embed="rId7"/>
          <a:stretch>
            <a:fillRect/>
          </a:stretch>
        </p:blipFill>
        <p:spPr>
          <a:xfrm>
            <a:off x="582930" y="4021074"/>
            <a:ext cx="251460" cy="251460"/>
          </a:xfrm>
          <a:prstGeom prst="rect">
            <a:avLst/>
          </a:prstGeom>
        </p:spPr>
      </p:pic>
      <p:sp>
        <p:nvSpPr>
          <p:cNvPr id="31" name="Text 22"/>
          <p:cNvSpPr txBox="1"/>
          <p:nvPr/>
        </p:nvSpPr>
        <p:spPr>
          <a:xfrm>
            <a:off x="1097280" y="3849624"/>
            <a:ext cx="3383280" cy="256032"/>
          </a:xfrm>
          <a:prstGeom prst="rect">
            <a:avLst/>
          </a:prstGeom>
          <a:noFill/>
          <a:ln/>
        </p:spPr>
        <p:txBody>
          <a:bodyPr wrap="square" lIns="0" tIns="0" rIns="0" bIns="0" rtlCol="0" anchor="t"/>
          <a:lstStyle/>
          <a:p>
            <a:pPr indent="0" marL="0">
              <a:buNone/>
            </a:pPr>
            <a:r>
              <a:rPr lang="en-US" sz="1300" b="1" dirty="0">
                <a:solidFill>
                  <a:srgbClr val="2A1433"/>
                </a:solidFill>
                <a:latin typeface="Calibri" pitchFamily="34" charset="0"/>
                <a:ea typeface="Calibri" pitchFamily="34" charset="-122"/>
                <a:cs typeface="Calibri" pitchFamily="34" charset="-120"/>
              </a:rPr>
              <a:t>Biosimilares</a:t>
            </a:r>
            <a:endParaRPr lang="en-US" sz="1300" dirty="0"/>
          </a:p>
        </p:txBody>
      </p:sp>
      <p:sp>
        <p:nvSpPr>
          <p:cNvPr id="32" name="Text 23"/>
          <p:cNvSpPr txBox="1"/>
          <p:nvPr/>
        </p:nvSpPr>
        <p:spPr>
          <a:xfrm>
            <a:off x="1097280" y="4105656"/>
            <a:ext cx="3429000" cy="566928"/>
          </a:xfrm>
          <a:prstGeom prst="rect">
            <a:avLst/>
          </a:prstGeom>
          <a:noFill/>
          <a:ln/>
        </p:spPr>
        <p:txBody>
          <a:bodyPr wrap="square" lIns="0" tIns="0" rIns="0" bIns="0" rtlCol="0" anchor="t"/>
          <a:lstStyle/>
          <a:p>
            <a:pPr indent="0" marL="0">
              <a:buNone/>
            </a:pPr>
            <a:r>
              <a:rPr lang="en-US" sz="1050" dirty="0">
                <a:solidFill>
                  <a:srgbClr val="2B2330"/>
                </a:solidFill>
                <a:latin typeface="Calibri" pitchFamily="34" charset="0"/>
                <a:ea typeface="Calibri" pitchFamily="34" charset="-122"/>
                <a:cs typeface="Calibri" pitchFamily="34" charset="-120"/>
              </a:rPr>
              <a:t>Adalimumab, etanercept, infliximab, rituximab y tocilizumab: igual eficacia y seguridad, menor costo.</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RECUADRO DEL ARTÍCULO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Preguntas frecuentes sobre la AR del adulto</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34440"/>
            <a:ext cx="2615184" cy="3429000"/>
          </a:xfrm>
          <a:prstGeom prst="roundRect">
            <a:avLst>
              <a:gd name="adj" fmla="val 2797"/>
            </a:avLst>
          </a:prstGeom>
          <a:solidFill>
            <a:srgbClr val="F7EEF1"/>
          </a:solidFill>
          <a:ln w="12700">
            <a:solidFill>
              <a:srgbClr val="F7EEF1"/>
            </a:solidFill>
            <a:prstDash val="solid"/>
          </a:ln>
        </p:spPr>
      </p:sp>
      <p:sp>
        <p:nvSpPr>
          <p:cNvPr id="6" name="Shape 4"/>
          <p:cNvSpPr/>
          <p:nvPr/>
        </p:nvSpPr>
        <p:spPr>
          <a:xfrm>
            <a:off x="640080" y="1389888"/>
            <a:ext cx="548640" cy="548640"/>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77240" y="1527048"/>
            <a:ext cx="274320" cy="274320"/>
          </a:xfrm>
          <a:prstGeom prst="rect">
            <a:avLst/>
          </a:prstGeom>
        </p:spPr>
      </p:pic>
      <p:sp>
        <p:nvSpPr>
          <p:cNvPr id="8" name="Text 5"/>
          <p:cNvSpPr txBox="1"/>
          <p:nvPr/>
        </p:nvSpPr>
        <p:spPr>
          <a:xfrm>
            <a:off x="640080" y="2029968"/>
            <a:ext cx="2286000" cy="36576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¿Cómo se diagnostica?</a:t>
            </a:r>
            <a:endParaRPr lang="en-US" sz="1500" dirty="0"/>
          </a:p>
        </p:txBody>
      </p:sp>
      <p:sp>
        <p:nvSpPr>
          <p:cNvPr id="9" name="Text 6"/>
          <p:cNvSpPr txBox="1"/>
          <p:nvPr/>
        </p:nvSpPr>
        <p:spPr>
          <a:xfrm>
            <a:off x="640080" y="2450592"/>
            <a:ext cx="2286000" cy="214884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Historia clínica y tumefacción típica de muñecas, MCF e IFP de ambas manos, respetando las IFD. ~75 % tiene rigidez matutina &gt; 30 min. La mayoría tiene FR y/o ACPA y PCR elevada.</a:t>
            </a:r>
            <a:endParaRPr lang="en-US" sz="1150" dirty="0"/>
          </a:p>
        </p:txBody>
      </p:sp>
      <p:sp>
        <p:nvSpPr>
          <p:cNvPr id="10" name="Shape 7"/>
          <p:cNvSpPr/>
          <p:nvPr/>
        </p:nvSpPr>
        <p:spPr>
          <a:xfrm>
            <a:off x="3264408" y="1234440"/>
            <a:ext cx="2615184" cy="3429000"/>
          </a:xfrm>
          <a:prstGeom prst="roundRect">
            <a:avLst>
              <a:gd name="adj" fmla="val 2797"/>
            </a:avLst>
          </a:prstGeom>
          <a:solidFill>
            <a:srgbClr val="F7EEF1"/>
          </a:solidFill>
          <a:ln w="12700">
            <a:solidFill>
              <a:srgbClr val="F7EEF1"/>
            </a:solidFill>
            <a:prstDash val="solid"/>
          </a:ln>
        </p:spPr>
      </p:sp>
      <p:sp>
        <p:nvSpPr>
          <p:cNvPr id="11" name="Shape 8"/>
          <p:cNvSpPr/>
          <p:nvPr/>
        </p:nvSpPr>
        <p:spPr>
          <a:xfrm>
            <a:off x="3447288" y="1389888"/>
            <a:ext cx="548640" cy="548640"/>
          </a:xfrm>
          <a:prstGeom prst="ellipse">
            <a:avLst/>
          </a:prstGeom>
          <a:solidFill>
            <a:srgbClr val="7A1F45"/>
          </a:solidFill>
          <a:ln w="12700">
            <a:solidFill>
              <a:srgbClr val="7A1F45"/>
            </a:solidFill>
            <a:prstDash val="solid"/>
          </a:ln>
        </p:spPr>
      </p:sp>
      <p:pic>
        <p:nvPicPr>
          <p:cNvPr id="12" name="Image 1" descr="preencoded.png">    </p:cNvPr>
          <p:cNvPicPr>
            <a:picLocks noChangeAspect="1"/>
          </p:cNvPicPr>
          <p:nvPr/>
        </p:nvPicPr>
        <p:blipFill>
          <a:blip r:embed="rId2"/>
          <a:stretch>
            <a:fillRect/>
          </a:stretch>
        </p:blipFill>
        <p:spPr>
          <a:xfrm>
            <a:off x="3584448" y="1527048"/>
            <a:ext cx="274320" cy="274320"/>
          </a:xfrm>
          <a:prstGeom prst="rect">
            <a:avLst/>
          </a:prstGeom>
        </p:spPr>
      </p:pic>
      <p:sp>
        <p:nvSpPr>
          <p:cNvPr id="13" name="Text 9"/>
          <p:cNvSpPr txBox="1"/>
          <p:nvPr/>
        </p:nvSpPr>
        <p:spPr>
          <a:xfrm>
            <a:off x="3447288" y="2029968"/>
            <a:ext cx="2286000" cy="36576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¿Cómo se evalúa?</a:t>
            </a:r>
            <a:endParaRPr lang="en-US" sz="1500" dirty="0"/>
          </a:p>
        </p:txBody>
      </p:sp>
      <p:sp>
        <p:nvSpPr>
          <p:cNvPr id="14" name="Text 10"/>
          <p:cNvSpPr txBox="1"/>
          <p:nvPr/>
        </p:nvSpPr>
        <p:spPr>
          <a:xfrm>
            <a:off x="3447288" y="2450592"/>
            <a:ext cx="2286000" cy="214884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CDAI cada 1–3 meses en AR activa. Alta &gt; 22; baja ≤ 10; remisión ≤ 2,8. Mejorías del 50, 75 y 85 % = respuesta mínima, moderada y mayor.</a:t>
            </a:r>
            <a:endParaRPr lang="en-US" sz="1150" dirty="0"/>
          </a:p>
        </p:txBody>
      </p:sp>
      <p:sp>
        <p:nvSpPr>
          <p:cNvPr id="15" name="Shape 11"/>
          <p:cNvSpPr/>
          <p:nvPr/>
        </p:nvSpPr>
        <p:spPr>
          <a:xfrm>
            <a:off x="6071616" y="1234440"/>
            <a:ext cx="2615184" cy="3429000"/>
          </a:xfrm>
          <a:prstGeom prst="roundRect">
            <a:avLst>
              <a:gd name="adj" fmla="val 2797"/>
            </a:avLst>
          </a:prstGeom>
          <a:solidFill>
            <a:srgbClr val="F7EEF1"/>
          </a:solidFill>
          <a:ln w="12700">
            <a:solidFill>
              <a:srgbClr val="F7EEF1"/>
            </a:solidFill>
            <a:prstDash val="solid"/>
          </a:ln>
        </p:spPr>
      </p:sp>
      <p:sp>
        <p:nvSpPr>
          <p:cNvPr id="16" name="Shape 12"/>
          <p:cNvSpPr/>
          <p:nvPr/>
        </p:nvSpPr>
        <p:spPr>
          <a:xfrm>
            <a:off x="6254496" y="1389888"/>
            <a:ext cx="548640" cy="548640"/>
          </a:xfrm>
          <a:prstGeom prst="ellipse">
            <a:avLst/>
          </a:prstGeom>
          <a:solidFill>
            <a:srgbClr val="D9472F"/>
          </a:solidFill>
          <a:ln w="12700">
            <a:solidFill>
              <a:srgbClr val="D9472F"/>
            </a:solidFill>
            <a:prstDash val="solid"/>
          </a:ln>
        </p:spPr>
      </p:sp>
      <p:pic>
        <p:nvPicPr>
          <p:cNvPr id="17" name="Image 2" descr="preencoded.png">    </p:cNvPr>
          <p:cNvPicPr>
            <a:picLocks noChangeAspect="1"/>
          </p:cNvPicPr>
          <p:nvPr/>
        </p:nvPicPr>
        <p:blipFill>
          <a:blip r:embed="rId3"/>
          <a:stretch>
            <a:fillRect/>
          </a:stretch>
        </p:blipFill>
        <p:spPr>
          <a:xfrm>
            <a:off x="6391656" y="1527048"/>
            <a:ext cx="274320" cy="274320"/>
          </a:xfrm>
          <a:prstGeom prst="rect">
            <a:avLst/>
          </a:prstGeom>
        </p:spPr>
      </p:pic>
      <p:sp>
        <p:nvSpPr>
          <p:cNvPr id="18" name="Text 13"/>
          <p:cNvSpPr txBox="1"/>
          <p:nvPr/>
        </p:nvSpPr>
        <p:spPr>
          <a:xfrm>
            <a:off x="6254496" y="2029968"/>
            <a:ext cx="2286000" cy="365760"/>
          </a:xfrm>
          <a:prstGeom prst="rect">
            <a:avLst/>
          </a:prstGeom>
          <a:noFill/>
          <a:ln/>
        </p:spPr>
        <p:txBody>
          <a:bodyPr wrap="square" lIns="0" tIns="0" rIns="0" bIns="0" rtlCol="0" anchor="t"/>
          <a:lstStyle/>
          <a:p>
            <a:pPr indent="0" marL="0">
              <a:buNone/>
            </a:pPr>
            <a:r>
              <a:rPr lang="en-US" sz="1500" b="1" dirty="0">
                <a:solidFill>
                  <a:srgbClr val="2A1433"/>
                </a:solidFill>
                <a:latin typeface="Cambria" pitchFamily="34" charset="0"/>
                <a:ea typeface="Cambria" pitchFamily="34" charset="-122"/>
                <a:cs typeface="Cambria" pitchFamily="34" charset="-120"/>
              </a:rPr>
              <a:t>¿Cómo se trata?</a:t>
            </a:r>
            <a:endParaRPr lang="en-US" sz="1500" dirty="0"/>
          </a:p>
        </p:txBody>
      </p:sp>
      <p:sp>
        <p:nvSpPr>
          <p:cNvPr id="19" name="Text 14"/>
          <p:cNvSpPr txBox="1"/>
          <p:nvPr/>
        </p:nvSpPr>
        <p:spPr>
          <a:xfrm>
            <a:off x="6254496" y="2450592"/>
            <a:ext cx="2286000" cy="2148840"/>
          </a:xfrm>
          <a:prstGeom prst="rect">
            <a:avLst/>
          </a:prstGeom>
          <a:noFill/>
          <a:ln/>
        </p:spPr>
        <p:txBody>
          <a:bodyPr wrap="square" lIns="0" tIns="0" rIns="0" bIns="0" rtlCol="0" anchor="t"/>
          <a:lstStyle/>
          <a:p>
            <a:pPr indent="0" marL="0">
              <a:buNone/>
            </a:pPr>
            <a:r>
              <a:rPr lang="en-US" sz="1150" dirty="0">
                <a:solidFill>
                  <a:srgbClr val="2B2330"/>
                </a:solidFill>
                <a:latin typeface="Calibri" pitchFamily="34" charset="0"/>
                <a:ea typeface="Calibri" pitchFamily="34" charset="-122"/>
                <a:cs typeface="Calibri" pitchFamily="34" charset="-120"/>
              </a:rPr>
              <a:t>FAME al diagnóstico: MTX oral 20–25 mg/sem ± prednisona 5–7,5 mg/d ≤ 3 meses. Sin ↓ 50 % a 3 meses o remisión a 6: añadir biológico; JAKi si bajo riesgo CV, TEV y de cáncer.</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indent="0" marL="0">
              <a:buNone/>
            </a:pPr>
            <a:r>
              <a:rPr lang="en-US" sz="1100" b="1" spc="300" kern="0" dirty="0">
                <a:solidFill>
                  <a:srgbClr val="D9472F"/>
                </a:solidFill>
                <a:latin typeface="Calibri" pitchFamily="34" charset="0"/>
                <a:ea typeface="Calibri" pitchFamily="34" charset="-122"/>
                <a:cs typeface="Calibri" pitchFamily="34" charset="-120"/>
              </a:rPr>
              <a:t>LIMITACIONES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2A1433"/>
                </a:solidFill>
                <a:latin typeface="Cambria" pitchFamily="34" charset="0"/>
                <a:ea typeface="Cambria" pitchFamily="34" charset="-122"/>
                <a:cs typeface="Cambria" pitchFamily="34" charset="-120"/>
              </a:rPr>
              <a:t>Limitaciones de la revisión</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indent="0" marL="0">
              <a:buNone/>
            </a:pPr>
            <a:r>
              <a:rPr lang="en-US" sz="850" dirty="0">
                <a:solidFill>
                  <a:srgbClr val="6E6573"/>
                </a:solidFill>
                <a:latin typeface="Calibri" pitchFamily="34" charset="0"/>
                <a:ea typeface="Calibri" pitchFamily="34" charset="-122"/>
                <a:cs typeface="Calibri" pitchFamily="34" charset="-120"/>
              </a:rPr>
              <a:t>Smolen JS, et al. Rheumatoid Arthritis in Adults: A Review. JAMA. 2026</a:t>
            </a:r>
            <a:endParaRPr lang="en-US" sz="850" dirty="0"/>
          </a:p>
        </p:txBody>
      </p:sp>
      <p:sp>
        <p:nvSpPr>
          <p:cNvPr id="5" name="Shape 3"/>
          <p:cNvSpPr/>
          <p:nvPr/>
        </p:nvSpPr>
        <p:spPr>
          <a:xfrm>
            <a:off x="457200" y="1280160"/>
            <a:ext cx="8229600" cy="731520"/>
          </a:xfrm>
          <a:prstGeom prst="roundRect">
            <a:avLst>
              <a:gd name="adj" fmla="val 10000"/>
            </a:avLst>
          </a:prstGeom>
          <a:solidFill>
            <a:srgbClr val="F7EEF1"/>
          </a:solidFill>
          <a:ln w="12700">
            <a:solidFill>
              <a:srgbClr val="F7EEF1"/>
            </a:solidFill>
            <a:prstDash val="solid"/>
          </a:ln>
        </p:spPr>
      </p:sp>
      <p:sp>
        <p:nvSpPr>
          <p:cNvPr id="6" name="Shape 4"/>
          <p:cNvSpPr/>
          <p:nvPr/>
        </p:nvSpPr>
        <p:spPr>
          <a:xfrm>
            <a:off x="594360" y="1389888"/>
            <a:ext cx="512064" cy="512064"/>
          </a:xfrm>
          <a:prstGeom prst="ellipse">
            <a:avLst/>
          </a:prstGeom>
          <a:solidFill>
            <a:srgbClr val="7A1F45"/>
          </a:solidFill>
          <a:ln w="12700">
            <a:solidFill>
              <a:srgbClr val="7A1F45"/>
            </a:solidFill>
            <a:prstDash val="solid"/>
          </a:ln>
        </p:spPr>
      </p:sp>
      <p:pic>
        <p:nvPicPr>
          <p:cNvPr id="7" name="Image 0" descr="preencoded.png">    </p:cNvPr>
          <p:cNvPicPr>
            <a:picLocks noChangeAspect="1"/>
          </p:cNvPicPr>
          <p:nvPr/>
        </p:nvPicPr>
        <p:blipFill>
          <a:blip r:embed="rId1"/>
          <a:stretch>
            <a:fillRect/>
          </a:stretch>
        </p:blipFill>
        <p:spPr>
          <a:xfrm>
            <a:off x="722376" y="1517904"/>
            <a:ext cx="256032" cy="256032"/>
          </a:xfrm>
          <a:prstGeom prst="rect">
            <a:avLst/>
          </a:prstGeom>
        </p:spPr>
      </p:pic>
      <p:sp>
        <p:nvSpPr>
          <p:cNvPr id="8" name="Text 5"/>
          <p:cNvSpPr txBox="1"/>
          <p:nvPr/>
        </p:nvSpPr>
        <p:spPr>
          <a:xfrm>
            <a:off x="1280160" y="1280160"/>
            <a:ext cx="7269480" cy="731520"/>
          </a:xfrm>
          <a:prstGeom prst="rect">
            <a:avLst/>
          </a:prstGeom>
          <a:noFill/>
          <a:ln/>
        </p:spPr>
        <p:txBody>
          <a:bodyPr wrap="square" lIns="0" tIns="0" rIns="0" bIns="0" rtlCol="0" anchor="ctr"/>
          <a:lstStyle/>
          <a:p>
            <a:pPr indent="0" marL="0">
              <a:buNone/>
            </a:pPr>
            <a:r>
              <a:rPr lang="en-US" sz="1350" dirty="0">
                <a:solidFill>
                  <a:srgbClr val="2B2330"/>
                </a:solidFill>
                <a:latin typeface="Calibri" pitchFamily="34" charset="0"/>
                <a:ea typeface="Calibri" pitchFamily="34" charset="-122"/>
                <a:cs typeface="Calibri" pitchFamily="34" charset="-120"/>
              </a:rPr>
              <a:t>No es una revisión sistemática: no se evaluó formalmente la calidad de los artículos</a:t>
            </a:r>
            <a:endParaRPr lang="en-US" sz="1350" dirty="0"/>
          </a:p>
        </p:txBody>
      </p:sp>
      <p:sp>
        <p:nvSpPr>
          <p:cNvPr id="9" name="Shape 6"/>
          <p:cNvSpPr/>
          <p:nvPr/>
        </p:nvSpPr>
        <p:spPr>
          <a:xfrm>
            <a:off x="457200" y="2130552"/>
            <a:ext cx="8229600" cy="731520"/>
          </a:xfrm>
          <a:prstGeom prst="roundRect">
            <a:avLst>
              <a:gd name="adj" fmla="val 10000"/>
            </a:avLst>
          </a:prstGeom>
          <a:solidFill>
            <a:srgbClr val="F7EEF1"/>
          </a:solidFill>
          <a:ln w="12700">
            <a:solidFill>
              <a:srgbClr val="F7EEF1"/>
            </a:solidFill>
            <a:prstDash val="solid"/>
          </a:ln>
        </p:spPr>
      </p:sp>
      <p:sp>
        <p:nvSpPr>
          <p:cNvPr id="10" name="Shape 7"/>
          <p:cNvSpPr/>
          <p:nvPr/>
        </p:nvSpPr>
        <p:spPr>
          <a:xfrm>
            <a:off x="594360" y="2240280"/>
            <a:ext cx="512064" cy="512064"/>
          </a:xfrm>
          <a:prstGeom prst="ellipse">
            <a:avLst/>
          </a:prstGeom>
          <a:solidFill>
            <a:srgbClr val="7A1F45"/>
          </a:solidFill>
          <a:ln w="12700">
            <a:solidFill>
              <a:srgbClr val="7A1F45"/>
            </a:solidFill>
            <a:prstDash val="solid"/>
          </a:ln>
        </p:spPr>
      </p:sp>
      <p:pic>
        <p:nvPicPr>
          <p:cNvPr id="11" name="Image 1" descr="preencoded.png">    </p:cNvPr>
          <p:cNvPicPr>
            <a:picLocks noChangeAspect="1"/>
          </p:cNvPicPr>
          <p:nvPr/>
        </p:nvPicPr>
        <p:blipFill>
          <a:blip r:embed="rId2"/>
          <a:stretch>
            <a:fillRect/>
          </a:stretch>
        </p:blipFill>
        <p:spPr>
          <a:xfrm>
            <a:off x="722376" y="2368296"/>
            <a:ext cx="256032" cy="256032"/>
          </a:xfrm>
          <a:prstGeom prst="rect">
            <a:avLst/>
          </a:prstGeom>
        </p:spPr>
      </p:pic>
      <p:sp>
        <p:nvSpPr>
          <p:cNvPr id="12" name="Text 8"/>
          <p:cNvSpPr txBox="1"/>
          <p:nvPr/>
        </p:nvSpPr>
        <p:spPr>
          <a:xfrm>
            <a:off x="1280160" y="2130552"/>
            <a:ext cx="7269480" cy="731520"/>
          </a:xfrm>
          <a:prstGeom prst="rect">
            <a:avLst/>
          </a:prstGeom>
          <a:noFill/>
          <a:ln/>
        </p:spPr>
        <p:txBody>
          <a:bodyPr wrap="square" lIns="0" tIns="0" rIns="0" bIns="0" rtlCol="0" anchor="ctr"/>
          <a:lstStyle/>
          <a:p>
            <a:pPr indent="0" marL="0">
              <a:buNone/>
            </a:pPr>
            <a:r>
              <a:rPr lang="en-US" sz="1350" dirty="0">
                <a:solidFill>
                  <a:srgbClr val="2B2330"/>
                </a:solidFill>
                <a:latin typeface="Calibri" pitchFamily="34" charset="0"/>
                <a:ea typeface="Calibri" pitchFamily="34" charset="-122"/>
                <a:cs typeface="Calibri" pitchFamily="34" charset="-120"/>
              </a:rPr>
              <a:t>Solo se incluyeron artículos en inglés</a:t>
            </a:r>
            <a:endParaRPr lang="en-US" sz="1350" dirty="0"/>
          </a:p>
        </p:txBody>
      </p:sp>
      <p:sp>
        <p:nvSpPr>
          <p:cNvPr id="13" name="Shape 9"/>
          <p:cNvSpPr/>
          <p:nvPr/>
        </p:nvSpPr>
        <p:spPr>
          <a:xfrm>
            <a:off x="457200" y="2980944"/>
            <a:ext cx="8229600" cy="731520"/>
          </a:xfrm>
          <a:prstGeom prst="roundRect">
            <a:avLst>
              <a:gd name="adj" fmla="val 10000"/>
            </a:avLst>
          </a:prstGeom>
          <a:solidFill>
            <a:srgbClr val="F7EEF1"/>
          </a:solidFill>
          <a:ln w="12700">
            <a:solidFill>
              <a:srgbClr val="F7EEF1"/>
            </a:solidFill>
            <a:prstDash val="solid"/>
          </a:ln>
        </p:spPr>
      </p:sp>
      <p:sp>
        <p:nvSpPr>
          <p:cNvPr id="14" name="Shape 10"/>
          <p:cNvSpPr/>
          <p:nvPr/>
        </p:nvSpPr>
        <p:spPr>
          <a:xfrm>
            <a:off x="594360" y="3090672"/>
            <a:ext cx="512064" cy="512064"/>
          </a:xfrm>
          <a:prstGeom prst="ellipse">
            <a:avLst/>
          </a:prstGeom>
          <a:solidFill>
            <a:srgbClr val="7A1F45"/>
          </a:solidFill>
          <a:ln w="12700">
            <a:solidFill>
              <a:srgbClr val="7A1F45"/>
            </a:solidFill>
            <a:prstDash val="solid"/>
          </a:ln>
        </p:spPr>
      </p:sp>
      <p:pic>
        <p:nvPicPr>
          <p:cNvPr id="15" name="Image 2" descr="preencoded.png">    </p:cNvPr>
          <p:cNvPicPr>
            <a:picLocks noChangeAspect="1"/>
          </p:cNvPicPr>
          <p:nvPr/>
        </p:nvPicPr>
        <p:blipFill>
          <a:blip r:embed="rId3"/>
          <a:stretch>
            <a:fillRect/>
          </a:stretch>
        </p:blipFill>
        <p:spPr>
          <a:xfrm>
            <a:off x="722376" y="3218688"/>
            <a:ext cx="256032" cy="256032"/>
          </a:xfrm>
          <a:prstGeom prst="rect">
            <a:avLst/>
          </a:prstGeom>
        </p:spPr>
      </p:pic>
      <p:sp>
        <p:nvSpPr>
          <p:cNvPr id="16" name="Text 11"/>
          <p:cNvSpPr txBox="1"/>
          <p:nvPr/>
        </p:nvSpPr>
        <p:spPr>
          <a:xfrm>
            <a:off x="1280160" y="2980944"/>
            <a:ext cx="7269480" cy="731520"/>
          </a:xfrm>
          <a:prstGeom prst="rect">
            <a:avLst/>
          </a:prstGeom>
          <a:noFill/>
          <a:ln/>
        </p:spPr>
        <p:txBody>
          <a:bodyPr wrap="square" lIns="0" tIns="0" rIns="0" bIns="0" rtlCol="0" anchor="ctr"/>
          <a:lstStyle/>
          <a:p>
            <a:pPr indent="0" marL="0">
              <a:buNone/>
            </a:pPr>
            <a:r>
              <a:rPr lang="en-US" sz="1350" dirty="0">
                <a:solidFill>
                  <a:srgbClr val="2B2330"/>
                </a:solidFill>
                <a:latin typeface="Calibri" pitchFamily="34" charset="0"/>
                <a:ea typeface="Calibri" pitchFamily="34" charset="-122"/>
                <a:cs typeface="Calibri" pitchFamily="34" charset="-120"/>
              </a:rPr>
              <a:t>Pueden haberse omitido artículos relevantes</a:t>
            </a:r>
            <a:endParaRPr lang="en-US" sz="1350" dirty="0"/>
          </a:p>
        </p:txBody>
      </p:sp>
      <p:sp>
        <p:nvSpPr>
          <p:cNvPr id="17" name="Shape 12"/>
          <p:cNvSpPr/>
          <p:nvPr/>
        </p:nvSpPr>
        <p:spPr>
          <a:xfrm>
            <a:off x="457200" y="3831336"/>
            <a:ext cx="8229600" cy="731520"/>
          </a:xfrm>
          <a:prstGeom prst="roundRect">
            <a:avLst>
              <a:gd name="adj" fmla="val 10000"/>
            </a:avLst>
          </a:prstGeom>
          <a:solidFill>
            <a:srgbClr val="F7EEF1"/>
          </a:solidFill>
          <a:ln w="12700">
            <a:solidFill>
              <a:srgbClr val="F7EEF1"/>
            </a:solidFill>
            <a:prstDash val="solid"/>
          </a:ln>
        </p:spPr>
      </p:sp>
      <p:sp>
        <p:nvSpPr>
          <p:cNvPr id="18" name="Shape 13"/>
          <p:cNvSpPr/>
          <p:nvPr/>
        </p:nvSpPr>
        <p:spPr>
          <a:xfrm>
            <a:off x="594360" y="3941064"/>
            <a:ext cx="512064" cy="512064"/>
          </a:xfrm>
          <a:prstGeom prst="ellipse">
            <a:avLst/>
          </a:prstGeom>
          <a:solidFill>
            <a:srgbClr val="7A1F45"/>
          </a:solidFill>
          <a:ln w="12700">
            <a:solidFill>
              <a:srgbClr val="7A1F45"/>
            </a:solidFill>
            <a:prstDash val="solid"/>
          </a:ln>
        </p:spPr>
      </p:sp>
      <p:pic>
        <p:nvPicPr>
          <p:cNvPr id="19" name="Image 3" descr="preencoded.png">    </p:cNvPr>
          <p:cNvPicPr>
            <a:picLocks noChangeAspect="1"/>
          </p:cNvPicPr>
          <p:nvPr/>
        </p:nvPicPr>
        <p:blipFill>
          <a:blip r:embed="rId4"/>
          <a:stretch>
            <a:fillRect/>
          </a:stretch>
        </p:blipFill>
        <p:spPr>
          <a:xfrm>
            <a:off x="722376" y="4069080"/>
            <a:ext cx="256032" cy="256032"/>
          </a:xfrm>
          <a:prstGeom prst="rect">
            <a:avLst/>
          </a:prstGeom>
        </p:spPr>
      </p:pic>
      <p:sp>
        <p:nvSpPr>
          <p:cNvPr id="20" name="Text 14"/>
          <p:cNvSpPr txBox="1"/>
          <p:nvPr/>
        </p:nvSpPr>
        <p:spPr>
          <a:xfrm>
            <a:off x="1280160" y="3831336"/>
            <a:ext cx="7269480" cy="731520"/>
          </a:xfrm>
          <a:prstGeom prst="rect">
            <a:avLst/>
          </a:prstGeom>
          <a:noFill/>
          <a:ln/>
        </p:spPr>
        <p:txBody>
          <a:bodyPr wrap="square" lIns="0" tIns="0" rIns="0" bIns="0" rtlCol="0" anchor="ctr"/>
          <a:lstStyle/>
          <a:p>
            <a:pPr indent="0" marL="0">
              <a:buNone/>
            </a:pPr>
            <a:r>
              <a:rPr lang="en-US" sz="1350" dirty="0">
                <a:solidFill>
                  <a:srgbClr val="2B2330"/>
                </a:solidFill>
                <a:latin typeface="Calibri" pitchFamily="34" charset="0"/>
                <a:ea typeface="Calibri" pitchFamily="34" charset="-122"/>
                <a:cs typeface="Calibri" pitchFamily="34" charset="-120"/>
              </a:rPr>
              <a:t>Fuera de alcance: AR preclínica, AR difícil de tratar, embarazo y lactancia, biomarcadores de respuesta y terapias futuras (CAR-T, activadores biespecíficos de células T)</a:t>
            </a:r>
            <a:endParaRPr lang="en-US" sz="13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E657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A1433"/>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t"/>
          <a:lstStyle/>
          <a:p>
            <a:pPr indent="0" marL="0">
              <a:buNone/>
            </a:pPr>
            <a:r>
              <a:rPr lang="en-US" sz="1200" b="1" spc="300" kern="0" dirty="0">
                <a:solidFill>
                  <a:srgbClr val="F2B8A8"/>
                </a:solidFill>
                <a:latin typeface="Calibri" pitchFamily="34" charset="0"/>
                <a:ea typeface="Calibri" pitchFamily="34" charset="-122"/>
                <a:cs typeface="Calibri" pitchFamily="34" charset="-120"/>
              </a:rPr>
              <a:t>CONCLUSIONES</a:t>
            </a:r>
            <a:endParaRPr lang="en-US" sz="1200" dirty="0"/>
          </a:p>
        </p:txBody>
      </p:sp>
      <p:sp>
        <p:nvSpPr>
          <p:cNvPr id="3" name="Text 1"/>
          <p:cNvSpPr txBox="1"/>
          <p:nvPr/>
        </p:nvSpPr>
        <p:spPr>
          <a:xfrm>
            <a:off x="548640" y="731520"/>
            <a:ext cx="8046720" cy="594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Mensajes para llevar a casa</a:t>
            </a:r>
            <a:endParaRPr lang="en-US" sz="3000" dirty="0"/>
          </a:p>
        </p:txBody>
      </p:sp>
      <p:sp>
        <p:nvSpPr>
          <p:cNvPr id="4" name="Shape 2"/>
          <p:cNvSpPr/>
          <p:nvPr/>
        </p:nvSpPr>
        <p:spPr>
          <a:xfrm>
            <a:off x="548640" y="1618488"/>
            <a:ext cx="457200" cy="457200"/>
          </a:xfrm>
          <a:prstGeom prst="ellipse">
            <a:avLst/>
          </a:prstGeom>
          <a:solidFill>
            <a:srgbClr val="7A1F45"/>
          </a:solidFill>
          <a:ln w="12700">
            <a:solidFill>
              <a:srgbClr val="7A1F45"/>
            </a:solidFill>
            <a:prstDash val="solid"/>
          </a:ln>
        </p:spPr>
      </p:sp>
      <p:sp>
        <p:nvSpPr>
          <p:cNvPr id="5" name="Text 3"/>
          <p:cNvSpPr txBox="1"/>
          <p:nvPr/>
        </p:nvSpPr>
        <p:spPr>
          <a:xfrm>
            <a:off x="54864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234440" y="1554480"/>
            <a:ext cx="7406640" cy="60350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La AR es una enfermedad autoinmune crónica que destruye las articulaciones: diagnosticarla y tratarla temprano cambia su curso.</a:t>
            </a:r>
            <a:endParaRPr lang="en-US" sz="1500" dirty="0"/>
          </a:p>
        </p:txBody>
      </p:sp>
      <p:sp>
        <p:nvSpPr>
          <p:cNvPr id="7" name="Shape 5"/>
          <p:cNvSpPr/>
          <p:nvPr/>
        </p:nvSpPr>
        <p:spPr>
          <a:xfrm>
            <a:off x="548640" y="2395728"/>
            <a:ext cx="457200" cy="457200"/>
          </a:xfrm>
          <a:prstGeom prst="ellipse">
            <a:avLst/>
          </a:prstGeom>
          <a:solidFill>
            <a:srgbClr val="7A1F45"/>
          </a:solidFill>
          <a:ln w="12700">
            <a:solidFill>
              <a:srgbClr val="7A1F45"/>
            </a:solidFill>
            <a:prstDash val="solid"/>
          </a:ln>
        </p:spPr>
      </p:sp>
      <p:sp>
        <p:nvSpPr>
          <p:cNvPr id="8" name="Text 6"/>
          <p:cNvSpPr txBox="1"/>
          <p:nvPr/>
        </p:nvSpPr>
        <p:spPr>
          <a:xfrm>
            <a:off x="548640" y="23957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1234440" y="2331720"/>
            <a:ext cx="7406640" cy="60350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Metotrexato es la terapia inicial de primera línea, con glucocorticoides a corto plazo como complemento.</a:t>
            </a:r>
            <a:endParaRPr lang="en-US" sz="1500" dirty="0"/>
          </a:p>
        </p:txBody>
      </p:sp>
      <p:sp>
        <p:nvSpPr>
          <p:cNvPr id="10" name="Shape 8"/>
          <p:cNvSpPr/>
          <p:nvPr/>
        </p:nvSpPr>
        <p:spPr>
          <a:xfrm>
            <a:off x="548640" y="3172968"/>
            <a:ext cx="457200" cy="457200"/>
          </a:xfrm>
          <a:prstGeom prst="ellipse">
            <a:avLst/>
          </a:prstGeom>
          <a:solidFill>
            <a:srgbClr val="7A1F45"/>
          </a:solidFill>
          <a:ln w="12700">
            <a:solidFill>
              <a:srgbClr val="7A1F45"/>
            </a:solidFill>
            <a:prstDash val="solid"/>
          </a:ln>
        </p:spPr>
      </p:sp>
      <p:sp>
        <p:nvSpPr>
          <p:cNvPr id="11" name="Text 9"/>
          <p:cNvSpPr txBox="1"/>
          <p:nvPr/>
        </p:nvSpPr>
        <p:spPr>
          <a:xfrm>
            <a:off x="54864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234440" y="3108960"/>
            <a:ext cx="7406640" cy="60350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Tratar hasta el objetivo: ↓ ≥ 50 % a los 3 meses y remisión (o baja actividad) a los 6 meses, medidas con CDAI.</a:t>
            </a:r>
            <a:endParaRPr lang="en-US" sz="1500" dirty="0"/>
          </a:p>
        </p:txBody>
      </p:sp>
      <p:sp>
        <p:nvSpPr>
          <p:cNvPr id="13" name="Shape 11"/>
          <p:cNvSpPr/>
          <p:nvPr/>
        </p:nvSpPr>
        <p:spPr>
          <a:xfrm>
            <a:off x="548640" y="3950208"/>
            <a:ext cx="457200" cy="457200"/>
          </a:xfrm>
          <a:prstGeom prst="ellipse">
            <a:avLst/>
          </a:prstGeom>
          <a:solidFill>
            <a:srgbClr val="D9472F"/>
          </a:solidFill>
          <a:ln w="12700">
            <a:solidFill>
              <a:srgbClr val="D9472F"/>
            </a:solidFill>
            <a:prstDash val="solid"/>
          </a:ln>
        </p:spPr>
      </p:sp>
      <p:sp>
        <p:nvSpPr>
          <p:cNvPr id="14" name="Text 12"/>
          <p:cNvSpPr txBox="1"/>
          <p:nvPr/>
        </p:nvSpPr>
        <p:spPr>
          <a:xfrm>
            <a:off x="548640" y="3950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3"/>
          <p:cNvSpPr txBox="1"/>
          <p:nvPr/>
        </p:nvSpPr>
        <p:spPr>
          <a:xfrm>
            <a:off x="1234440" y="3886200"/>
            <a:ext cx="7406640" cy="60350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Si no hay remisión, añadir FAME biológicos o inhibidores JAK eleva la remisión o baja actividad a ~80 %.</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8C8D6"/>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A1433"/>
        </a:solidFill>
      </p:bgPr>
    </p:bg>
    <p:spTree>
      <p:nvGrpSpPr>
        <p:cNvPr id="1" name=""/>
        <p:cNvGrpSpPr/>
        <p:nvPr/>
      </p:nvGrpSpPr>
      <p:grpSpPr>
        <a:xfrm>
          <a:off x="0" y="0"/>
          <a:ext cx="0" cy="0"/>
          <a:chOff x="0" y="0"/>
          <a:chExt cx="0" cy="0"/>
        </a:xfrm>
      </p:grpSpPr>
      <p:sp>
        <p:nvSpPr>
          <p:cNvPr id="2" name="Shape 0"/>
          <p:cNvSpPr/>
          <p:nvPr/>
        </p:nvSpPr>
        <p:spPr>
          <a:xfrm>
            <a:off x="-2011680" y="3611880"/>
            <a:ext cx="3108960" cy="3108960"/>
          </a:xfrm>
          <a:prstGeom prst="ellipse">
            <a:avLst/>
          </a:prstGeom>
          <a:solidFill>
            <a:srgbClr val="7A1F45">
              <a:alpha val="60000"/>
            </a:srgbClr>
          </a:solidFill>
          <a:ln w="12700">
            <a:solidFill>
              <a:srgbClr val="7A1F45">
                <a:alpha val="0"/>
              </a:srgbClr>
            </a:solidFill>
            <a:prstDash val="solid"/>
          </a:ln>
        </p:spPr>
      </p:sp>
      <p:sp>
        <p:nvSpPr>
          <p:cNvPr id="3" name="Shape 1"/>
          <p:cNvSpPr/>
          <p:nvPr/>
        </p:nvSpPr>
        <p:spPr>
          <a:xfrm>
            <a:off x="7223760" y="-1005840"/>
            <a:ext cx="2926080" cy="2926080"/>
          </a:xfrm>
          <a:prstGeom prst="ellipse">
            <a:avLst/>
          </a:prstGeom>
          <a:solidFill>
            <a:srgbClr val="D9472F">
              <a:alpha val="45000"/>
            </a:srgbClr>
          </a:solidFill>
          <a:ln w="12700">
            <a:solidFill>
              <a:srgbClr val="D9472F">
                <a:alpha val="0"/>
              </a:srgbClr>
            </a:solidFill>
            <a:prstDash val="solid"/>
          </a:ln>
        </p:spPr>
      </p:sp>
      <p:sp>
        <p:nvSpPr>
          <p:cNvPr id="4" name="Text 2"/>
          <p:cNvSpPr txBox="1"/>
          <p:nvPr/>
        </p:nvSpPr>
        <p:spPr>
          <a:xfrm>
            <a:off x="548640" y="1005840"/>
            <a:ext cx="804672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5" name="Text 3"/>
          <p:cNvSpPr txBox="1"/>
          <p:nvPr/>
        </p:nvSpPr>
        <p:spPr>
          <a:xfrm>
            <a:off x="548640" y="1828800"/>
            <a:ext cx="8046720" cy="502920"/>
          </a:xfrm>
          <a:prstGeom prst="rect">
            <a:avLst/>
          </a:prstGeom>
          <a:noFill/>
          <a:ln/>
        </p:spPr>
        <p:txBody>
          <a:bodyPr wrap="square" lIns="0" tIns="0" rIns="0" bIns="0" rtlCol="0" anchor="t"/>
          <a:lstStyle/>
          <a:p>
            <a:pPr algn="ctr" indent="0" marL="0">
              <a:buNone/>
            </a:pPr>
            <a:r>
              <a:rPr lang="en-US" sz="2400" i="1" dirty="0">
                <a:solidFill>
                  <a:srgbClr val="F2B8A8"/>
                </a:solidFill>
                <a:latin typeface="Cambria" pitchFamily="34" charset="0"/>
                <a:ea typeface="Cambria" pitchFamily="34" charset="-122"/>
                <a:cs typeface="Cambria" pitchFamily="34" charset="-120"/>
              </a:rPr>
              <a:t>¿Preguntas?</a:t>
            </a:r>
            <a:endParaRPr lang="en-US" sz="2400" dirty="0"/>
          </a:p>
        </p:txBody>
      </p:sp>
      <p:sp>
        <p:nvSpPr>
          <p:cNvPr id="6" name="Text 4"/>
          <p:cNvSpPr txBox="1"/>
          <p:nvPr/>
        </p:nvSpPr>
        <p:spPr>
          <a:xfrm>
            <a:off x="1097280" y="3108960"/>
            <a:ext cx="6949440" cy="64008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Referencia: Smolen JS, Kerschbaumer A, Aletaha D, Robinson WH. Rheumatoid arthritis in adults: a review. JAMA. Publicado en línea el 10 de septiembre de 2026. doi:10.1001/jama.2026.15455</a:t>
            </a:r>
            <a:endParaRPr lang="en-US" sz="1200" dirty="0"/>
          </a:p>
        </p:txBody>
      </p:sp>
      <p:sp>
        <p:nvSpPr>
          <p:cNvPr id="7" name="Text 5"/>
          <p:cNvSpPr txBox="1"/>
          <p:nvPr/>
        </p:nvSpPr>
        <p:spPr>
          <a:xfrm>
            <a:off x="1097280" y="3840480"/>
            <a:ext cx="6949440" cy="365760"/>
          </a:xfrm>
          <a:prstGeom prst="rect">
            <a:avLst/>
          </a:prstGeom>
          <a:noFill/>
          <a:ln/>
        </p:spPr>
        <p:txBody>
          <a:bodyPr wrap="square" lIns="0" tIns="0" rIns="0" bIns="0" rtlCol="0" anchor="t"/>
          <a:lstStyle/>
          <a:p>
            <a:pPr algn="ctr" indent="0" marL="0">
              <a:buNone/>
            </a:pPr>
            <a:r>
              <a:rPr lang="en-US" sz="1000" dirty="0">
                <a:solidFill>
                  <a:srgbClr val="D8C8D6"/>
                </a:solidFill>
                <a:latin typeface="Calibri" pitchFamily="34" charset="0"/>
                <a:ea typeface="Calibri" pitchFamily="34" charset="-122"/>
                <a:cs typeface="Calibri" pitchFamily="34" charset="-120"/>
              </a:rPr>
              <a:t>Figuras 1A y 2 reproducidas del artículo original con fines educativos. © 2026 American Medical Association.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Artritis reumatoide en adultos: una revisión (JAMA 2026)</dc:title>
  <dc:subject>PptxGenJS Presentation</dc:subject>
  <dc:creator>Presentación basada en Smolen JS et al. JAMA 2026</dc:creator>
  <cp:lastModifiedBy>Presentación basada en Smolen JS et al. JAMA 2026</cp:lastModifiedBy>
  <cp:revision>1</cp:revision>
  <dcterms:created xsi:type="dcterms:W3CDTF">2026-09-27T16:21:41Z</dcterms:created>
  <dcterms:modified xsi:type="dcterms:W3CDTF">2026-09-27T16:21:41Z</dcterms:modified>
</cp:coreProperties>
</file>
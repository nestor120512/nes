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Buenos días. Presentamos la respuesta punto por punto a la comunicación del Comité del 8 de octubre de 2026 y al concepto del Dr. Anderson Díaz Pérez. No repetiremos el contenido metodológico del proyecto: recorreremos cada observación, lo que respondimos y dónde quedó el ajuste en la versión 2.0 del protocolo.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Analizamos individualmente las siete observaciones. La mayoría dieron lugar a modificaciones directas del protocolo. Respecto de la recomendación de redefinir la población exclusivamente por rechazo transfusional, se mantuvo la delimitación original y se amplió su fundamentación. En la observación 2 se incorporó la diferenciación entre identidad religiosa y decisión clínica, sin modificar título ni objetivos.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recomendación fue analizada en detalle. Una cohorte definida exclusivamente por rechazo transfusional respondería una pregunta distinta y reduciría la comparabilidad con la literatura que sustenta el vacío de conocimiento. Cuatro razones: la evidencia con la que comparamos define su población como Testigos de Jehová; durante 2020–2025 la negativa en este grupo era homogénea y documentada; el estudio de referencia de Pattakos usó este mismo enfoque; y existe un deber de justicia, porque la Corte Constitucional reconoce esta prestación. Además, la afiliación religiosa no es variable de exposición ni de comparación: al ser constante en la cohorte, no puede estimarse su asociación con los desenlaces.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diseño, con esta misma población, ha sido aprobado por comités de ética en distintos países. Destacamos dos casos con declaración ética verificada: el InCor de São Paulo aprobó la dispensa del consentimiento con el número 7.441.177, y el estudio alemán de Hartrumpf con el número E-01-20230411, ambos por tratarse de datos anonimizados. Los demás se publicaron en revistas que exigen declarar la aprobación ética.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observación fue incorporada en cuanto a la diferenciación explícita entre identidad religiosa y decisión clínica. El protocolo define dos condiciones independientes: la identidad religiosa, que delimita la población, y la decisión clínica individual, que define la elegibilidad y el perfil de aceptación. La primera nunca se usa para inferir la segunda. El título y los objetivos no se modifican porque ya exigían el rechazo documentado; se precisaron los criterios 2 y 4, y la base analítica no almacena la afiliación religiosa.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observación fue acogida. El marco teórico describe la posición vigente durante 2020–2025 y los dos cambios de 2026: el 20 de marzo, sobre la propia sangre almacenada, y el 18 de septiembre, sobre los componentes principales. Ambos son posteriores al periodo, no alteran quién entra al estudio y obligan a declarar la validez temporal: los resultados describen un periodo histórico que no se extrapolará a pacientes atendidos después de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 acoge la observación: el protocolo no presume que el carácter retrospectivo determine el riesgo ni la dispensa; ambos se sustentan de forma independiente y quedan sujetos a la valoración del Comité. Verificamos uno por uno los supuestos del literal a del artículo 11: es documental, no identifica al participante y no indaga ni valora prácticas, creencias o conductas religiosas. El único riesgo es informacional y se controla con el plan de datos, porque la condición religiosa es además un dato sensible según la Ley 1581 de 2012.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solicitud de dispensa se apoya en cinco condiciones que se cumplen a la vez: es sin riesgo; obtener el consentimiento es impracticable y sesgaría la estimación; contactar a pacientes o familias aumentaría justamente el riesgo de revelar datos sensibles; el estudio tiene valor social; y la Ley 1581 permite el tratamiento con fines científicos con supresión de identidad. Si el Comité considera necesaria otra salvaguarda, la incorporamos antes de iniciar.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observación fue acogida en su totalidad. El nuevo numeral 3.9.1 desarrolla los elementos solicitados: roles de responsable y encargado según la Ley 1581, accesos controlados por la Clínica, codificación sin rastro religioso, almacenamiento cifrado, custodia separada de las claves, un procedimiento de incidentes con aviso en 24 horas, reglas contra la identificación indirecta y minimización de los datos.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observación fue acogida. La religión es constante en la cohorte, así que no puede asociarse estadísticamente con ningún desenlace, y sin grupo de comparación ninguna muerte se presentará como consecuencia de la decisión del paciente. Definimos lo que no haremos y lo que haremos, con base en los artículos 9 y 11 de la Declaración de la UNESCO y en las guías STROBE y RECORD.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observación fue acogida. En todos los pacientes, dos revisores independientes verifican la negativa, el producto, los cambios de voluntad y cualquier transfusión, cruzando tres fuentes. Cada transfusión se clasifica en cinco categorías. El estudio no juzga la legalidad ni la responsabilidad de nadie: el objetivo es clasificar bien la exposición.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síntesis: seis observaciones dieron lugar a ajustes directos y trazables en el protocolo; en la primera se mantuvo la delimitación de la población y se amplió su fundamentación.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Cerramos con los compromisos del equipo y con la solicitud formal del aval ético. Quedamos atentos a sus preguntas.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Muchas gracias.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PORTADA-image-2.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image" Target="../media/image-1003-2.png"/><Relationship Id="rId3" Type="http://schemas.openxmlformats.org/officeDocument/2006/relationships/image" Target="../media/image-1003-3.png"/><Relationship Id="rId4"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ORTADA">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tmp/claude-0/-home-user-nes/a5bb95c2-4a06-56c4-9fc4-42b080fd2b5e/scratchpad/deck2/assets/zentria_blanco_h.png">    </p:cNvPr>
          <p:cNvPicPr>
            <a:picLocks noChangeAspect="1"/>
          </p:cNvPicPr>
          <p:nvPr/>
        </p:nvPicPr>
        <p:blipFill>
          <a:blip r:embed="rId1"/>
          <a:stretch>
            <a:fillRect/>
          </a:stretch>
        </p:blipFill>
        <p:spPr>
          <a:xfrm>
            <a:off x="548640" y="5989320"/>
            <a:ext cx="1600200" cy="32004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IDO">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6236208"/>
            <a:ext cx="11091672" cy="0"/>
          </a:xfrm>
          <a:prstGeom prst="line">
            <a:avLst/>
          </a:prstGeom>
          <a:noFill/>
          <a:ln w="12700">
            <a:solidFill>
              <a:srgbClr val="E2C9DD"/>
            </a:solidFill>
            <a:prstDash val="solid"/>
          </a:ln>
        </p:spPr>
      </p:sp>
      <p:pic>
        <p:nvPicPr>
          <p:cNvPr id="3" name="Image 0" descr="/tmp/claude-0/-home-user-nes/a5bb95c2-4a06-56c4-9fc4-42b080fd2b5e/scratchpad/deck2/assets/zentria_color.png">    </p:cNvPr>
          <p:cNvPicPr>
            <a:picLocks noChangeAspect="1"/>
          </p:cNvPicPr>
          <p:nvPr/>
        </p:nvPicPr>
        <p:blipFill>
          <a:blip r:embed="rId1"/>
          <a:stretch>
            <a:fillRect/>
          </a:stretch>
        </p:blipFill>
        <p:spPr>
          <a:xfrm>
            <a:off x="548640" y="6309360"/>
            <a:ext cx="566928" cy="420624"/>
          </a:xfrm>
          <a:prstGeom prst="rect">
            <a:avLst/>
          </a:prstGeom>
        </p:spPr>
      </p:pic>
      <p:pic>
        <p:nvPicPr>
          <p:cNvPr id="4" name="Image 1" descr="/tmp/claude-0/-home-user-nes/a5bb95c2-4a06-56c4-9fc4-42b080fd2b5e/scratchpad/deck2/assets/cgn.png">    </p:cNvPr>
          <p:cNvPicPr>
            <a:picLocks noChangeAspect="1"/>
          </p:cNvPicPr>
          <p:nvPr/>
        </p:nvPicPr>
        <p:blipFill>
          <a:blip r:embed="rId2"/>
          <a:stretch>
            <a:fillRect/>
          </a:stretch>
        </p:blipFill>
        <p:spPr>
          <a:xfrm>
            <a:off x="1261872" y="6336792"/>
            <a:ext cx="877824" cy="365760"/>
          </a:xfrm>
          <a:prstGeom prst="rect">
            <a:avLst/>
          </a:prstGeom>
        </p:spPr>
      </p:pic>
      <p:pic>
        <p:nvPicPr>
          <p:cNvPr id="5" name="Image 2" descr="/tmp/claude-0/-home-user-nes/a5bb95c2-4a06-56c4-9fc4-42b080fd2b5e/scratchpad/deck2/assets/corazon_morado.png">    </p:cNvPr>
          <p:cNvPicPr>
            <a:picLocks noChangeAspect="1"/>
          </p:cNvPicPr>
          <p:nvPr/>
        </p:nvPicPr>
        <p:blipFill>
          <a:blip r:embed="rId3">
            <a:alphaModFix amt="65000"/>
          </a:blip>
          <a:stretch>
            <a:fillRect/>
          </a:stretch>
        </p:blipFill>
        <p:spPr>
          <a:xfrm>
            <a:off x="9829800" y="164592"/>
            <a:ext cx="1828800" cy="914400"/>
          </a:xfrm>
          <a:prstGeom prst="rect">
            <a:avLst/>
          </a:prstGeom>
        </p:spPr>
      </p:pic>
      <p:sp>
        <p:nvSpPr>
          <p:cNvPr id="6" name="Text 1"/>
          <p:cNvSpPr/>
          <p:nvPr/>
        </p:nvSpPr>
        <p:spPr>
          <a:xfrm>
            <a:off x="2286000" y="6355080"/>
            <a:ext cx="7315200" cy="320040"/>
          </a:xfrm>
          <a:prstGeom prst="rect">
            <a:avLst/>
          </a:prstGeom>
          <a:noFill/>
          <a:ln/>
        </p:spPr>
        <p:txBody>
          <a:bodyPr wrap="square" lIns="0" tIns="0" rIns="0" bIns="0" rtlCol="0" anchor="ctr"/>
          <a:lstStyle/>
          <a:p>
            <a:pPr algn="l" indent="0" marL="0">
              <a:buNone/>
            </a:pPr>
            <a:r>
              <a:rPr lang="en-US" sz="1000" dirty="0">
                <a:solidFill>
                  <a:srgbClr val="6B6B6B"/>
                </a:solidFill>
              </a:rPr>
              <a:t>Respuesta al Comité de Bioética en Investigación · Clínica General del Norte</a:t>
            </a:r>
            <a:endParaRPr lang="en-US" sz="1000" dirty="0"/>
          </a:p>
        </p:txBody>
      </p:sp>
      <p:sp>
        <p:nvSpPr>
          <p:cNvPr id="25" name="Slide Number Placeholder 0"/>
          <p:cNvSpPr>
            <a:spLocks noGrp="1"/>
          </p:cNvSpPr>
          <p:nvPr>
            <p:ph type="sldNum" sz="quarter" idx="4294967295"/>
          </p:nvPr>
        </p:nvSpPr>
        <p:spPr>
          <a:xfrm>
            <a:off x="11201400" y="635508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01400" y="635508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777240"/>
            <a:ext cx="6766560" cy="320040"/>
          </a:xfrm>
          <a:prstGeom prst="rect">
            <a:avLst/>
          </a:prstGeom>
          <a:noFill/>
          <a:ln/>
        </p:spPr>
        <p:txBody>
          <a:bodyPr wrap="square" lIns="508" tIns="508" rIns="508" bIns="508" rtlCol="0" anchor="t"/>
          <a:lstStyle/>
          <a:p>
            <a:pPr algn="l" indent="0" marL="0">
              <a:lnSpc>
                <a:spcPct val="100000"/>
              </a:lnSpc>
              <a:buNone/>
            </a:pPr>
            <a:r>
              <a:rPr lang="en-US" sz="1300" b="1" dirty="0">
                <a:solidFill>
                  <a:srgbClr val="FFB5A6"/>
                </a:solidFill>
                <a:latin typeface="Calibri" pitchFamily="34" charset="0"/>
                <a:ea typeface="Calibri" pitchFamily="34" charset="-122"/>
                <a:cs typeface="Calibri" pitchFamily="34" charset="-120"/>
              </a:rPr>
              <a:t>COMITÉ DE BIOÉTICA EN INVESTIGACIÓN · CLÍNICA GENERAL DEL NORTE</a:t>
            </a:r>
            <a:endParaRPr lang="en-US" sz="1300" dirty="0"/>
          </a:p>
        </p:txBody>
      </p:sp>
      <p:sp>
        <p:nvSpPr>
          <p:cNvPr id="3" name="Text 1"/>
          <p:cNvSpPr txBox="1"/>
          <p:nvPr/>
        </p:nvSpPr>
        <p:spPr>
          <a:xfrm>
            <a:off x="548640" y="1188720"/>
            <a:ext cx="6583680" cy="1737360"/>
          </a:xfrm>
          <a:prstGeom prst="rect">
            <a:avLst/>
          </a:prstGeom>
          <a:noFill/>
          <a:ln/>
        </p:spPr>
        <p:txBody>
          <a:bodyPr wrap="square" lIns="508" tIns="508" rIns="508" bIns="508" rtlCol="0" anchor="t"/>
          <a:lstStyle/>
          <a:p>
            <a:pPr algn="l" indent="0" marL="0">
              <a:lnSpc>
                <a:spcPct val="95000"/>
              </a:lnSpc>
              <a:buNone/>
            </a:pPr>
            <a:r>
              <a:rPr lang="en-US" sz="4000" b="1" dirty="0">
                <a:solidFill>
                  <a:srgbClr val="FFFFFF"/>
                </a:solidFill>
                <a:latin typeface="Calibri" pitchFamily="34" charset="0"/>
                <a:ea typeface="Calibri" pitchFamily="34" charset="-122"/>
                <a:cs typeface="Calibri" pitchFamily="34" charset="-120"/>
              </a:rPr>
              <a:t>Respuesta a las observaciones bioéticas del protocolo</a:t>
            </a:r>
            <a:endParaRPr lang="en-US" sz="4000" dirty="0"/>
          </a:p>
        </p:txBody>
      </p:sp>
      <p:sp>
        <p:nvSpPr>
          <p:cNvPr id="4" name="Text 2"/>
          <p:cNvSpPr txBox="1"/>
          <p:nvPr/>
        </p:nvSpPr>
        <p:spPr>
          <a:xfrm>
            <a:off x="548640" y="3017520"/>
            <a:ext cx="6309360" cy="1005840"/>
          </a:xfrm>
          <a:prstGeom prst="rect">
            <a:avLst/>
          </a:prstGeom>
          <a:noFill/>
          <a:ln/>
        </p:spPr>
        <p:txBody>
          <a:bodyPr wrap="square" lIns="508" tIns="508" rIns="508" bIns="508" rtlCol="0" anchor="t"/>
          <a:lstStyle/>
          <a:p>
            <a:pPr algn="l" indent="0" marL="0">
              <a:lnSpc>
                <a:spcPct val="100000"/>
              </a:lnSpc>
              <a:buNone/>
            </a:pPr>
            <a:r>
              <a:rPr lang="en-US" sz="1500" i="1" dirty="0">
                <a:solidFill>
                  <a:srgbClr val="FFFFFF"/>
                </a:solidFill>
                <a:latin typeface="Calibri" pitchFamily="34" charset="0"/>
                <a:ea typeface="Calibri" pitchFamily="34" charset="-122"/>
                <a:cs typeface="Calibri" pitchFamily="34" charset="-120"/>
              </a:rPr>
              <a:t>«Complicaciones mayores y mortalidad intrahospitalaria según el tipo de cirugía cardiaca en pacientes Testigos de Jehová: cohorte retrospectiva en Barranquilla, 2020–2025»</a:t>
            </a:r>
            <a:endParaRPr lang="en-US" sz="1500" dirty="0"/>
          </a:p>
        </p:txBody>
      </p:sp>
      <p:sp>
        <p:nvSpPr>
          <p:cNvPr id="5" name="Text 3"/>
          <p:cNvSpPr txBox="1"/>
          <p:nvPr/>
        </p:nvSpPr>
        <p:spPr>
          <a:xfrm>
            <a:off x="548640" y="4343400"/>
            <a:ext cx="6400800" cy="1097280"/>
          </a:xfrm>
          <a:prstGeom prst="rect">
            <a:avLst/>
          </a:prstGeom>
          <a:noFill/>
          <a:ln/>
        </p:spPr>
        <p:txBody>
          <a:bodyPr wrap="square" lIns="508" tIns="508" rIns="508" bIns="508" rtlCol="0" anchor="t"/>
          <a:lstStyle/>
          <a:p>
            <a:pPr algn="l" indent="0" marL="0">
              <a:lnSpc>
                <a:spcPct val="100000"/>
              </a:lnSpc>
              <a:spcAft>
                <a:spcPts val="400"/>
              </a:spcAft>
              <a:buNone/>
            </a:pPr>
            <a:r>
              <a:rPr lang="en-US" sz="1500" b="1" dirty="0">
                <a:solidFill>
                  <a:srgbClr val="FFFFFF"/>
                </a:solidFill>
                <a:latin typeface="Calibri" pitchFamily="34" charset="0"/>
                <a:ea typeface="Calibri" pitchFamily="34" charset="-122"/>
                <a:cs typeface="Calibri" pitchFamily="34" charset="-120"/>
              </a:rPr>
              <a:t>Daily Daniela Torres Villazon · Nestor Fabian Sanabria Duarte</a:t>
            </a:r>
            <a:endParaRPr lang="en-US" sz="1500" dirty="0"/>
          </a:p>
          <a:p>
            <a:pPr algn="l" indent="0" marL="0">
              <a:lnSpc>
                <a:spcPct val="100000"/>
              </a:lnSpc>
              <a:spcAft>
                <a:spcPts val="400"/>
              </a:spcAft>
              <a:buNone/>
            </a:pPr>
            <a:r>
              <a:rPr lang="en-US" sz="1500" dirty="0">
                <a:solidFill>
                  <a:srgbClr val="FFFFFF"/>
                </a:solidFill>
                <a:latin typeface="Calibri" pitchFamily="34" charset="0"/>
                <a:ea typeface="Calibri" pitchFamily="34" charset="-122"/>
                <a:cs typeface="Calibri" pitchFamily="34" charset="-120"/>
              </a:rPr>
              <a:t>Especialización en Medicina Interna – Universidad Libre, Seccional Barranquilla</a:t>
            </a:r>
            <a:endParaRPr lang="en-US" sz="1500" dirty="0"/>
          </a:p>
          <a:p>
            <a:pPr algn="l" indent="0" marL="0">
              <a:lnSpc>
                <a:spcPct val="100000"/>
              </a:lnSpc>
              <a:spcAft>
                <a:spcPts val="400"/>
              </a:spcAft>
              <a:buNone/>
            </a:pPr>
            <a:r>
              <a:rPr lang="en-US" sz="1500" dirty="0">
                <a:solidFill>
                  <a:srgbClr val="FFFFFF"/>
                </a:solidFill>
                <a:latin typeface="Calibri" pitchFamily="34" charset="0"/>
                <a:ea typeface="Calibri" pitchFamily="34" charset="-122"/>
                <a:cs typeface="Calibri" pitchFamily="34" charset="-120"/>
              </a:rPr>
              <a:t>Sesión del Comité · 28 de octubre de 2026</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292608"/>
            <a:ext cx="8686800" cy="274320"/>
          </a:xfrm>
          <a:prstGeom prst="rect">
            <a:avLst/>
          </a:prstGeom>
          <a:noFill/>
          <a:ln/>
        </p:spPr>
        <p:txBody>
          <a:bodyPr wrap="square" lIns="508" tIns="508" rIns="508" bIns="508" rtlCol="0" anchor="t"/>
          <a:lstStyle/>
          <a:p>
            <a:pPr algn="l" indent="0" marL="0">
              <a:lnSpc>
                <a:spcPct val="100000"/>
              </a:lnSpc>
              <a:buNone/>
            </a:pPr>
            <a:r>
              <a:rPr lang="en-US" sz="1200" b="1" dirty="0">
                <a:solidFill>
                  <a:srgbClr val="FF5F3F"/>
                </a:solidFill>
                <a:latin typeface="Calibri" pitchFamily="34" charset="0"/>
                <a:ea typeface="Calibri" pitchFamily="34" charset="-122"/>
                <a:cs typeface="Calibri" pitchFamily="34" charset="-120"/>
              </a:rPr>
              <a:t>RUTA DE LA RESPUESTA</a:t>
            </a:r>
            <a:endParaRPr lang="en-US" sz="1200" dirty="0"/>
          </a:p>
        </p:txBody>
      </p:sp>
      <p:sp>
        <p:nvSpPr>
          <p:cNvPr id="3" name="Text 1"/>
          <p:cNvSpPr txBox="1"/>
          <p:nvPr/>
        </p:nvSpPr>
        <p:spPr>
          <a:xfrm>
            <a:off x="548640" y="548640"/>
            <a:ext cx="9326880" cy="548640"/>
          </a:xfrm>
          <a:prstGeom prst="rect">
            <a:avLst/>
          </a:prstGeom>
          <a:noFill/>
          <a:ln/>
        </p:spPr>
        <p:txBody>
          <a:bodyPr wrap="square" lIns="508" tIns="508" rIns="508" bIns="508" rtlCol="0" anchor="ctr"/>
          <a:lstStyle/>
          <a:p>
            <a:pPr algn="l" indent="0" marL="0">
              <a:lnSpc>
                <a:spcPct val="100000"/>
              </a:lnSpc>
              <a:buNone/>
            </a:pPr>
            <a:r>
              <a:rPr lang="en-US" sz="2800" b="1" dirty="0">
                <a:solidFill>
                  <a:srgbClr val="80006B"/>
                </a:solidFill>
                <a:latin typeface="Calibri" pitchFamily="34" charset="0"/>
                <a:ea typeface="Calibri" pitchFamily="34" charset="-122"/>
                <a:cs typeface="Calibri" pitchFamily="34" charset="-120"/>
              </a:rPr>
              <a:t>Siete observaciones, analizadas una por una</a:t>
            </a:r>
            <a:endParaRPr lang="en-US" sz="2800" dirty="0"/>
          </a:p>
        </p:txBody>
      </p:sp>
      <p:sp>
        <p:nvSpPr>
          <p:cNvPr id="4" name="Shape 2"/>
          <p:cNvSpPr/>
          <p:nvPr/>
        </p:nvSpPr>
        <p:spPr>
          <a:xfrm>
            <a:off x="548640" y="1325880"/>
            <a:ext cx="4754880" cy="4343400"/>
          </a:xfrm>
          <a:prstGeom prst="roundRect">
            <a:avLst>
              <a:gd name="adj" fmla="val 1684"/>
            </a:avLst>
          </a:prstGeom>
          <a:solidFill>
            <a:srgbClr val="80006B"/>
          </a:solidFill>
          <a:ln/>
        </p:spPr>
      </p:sp>
      <p:sp>
        <p:nvSpPr>
          <p:cNvPr id="5" name="Text 3"/>
          <p:cNvSpPr txBox="1"/>
          <p:nvPr/>
        </p:nvSpPr>
        <p:spPr>
          <a:xfrm>
            <a:off x="822960" y="1508760"/>
            <a:ext cx="4206240" cy="365760"/>
          </a:xfrm>
          <a:prstGeom prst="rect">
            <a:avLst/>
          </a:prstGeom>
          <a:noFill/>
          <a:ln/>
        </p:spPr>
        <p:txBody>
          <a:bodyPr wrap="square" lIns="508" tIns="508" rIns="508" bIns="508" rtlCol="0" anchor="t"/>
          <a:lstStyle/>
          <a:p>
            <a:pPr algn="l" indent="0" marL="0">
              <a:lnSpc>
                <a:spcPct val="100000"/>
              </a:lnSpc>
              <a:buNone/>
            </a:pPr>
            <a:r>
              <a:rPr lang="en-US" sz="1400" b="1" dirty="0">
                <a:solidFill>
                  <a:srgbClr val="FFB5A6"/>
                </a:solidFill>
                <a:latin typeface="Calibri" pitchFamily="34" charset="0"/>
                <a:ea typeface="Calibri" pitchFamily="34" charset="-122"/>
                <a:cs typeface="Calibri" pitchFamily="34" charset="-120"/>
              </a:rPr>
              <a:t>Mensaje central</a:t>
            </a:r>
            <a:endParaRPr lang="en-US" sz="1400" dirty="0"/>
          </a:p>
        </p:txBody>
      </p:sp>
      <p:sp>
        <p:nvSpPr>
          <p:cNvPr id="6" name="Text 4"/>
          <p:cNvSpPr txBox="1"/>
          <p:nvPr/>
        </p:nvSpPr>
        <p:spPr>
          <a:xfrm>
            <a:off x="822960" y="1874520"/>
            <a:ext cx="4206240" cy="1188720"/>
          </a:xfrm>
          <a:prstGeom prst="rect">
            <a:avLst/>
          </a:prstGeom>
          <a:noFill/>
          <a:ln/>
        </p:spPr>
        <p:txBody>
          <a:bodyPr wrap="square" lIns="508" tIns="508" rIns="508" bIns="508" rtlCol="0" anchor="t"/>
          <a:lstStyle/>
          <a:p>
            <a:pPr algn="l" indent="0" marL="0">
              <a:lnSpc>
                <a:spcPct val="100000"/>
              </a:lnSpc>
              <a:buNone/>
            </a:pPr>
            <a:r>
              <a:rPr lang="en-US" sz="2100" b="1" dirty="0">
                <a:solidFill>
                  <a:srgbClr val="FFFFFF"/>
                </a:solidFill>
                <a:latin typeface="Calibri" pitchFamily="34" charset="0"/>
                <a:ea typeface="Calibri" pitchFamily="34" charset="-122"/>
                <a:cs typeface="Calibri" pitchFamily="34" charset="-120"/>
              </a:rPr>
              <a:t>La mayoría de las observaciones dieron lugar a modificaciones directas del protocolo.</a:t>
            </a:r>
            <a:endParaRPr lang="en-US" sz="2100" dirty="0"/>
          </a:p>
        </p:txBody>
      </p:sp>
      <p:sp>
        <p:nvSpPr>
          <p:cNvPr id="7" name="Text 5"/>
          <p:cNvSpPr txBox="1"/>
          <p:nvPr/>
        </p:nvSpPr>
        <p:spPr>
          <a:xfrm>
            <a:off x="822960" y="3154680"/>
            <a:ext cx="4206240" cy="1371600"/>
          </a:xfrm>
          <a:prstGeom prst="rect">
            <a:avLst/>
          </a:prstGeom>
          <a:noFill/>
          <a:ln/>
        </p:spPr>
        <p:txBody>
          <a:bodyPr wrap="square" lIns="508" tIns="508" rIns="508" bIns="508" rtlCol="0" anchor="t"/>
          <a:lstStyle/>
          <a:p>
            <a:pPr algn="l" indent="0" marL="0">
              <a:lnSpc>
                <a:spcPct val="100000"/>
              </a:lnSpc>
              <a:buNone/>
            </a:pPr>
            <a:r>
              <a:rPr lang="en-US" sz="1500" dirty="0">
                <a:solidFill>
                  <a:srgbClr val="FFFFFF"/>
                </a:solidFill>
                <a:latin typeface="Calibri" pitchFamily="34" charset="0"/>
                <a:ea typeface="Calibri" pitchFamily="34" charset="-122"/>
                <a:cs typeface="Calibri" pitchFamily="34" charset="-120"/>
              </a:rPr>
              <a:t>Frente a redefinir la población solo por rechazo transfusional, se mantuvo la delimitación original y se amplió su fundamentación científica, metodológica, ética y normativa.</a:t>
            </a:r>
            <a:endParaRPr lang="en-US" sz="1500" dirty="0"/>
          </a:p>
        </p:txBody>
      </p:sp>
      <p:sp>
        <p:nvSpPr>
          <p:cNvPr id="8" name="Text 6"/>
          <p:cNvSpPr txBox="1"/>
          <p:nvPr/>
        </p:nvSpPr>
        <p:spPr>
          <a:xfrm>
            <a:off x="822960" y="4846320"/>
            <a:ext cx="4206240" cy="640080"/>
          </a:xfrm>
          <a:prstGeom prst="rect">
            <a:avLst/>
          </a:prstGeom>
          <a:noFill/>
          <a:ln/>
        </p:spPr>
        <p:txBody>
          <a:bodyPr wrap="square" lIns="508" tIns="508" rIns="508" bIns="508" rtlCol="0" anchor="t"/>
          <a:lstStyle/>
          <a:p>
            <a:pPr algn="l" indent="0" marL="0">
              <a:lnSpc>
                <a:spcPct val="100000"/>
              </a:lnSpc>
              <a:buNone/>
            </a:pPr>
            <a:r>
              <a:rPr lang="en-US" sz="1300" i="1" dirty="0">
                <a:solidFill>
                  <a:srgbClr val="FFB5A6"/>
                </a:solidFill>
                <a:latin typeface="Calibri" pitchFamily="34" charset="0"/>
                <a:ea typeface="Calibri" pitchFamily="34" charset="-122"/>
                <a:cs typeface="Calibri" pitchFamily="34" charset="-120"/>
              </a:rPr>
              <a:t>Todos los ajustes están resaltados en amarillo en la versión 2.0.</a:t>
            </a:r>
            <a:endParaRPr lang="en-US" sz="1300" dirty="0"/>
          </a:p>
        </p:txBody>
      </p:sp>
      <p:sp>
        <p:nvSpPr>
          <p:cNvPr id="9" name="Shape 7"/>
          <p:cNvSpPr/>
          <p:nvPr/>
        </p:nvSpPr>
        <p:spPr>
          <a:xfrm>
            <a:off x="5715000" y="1371600"/>
            <a:ext cx="457200" cy="457200"/>
          </a:xfrm>
          <a:prstGeom prst="ellipse">
            <a:avLst/>
          </a:prstGeom>
          <a:solidFill>
            <a:srgbClr val="80006B"/>
          </a:solidFill>
          <a:ln/>
        </p:spPr>
      </p:sp>
      <p:sp>
        <p:nvSpPr>
          <p:cNvPr id="10" name="Text 8"/>
          <p:cNvSpPr txBox="1"/>
          <p:nvPr/>
        </p:nvSpPr>
        <p:spPr>
          <a:xfrm>
            <a:off x="5715000" y="1371600"/>
            <a:ext cx="457200" cy="457200"/>
          </a:xfrm>
          <a:prstGeom prst="rect">
            <a:avLst/>
          </a:prstGeom>
          <a:noFill/>
          <a:ln/>
        </p:spPr>
        <p:txBody>
          <a:bodyPr wrap="square" lIns="0" tIns="0" rIns="0" bIns="0" rtlCol="0" anchor="ctr"/>
          <a:lstStyle/>
          <a:p>
            <a:pPr algn="ctr" indent="0" marL="0">
              <a:lnSpc>
                <a:spcPct val="100000"/>
              </a:lnSpc>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1" name="Text 9"/>
          <p:cNvSpPr txBox="1"/>
          <p:nvPr/>
        </p:nvSpPr>
        <p:spPr>
          <a:xfrm>
            <a:off x="6309360" y="1371600"/>
            <a:ext cx="3566160" cy="457200"/>
          </a:xfrm>
          <a:prstGeom prst="rect">
            <a:avLst/>
          </a:prstGeom>
          <a:noFill/>
          <a:ln/>
        </p:spPr>
        <p:txBody>
          <a:bodyPr wrap="square" lIns="508" tIns="508" rIns="508" bIns="508" rtlCol="0" anchor="ctr"/>
          <a:lstStyle/>
          <a:p>
            <a:pPr algn="l" indent="0" marL="0">
              <a:lnSpc>
                <a:spcPct val="100000"/>
              </a:lnSpc>
              <a:buNone/>
            </a:pPr>
            <a:r>
              <a:rPr lang="en-US" sz="1600" dirty="0">
                <a:solidFill>
                  <a:srgbClr val="262626"/>
                </a:solidFill>
                <a:latin typeface="Calibri" pitchFamily="34" charset="0"/>
                <a:ea typeface="Calibri" pitchFamily="34" charset="-122"/>
                <a:cs typeface="Calibri" pitchFamily="34" charset="-120"/>
              </a:rPr>
              <a:t>Justificación de la población</a:t>
            </a:r>
            <a:endParaRPr lang="en-US" sz="1600" dirty="0"/>
          </a:p>
        </p:txBody>
      </p:sp>
      <p:sp>
        <p:nvSpPr>
          <p:cNvPr id="12" name="Shape 10"/>
          <p:cNvSpPr/>
          <p:nvPr/>
        </p:nvSpPr>
        <p:spPr>
          <a:xfrm>
            <a:off x="9921240" y="1444752"/>
            <a:ext cx="1691640" cy="310896"/>
          </a:xfrm>
          <a:prstGeom prst="roundRect">
            <a:avLst>
              <a:gd name="adj" fmla="val 147059"/>
            </a:avLst>
          </a:prstGeom>
          <a:solidFill>
            <a:srgbClr val="80006B"/>
          </a:solidFill>
          <a:ln/>
        </p:spPr>
      </p:sp>
      <p:sp>
        <p:nvSpPr>
          <p:cNvPr id="13" name="Text 11"/>
          <p:cNvSpPr txBox="1"/>
          <p:nvPr/>
        </p:nvSpPr>
        <p:spPr>
          <a:xfrm>
            <a:off x="9921240" y="1444752"/>
            <a:ext cx="1691640" cy="310896"/>
          </a:xfrm>
          <a:prstGeom prst="rect">
            <a:avLst/>
          </a:prstGeom>
          <a:noFill/>
          <a:ln/>
        </p:spPr>
        <p:txBody>
          <a:bodyPr wrap="square" lIns="0" tIns="0" rIns="0" bIns="0" rtlCol="0" anchor="ctr"/>
          <a:lstStyle/>
          <a:p>
            <a:pPr algn="ctr" indent="0" marL="0">
              <a:lnSpc>
                <a:spcPct val="100000"/>
              </a:lnSpc>
              <a:buNone/>
            </a:pPr>
            <a:r>
              <a:rPr lang="en-US" sz="1100" b="1" dirty="0">
                <a:solidFill>
                  <a:srgbClr val="FFFFFF"/>
                </a:solidFill>
                <a:latin typeface="Calibri" pitchFamily="34" charset="0"/>
                <a:ea typeface="Calibri" pitchFamily="34" charset="-122"/>
                <a:cs typeface="Calibri" pitchFamily="34" charset="-120"/>
              </a:rPr>
              <a:t>Se fundamenta</a:t>
            </a:r>
            <a:endParaRPr lang="en-US" sz="1100" dirty="0"/>
          </a:p>
        </p:txBody>
      </p:sp>
      <p:sp>
        <p:nvSpPr>
          <p:cNvPr id="14" name="Shape 12"/>
          <p:cNvSpPr/>
          <p:nvPr/>
        </p:nvSpPr>
        <p:spPr>
          <a:xfrm>
            <a:off x="5715000" y="1984248"/>
            <a:ext cx="457200" cy="457200"/>
          </a:xfrm>
          <a:prstGeom prst="ellipse">
            <a:avLst/>
          </a:prstGeom>
          <a:solidFill>
            <a:srgbClr val="FF5F3F"/>
          </a:solidFill>
          <a:ln/>
        </p:spPr>
      </p:sp>
      <p:sp>
        <p:nvSpPr>
          <p:cNvPr id="15" name="Text 13"/>
          <p:cNvSpPr txBox="1"/>
          <p:nvPr/>
        </p:nvSpPr>
        <p:spPr>
          <a:xfrm>
            <a:off x="5715000" y="1984248"/>
            <a:ext cx="457200" cy="457200"/>
          </a:xfrm>
          <a:prstGeom prst="rect">
            <a:avLst/>
          </a:prstGeom>
          <a:noFill/>
          <a:ln/>
        </p:spPr>
        <p:txBody>
          <a:bodyPr wrap="square" lIns="0" tIns="0" rIns="0" bIns="0" rtlCol="0" anchor="ctr"/>
          <a:lstStyle/>
          <a:p>
            <a:pPr algn="ctr" indent="0" marL="0">
              <a:lnSpc>
                <a:spcPct val="100000"/>
              </a:lnSpc>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6" name="Text 14"/>
          <p:cNvSpPr txBox="1"/>
          <p:nvPr/>
        </p:nvSpPr>
        <p:spPr>
          <a:xfrm>
            <a:off x="6309360" y="1984248"/>
            <a:ext cx="3566160" cy="457200"/>
          </a:xfrm>
          <a:prstGeom prst="rect">
            <a:avLst/>
          </a:prstGeom>
          <a:noFill/>
          <a:ln/>
        </p:spPr>
        <p:txBody>
          <a:bodyPr wrap="square" lIns="508" tIns="508" rIns="508" bIns="508" rtlCol="0" anchor="ctr"/>
          <a:lstStyle/>
          <a:p>
            <a:pPr algn="l" indent="0" marL="0">
              <a:lnSpc>
                <a:spcPct val="100000"/>
              </a:lnSpc>
              <a:buNone/>
            </a:pPr>
            <a:r>
              <a:rPr lang="en-US" sz="1600" dirty="0">
                <a:solidFill>
                  <a:srgbClr val="262626"/>
                </a:solidFill>
                <a:latin typeface="Calibri" pitchFamily="34" charset="0"/>
                <a:ea typeface="Calibri" pitchFamily="34" charset="-122"/>
                <a:cs typeface="Calibri" pitchFamily="34" charset="-120"/>
              </a:rPr>
              <a:t>Coherencia del protocolo</a:t>
            </a:r>
            <a:endParaRPr lang="en-US" sz="1600" dirty="0"/>
          </a:p>
        </p:txBody>
      </p:sp>
      <p:sp>
        <p:nvSpPr>
          <p:cNvPr id="17" name="Shape 15"/>
          <p:cNvSpPr/>
          <p:nvPr/>
        </p:nvSpPr>
        <p:spPr>
          <a:xfrm>
            <a:off x="9921240" y="2057400"/>
            <a:ext cx="1691640" cy="310896"/>
          </a:xfrm>
          <a:prstGeom prst="roundRect">
            <a:avLst>
              <a:gd name="adj" fmla="val 147059"/>
            </a:avLst>
          </a:prstGeom>
          <a:solidFill>
            <a:srgbClr val="FF5F3F"/>
          </a:solidFill>
          <a:ln/>
        </p:spPr>
      </p:sp>
      <p:sp>
        <p:nvSpPr>
          <p:cNvPr id="18" name="Text 16"/>
          <p:cNvSpPr txBox="1"/>
          <p:nvPr/>
        </p:nvSpPr>
        <p:spPr>
          <a:xfrm>
            <a:off x="9921240" y="2057400"/>
            <a:ext cx="1691640" cy="310896"/>
          </a:xfrm>
          <a:prstGeom prst="rect">
            <a:avLst/>
          </a:prstGeom>
          <a:noFill/>
          <a:ln/>
        </p:spPr>
        <p:txBody>
          <a:bodyPr wrap="square" lIns="0" tIns="0" rIns="0" bIns="0" rtlCol="0" anchor="ctr"/>
          <a:lstStyle/>
          <a:p>
            <a:pPr algn="ctr" indent="0" marL="0">
              <a:lnSpc>
                <a:spcPct val="100000"/>
              </a:lnSpc>
              <a:buNone/>
            </a:pPr>
            <a:r>
              <a:rPr lang="en-US" sz="1100" b="1" dirty="0">
                <a:solidFill>
                  <a:srgbClr val="FFFFFF"/>
                </a:solidFill>
                <a:latin typeface="Calibri" pitchFamily="34" charset="0"/>
                <a:ea typeface="Calibri" pitchFamily="34" charset="-122"/>
                <a:cs typeface="Calibri" pitchFamily="34" charset="-120"/>
              </a:rPr>
              <a:t>Se acoge en parte</a:t>
            </a:r>
            <a:endParaRPr lang="en-US" sz="1100" dirty="0"/>
          </a:p>
        </p:txBody>
      </p:sp>
      <p:sp>
        <p:nvSpPr>
          <p:cNvPr id="19" name="Shape 17"/>
          <p:cNvSpPr/>
          <p:nvPr/>
        </p:nvSpPr>
        <p:spPr>
          <a:xfrm>
            <a:off x="5715000" y="2596896"/>
            <a:ext cx="457200" cy="457200"/>
          </a:xfrm>
          <a:prstGeom prst="ellipse">
            <a:avLst/>
          </a:prstGeom>
          <a:solidFill>
            <a:srgbClr val="FF5F3F"/>
          </a:solidFill>
          <a:ln/>
        </p:spPr>
      </p:sp>
      <p:sp>
        <p:nvSpPr>
          <p:cNvPr id="20" name="Text 18"/>
          <p:cNvSpPr txBox="1"/>
          <p:nvPr/>
        </p:nvSpPr>
        <p:spPr>
          <a:xfrm>
            <a:off x="5715000" y="2596896"/>
            <a:ext cx="457200" cy="457200"/>
          </a:xfrm>
          <a:prstGeom prst="rect">
            <a:avLst/>
          </a:prstGeom>
          <a:noFill/>
          <a:ln/>
        </p:spPr>
        <p:txBody>
          <a:bodyPr wrap="square" lIns="0" tIns="0" rIns="0" bIns="0" rtlCol="0" anchor="ctr"/>
          <a:lstStyle/>
          <a:p>
            <a:pPr algn="ctr" indent="0" marL="0">
              <a:lnSpc>
                <a:spcPct val="100000"/>
              </a:lnSpc>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1" name="Text 19"/>
          <p:cNvSpPr txBox="1"/>
          <p:nvPr/>
        </p:nvSpPr>
        <p:spPr>
          <a:xfrm>
            <a:off x="6309360" y="2596896"/>
            <a:ext cx="3566160" cy="457200"/>
          </a:xfrm>
          <a:prstGeom prst="rect">
            <a:avLst/>
          </a:prstGeom>
          <a:noFill/>
          <a:ln/>
        </p:spPr>
        <p:txBody>
          <a:bodyPr wrap="square" lIns="508" tIns="508" rIns="508" bIns="508" rtlCol="0" anchor="ctr"/>
          <a:lstStyle/>
          <a:p>
            <a:pPr algn="l" indent="0" marL="0">
              <a:lnSpc>
                <a:spcPct val="100000"/>
              </a:lnSpc>
              <a:buNone/>
            </a:pPr>
            <a:r>
              <a:rPr lang="en-US" sz="1600" dirty="0">
                <a:solidFill>
                  <a:srgbClr val="262626"/>
                </a:solidFill>
                <a:latin typeface="Calibri" pitchFamily="34" charset="0"/>
                <a:ea typeface="Calibri" pitchFamily="34" charset="-122"/>
                <a:cs typeface="Calibri" pitchFamily="34" charset="-120"/>
              </a:rPr>
              <a:t>Contexto religioso y temporal</a:t>
            </a:r>
            <a:endParaRPr lang="en-US" sz="1600" dirty="0"/>
          </a:p>
        </p:txBody>
      </p:sp>
      <p:sp>
        <p:nvSpPr>
          <p:cNvPr id="22" name="Shape 20"/>
          <p:cNvSpPr/>
          <p:nvPr/>
        </p:nvSpPr>
        <p:spPr>
          <a:xfrm>
            <a:off x="9921240" y="2670048"/>
            <a:ext cx="1691640" cy="310896"/>
          </a:xfrm>
          <a:prstGeom prst="roundRect">
            <a:avLst>
              <a:gd name="adj" fmla="val 147059"/>
            </a:avLst>
          </a:prstGeom>
          <a:solidFill>
            <a:srgbClr val="FF5F3F"/>
          </a:solidFill>
          <a:ln/>
        </p:spPr>
      </p:sp>
      <p:sp>
        <p:nvSpPr>
          <p:cNvPr id="23" name="Text 21"/>
          <p:cNvSpPr txBox="1"/>
          <p:nvPr/>
        </p:nvSpPr>
        <p:spPr>
          <a:xfrm>
            <a:off x="9921240" y="2670048"/>
            <a:ext cx="1691640" cy="310896"/>
          </a:xfrm>
          <a:prstGeom prst="rect">
            <a:avLst/>
          </a:prstGeom>
          <a:noFill/>
          <a:ln/>
        </p:spPr>
        <p:txBody>
          <a:bodyPr wrap="square" lIns="0" tIns="0" rIns="0" bIns="0" rtlCol="0" anchor="ctr"/>
          <a:lstStyle/>
          <a:p>
            <a:pPr algn="ctr" indent="0" marL="0">
              <a:lnSpc>
                <a:spcPct val="100000"/>
              </a:lnSpc>
              <a:buNone/>
            </a:pPr>
            <a:r>
              <a:rPr lang="en-US" sz="1100" b="1" dirty="0">
                <a:solidFill>
                  <a:srgbClr val="FFFFFF"/>
                </a:solidFill>
                <a:latin typeface="Calibri" pitchFamily="34" charset="0"/>
                <a:ea typeface="Calibri" pitchFamily="34" charset="-122"/>
                <a:cs typeface="Calibri" pitchFamily="34" charset="-120"/>
              </a:rPr>
              <a:t>Se acoge</a:t>
            </a:r>
            <a:endParaRPr lang="en-US" sz="1100" dirty="0"/>
          </a:p>
        </p:txBody>
      </p:sp>
      <p:sp>
        <p:nvSpPr>
          <p:cNvPr id="24" name="Shape 22"/>
          <p:cNvSpPr/>
          <p:nvPr/>
        </p:nvSpPr>
        <p:spPr>
          <a:xfrm>
            <a:off x="5715000" y="3209544"/>
            <a:ext cx="457200" cy="457200"/>
          </a:xfrm>
          <a:prstGeom prst="ellipse">
            <a:avLst/>
          </a:prstGeom>
          <a:solidFill>
            <a:srgbClr val="FF5F3F"/>
          </a:solidFill>
          <a:ln/>
        </p:spPr>
      </p:sp>
      <p:sp>
        <p:nvSpPr>
          <p:cNvPr id="25" name="Text 23"/>
          <p:cNvSpPr txBox="1"/>
          <p:nvPr/>
        </p:nvSpPr>
        <p:spPr>
          <a:xfrm>
            <a:off x="5715000" y="3209544"/>
            <a:ext cx="457200" cy="457200"/>
          </a:xfrm>
          <a:prstGeom prst="rect">
            <a:avLst/>
          </a:prstGeom>
          <a:noFill/>
          <a:ln/>
        </p:spPr>
        <p:txBody>
          <a:bodyPr wrap="square" lIns="0" tIns="0" rIns="0" bIns="0" rtlCol="0" anchor="ctr"/>
          <a:lstStyle/>
          <a:p>
            <a:pPr algn="ctr" indent="0" marL="0">
              <a:lnSpc>
                <a:spcPct val="100000"/>
              </a:lnSpc>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6" name="Text 24"/>
          <p:cNvSpPr txBox="1"/>
          <p:nvPr/>
        </p:nvSpPr>
        <p:spPr>
          <a:xfrm>
            <a:off x="6309360" y="3209544"/>
            <a:ext cx="3566160" cy="457200"/>
          </a:xfrm>
          <a:prstGeom prst="rect">
            <a:avLst/>
          </a:prstGeom>
          <a:noFill/>
          <a:ln/>
        </p:spPr>
        <p:txBody>
          <a:bodyPr wrap="square" lIns="508" tIns="508" rIns="508" bIns="508" rtlCol="0" anchor="ctr"/>
          <a:lstStyle/>
          <a:p>
            <a:pPr algn="l" indent="0" marL="0">
              <a:lnSpc>
                <a:spcPct val="100000"/>
              </a:lnSpc>
              <a:buNone/>
            </a:pPr>
            <a:r>
              <a:rPr lang="en-US" sz="1600" dirty="0">
                <a:solidFill>
                  <a:srgbClr val="262626"/>
                </a:solidFill>
                <a:latin typeface="Calibri" pitchFamily="34" charset="0"/>
                <a:ea typeface="Calibri" pitchFamily="34" charset="-122"/>
                <a:cs typeface="Calibri" pitchFamily="34" charset="-120"/>
              </a:rPr>
              <a:t>Riesgo y consentimiento</a:t>
            </a:r>
            <a:endParaRPr lang="en-US" sz="1600" dirty="0"/>
          </a:p>
        </p:txBody>
      </p:sp>
      <p:sp>
        <p:nvSpPr>
          <p:cNvPr id="27" name="Shape 25"/>
          <p:cNvSpPr/>
          <p:nvPr/>
        </p:nvSpPr>
        <p:spPr>
          <a:xfrm>
            <a:off x="9921240" y="3282696"/>
            <a:ext cx="1691640" cy="310896"/>
          </a:xfrm>
          <a:prstGeom prst="roundRect">
            <a:avLst>
              <a:gd name="adj" fmla="val 147059"/>
            </a:avLst>
          </a:prstGeom>
          <a:solidFill>
            <a:srgbClr val="FF5F3F"/>
          </a:solidFill>
          <a:ln/>
        </p:spPr>
      </p:sp>
      <p:sp>
        <p:nvSpPr>
          <p:cNvPr id="28" name="Text 26"/>
          <p:cNvSpPr txBox="1"/>
          <p:nvPr/>
        </p:nvSpPr>
        <p:spPr>
          <a:xfrm>
            <a:off x="9921240" y="3282696"/>
            <a:ext cx="1691640" cy="310896"/>
          </a:xfrm>
          <a:prstGeom prst="rect">
            <a:avLst/>
          </a:prstGeom>
          <a:noFill/>
          <a:ln/>
        </p:spPr>
        <p:txBody>
          <a:bodyPr wrap="square" lIns="0" tIns="0" rIns="0" bIns="0" rtlCol="0" anchor="ctr"/>
          <a:lstStyle/>
          <a:p>
            <a:pPr algn="ctr" indent="0" marL="0">
              <a:lnSpc>
                <a:spcPct val="100000"/>
              </a:lnSpc>
              <a:buNone/>
            </a:pPr>
            <a:r>
              <a:rPr lang="en-US" sz="1100" b="1" dirty="0">
                <a:solidFill>
                  <a:srgbClr val="FFFFFF"/>
                </a:solidFill>
                <a:latin typeface="Calibri" pitchFamily="34" charset="0"/>
                <a:ea typeface="Calibri" pitchFamily="34" charset="-122"/>
                <a:cs typeface="Calibri" pitchFamily="34" charset="-120"/>
              </a:rPr>
              <a:t>Se acoge</a:t>
            </a:r>
            <a:endParaRPr lang="en-US" sz="1100" dirty="0"/>
          </a:p>
        </p:txBody>
      </p:sp>
      <p:sp>
        <p:nvSpPr>
          <p:cNvPr id="29" name="Shape 27"/>
          <p:cNvSpPr/>
          <p:nvPr/>
        </p:nvSpPr>
        <p:spPr>
          <a:xfrm>
            <a:off x="5715000" y="3822192"/>
            <a:ext cx="457200" cy="457200"/>
          </a:xfrm>
          <a:prstGeom prst="ellipse">
            <a:avLst/>
          </a:prstGeom>
          <a:solidFill>
            <a:srgbClr val="FF5F3F"/>
          </a:solidFill>
          <a:ln/>
        </p:spPr>
      </p:sp>
      <p:sp>
        <p:nvSpPr>
          <p:cNvPr id="30" name="Text 28"/>
          <p:cNvSpPr txBox="1"/>
          <p:nvPr/>
        </p:nvSpPr>
        <p:spPr>
          <a:xfrm>
            <a:off x="5715000" y="3822192"/>
            <a:ext cx="457200" cy="457200"/>
          </a:xfrm>
          <a:prstGeom prst="rect">
            <a:avLst/>
          </a:prstGeom>
          <a:noFill/>
          <a:ln/>
        </p:spPr>
        <p:txBody>
          <a:bodyPr wrap="square" lIns="0" tIns="0" rIns="0" bIns="0" rtlCol="0" anchor="ctr"/>
          <a:lstStyle/>
          <a:p>
            <a:pPr algn="ctr" indent="0" marL="0">
              <a:lnSpc>
                <a:spcPct val="100000"/>
              </a:lnSpc>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1" name="Text 29"/>
          <p:cNvSpPr txBox="1"/>
          <p:nvPr/>
        </p:nvSpPr>
        <p:spPr>
          <a:xfrm>
            <a:off x="6309360" y="3822192"/>
            <a:ext cx="3566160" cy="457200"/>
          </a:xfrm>
          <a:prstGeom prst="rect">
            <a:avLst/>
          </a:prstGeom>
          <a:noFill/>
          <a:ln/>
        </p:spPr>
        <p:txBody>
          <a:bodyPr wrap="square" lIns="508" tIns="508" rIns="508" bIns="508" rtlCol="0" anchor="ctr"/>
          <a:lstStyle/>
          <a:p>
            <a:pPr algn="l" indent="0" marL="0">
              <a:lnSpc>
                <a:spcPct val="100000"/>
              </a:lnSpc>
              <a:buNone/>
            </a:pPr>
            <a:r>
              <a:rPr lang="en-US" sz="1600" dirty="0">
                <a:solidFill>
                  <a:srgbClr val="262626"/>
                </a:solidFill>
                <a:latin typeface="Calibri" pitchFamily="34" charset="0"/>
                <a:ea typeface="Calibri" pitchFamily="34" charset="-122"/>
                <a:cs typeface="Calibri" pitchFamily="34" charset="-120"/>
              </a:rPr>
              <a:t>Protección de datos sensibles</a:t>
            </a:r>
            <a:endParaRPr lang="en-US" sz="1600" dirty="0"/>
          </a:p>
        </p:txBody>
      </p:sp>
      <p:sp>
        <p:nvSpPr>
          <p:cNvPr id="32" name="Shape 30"/>
          <p:cNvSpPr/>
          <p:nvPr/>
        </p:nvSpPr>
        <p:spPr>
          <a:xfrm>
            <a:off x="9921240" y="3895344"/>
            <a:ext cx="1691640" cy="310896"/>
          </a:xfrm>
          <a:prstGeom prst="roundRect">
            <a:avLst>
              <a:gd name="adj" fmla="val 147059"/>
            </a:avLst>
          </a:prstGeom>
          <a:solidFill>
            <a:srgbClr val="FF5F3F"/>
          </a:solidFill>
          <a:ln/>
        </p:spPr>
      </p:sp>
      <p:sp>
        <p:nvSpPr>
          <p:cNvPr id="33" name="Text 31"/>
          <p:cNvSpPr txBox="1"/>
          <p:nvPr/>
        </p:nvSpPr>
        <p:spPr>
          <a:xfrm>
            <a:off x="9921240" y="3895344"/>
            <a:ext cx="1691640" cy="310896"/>
          </a:xfrm>
          <a:prstGeom prst="rect">
            <a:avLst/>
          </a:prstGeom>
          <a:noFill/>
          <a:ln/>
        </p:spPr>
        <p:txBody>
          <a:bodyPr wrap="square" lIns="0" tIns="0" rIns="0" bIns="0" rtlCol="0" anchor="ctr"/>
          <a:lstStyle/>
          <a:p>
            <a:pPr algn="ctr" indent="0" marL="0">
              <a:lnSpc>
                <a:spcPct val="100000"/>
              </a:lnSpc>
              <a:buNone/>
            </a:pPr>
            <a:r>
              <a:rPr lang="en-US" sz="1100" b="1" dirty="0">
                <a:solidFill>
                  <a:srgbClr val="FFFFFF"/>
                </a:solidFill>
                <a:latin typeface="Calibri" pitchFamily="34" charset="0"/>
                <a:ea typeface="Calibri" pitchFamily="34" charset="-122"/>
                <a:cs typeface="Calibri" pitchFamily="34" charset="-120"/>
              </a:rPr>
              <a:t>Se acoge</a:t>
            </a:r>
            <a:endParaRPr lang="en-US" sz="1100" dirty="0"/>
          </a:p>
        </p:txBody>
      </p:sp>
      <p:sp>
        <p:nvSpPr>
          <p:cNvPr id="34" name="Shape 32"/>
          <p:cNvSpPr/>
          <p:nvPr/>
        </p:nvSpPr>
        <p:spPr>
          <a:xfrm>
            <a:off x="5715000" y="4434840"/>
            <a:ext cx="457200" cy="457200"/>
          </a:xfrm>
          <a:prstGeom prst="ellipse">
            <a:avLst/>
          </a:prstGeom>
          <a:solidFill>
            <a:srgbClr val="FF5F3F"/>
          </a:solidFill>
          <a:ln/>
        </p:spPr>
      </p:sp>
      <p:sp>
        <p:nvSpPr>
          <p:cNvPr id="35" name="Text 33"/>
          <p:cNvSpPr txBox="1"/>
          <p:nvPr/>
        </p:nvSpPr>
        <p:spPr>
          <a:xfrm>
            <a:off x="5715000" y="4434840"/>
            <a:ext cx="457200" cy="457200"/>
          </a:xfrm>
          <a:prstGeom prst="rect">
            <a:avLst/>
          </a:prstGeom>
          <a:noFill/>
          <a:ln/>
        </p:spPr>
        <p:txBody>
          <a:bodyPr wrap="square" lIns="0" tIns="0" rIns="0" bIns="0" rtlCol="0" anchor="ctr"/>
          <a:lstStyle/>
          <a:p>
            <a:pPr algn="ctr" indent="0" marL="0">
              <a:lnSpc>
                <a:spcPct val="100000"/>
              </a:lnSpc>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36" name="Text 34"/>
          <p:cNvSpPr txBox="1"/>
          <p:nvPr/>
        </p:nvSpPr>
        <p:spPr>
          <a:xfrm>
            <a:off x="6309360" y="4434840"/>
            <a:ext cx="3566160" cy="457200"/>
          </a:xfrm>
          <a:prstGeom prst="rect">
            <a:avLst/>
          </a:prstGeom>
          <a:noFill/>
          <a:ln/>
        </p:spPr>
        <p:txBody>
          <a:bodyPr wrap="square" lIns="508" tIns="508" rIns="508" bIns="508" rtlCol="0" anchor="ctr"/>
          <a:lstStyle/>
          <a:p>
            <a:pPr algn="l" indent="0" marL="0">
              <a:lnSpc>
                <a:spcPct val="100000"/>
              </a:lnSpc>
              <a:buNone/>
            </a:pPr>
            <a:r>
              <a:rPr lang="en-US" sz="1600" dirty="0">
                <a:solidFill>
                  <a:srgbClr val="262626"/>
                </a:solidFill>
                <a:latin typeface="Calibri" pitchFamily="34" charset="0"/>
                <a:ea typeface="Calibri" pitchFamily="34" charset="-122"/>
                <a:cs typeface="Calibri" pitchFamily="34" charset="-120"/>
              </a:rPr>
              <a:t>Interpretación y publicación</a:t>
            </a:r>
            <a:endParaRPr lang="en-US" sz="1600" dirty="0"/>
          </a:p>
        </p:txBody>
      </p:sp>
      <p:sp>
        <p:nvSpPr>
          <p:cNvPr id="37" name="Shape 35"/>
          <p:cNvSpPr/>
          <p:nvPr/>
        </p:nvSpPr>
        <p:spPr>
          <a:xfrm>
            <a:off x="9921240" y="4507992"/>
            <a:ext cx="1691640" cy="310896"/>
          </a:xfrm>
          <a:prstGeom prst="roundRect">
            <a:avLst>
              <a:gd name="adj" fmla="val 147059"/>
            </a:avLst>
          </a:prstGeom>
          <a:solidFill>
            <a:srgbClr val="FF5F3F"/>
          </a:solidFill>
          <a:ln/>
        </p:spPr>
      </p:sp>
      <p:sp>
        <p:nvSpPr>
          <p:cNvPr id="38" name="Text 36"/>
          <p:cNvSpPr txBox="1"/>
          <p:nvPr/>
        </p:nvSpPr>
        <p:spPr>
          <a:xfrm>
            <a:off x="9921240" y="4507992"/>
            <a:ext cx="1691640" cy="310896"/>
          </a:xfrm>
          <a:prstGeom prst="rect">
            <a:avLst/>
          </a:prstGeom>
          <a:noFill/>
          <a:ln/>
        </p:spPr>
        <p:txBody>
          <a:bodyPr wrap="square" lIns="0" tIns="0" rIns="0" bIns="0" rtlCol="0" anchor="ctr"/>
          <a:lstStyle/>
          <a:p>
            <a:pPr algn="ctr" indent="0" marL="0">
              <a:lnSpc>
                <a:spcPct val="100000"/>
              </a:lnSpc>
              <a:buNone/>
            </a:pPr>
            <a:r>
              <a:rPr lang="en-US" sz="1100" b="1" dirty="0">
                <a:solidFill>
                  <a:srgbClr val="FFFFFF"/>
                </a:solidFill>
                <a:latin typeface="Calibri" pitchFamily="34" charset="0"/>
                <a:ea typeface="Calibri" pitchFamily="34" charset="-122"/>
                <a:cs typeface="Calibri" pitchFamily="34" charset="-120"/>
              </a:rPr>
              <a:t>Se acoge</a:t>
            </a:r>
            <a:endParaRPr lang="en-US" sz="1100" dirty="0"/>
          </a:p>
        </p:txBody>
      </p:sp>
      <p:sp>
        <p:nvSpPr>
          <p:cNvPr id="39" name="Shape 37"/>
          <p:cNvSpPr/>
          <p:nvPr/>
        </p:nvSpPr>
        <p:spPr>
          <a:xfrm>
            <a:off x="5715000" y="5047488"/>
            <a:ext cx="457200" cy="457200"/>
          </a:xfrm>
          <a:prstGeom prst="ellipse">
            <a:avLst/>
          </a:prstGeom>
          <a:solidFill>
            <a:srgbClr val="FF5F3F"/>
          </a:solidFill>
          <a:ln/>
        </p:spPr>
      </p:sp>
      <p:sp>
        <p:nvSpPr>
          <p:cNvPr id="40" name="Text 38"/>
          <p:cNvSpPr txBox="1"/>
          <p:nvPr/>
        </p:nvSpPr>
        <p:spPr>
          <a:xfrm>
            <a:off x="5715000" y="5047488"/>
            <a:ext cx="457200" cy="457200"/>
          </a:xfrm>
          <a:prstGeom prst="rect">
            <a:avLst/>
          </a:prstGeom>
          <a:noFill/>
          <a:ln/>
        </p:spPr>
        <p:txBody>
          <a:bodyPr wrap="square" lIns="0" tIns="0" rIns="0" bIns="0" rtlCol="0" anchor="ctr"/>
          <a:lstStyle/>
          <a:p>
            <a:pPr algn="ctr" indent="0" marL="0">
              <a:lnSpc>
                <a:spcPct val="100000"/>
              </a:lnSpc>
              <a:buNone/>
            </a:pPr>
            <a:r>
              <a:rPr lang="en-US" sz="1500" b="1" dirty="0">
                <a:solidFill>
                  <a:srgbClr val="FFFFFF"/>
                </a:solidFill>
                <a:latin typeface="Calibri" pitchFamily="34" charset="0"/>
                <a:ea typeface="Calibri" pitchFamily="34" charset="-122"/>
                <a:cs typeface="Calibri" pitchFamily="34" charset="-120"/>
              </a:rPr>
              <a:t>7</a:t>
            </a:r>
            <a:endParaRPr lang="en-US" sz="1500" dirty="0"/>
          </a:p>
        </p:txBody>
      </p:sp>
      <p:sp>
        <p:nvSpPr>
          <p:cNvPr id="41" name="Text 39"/>
          <p:cNvSpPr txBox="1"/>
          <p:nvPr/>
        </p:nvSpPr>
        <p:spPr>
          <a:xfrm>
            <a:off x="6309360" y="5047488"/>
            <a:ext cx="3566160" cy="457200"/>
          </a:xfrm>
          <a:prstGeom prst="rect">
            <a:avLst/>
          </a:prstGeom>
          <a:noFill/>
          <a:ln/>
        </p:spPr>
        <p:txBody>
          <a:bodyPr wrap="square" lIns="508" tIns="508" rIns="508" bIns="508" rtlCol="0" anchor="ctr"/>
          <a:lstStyle/>
          <a:p>
            <a:pPr algn="l" indent="0" marL="0">
              <a:lnSpc>
                <a:spcPct val="100000"/>
              </a:lnSpc>
              <a:buNone/>
            </a:pPr>
            <a:r>
              <a:rPr lang="en-US" sz="1600" dirty="0">
                <a:solidFill>
                  <a:srgbClr val="262626"/>
                </a:solidFill>
                <a:latin typeface="Calibri" pitchFamily="34" charset="0"/>
                <a:ea typeface="Calibri" pitchFamily="34" charset="-122"/>
                <a:cs typeface="Calibri" pitchFamily="34" charset="-120"/>
              </a:rPr>
              <a:t>Documentación transfusional</a:t>
            </a:r>
            <a:endParaRPr lang="en-US" sz="1600" dirty="0"/>
          </a:p>
        </p:txBody>
      </p:sp>
      <p:sp>
        <p:nvSpPr>
          <p:cNvPr id="42" name="Shape 40"/>
          <p:cNvSpPr/>
          <p:nvPr/>
        </p:nvSpPr>
        <p:spPr>
          <a:xfrm>
            <a:off x="9921240" y="5120640"/>
            <a:ext cx="1691640" cy="310896"/>
          </a:xfrm>
          <a:prstGeom prst="roundRect">
            <a:avLst>
              <a:gd name="adj" fmla="val 147059"/>
            </a:avLst>
          </a:prstGeom>
          <a:solidFill>
            <a:srgbClr val="FF5F3F"/>
          </a:solidFill>
          <a:ln/>
        </p:spPr>
      </p:sp>
      <p:sp>
        <p:nvSpPr>
          <p:cNvPr id="43" name="Text 41"/>
          <p:cNvSpPr txBox="1"/>
          <p:nvPr/>
        </p:nvSpPr>
        <p:spPr>
          <a:xfrm>
            <a:off x="9921240" y="5120640"/>
            <a:ext cx="1691640" cy="310896"/>
          </a:xfrm>
          <a:prstGeom prst="rect">
            <a:avLst/>
          </a:prstGeom>
          <a:noFill/>
          <a:ln/>
        </p:spPr>
        <p:txBody>
          <a:bodyPr wrap="square" lIns="0" tIns="0" rIns="0" bIns="0" rtlCol="0" anchor="ctr"/>
          <a:lstStyle/>
          <a:p>
            <a:pPr algn="ctr" indent="0" marL="0">
              <a:lnSpc>
                <a:spcPct val="100000"/>
              </a:lnSpc>
              <a:buNone/>
            </a:pPr>
            <a:r>
              <a:rPr lang="en-US" sz="1100" b="1" dirty="0">
                <a:solidFill>
                  <a:srgbClr val="FFFFFF"/>
                </a:solidFill>
                <a:latin typeface="Calibri" pitchFamily="34" charset="0"/>
                <a:ea typeface="Calibri" pitchFamily="34" charset="-122"/>
                <a:cs typeface="Calibri" pitchFamily="34" charset="-120"/>
              </a:rPr>
              <a:t>Se acoge</a:t>
            </a:r>
            <a:endParaRPr lang="en-US" sz="1100" dirty="0"/>
          </a:p>
        </p:txBody>
      </p:sp>
      <p:sp>
        <p:nvSpPr>
          <p:cNvPr id="25" name="Slide Number Placeholder 0"/>
          <p:cNvSpPr>
            <a:spLocks noGrp="1"/>
          </p:cNvSpPr>
          <p:nvPr>
            <p:ph type="sldNum" sz="quarter" idx="4294967295"/>
          </p:nvPr>
        </p:nvSpPr>
        <p:spPr>
          <a:xfrm>
            <a:off x="11201400" y="635508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292608"/>
            <a:ext cx="8686800" cy="274320"/>
          </a:xfrm>
          <a:prstGeom prst="rect">
            <a:avLst/>
          </a:prstGeom>
          <a:noFill/>
          <a:ln/>
        </p:spPr>
        <p:txBody>
          <a:bodyPr wrap="square" lIns="508" tIns="508" rIns="508" bIns="508" rtlCol="0" anchor="t"/>
          <a:lstStyle/>
          <a:p>
            <a:pPr algn="l" indent="0" marL="0">
              <a:lnSpc>
                <a:spcPct val="100000"/>
              </a:lnSpc>
              <a:buNone/>
            </a:pPr>
            <a:r>
              <a:rPr lang="en-US" sz="1200" b="1" dirty="0">
                <a:solidFill>
                  <a:srgbClr val="FF5F3F"/>
                </a:solidFill>
                <a:latin typeface="Calibri" pitchFamily="34" charset="0"/>
                <a:ea typeface="Calibri" pitchFamily="34" charset="-122"/>
                <a:cs typeface="Calibri" pitchFamily="34" charset="-120"/>
              </a:rPr>
              <a:t>OBSERVACIÓN 1 DE 7</a:t>
            </a:r>
            <a:endParaRPr lang="en-US" sz="1200" dirty="0"/>
          </a:p>
        </p:txBody>
      </p:sp>
      <p:sp>
        <p:nvSpPr>
          <p:cNvPr id="3" name="Text 1"/>
          <p:cNvSpPr txBox="1"/>
          <p:nvPr/>
        </p:nvSpPr>
        <p:spPr>
          <a:xfrm>
            <a:off x="548640" y="548640"/>
            <a:ext cx="9326880" cy="548640"/>
          </a:xfrm>
          <a:prstGeom prst="rect">
            <a:avLst/>
          </a:prstGeom>
          <a:noFill/>
          <a:ln/>
        </p:spPr>
        <p:txBody>
          <a:bodyPr wrap="square" lIns="508" tIns="508" rIns="508" bIns="508" rtlCol="0" anchor="ctr"/>
          <a:lstStyle/>
          <a:p>
            <a:pPr algn="l" indent="0" marL="0">
              <a:lnSpc>
                <a:spcPct val="100000"/>
              </a:lnSpc>
              <a:buNone/>
            </a:pPr>
            <a:r>
              <a:rPr lang="en-US" sz="2800" b="1" dirty="0">
                <a:solidFill>
                  <a:srgbClr val="80006B"/>
                </a:solidFill>
                <a:latin typeface="Calibri" pitchFamily="34" charset="0"/>
                <a:ea typeface="Calibri" pitchFamily="34" charset="-122"/>
                <a:cs typeface="Calibri" pitchFamily="34" charset="-120"/>
              </a:rPr>
              <a:t>Justificación de la población</a:t>
            </a:r>
            <a:endParaRPr lang="en-US" sz="2800" dirty="0"/>
          </a:p>
        </p:txBody>
      </p:sp>
      <p:sp>
        <p:nvSpPr>
          <p:cNvPr id="4" name="Shape 2"/>
          <p:cNvSpPr/>
          <p:nvPr/>
        </p:nvSpPr>
        <p:spPr>
          <a:xfrm>
            <a:off x="548640" y="1261872"/>
            <a:ext cx="11091672" cy="713232"/>
          </a:xfrm>
          <a:prstGeom prst="roundRect">
            <a:avLst>
              <a:gd name="adj" fmla="val 10256"/>
            </a:avLst>
          </a:prstGeom>
          <a:solidFill>
            <a:srgbClr val="F7EDF5"/>
          </a:solidFill>
          <a:ln/>
        </p:spPr>
      </p:sp>
      <p:sp>
        <p:nvSpPr>
          <p:cNvPr id="5" name="Text 3"/>
          <p:cNvSpPr txBox="1"/>
          <p:nvPr/>
        </p:nvSpPr>
        <p:spPr>
          <a:xfrm>
            <a:off x="731520" y="1261872"/>
            <a:ext cx="10725912" cy="713232"/>
          </a:xfrm>
          <a:prstGeom prst="rect">
            <a:avLst/>
          </a:prstGeom>
          <a:noFill/>
          <a:ln/>
        </p:spPr>
        <p:txBody>
          <a:bodyPr wrap="square" lIns="508" tIns="508" rIns="508" bIns="508" rtlCol="0" anchor="ctr"/>
          <a:lstStyle/>
          <a:p>
            <a:pPr algn="l" indent="0" marL="0">
              <a:lnSpc>
                <a:spcPct val="100000"/>
              </a:lnSpc>
              <a:buNone/>
            </a:pPr>
            <a:r>
              <a:rPr lang="en-US" sz="1300" b="1" dirty="0">
                <a:solidFill>
                  <a:srgbClr val="80006B"/>
                </a:solidFill>
                <a:latin typeface="Calibri" pitchFamily="34" charset="0"/>
                <a:ea typeface="Calibri" pitchFamily="34" charset="-122"/>
                <a:cs typeface="Calibri" pitchFamily="34" charset="-120"/>
              </a:rPr>
              <a:t>Observación del Comité  </a:t>
            </a:r>
            <a:pPr algn="l" indent="0" marL="0">
              <a:lnSpc>
                <a:spcPct val="100000"/>
              </a:lnSpc>
              <a:buNone/>
            </a:pPr>
            <a:r>
              <a:rPr lang="en-US" sz="1300" i="1" dirty="0">
                <a:solidFill>
                  <a:srgbClr val="262626"/>
                </a:solidFill>
                <a:latin typeface="Calibri" pitchFamily="34" charset="0"/>
                <a:ea typeface="Calibri" pitchFamily="34" charset="-122"/>
                <a:cs typeface="Calibri" pitchFamily="34" charset="-120"/>
              </a:rPr>
              <a:t>«Fundamentar la selección exclusiva de personas Testigos de Jehová y valorar si la pregunta puede responderse mediante una cohorte definida por rechazo transfusional documentado, independientemente de la afiliación religiosa».</a:t>
            </a:r>
            <a:endParaRPr lang="en-US" sz="1300" dirty="0"/>
          </a:p>
        </p:txBody>
      </p:sp>
      <p:sp>
        <p:nvSpPr>
          <p:cNvPr id="6" name="Shape 4"/>
          <p:cNvSpPr/>
          <p:nvPr/>
        </p:nvSpPr>
        <p:spPr>
          <a:xfrm>
            <a:off x="548640" y="2148840"/>
            <a:ext cx="1691640" cy="310896"/>
          </a:xfrm>
          <a:prstGeom prst="roundRect">
            <a:avLst>
              <a:gd name="adj" fmla="val 147059"/>
            </a:avLst>
          </a:prstGeom>
          <a:solidFill>
            <a:srgbClr val="80006B"/>
          </a:solidFill>
          <a:ln/>
        </p:spPr>
      </p:sp>
      <p:sp>
        <p:nvSpPr>
          <p:cNvPr id="7" name="Text 5"/>
          <p:cNvSpPr txBox="1"/>
          <p:nvPr/>
        </p:nvSpPr>
        <p:spPr>
          <a:xfrm>
            <a:off x="548640" y="2148840"/>
            <a:ext cx="1691640" cy="310896"/>
          </a:xfrm>
          <a:prstGeom prst="rect">
            <a:avLst/>
          </a:prstGeom>
          <a:noFill/>
          <a:ln/>
        </p:spPr>
        <p:txBody>
          <a:bodyPr wrap="square" lIns="0" tIns="0" rIns="0" bIns="0" rtlCol="0" anchor="ctr"/>
          <a:lstStyle/>
          <a:p>
            <a:pPr algn="ctr" indent="0" marL="0">
              <a:lnSpc>
                <a:spcPct val="100000"/>
              </a:lnSpc>
              <a:buNone/>
            </a:pPr>
            <a:r>
              <a:rPr lang="en-US" sz="1100" b="1" dirty="0">
                <a:solidFill>
                  <a:srgbClr val="FFFFFF"/>
                </a:solidFill>
                <a:latin typeface="Calibri" pitchFamily="34" charset="0"/>
                <a:ea typeface="Calibri" pitchFamily="34" charset="-122"/>
                <a:cs typeface="Calibri" pitchFamily="34" charset="-120"/>
              </a:rPr>
              <a:t>Se fundamenta</a:t>
            </a:r>
            <a:endParaRPr lang="en-US" sz="1100" dirty="0"/>
          </a:p>
        </p:txBody>
      </p:sp>
      <p:sp>
        <p:nvSpPr>
          <p:cNvPr id="8" name="Text 6"/>
          <p:cNvSpPr txBox="1"/>
          <p:nvPr/>
        </p:nvSpPr>
        <p:spPr>
          <a:xfrm>
            <a:off x="2377440" y="2121408"/>
            <a:ext cx="9262872" cy="384048"/>
          </a:xfrm>
          <a:prstGeom prst="rect">
            <a:avLst/>
          </a:prstGeom>
          <a:noFill/>
          <a:ln/>
        </p:spPr>
        <p:txBody>
          <a:bodyPr wrap="square" lIns="508" tIns="508" rIns="508" bIns="508" rtlCol="0" anchor="ctr"/>
          <a:lstStyle/>
          <a:p>
            <a:pPr algn="l" indent="0" marL="0">
              <a:lnSpc>
                <a:spcPct val="100000"/>
              </a:lnSpc>
              <a:buNone/>
            </a:pPr>
            <a:r>
              <a:rPr lang="en-US" sz="1500" dirty="0">
                <a:solidFill>
                  <a:srgbClr val="262626"/>
                </a:solidFill>
                <a:latin typeface="Calibri" pitchFamily="34" charset="0"/>
                <a:ea typeface="Calibri" pitchFamily="34" charset="-122"/>
                <a:cs typeface="Calibri" pitchFamily="34" charset="-120"/>
              </a:rPr>
              <a:t>Se mantiene la delimitación: una cohorte definida solo por rechazo respondería otra pregunta y reduciría la comparabilidad.</a:t>
            </a:r>
            <a:endParaRPr lang="en-US" sz="1500" dirty="0"/>
          </a:p>
        </p:txBody>
      </p:sp>
      <p:sp>
        <p:nvSpPr>
          <p:cNvPr id="9" name="Shape 7"/>
          <p:cNvSpPr/>
          <p:nvPr/>
        </p:nvSpPr>
        <p:spPr>
          <a:xfrm>
            <a:off x="548640" y="2697480"/>
            <a:ext cx="2635758" cy="2971800"/>
          </a:xfrm>
          <a:prstGeom prst="roundRect">
            <a:avLst>
              <a:gd name="adj" fmla="val 2775"/>
            </a:avLst>
          </a:prstGeom>
          <a:solidFill>
            <a:srgbClr val="FFFFFF"/>
          </a:solidFill>
          <a:ln w="15875">
            <a:solidFill>
              <a:srgbClr val="D9B8D3"/>
            </a:solidFill>
            <a:prstDash val="solid"/>
          </a:ln>
        </p:spPr>
      </p:sp>
      <p:sp>
        <p:nvSpPr>
          <p:cNvPr id="10" name="Shape 8"/>
          <p:cNvSpPr/>
          <p:nvPr/>
        </p:nvSpPr>
        <p:spPr>
          <a:xfrm>
            <a:off x="731520" y="2852928"/>
            <a:ext cx="457200" cy="457200"/>
          </a:xfrm>
          <a:prstGeom prst="ellipse">
            <a:avLst/>
          </a:prstGeom>
          <a:solidFill>
            <a:srgbClr val="80006B"/>
          </a:solidFill>
          <a:ln/>
        </p:spPr>
      </p:sp>
      <p:sp>
        <p:nvSpPr>
          <p:cNvPr id="11" name="Text 9"/>
          <p:cNvSpPr txBox="1"/>
          <p:nvPr/>
        </p:nvSpPr>
        <p:spPr>
          <a:xfrm>
            <a:off x="731520" y="2852928"/>
            <a:ext cx="457200" cy="457200"/>
          </a:xfrm>
          <a:prstGeom prst="rect">
            <a:avLst/>
          </a:prstGeom>
          <a:noFill/>
          <a:ln/>
        </p:spPr>
        <p:txBody>
          <a:bodyPr wrap="square" lIns="0" tIns="0" rIns="0" bIns="0" rtlCol="0" anchor="ctr"/>
          <a:lstStyle/>
          <a:p>
            <a:pPr algn="ctr" indent="0" marL="0">
              <a:lnSpc>
                <a:spcPct val="100000"/>
              </a:lnSpc>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2" name="Text 10"/>
          <p:cNvSpPr txBox="1"/>
          <p:nvPr/>
        </p:nvSpPr>
        <p:spPr>
          <a:xfrm>
            <a:off x="1298448" y="2834640"/>
            <a:ext cx="1767078" cy="502920"/>
          </a:xfrm>
          <a:prstGeom prst="rect">
            <a:avLst/>
          </a:prstGeom>
          <a:noFill/>
          <a:ln/>
        </p:spPr>
        <p:txBody>
          <a:bodyPr wrap="square" lIns="508" tIns="508" rIns="508" bIns="508" rtlCol="0" anchor="ctr"/>
          <a:lstStyle/>
          <a:p>
            <a:pPr algn="l" indent="0" marL="0">
              <a:lnSpc>
                <a:spcPct val="100000"/>
              </a:lnSpc>
              <a:buNone/>
            </a:pPr>
            <a:r>
              <a:rPr lang="en-US" sz="1600" b="1" dirty="0">
                <a:solidFill>
                  <a:srgbClr val="80006B"/>
                </a:solidFill>
                <a:latin typeface="Calibri" pitchFamily="34" charset="0"/>
                <a:ea typeface="Calibri" pitchFamily="34" charset="-122"/>
                <a:cs typeface="Calibri" pitchFamily="34" charset="-120"/>
              </a:rPr>
              <a:t>Comparabilidad</a:t>
            </a:r>
            <a:endParaRPr lang="en-US" sz="1600" dirty="0"/>
          </a:p>
        </p:txBody>
      </p:sp>
      <p:sp>
        <p:nvSpPr>
          <p:cNvPr id="13" name="Text 11"/>
          <p:cNvSpPr txBox="1"/>
          <p:nvPr/>
        </p:nvSpPr>
        <p:spPr>
          <a:xfrm>
            <a:off x="731520" y="3474720"/>
            <a:ext cx="2269998" cy="2103120"/>
          </a:xfrm>
          <a:prstGeom prst="rect">
            <a:avLst/>
          </a:prstGeom>
          <a:noFill/>
          <a:ln/>
        </p:spPr>
        <p:txBody>
          <a:bodyPr wrap="square" lIns="508" tIns="508" rIns="508" bIns="508" rtlCol="0" anchor="t"/>
          <a:lstStyle/>
          <a:p>
            <a:pPr algn="l" indent="0" marL="0">
              <a:lnSpc>
                <a:spcPct val="100000"/>
              </a:lnSpc>
              <a:buNone/>
            </a:pPr>
            <a:r>
              <a:rPr lang="en-US" sz="1350" dirty="0">
                <a:solidFill>
                  <a:srgbClr val="262626"/>
                </a:solidFill>
                <a:latin typeface="Calibri" pitchFamily="34" charset="0"/>
                <a:ea typeface="Calibri" pitchFamily="34" charset="-122"/>
                <a:cs typeface="Calibri" pitchFamily="34" charset="-120"/>
              </a:rPr>
              <a:t>Metaanálisis, cohortes emparejadas y series definen su población como Testigos de Jehová; es descriptor DeCS y MeSH.</a:t>
            </a:r>
            <a:endParaRPr lang="en-US" sz="1350" dirty="0"/>
          </a:p>
        </p:txBody>
      </p:sp>
      <p:sp>
        <p:nvSpPr>
          <p:cNvPr id="14" name="Shape 12"/>
          <p:cNvSpPr/>
          <p:nvPr/>
        </p:nvSpPr>
        <p:spPr>
          <a:xfrm>
            <a:off x="3367278" y="2697480"/>
            <a:ext cx="2635758" cy="2971800"/>
          </a:xfrm>
          <a:prstGeom prst="roundRect">
            <a:avLst>
              <a:gd name="adj" fmla="val 2775"/>
            </a:avLst>
          </a:prstGeom>
          <a:solidFill>
            <a:srgbClr val="FFFFFF"/>
          </a:solidFill>
          <a:ln w="15875">
            <a:solidFill>
              <a:srgbClr val="D9B8D3"/>
            </a:solidFill>
            <a:prstDash val="solid"/>
          </a:ln>
        </p:spPr>
      </p:sp>
      <p:sp>
        <p:nvSpPr>
          <p:cNvPr id="15" name="Shape 13"/>
          <p:cNvSpPr/>
          <p:nvPr/>
        </p:nvSpPr>
        <p:spPr>
          <a:xfrm>
            <a:off x="3550158" y="2852928"/>
            <a:ext cx="457200" cy="457200"/>
          </a:xfrm>
          <a:prstGeom prst="ellipse">
            <a:avLst/>
          </a:prstGeom>
          <a:solidFill>
            <a:srgbClr val="80006B"/>
          </a:solidFill>
          <a:ln/>
        </p:spPr>
      </p:sp>
      <p:sp>
        <p:nvSpPr>
          <p:cNvPr id="16" name="Text 14"/>
          <p:cNvSpPr txBox="1"/>
          <p:nvPr/>
        </p:nvSpPr>
        <p:spPr>
          <a:xfrm>
            <a:off x="3550158" y="2852928"/>
            <a:ext cx="457200" cy="457200"/>
          </a:xfrm>
          <a:prstGeom prst="rect">
            <a:avLst/>
          </a:prstGeom>
          <a:noFill/>
          <a:ln/>
        </p:spPr>
        <p:txBody>
          <a:bodyPr wrap="square" lIns="0" tIns="0" rIns="0" bIns="0" rtlCol="0" anchor="ctr"/>
          <a:lstStyle/>
          <a:p>
            <a:pPr algn="ctr" indent="0" marL="0">
              <a:lnSpc>
                <a:spcPct val="100000"/>
              </a:lnSpc>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7" name="Text 15"/>
          <p:cNvSpPr txBox="1"/>
          <p:nvPr/>
        </p:nvSpPr>
        <p:spPr>
          <a:xfrm>
            <a:off x="4117086" y="2834640"/>
            <a:ext cx="1767078" cy="502920"/>
          </a:xfrm>
          <a:prstGeom prst="rect">
            <a:avLst/>
          </a:prstGeom>
          <a:noFill/>
          <a:ln/>
        </p:spPr>
        <p:txBody>
          <a:bodyPr wrap="square" lIns="508" tIns="508" rIns="508" bIns="508" rtlCol="0" anchor="ctr"/>
          <a:lstStyle/>
          <a:p>
            <a:pPr algn="l" indent="0" marL="0">
              <a:lnSpc>
                <a:spcPct val="100000"/>
              </a:lnSpc>
              <a:buNone/>
            </a:pPr>
            <a:r>
              <a:rPr lang="en-US" sz="1600" b="1" dirty="0">
                <a:solidFill>
                  <a:srgbClr val="80006B"/>
                </a:solidFill>
                <a:latin typeface="Calibri" pitchFamily="34" charset="0"/>
                <a:ea typeface="Calibri" pitchFamily="34" charset="-122"/>
                <a:cs typeface="Calibri" pitchFamily="34" charset="-120"/>
              </a:rPr>
              <a:t>Homogeneidad clínica</a:t>
            </a:r>
            <a:endParaRPr lang="en-US" sz="1600" dirty="0"/>
          </a:p>
        </p:txBody>
      </p:sp>
      <p:sp>
        <p:nvSpPr>
          <p:cNvPr id="18" name="Text 16"/>
          <p:cNvSpPr txBox="1"/>
          <p:nvPr/>
        </p:nvSpPr>
        <p:spPr>
          <a:xfrm>
            <a:off x="3550158" y="3474720"/>
            <a:ext cx="2269998" cy="2103120"/>
          </a:xfrm>
          <a:prstGeom prst="rect">
            <a:avLst/>
          </a:prstGeom>
          <a:noFill/>
          <a:ln/>
        </p:spPr>
        <p:txBody>
          <a:bodyPr wrap="square" lIns="508" tIns="508" rIns="508" bIns="508" rtlCol="0" anchor="t"/>
          <a:lstStyle/>
          <a:p>
            <a:pPr algn="l" indent="0" marL="0">
              <a:lnSpc>
                <a:spcPct val="100000"/>
              </a:lnSpc>
              <a:buNone/>
            </a:pPr>
            <a:r>
              <a:rPr lang="en-US" sz="1350" dirty="0">
                <a:solidFill>
                  <a:srgbClr val="262626"/>
                </a:solidFill>
                <a:latin typeface="Calibri" pitchFamily="34" charset="0"/>
                <a:ea typeface="Calibri" pitchFamily="34" charset="-122"/>
                <a:cs typeface="Calibri" pitchFamily="34" charset="-120"/>
              </a:rPr>
              <a:t>En 2020–2025 la negativa era anticipada, estable y documentada; fuera de este grupo es infrecuente, parcial o circunstancial.</a:t>
            </a:r>
            <a:endParaRPr lang="en-US" sz="1350" dirty="0"/>
          </a:p>
        </p:txBody>
      </p:sp>
      <p:sp>
        <p:nvSpPr>
          <p:cNvPr id="19" name="Shape 17"/>
          <p:cNvSpPr/>
          <p:nvPr/>
        </p:nvSpPr>
        <p:spPr>
          <a:xfrm>
            <a:off x="6185916" y="2697480"/>
            <a:ext cx="2635758" cy="2971800"/>
          </a:xfrm>
          <a:prstGeom prst="roundRect">
            <a:avLst>
              <a:gd name="adj" fmla="val 2775"/>
            </a:avLst>
          </a:prstGeom>
          <a:solidFill>
            <a:srgbClr val="FFFFFF"/>
          </a:solidFill>
          <a:ln w="15875">
            <a:solidFill>
              <a:srgbClr val="D9B8D3"/>
            </a:solidFill>
            <a:prstDash val="solid"/>
          </a:ln>
        </p:spPr>
      </p:sp>
      <p:sp>
        <p:nvSpPr>
          <p:cNvPr id="20" name="Shape 18"/>
          <p:cNvSpPr/>
          <p:nvPr/>
        </p:nvSpPr>
        <p:spPr>
          <a:xfrm>
            <a:off x="6368796" y="2852928"/>
            <a:ext cx="457200" cy="457200"/>
          </a:xfrm>
          <a:prstGeom prst="ellipse">
            <a:avLst/>
          </a:prstGeom>
          <a:solidFill>
            <a:srgbClr val="80006B"/>
          </a:solidFill>
          <a:ln/>
        </p:spPr>
      </p:sp>
      <p:sp>
        <p:nvSpPr>
          <p:cNvPr id="21" name="Text 19"/>
          <p:cNvSpPr txBox="1"/>
          <p:nvPr/>
        </p:nvSpPr>
        <p:spPr>
          <a:xfrm>
            <a:off x="6368796" y="2852928"/>
            <a:ext cx="457200" cy="457200"/>
          </a:xfrm>
          <a:prstGeom prst="rect">
            <a:avLst/>
          </a:prstGeom>
          <a:noFill/>
          <a:ln/>
        </p:spPr>
        <p:txBody>
          <a:bodyPr wrap="square" lIns="0" tIns="0" rIns="0" bIns="0" rtlCol="0" anchor="ctr"/>
          <a:lstStyle/>
          <a:p>
            <a:pPr algn="ctr" indent="0" marL="0">
              <a:lnSpc>
                <a:spcPct val="100000"/>
              </a:lnSpc>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2" name="Text 20"/>
          <p:cNvSpPr txBox="1"/>
          <p:nvPr/>
        </p:nvSpPr>
        <p:spPr>
          <a:xfrm>
            <a:off x="6935724" y="2834640"/>
            <a:ext cx="1767078" cy="502920"/>
          </a:xfrm>
          <a:prstGeom prst="rect">
            <a:avLst/>
          </a:prstGeom>
          <a:noFill/>
          <a:ln/>
        </p:spPr>
        <p:txBody>
          <a:bodyPr wrap="square" lIns="508" tIns="508" rIns="508" bIns="508" rtlCol="0" anchor="ctr"/>
          <a:lstStyle/>
          <a:p>
            <a:pPr algn="l" indent="0" marL="0">
              <a:lnSpc>
                <a:spcPct val="100000"/>
              </a:lnSpc>
              <a:buNone/>
            </a:pPr>
            <a:r>
              <a:rPr lang="en-US" sz="1600" b="1" dirty="0">
                <a:solidFill>
                  <a:srgbClr val="80006B"/>
                </a:solidFill>
                <a:latin typeface="Calibri" pitchFamily="34" charset="0"/>
                <a:ea typeface="Calibri" pitchFamily="34" charset="-122"/>
                <a:cs typeface="Calibri" pitchFamily="34" charset="-120"/>
              </a:rPr>
              <a:t>Precedente metodológico</a:t>
            </a:r>
            <a:endParaRPr lang="en-US" sz="1600" dirty="0"/>
          </a:p>
        </p:txBody>
      </p:sp>
      <p:sp>
        <p:nvSpPr>
          <p:cNvPr id="23" name="Text 21"/>
          <p:cNvSpPr txBox="1"/>
          <p:nvPr/>
        </p:nvSpPr>
        <p:spPr>
          <a:xfrm>
            <a:off x="6368796" y="3474720"/>
            <a:ext cx="2269998" cy="2103120"/>
          </a:xfrm>
          <a:prstGeom prst="rect">
            <a:avLst/>
          </a:prstGeom>
          <a:noFill/>
          <a:ln/>
        </p:spPr>
        <p:txBody>
          <a:bodyPr wrap="square" lIns="508" tIns="508" rIns="508" bIns="508" rtlCol="0" anchor="t"/>
          <a:lstStyle/>
          <a:p>
            <a:pPr algn="l" indent="0" marL="0">
              <a:lnSpc>
                <a:spcPct val="100000"/>
              </a:lnSpc>
              <a:buNone/>
            </a:pPr>
            <a:r>
              <a:rPr lang="en-US" sz="1350" dirty="0">
                <a:solidFill>
                  <a:srgbClr val="262626"/>
                </a:solidFill>
                <a:latin typeface="Calibri" pitchFamily="34" charset="0"/>
                <a:ea typeface="Calibri" pitchFamily="34" charset="-122"/>
                <a:cs typeface="Calibri" pitchFamily="34" charset="-120"/>
              </a:rPr>
              <a:t>Pattakos et al. (Cleveland Clinic) estudiaron el rechazo de transfusión en 322 Testigos de Jehová como «experimento natural».</a:t>
            </a:r>
            <a:endParaRPr lang="en-US" sz="1350" dirty="0"/>
          </a:p>
        </p:txBody>
      </p:sp>
      <p:sp>
        <p:nvSpPr>
          <p:cNvPr id="24" name="Shape 22"/>
          <p:cNvSpPr/>
          <p:nvPr/>
        </p:nvSpPr>
        <p:spPr>
          <a:xfrm>
            <a:off x="9004554" y="2697480"/>
            <a:ext cx="2635758" cy="2971800"/>
          </a:xfrm>
          <a:prstGeom prst="roundRect">
            <a:avLst>
              <a:gd name="adj" fmla="val 2775"/>
            </a:avLst>
          </a:prstGeom>
          <a:solidFill>
            <a:srgbClr val="FFFFFF"/>
          </a:solidFill>
          <a:ln w="15875">
            <a:solidFill>
              <a:srgbClr val="D9B8D3"/>
            </a:solidFill>
            <a:prstDash val="solid"/>
          </a:ln>
        </p:spPr>
      </p:sp>
      <p:sp>
        <p:nvSpPr>
          <p:cNvPr id="25" name="Shape 23"/>
          <p:cNvSpPr/>
          <p:nvPr/>
        </p:nvSpPr>
        <p:spPr>
          <a:xfrm>
            <a:off x="9187434" y="2852928"/>
            <a:ext cx="457200" cy="457200"/>
          </a:xfrm>
          <a:prstGeom prst="ellipse">
            <a:avLst/>
          </a:prstGeom>
          <a:solidFill>
            <a:srgbClr val="80006B"/>
          </a:solidFill>
          <a:ln/>
        </p:spPr>
      </p:sp>
      <p:sp>
        <p:nvSpPr>
          <p:cNvPr id="26" name="Text 24"/>
          <p:cNvSpPr txBox="1"/>
          <p:nvPr/>
        </p:nvSpPr>
        <p:spPr>
          <a:xfrm>
            <a:off x="9187434" y="2852928"/>
            <a:ext cx="457200" cy="457200"/>
          </a:xfrm>
          <a:prstGeom prst="rect">
            <a:avLst/>
          </a:prstGeom>
          <a:noFill/>
          <a:ln/>
        </p:spPr>
        <p:txBody>
          <a:bodyPr wrap="square" lIns="0" tIns="0" rIns="0" bIns="0" rtlCol="0" anchor="ctr"/>
          <a:lstStyle/>
          <a:p>
            <a:pPr algn="ctr" indent="0" marL="0">
              <a:lnSpc>
                <a:spcPct val="100000"/>
              </a:lnSpc>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7" name="Text 25"/>
          <p:cNvSpPr txBox="1"/>
          <p:nvPr/>
        </p:nvSpPr>
        <p:spPr>
          <a:xfrm>
            <a:off x="9754362" y="2834640"/>
            <a:ext cx="1767078" cy="502920"/>
          </a:xfrm>
          <a:prstGeom prst="rect">
            <a:avLst/>
          </a:prstGeom>
          <a:noFill/>
          <a:ln/>
        </p:spPr>
        <p:txBody>
          <a:bodyPr wrap="square" lIns="508" tIns="508" rIns="508" bIns="508" rtlCol="0" anchor="ctr"/>
          <a:lstStyle/>
          <a:p>
            <a:pPr algn="l" indent="0" marL="0">
              <a:lnSpc>
                <a:spcPct val="100000"/>
              </a:lnSpc>
              <a:buNone/>
            </a:pPr>
            <a:r>
              <a:rPr lang="en-US" sz="1600" b="1" dirty="0">
                <a:solidFill>
                  <a:srgbClr val="80006B"/>
                </a:solidFill>
                <a:latin typeface="Calibri" pitchFamily="34" charset="0"/>
                <a:ea typeface="Calibri" pitchFamily="34" charset="-122"/>
                <a:cs typeface="Calibri" pitchFamily="34" charset="-120"/>
              </a:rPr>
              <a:t>Justicia y valor social</a:t>
            </a:r>
            <a:endParaRPr lang="en-US" sz="1600" dirty="0"/>
          </a:p>
        </p:txBody>
      </p:sp>
      <p:sp>
        <p:nvSpPr>
          <p:cNvPr id="28" name="Text 26"/>
          <p:cNvSpPr txBox="1"/>
          <p:nvPr/>
        </p:nvSpPr>
        <p:spPr>
          <a:xfrm>
            <a:off x="9187434" y="3474720"/>
            <a:ext cx="2269998" cy="2103120"/>
          </a:xfrm>
          <a:prstGeom prst="rect">
            <a:avLst/>
          </a:prstGeom>
          <a:noFill/>
          <a:ln/>
        </p:spPr>
        <p:txBody>
          <a:bodyPr wrap="square" lIns="508" tIns="508" rIns="508" bIns="508" rtlCol="0" anchor="t"/>
          <a:lstStyle/>
          <a:p>
            <a:pPr algn="l" indent="0" marL="0">
              <a:lnSpc>
                <a:spcPct val="100000"/>
              </a:lnSpc>
              <a:buNone/>
            </a:pPr>
            <a:r>
              <a:rPr lang="en-US" sz="1350" dirty="0">
                <a:solidFill>
                  <a:srgbClr val="262626"/>
                </a:solidFill>
                <a:latin typeface="Calibri" pitchFamily="34" charset="0"/>
                <a:ea typeface="Calibri" pitchFamily="34" charset="-122"/>
                <a:cs typeface="Calibri" pitchFamily="34" charset="-120"/>
              </a:rPr>
              <a:t>La Corte Constitucional ordenó un reemplazo valvular aórtico sin transfusión (T-476 de 2016): la prestación es exigible.</a:t>
            </a:r>
            <a:endParaRPr lang="en-US" sz="1350" dirty="0"/>
          </a:p>
        </p:txBody>
      </p:sp>
      <p:sp>
        <p:nvSpPr>
          <p:cNvPr id="29" name="Text 27"/>
          <p:cNvSpPr txBox="1"/>
          <p:nvPr/>
        </p:nvSpPr>
        <p:spPr>
          <a:xfrm>
            <a:off x="548640" y="5833872"/>
            <a:ext cx="11091672" cy="292608"/>
          </a:xfrm>
          <a:prstGeom prst="rect">
            <a:avLst/>
          </a:prstGeom>
          <a:noFill/>
          <a:ln/>
        </p:spPr>
        <p:txBody>
          <a:bodyPr wrap="square" lIns="508" tIns="508" rIns="508" bIns="508" rtlCol="0" anchor="ctr"/>
          <a:lstStyle/>
          <a:p>
            <a:pPr algn="l" indent="0" marL="0">
              <a:lnSpc>
                <a:spcPct val="100000"/>
              </a:lnSpc>
              <a:buNone/>
            </a:pPr>
            <a:r>
              <a:rPr lang="en-US" sz="1200" b="1" dirty="0">
                <a:solidFill>
                  <a:srgbClr val="80006B"/>
                </a:solidFill>
                <a:latin typeface="Calibri" pitchFamily="34" charset="0"/>
                <a:ea typeface="Calibri" pitchFamily="34" charset="-122"/>
                <a:cs typeface="Calibri" pitchFamily="34" charset="-120"/>
              </a:rPr>
              <a:t>Dónde está en el protocolo v2.0:  </a:t>
            </a:r>
            <a:pPr algn="l" indent="0" marL="0">
              <a:lnSpc>
                <a:spcPct val="100000"/>
              </a:lnSpc>
              <a:buNone/>
            </a:pPr>
            <a:r>
              <a:rPr lang="en-US" sz="1200" dirty="0">
                <a:solidFill>
                  <a:srgbClr val="6B6B6B"/>
                </a:solidFill>
                <a:latin typeface="Calibri" pitchFamily="34" charset="0"/>
                <a:ea typeface="Calibri" pitchFamily="34" charset="-122"/>
                <a:cs typeface="Calibri" pitchFamily="34" charset="-120"/>
              </a:rPr>
              <a:t>numeral 1.2, pp. 11–12 · numeral 2.3, pp. 24–25 · numeral 3.2.2, p. 28</a:t>
            </a:r>
            <a:endParaRPr lang="en-US" sz="1200" dirty="0"/>
          </a:p>
        </p:txBody>
      </p:sp>
      <p:sp>
        <p:nvSpPr>
          <p:cNvPr id="25" name="Slide Number Placeholder 0"/>
          <p:cNvSpPr>
            <a:spLocks noGrp="1"/>
          </p:cNvSpPr>
          <p:nvPr>
            <p:ph type="sldNum" sz="quarter" idx="4294967295"/>
          </p:nvPr>
        </p:nvSpPr>
        <p:spPr>
          <a:xfrm>
            <a:off x="11201400" y="635508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292608"/>
            <a:ext cx="8686800" cy="274320"/>
          </a:xfrm>
          <a:prstGeom prst="rect">
            <a:avLst/>
          </a:prstGeom>
          <a:noFill/>
          <a:ln/>
        </p:spPr>
        <p:txBody>
          <a:bodyPr wrap="square" lIns="508" tIns="508" rIns="508" bIns="508" rtlCol="0" anchor="t"/>
          <a:lstStyle/>
          <a:p>
            <a:pPr algn="l" indent="0" marL="0">
              <a:lnSpc>
                <a:spcPct val="100000"/>
              </a:lnSpc>
              <a:buNone/>
            </a:pPr>
            <a:r>
              <a:rPr lang="en-US" sz="1200" b="1" dirty="0">
                <a:solidFill>
                  <a:srgbClr val="FF5F3F"/>
                </a:solidFill>
                <a:latin typeface="Calibri" pitchFamily="34" charset="0"/>
                <a:ea typeface="Calibri" pitchFamily="34" charset="-122"/>
                <a:cs typeface="Calibri" pitchFamily="34" charset="-120"/>
              </a:rPr>
              <a:t>OBSERVACIÓN 1 DE 7</a:t>
            </a:r>
            <a:endParaRPr lang="en-US" sz="1200" dirty="0"/>
          </a:p>
        </p:txBody>
      </p:sp>
      <p:sp>
        <p:nvSpPr>
          <p:cNvPr id="3" name="Text 1"/>
          <p:cNvSpPr txBox="1"/>
          <p:nvPr/>
        </p:nvSpPr>
        <p:spPr>
          <a:xfrm>
            <a:off x="548640" y="548640"/>
            <a:ext cx="9326880" cy="548640"/>
          </a:xfrm>
          <a:prstGeom prst="rect">
            <a:avLst/>
          </a:prstGeom>
          <a:noFill/>
          <a:ln/>
        </p:spPr>
        <p:txBody>
          <a:bodyPr wrap="square" lIns="508" tIns="508" rIns="508" bIns="508" rtlCol="0" anchor="ctr"/>
          <a:lstStyle/>
          <a:p>
            <a:pPr algn="l" indent="0" marL="0">
              <a:lnSpc>
                <a:spcPct val="100000"/>
              </a:lnSpc>
              <a:buNone/>
            </a:pPr>
            <a:r>
              <a:rPr lang="en-US" sz="2800" b="1" dirty="0">
                <a:solidFill>
                  <a:srgbClr val="80006B"/>
                </a:solidFill>
                <a:latin typeface="Calibri" pitchFamily="34" charset="0"/>
                <a:ea typeface="Calibri" pitchFamily="34" charset="-122"/>
                <a:cs typeface="Calibri" pitchFamily="34" charset="-120"/>
              </a:rPr>
              <a:t>Precedentes aprobados por comités de ética</a:t>
            </a:r>
            <a:endParaRPr lang="en-US" sz="2800" dirty="0"/>
          </a:p>
        </p:txBody>
      </p:sp>
      <p:sp>
        <p:nvSpPr>
          <p:cNvPr id="4" name="Shape 2"/>
          <p:cNvSpPr/>
          <p:nvPr/>
        </p:nvSpPr>
        <p:spPr>
          <a:xfrm>
            <a:off x="548640" y="1325880"/>
            <a:ext cx="3017520" cy="4343400"/>
          </a:xfrm>
          <a:prstGeom prst="roundRect">
            <a:avLst>
              <a:gd name="adj" fmla="val 2424"/>
            </a:avLst>
          </a:prstGeom>
          <a:solidFill>
            <a:srgbClr val="80006B"/>
          </a:solidFill>
          <a:ln/>
        </p:spPr>
      </p:sp>
      <p:sp>
        <p:nvSpPr>
          <p:cNvPr id="5" name="Text 3"/>
          <p:cNvSpPr txBox="1"/>
          <p:nvPr/>
        </p:nvSpPr>
        <p:spPr>
          <a:xfrm>
            <a:off x="822960" y="1463040"/>
            <a:ext cx="2468880" cy="1188720"/>
          </a:xfrm>
          <a:prstGeom prst="rect">
            <a:avLst/>
          </a:prstGeom>
          <a:noFill/>
          <a:ln/>
        </p:spPr>
        <p:txBody>
          <a:bodyPr wrap="square" lIns="508" tIns="508" rIns="508" bIns="508" rtlCol="0" anchor="t"/>
          <a:lstStyle/>
          <a:p>
            <a:pPr algn="l" indent="0" marL="0">
              <a:lnSpc>
                <a:spcPct val="100000"/>
              </a:lnSpc>
              <a:buNone/>
            </a:pPr>
            <a:r>
              <a:rPr lang="en-US" sz="7200" b="1" dirty="0">
                <a:solidFill>
                  <a:srgbClr val="FFFFFF"/>
                </a:solidFill>
                <a:latin typeface="Calibri" pitchFamily="34" charset="0"/>
                <a:ea typeface="Calibri" pitchFamily="34" charset="-122"/>
                <a:cs typeface="Calibri" pitchFamily="34" charset="-120"/>
              </a:rPr>
              <a:t>11</a:t>
            </a:r>
            <a:endParaRPr lang="en-US" sz="7200" dirty="0"/>
          </a:p>
        </p:txBody>
      </p:sp>
      <p:sp>
        <p:nvSpPr>
          <p:cNvPr id="6" name="Text 4"/>
          <p:cNvSpPr txBox="1"/>
          <p:nvPr/>
        </p:nvSpPr>
        <p:spPr>
          <a:xfrm>
            <a:off x="822960" y="2697480"/>
            <a:ext cx="2514600" cy="1554480"/>
          </a:xfrm>
          <a:prstGeom prst="rect">
            <a:avLst/>
          </a:prstGeom>
          <a:noFill/>
          <a:ln/>
        </p:spPr>
        <p:txBody>
          <a:bodyPr wrap="square" lIns="508" tIns="508" rIns="508" bIns="508" rtlCol="0" anchor="t"/>
          <a:lstStyle/>
          <a:p>
            <a:pPr algn="l" indent="0" marL="0">
              <a:lnSpc>
                <a:spcPct val="100000"/>
              </a:lnSpc>
              <a:buNone/>
            </a:pPr>
            <a:r>
              <a:rPr lang="en-US" sz="1600" dirty="0">
                <a:solidFill>
                  <a:srgbClr val="FFFFFF"/>
                </a:solidFill>
                <a:latin typeface="Calibri" pitchFamily="34" charset="0"/>
                <a:ea typeface="Calibri" pitchFamily="34" charset="-122"/>
                <a:cs typeface="Calibri" pitchFamily="34" charset="-120"/>
              </a:rPr>
              <a:t>estudios con la misma definición poblacional y diseño retrospectivo sobre historias clínicas</a:t>
            </a:r>
            <a:endParaRPr lang="en-US" sz="1600" dirty="0"/>
          </a:p>
        </p:txBody>
      </p:sp>
      <p:sp>
        <p:nvSpPr>
          <p:cNvPr id="7" name="Text 5"/>
          <p:cNvSpPr txBox="1"/>
          <p:nvPr/>
        </p:nvSpPr>
        <p:spPr>
          <a:xfrm>
            <a:off x="822960" y="4526280"/>
            <a:ext cx="2514600" cy="914400"/>
          </a:xfrm>
          <a:prstGeom prst="rect">
            <a:avLst/>
          </a:prstGeom>
          <a:noFill/>
          <a:ln/>
        </p:spPr>
        <p:txBody>
          <a:bodyPr wrap="square" lIns="508" tIns="508" rIns="508" bIns="508" rtlCol="0" anchor="t"/>
          <a:lstStyle/>
          <a:p>
            <a:pPr algn="l" indent="0" marL="0">
              <a:lnSpc>
                <a:spcPct val="100000"/>
              </a:lnSpc>
              <a:buNone/>
            </a:pPr>
            <a:r>
              <a:rPr lang="en-US" sz="1200" dirty="0">
                <a:solidFill>
                  <a:srgbClr val="FFB5A6"/>
                </a:solidFill>
                <a:latin typeface="Calibri" pitchFamily="34" charset="0"/>
                <a:ea typeface="Calibri" pitchFamily="34" charset="-122"/>
                <a:cs typeface="Calibri" pitchFamily="34" charset="-120"/>
              </a:rPr>
              <a:t>Publicados en revistas que exigen declarar la aprobación ética (ICMJE)</a:t>
            </a:r>
            <a:endParaRPr lang="en-US" sz="1200" dirty="0"/>
          </a:p>
        </p:txBody>
      </p:sp>
      <p:sp>
        <p:nvSpPr>
          <p:cNvPr id="8" name="Shape 6"/>
          <p:cNvSpPr/>
          <p:nvPr/>
        </p:nvSpPr>
        <p:spPr>
          <a:xfrm>
            <a:off x="3794760" y="1325880"/>
            <a:ext cx="3785616" cy="1600200"/>
          </a:xfrm>
          <a:prstGeom prst="roundRect">
            <a:avLst>
              <a:gd name="adj" fmla="val 4571"/>
            </a:avLst>
          </a:prstGeom>
          <a:solidFill>
            <a:srgbClr val="FFF1ED"/>
          </a:solidFill>
          <a:ln/>
        </p:spPr>
      </p:sp>
      <p:sp>
        <p:nvSpPr>
          <p:cNvPr id="9" name="Text 7"/>
          <p:cNvSpPr txBox="1"/>
          <p:nvPr/>
        </p:nvSpPr>
        <p:spPr>
          <a:xfrm>
            <a:off x="3959352" y="1417320"/>
            <a:ext cx="3474720" cy="365760"/>
          </a:xfrm>
          <a:prstGeom prst="rect">
            <a:avLst/>
          </a:prstGeom>
          <a:noFill/>
          <a:ln/>
        </p:spPr>
        <p:txBody>
          <a:bodyPr wrap="square" lIns="508" tIns="508" rIns="508" bIns="508" rtlCol="0" anchor="t"/>
          <a:lstStyle/>
          <a:p>
            <a:pPr algn="l" indent="0" marL="0">
              <a:lnSpc>
                <a:spcPct val="100000"/>
              </a:lnSpc>
              <a:buNone/>
            </a:pPr>
            <a:r>
              <a:rPr lang="en-US" sz="1400" b="1" dirty="0">
                <a:solidFill>
                  <a:srgbClr val="FF5F3F"/>
                </a:solidFill>
                <a:latin typeface="Calibri" pitchFamily="34" charset="0"/>
                <a:ea typeface="Calibri" pitchFamily="34" charset="-122"/>
                <a:cs typeface="Calibri" pitchFamily="34" charset="-120"/>
              </a:rPr>
              <a:t>Nakano et al., 2026 · InCor, Brasil</a:t>
            </a:r>
            <a:endParaRPr lang="en-US" sz="1400" dirty="0"/>
          </a:p>
        </p:txBody>
      </p:sp>
      <p:sp>
        <p:nvSpPr>
          <p:cNvPr id="10" name="Text 8"/>
          <p:cNvSpPr txBox="1"/>
          <p:nvPr/>
        </p:nvSpPr>
        <p:spPr>
          <a:xfrm>
            <a:off x="3959352" y="1783080"/>
            <a:ext cx="3474720" cy="1097280"/>
          </a:xfrm>
          <a:prstGeom prst="rect">
            <a:avLst/>
          </a:prstGeom>
          <a:noFill/>
          <a:ln/>
        </p:spPr>
        <p:txBody>
          <a:bodyPr wrap="square" lIns="508" tIns="508" rIns="508" bIns="508" rtlCol="0" anchor="t"/>
          <a:lstStyle/>
          <a:p>
            <a:pPr algn="l" indent="0" marL="0">
              <a:lnSpc>
                <a:spcPct val="100000"/>
              </a:lnSpc>
              <a:buNone/>
            </a:pPr>
            <a:r>
              <a:rPr lang="en-US" sz="1200" dirty="0">
                <a:solidFill>
                  <a:srgbClr val="262626"/>
                </a:solidFill>
                <a:latin typeface="Calibri" pitchFamily="34" charset="0"/>
                <a:ea typeface="Calibri" pitchFamily="34" charset="-122"/>
                <a:cs typeface="Calibri" pitchFamily="34" charset="-120"/>
              </a:rPr>
              <a:t>Revascularización coronaria; 26 TJ y 78 controles. Comité de ética n.º 7.441.177: dispensa del consentimiento por datos anonimizados, sin contacto con pacientes.</a:t>
            </a:r>
            <a:endParaRPr lang="en-US" sz="1200" dirty="0"/>
          </a:p>
        </p:txBody>
      </p:sp>
      <p:sp>
        <p:nvSpPr>
          <p:cNvPr id="11" name="Shape 9"/>
          <p:cNvSpPr/>
          <p:nvPr/>
        </p:nvSpPr>
        <p:spPr>
          <a:xfrm>
            <a:off x="7763256" y="1325880"/>
            <a:ext cx="3785616" cy="1600200"/>
          </a:xfrm>
          <a:prstGeom prst="roundRect">
            <a:avLst>
              <a:gd name="adj" fmla="val 4571"/>
            </a:avLst>
          </a:prstGeom>
          <a:solidFill>
            <a:srgbClr val="FFF1ED"/>
          </a:solidFill>
          <a:ln/>
        </p:spPr>
      </p:sp>
      <p:sp>
        <p:nvSpPr>
          <p:cNvPr id="12" name="Text 10"/>
          <p:cNvSpPr txBox="1"/>
          <p:nvPr/>
        </p:nvSpPr>
        <p:spPr>
          <a:xfrm>
            <a:off x="7927848" y="1417320"/>
            <a:ext cx="3474720" cy="365760"/>
          </a:xfrm>
          <a:prstGeom prst="rect">
            <a:avLst/>
          </a:prstGeom>
          <a:noFill/>
          <a:ln/>
        </p:spPr>
        <p:txBody>
          <a:bodyPr wrap="square" lIns="508" tIns="508" rIns="508" bIns="508" rtlCol="0" anchor="t"/>
          <a:lstStyle/>
          <a:p>
            <a:pPr algn="l" indent="0" marL="0">
              <a:lnSpc>
                <a:spcPct val="100000"/>
              </a:lnSpc>
              <a:buNone/>
            </a:pPr>
            <a:r>
              <a:rPr lang="en-US" sz="1400" b="1" dirty="0">
                <a:solidFill>
                  <a:srgbClr val="FF5F3F"/>
                </a:solidFill>
                <a:latin typeface="Calibri" pitchFamily="34" charset="0"/>
                <a:ea typeface="Calibri" pitchFamily="34" charset="-122"/>
                <a:cs typeface="Calibri" pitchFamily="34" charset="-120"/>
              </a:rPr>
              <a:t>Hartrumpf et al., 2023 · Alemania</a:t>
            </a:r>
            <a:endParaRPr lang="en-US" sz="1400" dirty="0"/>
          </a:p>
        </p:txBody>
      </p:sp>
      <p:sp>
        <p:nvSpPr>
          <p:cNvPr id="13" name="Text 11"/>
          <p:cNvSpPr txBox="1"/>
          <p:nvPr/>
        </p:nvSpPr>
        <p:spPr>
          <a:xfrm>
            <a:off x="7927848" y="1783080"/>
            <a:ext cx="3474720" cy="1097280"/>
          </a:xfrm>
          <a:prstGeom prst="rect">
            <a:avLst/>
          </a:prstGeom>
          <a:noFill/>
          <a:ln/>
        </p:spPr>
        <p:txBody>
          <a:bodyPr wrap="square" lIns="508" tIns="508" rIns="508" bIns="508" rtlCol="0" anchor="t"/>
          <a:lstStyle/>
          <a:p>
            <a:pPr algn="l" indent="0" marL="0">
              <a:lnSpc>
                <a:spcPct val="100000"/>
              </a:lnSpc>
              <a:buNone/>
            </a:pPr>
            <a:r>
              <a:rPr lang="en-US" sz="1200" dirty="0">
                <a:solidFill>
                  <a:srgbClr val="262626"/>
                </a:solidFill>
                <a:latin typeface="Calibri" pitchFamily="34" charset="0"/>
                <a:ea typeface="Calibri" pitchFamily="34" charset="-122"/>
                <a:cs typeface="Calibri" pitchFamily="34" charset="-120"/>
              </a:rPr>
              <a:t>TJ consecutivos en cirugía cardiaca mayor, 2003–2022. Comité de ética n.º E-01-20230411: consentimiento escrito no requerido por anonimización completa.</a:t>
            </a:r>
            <a:endParaRPr lang="en-US" sz="1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3794760" y="3090672"/>
          <a:ext cx="7845552" cy="914400"/>
        </p:xfrm>
        <a:graphic>
          <a:graphicData uri="http://schemas.openxmlformats.org/drawingml/2006/table">
            <a:tbl>
              <a:tblPr/>
              <a:tblGrid>
                <a:gridCol w="2651760"/>
                <a:gridCol w="2743200"/>
                <a:gridCol w="2450592"/>
              </a:tblGrid>
              <a:tr h="32004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Estudio</a:t>
                      </a:r>
                      <a:endParaRPr lang="en-US" sz="1200" dirty="0">
                        <a:latin typeface="Calibri" charset="0"/>
                        <a:ea typeface="Calibri" charset="0"/>
                        <a:cs typeface="Calibri" charset="0"/>
                      </a:endParaRPr>
                    </a:p>
                  </a:txBody>
                  <a:tcPr marL="45720" marR="45720" marT="45720" marB="45720" anchor="ctr">
                    <a:lnL w="9525" cap="flat" cmpd="sng" algn="ctr">
                      <a:solidFill>
                        <a:srgbClr val="E2C9DD"/>
                      </a:solidFill>
                      <a:prstDash val="solid"/>
                      <a:round/>
                      <a:headEnd type="none" w="med" len="med"/>
                      <a:tailEnd type="none" w="med" len="med"/>
                    </a:lnL>
                    <a:lnR w="9525" cap="flat" cmpd="sng" algn="ctr">
                      <a:solidFill>
                        <a:srgbClr val="E2C9DD"/>
                      </a:solidFill>
                      <a:prstDash val="solid"/>
                      <a:round/>
                      <a:headEnd type="none" w="med" len="med"/>
                      <a:tailEnd type="none" w="med" len="med"/>
                    </a:lnR>
                    <a:lnT w="9525" cap="flat" cmpd="sng" algn="ctr">
                      <a:solidFill>
                        <a:srgbClr val="E2C9DD"/>
                      </a:solidFill>
                      <a:prstDash val="solid"/>
                      <a:round/>
                      <a:headEnd type="none" w="med" len="med"/>
                      <a:tailEnd type="none" w="med" len="med"/>
                    </a:lnT>
                    <a:lnB w="9525" cap="flat" cmpd="sng" algn="ctr">
                      <a:solidFill>
                        <a:srgbClr val="E2C9DD"/>
                      </a:solidFill>
                      <a:prstDash val="solid"/>
                      <a:round/>
                      <a:headEnd type="none" w="med" len="med"/>
                      <a:tailEnd type="none" w="med" len="med"/>
                    </a:lnB>
                    <a:solidFill>
                      <a:srgbClr val="80006B"/>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País / centro</a:t>
                      </a:r>
                      <a:endParaRPr lang="en-US" sz="1200" dirty="0">
                        <a:latin typeface="Calibri" charset="0"/>
                        <a:ea typeface="Calibri" charset="0"/>
                        <a:cs typeface="Calibri" charset="0"/>
                      </a:endParaRPr>
                    </a:p>
                  </a:txBody>
                  <a:tcPr marL="45720" marR="45720" marT="45720" marB="45720" anchor="ctr">
                    <a:lnL w="9525" cap="flat" cmpd="sng" algn="ctr">
                      <a:solidFill>
                        <a:srgbClr val="E2C9DD"/>
                      </a:solidFill>
                      <a:prstDash val="solid"/>
                      <a:round/>
                      <a:headEnd type="none" w="med" len="med"/>
                      <a:tailEnd type="none" w="med" len="med"/>
                    </a:lnL>
                    <a:lnR w="9525" cap="flat" cmpd="sng" algn="ctr">
                      <a:solidFill>
                        <a:srgbClr val="E2C9DD"/>
                      </a:solidFill>
                      <a:prstDash val="solid"/>
                      <a:round/>
                      <a:headEnd type="none" w="med" len="med"/>
                      <a:tailEnd type="none" w="med" len="med"/>
                    </a:lnR>
                    <a:lnT w="9525" cap="flat" cmpd="sng" algn="ctr">
                      <a:solidFill>
                        <a:srgbClr val="E2C9DD"/>
                      </a:solidFill>
                      <a:prstDash val="solid"/>
                      <a:round/>
                      <a:headEnd type="none" w="med" len="med"/>
                      <a:tailEnd type="none" w="med" len="med"/>
                    </a:lnT>
                    <a:lnB w="9525" cap="flat" cmpd="sng" algn="ctr">
                      <a:solidFill>
                        <a:srgbClr val="E2C9DD"/>
                      </a:solidFill>
                      <a:prstDash val="solid"/>
                      <a:round/>
                      <a:headEnd type="none" w="med" len="med"/>
                      <a:tailEnd type="none" w="med" len="med"/>
                    </a:lnB>
                    <a:solidFill>
                      <a:srgbClr val="80006B"/>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Población</a:t>
                      </a:r>
                      <a:endParaRPr lang="en-US" sz="1200" dirty="0">
                        <a:latin typeface="Calibri" charset="0"/>
                        <a:ea typeface="Calibri" charset="0"/>
                        <a:cs typeface="Calibri" charset="0"/>
                      </a:endParaRPr>
                    </a:p>
                  </a:txBody>
                  <a:tcPr marL="45720" marR="45720" marT="45720" marB="45720" anchor="ctr">
                    <a:lnL w="9525" cap="flat" cmpd="sng" algn="ctr">
                      <a:solidFill>
                        <a:srgbClr val="E2C9DD"/>
                      </a:solidFill>
                      <a:prstDash val="solid"/>
                      <a:round/>
                      <a:headEnd type="none" w="med" len="med"/>
                      <a:tailEnd type="none" w="med" len="med"/>
                    </a:lnL>
                    <a:lnR w="9525" cap="flat" cmpd="sng" algn="ctr">
                      <a:solidFill>
                        <a:srgbClr val="E2C9DD"/>
                      </a:solidFill>
                      <a:prstDash val="solid"/>
                      <a:round/>
                      <a:headEnd type="none" w="med" len="med"/>
                      <a:tailEnd type="none" w="med" len="med"/>
                    </a:lnR>
                    <a:lnT w="9525" cap="flat" cmpd="sng" algn="ctr">
                      <a:solidFill>
                        <a:srgbClr val="E2C9DD"/>
                      </a:solidFill>
                      <a:prstDash val="solid"/>
                      <a:round/>
                      <a:headEnd type="none" w="med" len="med"/>
                      <a:tailEnd type="none" w="med" len="med"/>
                    </a:lnT>
                    <a:lnB w="9525" cap="flat" cmpd="sng" algn="ctr">
                      <a:solidFill>
                        <a:srgbClr val="E2C9DD"/>
                      </a:solidFill>
                      <a:prstDash val="solid"/>
                      <a:round/>
                      <a:headEnd type="none" w="med" len="med"/>
                      <a:tailEnd type="none" w="med" len="med"/>
                    </a:lnB>
                    <a:solidFill>
                      <a:srgbClr val="80006B"/>
                    </a:solidFill>
                  </a:tcPr>
                </a:tc>
              </a:tr>
              <a:tr h="320040">
                <a:tc>
                  <a:txBody>
                    <a:bodyPr/>
                    <a:lstStyle/>
                    <a:p>
                      <a:pPr indent="0" marL="0">
                        <a:buNone/>
                      </a:pPr>
                      <a:r>
                        <a:rPr lang="en-US" sz="1200" dirty="0">
                          <a:solidFill>
                            <a:srgbClr val="262626"/>
                          </a:solidFill>
                          <a:latin typeface="Calibri" pitchFamily="34" charset="0"/>
                          <a:ea typeface="Calibri" pitchFamily="34" charset="-122"/>
                          <a:cs typeface="Calibri" pitchFamily="34" charset="-120"/>
                        </a:rPr>
                        <a:t>Pattakos 2012</a:t>
                      </a:r>
                      <a:endParaRPr lang="en-US" sz="1200" dirty="0">
                        <a:latin typeface="Calibri" charset="0"/>
                        <a:ea typeface="Calibri" charset="0"/>
                        <a:cs typeface="Calibri" charset="0"/>
                      </a:endParaRPr>
                    </a:p>
                  </a:txBody>
                  <a:tcPr marL="45720" marR="45720" marT="45720" marB="45720" anchor="ctr">
                    <a:lnL w="9525" cap="flat" cmpd="sng" algn="ctr">
                      <a:solidFill>
                        <a:srgbClr val="E2C9DD"/>
                      </a:solidFill>
                      <a:prstDash val="solid"/>
                      <a:round/>
                      <a:headEnd type="none" w="med" len="med"/>
                      <a:tailEnd type="none" w="med" len="med"/>
                    </a:lnL>
                    <a:lnR w="9525" cap="flat" cmpd="sng" algn="ctr">
                      <a:solidFill>
                        <a:srgbClr val="E2C9DD"/>
                      </a:solidFill>
                      <a:prstDash val="solid"/>
                      <a:round/>
                      <a:headEnd type="none" w="med" len="med"/>
                      <a:tailEnd type="none" w="med" len="med"/>
                    </a:lnR>
                    <a:lnT w="9525" cap="flat" cmpd="sng" algn="ctr">
                      <a:solidFill>
                        <a:srgbClr val="E2C9DD"/>
                      </a:solidFill>
                      <a:prstDash val="solid"/>
                      <a:round/>
                      <a:headEnd type="none" w="med" len="med"/>
                      <a:tailEnd type="none" w="med" len="med"/>
                    </a:lnT>
                    <a:lnB w="9525" cap="flat" cmpd="sng" algn="ctr">
                      <a:solidFill>
                        <a:srgbClr val="E2C9DD"/>
                      </a:solidFill>
                      <a:prstDash val="solid"/>
                      <a:round/>
                      <a:headEnd type="none" w="med" len="med"/>
                      <a:tailEnd type="none" w="med" len="med"/>
                    </a:lnB>
                    <a:solidFill>
                      <a:srgbClr val="FFFFFF"/>
                    </a:solidFill>
                  </a:tcPr>
                </a:tc>
                <a:tc>
                  <a:txBody>
                    <a:bodyPr/>
                    <a:lstStyle/>
                    <a:p>
                      <a:pPr indent="0" marL="0">
                        <a:buNone/>
                      </a:pPr>
                      <a:r>
                        <a:rPr lang="en-US" sz="1200" dirty="0">
                          <a:solidFill>
                            <a:srgbClr val="262626"/>
                          </a:solidFill>
                          <a:latin typeface="Calibri" pitchFamily="34" charset="0"/>
                          <a:ea typeface="Calibri" pitchFamily="34" charset="-122"/>
                          <a:cs typeface="Calibri" pitchFamily="34" charset="-120"/>
                        </a:rPr>
                        <a:t>EE. UU. · Cleveland Clinic</a:t>
                      </a:r>
                      <a:endParaRPr lang="en-US" sz="1200" dirty="0">
                        <a:latin typeface="Calibri" charset="0"/>
                        <a:ea typeface="Calibri" charset="0"/>
                        <a:cs typeface="Calibri" charset="0"/>
                      </a:endParaRPr>
                    </a:p>
                  </a:txBody>
                  <a:tcPr marL="45720" marR="45720" marT="45720" marB="45720" anchor="ctr">
                    <a:lnL w="9525" cap="flat" cmpd="sng" algn="ctr">
                      <a:solidFill>
                        <a:srgbClr val="E2C9DD"/>
                      </a:solidFill>
                      <a:prstDash val="solid"/>
                      <a:round/>
                      <a:headEnd type="none" w="med" len="med"/>
                      <a:tailEnd type="none" w="med" len="med"/>
                    </a:lnL>
                    <a:lnR w="9525" cap="flat" cmpd="sng" algn="ctr">
                      <a:solidFill>
                        <a:srgbClr val="E2C9DD"/>
                      </a:solidFill>
                      <a:prstDash val="solid"/>
                      <a:round/>
                      <a:headEnd type="none" w="med" len="med"/>
                      <a:tailEnd type="none" w="med" len="med"/>
                    </a:lnR>
                    <a:lnT w="9525" cap="flat" cmpd="sng" algn="ctr">
                      <a:solidFill>
                        <a:srgbClr val="E2C9DD"/>
                      </a:solidFill>
                      <a:prstDash val="solid"/>
                      <a:round/>
                      <a:headEnd type="none" w="med" len="med"/>
                      <a:tailEnd type="none" w="med" len="med"/>
                    </a:lnT>
                    <a:lnB w="9525" cap="flat" cmpd="sng" algn="ctr">
                      <a:solidFill>
                        <a:srgbClr val="E2C9DD"/>
                      </a:solidFill>
                      <a:prstDash val="solid"/>
                      <a:round/>
                      <a:headEnd type="none" w="med" len="med"/>
                      <a:tailEnd type="none" w="med" len="med"/>
                    </a:lnB>
                    <a:solidFill>
                      <a:srgbClr val="FFFFFF"/>
                    </a:solidFill>
                  </a:tcPr>
                </a:tc>
                <a:tc>
                  <a:txBody>
                    <a:bodyPr/>
                    <a:lstStyle/>
                    <a:p>
                      <a:pPr indent="0" marL="0">
                        <a:buNone/>
                      </a:pPr>
                      <a:r>
                        <a:rPr lang="en-US" sz="1200" dirty="0">
                          <a:solidFill>
                            <a:srgbClr val="262626"/>
                          </a:solidFill>
                          <a:latin typeface="Calibri" pitchFamily="34" charset="0"/>
                          <a:ea typeface="Calibri" pitchFamily="34" charset="-122"/>
                          <a:cs typeface="Calibri" pitchFamily="34" charset="-120"/>
                        </a:rPr>
                        <a:t>322 TJ, 1983–2011</a:t>
                      </a:r>
                      <a:endParaRPr lang="en-US" sz="1200" dirty="0">
                        <a:latin typeface="Calibri" charset="0"/>
                        <a:ea typeface="Calibri" charset="0"/>
                        <a:cs typeface="Calibri" charset="0"/>
                      </a:endParaRPr>
                    </a:p>
                  </a:txBody>
                  <a:tcPr marL="45720" marR="45720" marT="45720" marB="45720" anchor="ctr">
                    <a:lnL w="9525" cap="flat" cmpd="sng" algn="ctr">
                      <a:solidFill>
                        <a:srgbClr val="E2C9DD"/>
                      </a:solidFill>
                      <a:prstDash val="solid"/>
                      <a:round/>
                      <a:headEnd type="none" w="med" len="med"/>
                      <a:tailEnd type="none" w="med" len="med"/>
                    </a:lnL>
                    <a:lnR w="9525" cap="flat" cmpd="sng" algn="ctr">
                      <a:solidFill>
                        <a:srgbClr val="E2C9DD"/>
                      </a:solidFill>
                      <a:prstDash val="solid"/>
                      <a:round/>
                      <a:headEnd type="none" w="med" len="med"/>
                      <a:tailEnd type="none" w="med" len="med"/>
                    </a:lnR>
                    <a:lnT w="9525" cap="flat" cmpd="sng" algn="ctr">
                      <a:solidFill>
                        <a:srgbClr val="E2C9DD"/>
                      </a:solidFill>
                      <a:prstDash val="solid"/>
                      <a:round/>
                      <a:headEnd type="none" w="med" len="med"/>
                      <a:tailEnd type="none" w="med" len="med"/>
                    </a:lnT>
                    <a:lnB w="9525" cap="flat" cmpd="sng" algn="ctr">
                      <a:solidFill>
                        <a:srgbClr val="E2C9DD"/>
                      </a:solidFill>
                      <a:prstDash val="solid"/>
                      <a:round/>
                      <a:headEnd type="none" w="med" len="med"/>
                      <a:tailEnd type="none" w="med" len="med"/>
                    </a:lnB>
                    <a:solidFill>
                      <a:srgbClr val="FFFFFF"/>
                    </a:solidFill>
                  </a:tcPr>
                </a:tc>
              </a:tr>
              <a:tr h="320040">
                <a:tc>
                  <a:txBody>
                    <a:bodyPr/>
                    <a:lstStyle/>
                    <a:p>
                      <a:pPr indent="0" marL="0">
                        <a:buNone/>
                      </a:pPr>
                      <a:r>
                        <a:rPr lang="en-US" sz="1200" dirty="0">
                          <a:solidFill>
                            <a:srgbClr val="262626"/>
                          </a:solidFill>
                          <a:latin typeface="Calibri" pitchFamily="34" charset="0"/>
                          <a:ea typeface="Calibri" pitchFamily="34" charset="-122"/>
                          <a:cs typeface="Calibri" pitchFamily="34" charset="-120"/>
                        </a:rPr>
                        <a:t>Langstraat 2023</a:t>
                      </a:r>
                      <a:endParaRPr lang="en-US" sz="1200" dirty="0">
                        <a:latin typeface="Calibri" charset="0"/>
                        <a:ea typeface="Calibri" charset="0"/>
                        <a:cs typeface="Calibri" charset="0"/>
                      </a:endParaRPr>
                    </a:p>
                  </a:txBody>
                  <a:tcPr marL="45720" marR="45720" marT="45720" marB="45720" anchor="ctr">
                    <a:lnL w="9525" cap="flat" cmpd="sng" algn="ctr">
                      <a:solidFill>
                        <a:srgbClr val="E2C9DD"/>
                      </a:solidFill>
                      <a:prstDash val="solid"/>
                      <a:round/>
                      <a:headEnd type="none" w="med" len="med"/>
                      <a:tailEnd type="none" w="med" len="med"/>
                    </a:lnL>
                    <a:lnR w="9525" cap="flat" cmpd="sng" algn="ctr">
                      <a:solidFill>
                        <a:srgbClr val="E2C9DD"/>
                      </a:solidFill>
                      <a:prstDash val="solid"/>
                      <a:round/>
                      <a:headEnd type="none" w="med" len="med"/>
                      <a:tailEnd type="none" w="med" len="med"/>
                    </a:lnR>
                    <a:lnT w="9525" cap="flat" cmpd="sng" algn="ctr">
                      <a:solidFill>
                        <a:srgbClr val="E2C9DD"/>
                      </a:solidFill>
                      <a:prstDash val="solid"/>
                      <a:round/>
                      <a:headEnd type="none" w="med" len="med"/>
                      <a:tailEnd type="none" w="med" len="med"/>
                    </a:lnT>
                    <a:lnB w="9525" cap="flat" cmpd="sng" algn="ctr">
                      <a:solidFill>
                        <a:srgbClr val="E2C9DD"/>
                      </a:solidFill>
                      <a:prstDash val="solid"/>
                      <a:round/>
                      <a:headEnd type="none" w="med" len="med"/>
                      <a:tailEnd type="none" w="med" len="med"/>
                    </a:lnB>
                    <a:solidFill>
                      <a:srgbClr val="FFFFFF"/>
                    </a:solidFill>
                  </a:tcPr>
                </a:tc>
                <a:tc>
                  <a:txBody>
                    <a:bodyPr/>
                    <a:lstStyle/>
                    <a:p>
                      <a:pPr indent="0" marL="0">
                        <a:buNone/>
                      </a:pPr>
                      <a:r>
                        <a:rPr lang="en-US" sz="1200" dirty="0">
                          <a:solidFill>
                            <a:srgbClr val="262626"/>
                          </a:solidFill>
                          <a:latin typeface="Calibri" pitchFamily="34" charset="0"/>
                          <a:ea typeface="Calibri" pitchFamily="34" charset="-122"/>
                          <a:cs typeface="Calibri" pitchFamily="34" charset="-120"/>
                        </a:rPr>
                        <a:t>Países Bajos · Amphia (Breda)</a:t>
                      </a:r>
                      <a:endParaRPr lang="en-US" sz="1200" dirty="0">
                        <a:latin typeface="Calibri" charset="0"/>
                        <a:ea typeface="Calibri" charset="0"/>
                        <a:cs typeface="Calibri" charset="0"/>
                      </a:endParaRPr>
                    </a:p>
                  </a:txBody>
                  <a:tcPr marL="45720" marR="45720" marT="45720" marB="45720" anchor="ctr">
                    <a:lnL w="9525" cap="flat" cmpd="sng" algn="ctr">
                      <a:solidFill>
                        <a:srgbClr val="E2C9DD"/>
                      </a:solidFill>
                      <a:prstDash val="solid"/>
                      <a:round/>
                      <a:headEnd type="none" w="med" len="med"/>
                      <a:tailEnd type="none" w="med" len="med"/>
                    </a:lnL>
                    <a:lnR w="9525" cap="flat" cmpd="sng" algn="ctr">
                      <a:solidFill>
                        <a:srgbClr val="E2C9DD"/>
                      </a:solidFill>
                      <a:prstDash val="solid"/>
                      <a:round/>
                      <a:headEnd type="none" w="med" len="med"/>
                      <a:tailEnd type="none" w="med" len="med"/>
                    </a:lnR>
                    <a:lnT w="9525" cap="flat" cmpd="sng" algn="ctr">
                      <a:solidFill>
                        <a:srgbClr val="E2C9DD"/>
                      </a:solidFill>
                      <a:prstDash val="solid"/>
                      <a:round/>
                      <a:headEnd type="none" w="med" len="med"/>
                      <a:tailEnd type="none" w="med" len="med"/>
                    </a:lnT>
                    <a:lnB w="9525" cap="flat" cmpd="sng" algn="ctr">
                      <a:solidFill>
                        <a:srgbClr val="E2C9DD"/>
                      </a:solidFill>
                      <a:prstDash val="solid"/>
                      <a:round/>
                      <a:headEnd type="none" w="med" len="med"/>
                      <a:tailEnd type="none" w="med" len="med"/>
                    </a:lnB>
                    <a:solidFill>
                      <a:srgbClr val="FFFFFF"/>
                    </a:solidFill>
                  </a:tcPr>
                </a:tc>
                <a:tc>
                  <a:txBody>
                    <a:bodyPr/>
                    <a:lstStyle/>
                    <a:p>
                      <a:pPr indent="0" marL="0">
                        <a:buNone/>
                      </a:pPr>
                      <a:r>
                        <a:rPr lang="en-US" sz="1200" dirty="0">
                          <a:solidFill>
                            <a:srgbClr val="262626"/>
                          </a:solidFill>
                          <a:latin typeface="Calibri" pitchFamily="34" charset="0"/>
                          <a:ea typeface="Calibri" pitchFamily="34" charset="-122"/>
                          <a:cs typeface="Calibri" pitchFamily="34" charset="-120"/>
                        </a:rPr>
                        <a:t>329 procedimientos, 2001–2022</a:t>
                      </a:r>
                      <a:endParaRPr lang="en-US" sz="1200" dirty="0">
                        <a:latin typeface="Calibri" charset="0"/>
                        <a:ea typeface="Calibri" charset="0"/>
                        <a:cs typeface="Calibri" charset="0"/>
                      </a:endParaRPr>
                    </a:p>
                  </a:txBody>
                  <a:tcPr marL="45720" marR="45720" marT="45720" marB="45720" anchor="ctr">
                    <a:lnL w="9525" cap="flat" cmpd="sng" algn="ctr">
                      <a:solidFill>
                        <a:srgbClr val="E2C9DD"/>
                      </a:solidFill>
                      <a:prstDash val="solid"/>
                      <a:round/>
                      <a:headEnd type="none" w="med" len="med"/>
                      <a:tailEnd type="none" w="med" len="med"/>
                    </a:lnL>
                    <a:lnR w="9525" cap="flat" cmpd="sng" algn="ctr">
                      <a:solidFill>
                        <a:srgbClr val="E2C9DD"/>
                      </a:solidFill>
                      <a:prstDash val="solid"/>
                      <a:round/>
                      <a:headEnd type="none" w="med" len="med"/>
                      <a:tailEnd type="none" w="med" len="med"/>
                    </a:lnR>
                    <a:lnT w="9525" cap="flat" cmpd="sng" algn="ctr">
                      <a:solidFill>
                        <a:srgbClr val="E2C9DD"/>
                      </a:solidFill>
                      <a:prstDash val="solid"/>
                      <a:round/>
                      <a:headEnd type="none" w="med" len="med"/>
                      <a:tailEnd type="none" w="med" len="med"/>
                    </a:lnT>
                    <a:lnB w="9525" cap="flat" cmpd="sng" algn="ctr">
                      <a:solidFill>
                        <a:srgbClr val="E2C9DD"/>
                      </a:solidFill>
                      <a:prstDash val="solid"/>
                      <a:round/>
                      <a:headEnd type="none" w="med" len="med"/>
                      <a:tailEnd type="none" w="med" len="med"/>
                    </a:lnB>
                    <a:solidFill>
                      <a:srgbClr val="FFFFFF"/>
                    </a:solidFill>
                  </a:tcPr>
                </a:tc>
              </a:tr>
              <a:tr h="320040">
                <a:tc>
                  <a:txBody>
                    <a:bodyPr/>
                    <a:lstStyle/>
                    <a:p>
                      <a:pPr indent="0" marL="0">
                        <a:buNone/>
                      </a:pPr>
                      <a:r>
                        <a:rPr lang="en-US" sz="1200" dirty="0">
                          <a:solidFill>
                            <a:srgbClr val="262626"/>
                          </a:solidFill>
                          <a:latin typeface="Calibri" pitchFamily="34" charset="0"/>
                          <a:ea typeface="Calibri" pitchFamily="34" charset="-122"/>
                          <a:cs typeface="Calibri" pitchFamily="34" charset="-120"/>
                        </a:rPr>
                        <a:t>Helwani 2023</a:t>
                      </a:r>
                      <a:endParaRPr lang="en-US" sz="1200" dirty="0">
                        <a:latin typeface="Calibri" charset="0"/>
                        <a:ea typeface="Calibri" charset="0"/>
                        <a:cs typeface="Calibri" charset="0"/>
                      </a:endParaRPr>
                    </a:p>
                  </a:txBody>
                  <a:tcPr marL="45720" marR="45720" marT="45720" marB="45720" anchor="ctr">
                    <a:lnL w="9525" cap="flat" cmpd="sng" algn="ctr">
                      <a:solidFill>
                        <a:srgbClr val="E2C9DD"/>
                      </a:solidFill>
                      <a:prstDash val="solid"/>
                      <a:round/>
                      <a:headEnd type="none" w="med" len="med"/>
                      <a:tailEnd type="none" w="med" len="med"/>
                    </a:lnL>
                    <a:lnR w="9525" cap="flat" cmpd="sng" algn="ctr">
                      <a:solidFill>
                        <a:srgbClr val="E2C9DD"/>
                      </a:solidFill>
                      <a:prstDash val="solid"/>
                      <a:round/>
                      <a:headEnd type="none" w="med" len="med"/>
                      <a:tailEnd type="none" w="med" len="med"/>
                    </a:lnR>
                    <a:lnT w="9525" cap="flat" cmpd="sng" algn="ctr">
                      <a:solidFill>
                        <a:srgbClr val="E2C9DD"/>
                      </a:solidFill>
                      <a:prstDash val="solid"/>
                      <a:round/>
                      <a:headEnd type="none" w="med" len="med"/>
                      <a:tailEnd type="none" w="med" len="med"/>
                    </a:lnT>
                    <a:lnB w="9525" cap="flat" cmpd="sng" algn="ctr">
                      <a:solidFill>
                        <a:srgbClr val="E2C9DD"/>
                      </a:solidFill>
                      <a:prstDash val="solid"/>
                      <a:round/>
                      <a:headEnd type="none" w="med" len="med"/>
                      <a:tailEnd type="none" w="med" len="med"/>
                    </a:lnB>
                    <a:solidFill>
                      <a:srgbClr val="FFFFFF"/>
                    </a:solidFill>
                  </a:tcPr>
                </a:tc>
                <a:tc>
                  <a:txBody>
                    <a:bodyPr/>
                    <a:lstStyle/>
                    <a:p>
                      <a:pPr indent="0" marL="0">
                        <a:buNone/>
                      </a:pPr>
                      <a:r>
                        <a:rPr lang="en-US" sz="1200" dirty="0">
                          <a:solidFill>
                            <a:srgbClr val="262626"/>
                          </a:solidFill>
                          <a:latin typeface="Calibri" pitchFamily="34" charset="0"/>
                          <a:ea typeface="Calibri" pitchFamily="34" charset="-122"/>
                          <a:cs typeface="Calibri" pitchFamily="34" charset="-120"/>
                        </a:rPr>
                        <a:t>EE. UU. · Washington University</a:t>
                      </a:r>
                      <a:endParaRPr lang="en-US" sz="1200" dirty="0">
                        <a:latin typeface="Calibri" charset="0"/>
                        <a:ea typeface="Calibri" charset="0"/>
                        <a:cs typeface="Calibri" charset="0"/>
                      </a:endParaRPr>
                    </a:p>
                  </a:txBody>
                  <a:tcPr marL="45720" marR="45720" marT="45720" marB="45720" anchor="ctr">
                    <a:lnL w="9525" cap="flat" cmpd="sng" algn="ctr">
                      <a:solidFill>
                        <a:srgbClr val="E2C9DD"/>
                      </a:solidFill>
                      <a:prstDash val="solid"/>
                      <a:round/>
                      <a:headEnd type="none" w="med" len="med"/>
                      <a:tailEnd type="none" w="med" len="med"/>
                    </a:lnL>
                    <a:lnR w="9525" cap="flat" cmpd="sng" algn="ctr">
                      <a:solidFill>
                        <a:srgbClr val="E2C9DD"/>
                      </a:solidFill>
                      <a:prstDash val="solid"/>
                      <a:round/>
                      <a:headEnd type="none" w="med" len="med"/>
                      <a:tailEnd type="none" w="med" len="med"/>
                    </a:lnR>
                    <a:lnT w="9525" cap="flat" cmpd="sng" algn="ctr">
                      <a:solidFill>
                        <a:srgbClr val="E2C9DD"/>
                      </a:solidFill>
                      <a:prstDash val="solid"/>
                      <a:round/>
                      <a:headEnd type="none" w="med" len="med"/>
                      <a:tailEnd type="none" w="med" len="med"/>
                    </a:lnT>
                    <a:lnB w="9525" cap="flat" cmpd="sng" algn="ctr">
                      <a:solidFill>
                        <a:srgbClr val="E2C9DD"/>
                      </a:solidFill>
                      <a:prstDash val="solid"/>
                      <a:round/>
                      <a:headEnd type="none" w="med" len="med"/>
                      <a:tailEnd type="none" w="med" len="med"/>
                    </a:lnB>
                    <a:solidFill>
                      <a:srgbClr val="FFFFFF"/>
                    </a:solidFill>
                  </a:tcPr>
                </a:tc>
                <a:tc>
                  <a:txBody>
                    <a:bodyPr/>
                    <a:lstStyle/>
                    <a:p>
                      <a:pPr indent="0" marL="0">
                        <a:buNone/>
                      </a:pPr>
                      <a:r>
                        <a:rPr lang="en-US" sz="1200" dirty="0">
                          <a:solidFill>
                            <a:srgbClr val="262626"/>
                          </a:solidFill>
                          <a:latin typeface="Calibri" pitchFamily="34" charset="0"/>
                          <a:ea typeface="Calibri" pitchFamily="34" charset="-122"/>
                          <a:cs typeface="Calibri" pitchFamily="34" charset="-120"/>
                        </a:rPr>
                        <a:t>48 TJ en cirugía cardiaca</a:t>
                      </a:r>
                      <a:endParaRPr lang="en-US" sz="1200" dirty="0">
                        <a:latin typeface="Calibri" charset="0"/>
                        <a:ea typeface="Calibri" charset="0"/>
                        <a:cs typeface="Calibri" charset="0"/>
                      </a:endParaRPr>
                    </a:p>
                  </a:txBody>
                  <a:tcPr marL="45720" marR="45720" marT="45720" marB="45720" anchor="ctr">
                    <a:lnL w="9525" cap="flat" cmpd="sng" algn="ctr">
                      <a:solidFill>
                        <a:srgbClr val="E2C9DD"/>
                      </a:solidFill>
                      <a:prstDash val="solid"/>
                      <a:round/>
                      <a:headEnd type="none" w="med" len="med"/>
                      <a:tailEnd type="none" w="med" len="med"/>
                    </a:lnL>
                    <a:lnR w="9525" cap="flat" cmpd="sng" algn="ctr">
                      <a:solidFill>
                        <a:srgbClr val="E2C9DD"/>
                      </a:solidFill>
                      <a:prstDash val="solid"/>
                      <a:round/>
                      <a:headEnd type="none" w="med" len="med"/>
                      <a:tailEnd type="none" w="med" len="med"/>
                    </a:lnR>
                    <a:lnT w="9525" cap="flat" cmpd="sng" algn="ctr">
                      <a:solidFill>
                        <a:srgbClr val="E2C9DD"/>
                      </a:solidFill>
                      <a:prstDash val="solid"/>
                      <a:round/>
                      <a:headEnd type="none" w="med" len="med"/>
                      <a:tailEnd type="none" w="med" len="med"/>
                    </a:lnT>
                    <a:lnB w="9525" cap="flat" cmpd="sng" algn="ctr">
                      <a:solidFill>
                        <a:srgbClr val="E2C9DD"/>
                      </a:solidFill>
                      <a:prstDash val="solid"/>
                      <a:round/>
                      <a:headEnd type="none" w="med" len="med"/>
                      <a:tailEnd type="none" w="med" len="med"/>
                    </a:lnB>
                    <a:solidFill>
                      <a:srgbClr val="FFFFFF"/>
                    </a:solidFill>
                  </a:tcPr>
                </a:tc>
              </a:tr>
              <a:tr h="320040">
                <a:tc>
                  <a:txBody>
                    <a:bodyPr/>
                    <a:lstStyle/>
                    <a:p>
                      <a:pPr indent="0" marL="0">
                        <a:buNone/>
                      </a:pPr>
                      <a:r>
                        <a:rPr lang="en-US" sz="1200" dirty="0">
                          <a:solidFill>
                            <a:srgbClr val="262626"/>
                          </a:solidFill>
                          <a:latin typeface="Calibri" pitchFamily="34" charset="0"/>
                          <a:ea typeface="Calibri" pitchFamily="34" charset="-122"/>
                          <a:cs typeface="Calibri" pitchFamily="34" charset="-120"/>
                        </a:rPr>
                        <a:t>Valle 2017</a:t>
                      </a:r>
                      <a:endParaRPr lang="en-US" sz="1200" dirty="0">
                        <a:latin typeface="Calibri" charset="0"/>
                        <a:ea typeface="Calibri" charset="0"/>
                        <a:cs typeface="Calibri" charset="0"/>
                      </a:endParaRPr>
                    </a:p>
                  </a:txBody>
                  <a:tcPr marL="45720" marR="45720" marT="45720" marB="45720" anchor="ctr">
                    <a:lnL w="9525" cap="flat" cmpd="sng" algn="ctr">
                      <a:solidFill>
                        <a:srgbClr val="E2C9DD"/>
                      </a:solidFill>
                      <a:prstDash val="solid"/>
                      <a:round/>
                      <a:headEnd type="none" w="med" len="med"/>
                      <a:tailEnd type="none" w="med" len="med"/>
                    </a:lnL>
                    <a:lnR w="9525" cap="flat" cmpd="sng" algn="ctr">
                      <a:solidFill>
                        <a:srgbClr val="E2C9DD"/>
                      </a:solidFill>
                      <a:prstDash val="solid"/>
                      <a:round/>
                      <a:headEnd type="none" w="med" len="med"/>
                      <a:tailEnd type="none" w="med" len="med"/>
                    </a:lnR>
                    <a:lnT w="9525" cap="flat" cmpd="sng" algn="ctr">
                      <a:solidFill>
                        <a:srgbClr val="E2C9DD"/>
                      </a:solidFill>
                      <a:prstDash val="solid"/>
                      <a:round/>
                      <a:headEnd type="none" w="med" len="med"/>
                      <a:tailEnd type="none" w="med" len="med"/>
                    </a:lnT>
                    <a:lnB w="9525" cap="flat" cmpd="sng" algn="ctr">
                      <a:solidFill>
                        <a:srgbClr val="E2C9DD"/>
                      </a:solidFill>
                      <a:prstDash val="solid"/>
                      <a:round/>
                      <a:headEnd type="none" w="med" len="med"/>
                      <a:tailEnd type="none" w="med" len="med"/>
                    </a:lnB>
                    <a:solidFill>
                      <a:srgbClr val="FFFFFF"/>
                    </a:solidFill>
                  </a:tcPr>
                </a:tc>
                <a:tc>
                  <a:txBody>
                    <a:bodyPr/>
                    <a:lstStyle/>
                    <a:p>
                      <a:pPr indent="0" marL="0">
                        <a:buNone/>
                      </a:pPr>
                      <a:r>
                        <a:rPr lang="en-US" sz="1200" dirty="0">
                          <a:solidFill>
                            <a:srgbClr val="262626"/>
                          </a:solidFill>
                          <a:latin typeface="Calibri" pitchFamily="34" charset="0"/>
                          <a:ea typeface="Calibri" pitchFamily="34" charset="-122"/>
                          <a:cs typeface="Calibri" pitchFamily="34" charset="-120"/>
                        </a:rPr>
                        <a:t>Brasil · Porto Alegre</a:t>
                      </a:r>
                      <a:endParaRPr lang="en-US" sz="1200" dirty="0">
                        <a:latin typeface="Calibri" charset="0"/>
                        <a:ea typeface="Calibri" charset="0"/>
                        <a:cs typeface="Calibri" charset="0"/>
                      </a:endParaRPr>
                    </a:p>
                  </a:txBody>
                  <a:tcPr marL="45720" marR="45720" marT="45720" marB="45720" anchor="ctr">
                    <a:lnL w="9525" cap="flat" cmpd="sng" algn="ctr">
                      <a:solidFill>
                        <a:srgbClr val="E2C9DD"/>
                      </a:solidFill>
                      <a:prstDash val="solid"/>
                      <a:round/>
                      <a:headEnd type="none" w="med" len="med"/>
                      <a:tailEnd type="none" w="med" len="med"/>
                    </a:lnL>
                    <a:lnR w="9525" cap="flat" cmpd="sng" algn="ctr">
                      <a:solidFill>
                        <a:srgbClr val="E2C9DD"/>
                      </a:solidFill>
                      <a:prstDash val="solid"/>
                      <a:round/>
                      <a:headEnd type="none" w="med" len="med"/>
                      <a:tailEnd type="none" w="med" len="med"/>
                    </a:lnR>
                    <a:lnT w="9525" cap="flat" cmpd="sng" algn="ctr">
                      <a:solidFill>
                        <a:srgbClr val="E2C9DD"/>
                      </a:solidFill>
                      <a:prstDash val="solid"/>
                      <a:round/>
                      <a:headEnd type="none" w="med" len="med"/>
                      <a:tailEnd type="none" w="med" len="med"/>
                    </a:lnT>
                    <a:lnB w="9525" cap="flat" cmpd="sng" algn="ctr">
                      <a:solidFill>
                        <a:srgbClr val="E2C9DD"/>
                      </a:solidFill>
                      <a:prstDash val="solid"/>
                      <a:round/>
                      <a:headEnd type="none" w="med" len="med"/>
                      <a:tailEnd type="none" w="med" len="med"/>
                    </a:lnB>
                    <a:solidFill>
                      <a:srgbClr val="FFFFFF"/>
                    </a:solidFill>
                  </a:tcPr>
                </a:tc>
                <a:tc>
                  <a:txBody>
                    <a:bodyPr/>
                    <a:lstStyle/>
                    <a:p>
                      <a:pPr indent="0" marL="0">
                        <a:buNone/>
                      </a:pPr>
                      <a:r>
                        <a:rPr lang="en-US" sz="1200" dirty="0">
                          <a:solidFill>
                            <a:srgbClr val="262626"/>
                          </a:solidFill>
                          <a:latin typeface="Calibri" pitchFamily="34" charset="0"/>
                          <a:ea typeface="Calibri" pitchFamily="34" charset="-122"/>
                          <a:cs typeface="Calibri" pitchFamily="34" charset="-120"/>
                        </a:rPr>
                        <a:t>16 TJ y 48 controles</a:t>
                      </a:r>
                      <a:endParaRPr lang="en-US" sz="1200" dirty="0">
                        <a:latin typeface="Calibri" charset="0"/>
                        <a:ea typeface="Calibri" charset="0"/>
                        <a:cs typeface="Calibri" charset="0"/>
                      </a:endParaRPr>
                    </a:p>
                  </a:txBody>
                  <a:tcPr marL="45720" marR="45720" marT="45720" marB="45720" anchor="ctr">
                    <a:lnL w="9525" cap="flat" cmpd="sng" algn="ctr">
                      <a:solidFill>
                        <a:srgbClr val="E2C9DD"/>
                      </a:solidFill>
                      <a:prstDash val="solid"/>
                      <a:round/>
                      <a:headEnd type="none" w="med" len="med"/>
                      <a:tailEnd type="none" w="med" len="med"/>
                    </a:lnL>
                    <a:lnR w="9525" cap="flat" cmpd="sng" algn="ctr">
                      <a:solidFill>
                        <a:srgbClr val="E2C9DD"/>
                      </a:solidFill>
                      <a:prstDash val="solid"/>
                      <a:round/>
                      <a:headEnd type="none" w="med" len="med"/>
                      <a:tailEnd type="none" w="med" len="med"/>
                    </a:lnR>
                    <a:lnT w="9525" cap="flat" cmpd="sng" algn="ctr">
                      <a:solidFill>
                        <a:srgbClr val="E2C9DD"/>
                      </a:solidFill>
                      <a:prstDash val="solid"/>
                      <a:round/>
                      <a:headEnd type="none" w="med" len="med"/>
                      <a:tailEnd type="none" w="med" len="med"/>
                    </a:lnT>
                    <a:lnB w="9525" cap="flat" cmpd="sng" algn="ctr">
                      <a:solidFill>
                        <a:srgbClr val="E2C9DD"/>
                      </a:solidFill>
                      <a:prstDash val="solid"/>
                      <a:round/>
                      <a:headEnd type="none" w="med" len="med"/>
                      <a:tailEnd type="none" w="med" len="med"/>
                    </a:lnB>
                    <a:solidFill>
                      <a:srgbClr val="FFFFFF"/>
                    </a:solidFill>
                  </a:tcPr>
                </a:tc>
              </a:tr>
              <a:tr h="320040">
                <a:tc>
                  <a:txBody>
                    <a:bodyPr/>
                    <a:lstStyle/>
                    <a:p>
                      <a:pPr indent="0" marL="0">
                        <a:buNone/>
                      </a:pPr>
                      <a:r>
                        <a:rPr lang="en-US" sz="1200" dirty="0">
                          <a:solidFill>
                            <a:srgbClr val="262626"/>
                          </a:solidFill>
                          <a:latin typeface="Calibri" pitchFamily="34" charset="0"/>
                          <a:ea typeface="Calibri" pitchFamily="34" charset="-122"/>
                          <a:cs typeface="Calibri" pitchFamily="34" charset="-120"/>
                        </a:rPr>
                        <a:t>Tanaka 2015 · Marinakis 2016</a:t>
                      </a:r>
                      <a:endParaRPr lang="en-US" sz="1200" dirty="0">
                        <a:latin typeface="Calibri" charset="0"/>
                        <a:ea typeface="Calibri" charset="0"/>
                        <a:cs typeface="Calibri" charset="0"/>
                      </a:endParaRPr>
                    </a:p>
                  </a:txBody>
                  <a:tcPr marL="45720" marR="45720" marT="45720" marB="45720" anchor="ctr">
                    <a:lnL w="9525" cap="flat" cmpd="sng" algn="ctr">
                      <a:solidFill>
                        <a:srgbClr val="E2C9DD"/>
                      </a:solidFill>
                      <a:prstDash val="solid"/>
                      <a:round/>
                      <a:headEnd type="none" w="med" len="med"/>
                      <a:tailEnd type="none" w="med" len="med"/>
                    </a:lnL>
                    <a:lnR w="9525" cap="flat" cmpd="sng" algn="ctr">
                      <a:solidFill>
                        <a:srgbClr val="E2C9DD"/>
                      </a:solidFill>
                      <a:prstDash val="solid"/>
                      <a:round/>
                      <a:headEnd type="none" w="med" len="med"/>
                      <a:tailEnd type="none" w="med" len="med"/>
                    </a:lnR>
                    <a:lnT w="9525" cap="flat" cmpd="sng" algn="ctr">
                      <a:solidFill>
                        <a:srgbClr val="E2C9DD"/>
                      </a:solidFill>
                      <a:prstDash val="solid"/>
                      <a:round/>
                      <a:headEnd type="none" w="med" len="med"/>
                      <a:tailEnd type="none" w="med" len="med"/>
                    </a:lnT>
                    <a:lnB w="9525" cap="flat" cmpd="sng" algn="ctr">
                      <a:solidFill>
                        <a:srgbClr val="E2C9DD"/>
                      </a:solidFill>
                      <a:prstDash val="solid"/>
                      <a:round/>
                      <a:headEnd type="none" w="med" len="med"/>
                      <a:tailEnd type="none" w="med" len="med"/>
                    </a:lnB>
                    <a:solidFill>
                      <a:srgbClr val="FFFFFF"/>
                    </a:solidFill>
                  </a:tcPr>
                </a:tc>
                <a:tc>
                  <a:txBody>
                    <a:bodyPr/>
                    <a:lstStyle/>
                    <a:p>
                      <a:pPr indent="0" marL="0">
                        <a:buNone/>
                      </a:pPr>
                      <a:r>
                        <a:rPr lang="en-US" sz="1200" dirty="0">
                          <a:solidFill>
                            <a:srgbClr val="262626"/>
                          </a:solidFill>
                          <a:latin typeface="Calibri" pitchFamily="34" charset="0"/>
                          <a:ea typeface="Calibri" pitchFamily="34" charset="-122"/>
                          <a:cs typeface="Calibri" pitchFamily="34" charset="-120"/>
                        </a:rPr>
                        <a:t>EE. UU. · Bélgica</a:t>
                      </a:r>
                      <a:endParaRPr lang="en-US" sz="1200" dirty="0">
                        <a:latin typeface="Calibri" charset="0"/>
                        <a:ea typeface="Calibri" charset="0"/>
                        <a:cs typeface="Calibri" charset="0"/>
                      </a:endParaRPr>
                    </a:p>
                  </a:txBody>
                  <a:tcPr marL="45720" marR="45720" marT="45720" marB="45720" anchor="ctr">
                    <a:lnL w="9525" cap="flat" cmpd="sng" algn="ctr">
                      <a:solidFill>
                        <a:srgbClr val="E2C9DD"/>
                      </a:solidFill>
                      <a:prstDash val="solid"/>
                      <a:round/>
                      <a:headEnd type="none" w="med" len="med"/>
                      <a:tailEnd type="none" w="med" len="med"/>
                    </a:lnL>
                    <a:lnR w="9525" cap="flat" cmpd="sng" algn="ctr">
                      <a:solidFill>
                        <a:srgbClr val="E2C9DD"/>
                      </a:solidFill>
                      <a:prstDash val="solid"/>
                      <a:round/>
                      <a:headEnd type="none" w="med" len="med"/>
                      <a:tailEnd type="none" w="med" len="med"/>
                    </a:lnR>
                    <a:lnT w="9525" cap="flat" cmpd="sng" algn="ctr">
                      <a:solidFill>
                        <a:srgbClr val="E2C9DD"/>
                      </a:solidFill>
                      <a:prstDash val="solid"/>
                      <a:round/>
                      <a:headEnd type="none" w="med" len="med"/>
                      <a:tailEnd type="none" w="med" len="med"/>
                    </a:lnT>
                    <a:lnB w="9525" cap="flat" cmpd="sng" algn="ctr">
                      <a:solidFill>
                        <a:srgbClr val="E2C9DD"/>
                      </a:solidFill>
                      <a:prstDash val="solid"/>
                      <a:round/>
                      <a:headEnd type="none" w="med" len="med"/>
                      <a:tailEnd type="none" w="med" len="med"/>
                    </a:lnB>
                    <a:solidFill>
                      <a:srgbClr val="FFFFFF"/>
                    </a:solidFill>
                  </a:tcPr>
                </a:tc>
                <a:tc>
                  <a:txBody>
                    <a:bodyPr/>
                    <a:lstStyle/>
                    <a:p>
                      <a:pPr indent="0" marL="0">
                        <a:buNone/>
                      </a:pPr>
                      <a:r>
                        <a:rPr lang="en-US" sz="1200" dirty="0">
                          <a:solidFill>
                            <a:srgbClr val="262626"/>
                          </a:solidFill>
                          <a:latin typeface="Calibri" pitchFamily="34" charset="0"/>
                          <a:ea typeface="Calibri" pitchFamily="34" charset="-122"/>
                          <a:cs typeface="Calibri" pitchFamily="34" charset="-120"/>
                        </a:rPr>
                        <a:t>144 TJ · 31 TJ</a:t>
                      </a:r>
                      <a:endParaRPr lang="en-US" sz="1200" dirty="0">
                        <a:latin typeface="Calibri" charset="0"/>
                        <a:ea typeface="Calibri" charset="0"/>
                        <a:cs typeface="Calibri" charset="0"/>
                      </a:endParaRPr>
                    </a:p>
                  </a:txBody>
                  <a:tcPr marL="45720" marR="45720" marT="45720" marB="45720" anchor="ctr">
                    <a:lnL w="9525" cap="flat" cmpd="sng" algn="ctr">
                      <a:solidFill>
                        <a:srgbClr val="E2C9DD"/>
                      </a:solidFill>
                      <a:prstDash val="solid"/>
                      <a:round/>
                      <a:headEnd type="none" w="med" len="med"/>
                      <a:tailEnd type="none" w="med" len="med"/>
                    </a:lnL>
                    <a:lnR w="9525" cap="flat" cmpd="sng" algn="ctr">
                      <a:solidFill>
                        <a:srgbClr val="E2C9DD"/>
                      </a:solidFill>
                      <a:prstDash val="solid"/>
                      <a:round/>
                      <a:headEnd type="none" w="med" len="med"/>
                      <a:tailEnd type="none" w="med" len="med"/>
                    </a:lnR>
                    <a:lnT w="9525" cap="flat" cmpd="sng" algn="ctr">
                      <a:solidFill>
                        <a:srgbClr val="E2C9DD"/>
                      </a:solidFill>
                      <a:prstDash val="solid"/>
                      <a:round/>
                      <a:headEnd type="none" w="med" len="med"/>
                      <a:tailEnd type="none" w="med" len="med"/>
                    </a:lnT>
                    <a:lnB w="9525" cap="flat" cmpd="sng" algn="ctr">
                      <a:solidFill>
                        <a:srgbClr val="E2C9DD"/>
                      </a:solidFill>
                      <a:prstDash val="solid"/>
                      <a:round/>
                      <a:headEnd type="none" w="med" len="med"/>
                      <a:tailEnd type="none" w="med" len="med"/>
                    </a:lnB>
                    <a:solidFill>
                      <a:srgbClr val="FFFFFF"/>
                    </a:solidFill>
                  </a:tcPr>
                </a:tc>
              </a:tr>
              <a:tr h="320040">
                <a:tc>
                  <a:txBody>
                    <a:bodyPr/>
                    <a:lstStyle/>
                    <a:p>
                      <a:pPr indent="0" marL="0">
                        <a:buNone/>
                      </a:pPr>
                      <a:r>
                        <a:rPr lang="en-US" sz="1200" dirty="0">
                          <a:solidFill>
                            <a:srgbClr val="262626"/>
                          </a:solidFill>
                          <a:latin typeface="Calibri" pitchFamily="34" charset="0"/>
                          <a:ea typeface="Calibri" pitchFamily="34" charset="-122"/>
                          <a:cs typeface="Calibri" pitchFamily="34" charset="-120"/>
                        </a:rPr>
                        <a:t>Vaislic 2012 · Yamabe 2025</a:t>
                      </a:r>
                      <a:endParaRPr lang="en-US" sz="1200" dirty="0">
                        <a:latin typeface="Calibri" charset="0"/>
                        <a:ea typeface="Calibri" charset="0"/>
                        <a:cs typeface="Calibri" charset="0"/>
                      </a:endParaRPr>
                    </a:p>
                  </a:txBody>
                  <a:tcPr marL="45720" marR="45720" marT="45720" marB="45720" anchor="ctr">
                    <a:lnL w="9525" cap="flat" cmpd="sng" algn="ctr">
                      <a:solidFill>
                        <a:srgbClr val="E2C9DD"/>
                      </a:solidFill>
                      <a:prstDash val="solid"/>
                      <a:round/>
                      <a:headEnd type="none" w="med" len="med"/>
                      <a:tailEnd type="none" w="med" len="med"/>
                    </a:lnL>
                    <a:lnR w="9525" cap="flat" cmpd="sng" algn="ctr">
                      <a:solidFill>
                        <a:srgbClr val="E2C9DD"/>
                      </a:solidFill>
                      <a:prstDash val="solid"/>
                      <a:round/>
                      <a:headEnd type="none" w="med" len="med"/>
                      <a:tailEnd type="none" w="med" len="med"/>
                    </a:lnR>
                    <a:lnT w="9525" cap="flat" cmpd="sng" algn="ctr">
                      <a:solidFill>
                        <a:srgbClr val="E2C9DD"/>
                      </a:solidFill>
                      <a:prstDash val="solid"/>
                      <a:round/>
                      <a:headEnd type="none" w="med" len="med"/>
                      <a:tailEnd type="none" w="med" len="med"/>
                    </a:lnT>
                    <a:lnB w="9525" cap="flat" cmpd="sng" algn="ctr">
                      <a:solidFill>
                        <a:srgbClr val="E2C9DD"/>
                      </a:solidFill>
                      <a:prstDash val="solid"/>
                      <a:round/>
                      <a:headEnd type="none" w="med" len="med"/>
                      <a:tailEnd type="none" w="med" len="med"/>
                    </a:lnB>
                    <a:solidFill>
                      <a:srgbClr val="FFFFFF"/>
                    </a:solidFill>
                  </a:tcPr>
                </a:tc>
                <a:tc>
                  <a:txBody>
                    <a:bodyPr/>
                    <a:lstStyle/>
                    <a:p>
                      <a:pPr indent="0" marL="0">
                        <a:buNone/>
                      </a:pPr>
                      <a:r>
                        <a:rPr lang="en-US" sz="1200" dirty="0">
                          <a:solidFill>
                            <a:srgbClr val="262626"/>
                          </a:solidFill>
                          <a:latin typeface="Calibri" pitchFamily="34" charset="0"/>
                          <a:ea typeface="Calibri" pitchFamily="34" charset="-122"/>
                          <a:cs typeface="Calibri" pitchFamily="34" charset="-120"/>
                        </a:rPr>
                        <a:t>Francia · Japón</a:t>
                      </a:r>
                      <a:endParaRPr lang="en-US" sz="1200" dirty="0">
                        <a:latin typeface="Calibri" charset="0"/>
                        <a:ea typeface="Calibri" charset="0"/>
                        <a:cs typeface="Calibri" charset="0"/>
                      </a:endParaRPr>
                    </a:p>
                  </a:txBody>
                  <a:tcPr marL="45720" marR="45720" marT="45720" marB="45720" anchor="ctr">
                    <a:lnL w="9525" cap="flat" cmpd="sng" algn="ctr">
                      <a:solidFill>
                        <a:srgbClr val="E2C9DD"/>
                      </a:solidFill>
                      <a:prstDash val="solid"/>
                      <a:round/>
                      <a:headEnd type="none" w="med" len="med"/>
                      <a:tailEnd type="none" w="med" len="med"/>
                    </a:lnL>
                    <a:lnR w="9525" cap="flat" cmpd="sng" algn="ctr">
                      <a:solidFill>
                        <a:srgbClr val="E2C9DD"/>
                      </a:solidFill>
                      <a:prstDash val="solid"/>
                      <a:round/>
                      <a:headEnd type="none" w="med" len="med"/>
                      <a:tailEnd type="none" w="med" len="med"/>
                    </a:lnR>
                    <a:lnT w="9525" cap="flat" cmpd="sng" algn="ctr">
                      <a:solidFill>
                        <a:srgbClr val="E2C9DD"/>
                      </a:solidFill>
                      <a:prstDash val="solid"/>
                      <a:round/>
                      <a:headEnd type="none" w="med" len="med"/>
                      <a:tailEnd type="none" w="med" len="med"/>
                    </a:lnT>
                    <a:lnB w="9525" cap="flat" cmpd="sng" algn="ctr">
                      <a:solidFill>
                        <a:srgbClr val="E2C9DD"/>
                      </a:solidFill>
                      <a:prstDash val="solid"/>
                      <a:round/>
                      <a:headEnd type="none" w="med" len="med"/>
                      <a:tailEnd type="none" w="med" len="med"/>
                    </a:lnB>
                    <a:solidFill>
                      <a:srgbClr val="FFFFFF"/>
                    </a:solidFill>
                  </a:tcPr>
                </a:tc>
                <a:tc>
                  <a:txBody>
                    <a:bodyPr/>
                    <a:lstStyle/>
                    <a:p>
                      <a:pPr indent="0" marL="0">
                        <a:buNone/>
                      </a:pPr>
                      <a:r>
                        <a:rPr lang="en-US" sz="1200" dirty="0">
                          <a:solidFill>
                            <a:srgbClr val="262626"/>
                          </a:solidFill>
                          <a:latin typeface="Calibri" pitchFamily="34" charset="0"/>
                          <a:ea typeface="Calibri" pitchFamily="34" charset="-122"/>
                          <a:cs typeface="Calibri" pitchFamily="34" charset="-120"/>
                        </a:rPr>
                        <a:t>500 TJ · 42 TJ</a:t>
                      </a:r>
                      <a:endParaRPr lang="en-US" sz="1200" dirty="0">
                        <a:latin typeface="Calibri" charset="0"/>
                        <a:ea typeface="Calibri" charset="0"/>
                        <a:cs typeface="Calibri" charset="0"/>
                      </a:endParaRPr>
                    </a:p>
                  </a:txBody>
                  <a:tcPr marL="45720" marR="45720" marT="45720" marB="45720" anchor="ctr">
                    <a:lnL w="9525" cap="flat" cmpd="sng" algn="ctr">
                      <a:solidFill>
                        <a:srgbClr val="E2C9DD"/>
                      </a:solidFill>
                      <a:prstDash val="solid"/>
                      <a:round/>
                      <a:headEnd type="none" w="med" len="med"/>
                      <a:tailEnd type="none" w="med" len="med"/>
                    </a:lnL>
                    <a:lnR w="9525" cap="flat" cmpd="sng" algn="ctr">
                      <a:solidFill>
                        <a:srgbClr val="E2C9DD"/>
                      </a:solidFill>
                      <a:prstDash val="solid"/>
                      <a:round/>
                      <a:headEnd type="none" w="med" len="med"/>
                      <a:tailEnd type="none" w="med" len="med"/>
                    </a:lnR>
                    <a:lnT w="9525" cap="flat" cmpd="sng" algn="ctr">
                      <a:solidFill>
                        <a:srgbClr val="E2C9DD"/>
                      </a:solidFill>
                      <a:prstDash val="solid"/>
                      <a:round/>
                      <a:headEnd type="none" w="med" len="med"/>
                      <a:tailEnd type="none" w="med" len="med"/>
                    </a:lnT>
                    <a:lnB w="9525" cap="flat" cmpd="sng" algn="ctr">
                      <a:solidFill>
                        <a:srgbClr val="E2C9DD"/>
                      </a:solidFill>
                      <a:prstDash val="solid"/>
                      <a:round/>
                      <a:headEnd type="none" w="med" len="med"/>
                      <a:tailEnd type="none" w="med" len="med"/>
                    </a:lnB>
                    <a:solidFill>
                      <a:srgbClr val="FFFFFF"/>
                    </a:solidFill>
                  </a:tcPr>
                </a:tc>
              </a:tr>
              <a:tr h="320040">
                <a:tc>
                  <a:txBody>
                    <a:bodyPr/>
                    <a:lstStyle/>
                    <a:p>
                      <a:pPr indent="0" marL="0">
                        <a:buNone/>
                      </a:pPr>
                      <a:r>
                        <a:rPr lang="en-US" sz="1200" dirty="0">
                          <a:solidFill>
                            <a:srgbClr val="262626"/>
                          </a:solidFill>
                          <a:latin typeface="Calibri" pitchFamily="34" charset="0"/>
                          <a:ea typeface="Calibri" pitchFamily="34" charset="-122"/>
                          <a:cs typeface="Calibri" pitchFamily="34" charset="-120"/>
                        </a:rPr>
                        <a:t>Montes Villalobos (SCC)</a:t>
                      </a:r>
                      <a:endParaRPr lang="en-US" sz="1200" dirty="0">
                        <a:latin typeface="Calibri" charset="0"/>
                        <a:ea typeface="Calibri" charset="0"/>
                        <a:cs typeface="Calibri" charset="0"/>
                      </a:endParaRPr>
                    </a:p>
                  </a:txBody>
                  <a:tcPr marL="45720" marR="45720" marT="45720" marB="45720" anchor="ctr">
                    <a:lnL w="9525" cap="flat" cmpd="sng" algn="ctr">
                      <a:solidFill>
                        <a:srgbClr val="E2C9DD"/>
                      </a:solidFill>
                      <a:prstDash val="solid"/>
                      <a:round/>
                      <a:headEnd type="none" w="med" len="med"/>
                      <a:tailEnd type="none" w="med" len="med"/>
                    </a:lnL>
                    <a:lnR w="9525" cap="flat" cmpd="sng" algn="ctr">
                      <a:solidFill>
                        <a:srgbClr val="E2C9DD"/>
                      </a:solidFill>
                      <a:prstDash val="solid"/>
                      <a:round/>
                      <a:headEnd type="none" w="med" len="med"/>
                      <a:tailEnd type="none" w="med" len="med"/>
                    </a:lnR>
                    <a:lnT w="9525" cap="flat" cmpd="sng" algn="ctr">
                      <a:solidFill>
                        <a:srgbClr val="E2C9DD"/>
                      </a:solidFill>
                      <a:prstDash val="solid"/>
                      <a:round/>
                      <a:headEnd type="none" w="med" len="med"/>
                      <a:tailEnd type="none" w="med" len="med"/>
                    </a:lnT>
                    <a:lnB w="9525" cap="flat" cmpd="sng" algn="ctr">
                      <a:solidFill>
                        <a:srgbClr val="E2C9DD"/>
                      </a:solidFill>
                      <a:prstDash val="solid"/>
                      <a:round/>
                      <a:headEnd type="none" w="med" len="med"/>
                      <a:tailEnd type="none" w="med" len="med"/>
                    </a:lnB>
                    <a:solidFill>
                      <a:srgbClr val="FFFFFF"/>
                    </a:solidFill>
                  </a:tcPr>
                </a:tc>
                <a:tc>
                  <a:txBody>
                    <a:bodyPr/>
                    <a:lstStyle/>
                    <a:p>
                      <a:pPr indent="0" marL="0">
                        <a:buNone/>
                      </a:pPr>
                      <a:r>
                        <a:rPr lang="en-US" sz="1200" dirty="0">
                          <a:solidFill>
                            <a:srgbClr val="262626"/>
                          </a:solidFill>
                          <a:latin typeface="Calibri" pitchFamily="34" charset="0"/>
                          <a:ea typeface="Calibri" pitchFamily="34" charset="-122"/>
                          <a:cs typeface="Calibri" pitchFamily="34" charset="-120"/>
                        </a:rPr>
                        <a:t>Colombia · FCV</a:t>
                      </a:r>
                      <a:endParaRPr lang="en-US" sz="1200" dirty="0">
                        <a:latin typeface="Calibri" charset="0"/>
                        <a:ea typeface="Calibri" charset="0"/>
                        <a:cs typeface="Calibri" charset="0"/>
                      </a:endParaRPr>
                    </a:p>
                  </a:txBody>
                  <a:tcPr marL="45720" marR="45720" marT="45720" marB="45720" anchor="ctr">
                    <a:lnL w="9525" cap="flat" cmpd="sng" algn="ctr">
                      <a:solidFill>
                        <a:srgbClr val="E2C9DD"/>
                      </a:solidFill>
                      <a:prstDash val="solid"/>
                      <a:round/>
                      <a:headEnd type="none" w="med" len="med"/>
                      <a:tailEnd type="none" w="med" len="med"/>
                    </a:lnL>
                    <a:lnR w="9525" cap="flat" cmpd="sng" algn="ctr">
                      <a:solidFill>
                        <a:srgbClr val="E2C9DD"/>
                      </a:solidFill>
                      <a:prstDash val="solid"/>
                      <a:round/>
                      <a:headEnd type="none" w="med" len="med"/>
                      <a:tailEnd type="none" w="med" len="med"/>
                    </a:lnR>
                    <a:lnT w="9525" cap="flat" cmpd="sng" algn="ctr">
                      <a:solidFill>
                        <a:srgbClr val="E2C9DD"/>
                      </a:solidFill>
                      <a:prstDash val="solid"/>
                      <a:round/>
                      <a:headEnd type="none" w="med" len="med"/>
                      <a:tailEnd type="none" w="med" len="med"/>
                    </a:lnT>
                    <a:lnB w="9525" cap="flat" cmpd="sng" algn="ctr">
                      <a:solidFill>
                        <a:srgbClr val="E2C9DD"/>
                      </a:solidFill>
                      <a:prstDash val="solid"/>
                      <a:round/>
                      <a:headEnd type="none" w="med" len="med"/>
                      <a:tailEnd type="none" w="med" len="med"/>
                    </a:lnB>
                    <a:solidFill>
                      <a:srgbClr val="FFFFFF"/>
                    </a:solidFill>
                  </a:tcPr>
                </a:tc>
                <a:tc>
                  <a:txBody>
                    <a:bodyPr/>
                    <a:lstStyle/>
                    <a:p>
                      <a:pPr indent="0" marL="0">
                        <a:buNone/>
                      </a:pPr>
                      <a:r>
                        <a:rPr lang="en-US" sz="1200" dirty="0">
                          <a:solidFill>
                            <a:srgbClr val="262626"/>
                          </a:solidFill>
                          <a:latin typeface="Calibri" pitchFamily="34" charset="0"/>
                          <a:ea typeface="Calibri" pitchFamily="34" charset="-122"/>
                          <a:cs typeface="Calibri" pitchFamily="34" charset="-120"/>
                        </a:rPr>
                        <a:t>30 TJ, 2012–2021</a:t>
                      </a:r>
                      <a:endParaRPr lang="en-US" sz="1200" dirty="0">
                        <a:latin typeface="Calibri" charset="0"/>
                        <a:ea typeface="Calibri" charset="0"/>
                        <a:cs typeface="Calibri" charset="0"/>
                      </a:endParaRPr>
                    </a:p>
                  </a:txBody>
                  <a:tcPr marL="45720" marR="45720" marT="45720" marB="45720" anchor="ctr">
                    <a:lnL w="9525" cap="flat" cmpd="sng" algn="ctr">
                      <a:solidFill>
                        <a:srgbClr val="E2C9DD"/>
                      </a:solidFill>
                      <a:prstDash val="solid"/>
                      <a:round/>
                      <a:headEnd type="none" w="med" len="med"/>
                      <a:tailEnd type="none" w="med" len="med"/>
                    </a:lnL>
                    <a:lnR w="9525" cap="flat" cmpd="sng" algn="ctr">
                      <a:solidFill>
                        <a:srgbClr val="E2C9DD"/>
                      </a:solidFill>
                      <a:prstDash val="solid"/>
                      <a:round/>
                      <a:headEnd type="none" w="med" len="med"/>
                      <a:tailEnd type="none" w="med" len="med"/>
                    </a:lnR>
                    <a:lnT w="9525" cap="flat" cmpd="sng" algn="ctr">
                      <a:solidFill>
                        <a:srgbClr val="E2C9DD"/>
                      </a:solidFill>
                      <a:prstDash val="solid"/>
                      <a:round/>
                      <a:headEnd type="none" w="med" len="med"/>
                      <a:tailEnd type="none" w="med" len="med"/>
                    </a:lnT>
                    <a:lnB w="9525" cap="flat" cmpd="sng" algn="ctr">
                      <a:solidFill>
                        <a:srgbClr val="E2C9DD"/>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201400" y="635508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292608"/>
            <a:ext cx="8686800" cy="274320"/>
          </a:xfrm>
          <a:prstGeom prst="rect">
            <a:avLst/>
          </a:prstGeom>
          <a:noFill/>
          <a:ln/>
        </p:spPr>
        <p:txBody>
          <a:bodyPr wrap="square" lIns="508" tIns="508" rIns="508" bIns="508" rtlCol="0" anchor="t"/>
          <a:lstStyle/>
          <a:p>
            <a:pPr algn="l" indent="0" marL="0">
              <a:lnSpc>
                <a:spcPct val="100000"/>
              </a:lnSpc>
              <a:buNone/>
            </a:pPr>
            <a:r>
              <a:rPr lang="en-US" sz="1200" b="1" dirty="0">
                <a:solidFill>
                  <a:srgbClr val="FF5F3F"/>
                </a:solidFill>
                <a:latin typeface="Calibri" pitchFamily="34" charset="0"/>
                <a:ea typeface="Calibri" pitchFamily="34" charset="-122"/>
                <a:cs typeface="Calibri" pitchFamily="34" charset="-120"/>
              </a:rPr>
              <a:t>OBSERVACIÓN 2 DE 7</a:t>
            </a:r>
            <a:endParaRPr lang="en-US" sz="1200" dirty="0"/>
          </a:p>
        </p:txBody>
      </p:sp>
      <p:sp>
        <p:nvSpPr>
          <p:cNvPr id="3" name="Text 1"/>
          <p:cNvSpPr txBox="1"/>
          <p:nvPr/>
        </p:nvSpPr>
        <p:spPr>
          <a:xfrm>
            <a:off x="548640" y="548640"/>
            <a:ext cx="9326880" cy="548640"/>
          </a:xfrm>
          <a:prstGeom prst="rect">
            <a:avLst/>
          </a:prstGeom>
          <a:noFill/>
          <a:ln/>
        </p:spPr>
        <p:txBody>
          <a:bodyPr wrap="square" lIns="508" tIns="508" rIns="508" bIns="508" rtlCol="0" anchor="ctr"/>
          <a:lstStyle/>
          <a:p>
            <a:pPr algn="l" indent="0" marL="0">
              <a:lnSpc>
                <a:spcPct val="100000"/>
              </a:lnSpc>
              <a:buNone/>
            </a:pPr>
            <a:r>
              <a:rPr lang="en-US" sz="2800" b="1" dirty="0">
                <a:solidFill>
                  <a:srgbClr val="80006B"/>
                </a:solidFill>
                <a:latin typeface="Calibri" pitchFamily="34" charset="0"/>
                <a:ea typeface="Calibri" pitchFamily="34" charset="-122"/>
                <a:cs typeface="Calibri" pitchFamily="34" charset="-120"/>
              </a:rPr>
              <a:t>Coherencia del protocolo</a:t>
            </a:r>
            <a:endParaRPr lang="en-US" sz="2800" dirty="0"/>
          </a:p>
        </p:txBody>
      </p:sp>
      <p:sp>
        <p:nvSpPr>
          <p:cNvPr id="4" name="Shape 2"/>
          <p:cNvSpPr/>
          <p:nvPr/>
        </p:nvSpPr>
        <p:spPr>
          <a:xfrm>
            <a:off x="548640" y="1261872"/>
            <a:ext cx="11091672" cy="713232"/>
          </a:xfrm>
          <a:prstGeom prst="roundRect">
            <a:avLst>
              <a:gd name="adj" fmla="val 10256"/>
            </a:avLst>
          </a:prstGeom>
          <a:solidFill>
            <a:srgbClr val="F7EDF5"/>
          </a:solidFill>
          <a:ln/>
        </p:spPr>
      </p:sp>
      <p:sp>
        <p:nvSpPr>
          <p:cNvPr id="5" name="Text 3"/>
          <p:cNvSpPr txBox="1"/>
          <p:nvPr/>
        </p:nvSpPr>
        <p:spPr>
          <a:xfrm>
            <a:off x="731520" y="1261872"/>
            <a:ext cx="10725912" cy="713232"/>
          </a:xfrm>
          <a:prstGeom prst="rect">
            <a:avLst/>
          </a:prstGeom>
          <a:noFill/>
          <a:ln/>
        </p:spPr>
        <p:txBody>
          <a:bodyPr wrap="square" lIns="508" tIns="508" rIns="508" bIns="508" rtlCol="0" anchor="ctr"/>
          <a:lstStyle/>
          <a:p>
            <a:pPr algn="l" indent="0" marL="0">
              <a:lnSpc>
                <a:spcPct val="100000"/>
              </a:lnSpc>
              <a:buNone/>
            </a:pPr>
            <a:r>
              <a:rPr lang="en-US" sz="1300" b="1" dirty="0">
                <a:solidFill>
                  <a:srgbClr val="80006B"/>
                </a:solidFill>
                <a:latin typeface="Calibri" pitchFamily="34" charset="0"/>
                <a:ea typeface="Calibri" pitchFamily="34" charset="-122"/>
                <a:cs typeface="Calibri" pitchFamily="34" charset="-120"/>
              </a:rPr>
              <a:t>Observación del Comité  </a:t>
            </a:r>
            <a:pPr algn="l" indent="0" marL="0">
              <a:lnSpc>
                <a:spcPct val="100000"/>
              </a:lnSpc>
              <a:buNone/>
            </a:pPr>
            <a:r>
              <a:rPr lang="en-US" sz="1300" i="1" dirty="0">
                <a:solidFill>
                  <a:srgbClr val="262626"/>
                </a:solidFill>
                <a:latin typeface="Calibri" pitchFamily="34" charset="0"/>
                <a:ea typeface="Calibri" pitchFamily="34" charset="-122"/>
                <a:cs typeface="Calibri" pitchFamily="34" charset="-120"/>
              </a:rPr>
              <a:t>«Ajustar, si corresponde, título, objetivos, población, criterios de inclusión e identificación de casos. Diferenciar expresamente la identidad religiosa de las decisiones clínicas individuales sobre componentes sanguíneos».</a:t>
            </a:r>
            <a:endParaRPr lang="en-US" sz="1300" dirty="0"/>
          </a:p>
        </p:txBody>
      </p:sp>
      <p:sp>
        <p:nvSpPr>
          <p:cNvPr id="6" name="Shape 4"/>
          <p:cNvSpPr/>
          <p:nvPr/>
        </p:nvSpPr>
        <p:spPr>
          <a:xfrm>
            <a:off x="548640" y="2148840"/>
            <a:ext cx="1691640" cy="310896"/>
          </a:xfrm>
          <a:prstGeom prst="roundRect">
            <a:avLst>
              <a:gd name="adj" fmla="val 147059"/>
            </a:avLst>
          </a:prstGeom>
          <a:solidFill>
            <a:srgbClr val="FF5F3F"/>
          </a:solidFill>
          <a:ln/>
        </p:spPr>
      </p:sp>
      <p:sp>
        <p:nvSpPr>
          <p:cNvPr id="7" name="Text 5"/>
          <p:cNvSpPr txBox="1"/>
          <p:nvPr/>
        </p:nvSpPr>
        <p:spPr>
          <a:xfrm>
            <a:off x="548640" y="2148840"/>
            <a:ext cx="1691640" cy="310896"/>
          </a:xfrm>
          <a:prstGeom prst="rect">
            <a:avLst/>
          </a:prstGeom>
          <a:noFill/>
          <a:ln/>
        </p:spPr>
        <p:txBody>
          <a:bodyPr wrap="square" lIns="0" tIns="0" rIns="0" bIns="0" rtlCol="0" anchor="ctr"/>
          <a:lstStyle/>
          <a:p>
            <a:pPr algn="ctr" indent="0" marL="0">
              <a:lnSpc>
                <a:spcPct val="100000"/>
              </a:lnSpc>
              <a:buNone/>
            </a:pPr>
            <a:r>
              <a:rPr lang="en-US" sz="1100" b="1" dirty="0">
                <a:solidFill>
                  <a:srgbClr val="FFFFFF"/>
                </a:solidFill>
                <a:latin typeface="Calibri" pitchFamily="34" charset="0"/>
                <a:ea typeface="Calibri" pitchFamily="34" charset="-122"/>
                <a:cs typeface="Calibri" pitchFamily="34" charset="-120"/>
              </a:rPr>
              <a:t>Se acoge en parte</a:t>
            </a:r>
            <a:endParaRPr lang="en-US" sz="1100" dirty="0"/>
          </a:p>
        </p:txBody>
      </p:sp>
      <p:sp>
        <p:nvSpPr>
          <p:cNvPr id="8" name="Text 6"/>
          <p:cNvSpPr txBox="1"/>
          <p:nvPr/>
        </p:nvSpPr>
        <p:spPr>
          <a:xfrm>
            <a:off x="2377440" y="2121408"/>
            <a:ext cx="9262872" cy="384048"/>
          </a:xfrm>
          <a:prstGeom prst="rect">
            <a:avLst/>
          </a:prstGeom>
          <a:noFill/>
          <a:ln/>
        </p:spPr>
        <p:txBody>
          <a:bodyPr wrap="square" lIns="508" tIns="508" rIns="508" bIns="508" rtlCol="0" anchor="ctr"/>
          <a:lstStyle/>
          <a:p>
            <a:pPr algn="l" indent="0" marL="0">
              <a:lnSpc>
                <a:spcPct val="100000"/>
              </a:lnSpc>
              <a:buNone/>
            </a:pPr>
            <a:r>
              <a:rPr lang="en-US" sz="1500" dirty="0">
                <a:solidFill>
                  <a:srgbClr val="262626"/>
                </a:solidFill>
                <a:latin typeface="Calibri" pitchFamily="34" charset="0"/>
                <a:ea typeface="Calibri" pitchFamily="34" charset="-122"/>
                <a:cs typeface="Calibri" pitchFamily="34" charset="-120"/>
              </a:rPr>
              <a:t>Se incorpora la diferenciación explícita; título, pregunta y objetivos no requieren cambio porque ya eran coherentes.</a:t>
            </a:r>
            <a:endParaRPr lang="en-US" sz="1500" dirty="0"/>
          </a:p>
        </p:txBody>
      </p:sp>
      <p:sp>
        <p:nvSpPr>
          <p:cNvPr id="9" name="Shape 7"/>
          <p:cNvSpPr/>
          <p:nvPr/>
        </p:nvSpPr>
        <p:spPr>
          <a:xfrm>
            <a:off x="548640" y="2697480"/>
            <a:ext cx="3291840" cy="1600200"/>
          </a:xfrm>
          <a:prstGeom prst="roundRect">
            <a:avLst>
              <a:gd name="adj" fmla="val 4571"/>
            </a:avLst>
          </a:prstGeom>
          <a:solidFill>
            <a:srgbClr val="F7EDF5"/>
          </a:solidFill>
          <a:ln/>
        </p:spPr>
      </p:sp>
      <p:sp>
        <p:nvSpPr>
          <p:cNvPr id="10" name="Text 8"/>
          <p:cNvSpPr txBox="1"/>
          <p:nvPr/>
        </p:nvSpPr>
        <p:spPr>
          <a:xfrm>
            <a:off x="731520" y="2770632"/>
            <a:ext cx="2926080" cy="365760"/>
          </a:xfrm>
          <a:prstGeom prst="rect">
            <a:avLst/>
          </a:prstGeom>
          <a:noFill/>
          <a:ln/>
        </p:spPr>
        <p:txBody>
          <a:bodyPr wrap="square" lIns="508" tIns="508" rIns="508" bIns="508" rtlCol="0" anchor="t"/>
          <a:lstStyle/>
          <a:p>
            <a:pPr algn="l" indent="0" marL="0">
              <a:lnSpc>
                <a:spcPct val="100000"/>
              </a:lnSpc>
              <a:buNone/>
            </a:pPr>
            <a:r>
              <a:rPr lang="en-US" sz="1600" b="1" dirty="0">
                <a:solidFill>
                  <a:srgbClr val="80006B"/>
                </a:solidFill>
                <a:latin typeface="Calibri" pitchFamily="34" charset="0"/>
                <a:ea typeface="Calibri" pitchFamily="34" charset="-122"/>
                <a:cs typeface="Calibri" pitchFamily="34" charset="-120"/>
              </a:rPr>
              <a:t>Afiliación religiosa</a:t>
            </a:r>
            <a:endParaRPr lang="en-US" sz="1600" dirty="0"/>
          </a:p>
        </p:txBody>
      </p:sp>
      <p:sp>
        <p:nvSpPr>
          <p:cNvPr id="11" name="Text 9"/>
          <p:cNvSpPr txBox="1"/>
          <p:nvPr/>
        </p:nvSpPr>
        <p:spPr>
          <a:xfrm>
            <a:off x="731520" y="3154680"/>
            <a:ext cx="2926080" cy="1097280"/>
          </a:xfrm>
          <a:prstGeom prst="rect">
            <a:avLst/>
          </a:prstGeom>
          <a:noFill/>
          <a:ln/>
        </p:spPr>
        <p:txBody>
          <a:bodyPr wrap="square" lIns="508" tIns="508" rIns="508" bIns="508" rtlCol="0" anchor="t"/>
          <a:lstStyle/>
          <a:p>
            <a:pPr algn="l" indent="0" marL="0">
              <a:lnSpc>
                <a:spcPct val="100000"/>
              </a:lnSpc>
              <a:buNone/>
            </a:pPr>
            <a:r>
              <a:rPr lang="en-US" sz="1300" dirty="0">
                <a:solidFill>
                  <a:srgbClr val="262626"/>
                </a:solidFill>
                <a:latin typeface="Calibri" pitchFamily="34" charset="0"/>
                <a:ea typeface="Calibri" pitchFamily="34" charset="-122"/>
                <a:cs typeface="Calibri" pitchFamily="34" charset="-120"/>
              </a:rPr>
              <a:t>Condición de Testigo de Jehová, declarada y registrada. Delimita la población y permite comparar con la literatura.</a:t>
            </a:r>
            <a:endParaRPr lang="en-US" sz="1300" dirty="0"/>
          </a:p>
        </p:txBody>
      </p:sp>
      <p:sp>
        <p:nvSpPr>
          <p:cNvPr id="12" name="Shape 10"/>
          <p:cNvSpPr/>
          <p:nvPr/>
        </p:nvSpPr>
        <p:spPr>
          <a:xfrm>
            <a:off x="4526280" y="2697480"/>
            <a:ext cx="3291840" cy="1600200"/>
          </a:xfrm>
          <a:prstGeom prst="roundRect">
            <a:avLst>
              <a:gd name="adj" fmla="val 4571"/>
            </a:avLst>
          </a:prstGeom>
          <a:solidFill>
            <a:srgbClr val="FFF1ED"/>
          </a:solidFill>
          <a:ln/>
        </p:spPr>
      </p:sp>
      <p:sp>
        <p:nvSpPr>
          <p:cNvPr id="13" name="Text 11"/>
          <p:cNvSpPr txBox="1"/>
          <p:nvPr/>
        </p:nvSpPr>
        <p:spPr>
          <a:xfrm>
            <a:off x="4709160" y="2770632"/>
            <a:ext cx="2926080" cy="365760"/>
          </a:xfrm>
          <a:prstGeom prst="rect">
            <a:avLst/>
          </a:prstGeom>
          <a:noFill/>
          <a:ln/>
        </p:spPr>
        <p:txBody>
          <a:bodyPr wrap="square" lIns="508" tIns="508" rIns="508" bIns="508" rtlCol="0" anchor="t"/>
          <a:lstStyle/>
          <a:p>
            <a:pPr algn="l" indent="0" marL="0">
              <a:lnSpc>
                <a:spcPct val="100000"/>
              </a:lnSpc>
              <a:buNone/>
            </a:pPr>
            <a:r>
              <a:rPr lang="en-US" sz="1600" b="1" dirty="0">
                <a:solidFill>
                  <a:srgbClr val="FF5F3F"/>
                </a:solidFill>
                <a:latin typeface="Calibri" pitchFamily="34" charset="0"/>
                <a:ea typeface="Calibri" pitchFamily="34" charset="-122"/>
                <a:cs typeface="Calibri" pitchFamily="34" charset="-120"/>
              </a:rPr>
              <a:t>Decisión clínica individual</a:t>
            </a:r>
            <a:endParaRPr lang="en-US" sz="1600" dirty="0"/>
          </a:p>
        </p:txBody>
      </p:sp>
      <p:sp>
        <p:nvSpPr>
          <p:cNvPr id="14" name="Text 12"/>
          <p:cNvSpPr txBox="1"/>
          <p:nvPr/>
        </p:nvSpPr>
        <p:spPr>
          <a:xfrm>
            <a:off x="4709160" y="3154680"/>
            <a:ext cx="2926080" cy="1097280"/>
          </a:xfrm>
          <a:prstGeom prst="rect">
            <a:avLst/>
          </a:prstGeom>
          <a:noFill/>
          <a:ln/>
        </p:spPr>
        <p:txBody>
          <a:bodyPr wrap="square" lIns="508" tIns="508" rIns="508" bIns="508" rtlCol="0" anchor="t"/>
          <a:lstStyle/>
          <a:p>
            <a:pPr algn="l" indent="0" marL="0">
              <a:lnSpc>
                <a:spcPct val="100000"/>
              </a:lnSpc>
              <a:buNone/>
            </a:pPr>
            <a:r>
              <a:rPr lang="en-US" sz="1300" dirty="0">
                <a:solidFill>
                  <a:srgbClr val="262626"/>
                </a:solidFill>
                <a:latin typeface="Calibri" pitchFamily="34" charset="0"/>
                <a:ea typeface="Calibri" pitchFamily="34" charset="-122"/>
                <a:cs typeface="Calibri" pitchFamily="34" charset="-120"/>
              </a:rPr>
              <a:t>Aceptación o rechazo de cada componente, fracción o técnica, documentado antes de la cirugía.</a:t>
            </a:r>
            <a:endParaRPr lang="en-US" sz="1300" dirty="0"/>
          </a:p>
        </p:txBody>
      </p:sp>
      <p:sp>
        <p:nvSpPr>
          <p:cNvPr id="15" name="Text 13"/>
          <p:cNvSpPr txBox="1"/>
          <p:nvPr/>
        </p:nvSpPr>
        <p:spPr>
          <a:xfrm>
            <a:off x="3840480" y="3108960"/>
            <a:ext cx="685800" cy="731520"/>
          </a:xfrm>
          <a:prstGeom prst="rect">
            <a:avLst/>
          </a:prstGeom>
          <a:noFill/>
          <a:ln/>
        </p:spPr>
        <p:txBody>
          <a:bodyPr wrap="square" lIns="508" tIns="508" rIns="508" bIns="508" rtlCol="0" anchor="ctr"/>
          <a:lstStyle/>
          <a:p>
            <a:pPr algn="ctr" indent="0" marL="0">
              <a:lnSpc>
                <a:spcPct val="100000"/>
              </a:lnSpc>
              <a:buNone/>
            </a:pPr>
            <a:r>
              <a:rPr lang="en-US" sz="3600" b="1" dirty="0">
                <a:solidFill>
                  <a:srgbClr val="80006B"/>
                </a:solidFill>
                <a:latin typeface="Calibri" pitchFamily="34" charset="0"/>
                <a:ea typeface="Calibri" pitchFamily="34" charset="-122"/>
                <a:cs typeface="Calibri" pitchFamily="34" charset="-120"/>
              </a:rPr>
              <a:t>+</a:t>
            </a:r>
            <a:endParaRPr lang="en-US" sz="3600" dirty="0"/>
          </a:p>
        </p:txBody>
      </p:sp>
      <p:sp>
        <p:nvSpPr>
          <p:cNvPr id="16" name="Text 14"/>
          <p:cNvSpPr txBox="1"/>
          <p:nvPr/>
        </p:nvSpPr>
        <p:spPr>
          <a:xfrm>
            <a:off x="7818120" y="3108960"/>
            <a:ext cx="685800" cy="731520"/>
          </a:xfrm>
          <a:prstGeom prst="rect">
            <a:avLst/>
          </a:prstGeom>
          <a:noFill/>
          <a:ln/>
        </p:spPr>
        <p:txBody>
          <a:bodyPr wrap="square" lIns="508" tIns="508" rIns="508" bIns="508" rtlCol="0" anchor="ctr"/>
          <a:lstStyle/>
          <a:p>
            <a:pPr algn="ctr" indent="0" marL="0">
              <a:lnSpc>
                <a:spcPct val="100000"/>
              </a:lnSpc>
              <a:buNone/>
            </a:pPr>
            <a:r>
              <a:rPr lang="en-US" sz="3600" b="1" dirty="0">
                <a:solidFill>
                  <a:srgbClr val="80006B"/>
                </a:solidFill>
                <a:latin typeface="Calibri" pitchFamily="34" charset="0"/>
                <a:ea typeface="Calibri" pitchFamily="34" charset="-122"/>
                <a:cs typeface="Calibri" pitchFamily="34" charset="-120"/>
              </a:rPr>
              <a:t>=</a:t>
            </a:r>
            <a:endParaRPr lang="en-US" sz="3600" dirty="0"/>
          </a:p>
        </p:txBody>
      </p:sp>
      <p:sp>
        <p:nvSpPr>
          <p:cNvPr id="17" name="Shape 15"/>
          <p:cNvSpPr/>
          <p:nvPr/>
        </p:nvSpPr>
        <p:spPr>
          <a:xfrm>
            <a:off x="8503920" y="2697480"/>
            <a:ext cx="3136392" cy="1600200"/>
          </a:xfrm>
          <a:prstGeom prst="roundRect">
            <a:avLst>
              <a:gd name="adj" fmla="val 4571"/>
            </a:avLst>
          </a:prstGeom>
          <a:solidFill>
            <a:srgbClr val="80006B"/>
          </a:solidFill>
          <a:ln/>
        </p:spPr>
      </p:sp>
      <p:sp>
        <p:nvSpPr>
          <p:cNvPr id="18" name="Text 16"/>
          <p:cNvSpPr txBox="1"/>
          <p:nvPr/>
        </p:nvSpPr>
        <p:spPr>
          <a:xfrm>
            <a:off x="8503920" y="2697480"/>
            <a:ext cx="3136392" cy="1600200"/>
          </a:xfrm>
          <a:prstGeom prst="rect">
            <a:avLst/>
          </a:prstGeom>
          <a:noFill/>
          <a:ln/>
        </p:spPr>
        <p:txBody>
          <a:bodyPr wrap="square" lIns="2540" tIns="2540" rIns="2540" bIns="2540" rtlCol="0" anchor="ctr"/>
          <a:lstStyle/>
          <a:p>
            <a:pPr algn="ctr" indent="0" marL="0">
              <a:lnSpc>
                <a:spcPct val="100000"/>
              </a:lnSpc>
              <a:buNone/>
            </a:pPr>
            <a:r>
              <a:rPr lang="en-US" sz="2200" b="1" dirty="0">
                <a:solidFill>
                  <a:srgbClr val="FFFFFF"/>
                </a:solidFill>
                <a:latin typeface="Calibri" pitchFamily="34" charset="0"/>
                <a:ea typeface="Calibri" pitchFamily="34" charset="-122"/>
                <a:cs typeface="Calibri" pitchFamily="34" charset="-120"/>
              </a:rPr>
              <a:t>Elegible</a:t>
            </a:r>
            <a:endParaRPr lang="en-US" sz="1400" dirty="0"/>
          </a:p>
          <a:p>
            <a:pPr algn="ctr" indent="0" marL="0">
              <a:lnSpc>
                <a:spcPct val="100000"/>
              </a:lnSpc>
              <a:buNone/>
            </a:pPr>
            <a:r>
              <a:rPr lang="en-US" sz="1300" dirty="0">
                <a:solidFill>
                  <a:srgbClr val="FFFFFF"/>
                </a:solidFill>
                <a:latin typeface="Calibri" pitchFamily="34" charset="0"/>
                <a:ea typeface="Calibri" pitchFamily="34" charset="-122"/>
                <a:cs typeface="Calibri" pitchFamily="34" charset="-120"/>
              </a:rPr>
              <a:t>solo con ambas condiciones documentadas</a:t>
            </a:r>
            <a:endParaRPr lang="en-US" sz="1400" dirty="0"/>
          </a:p>
        </p:txBody>
      </p:sp>
      <p:sp>
        <p:nvSpPr>
          <p:cNvPr id="19" name="Text 17"/>
          <p:cNvSpPr txBox="1"/>
          <p:nvPr/>
        </p:nvSpPr>
        <p:spPr>
          <a:xfrm>
            <a:off x="548640" y="4480560"/>
            <a:ext cx="2635758" cy="320040"/>
          </a:xfrm>
          <a:prstGeom prst="rect">
            <a:avLst/>
          </a:prstGeom>
          <a:noFill/>
          <a:ln/>
        </p:spPr>
        <p:txBody>
          <a:bodyPr wrap="square" lIns="508" tIns="508" rIns="508" bIns="508" rtlCol="0" anchor="t"/>
          <a:lstStyle/>
          <a:p>
            <a:pPr algn="l" indent="0" marL="0">
              <a:lnSpc>
                <a:spcPct val="100000"/>
              </a:lnSpc>
              <a:buNone/>
            </a:pPr>
            <a:r>
              <a:rPr lang="en-US" sz="1400" b="1" dirty="0">
                <a:solidFill>
                  <a:srgbClr val="80006B"/>
                </a:solidFill>
                <a:latin typeface="Calibri" pitchFamily="34" charset="0"/>
                <a:ea typeface="Calibri" pitchFamily="34" charset="-122"/>
                <a:cs typeface="Calibri" pitchFamily="34" charset="-120"/>
              </a:rPr>
              <a:t>Título y objetivos</a:t>
            </a:r>
            <a:endParaRPr lang="en-US" sz="1400" dirty="0"/>
          </a:p>
        </p:txBody>
      </p:sp>
      <p:sp>
        <p:nvSpPr>
          <p:cNvPr id="20" name="Text 18"/>
          <p:cNvSpPr txBox="1"/>
          <p:nvPr/>
        </p:nvSpPr>
        <p:spPr>
          <a:xfrm>
            <a:off x="548640" y="4800600"/>
            <a:ext cx="2635758" cy="914400"/>
          </a:xfrm>
          <a:prstGeom prst="rect">
            <a:avLst/>
          </a:prstGeom>
          <a:noFill/>
          <a:ln/>
        </p:spPr>
        <p:txBody>
          <a:bodyPr wrap="square" lIns="508" tIns="508" rIns="508" bIns="508" rtlCol="0" anchor="t"/>
          <a:lstStyle/>
          <a:p>
            <a:pPr algn="l" indent="0" marL="0">
              <a:lnSpc>
                <a:spcPct val="100000"/>
              </a:lnSpc>
              <a:buNone/>
            </a:pPr>
            <a:r>
              <a:rPr lang="en-US" sz="1250" dirty="0">
                <a:solidFill>
                  <a:srgbClr val="262626"/>
                </a:solidFill>
                <a:latin typeface="Calibri" pitchFamily="34" charset="0"/>
                <a:ea typeface="Calibri" pitchFamily="34" charset="-122"/>
                <a:cs typeface="Calibri" pitchFamily="34" charset="-120"/>
              </a:rPr>
              <a:t>Se mantienen: ya exigían el «rechazo transfusional documentado».</a:t>
            </a:r>
            <a:endParaRPr lang="en-US" sz="1250" dirty="0"/>
          </a:p>
        </p:txBody>
      </p:sp>
      <p:sp>
        <p:nvSpPr>
          <p:cNvPr id="21" name="Text 19"/>
          <p:cNvSpPr txBox="1"/>
          <p:nvPr/>
        </p:nvSpPr>
        <p:spPr>
          <a:xfrm>
            <a:off x="3367278" y="4480560"/>
            <a:ext cx="2635758" cy="320040"/>
          </a:xfrm>
          <a:prstGeom prst="rect">
            <a:avLst/>
          </a:prstGeom>
          <a:noFill/>
          <a:ln/>
        </p:spPr>
        <p:txBody>
          <a:bodyPr wrap="square" lIns="508" tIns="508" rIns="508" bIns="508" rtlCol="0" anchor="t"/>
          <a:lstStyle/>
          <a:p>
            <a:pPr algn="l" indent="0" marL="0">
              <a:lnSpc>
                <a:spcPct val="100000"/>
              </a:lnSpc>
              <a:buNone/>
            </a:pPr>
            <a:r>
              <a:rPr lang="en-US" sz="1400" b="1" dirty="0">
                <a:solidFill>
                  <a:srgbClr val="80006B"/>
                </a:solidFill>
                <a:latin typeface="Calibri" pitchFamily="34" charset="0"/>
                <a:ea typeface="Calibri" pitchFamily="34" charset="-122"/>
                <a:cs typeface="Calibri" pitchFamily="34" charset="-120"/>
              </a:rPr>
              <a:t>Criterio de inclusión 2</a:t>
            </a:r>
            <a:endParaRPr lang="en-US" sz="1400" dirty="0"/>
          </a:p>
        </p:txBody>
      </p:sp>
      <p:sp>
        <p:nvSpPr>
          <p:cNvPr id="22" name="Text 20"/>
          <p:cNvSpPr txBox="1"/>
          <p:nvPr/>
        </p:nvSpPr>
        <p:spPr>
          <a:xfrm>
            <a:off x="3367278" y="4800600"/>
            <a:ext cx="2635758" cy="914400"/>
          </a:xfrm>
          <a:prstGeom prst="rect">
            <a:avLst/>
          </a:prstGeom>
          <a:noFill/>
          <a:ln/>
        </p:spPr>
        <p:txBody>
          <a:bodyPr wrap="square" lIns="508" tIns="508" rIns="508" bIns="508" rtlCol="0" anchor="t"/>
          <a:lstStyle/>
          <a:p>
            <a:pPr algn="l" indent="0" marL="0">
              <a:lnSpc>
                <a:spcPct val="100000"/>
              </a:lnSpc>
              <a:buNone/>
            </a:pPr>
            <a:r>
              <a:rPr lang="en-US" sz="1250" dirty="0">
                <a:solidFill>
                  <a:srgbClr val="262626"/>
                </a:solidFill>
                <a:latin typeface="Calibri" pitchFamily="34" charset="0"/>
                <a:ea typeface="Calibri" pitchFamily="34" charset="-122"/>
                <a:cs typeface="Calibri" pitchFamily="34" charset="-120"/>
              </a:rPr>
              <a:t>Debe constar expresamente la condición de Testigo de Jehová (p. 29).</a:t>
            </a:r>
            <a:endParaRPr lang="en-US" sz="1250" dirty="0"/>
          </a:p>
        </p:txBody>
      </p:sp>
      <p:sp>
        <p:nvSpPr>
          <p:cNvPr id="23" name="Text 21"/>
          <p:cNvSpPr txBox="1"/>
          <p:nvPr/>
        </p:nvSpPr>
        <p:spPr>
          <a:xfrm>
            <a:off x="6185916" y="4480560"/>
            <a:ext cx="2635758" cy="320040"/>
          </a:xfrm>
          <a:prstGeom prst="rect">
            <a:avLst/>
          </a:prstGeom>
          <a:noFill/>
          <a:ln/>
        </p:spPr>
        <p:txBody>
          <a:bodyPr wrap="square" lIns="508" tIns="508" rIns="508" bIns="508" rtlCol="0" anchor="t"/>
          <a:lstStyle/>
          <a:p>
            <a:pPr algn="l" indent="0" marL="0">
              <a:lnSpc>
                <a:spcPct val="100000"/>
              </a:lnSpc>
              <a:buNone/>
            </a:pPr>
            <a:r>
              <a:rPr lang="en-US" sz="1400" b="1" dirty="0">
                <a:solidFill>
                  <a:srgbClr val="80006B"/>
                </a:solidFill>
                <a:latin typeface="Calibri" pitchFamily="34" charset="0"/>
                <a:ea typeface="Calibri" pitchFamily="34" charset="-122"/>
                <a:cs typeface="Calibri" pitchFamily="34" charset="-120"/>
              </a:rPr>
              <a:t>Criterio de inclusión 4</a:t>
            </a:r>
            <a:endParaRPr lang="en-US" sz="1400" dirty="0"/>
          </a:p>
        </p:txBody>
      </p:sp>
      <p:sp>
        <p:nvSpPr>
          <p:cNvPr id="24" name="Text 22"/>
          <p:cNvSpPr txBox="1"/>
          <p:nvPr/>
        </p:nvSpPr>
        <p:spPr>
          <a:xfrm>
            <a:off x="6185916" y="4800600"/>
            <a:ext cx="2635758" cy="914400"/>
          </a:xfrm>
          <a:prstGeom prst="rect">
            <a:avLst/>
          </a:prstGeom>
          <a:noFill/>
          <a:ln/>
        </p:spPr>
        <p:txBody>
          <a:bodyPr wrap="square" lIns="508" tIns="508" rIns="508" bIns="508" rtlCol="0" anchor="t"/>
          <a:lstStyle/>
          <a:p>
            <a:pPr algn="l" indent="0" marL="0">
              <a:lnSpc>
                <a:spcPct val="100000"/>
              </a:lnSpc>
              <a:buNone/>
            </a:pPr>
            <a:r>
              <a:rPr lang="en-US" sz="1250" dirty="0">
                <a:solidFill>
                  <a:srgbClr val="262626"/>
                </a:solidFill>
                <a:latin typeface="Calibri" pitchFamily="34" charset="0"/>
                <a:ea typeface="Calibri" pitchFamily="34" charset="-122"/>
                <a:cs typeface="Calibri" pitchFamily="34" charset="-120"/>
              </a:rPr>
              <a:t>La religión no se acepta como prueba de la negativa (p. 30).</a:t>
            </a:r>
            <a:endParaRPr lang="en-US" sz="1250" dirty="0"/>
          </a:p>
        </p:txBody>
      </p:sp>
      <p:sp>
        <p:nvSpPr>
          <p:cNvPr id="25" name="Text 23"/>
          <p:cNvSpPr txBox="1"/>
          <p:nvPr/>
        </p:nvSpPr>
        <p:spPr>
          <a:xfrm>
            <a:off x="9004554" y="4480560"/>
            <a:ext cx="2635758" cy="320040"/>
          </a:xfrm>
          <a:prstGeom prst="rect">
            <a:avLst/>
          </a:prstGeom>
          <a:noFill/>
          <a:ln/>
        </p:spPr>
        <p:txBody>
          <a:bodyPr wrap="square" lIns="508" tIns="508" rIns="508" bIns="508" rtlCol="0" anchor="t"/>
          <a:lstStyle/>
          <a:p>
            <a:pPr algn="l" indent="0" marL="0">
              <a:lnSpc>
                <a:spcPct val="100000"/>
              </a:lnSpc>
              <a:buNone/>
            </a:pPr>
            <a:r>
              <a:rPr lang="en-US" sz="1400" b="1" dirty="0">
                <a:solidFill>
                  <a:srgbClr val="80006B"/>
                </a:solidFill>
                <a:latin typeface="Calibri" pitchFamily="34" charset="0"/>
                <a:ea typeface="Calibri" pitchFamily="34" charset="-122"/>
                <a:cs typeface="Calibri" pitchFamily="34" charset="-120"/>
              </a:rPr>
              <a:t>Base analítica</a:t>
            </a:r>
            <a:endParaRPr lang="en-US" sz="1400" dirty="0"/>
          </a:p>
        </p:txBody>
      </p:sp>
      <p:sp>
        <p:nvSpPr>
          <p:cNvPr id="26" name="Text 24"/>
          <p:cNvSpPr txBox="1"/>
          <p:nvPr/>
        </p:nvSpPr>
        <p:spPr>
          <a:xfrm>
            <a:off x="9004554" y="4800600"/>
            <a:ext cx="2635758" cy="914400"/>
          </a:xfrm>
          <a:prstGeom prst="rect">
            <a:avLst/>
          </a:prstGeom>
          <a:noFill/>
          <a:ln/>
        </p:spPr>
        <p:txBody>
          <a:bodyPr wrap="square" lIns="508" tIns="508" rIns="508" bIns="508" rtlCol="0" anchor="t"/>
          <a:lstStyle/>
          <a:p>
            <a:pPr algn="l" indent="0" marL="0">
              <a:lnSpc>
                <a:spcPct val="100000"/>
              </a:lnSpc>
              <a:buNone/>
            </a:pPr>
            <a:r>
              <a:rPr lang="en-US" sz="1250" dirty="0">
                <a:solidFill>
                  <a:srgbClr val="262626"/>
                </a:solidFill>
                <a:latin typeface="Calibri" pitchFamily="34" charset="0"/>
                <a:ea typeface="Calibri" pitchFamily="34" charset="-122"/>
                <a:cs typeface="Calibri" pitchFamily="34" charset="-120"/>
              </a:rPr>
              <a:t>Sin variable de afiliación religiosa (p. 42); no TJ con rechazo: solo en el flujo (p. 28).</a:t>
            </a:r>
            <a:endParaRPr lang="en-US" sz="1250" dirty="0"/>
          </a:p>
        </p:txBody>
      </p:sp>
      <p:sp>
        <p:nvSpPr>
          <p:cNvPr id="27" name="Text 25"/>
          <p:cNvSpPr txBox="1"/>
          <p:nvPr/>
        </p:nvSpPr>
        <p:spPr>
          <a:xfrm>
            <a:off x="548640" y="5833872"/>
            <a:ext cx="11091672" cy="292608"/>
          </a:xfrm>
          <a:prstGeom prst="rect">
            <a:avLst/>
          </a:prstGeom>
          <a:noFill/>
          <a:ln/>
        </p:spPr>
        <p:txBody>
          <a:bodyPr wrap="square" lIns="508" tIns="508" rIns="508" bIns="508" rtlCol="0" anchor="ctr"/>
          <a:lstStyle/>
          <a:p>
            <a:pPr algn="l" indent="0" marL="0">
              <a:lnSpc>
                <a:spcPct val="100000"/>
              </a:lnSpc>
              <a:buNone/>
            </a:pPr>
            <a:r>
              <a:rPr lang="en-US" sz="1200" b="1" dirty="0">
                <a:solidFill>
                  <a:srgbClr val="80006B"/>
                </a:solidFill>
                <a:latin typeface="Calibri" pitchFamily="34" charset="0"/>
                <a:ea typeface="Calibri" pitchFamily="34" charset="-122"/>
                <a:cs typeface="Calibri" pitchFamily="34" charset="-120"/>
              </a:rPr>
              <a:t>Dónde está en el protocolo v2.0:  </a:t>
            </a:r>
            <a:pPr algn="l" indent="0" marL="0">
              <a:lnSpc>
                <a:spcPct val="100000"/>
              </a:lnSpc>
              <a:buNone/>
            </a:pPr>
            <a:r>
              <a:rPr lang="en-US" sz="1200" dirty="0">
                <a:solidFill>
                  <a:srgbClr val="6B6B6B"/>
                </a:solidFill>
                <a:latin typeface="Calibri" pitchFamily="34" charset="0"/>
                <a:ea typeface="Calibri" pitchFamily="34" charset="-122"/>
                <a:cs typeface="Calibri" pitchFamily="34" charset="-120"/>
              </a:rPr>
              <a:t>numeral 3.2.2, p. 28 · numeral 3.3.1, pp. 29–30 · numeral 3.9.1, p. 42</a:t>
            </a:r>
            <a:endParaRPr lang="en-US" sz="1200" dirty="0"/>
          </a:p>
        </p:txBody>
      </p:sp>
      <p:sp>
        <p:nvSpPr>
          <p:cNvPr id="25" name="Slide Number Placeholder 0"/>
          <p:cNvSpPr>
            <a:spLocks noGrp="1"/>
          </p:cNvSpPr>
          <p:nvPr>
            <p:ph type="sldNum" sz="quarter" idx="4294967295"/>
          </p:nvPr>
        </p:nvSpPr>
        <p:spPr>
          <a:xfrm>
            <a:off x="11201400" y="635508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292608"/>
            <a:ext cx="8686800" cy="274320"/>
          </a:xfrm>
          <a:prstGeom prst="rect">
            <a:avLst/>
          </a:prstGeom>
          <a:noFill/>
          <a:ln/>
        </p:spPr>
        <p:txBody>
          <a:bodyPr wrap="square" lIns="508" tIns="508" rIns="508" bIns="508" rtlCol="0" anchor="t"/>
          <a:lstStyle/>
          <a:p>
            <a:pPr algn="l" indent="0" marL="0">
              <a:lnSpc>
                <a:spcPct val="100000"/>
              </a:lnSpc>
              <a:buNone/>
            </a:pPr>
            <a:r>
              <a:rPr lang="en-US" sz="1200" b="1" dirty="0">
                <a:solidFill>
                  <a:srgbClr val="FF5F3F"/>
                </a:solidFill>
                <a:latin typeface="Calibri" pitchFamily="34" charset="0"/>
                <a:ea typeface="Calibri" pitchFamily="34" charset="-122"/>
                <a:cs typeface="Calibri" pitchFamily="34" charset="-120"/>
              </a:rPr>
              <a:t>OBSERVACIÓN 3 DE 7</a:t>
            </a:r>
            <a:endParaRPr lang="en-US" sz="1200" dirty="0"/>
          </a:p>
        </p:txBody>
      </p:sp>
      <p:sp>
        <p:nvSpPr>
          <p:cNvPr id="3" name="Text 1"/>
          <p:cNvSpPr txBox="1"/>
          <p:nvPr/>
        </p:nvSpPr>
        <p:spPr>
          <a:xfrm>
            <a:off x="548640" y="548640"/>
            <a:ext cx="9326880" cy="548640"/>
          </a:xfrm>
          <a:prstGeom prst="rect">
            <a:avLst/>
          </a:prstGeom>
          <a:noFill/>
          <a:ln/>
        </p:spPr>
        <p:txBody>
          <a:bodyPr wrap="square" lIns="508" tIns="508" rIns="508" bIns="508" rtlCol="0" anchor="ctr"/>
          <a:lstStyle/>
          <a:p>
            <a:pPr algn="l" indent="0" marL="0">
              <a:lnSpc>
                <a:spcPct val="100000"/>
              </a:lnSpc>
              <a:buNone/>
            </a:pPr>
            <a:r>
              <a:rPr lang="en-US" sz="2800" b="1" dirty="0">
                <a:solidFill>
                  <a:srgbClr val="80006B"/>
                </a:solidFill>
                <a:latin typeface="Calibri" pitchFamily="34" charset="0"/>
                <a:ea typeface="Calibri" pitchFamily="34" charset="-122"/>
                <a:cs typeface="Calibri" pitchFamily="34" charset="-120"/>
              </a:rPr>
              <a:t>Contexto religioso y temporal</a:t>
            </a:r>
            <a:endParaRPr lang="en-US" sz="2800" dirty="0"/>
          </a:p>
        </p:txBody>
      </p:sp>
      <p:sp>
        <p:nvSpPr>
          <p:cNvPr id="4" name="Shape 2"/>
          <p:cNvSpPr/>
          <p:nvPr/>
        </p:nvSpPr>
        <p:spPr>
          <a:xfrm>
            <a:off x="548640" y="1261872"/>
            <a:ext cx="11091672" cy="713232"/>
          </a:xfrm>
          <a:prstGeom prst="roundRect">
            <a:avLst>
              <a:gd name="adj" fmla="val 10256"/>
            </a:avLst>
          </a:prstGeom>
          <a:solidFill>
            <a:srgbClr val="F7EDF5"/>
          </a:solidFill>
          <a:ln/>
        </p:spPr>
      </p:sp>
      <p:sp>
        <p:nvSpPr>
          <p:cNvPr id="5" name="Text 3"/>
          <p:cNvSpPr txBox="1"/>
          <p:nvPr/>
        </p:nvSpPr>
        <p:spPr>
          <a:xfrm>
            <a:off x="731520" y="1261872"/>
            <a:ext cx="10725912" cy="713232"/>
          </a:xfrm>
          <a:prstGeom prst="rect">
            <a:avLst/>
          </a:prstGeom>
          <a:noFill/>
          <a:ln/>
        </p:spPr>
        <p:txBody>
          <a:bodyPr wrap="square" lIns="508" tIns="508" rIns="508" bIns="508" rtlCol="0" anchor="ctr"/>
          <a:lstStyle/>
          <a:p>
            <a:pPr algn="l" indent="0" marL="0">
              <a:lnSpc>
                <a:spcPct val="100000"/>
              </a:lnSpc>
              <a:buNone/>
            </a:pPr>
            <a:r>
              <a:rPr lang="en-US" sz="1300" b="1" dirty="0">
                <a:solidFill>
                  <a:srgbClr val="80006B"/>
                </a:solidFill>
                <a:latin typeface="Calibri" pitchFamily="34" charset="0"/>
                <a:ea typeface="Calibri" pitchFamily="34" charset="-122"/>
                <a:cs typeface="Calibri" pitchFamily="34" charset="-120"/>
              </a:rPr>
              <a:t>Observación del Comité  </a:t>
            </a:r>
            <a:pPr algn="l" indent="0" marL="0">
              <a:lnSpc>
                <a:spcPct val="100000"/>
              </a:lnSpc>
              <a:buNone/>
            </a:pPr>
            <a:r>
              <a:rPr lang="en-US" sz="1300" i="1" dirty="0">
                <a:solidFill>
                  <a:srgbClr val="262626"/>
                </a:solidFill>
                <a:latin typeface="Calibri" pitchFamily="34" charset="0"/>
                <a:ea typeface="Calibri" pitchFamily="34" charset="-122"/>
                <a:cs typeface="Calibri" pitchFamily="34" charset="-120"/>
              </a:rPr>
              <a:t>«Actualizar el marco teórico con la comunicación del 18 de septiembre de 2026 sobre decisiones individuales respecto de componentes sanguíneos, aclarando que es posterior al período estudiado (2020–2025)».</a:t>
            </a:r>
            <a:endParaRPr lang="en-US" sz="1300" dirty="0"/>
          </a:p>
        </p:txBody>
      </p:sp>
      <p:sp>
        <p:nvSpPr>
          <p:cNvPr id="6" name="Shape 4"/>
          <p:cNvSpPr/>
          <p:nvPr/>
        </p:nvSpPr>
        <p:spPr>
          <a:xfrm>
            <a:off x="548640" y="2148840"/>
            <a:ext cx="1691640" cy="310896"/>
          </a:xfrm>
          <a:prstGeom prst="roundRect">
            <a:avLst>
              <a:gd name="adj" fmla="val 147059"/>
            </a:avLst>
          </a:prstGeom>
          <a:solidFill>
            <a:srgbClr val="FF5F3F"/>
          </a:solidFill>
          <a:ln/>
        </p:spPr>
      </p:sp>
      <p:sp>
        <p:nvSpPr>
          <p:cNvPr id="7" name="Text 5"/>
          <p:cNvSpPr txBox="1"/>
          <p:nvPr/>
        </p:nvSpPr>
        <p:spPr>
          <a:xfrm>
            <a:off x="548640" y="2148840"/>
            <a:ext cx="1691640" cy="310896"/>
          </a:xfrm>
          <a:prstGeom prst="rect">
            <a:avLst/>
          </a:prstGeom>
          <a:noFill/>
          <a:ln/>
        </p:spPr>
        <p:txBody>
          <a:bodyPr wrap="square" lIns="0" tIns="0" rIns="0" bIns="0" rtlCol="0" anchor="ctr"/>
          <a:lstStyle/>
          <a:p>
            <a:pPr algn="ctr" indent="0" marL="0">
              <a:lnSpc>
                <a:spcPct val="100000"/>
              </a:lnSpc>
              <a:buNone/>
            </a:pPr>
            <a:r>
              <a:rPr lang="en-US" sz="1100" b="1" dirty="0">
                <a:solidFill>
                  <a:srgbClr val="FFFFFF"/>
                </a:solidFill>
                <a:latin typeface="Calibri" pitchFamily="34" charset="0"/>
                <a:ea typeface="Calibri" pitchFamily="34" charset="-122"/>
                <a:cs typeface="Calibri" pitchFamily="34" charset="-120"/>
              </a:rPr>
              <a:t>Se acoge</a:t>
            </a:r>
            <a:endParaRPr lang="en-US" sz="1100" dirty="0"/>
          </a:p>
        </p:txBody>
      </p:sp>
      <p:sp>
        <p:nvSpPr>
          <p:cNvPr id="8" name="Text 6"/>
          <p:cNvSpPr txBox="1"/>
          <p:nvPr/>
        </p:nvSpPr>
        <p:spPr>
          <a:xfrm>
            <a:off x="2377440" y="2121408"/>
            <a:ext cx="9262872" cy="384048"/>
          </a:xfrm>
          <a:prstGeom prst="rect">
            <a:avLst/>
          </a:prstGeom>
          <a:noFill/>
          <a:ln/>
        </p:spPr>
        <p:txBody>
          <a:bodyPr wrap="square" lIns="508" tIns="508" rIns="508" bIns="508" rtlCol="0" anchor="ctr"/>
          <a:lstStyle/>
          <a:p>
            <a:pPr algn="l" indent="0" marL="0">
              <a:lnSpc>
                <a:spcPct val="100000"/>
              </a:lnSpc>
              <a:buNone/>
            </a:pPr>
            <a:r>
              <a:rPr lang="en-US" sz="1500" dirty="0">
                <a:solidFill>
                  <a:srgbClr val="262626"/>
                </a:solidFill>
                <a:latin typeface="Calibri" pitchFamily="34" charset="0"/>
                <a:ea typeface="Calibri" pitchFamily="34" charset="-122"/>
                <a:cs typeface="Calibri" pitchFamily="34" charset="-120"/>
              </a:rPr>
              <a:t>Se actualizó el contexto en el marco teórico y se delimitó frente al periodo de estudio.</a:t>
            </a:r>
            <a:endParaRPr lang="en-US" sz="1500" dirty="0"/>
          </a:p>
        </p:txBody>
      </p:sp>
      <p:sp>
        <p:nvSpPr>
          <p:cNvPr id="9" name="Shape 7"/>
          <p:cNvSpPr/>
          <p:nvPr/>
        </p:nvSpPr>
        <p:spPr>
          <a:xfrm>
            <a:off x="548640" y="3154680"/>
            <a:ext cx="11091672" cy="54864"/>
          </a:xfrm>
          <a:prstGeom prst="rect">
            <a:avLst/>
          </a:prstGeom>
          <a:solidFill>
            <a:srgbClr val="CFCFCF"/>
          </a:solidFill>
          <a:ln/>
        </p:spPr>
      </p:sp>
      <p:sp>
        <p:nvSpPr>
          <p:cNvPr id="10" name="Shape 8"/>
          <p:cNvSpPr/>
          <p:nvPr/>
        </p:nvSpPr>
        <p:spPr>
          <a:xfrm>
            <a:off x="548640" y="3044952"/>
            <a:ext cx="6035040" cy="274320"/>
          </a:xfrm>
          <a:prstGeom prst="roundRect">
            <a:avLst>
              <a:gd name="adj" fmla="val 166667"/>
            </a:avLst>
          </a:prstGeom>
          <a:solidFill>
            <a:srgbClr val="80006B"/>
          </a:solidFill>
          <a:ln/>
        </p:spPr>
      </p:sp>
      <p:sp>
        <p:nvSpPr>
          <p:cNvPr id="11" name="Text 9"/>
          <p:cNvSpPr txBox="1"/>
          <p:nvPr/>
        </p:nvSpPr>
        <p:spPr>
          <a:xfrm>
            <a:off x="548640" y="2587752"/>
            <a:ext cx="6035040" cy="365760"/>
          </a:xfrm>
          <a:prstGeom prst="rect">
            <a:avLst/>
          </a:prstGeom>
          <a:noFill/>
          <a:ln/>
        </p:spPr>
        <p:txBody>
          <a:bodyPr wrap="square" lIns="508" tIns="508" rIns="508" bIns="508" rtlCol="0" anchor="t"/>
          <a:lstStyle/>
          <a:p>
            <a:pPr algn="ctr" indent="0" marL="0">
              <a:lnSpc>
                <a:spcPct val="100000"/>
              </a:lnSpc>
              <a:buNone/>
            </a:pPr>
            <a:r>
              <a:rPr lang="en-US" sz="1500" b="1" dirty="0">
                <a:solidFill>
                  <a:srgbClr val="80006B"/>
                </a:solidFill>
                <a:latin typeface="Calibri" pitchFamily="34" charset="0"/>
                <a:ea typeface="Calibri" pitchFamily="34" charset="-122"/>
                <a:cs typeface="Calibri" pitchFamily="34" charset="-120"/>
              </a:rPr>
              <a:t>Periodo del estudio · 2020–2025</a:t>
            </a:r>
            <a:endParaRPr lang="en-US" sz="1500" dirty="0"/>
          </a:p>
        </p:txBody>
      </p:sp>
      <p:sp>
        <p:nvSpPr>
          <p:cNvPr id="12" name="Text 10"/>
          <p:cNvSpPr txBox="1"/>
          <p:nvPr/>
        </p:nvSpPr>
        <p:spPr>
          <a:xfrm>
            <a:off x="731520" y="3429000"/>
            <a:ext cx="5669280" cy="731520"/>
          </a:xfrm>
          <a:prstGeom prst="rect">
            <a:avLst/>
          </a:prstGeom>
          <a:noFill/>
          <a:ln/>
        </p:spPr>
        <p:txBody>
          <a:bodyPr wrap="square" lIns="508" tIns="508" rIns="508" bIns="508" rtlCol="0" anchor="t"/>
          <a:lstStyle/>
          <a:p>
            <a:pPr algn="ctr" indent="0" marL="0">
              <a:lnSpc>
                <a:spcPct val="100000"/>
              </a:lnSpc>
              <a:buNone/>
            </a:pPr>
            <a:r>
              <a:rPr lang="en-US" sz="1250" dirty="0">
                <a:solidFill>
                  <a:srgbClr val="262626"/>
                </a:solidFill>
                <a:latin typeface="Calibri" pitchFamily="34" charset="0"/>
                <a:ea typeface="Calibri" pitchFamily="34" charset="-122"/>
                <a:cs typeface="Calibri" pitchFamily="34" charset="-120"/>
              </a:rPr>
              <a:t>Se rechazaban la sangre completa y sus cuatro componentes principales; fracciones y técnicas autólogas en circuito continuo eran decisión individual.</a:t>
            </a:r>
            <a:endParaRPr lang="en-US" sz="1250" dirty="0"/>
          </a:p>
        </p:txBody>
      </p:sp>
      <p:sp>
        <p:nvSpPr>
          <p:cNvPr id="13" name="Shape 11"/>
          <p:cNvSpPr/>
          <p:nvPr/>
        </p:nvSpPr>
        <p:spPr>
          <a:xfrm>
            <a:off x="7635240" y="2999232"/>
            <a:ext cx="365760" cy="365760"/>
          </a:xfrm>
          <a:prstGeom prst="ellipse">
            <a:avLst/>
          </a:prstGeom>
          <a:solidFill>
            <a:srgbClr val="FF5F3F"/>
          </a:solidFill>
          <a:ln w="25400">
            <a:solidFill>
              <a:srgbClr val="FFFFFF"/>
            </a:solidFill>
            <a:prstDash val="solid"/>
          </a:ln>
        </p:spPr>
      </p:sp>
      <p:sp>
        <p:nvSpPr>
          <p:cNvPr id="14" name="Text 12"/>
          <p:cNvSpPr txBox="1"/>
          <p:nvPr/>
        </p:nvSpPr>
        <p:spPr>
          <a:xfrm>
            <a:off x="6812280" y="2587752"/>
            <a:ext cx="2011680" cy="365760"/>
          </a:xfrm>
          <a:prstGeom prst="rect">
            <a:avLst/>
          </a:prstGeom>
          <a:noFill/>
          <a:ln/>
        </p:spPr>
        <p:txBody>
          <a:bodyPr wrap="square" lIns="508" tIns="508" rIns="508" bIns="508" rtlCol="0" anchor="t"/>
          <a:lstStyle/>
          <a:p>
            <a:pPr algn="ctr" indent="0" marL="0">
              <a:lnSpc>
                <a:spcPct val="100000"/>
              </a:lnSpc>
              <a:buNone/>
            </a:pPr>
            <a:r>
              <a:rPr lang="en-US" sz="1500" b="1" dirty="0">
                <a:solidFill>
                  <a:srgbClr val="FF5F3F"/>
                </a:solidFill>
                <a:latin typeface="Calibri" pitchFamily="34" charset="0"/>
                <a:ea typeface="Calibri" pitchFamily="34" charset="-122"/>
                <a:cs typeface="Calibri" pitchFamily="34" charset="-120"/>
              </a:rPr>
              <a:t>20 mar 2026</a:t>
            </a:r>
            <a:endParaRPr lang="en-US" sz="1500" dirty="0"/>
          </a:p>
        </p:txBody>
      </p:sp>
      <p:sp>
        <p:nvSpPr>
          <p:cNvPr id="15" name="Text 13"/>
          <p:cNvSpPr txBox="1"/>
          <p:nvPr/>
        </p:nvSpPr>
        <p:spPr>
          <a:xfrm>
            <a:off x="6766560" y="3429000"/>
            <a:ext cx="2103120" cy="868680"/>
          </a:xfrm>
          <a:prstGeom prst="rect">
            <a:avLst/>
          </a:prstGeom>
          <a:noFill/>
          <a:ln/>
        </p:spPr>
        <p:txBody>
          <a:bodyPr wrap="square" lIns="508" tIns="508" rIns="508" bIns="508" rtlCol="0" anchor="t"/>
          <a:lstStyle/>
          <a:p>
            <a:pPr algn="ctr" indent="0" marL="0">
              <a:lnSpc>
                <a:spcPct val="100000"/>
              </a:lnSpc>
              <a:buNone/>
            </a:pPr>
            <a:r>
              <a:rPr lang="en-US" sz="1200" dirty="0">
                <a:solidFill>
                  <a:srgbClr val="262626"/>
                </a:solidFill>
                <a:latin typeface="Calibri" pitchFamily="34" charset="0"/>
                <a:ea typeface="Calibri" pitchFamily="34" charset="-122"/>
                <a:cs typeface="Calibri" pitchFamily="34" charset="-120"/>
              </a:rPr>
              <a:t>Sangre propia almacenada: decisión individual</a:t>
            </a:r>
            <a:endParaRPr lang="en-US" sz="1200" dirty="0"/>
          </a:p>
        </p:txBody>
      </p:sp>
      <p:sp>
        <p:nvSpPr>
          <p:cNvPr id="16" name="Shape 14"/>
          <p:cNvSpPr/>
          <p:nvPr/>
        </p:nvSpPr>
        <p:spPr>
          <a:xfrm>
            <a:off x="9875520" y="2999232"/>
            <a:ext cx="365760" cy="365760"/>
          </a:xfrm>
          <a:prstGeom prst="ellipse">
            <a:avLst/>
          </a:prstGeom>
          <a:solidFill>
            <a:srgbClr val="FF5F3F"/>
          </a:solidFill>
          <a:ln w="25400">
            <a:solidFill>
              <a:srgbClr val="FFFFFF"/>
            </a:solidFill>
            <a:prstDash val="solid"/>
          </a:ln>
        </p:spPr>
      </p:sp>
      <p:sp>
        <p:nvSpPr>
          <p:cNvPr id="17" name="Text 15"/>
          <p:cNvSpPr txBox="1"/>
          <p:nvPr/>
        </p:nvSpPr>
        <p:spPr>
          <a:xfrm>
            <a:off x="9052560" y="2587752"/>
            <a:ext cx="2011680" cy="365760"/>
          </a:xfrm>
          <a:prstGeom prst="rect">
            <a:avLst/>
          </a:prstGeom>
          <a:noFill/>
          <a:ln/>
        </p:spPr>
        <p:txBody>
          <a:bodyPr wrap="square" lIns="508" tIns="508" rIns="508" bIns="508" rtlCol="0" anchor="t"/>
          <a:lstStyle/>
          <a:p>
            <a:pPr algn="ctr" indent="0" marL="0">
              <a:lnSpc>
                <a:spcPct val="100000"/>
              </a:lnSpc>
              <a:buNone/>
            </a:pPr>
            <a:r>
              <a:rPr lang="en-US" sz="1500" b="1" dirty="0">
                <a:solidFill>
                  <a:srgbClr val="FF5F3F"/>
                </a:solidFill>
                <a:latin typeface="Calibri" pitchFamily="34" charset="0"/>
                <a:ea typeface="Calibri" pitchFamily="34" charset="-122"/>
                <a:cs typeface="Calibri" pitchFamily="34" charset="-120"/>
              </a:rPr>
              <a:t>18 sep 2026</a:t>
            </a:r>
            <a:endParaRPr lang="en-US" sz="1500" dirty="0"/>
          </a:p>
        </p:txBody>
      </p:sp>
      <p:sp>
        <p:nvSpPr>
          <p:cNvPr id="18" name="Text 16"/>
          <p:cNvSpPr txBox="1"/>
          <p:nvPr/>
        </p:nvSpPr>
        <p:spPr>
          <a:xfrm>
            <a:off x="9006840" y="3429000"/>
            <a:ext cx="2103120" cy="868680"/>
          </a:xfrm>
          <a:prstGeom prst="rect">
            <a:avLst/>
          </a:prstGeom>
          <a:noFill/>
          <a:ln/>
        </p:spPr>
        <p:txBody>
          <a:bodyPr wrap="square" lIns="508" tIns="508" rIns="508" bIns="508" rtlCol="0" anchor="t"/>
          <a:lstStyle/>
          <a:p>
            <a:pPr algn="ctr" indent="0" marL="0">
              <a:lnSpc>
                <a:spcPct val="100000"/>
              </a:lnSpc>
              <a:buNone/>
            </a:pPr>
            <a:r>
              <a:rPr lang="en-US" sz="1200" dirty="0">
                <a:solidFill>
                  <a:srgbClr val="262626"/>
                </a:solidFill>
                <a:latin typeface="Calibri" pitchFamily="34" charset="0"/>
                <a:ea typeface="Calibri" pitchFamily="34" charset="-122"/>
                <a:cs typeface="Calibri" pitchFamily="34" charset="-120"/>
              </a:rPr>
              <a:t>Componentes principales: decisión de conciencia; se mantiene el rechazo de sangre completa</a:t>
            </a:r>
            <a:endParaRPr lang="en-US" sz="1200" dirty="0"/>
          </a:p>
        </p:txBody>
      </p:sp>
      <p:sp>
        <p:nvSpPr>
          <p:cNvPr id="19" name="Shape 17"/>
          <p:cNvSpPr/>
          <p:nvPr/>
        </p:nvSpPr>
        <p:spPr>
          <a:xfrm>
            <a:off x="548640" y="4343400"/>
            <a:ext cx="3575304" cy="1325880"/>
          </a:xfrm>
          <a:prstGeom prst="roundRect">
            <a:avLst>
              <a:gd name="adj" fmla="val 5517"/>
            </a:avLst>
          </a:prstGeom>
          <a:solidFill>
            <a:srgbClr val="F7EDF5"/>
          </a:solidFill>
          <a:ln/>
        </p:spPr>
      </p:sp>
      <p:sp>
        <p:nvSpPr>
          <p:cNvPr id="20" name="Text 18"/>
          <p:cNvSpPr txBox="1"/>
          <p:nvPr/>
        </p:nvSpPr>
        <p:spPr>
          <a:xfrm>
            <a:off x="731520" y="4434840"/>
            <a:ext cx="3209544" cy="365760"/>
          </a:xfrm>
          <a:prstGeom prst="rect">
            <a:avLst/>
          </a:prstGeom>
          <a:noFill/>
          <a:ln/>
        </p:spPr>
        <p:txBody>
          <a:bodyPr wrap="square" lIns="508" tIns="508" rIns="508" bIns="508" rtlCol="0" anchor="t"/>
          <a:lstStyle/>
          <a:p>
            <a:pPr algn="l" indent="0" marL="0">
              <a:lnSpc>
                <a:spcPct val="100000"/>
              </a:lnSpc>
              <a:buNone/>
            </a:pPr>
            <a:r>
              <a:rPr lang="en-US" sz="1500" b="1" dirty="0">
                <a:solidFill>
                  <a:srgbClr val="80006B"/>
                </a:solidFill>
                <a:latin typeface="Calibri" pitchFamily="34" charset="0"/>
                <a:ea typeface="Calibri" pitchFamily="34" charset="-122"/>
                <a:cs typeface="Calibri" pitchFamily="34" charset="-120"/>
              </a:rPr>
              <a:t>No cambia la elegibilidad</a:t>
            </a:r>
            <a:endParaRPr lang="en-US" sz="1500" dirty="0"/>
          </a:p>
        </p:txBody>
      </p:sp>
      <p:sp>
        <p:nvSpPr>
          <p:cNvPr id="21" name="Text 19"/>
          <p:cNvSpPr txBox="1"/>
          <p:nvPr/>
        </p:nvSpPr>
        <p:spPr>
          <a:xfrm>
            <a:off x="731520" y="4800600"/>
            <a:ext cx="3209544" cy="822960"/>
          </a:xfrm>
          <a:prstGeom prst="rect">
            <a:avLst/>
          </a:prstGeom>
          <a:noFill/>
          <a:ln/>
        </p:spPr>
        <p:txBody>
          <a:bodyPr wrap="square" lIns="508" tIns="508" rIns="508" bIns="508" rtlCol="0" anchor="t"/>
          <a:lstStyle/>
          <a:p>
            <a:pPr algn="l" indent="0" marL="0">
              <a:lnSpc>
                <a:spcPct val="100000"/>
              </a:lnSpc>
              <a:buNone/>
            </a:pPr>
            <a:r>
              <a:rPr lang="en-US" sz="1250" dirty="0">
                <a:solidFill>
                  <a:srgbClr val="262626"/>
                </a:solidFill>
                <a:latin typeface="Calibri" pitchFamily="34" charset="0"/>
                <a:ea typeface="Calibri" pitchFamily="34" charset="-122"/>
                <a:cs typeface="Calibri" pitchFamily="34" charset="-120"/>
              </a:rPr>
              <a:t>Depende de la negativa individual registrada antes de la cirugía índice, no de la doctrina vigente.</a:t>
            </a:r>
            <a:endParaRPr lang="en-US" sz="1250" dirty="0"/>
          </a:p>
        </p:txBody>
      </p:sp>
      <p:sp>
        <p:nvSpPr>
          <p:cNvPr id="22" name="Shape 20"/>
          <p:cNvSpPr/>
          <p:nvPr/>
        </p:nvSpPr>
        <p:spPr>
          <a:xfrm>
            <a:off x="4306824" y="4343400"/>
            <a:ext cx="3575304" cy="1325880"/>
          </a:xfrm>
          <a:prstGeom prst="roundRect">
            <a:avLst>
              <a:gd name="adj" fmla="val 5517"/>
            </a:avLst>
          </a:prstGeom>
          <a:solidFill>
            <a:srgbClr val="F7EDF5"/>
          </a:solidFill>
          <a:ln/>
        </p:spPr>
      </p:sp>
      <p:sp>
        <p:nvSpPr>
          <p:cNvPr id="23" name="Text 21"/>
          <p:cNvSpPr txBox="1"/>
          <p:nvPr/>
        </p:nvSpPr>
        <p:spPr>
          <a:xfrm>
            <a:off x="4489704" y="4434840"/>
            <a:ext cx="3209544" cy="365760"/>
          </a:xfrm>
          <a:prstGeom prst="rect">
            <a:avLst/>
          </a:prstGeom>
          <a:noFill/>
          <a:ln/>
        </p:spPr>
        <p:txBody>
          <a:bodyPr wrap="square" lIns="508" tIns="508" rIns="508" bIns="508" rtlCol="0" anchor="t"/>
          <a:lstStyle/>
          <a:p>
            <a:pPr algn="l" indent="0" marL="0">
              <a:lnSpc>
                <a:spcPct val="100000"/>
              </a:lnSpc>
              <a:buNone/>
            </a:pPr>
            <a:r>
              <a:rPr lang="en-US" sz="1500" b="1" dirty="0">
                <a:solidFill>
                  <a:srgbClr val="80006B"/>
                </a:solidFill>
                <a:latin typeface="Calibri" pitchFamily="34" charset="0"/>
                <a:ea typeface="Calibri" pitchFamily="34" charset="-122"/>
                <a:cs typeface="Calibri" pitchFamily="34" charset="-120"/>
              </a:rPr>
              <a:t>Delimita la validez temporal</a:t>
            </a:r>
            <a:endParaRPr lang="en-US" sz="1500" dirty="0"/>
          </a:p>
        </p:txBody>
      </p:sp>
      <p:sp>
        <p:nvSpPr>
          <p:cNvPr id="24" name="Text 22"/>
          <p:cNvSpPr txBox="1"/>
          <p:nvPr/>
        </p:nvSpPr>
        <p:spPr>
          <a:xfrm>
            <a:off x="4489704" y="4800600"/>
            <a:ext cx="3209544" cy="822960"/>
          </a:xfrm>
          <a:prstGeom prst="rect">
            <a:avLst/>
          </a:prstGeom>
          <a:noFill/>
          <a:ln/>
        </p:spPr>
        <p:txBody>
          <a:bodyPr wrap="square" lIns="508" tIns="508" rIns="508" bIns="508" rtlCol="0" anchor="t"/>
          <a:lstStyle/>
          <a:p>
            <a:pPr algn="l" indent="0" marL="0">
              <a:lnSpc>
                <a:spcPct val="100000"/>
              </a:lnSpc>
              <a:buNone/>
            </a:pPr>
            <a:r>
              <a:rPr lang="en-US" sz="1250" dirty="0">
                <a:solidFill>
                  <a:srgbClr val="262626"/>
                </a:solidFill>
                <a:latin typeface="Calibri" pitchFamily="34" charset="0"/>
                <a:ea typeface="Calibri" pitchFamily="34" charset="-122"/>
                <a:cs typeface="Calibri" pitchFamily="34" charset="-120"/>
              </a:rPr>
              <a:t>Los resultados no se extrapolarán a pacientes atendidos después de septiembre de 2026.</a:t>
            </a:r>
            <a:endParaRPr lang="en-US" sz="1250" dirty="0"/>
          </a:p>
        </p:txBody>
      </p:sp>
      <p:sp>
        <p:nvSpPr>
          <p:cNvPr id="25" name="Shape 23"/>
          <p:cNvSpPr/>
          <p:nvPr/>
        </p:nvSpPr>
        <p:spPr>
          <a:xfrm>
            <a:off x="8065008" y="4343400"/>
            <a:ext cx="3575304" cy="1325880"/>
          </a:xfrm>
          <a:prstGeom prst="roundRect">
            <a:avLst>
              <a:gd name="adj" fmla="val 5517"/>
            </a:avLst>
          </a:prstGeom>
          <a:solidFill>
            <a:srgbClr val="F7EDF5"/>
          </a:solidFill>
          <a:ln/>
        </p:spPr>
      </p:sp>
      <p:sp>
        <p:nvSpPr>
          <p:cNvPr id="26" name="Text 24"/>
          <p:cNvSpPr txBox="1"/>
          <p:nvPr/>
        </p:nvSpPr>
        <p:spPr>
          <a:xfrm>
            <a:off x="8247888" y="4434840"/>
            <a:ext cx="3209544" cy="365760"/>
          </a:xfrm>
          <a:prstGeom prst="rect">
            <a:avLst/>
          </a:prstGeom>
          <a:noFill/>
          <a:ln/>
        </p:spPr>
        <p:txBody>
          <a:bodyPr wrap="square" lIns="508" tIns="508" rIns="508" bIns="508" rtlCol="0" anchor="t"/>
          <a:lstStyle/>
          <a:p>
            <a:pPr algn="l" indent="0" marL="0">
              <a:lnSpc>
                <a:spcPct val="100000"/>
              </a:lnSpc>
              <a:buNone/>
            </a:pPr>
            <a:r>
              <a:rPr lang="en-US" sz="1500" b="1" dirty="0">
                <a:solidFill>
                  <a:srgbClr val="80006B"/>
                </a:solidFill>
                <a:latin typeface="Calibri" pitchFamily="34" charset="0"/>
                <a:ea typeface="Calibri" pitchFamily="34" charset="-122"/>
                <a:cs typeface="Calibri" pitchFamily="34" charset="-120"/>
              </a:rPr>
              <a:t>Cohorte histórica</a:t>
            </a:r>
            <a:endParaRPr lang="en-US" sz="1500" dirty="0"/>
          </a:p>
        </p:txBody>
      </p:sp>
      <p:sp>
        <p:nvSpPr>
          <p:cNvPr id="27" name="Text 25"/>
          <p:cNvSpPr txBox="1"/>
          <p:nvPr/>
        </p:nvSpPr>
        <p:spPr>
          <a:xfrm>
            <a:off x="8247888" y="4800600"/>
            <a:ext cx="3209544" cy="822960"/>
          </a:xfrm>
          <a:prstGeom prst="rect">
            <a:avLst/>
          </a:prstGeom>
          <a:noFill/>
          <a:ln/>
        </p:spPr>
        <p:txBody>
          <a:bodyPr wrap="square" lIns="508" tIns="508" rIns="508" bIns="508" rtlCol="0" anchor="t"/>
          <a:lstStyle/>
          <a:p>
            <a:pPr algn="l" indent="0" marL="0">
              <a:lnSpc>
                <a:spcPct val="100000"/>
              </a:lnSpc>
              <a:buNone/>
            </a:pPr>
            <a:r>
              <a:rPr lang="en-US" sz="1250" dirty="0">
                <a:solidFill>
                  <a:srgbClr val="262626"/>
                </a:solidFill>
                <a:latin typeface="Calibri" pitchFamily="34" charset="0"/>
                <a:ea typeface="Calibri" pitchFamily="34" charset="-122"/>
                <a:cs typeface="Calibri" pitchFamily="34" charset="-120"/>
              </a:rPr>
              <a:t>Documenta un periodo cerrado y refuerza la distinción entre afiliación y decisión clínica.</a:t>
            </a:r>
            <a:endParaRPr lang="en-US" sz="1250" dirty="0"/>
          </a:p>
        </p:txBody>
      </p:sp>
      <p:sp>
        <p:nvSpPr>
          <p:cNvPr id="28" name="Text 26"/>
          <p:cNvSpPr txBox="1"/>
          <p:nvPr/>
        </p:nvSpPr>
        <p:spPr>
          <a:xfrm>
            <a:off x="548640" y="5833872"/>
            <a:ext cx="11091672" cy="292608"/>
          </a:xfrm>
          <a:prstGeom prst="rect">
            <a:avLst/>
          </a:prstGeom>
          <a:noFill/>
          <a:ln/>
        </p:spPr>
        <p:txBody>
          <a:bodyPr wrap="square" lIns="508" tIns="508" rIns="508" bIns="508" rtlCol="0" anchor="ctr"/>
          <a:lstStyle/>
          <a:p>
            <a:pPr algn="l" indent="0" marL="0">
              <a:lnSpc>
                <a:spcPct val="100000"/>
              </a:lnSpc>
              <a:buNone/>
            </a:pPr>
            <a:r>
              <a:rPr lang="en-US" sz="1200" b="1" dirty="0">
                <a:solidFill>
                  <a:srgbClr val="80006B"/>
                </a:solidFill>
                <a:latin typeface="Calibri" pitchFamily="34" charset="0"/>
                <a:ea typeface="Calibri" pitchFamily="34" charset="-122"/>
                <a:cs typeface="Calibri" pitchFamily="34" charset="-120"/>
              </a:rPr>
              <a:t>Dónde está en el protocolo v2.0:  </a:t>
            </a:r>
            <a:pPr algn="l" indent="0" marL="0">
              <a:lnSpc>
                <a:spcPct val="100000"/>
              </a:lnSpc>
              <a:buNone/>
            </a:pPr>
            <a:r>
              <a:rPr lang="en-US" sz="1200" dirty="0">
                <a:solidFill>
                  <a:srgbClr val="6B6B6B"/>
                </a:solidFill>
                <a:latin typeface="Calibri" pitchFamily="34" charset="0"/>
                <a:ea typeface="Calibri" pitchFamily="34" charset="-122"/>
                <a:cs typeface="Calibri" pitchFamily="34" charset="-120"/>
              </a:rPr>
              <a:t>p. 6 · numeral 2.1.5, p. 18 · numeral 3.7.1, p. 35 · numeral 3.9.2, p. 43 · referencias 51–53</a:t>
            </a:r>
            <a:endParaRPr lang="en-US" sz="1200" dirty="0"/>
          </a:p>
        </p:txBody>
      </p:sp>
      <p:sp>
        <p:nvSpPr>
          <p:cNvPr id="25" name="Slide Number Placeholder 0"/>
          <p:cNvSpPr>
            <a:spLocks noGrp="1"/>
          </p:cNvSpPr>
          <p:nvPr>
            <p:ph type="sldNum" sz="quarter" idx="4294967295"/>
          </p:nvPr>
        </p:nvSpPr>
        <p:spPr>
          <a:xfrm>
            <a:off x="11201400" y="635508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292608"/>
            <a:ext cx="8686800" cy="274320"/>
          </a:xfrm>
          <a:prstGeom prst="rect">
            <a:avLst/>
          </a:prstGeom>
          <a:noFill/>
          <a:ln/>
        </p:spPr>
        <p:txBody>
          <a:bodyPr wrap="square" lIns="508" tIns="508" rIns="508" bIns="508" rtlCol="0" anchor="t"/>
          <a:lstStyle/>
          <a:p>
            <a:pPr algn="l" indent="0" marL="0">
              <a:lnSpc>
                <a:spcPct val="100000"/>
              </a:lnSpc>
              <a:buNone/>
            </a:pPr>
            <a:r>
              <a:rPr lang="en-US" sz="1200" b="1" dirty="0">
                <a:solidFill>
                  <a:srgbClr val="FF5F3F"/>
                </a:solidFill>
                <a:latin typeface="Calibri" pitchFamily="34" charset="0"/>
                <a:ea typeface="Calibri" pitchFamily="34" charset="-122"/>
                <a:cs typeface="Calibri" pitchFamily="34" charset="-120"/>
              </a:rPr>
              <a:t>OBSERVACIÓN 4 DE 7</a:t>
            </a:r>
            <a:endParaRPr lang="en-US" sz="1200" dirty="0"/>
          </a:p>
        </p:txBody>
      </p:sp>
      <p:sp>
        <p:nvSpPr>
          <p:cNvPr id="3" name="Text 1"/>
          <p:cNvSpPr txBox="1"/>
          <p:nvPr/>
        </p:nvSpPr>
        <p:spPr>
          <a:xfrm>
            <a:off x="548640" y="548640"/>
            <a:ext cx="9326880" cy="548640"/>
          </a:xfrm>
          <a:prstGeom prst="rect">
            <a:avLst/>
          </a:prstGeom>
          <a:noFill/>
          <a:ln/>
        </p:spPr>
        <p:txBody>
          <a:bodyPr wrap="square" lIns="508" tIns="508" rIns="508" bIns="508" rtlCol="0" anchor="ctr"/>
          <a:lstStyle/>
          <a:p>
            <a:pPr algn="l" indent="0" marL="0">
              <a:lnSpc>
                <a:spcPct val="100000"/>
              </a:lnSpc>
              <a:buNone/>
            </a:pPr>
            <a:r>
              <a:rPr lang="en-US" sz="2800" b="1" dirty="0">
                <a:solidFill>
                  <a:srgbClr val="80006B"/>
                </a:solidFill>
                <a:latin typeface="Calibri" pitchFamily="34" charset="0"/>
                <a:ea typeface="Calibri" pitchFamily="34" charset="-122"/>
                <a:cs typeface="Calibri" pitchFamily="34" charset="-120"/>
              </a:rPr>
              <a:t>Clasificación del riesgo</a:t>
            </a:r>
            <a:endParaRPr lang="en-US" sz="2800" dirty="0"/>
          </a:p>
        </p:txBody>
      </p:sp>
      <p:sp>
        <p:nvSpPr>
          <p:cNvPr id="4" name="Shape 2"/>
          <p:cNvSpPr/>
          <p:nvPr/>
        </p:nvSpPr>
        <p:spPr>
          <a:xfrm>
            <a:off x="548640" y="1261872"/>
            <a:ext cx="11091672" cy="713232"/>
          </a:xfrm>
          <a:prstGeom prst="roundRect">
            <a:avLst>
              <a:gd name="adj" fmla="val 10256"/>
            </a:avLst>
          </a:prstGeom>
          <a:solidFill>
            <a:srgbClr val="F7EDF5"/>
          </a:solidFill>
          <a:ln/>
        </p:spPr>
      </p:sp>
      <p:sp>
        <p:nvSpPr>
          <p:cNvPr id="5" name="Text 3"/>
          <p:cNvSpPr txBox="1"/>
          <p:nvPr/>
        </p:nvSpPr>
        <p:spPr>
          <a:xfrm>
            <a:off x="731520" y="1261872"/>
            <a:ext cx="10725912" cy="713232"/>
          </a:xfrm>
          <a:prstGeom prst="rect">
            <a:avLst/>
          </a:prstGeom>
          <a:noFill/>
          <a:ln/>
        </p:spPr>
        <p:txBody>
          <a:bodyPr wrap="square" lIns="508" tIns="508" rIns="508" bIns="508" rtlCol="0" anchor="ctr"/>
          <a:lstStyle/>
          <a:p>
            <a:pPr algn="l" indent="0" marL="0">
              <a:lnSpc>
                <a:spcPct val="100000"/>
              </a:lnSpc>
              <a:buNone/>
            </a:pPr>
            <a:r>
              <a:rPr lang="en-US" sz="1300" b="1" dirty="0">
                <a:solidFill>
                  <a:srgbClr val="80006B"/>
                </a:solidFill>
                <a:latin typeface="Calibri" pitchFamily="34" charset="0"/>
                <a:ea typeface="Calibri" pitchFamily="34" charset="-122"/>
                <a:cs typeface="Calibri" pitchFamily="34" charset="-120"/>
              </a:rPr>
              <a:t>Observación del Comité  </a:t>
            </a:r>
            <a:pPr algn="l" indent="0" marL="0">
              <a:lnSpc>
                <a:spcPct val="100000"/>
              </a:lnSpc>
              <a:buNone/>
            </a:pPr>
            <a:r>
              <a:rPr lang="en-US" sz="1300" i="1" dirty="0">
                <a:solidFill>
                  <a:srgbClr val="262626"/>
                </a:solidFill>
                <a:latin typeface="Calibri" pitchFamily="34" charset="0"/>
                <a:ea typeface="Calibri" pitchFamily="34" charset="-122"/>
                <a:cs typeface="Calibri" pitchFamily="34" charset="-120"/>
              </a:rPr>
              <a:t>«Sustentar la clasificación del riesgo y la eventual dispensa del consentimiento informado conforme a la Resolución 8430 de 1993, sin asumir que la naturaleza retrospectiva concede una dispensa automática».</a:t>
            </a:r>
            <a:endParaRPr lang="en-US" sz="1300" dirty="0"/>
          </a:p>
        </p:txBody>
      </p:sp>
      <p:sp>
        <p:nvSpPr>
          <p:cNvPr id="6" name="Shape 4"/>
          <p:cNvSpPr/>
          <p:nvPr/>
        </p:nvSpPr>
        <p:spPr>
          <a:xfrm>
            <a:off x="548640" y="2148840"/>
            <a:ext cx="1691640" cy="310896"/>
          </a:xfrm>
          <a:prstGeom prst="roundRect">
            <a:avLst>
              <a:gd name="adj" fmla="val 147059"/>
            </a:avLst>
          </a:prstGeom>
          <a:solidFill>
            <a:srgbClr val="FF5F3F"/>
          </a:solidFill>
          <a:ln/>
        </p:spPr>
      </p:sp>
      <p:sp>
        <p:nvSpPr>
          <p:cNvPr id="7" name="Text 5"/>
          <p:cNvSpPr txBox="1"/>
          <p:nvPr/>
        </p:nvSpPr>
        <p:spPr>
          <a:xfrm>
            <a:off x="548640" y="2148840"/>
            <a:ext cx="1691640" cy="310896"/>
          </a:xfrm>
          <a:prstGeom prst="rect">
            <a:avLst/>
          </a:prstGeom>
          <a:noFill/>
          <a:ln/>
        </p:spPr>
        <p:txBody>
          <a:bodyPr wrap="square" lIns="0" tIns="0" rIns="0" bIns="0" rtlCol="0" anchor="ctr"/>
          <a:lstStyle/>
          <a:p>
            <a:pPr algn="ctr" indent="0" marL="0">
              <a:lnSpc>
                <a:spcPct val="100000"/>
              </a:lnSpc>
              <a:buNone/>
            </a:pPr>
            <a:r>
              <a:rPr lang="en-US" sz="1100" b="1" dirty="0">
                <a:solidFill>
                  <a:srgbClr val="FFFFFF"/>
                </a:solidFill>
                <a:latin typeface="Calibri" pitchFamily="34" charset="0"/>
                <a:ea typeface="Calibri" pitchFamily="34" charset="-122"/>
                <a:cs typeface="Calibri" pitchFamily="34" charset="-120"/>
              </a:rPr>
              <a:t>Se acoge</a:t>
            </a:r>
            <a:endParaRPr lang="en-US" sz="1100" dirty="0"/>
          </a:p>
        </p:txBody>
      </p:sp>
      <p:sp>
        <p:nvSpPr>
          <p:cNvPr id="8" name="Text 6"/>
          <p:cNvSpPr txBox="1"/>
          <p:nvPr/>
        </p:nvSpPr>
        <p:spPr>
          <a:xfrm>
            <a:off x="2377440" y="2121408"/>
            <a:ext cx="9262872" cy="384048"/>
          </a:xfrm>
          <a:prstGeom prst="rect">
            <a:avLst/>
          </a:prstGeom>
          <a:noFill/>
          <a:ln/>
        </p:spPr>
        <p:txBody>
          <a:bodyPr wrap="square" lIns="508" tIns="508" rIns="508" bIns="508" rtlCol="0" anchor="ctr"/>
          <a:lstStyle/>
          <a:p>
            <a:pPr algn="l" indent="0" marL="0">
              <a:lnSpc>
                <a:spcPct val="100000"/>
              </a:lnSpc>
              <a:buNone/>
            </a:pPr>
            <a:r>
              <a:rPr lang="en-US" sz="1500" dirty="0">
                <a:solidFill>
                  <a:srgbClr val="262626"/>
                </a:solidFill>
                <a:latin typeface="Calibri" pitchFamily="34" charset="0"/>
                <a:ea typeface="Calibri" pitchFamily="34" charset="-122"/>
                <a:cs typeface="Calibri" pitchFamily="34" charset="-120"/>
              </a:rPr>
              <a:t>El carácter retrospectivo no se presume suficiente: riesgo y dispensa se sustentan por separado, sujetos a la valoración del Comité.</a:t>
            </a:r>
            <a:endParaRPr lang="en-US" sz="15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2697480"/>
          <a:ext cx="7589520" cy="914400"/>
        </p:xfrm>
        <a:graphic>
          <a:graphicData uri="http://schemas.openxmlformats.org/drawingml/2006/table">
            <a:tbl>
              <a:tblPr/>
              <a:tblGrid>
                <a:gridCol w="2743200"/>
                <a:gridCol w="4846320"/>
              </a:tblGrid>
              <a:tr h="384048">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Supuesto del art. 11, literal a)</a:t>
                      </a:r>
                      <a:endParaRPr lang="en-US" sz="1250" dirty="0">
                        <a:latin typeface="Calibri" charset="0"/>
                        <a:ea typeface="Calibri" charset="0"/>
                        <a:cs typeface="Calibri" charset="0"/>
                      </a:endParaRPr>
                    </a:p>
                  </a:txBody>
                  <a:tcPr marL="73152" marR="73152" marT="73152" marB="73152" anchor="ctr">
                    <a:lnL w="9525" cap="flat" cmpd="sng" algn="ctr">
                      <a:solidFill>
                        <a:srgbClr val="E2C9DD"/>
                      </a:solidFill>
                      <a:prstDash val="solid"/>
                      <a:round/>
                      <a:headEnd type="none" w="med" len="med"/>
                      <a:tailEnd type="none" w="med" len="med"/>
                    </a:lnL>
                    <a:lnR w="9525" cap="flat" cmpd="sng" algn="ctr">
                      <a:solidFill>
                        <a:srgbClr val="E2C9DD"/>
                      </a:solidFill>
                      <a:prstDash val="solid"/>
                      <a:round/>
                      <a:headEnd type="none" w="med" len="med"/>
                      <a:tailEnd type="none" w="med" len="med"/>
                    </a:lnR>
                    <a:lnT w="9525" cap="flat" cmpd="sng" algn="ctr">
                      <a:solidFill>
                        <a:srgbClr val="E2C9DD"/>
                      </a:solidFill>
                      <a:prstDash val="solid"/>
                      <a:round/>
                      <a:headEnd type="none" w="med" len="med"/>
                      <a:tailEnd type="none" w="med" len="med"/>
                    </a:lnT>
                    <a:lnB w="9525" cap="flat" cmpd="sng" algn="ctr">
                      <a:solidFill>
                        <a:srgbClr val="E2C9DD"/>
                      </a:solidFill>
                      <a:prstDash val="solid"/>
                      <a:round/>
                      <a:headEnd type="none" w="med" len="med"/>
                      <a:tailEnd type="none" w="med" len="med"/>
                    </a:lnB>
                    <a:solidFill>
                      <a:srgbClr val="80006B"/>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Cómo lo cumple el estudio</a:t>
                      </a:r>
                      <a:endParaRPr lang="en-US" sz="1250" dirty="0">
                        <a:latin typeface="Calibri" charset="0"/>
                        <a:ea typeface="Calibri" charset="0"/>
                        <a:cs typeface="Calibri" charset="0"/>
                      </a:endParaRPr>
                    </a:p>
                  </a:txBody>
                  <a:tcPr marL="73152" marR="73152" marT="73152" marB="73152" anchor="ctr">
                    <a:lnL w="9525" cap="flat" cmpd="sng" algn="ctr">
                      <a:solidFill>
                        <a:srgbClr val="E2C9DD"/>
                      </a:solidFill>
                      <a:prstDash val="solid"/>
                      <a:round/>
                      <a:headEnd type="none" w="med" len="med"/>
                      <a:tailEnd type="none" w="med" len="med"/>
                    </a:lnL>
                    <a:lnR w="9525" cap="flat" cmpd="sng" algn="ctr">
                      <a:solidFill>
                        <a:srgbClr val="E2C9DD"/>
                      </a:solidFill>
                      <a:prstDash val="solid"/>
                      <a:round/>
                      <a:headEnd type="none" w="med" len="med"/>
                      <a:tailEnd type="none" w="med" len="med"/>
                    </a:lnR>
                    <a:lnT w="9525" cap="flat" cmpd="sng" algn="ctr">
                      <a:solidFill>
                        <a:srgbClr val="E2C9DD"/>
                      </a:solidFill>
                      <a:prstDash val="solid"/>
                      <a:round/>
                      <a:headEnd type="none" w="med" len="med"/>
                      <a:tailEnd type="none" w="med" len="med"/>
                    </a:lnT>
                    <a:lnB w="9525" cap="flat" cmpd="sng" algn="ctr">
                      <a:solidFill>
                        <a:srgbClr val="E2C9DD"/>
                      </a:solidFill>
                      <a:prstDash val="solid"/>
                      <a:round/>
                      <a:headEnd type="none" w="med" len="med"/>
                      <a:tailEnd type="none" w="med" len="med"/>
                    </a:lnB>
                    <a:solidFill>
                      <a:srgbClr val="80006B"/>
                    </a:solidFill>
                  </a:tcPr>
                </a:tc>
              </a:tr>
              <a:tr h="713232">
                <a:tc>
                  <a:txBody>
                    <a:bodyPr/>
                    <a:lstStyle/>
                    <a:p>
                      <a:pPr indent="0" marL="0">
                        <a:buNone/>
                      </a:pPr>
                      <a:r>
                        <a:rPr lang="en-US" sz="1250" dirty="0">
                          <a:solidFill>
                            <a:srgbClr val="262626"/>
                          </a:solidFill>
                          <a:latin typeface="Calibri" pitchFamily="34" charset="0"/>
                          <a:ea typeface="Calibri" pitchFamily="34" charset="-122"/>
                          <a:cs typeface="Calibri" pitchFamily="34" charset="-120"/>
                        </a:rPr>
                        <a:t>Investigación documental retrospectiva</a:t>
                      </a:r>
                      <a:endParaRPr lang="en-US" sz="1250" dirty="0">
                        <a:latin typeface="Calibri" charset="0"/>
                        <a:ea typeface="Calibri" charset="0"/>
                        <a:cs typeface="Calibri" charset="0"/>
                      </a:endParaRPr>
                    </a:p>
                  </a:txBody>
                  <a:tcPr marL="73152" marR="73152" marT="73152" marB="73152" anchor="ctr">
                    <a:lnL w="9525" cap="flat" cmpd="sng" algn="ctr">
                      <a:solidFill>
                        <a:srgbClr val="E2C9DD"/>
                      </a:solidFill>
                      <a:prstDash val="solid"/>
                      <a:round/>
                      <a:headEnd type="none" w="med" len="med"/>
                      <a:tailEnd type="none" w="med" len="med"/>
                    </a:lnL>
                    <a:lnR w="9525" cap="flat" cmpd="sng" algn="ctr">
                      <a:solidFill>
                        <a:srgbClr val="E2C9DD"/>
                      </a:solidFill>
                      <a:prstDash val="solid"/>
                      <a:round/>
                      <a:headEnd type="none" w="med" len="med"/>
                      <a:tailEnd type="none" w="med" len="med"/>
                    </a:lnR>
                    <a:lnT w="9525" cap="flat" cmpd="sng" algn="ctr">
                      <a:solidFill>
                        <a:srgbClr val="E2C9DD"/>
                      </a:solidFill>
                      <a:prstDash val="solid"/>
                      <a:round/>
                      <a:headEnd type="none" w="med" len="med"/>
                      <a:tailEnd type="none" w="med" len="med"/>
                    </a:lnT>
                    <a:lnB w="9525" cap="flat" cmpd="sng" algn="ctr">
                      <a:solidFill>
                        <a:srgbClr val="E2C9DD"/>
                      </a:solidFill>
                      <a:prstDash val="solid"/>
                      <a:round/>
                      <a:headEnd type="none" w="med" len="med"/>
                      <a:tailEnd type="none" w="med" len="med"/>
                    </a:lnB>
                    <a:solidFill>
                      <a:srgbClr val="FFFFFF"/>
                    </a:solidFill>
                  </a:tcPr>
                </a:tc>
                <a:tc>
                  <a:txBody>
                    <a:bodyPr/>
                    <a:lstStyle/>
                    <a:p>
                      <a:pPr indent="0" marL="0">
                        <a:buNone/>
                      </a:pPr>
                      <a:r>
                        <a:rPr lang="en-US" sz="1250" dirty="0">
                          <a:solidFill>
                            <a:srgbClr val="262626"/>
                          </a:solidFill>
                          <a:latin typeface="Calibri" pitchFamily="34" charset="0"/>
                          <a:ea typeface="Calibri" pitchFamily="34" charset="-122"/>
                          <a:cs typeface="Calibri" pitchFamily="34" charset="-120"/>
                        </a:rPr>
                        <a:t>Solo revisión de historias y registros, sin intervención ni modificación intencionada de variables.</a:t>
                      </a:r>
                      <a:endParaRPr lang="en-US" sz="1250" dirty="0">
                        <a:latin typeface="Calibri" charset="0"/>
                        <a:ea typeface="Calibri" charset="0"/>
                        <a:cs typeface="Calibri" charset="0"/>
                      </a:endParaRPr>
                    </a:p>
                  </a:txBody>
                  <a:tcPr marL="73152" marR="73152" marT="73152" marB="73152" anchor="ctr">
                    <a:lnL w="9525" cap="flat" cmpd="sng" algn="ctr">
                      <a:solidFill>
                        <a:srgbClr val="E2C9DD"/>
                      </a:solidFill>
                      <a:prstDash val="solid"/>
                      <a:round/>
                      <a:headEnd type="none" w="med" len="med"/>
                      <a:tailEnd type="none" w="med" len="med"/>
                    </a:lnL>
                    <a:lnR w="9525" cap="flat" cmpd="sng" algn="ctr">
                      <a:solidFill>
                        <a:srgbClr val="E2C9DD"/>
                      </a:solidFill>
                      <a:prstDash val="solid"/>
                      <a:round/>
                      <a:headEnd type="none" w="med" len="med"/>
                      <a:tailEnd type="none" w="med" len="med"/>
                    </a:lnR>
                    <a:lnT w="9525" cap="flat" cmpd="sng" algn="ctr">
                      <a:solidFill>
                        <a:srgbClr val="E2C9DD"/>
                      </a:solidFill>
                      <a:prstDash val="solid"/>
                      <a:round/>
                      <a:headEnd type="none" w="med" len="med"/>
                      <a:tailEnd type="none" w="med" len="med"/>
                    </a:lnT>
                    <a:lnB w="9525" cap="flat" cmpd="sng" algn="ctr">
                      <a:solidFill>
                        <a:srgbClr val="E2C9DD"/>
                      </a:solidFill>
                      <a:prstDash val="solid"/>
                      <a:round/>
                      <a:headEnd type="none" w="med" len="med"/>
                      <a:tailEnd type="none" w="med" len="med"/>
                    </a:lnB>
                    <a:solidFill>
                      <a:srgbClr val="FFFFFF"/>
                    </a:solidFill>
                  </a:tcPr>
                </a:tc>
              </a:tr>
              <a:tr h="713232">
                <a:tc>
                  <a:txBody>
                    <a:bodyPr/>
                    <a:lstStyle/>
                    <a:p>
                      <a:pPr indent="0" marL="0">
                        <a:buNone/>
                      </a:pPr>
                      <a:r>
                        <a:rPr lang="en-US" sz="1250" dirty="0">
                          <a:solidFill>
                            <a:srgbClr val="262626"/>
                          </a:solidFill>
                          <a:latin typeface="Calibri" pitchFamily="34" charset="0"/>
                          <a:ea typeface="Calibri" pitchFamily="34" charset="-122"/>
                          <a:cs typeface="Calibri" pitchFamily="34" charset="-120"/>
                        </a:rPr>
                        <a:t>No se identifica al participante</a:t>
                      </a:r>
                      <a:endParaRPr lang="en-US" sz="1250" dirty="0">
                        <a:latin typeface="Calibri" charset="0"/>
                        <a:ea typeface="Calibri" charset="0"/>
                        <a:cs typeface="Calibri" charset="0"/>
                      </a:endParaRPr>
                    </a:p>
                  </a:txBody>
                  <a:tcPr marL="73152" marR="73152" marT="73152" marB="73152" anchor="ctr">
                    <a:lnL w="9525" cap="flat" cmpd="sng" algn="ctr">
                      <a:solidFill>
                        <a:srgbClr val="E2C9DD"/>
                      </a:solidFill>
                      <a:prstDash val="solid"/>
                      <a:round/>
                      <a:headEnd type="none" w="med" len="med"/>
                      <a:tailEnd type="none" w="med" len="med"/>
                    </a:lnL>
                    <a:lnR w="9525" cap="flat" cmpd="sng" algn="ctr">
                      <a:solidFill>
                        <a:srgbClr val="E2C9DD"/>
                      </a:solidFill>
                      <a:prstDash val="solid"/>
                      <a:round/>
                      <a:headEnd type="none" w="med" len="med"/>
                      <a:tailEnd type="none" w="med" len="med"/>
                    </a:lnR>
                    <a:lnT w="9525" cap="flat" cmpd="sng" algn="ctr">
                      <a:solidFill>
                        <a:srgbClr val="E2C9DD"/>
                      </a:solidFill>
                      <a:prstDash val="solid"/>
                      <a:round/>
                      <a:headEnd type="none" w="med" len="med"/>
                      <a:tailEnd type="none" w="med" len="med"/>
                    </a:lnT>
                    <a:lnB w="9525" cap="flat" cmpd="sng" algn="ctr">
                      <a:solidFill>
                        <a:srgbClr val="E2C9DD"/>
                      </a:solidFill>
                      <a:prstDash val="solid"/>
                      <a:round/>
                      <a:headEnd type="none" w="med" len="med"/>
                      <a:tailEnd type="none" w="med" len="med"/>
                    </a:lnB>
                    <a:solidFill>
                      <a:srgbClr val="FFFFFF"/>
                    </a:solidFill>
                  </a:tcPr>
                </a:tc>
                <a:tc>
                  <a:txBody>
                    <a:bodyPr/>
                    <a:lstStyle/>
                    <a:p>
                      <a:pPr indent="0" marL="0">
                        <a:buNone/>
                      </a:pPr>
                      <a:r>
                        <a:rPr lang="en-US" sz="1250" dirty="0">
                          <a:solidFill>
                            <a:srgbClr val="262626"/>
                          </a:solidFill>
                          <a:latin typeface="Calibri" pitchFamily="34" charset="0"/>
                          <a:ea typeface="Calibri" pitchFamily="34" charset="-122"/>
                          <a:cs typeface="Calibri" pitchFamily="34" charset="-120"/>
                        </a:rPr>
                        <a:t>Seudonimización desde la extracción, claves separadas y resultados agregados.</a:t>
                      </a:r>
                      <a:endParaRPr lang="en-US" sz="1250" dirty="0">
                        <a:latin typeface="Calibri" charset="0"/>
                        <a:ea typeface="Calibri" charset="0"/>
                        <a:cs typeface="Calibri" charset="0"/>
                      </a:endParaRPr>
                    </a:p>
                  </a:txBody>
                  <a:tcPr marL="73152" marR="73152" marT="73152" marB="73152" anchor="ctr">
                    <a:lnL w="9525" cap="flat" cmpd="sng" algn="ctr">
                      <a:solidFill>
                        <a:srgbClr val="E2C9DD"/>
                      </a:solidFill>
                      <a:prstDash val="solid"/>
                      <a:round/>
                      <a:headEnd type="none" w="med" len="med"/>
                      <a:tailEnd type="none" w="med" len="med"/>
                    </a:lnL>
                    <a:lnR w="9525" cap="flat" cmpd="sng" algn="ctr">
                      <a:solidFill>
                        <a:srgbClr val="E2C9DD"/>
                      </a:solidFill>
                      <a:prstDash val="solid"/>
                      <a:round/>
                      <a:headEnd type="none" w="med" len="med"/>
                      <a:tailEnd type="none" w="med" len="med"/>
                    </a:lnR>
                    <a:lnT w="9525" cap="flat" cmpd="sng" algn="ctr">
                      <a:solidFill>
                        <a:srgbClr val="E2C9DD"/>
                      </a:solidFill>
                      <a:prstDash val="solid"/>
                      <a:round/>
                      <a:headEnd type="none" w="med" len="med"/>
                      <a:tailEnd type="none" w="med" len="med"/>
                    </a:lnT>
                    <a:lnB w="9525" cap="flat" cmpd="sng" algn="ctr">
                      <a:solidFill>
                        <a:srgbClr val="E2C9DD"/>
                      </a:solidFill>
                      <a:prstDash val="solid"/>
                      <a:round/>
                      <a:headEnd type="none" w="med" len="med"/>
                      <a:tailEnd type="none" w="med" len="med"/>
                    </a:lnB>
                    <a:solidFill>
                      <a:srgbClr val="FFFFFF"/>
                    </a:solidFill>
                  </a:tcPr>
                </a:tc>
              </a:tr>
              <a:tr h="713232">
                <a:tc>
                  <a:txBody>
                    <a:bodyPr/>
                    <a:lstStyle/>
                    <a:p>
                      <a:pPr indent="0" marL="0">
                        <a:buNone/>
                      </a:pPr>
                      <a:r>
                        <a:rPr lang="en-US" sz="1250" dirty="0">
                          <a:solidFill>
                            <a:srgbClr val="262626"/>
                          </a:solidFill>
                          <a:latin typeface="Calibri" pitchFamily="34" charset="0"/>
                          <a:ea typeface="Calibri" pitchFamily="34" charset="-122"/>
                          <a:cs typeface="Calibri" pitchFamily="34" charset="-120"/>
                        </a:rPr>
                        <a:t>No se tratan aspectos sensitivos de la conducta</a:t>
                      </a:r>
                      <a:endParaRPr lang="en-US" sz="1250" dirty="0">
                        <a:latin typeface="Calibri" charset="0"/>
                        <a:ea typeface="Calibri" charset="0"/>
                        <a:cs typeface="Calibri" charset="0"/>
                      </a:endParaRPr>
                    </a:p>
                  </a:txBody>
                  <a:tcPr marL="73152" marR="73152" marT="73152" marB="73152" anchor="ctr">
                    <a:lnL w="9525" cap="flat" cmpd="sng" algn="ctr">
                      <a:solidFill>
                        <a:srgbClr val="E2C9DD"/>
                      </a:solidFill>
                      <a:prstDash val="solid"/>
                      <a:round/>
                      <a:headEnd type="none" w="med" len="med"/>
                      <a:tailEnd type="none" w="med" len="med"/>
                    </a:lnL>
                    <a:lnR w="9525" cap="flat" cmpd="sng" algn="ctr">
                      <a:solidFill>
                        <a:srgbClr val="E2C9DD"/>
                      </a:solidFill>
                      <a:prstDash val="solid"/>
                      <a:round/>
                      <a:headEnd type="none" w="med" len="med"/>
                      <a:tailEnd type="none" w="med" len="med"/>
                    </a:lnR>
                    <a:lnT w="9525" cap="flat" cmpd="sng" algn="ctr">
                      <a:solidFill>
                        <a:srgbClr val="E2C9DD"/>
                      </a:solidFill>
                      <a:prstDash val="solid"/>
                      <a:round/>
                      <a:headEnd type="none" w="med" len="med"/>
                      <a:tailEnd type="none" w="med" len="med"/>
                    </a:lnT>
                    <a:lnB w="9525" cap="flat" cmpd="sng" algn="ctr">
                      <a:solidFill>
                        <a:srgbClr val="E2C9DD"/>
                      </a:solidFill>
                      <a:prstDash val="solid"/>
                      <a:round/>
                      <a:headEnd type="none" w="med" len="med"/>
                      <a:tailEnd type="none" w="med" len="med"/>
                    </a:lnB>
                    <a:solidFill>
                      <a:srgbClr val="FFFFFF"/>
                    </a:solidFill>
                  </a:tcPr>
                </a:tc>
                <a:tc>
                  <a:txBody>
                    <a:bodyPr/>
                    <a:lstStyle/>
                    <a:p>
                      <a:pPr indent="0" marL="0">
                        <a:buNone/>
                      </a:pPr>
                      <a:r>
                        <a:rPr lang="en-US" sz="1250" dirty="0">
                          <a:solidFill>
                            <a:srgbClr val="262626"/>
                          </a:solidFill>
                          <a:latin typeface="Calibri" pitchFamily="34" charset="0"/>
                          <a:ea typeface="Calibri" pitchFamily="34" charset="-122"/>
                          <a:cs typeface="Calibri" pitchFamily="34" charset="-120"/>
                        </a:rPr>
                        <a:t>No se indagan ni valoran prácticas, creencias o conductas; la condición religiosa solo delimita la población.</a:t>
                      </a:r>
                      <a:endParaRPr lang="en-US" sz="1250" dirty="0">
                        <a:latin typeface="Calibri" charset="0"/>
                        <a:ea typeface="Calibri" charset="0"/>
                        <a:cs typeface="Calibri" charset="0"/>
                      </a:endParaRPr>
                    </a:p>
                  </a:txBody>
                  <a:tcPr marL="73152" marR="73152" marT="73152" marB="73152" anchor="ctr">
                    <a:lnL w="9525" cap="flat" cmpd="sng" algn="ctr">
                      <a:solidFill>
                        <a:srgbClr val="E2C9DD"/>
                      </a:solidFill>
                      <a:prstDash val="solid"/>
                      <a:round/>
                      <a:headEnd type="none" w="med" len="med"/>
                      <a:tailEnd type="none" w="med" len="med"/>
                    </a:lnL>
                    <a:lnR w="9525" cap="flat" cmpd="sng" algn="ctr">
                      <a:solidFill>
                        <a:srgbClr val="E2C9DD"/>
                      </a:solidFill>
                      <a:prstDash val="solid"/>
                      <a:round/>
                      <a:headEnd type="none" w="med" len="med"/>
                      <a:tailEnd type="none" w="med" len="med"/>
                    </a:lnR>
                    <a:lnT w="9525" cap="flat" cmpd="sng" algn="ctr">
                      <a:solidFill>
                        <a:srgbClr val="E2C9DD"/>
                      </a:solidFill>
                      <a:prstDash val="solid"/>
                      <a:round/>
                      <a:headEnd type="none" w="med" len="med"/>
                      <a:tailEnd type="none" w="med" len="med"/>
                    </a:lnT>
                    <a:lnB w="9525" cap="flat" cmpd="sng" algn="ctr">
                      <a:solidFill>
                        <a:srgbClr val="E2C9DD"/>
                      </a:solidFill>
                      <a:prstDash val="solid"/>
                      <a:round/>
                      <a:headEnd type="none" w="med" len="med"/>
                      <a:tailEnd type="none" w="med" len="med"/>
                    </a:lnB>
                    <a:solidFill>
                      <a:srgbClr val="FFFFFF"/>
                    </a:solidFill>
                  </a:tcPr>
                </a:tc>
              </a:tr>
            </a:tbl>
          </a:graphicData>
        </a:graphic>
      </p:graphicFrame>
      <p:sp>
        <p:nvSpPr>
          <p:cNvPr id="10" name="Shape 7"/>
          <p:cNvSpPr/>
          <p:nvPr/>
        </p:nvSpPr>
        <p:spPr>
          <a:xfrm>
            <a:off x="8366760" y="2697480"/>
            <a:ext cx="3273552" cy="2971800"/>
          </a:xfrm>
          <a:prstGeom prst="roundRect">
            <a:avLst>
              <a:gd name="adj" fmla="val 2462"/>
            </a:avLst>
          </a:prstGeom>
          <a:solidFill>
            <a:srgbClr val="80006B"/>
          </a:solidFill>
          <a:ln/>
        </p:spPr>
      </p:sp>
      <p:sp>
        <p:nvSpPr>
          <p:cNvPr id="11" name="Text 8"/>
          <p:cNvSpPr txBox="1"/>
          <p:nvPr/>
        </p:nvSpPr>
        <p:spPr>
          <a:xfrm>
            <a:off x="8595360" y="2834640"/>
            <a:ext cx="2834640" cy="548640"/>
          </a:xfrm>
          <a:prstGeom prst="rect">
            <a:avLst/>
          </a:prstGeom>
          <a:noFill/>
          <a:ln/>
        </p:spPr>
        <p:txBody>
          <a:bodyPr wrap="square" lIns="508" tIns="508" rIns="508" bIns="508" rtlCol="0" anchor="t"/>
          <a:lstStyle/>
          <a:p>
            <a:pPr algn="l" indent="0" marL="0">
              <a:lnSpc>
                <a:spcPct val="100000"/>
              </a:lnSpc>
              <a:buNone/>
            </a:pPr>
            <a:r>
              <a:rPr lang="en-US" sz="2600" b="1" dirty="0">
                <a:solidFill>
                  <a:srgbClr val="FFFFFF"/>
                </a:solidFill>
                <a:latin typeface="Calibri" pitchFamily="34" charset="0"/>
                <a:ea typeface="Calibri" pitchFamily="34" charset="-122"/>
                <a:cs typeface="Calibri" pitchFamily="34" charset="-120"/>
              </a:rPr>
              <a:t>Sin riesgo</a:t>
            </a:r>
            <a:endParaRPr lang="en-US" sz="2600" dirty="0"/>
          </a:p>
        </p:txBody>
      </p:sp>
      <p:sp>
        <p:nvSpPr>
          <p:cNvPr id="12" name="Text 9"/>
          <p:cNvSpPr txBox="1"/>
          <p:nvPr/>
        </p:nvSpPr>
        <p:spPr>
          <a:xfrm>
            <a:off x="8595360" y="3383280"/>
            <a:ext cx="2834640" cy="365760"/>
          </a:xfrm>
          <a:prstGeom prst="rect">
            <a:avLst/>
          </a:prstGeom>
          <a:noFill/>
          <a:ln/>
        </p:spPr>
        <p:txBody>
          <a:bodyPr wrap="square" lIns="508" tIns="508" rIns="508" bIns="508" rtlCol="0" anchor="t"/>
          <a:lstStyle/>
          <a:p>
            <a:pPr algn="l" indent="0" marL="0">
              <a:lnSpc>
                <a:spcPct val="100000"/>
              </a:lnSpc>
              <a:buNone/>
            </a:pPr>
            <a:r>
              <a:rPr lang="en-US" sz="1300" dirty="0">
                <a:solidFill>
                  <a:srgbClr val="FFB5A6"/>
                </a:solidFill>
                <a:latin typeface="Calibri" pitchFamily="34" charset="0"/>
                <a:ea typeface="Calibri" pitchFamily="34" charset="-122"/>
                <a:cs typeface="Calibri" pitchFamily="34" charset="-120"/>
              </a:rPr>
              <a:t>Resolución 8430 de 1993, art. 11 a)</a:t>
            </a:r>
            <a:endParaRPr lang="en-US" sz="1300" dirty="0"/>
          </a:p>
        </p:txBody>
      </p:sp>
      <p:sp>
        <p:nvSpPr>
          <p:cNvPr id="13" name="Text 10"/>
          <p:cNvSpPr txBox="1"/>
          <p:nvPr/>
        </p:nvSpPr>
        <p:spPr>
          <a:xfrm>
            <a:off x="8595360" y="3840480"/>
            <a:ext cx="2834640" cy="1737360"/>
          </a:xfrm>
          <a:prstGeom prst="rect">
            <a:avLst/>
          </a:prstGeom>
          <a:noFill/>
          <a:ln/>
        </p:spPr>
        <p:txBody>
          <a:bodyPr wrap="square" lIns="508" tIns="508" rIns="508" bIns="508" rtlCol="0" anchor="t"/>
          <a:lstStyle/>
          <a:p>
            <a:pPr algn="l" indent="0" marL="0">
              <a:lnSpc>
                <a:spcPct val="100000"/>
              </a:lnSpc>
              <a:buNone/>
            </a:pPr>
            <a:r>
              <a:rPr lang="en-US" sz="1300" dirty="0">
                <a:solidFill>
                  <a:srgbClr val="FFFFFF"/>
                </a:solidFill>
                <a:latin typeface="Calibri" pitchFamily="34" charset="0"/>
                <a:ea typeface="Calibri" pitchFamily="34" charset="-122"/>
                <a:cs typeface="Calibri" pitchFamily="34" charset="-120"/>
              </a:rPr>
              <a:t>El riesgo previsible es informacional. Como la condición religiosa es un dato sensible (Ley 1581 de 2012), su tratamiento tiene las salvaguardas reforzadas del numeral 3.9.1.</a:t>
            </a:r>
            <a:endParaRPr lang="en-US" sz="1300" dirty="0"/>
          </a:p>
        </p:txBody>
      </p:sp>
      <p:sp>
        <p:nvSpPr>
          <p:cNvPr id="14" name="Text 11"/>
          <p:cNvSpPr txBox="1"/>
          <p:nvPr/>
        </p:nvSpPr>
        <p:spPr>
          <a:xfrm>
            <a:off x="548640" y="5833872"/>
            <a:ext cx="11091672" cy="292608"/>
          </a:xfrm>
          <a:prstGeom prst="rect">
            <a:avLst/>
          </a:prstGeom>
          <a:noFill/>
          <a:ln/>
        </p:spPr>
        <p:txBody>
          <a:bodyPr wrap="square" lIns="508" tIns="508" rIns="508" bIns="508" rtlCol="0" anchor="ctr"/>
          <a:lstStyle/>
          <a:p>
            <a:pPr algn="l" indent="0" marL="0">
              <a:lnSpc>
                <a:spcPct val="100000"/>
              </a:lnSpc>
              <a:buNone/>
            </a:pPr>
            <a:r>
              <a:rPr lang="en-US" sz="1200" b="1" dirty="0">
                <a:solidFill>
                  <a:srgbClr val="80006B"/>
                </a:solidFill>
                <a:latin typeface="Calibri" pitchFamily="34" charset="0"/>
                <a:ea typeface="Calibri" pitchFamily="34" charset="-122"/>
                <a:cs typeface="Calibri" pitchFamily="34" charset="-120"/>
              </a:rPr>
              <a:t>Dónde está en el protocolo v2.0:  </a:t>
            </a:r>
            <a:pPr algn="l" indent="0" marL="0">
              <a:lnSpc>
                <a:spcPct val="100000"/>
              </a:lnSpc>
              <a:buNone/>
            </a:pPr>
            <a:r>
              <a:rPr lang="en-US" sz="1200" dirty="0">
                <a:solidFill>
                  <a:srgbClr val="6B6B6B"/>
                </a:solidFill>
                <a:latin typeface="Calibri" pitchFamily="34" charset="0"/>
                <a:ea typeface="Calibri" pitchFamily="34" charset="-122"/>
                <a:cs typeface="Calibri" pitchFamily="34" charset="-120"/>
              </a:rPr>
              <a:t>numeral 3.9, p. 40 · numeral 2.3.2, p. 25</a:t>
            </a:r>
            <a:endParaRPr lang="en-US" sz="1200" dirty="0"/>
          </a:p>
        </p:txBody>
      </p:sp>
      <p:sp>
        <p:nvSpPr>
          <p:cNvPr id="25" name="Slide Number Placeholder 0"/>
          <p:cNvSpPr>
            <a:spLocks noGrp="1"/>
          </p:cNvSpPr>
          <p:nvPr>
            <p:ph type="sldNum" sz="quarter" idx="4294967295"/>
          </p:nvPr>
        </p:nvSpPr>
        <p:spPr>
          <a:xfrm>
            <a:off x="11201400" y="635508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292608"/>
            <a:ext cx="8686800" cy="274320"/>
          </a:xfrm>
          <a:prstGeom prst="rect">
            <a:avLst/>
          </a:prstGeom>
          <a:noFill/>
          <a:ln/>
        </p:spPr>
        <p:txBody>
          <a:bodyPr wrap="square" lIns="508" tIns="508" rIns="508" bIns="508" rtlCol="0" anchor="t"/>
          <a:lstStyle/>
          <a:p>
            <a:pPr algn="l" indent="0" marL="0">
              <a:lnSpc>
                <a:spcPct val="100000"/>
              </a:lnSpc>
              <a:buNone/>
            </a:pPr>
            <a:r>
              <a:rPr lang="en-US" sz="1200" b="1" dirty="0">
                <a:solidFill>
                  <a:srgbClr val="FF5F3F"/>
                </a:solidFill>
                <a:latin typeface="Calibri" pitchFamily="34" charset="0"/>
                <a:ea typeface="Calibri" pitchFamily="34" charset="-122"/>
                <a:cs typeface="Calibri" pitchFamily="34" charset="-120"/>
              </a:rPr>
              <a:t>OBSERVACIÓN 4 DE 7</a:t>
            </a:r>
            <a:endParaRPr lang="en-US" sz="1200" dirty="0"/>
          </a:p>
        </p:txBody>
      </p:sp>
      <p:sp>
        <p:nvSpPr>
          <p:cNvPr id="3" name="Text 1"/>
          <p:cNvSpPr txBox="1"/>
          <p:nvPr/>
        </p:nvSpPr>
        <p:spPr>
          <a:xfrm>
            <a:off x="548640" y="548640"/>
            <a:ext cx="9326880" cy="548640"/>
          </a:xfrm>
          <a:prstGeom prst="rect">
            <a:avLst/>
          </a:prstGeom>
          <a:noFill/>
          <a:ln/>
        </p:spPr>
        <p:txBody>
          <a:bodyPr wrap="square" lIns="508" tIns="508" rIns="508" bIns="508" rtlCol="0" anchor="ctr"/>
          <a:lstStyle/>
          <a:p>
            <a:pPr algn="l" indent="0" marL="0">
              <a:lnSpc>
                <a:spcPct val="100000"/>
              </a:lnSpc>
              <a:buNone/>
            </a:pPr>
            <a:r>
              <a:rPr lang="en-US" sz="2800" b="1" dirty="0">
                <a:solidFill>
                  <a:srgbClr val="80006B"/>
                </a:solidFill>
                <a:latin typeface="Calibri" pitchFamily="34" charset="0"/>
                <a:ea typeface="Calibri" pitchFamily="34" charset="-122"/>
                <a:cs typeface="Calibri" pitchFamily="34" charset="-120"/>
              </a:rPr>
              <a:t>Dispensa del consentimiento informado</a:t>
            </a:r>
            <a:endParaRPr lang="en-US" sz="2800" dirty="0"/>
          </a:p>
        </p:txBody>
      </p:sp>
      <p:sp>
        <p:nvSpPr>
          <p:cNvPr id="4" name="Text 2"/>
          <p:cNvSpPr txBox="1"/>
          <p:nvPr/>
        </p:nvSpPr>
        <p:spPr>
          <a:xfrm>
            <a:off x="548640" y="1280160"/>
            <a:ext cx="11091672" cy="640080"/>
          </a:xfrm>
          <a:prstGeom prst="rect">
            <a:avLst/>
          </a:prstGeom>
          <a:noFill/>
          <a:ln/>
        </p:spPr>
        <p:txBody>
          <a:bodyPr wrap="square" lIns="508" tIns="508" rIns="508" bIns="508" rtlCol="0" anchor="ctr"/>
          <a:lstStyle/>
          <a:p>
            <a:pPr algn="l" indent="0" marL="0">
              <a:lnSpc>
                <a:spcPct val="100000"/>
              </a:lnSpc>
              <a:buNone/>
            </a:pPr>
            <a:r>
              <a:rPr lang="en-US" sz="1600" b="1" dirty="0">
                <a:solidFill>
                  <a:srgbClr val="80006B"/>
                </a:solidFill>
                <a:latin typeface="Calibri" pitchFamily="34" charset="0"/>
                <a:ea typeface="Calibri" pitchFamily="34" charset="-122"/>
                <a:cs typeface="Calibri" pitchFamily="34" charset="-120"/>
              </a:rPr>
              <a:t>La dispensa no se fundamenta en el carácter retrospectivo, </a:t>
            </a:r>
            <a:pPr algn="l" indent="0" marL="0">
              <a:lnSpc>
                <a:spcPct val="100000"/>
              </a:lnSpc>
              <a:buNone/>
            </a:pPr>
            <a:r>
              <a:rPr lang="en-US" sz="1600" dirty="0">
                <a:solidFill>
                  <a:srgbClr val="262626"/>
                </a:solidFill>
                <a:latin typeface="Calibri" pitchFamily="34" charset="0"/>
                <a:ea typeface="Calibri" pitchFamily="34" charset="-122"/>
                <a:cs typeface="Calibri" pitchFamily="34" charset="-120"/>
              </a:rPr>
              <a:t>sino en cinco condiciones concurrentes (Res. 8430, art. 16 par. 1; Ley 1581 de 2012; pauta 10 de CIOMS-OMS).</a:t>
            </a:r>
            <a:endParaRPr lang="en-US" sz="1600" dirty="0"/>
          </a:p>
        </p:txBody>
      </p:sp>
      <p:sp>
        <p:nvSpPr>
          <p:cNvPr id="5" name="Shape 3"/>
          <p:cNvSpPr/>
          <p:nvPr/>
        </p:nvSpPr>
        <p:spPr>
          <a:xfrm>
            <a:off x="548640" y="2103120"/>
            <a:ext cx="2072030" cy="3520440"/>
          </a:xfrm>
          <a:prstGeom prst="roundRect">
            <a:avLst>
              <a:gd name="adj" fmla="val 3530"/>
            </a:avLst>
          </a:prstGeom>
          <a:solidFill>
            <a:srgbClr val="F7EDF5"/>
          </a:solidFill>
          <a:ln/>
        </p:spPr>
      </p:sp>
      <p:sp>
        <p:nvSpPr>
          <p:cNvPr id="6" name="Shape 4"/>
          <p:cNvSpPr/>
          <p:nvPr/>
        </p:nvSpPr>
        <p:spPr>
          <a:xfrm>
            <a:off x="731520" y="2267712"/>
            <a:ext cx="502920" cy="502920"/>
          </a:xfrm>
          <a:prstGeom prst="ellipse">
            <a:avLst/>
          </a:prstGeom>
          <a:solidFill>
            <a:srgbClr val="80006B"/>
          </a:solidFill>
          <a:ln/>
        </p:spPr>
      </p:sp>
      <p:sp>
        <p:nvSpPr>
          <p:cNvPr id="7" name="Text 5"/>
          <p:cNvSpPr txBox="1"/>
          <p:nvPr/>
        </p:nvSpPr>
        <p:spPr>
          <a:xfrm>
            <a:off x="731520" y="2267712"/>
            <a:ext cx="502920" cy="502920"/>
          </a:xfrm>
          <a:prstGeom prst="rect">
            <a:avLst/>
          </a:prstGeom>
          <a:noFill/>
          <a:ln/>
        </p:spPr>
        <p:txBody>
          <a:bodyPr wrap="square" lIns="0" tIns="0" rIns="0" bIns="0" rtlCol="0" anchor="ctr"/>
          <a:lstStyle/>
          <a:p>
            <a:pPr algn="ctr" indent="0" marL="0">
              <a:lnSpc>
                <a:spcPct val="100000"/>
              </a:lnSpc>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8" name="Text 6"/>
          <p:cNvSpPr txBox="1"/>
          <p:nvPr/>
        </p:nvSpPr>
        <p:spPr>
          <a:xfrm>
            <a:off x="731520" y="2907792"/>
            <a:ext cx="1706270" cy="685800"/>
          </a:xfrm>
          <a:prstGeom prst="rect">
            <a:avLst/>
          </a:prstGeom>
          <a:noFill/>
          <a:ln/>
        </p:spPr>
        <p:txBody>
          <a:bodyPr wrap="square" lIns="508" tIns="508" rIns="508" bIns="508" rtlCol="0" anchor="t"/>
          <a:lstStyle/>
          <a:p>
            <a:pPr algn="l" indent="0" marL="0">
              <a:lnSpc>
                <a:spcPct val="100000"/>
              </a:lnSpc>
              <a:buNone/>
            </a:pPr>
            <a:r>
              <a:rPr lang="en-US" sz="1500" b="1" dirty="0">
                <a:solidFill>
                  <a:srgbClr val="80006B"/>
                </a:solidFill>
                <a:latin typeface="Calibri" pitchFamily="34" charset="0"/>
                <a:ea typeface="Calibri" pitchFamily="34" charset="-122"/>
                <a:cs typeface="Calibri" pitchFamily="34" charset="-120"/>
              </a:rPr>
              <a:t>Sin riesgo</a:t>
            </a:r>
            <a:endParaRPr lang="en-US" sz="1500" dirty="0"/>
          </a:p>
        </p:txBody>
      </p:sp>
      <p:sp>
        <p:nvSpPr>
          <p:cNvPr id="9" name="Text 7"/>
          <p:cNvSpPr txBox="1"/>
          <p:nvPr/>
        </p:nvSpPr>
        <p:spPr>
          <a:xfrm>
            <a:off x="731520" y="3639312"/>
            <a:ext cx="1706270" cy="1920240"/>
          </a:xfrm>
          <a:prstGeom prst="rect">
            <a:avLst/>
          </a:prstGeom>
          <a:noFill/>
          <a:ln/>
        </p:spPr>
        <p:txBody>
          <a:bodyPr wrap="square" lIns="508" tIns="508" rIns="508" bIns="508" rtlCol="0" anchor="t"/>
          <a:lstStyle/>
          <a:p>
            <a:pPr algn="l" indent="0" marL="0">
              <a:lnSpc>
                <a:spcPct val="100000"/>
              </a:lnSpc>
              <a:buNone/>
            </a:pPr>
            <a:r>
              <a:rPr lang="en-US" sz="1300" dirty="0">
                <a:solidFill>
                  <a:srgbClr val="262626"/>
                </a:solidFill>
                <a:latin typeface="Calibri" pitchFamily="34" charset="0"/>
                <a:ea typeface="Calibri" pitchFamily="34" charset="-122"/>
                <a:cs typeface="Calibri" pitchFamily="34" charset="-120"/>
              </a:rPr>
              <a:t>Requisito del parágrafo primero del artículo 16.</a:t>
            </a:r>
            <a:endParaRPr lang="en-US" sz="1300" dirty="0"/>
          </a:p>
        </p:txBody>
      </p:sp>
      <p:sp>
        <p:nvSpPr>
          <p:cNvPr id="10" name="Shape 8"/>
          <p:cNvSpPr/>
          <p:nvPr/>
        </p:nvSpPr>
        <p:spPr>
          <a:xfrm>
            <a:off x="2803550" y="2103120"/>
            <a:ext cx="2072030" cy="3520440"/>
          </a:xfrm>
          <a:prstGeom prst="roundRect">
            <a:avLst>
              <a:gd name="adj" fmla="val 3530"/>
            </a:avLst>
          </a:prstGeom>
          <a:solidFill>
            <a:srgbClr val="FFF1ED"/>
          </a:solidFill>
          <a:ln/>
        </p:spPr>
      </p:sp>
      <p:sp>
        <p:nvSpPr>
          <p:cNvPr id="11" name="Shape 9"/>
          <p:cNvSpPr/>
          <p:nvPr/>
        </p:nvSpPr>
        <p:spPr>
          <a:xfrm>
            <a:off x="2986430" y="2267712"/>
            <a:ext cx="502920" cy="502920"/>
          </a:xfrm>
          <a:prstGeom prst="ellipse">
            <a:avLst/>
          </a:prstGeom>
          <a:solidFill>
            <a:srgbClr val="FF5F3F"/>
          </a:solidFill>
          <a:ln/>
        </p:spPr>
      </p:sp>
      <p:sp>
        <p:nvSpPr>
          <p:cNvPr id="12" name="Text 10"/>
          <p:cNvSpPr txBox="1"/>
          <p:nvPr/>
        </p:nvSpPr>
        <p:spPr>
          <a:xfrm>
            <a:off x="2986430" y="2267712"/>
            <a:ext cx="502920" cy="502920"/>
          </a:xfrm>
          <a:prstGeom prst="rect">
            <a:avLst/>
          </a:prstGeom>
          <a:noFill/>
          <a:ln/>
        </p:spPr>
        <p:txBody>
          <a:bodyPr wrap="square" lIns="0" tIns="0" rIns="0" bIns="0" rtlCol="0" anchor="ctr"/>
          <a:lstStyle/>
          <a:p>
            <a:pPr algn="ctr" indent="0" marL="0">
              <a:lnSpc>
                <a:spcPct val="100000"/>
              </a:lnSpc>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3" name="Text 11"/>
          <p:cNvSpPr txBox="1"/>
          <p:nvPr/>
        </p:nvSpPr>
        <p:spPr>
          <a:xfrm>
            <a:off x="2986430" y="2907792"/>
            <a:ext cx="1706270" cy="685800"/>
          </a:xfrm>
          <a:prstGeom prst="rect">
            <a:avLst/>
          </a:prstGeom>
          <a:noFill/>
          <a:ln/>
        </p:spPr>
        <p:txBody>
          <a:bodyPr wrap="square" lIns="508" tIns="508" rIns="508" bIns="508" rtlCol="0" anchor="t"/>
          <a:lstStyle/>
          <a:p>
            <a:pPr algn="l" indent="0" marL="0">
              <a:lnSpc>
                <a:spcPct val="100000"/>
              </a:lnSpc>
              <a:buNone/>
            </a:pPr>
            <a:r>
              <a:rPr lang="en-US" sz="1500" b="1" dirty="0">
                <a:solidFill>
                  <a:srgbClr val="FF5F3F"/>
                </a:solidFill>
                <a:latin typeface="Calibri" pitchFamily="34" charset="0"/>
                <a:ea typeface="Calibri" pitchFamily="34" charset="-122"/>
                <a:cs typeface="Calibri" pitchFamily="34" charset="-120"/>
              </a:rPr>
              <a:t>Impracticable</a:t>
            </a:r>
            <a:endParaRPr lang="en-US" sz="1500" dirty="0"/>
          </a:p>
        </p:txBody>
      </p:sp>
      <p:sp>
        <p:nvSpPr>
          <p:cNvPr id="14" name="Text 12"/>
          <p:cNvSpPr txBox="1"/>
          <p:nvPr/>
        </p:nvSpPr>
        <p:spPr>
          <a:xfrm>
            <a:off x="2986430" y="3639312"/>
            <a:ext cx="1706270" cy="1920240"/>
          </a:xfrm>
          <a:prstGeom prst="rect">
            <a:avLst/>
          </a:prstGeom>
          <a:noFill/>
          <a:ln/>
        </p:spPr>
        <p:txBody>
          <a:bodyPr wrap="square" lIns="508" tIns="508" rIns="508" bIns="508" rtlCol="0" anchor="t"/>
          <a:lstStyle/>
          <a:p>
            <a:pPr algn="l" indent="0" marL="0">
              <a:lnSpc>
                <a:spcPct val="100000"/>
              </a:lnSpc>
              <a:buNone/>
            </a:pPr>
            <a:r>
              <a:rPr lang="en-US" sz="1300" dirty="0">
                <a:solidFill>
                  <a:srgbClr val="262626"/>
                </a:solidFill>
                <a:latin typeface="Calibri" pitchFamily="34" charset="0"/>
                <a:ea typeface="Calibri" pitchFamily="34" charset="-122"/>
                <a:cs typeface="Calibri" pitchFamily="34" charset="-120"/>
              </a:rPr>
              <a:t>Pacientes de 2020–2025, una parte fallecidos; exigirlo excluiría a los de peor desenlace y sesgaría la estimación.</a:t>
            </a:r>
            <a:endParaRPr lang="en-US" sz="1300" dirty="0"/>
          </a:p>
        </p:txBody>
      </p:sp>
      <p:sp>
        <p:nvSpPr>
          <p:cNvPr id="15" name="Shape 13"/>
          <p:cNvSpPr/>
          <p:nvPr/>
        </p:nvSpPr>
        <p:spPr>
          <a:xfrm>
            <a:off x="5058461" y="2103120"/>
            <a:ext cx="2072030" cy="3520440"/>
          </a:xfrm>
          <a:prstGeom prst="roundRect">
            <a:avLst>
              <a:gd name="adj" fmla="val 3530"/>
            </a:avLst>
          </a:prstGeom>
          <a:solidFill>
            <a:srgbClr val="F7EDF5"/>
          </a:solidFill>
          <a:ln/>
        </p:spPr>
      </p:sp>
      <p:sp>
        <p:nvSpPr>
          <p:cNvPr id="16" name="Shape 14"/>
          <p:cNvSpPr/>
          <p:nvPr/>
        </p:nvSpPr>
        <p:spPr>
          <a:xfrm>
            <a:off x="5241341" y="2267712"/>
            <a:ext cx="502920" cy="502920"/>
          </a:xfrm>
          <a:prstGeom prst="ellipse">
            <a:avLst/>
          </a:prstGeom>
          <a:solidFill>
            <a:srgbClr val="80006B"/>
          </a:solidFill>
          <a:ln/>
        </p:spPr>
      </p:sp>
      <p:sp>
        <p:nvSpPr>
          <p:cNvPr id="17" name="Text 15"/>
          <p:cNvSpPr txBox="1"/>
          <p:nvPr/>
        </p:nvSpPr>
        <p:spPr>
          <a:xfrm>
            <a:off x="5241341" y="2267712"/>
            <a:ext cx="502920" cy="502920"/>
          </a:xfrm>
          <a:prstGeom prst="rect">
            <a:avLst/>
          </a:prstGeom>
          <a:noFill/>
          <a:ln/>
        </p:spPr>
        <p:txBody>
          <a:bodyPr wrap="square" lIns="0" tIns="0" rIns="0" bIns="0" rtlCol="0" anchor="ctr"/>
          <a:lstStyle/>
          <a:p>
            <a:pPr algn="ctr" indent="0" marL="0">
              <a:lnSpc>
                <a:spcPct val="100000"/>
              </a:lnSpc>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8" name="Text 16"/>
          <p:cNvSpPr txBox="1"/>
          <p:nvPr/>
        </p:nvSpPr>
        <p:spPr>
          <a:xfrm>
            <a:off x="5241341" y="2907792"/>
            <a:ext cx="1706270" cy="685800"/>
          </a:xfrm>
          <a:prstGeom prst="rect">
            <a:avLst/>
          </a:prstGeom>
          <a:noFill/>
          <a:ln/>
        </p:spPr>
        <p:txBody>
          <a:bodyPr wrap="square" lIns="508" tIns="508" rIns="508" bIns="508" rtlCol="0" anchor="t"/>
          <a:lstStyle/>
          <a:p>
            <a:pPr algn="l" indent="0" marL="0">
              <a:lnSpc>
                <a:spcPct val="100000"/>
              </a:lnSpc>
              <a:buNone/>
            </a:pPr>
            <a:r>
              <a:rPr lang="en-US" sz="1500" b="1" dirty="0">
                <a:solidFill>
                  <a:srgbClr val="80006B"/>
                </a:solidFill>
                <a:latin typeface="Calibri" pitchFamily="34" charset="0"/>
                <a:ea typeface="Calibri" pitchFamily="34" charset="-122"/>
                <a:cs typeface="Calibri" pitchFamily="34" charset="-120"/>
              </a:rPr>
              <a:t>El contacto aumenta el riesgo</a:t>
            </a:r>
            <a:endParaRPr lang="en-US" sz="1500" dirty="0"/>
          </a:p>
        </p:txBody>
      </p:sp>
      <p:sp>
        <p:nvSpPr>
          <p:cNvPr id="19" name="Text 17"/>
          <p:cNvSpPr txBox="1"/>
          <p:nvPr/>
        </p:nvSpPr>
        <p:spPr>
          <a:xfrm>
            <a:off x="5241341" y="3639312"/>
            <a:ext cx="1706270" cy="1920240"/>
          </a:xfrm>
          <a:prstGeom prst="rect">
            <a:avLst/>
          </a:prstGeom>
          <a:noFill/>
          <a:ln/>
        </p:spPr>
        <p:txBody>
          <a:bodyPr wrap="square" lIns="508" tIns="508" rIns="508" bIns="508" rtlCol="0" anchor="t"/>
          <a:lstStyle/>
          <a:p>
            <a:pPr algn="l" indent="0" marL="0">
              <a:lnSpc>
                <a:spcPct val="100000"/>
              </a:lnSpc>
              <a:buNone/>
            </a:pPr>
            <a:r>
              <a:rPr lang="en-US" sz="1300" dirty="0">
                <a:solidFill>
                  <a:srgbClr val="262626"/>
                </a:solidFill>
                <a:latin typeface="Calibri" pitchFamily="34" charset="0"/>
                <a:ea typeface="Calibri" pitchFamily="34" charset="-122"/>
                <a:cs typeface="Calibri" pitchFamily="34" charset="-120"/>
              </a:rPr>
              <a:t>Obligaría a manipular identificadores y revelaría datos religiosos y transfusionales a terceros.</a:t>
            </a:r>
            <a:endParaRPr lang="en-US" sz="1300" dirty="0"/>
          </a:p>
        </p:txBody>
      </p:sp>
      <p:sp>
        <p:nvSpPr>
          <p:cNvPr id="20" name="Shape 18"/>
          <p:cNvSpPr/>
          <p:nvPr/>
        </p:nvSpPr>
        <p:spPr>
          <a:xfrm>
            <a:off x="7313371" y="2103120"/>
            <a:ext cx="2072030" cy="3520440"/>
          </a:xfrm>
          <a:prstGeom prst="roundRect">
            <a:avLst>
              <a:gd name="adj" fmla="val 3530"/>
            </a:avLst>
          </a:prstGeom>
          <a:solidFill>
            <a:srgbClr val="FFF1ED"/>
          </a:solidFill>
          <a:ln/>
        </p:spPr>
      </p:sp>
      <p:sp>
        <p:nvSpPr>
          <p:cNvPr id="21" name="Shape 19"/>
          <p:cNvSpPr/>
          <p:nvPr/>
        </p:nvSpPr>
        <p:spPr>
          <a:xfrm>
            <a:off x="7496251" y="2267712"/>
            <a:ext cx="502920" cy="502920"/>
          </a:xfrm>
          <a:prstGeom prst="ellipse">
            <a:avLst/>
          </a:prstGeom>
          <a:solidFill>
            <a:srgbClr val="FF5F3F"/>
          </a:solidFill>
          <a:ln/>
        </p:spPr>
      </p:sp>
      <p:sp>
        <p:nvSpPr>
          <p:cNvPr id="22" name="Text 20"/>
          <p:cNvSpPr txBox="1"/>
          <p:nvPr/>
        </p:nvSpPr>
        <p:spPr>
          <a:xfrm>
            <a:off x="7496251" y="2267712"/>
            <a:ext cx="502920" cy="502920"/>
          </a:xfrm>
          <a:prstGeom prst="rect">
            <a:avLst/>
          </a:prstGeom>
          <a:noFill/>
          <a:ln/>
        </p:spPr>
        <p:txBody>
          <a:bodyPr wrap="square" lIns="0" tIns="0" rIns="0" bIns="0" rtlCol="0" anchor="ctr"/>
          <a:lstStyle/>
          <a:p>
            <a:pPr algn="ctr" indent="0" marL="0">
              <a:lnSpc>
                <a:spcPct val="100000"/>
              </a:lnSpc>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3" name="Text 21"/>
          <p:cNvSpPr txBox="1"/>
          <p:nvPr/>
        </p:nvSpPr>
        <p:spPr>
          <a:xfrm>
            <a:off x="7496251" y="2907792"/>
            <a:ext cx="1706270" cy="685800"/>
          </a:xfrm>
          <a:prstGeom prst="rect">
            <a:avLst/>
          </a:prstGeom>
          <a:noFill/>
          <a:ln/>
        </p:spPr>
        <p:txBody>
          <a:bodyPr wrap="square" lIns="508" tIns="508" rIns="508" bIns="508" rtlCol="0" anchor="t"/>
          <a:lstStyle/>
          <a:p>
            <a:pPr algn="l" indent="0" marL="0">
              <a:lnSpc>
                <a:spcPct val="100000"/>
              </a:lnSpc>
              <a:buNone/>
            </a:pPr>
            <a:r>
              <a:rPr lang="en-US" sz="1500" b="1" dirty="0">
                <a:solidFill>
                  <a:srgbClr val="FF5F3F"/>
                </a:solidFill>
                <a:latin typeface="Calibri" pitchFamily="34" charset="0"/>
                <a:ea typeface="Calibri" pitchFamily="34" charset="-122"/>
                <a:cs typeface="Calibri" pitchFamily="34" charset="-120"/>
              </a:rPr>
              <a:t>Valor social</a:t>
            </a:r>
            <a:endParaRPr lang="en-US" sz="1500" dirty="0"/>
          </a:p>
        </p:txBody>
      </p:sp>
      <p:sp>
        <p:nvSpPr>
          <p:cNvPr id="24" name="Text 22"/>
          <p:cNvSpPr txBox="1"/>
          <p:nvPr/>
        </p:nvSpPr>
        <p:spPr>
          <a:xfrm>
            <a:off x="7496251" y="3639312"/>
            <a:ext cx="1706270" cy="1920240"/>
          </a:xfrm>
          <a:prstGeom prst="rect">
            <a:avLst/>
          </a:prstGeom>
          <a:noFill/>
          <a:ln/>
        </p:spPr>
        <p:txBody>
          <a:bodyPr wrap="square" lIns="508" tIns="508" rIns="508" bIns="508" rtlCol="0" anchor="t"/>
          <a:lstStyle/>
          <a:p>
            <a:pPr algn="l" indent="0" marL="0">
              <a:lnSpc>
                <a:spcPct val="100000"/>
              </a:lnSpc>
              <a:buNone/>
            </a:pPr>
            <a:r>
              <a:rPr lang="en-US" sz="1300" dirty="0">
                <a:solidFill>
                  <a:srgbClr val="262626"/>
                </a:solidFill>
                <a:latin typeface="Calibri" pitchFamily="34" charset="0"/>
                <a:ea typeface="Calibri" pitchFamily="34" charset="-122"/>
                <a:cs typeface="Calibri" pitchFamily="34" charset="-120"/>
              </a:rPr>
              <a:t>Seguridad perioperatoria de un grupo cuyo derecho a la cirugía sin transfusión reconoce la Corte.</a:t>
            </a:r>
            <a:endParaRPr lang="en-US" sz="1300" dirty="0"/>
          </a:p>
        </p:txBody>
      </p:sp>
      <p:sp>
        <p:nvSpPr>
          <p:cNvPr id="25" name="Shape 23"/>
          <p:cNvSpPr/>
          <p:nvPr/>
        </p:nvSpPr>
        <p:spPr>
          <a:xfrm>
            <a:off x="9568282" y="2103120"/>
            <a:ext cx="2072030" cy="3520440"/>
          </a:xfrm>
          <a:prstGeom prst="roundRect">
            <a:avLst>
              <a:gd name="adj" fmla="val 3530"/>
            </a:avLst>
          </a:prstGeom>
          <a:solidFill>
            <a:srgbClr val="F7EDF5"/>
          </a:solidFill>
          <a:ln/>
        </p:spPr>
      </p:sp>
      <p:sp>
        <p:nvSpPr>
          <p:cNvPr id="26" name="Shape 24"/>
          <p:cNvSpPr/>
          <p:nvPr/>
        </p:nvSpPr>
        <p:spPr>
          <a:xfrm>
            <a:off x="9751162" y="2267712"/>
            <a:ext cx="502920" cy="502920"/>
          </a:xfrm>
          <a:prstGeom prst="ellipse">
            <a:avLst/>
          </a:prstGeom>
          <a:solidFill>
            <a:srgbClr val="80006B"/>
          </a:solidFill>
          <a:ln/>
        </p:spPr>
      </p:sp>
      <p:sp>
        <p:nvSpPr>
          <p:cNvPr id="27" name="Text 25"/>
          <p:cNvSpPr txBox="1"/>
          <p:nvPr/>
        </p:nvSpPr>
        <p:spPr>
          <a:xfrm>
            <a:off x="9751162" y="2267712"/>
            <a:ext cx="502920" cy="502920"/>
          </a:xfrm>
          <a:prstGeom prst="rect">
            <a:avLst/>
          </a:prstGeom>
          <a:noFill/>
          <a:ln/>
        </p:spPr>
        <p:txBody>
          <a:bodyPr wrap="square" lIns="0" tIns="0" rIns="0" bIns="0" rtlCol="0" anchor="ctr"/>
          <a:lstStyle/>
          <a:p>
            <a:pPr algn="ctr" indent="0" marL="0">
              <a:lnSpc>
                <a:spcPct val="100000"/>
              </a:lnSpc>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28" name="Text 26"/>
          <p:cNvSpPr txBox="1"/>
          <p:nvPr/>
        </p:nvSpPr>
        <p:spPr>
          <a:xfrm>
            <a:off x="9751162" y="2907792"/>
            <a:ext cx="1706270" cy="685800"/>
          </a:xfrm>
          <a:prstGeom prst="rect">
            <a:avLst/>
          </a:prstGeom>
          <a:noFill/>
          <a:ln/>
        </p:spPr>
        <p:txBody>
          <a:bodyPr wrap="square" lIns="508" tIns="508" rIns="508" bIns="508" rtlCol="0" anchor="t"/>
          <a:lstStyle/>
          <a:p>
            <a:pPr algn="l" indent="0" marL="0">
              <a:lnSpc>
                <a:spcPct val="100000"/>
              </a:lnSpc>
              <a:buNone/>
            </a:pPr>
            <a:r>
              <a:rPr lang="en-US" sz="1500" b="1" dirty="0">
                <a:solidFill>
                  <a:srgbClr val="80006B"/>
                </a:solidFill>
                <a:latin typeface="Calibri" pitchFamily="34" charset="0"/>
                <a:ea typeface="Calibri" pitchFamily="34" charset="-122"/>
                <a:cs typeface="Calibri" pitchFamily="34" charset="-120"/>
              </a:rPr>
              <a:t>Garantías legales</a:t>
            </a:r>
            <a:endParaRPr lang="en-US" sz="1500" dirty="0"/>
          </a:p>
        </p:txBody>
      </p:sp>
      <p:sp>
        <p:nvSpPr>
          <p:cNvPr id="29" name="Text 27"/>
          <p:cNvSpPr txBox="1"/>
          <p:nvPr/>
        </p:nvSpPr>
        <p:spPr>
          <a:xfrm>
            <a:off x="9751162" y="3639312"/>
            <a:ext cx="1706270" cy="1920240"/>
          </a:xfrm>
          <a:prstGeom prst="rect">
            <a:avLst/>
          </a:prstGeom>
          <a:noFill/>
          <a:ln/>
        </p:spPr>
        <p:txBody>
          <a:bodyPr wrap="square" lIns="508" tIns="508" rIns="508" bIns="508" rtlCol="0" anchor="t"/>
          <a:lstStyle/>
          <a:p>
            <a:pPr algn="l" indent="0" marL="0">
              <a:lnSpc>
                <a:spcPct val="100000"/>
              </a:lnSpc>
              <a:buNone/>
            </a:pPr>
            <a:r>
              <a:rPr lang="en-US" sz="1300" dirty="0">
                <a:solidFill>
                  <a:srgbClr val="262626"/>
                </a:solidFill>
                <a:latin typeface="Calibri" pitchFamily="34" charset="0"/>
                <a:ea typeface="Calibri" pitchFamily="34" charset="-122"/>
                <a:cs typeface="Calibri" pitchFamily="34" charset="-120"/>
              </a:rPr>
              <a:t>Finalidad científica y supresión de identidad (Ley 1581, art. 6 e y art. 10 d).</a:t>
            </a:r>
            <a:endParaRPr lang="en-US" sz="1300" dirty="0"/>
          </a:p>
        </p:txBody>
      </p:sp>
      <p:sp>
        <p:nvSpPr>
          <p:cNvPr id="30" name="Text 28"/>
          <p:cNvSpPr txBox="1"/>
          <p:nvPr/>
        </p:nvSpPr>
        <p:spPr>
          <a:xfrm>
            <a:off x="548640" y="5833872"/>
            <a:ext cx="11091672" cy="292608"/>
          </a:xfrm>
          <a:prstGeom prst="rect">
            <a:avLst/>
          </a:prstGeom>
          <a:noFill/>
          <a:ln/>
        </p:spPr>
        <p:txBody>
          <a:bodyPr wrap="square" lIns="508" tIns="508" rIns="508" bIns="508" rtlCol="0" anchor="ctr"/>
          <a:lstStyle/>
          <a:p>
            <a:pPr algn="l" indent="0" marL="0">
              <a:lnSpc>
                <a:spcPct val="100000"/>
              </a:lnSpc>
              <a:buNone/>
            </a:pPr>
            <a:r>
              <a:rPr lang="en-US" sz="1200" b="1" dirty="0">
                <a:solidFill>
                  <a:srgbClr val="80006B"/>
                </a:solidFill>
                <a:latin typeface="Calibri" pitchFamily="34" charset="0"/>
                <a:ea typeface="Calibri" pitchFamily="34" charset="-122"/>
                <a:cs typeface="Calibri" pitchFamily="34" charset="-120"/>
              </a:rPr>
              <a:t>Dónde está en el protocolo v2.0:  </a:t>
            </a:r>
            <a:pPr algn="l" indent="0" marL="0">
              <a:lnSpc>
                <a:spcPct val="100000"/>
              </a:lnSpc>
              <a:buNone/>
            </a:pPr>
            <a:r>
              <a:rPr lang="en-US" sz="1200" dirty="0">
                <a:solidFill>
                  <a:srgbClr val="6B6B6B"/>
                </a:solidFill>
                <a:latin typeface="Calibri" pitchFamily="34" charset="0"/>
                <a:ea typeface="Calibri" pitchFamily="34" charset="-122"/>
                <a:cs typeface="Calibri" pitchFamily="34" charset="-120"/>
              </a:rPr>
              <a:t>numeral 3.9, p. 41 · numeral 2.3.1, p. 24 · numeral 2.3.2, p. 25</a:t>
            </a:r>
            <a:endParaRPr lang="en-US" sz="1200" dirty="0"/>
          </a:p>
        </p:txBody>
      </p:sp>
      <p:sp>
        <p:nvSpPr>
          <p:cNvPr id="25" name="Slide Number Placeholder 0"/>
          <p:cNvSpPr>
            <a:spLocks noGrp="1"/>
          </p:cNvSpPr>
          <p:nvPr>
            <p:ph type="sldNum" sz="quarter" idx="4294967295"/>
          </p:nvPr>
        </p:nvSpPr>
        <p:spPr>
          <a:xfrm>
            <a:off x="11201400" y="635508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292608"/>
            <a:ext cx="8686800" cy="274320"/>
          </a:xfrm>
          <a:prstGeom prst="rect">
            <a:avLst/>
          </a:prstGeom>
          <a:noFill/>
          <a:ln/>
        </p:spPr>
        <p:txBody>
          <a:bodyPr wrap="square" lIns="508" tIns="508" rIns="508" bIns="508" rtlCol="0" anchor="t"/>
          <a:lstStyle/>
          <a:p>
            <a:pPr algn="l" indent="0" marL="0">
              <a:lnSpc>
                <a:spcPct val="100000"/>
              </a:lnSpc>
              <a:buNone/>
            </a:pPr>
            <a:r>
              <a:rPr lang="en-US" sz="1200" b="1" dirty="0">
                <a:solidFill>
                  <a:srgbClr val="FF5F3F"/>
                </a:solidFill>
                <a:latin typeface="Calibri" pitchFamily="34" charset="0"/>
                <a:ea typeface="Calibri" pitchFamily="34" charset="-122"/>
                <a:cs typeface="Calibri" pitchFamily="34" charset="-120"/>
              </a:rPr>
              <a:t>OBSERVACIÓN 5 DE 7</a:t>
            </a:r>
            <a:endParaRPr lang="en-US" sz="1200" dirty="0"/>
          </a:p>
        </p:txBody>
      </p:sp>
      <p:sp>
        <p:nvSpPr>
          <p:cNvPr id="3" name="Text 1"/>
          <p:cNvSpPr txBox="1"/>
          <p:nvPr/>
        </p:nvSpPr>
        <p:spPr>
          <a:xfrm>
            <a:off x="548640" y="548640"/>
            <a:ext cx="9326880" cy="548640"/>
          </a:xfrm>
          <a:prstGeom prst="rect">
            <a:avLst/>
          </a:prstGeom>
          <a:noFill/>
          <a:ln/>
        </p:spPr>
        <p:txBody>
          <a:bodyPr wrap="square" lIns="508" tIns="508" rIns="508" bIns="508" rtlCol="0" anchor="ctr"/>
          <a:lstStyle/>
          <a:p>
            <a:pPr algn="l" indent="0" marL="0">
              <a:lnSpc>
                <a:spcPct val="100000"/>
              </a:lnSpc>
              <a:buNone/>
            </a:pPr>
            <a:r>
              <a:rPr lang="en-US" sz="2800" b="1" dirty="0">
                <a:solidFill>
                  <a:srgbClr val="80006B"/>
                </a:solidFill>
                <a:latin typeface="Calibri" pitchFamily="34" charset="0"/>
                <a:ea typeface="Calibri" pitchFamily="34" charset="-122"/>
                <a:cs typeface="Calibri" pitchFamily="34" charset="-120"/>
              </a:rPr>
              <a:t>Protección de datos sensibles</a:t>
            </a:r>
            <a:endParaRPr lang="en-US" sz="2800" dirty="0"/>
          </a:p>
        </p:txBody>
      </p:sp>
      <p:sp>
        <p:nvSpPr>
          <p:cNvPr id="4" name="Shape 2"/>
          <p:cNvSpPr/>
          <p:nvPr/>
        </p:nvSpPr>
        <p:spPr>
          <a:xfrm>
            <a:off x="548640" y="1261872"/>
            <a:ext cx="11091672" cy="713232"/>
          </a:xfrm>
          <a:prstGeom prst="roundRect">
            <a:avLst>
              <a:gd name="adj" fmla="val 10256"/>
            </a:avLst>
          </a:prstGeom>
          <a:solidFill>
            <a:srgbClr val="F7EDF5"/>
          </a:solidFill>
          <a:ln/>
        </p:spPr>
      </p:sp>
      <p:sp>
        <p:nvSpPr>
          <p:cNvPr id="5" name="Text 3"/>
          <p:cNvSpPr txBox="1"/>
          <p:nvPr/>
        </p:nvSpPr>
        <p:spPr>
          <a:xfrm>
            <a:off x="731520" y="1261872"/>
            <a:ext cx="10725912" cy="713232"/>
          </a:xfrm>
          <a:prstGeom prst="rect">
            <a:avLst/>
          </a:prstGeom>
          <a:noFill/>
          <a:ln/>
        </p:spPr>
        <p:txBody>
          <a:bodyPr wrap="square" lIns="508" tIns="508" rIns="508" bIns="508" rtlCol="0" anchor="ctr"/>
          <a:lstStyle/>
          <a:p>
            <a:pPr algn="l" indent="0" marL="0">
              <a:lnSpc>
                <a:spcPct val="100000"/>
              </a:lnSpc>
              <a:buNone/>
            </a:pPr>
            <a:r>
              <a:rPr lang="en-US" sz="1300" b="1" dirty="0">
                <a:solidFill>
                  <a:srgbClr val="80006B"/>
                </a:solidFill>
                <a:latin typeface="Calibri" pitchFamily="34" charset="0"/>
                <a:ea typeface="Calibri" pitchFamily="34" charset="-122"/>
                <a:cs typeface="Calibri" pitchFamily="34" charset="-120"/>
              </a:rPr>
              <a:t>Observación del Comité  </a:t>
            </a:r>
            <a:pPr algn="l" indent="0" marL="0">
              <a:lnSpc>
                <a:spcPct val="100000"/>
              </a:lnSpc>
              <a:buNone/>
            </a:pPr>
            <a:r>
              <a:rPr lang="en-US" sz="1300" i="1" dirty="0">
                <a:solidFill>
                  <a:srgbClr val="262626"/>
                </a:solidFill>
                <a:latin typeface="Calibri" pitchFamily="34" charset="0"/>
                <a:ea typeface="Calibri" pitchFamily="34" charset="-122"/>
                <a:cs typeface="Calibri" pitchFamily="34" charset="-120"/>
              </a:rPr>
              <a:t>«Describir responsables y controles de acceso, codificación, almacenamiento, custodia de claves y manejo de incidentes. Prevenir la identificación indirecta y la divulgación no autorizada de datos clínicos o religiosos (Ley 1581 de 2012)».</a:t>
            </a:r>
            <a:endParaRPr lang="en-US" sz="1300" dirty="0"/>
          </a:p>
        </p:txBody>
      </p:sp>
      <p:sp>
        <p:nvSpPr>
          <p:cNvPr id="6" name="Shape 4"/>
          <p:cNvSpPr/>
          <p:nvPr/>
        </p:nvSpPr>
        <p:spPr>
          <a:xfrm>
            <a:off x="548640" y="2148840"/>
            <a:ext cx="1691640" cy="310896"/>
          </a:xfrm>
          <a:prstGeom prst="roundRect">
            <a:avLst>
              <a:gd name="adj" fmla="val 147059"/>
            </a:avLst>
          </a:prstGeom>
          <a:solidFill>
            <a:srgbClr val="FF5F3F"/>
          </a:solidFill>
          <a:ln/>
        </p:spPr>
      </p:sp>
      <p:sp>
        <p:nvSpPr>
          <p:cNvPr id="7" name="Text 5"/>
          <p:cNvSpPr txBox="1"/>
          <p:nvPr/>
        </p:nvSpPr>
        <p:spPr>
          <a:xfrm>
            <a:off x="548640" y="2148840"/>
            <a:ext cx="1691640" cy="310896"/>
          </a:xfrm>
          <a:prstGeom prst="rect">
            <a:avLst/>
          </a:prstGeom>
          <a:noFill/>
          <a:ln/>
        </p:spPr>
        <p:txBody>
          <a:bodyPr wrap="square" lIns="0" tIns="0" rIns="0" bIns="0" rtlCol="0" anchor="ctr"/>
          <a:lstStyle/>
          <a:p>
            <a:pPr algn="ctr" indent="0" marL="0">
              <a:lnSpc>
                <a:spcPct val="100000"/>
              </a:lnSpc>
              <a:buNone/>
            </a:pPr>
            <a:r>
              <a:rPr lang="en-US" sz="1100" b="1" dirty="0">
                <a:solidFill>
                  <a:srgbClr val="FFFFFF"/>
                </a:solidFill>
                <a:latin typeface="Calibri" pitchFamily="34" charset="0"/>
                <a:ea typeface="Calibri" pitchFamily="34" charset="-122"/>
                <a:cs typeface="Calibri" pitchFamily="34" charset="-120"/>
              </a:rPr>
              <a:t>Se acoge</a:t>
            </a:r>
            <a:endParaRPr lang="en-US" sz="1100" dirty="0"/>
          </a:p>
        </p:txBody>
      </p:sp>
      <p:sp>
        <p:nvSpPr>
          <p:cNvPr id="8" name="Text 6"/>
          <p:cNvSpPr txBox="1"/>
          <p:nvPr/>
        </p:nvSpPr>
        <p:spPr>
          <a:xfrm>
            <a:off x="2377440" y="2121408"/>
            <a:ext cx="9262872" cy="384048"/>
          </a:xfrm>
          <a:prstGeom prst="rect">
            <a:avLst/>
          </a:prstGeom>
          <a:noFill/>
          <a:ln/>
        </p:spPr>
        <p:txBody>
          <a:bodyPr wrap="square" lIns="508" tIns="508" rIns="508" bIns="508" rtlCol="0" anchor="ctr"/>
          <a:lstStyle/>
          <a:p>
            <a:pPr algn="l" indent="0" marL="0">
              <a:lnSpc>
                <a:spcPct val="100000"/>
              </a:lnSpc>
              <a:buNone/>
            </a:pPr>
            <a:r>
              <a:rPr lang="en-US" sz="1500" dirty="0">
                <a:solidFill>
                  <a:srgbClr val="262626"/>
                </a:solidFill>
                <a:latin typeface="Calibri" pitchFamily="34" charset="0"/>
                <a:ea typeface="Calibri" pitchFamily="34" charset="-122"/>
                <a:cs typeface="Calibri" pitchFamily="34" charset="-120"/>
              </a:rPr>
              <a:t>Se incorporó el numeral 3.9.1, «Plan de protección de datos personales y sensibles».</a:t>
            </a:r>
            <a:endParaRPr lang="en-US" sz="1500" dirty="0"/>
          </a:p>
        </p:txBody>
      </p:sp>
      <p:sp>
        <p:nvSpPr>
          <p:cNvPr id="9" name="Shape 7"/>
          <p:cNvSpPr/>
          <p:nvPr/>
        </p:nvSpPr>
        <p:spPr>
          <a:xfrm>
            <a:off x="548640" y="2697480"/>
            <a:ext cx="2635758" cy="1463040"/>
          </a:xfrm>
          <a:prstGeom prst="roundRect">
            <a:avLst>
              <a:gd name="adj" fmla="val 5000"/>
            </a:avLst>
          </a:prstGeom>
          <a:solidFill>
            <a:srgbClr val="F7EDF5"/>
          </a:solidFill>
          <a:ln w="15875">
            <a:solidFill>
              <a:srgbClr val="D9B8D3"/>
            </a:solidFill>
            <a:prstDash val="solid"/>
          </a:ln>
        </p:spPr>
      </p:sp>
      <p:sp>
        <p:nvSpPr>
          <p:cNvPr id="10" name="Shape 8"/>
          <p:cNvSpPr/>
          <p:nvPr/>
        </p:nvSpPr>
        <p:spPr>
          <a:xfrm>
            <a:off x="685800" y="2834640"/>
            <a:ext cx="365760" cy="365760"/>
          </a:xfrm>
          <a:prstGeom prst="ellipse">
            <a:avLst/>
          </a:prstGeom>
          <a:solidFill>
            <a:srgbClr val="FF5F3F"/>
          </a:solidFill>
          <a:ln/>
        </p:spPr>
      </p:sp>
      <p:sp>
        <p:nvSpPr>
          <p:cNvPr id="11" name="Text 9"/>
          <p:cNvSpPr txBox="1"/>
          <p:nvPr/>
        </p:nvSpPr>
        <p:spPr>
          <a:xfrm>
            <a:off x="685800" y="2834640"/>
            <a:ext cx="365760" cy="365760"/>
          </a:xfrm>
          <a:prstGeom prst="rect">
            <a:avLst/>
          </a:prstGeom>
          <a:noFill/>
          <a:ln/>
        </p:spPr>
        <p:txBody>
          <a:bodyPr wrap="square" lIns="0" tIns="0" rIns="0" bIns="0" rtlCol="0" anchor="ctr"/>
          <a:lstStyle/>
          <a:p>
            <a:pPr algn="ctr" indent="0" marL="0">
              <a:lnSpc>
                <a:spcPct val="100000"/>
              </a:lnSpc>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2" name="Text 10"/>
          <p:cNvSpPr txBox="1"/>
          <p:nvPr/>
        </p:nvSpPr>
        <p:spPr>
          <a:xfrm>
            <a:off x="1143000" y="2807208"/>
            <a:ext cx="1949958" cy="411480"/>
          </a:xfrm>
          <a:prstGeom prst="rect">
            <a:avLst/>
          </a:prstGeom>
          <a:noFill/>
          <a:ln/>
        </p:spPr>
        <p:txBody>
          <a:bodyPr wrap="square" lIns="508" tIns="508" rIns="508" bIns="508" rtlCol="0" anchor="ctr"/>
          <a:lstStyle/>
          <a:p>
            <a:pPr algn="l" indent="0" marL="0">
              <a:lnSpc>
                <a:spcPct val="100000"/>
              </a:lnSpc>
              <a:buNone/>
            </a:pPr>
            <a:r>
              <a:rPr lang="en-US" sz="1400" b="1" dirty="0">
                <a:solidFill>
                  <a:srgbClr val="80006B"/>
                </a:solidFill>
                <a:latin typeface="Calibri" pitchFamily="34" charset="0"/>
                <a:ea typeface="Calibri" pitchFamily="34" charset="-122"/>
                <a:cs typeface="Calibri" pitchFamily="34" charset="-120"/>
              </a:rPr>
              <a:t>Responsables</a:t>
            </a:r>
            <a:endParaRPr lang="en-US" sz="1400" dirty="0"/>
          </a:p>
        </p:txBody>
      </p:sp>
      <p:sp>
        <p:nvSpPr>
          <p:cNvPr id="13" name="Text 11"/>
          <p:cNvSpPr txBox="1"/>
          <p:nvPr/>
        </p:nvSpPr>
        <p:spPr>
          <a:xfrm>
            <a:off x="685800" y="3264408"/>
            <a:ext cx="2361438" cy="822960"/>
          </a:xfrm>
          <a:prstGeom prst="rect">
            <a:avLst/>
          </a:prstGeom>
          <a:noFill/>
          <a:ln/>
        </p:spPr>
        <p:txBody>
          <a:bodyPr wrap="square" lIns="508" tIns="508" rIns="508" bIns="508" rtlCol="0" anchor="t"/>
          <a:lstStyle/>
          <a:p>
            <a:pPr algn="l" indent="0" marL="0">
              <a:lnSpc>
                <a:spcPct val="100000"/>
              </a:lnSpc>
              <a:buNone/>
            </a:pPr>
            <a:r>
              <a:rPr lang="en-US" sz="1200" dirty="0">
                <a:solidFill>
                  <a:srgbClr val="262626"/>
                </a:solidFill>
                <a:latin typeface="Calibri" pitchFamily="34" charset="0"/>
                <a:ea typeface="Calibri" pitchFamily="34" charset="-122"/>
                <a:cs typeface="Calibri" pitchFamily="34" charset="-120"/>
              </a:rPr>
              <a:t>Clínica: responsable del tratamiento. Investigadores: encargados (art. 18).</a:t>
            </a:r>
            <a:endParaRPr lang="en-US" sz="1200" dirty="0"/>
          </a:p>
        </p:txBody>
      </p:sp>
      <p:sp>
        <p:nvSpPr>
          <p:cNvPr id="14" name="Shape 12"/>
          <p:cNvSpPr/>
          <p:nvPr/>
        </p:nvSpPr>
        <p:spPr>
          <a:xfrm>
            <a:off x="3367278" y="2697480"/>
            <a:ext cx="2635758" cy="1463040"/>
          </a:xfrm>
          <a:prstGeom prst="roundRect">
            <a:avLst>
              <a:gd name="adj" fmla="val 5000"/>
            </a:avLst>
          </a:prstGeom>
          <a:solidFill>
            <a:srgbClr val="FFFFFF"/>
          </a:solidFill>
          <a:ln w="15875">
            <a:solidFill>
              <a:srgbClr val="D9B8D3"/>
            </a:solidFill>
            <a:prstDash val="solid"/>
          </a:ln>
        </p:spPr>
      </p:sp>
      <p:sp>
        <p:nvSpPr>
          <p:cNvPr id="15" name="Shape 13"/>
          <p:cNvSpPr/>
          <p:nvPr/>
        </p:nvSpPr>
        <p:spPr>
          <a:xfrm>
            <a:off x="3504438" y="2834640"/>
            <a:ext cx="365760" cy="365760"/>
          </a:xfrm>
          <a:prstGeom prst="ellipse">
            <a:avLst/>
          </a:prstGeom>
          <a:solidFill>
            <a:srgbClr val="FF5F3F"/>
          </a:solidFill>
          <a:ln/>
        </p:spPr>
      </p:sp>
      <p:sp>
        <p:nvSpPr>
          <p:cNvPr id="16" name="Text 14"/>
          <p:cNvSpPr txBox="1"/>
          <p:nvPr/>
        </p:nvSpPr>
        <p:spPr>
          <a:xfrm>
            <a:off x="3504438" y="2834640"/>
            <a:ext cx="365760" cy="365760"/>
          </a:xfrm>
          <a:prstGeom prst="rect">
            <a:avLst/>
          </a:prstGeom>
          <a:noFill/>
          <a:ln/>
        </p:spPr>
        <p:txBody>
          <a:bodyPr wrap="square" lIns="0" tIns="0" rIns="0" bIns="0" rtlCol="0" anchor="ctr"/>
          <a:lstStyle/>
          <a:p>
            <a:pPr algn="ctr" indent="0" marL="0">
              <a:lnSpc>
                <a:spcPct val="100000"/>
              </a:lnSpc>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7" name="Text 15"/>
          <p:cNvSpPr txBox="1"/>
          <p:nvPr/>
        </p:nvSpPr>
        <p:spPr>
          <a:xfrm>
            <a:off x="3961638" y="2807208"/>
            <a:ext cx="1949958" cy="411480"/>
          </a:xfrm>
          <a:prstGeom prst="rect">
            <a:avLst/>
          </a:prstGeom>
          <a:noFill/>
          <a:ln/>
        </p:spPr>
        <p:txBody>
          <a:bodyPr wrap="square" lIns="508" tIns="508" rIns="508" bIns="508" rtlCol="0" anchor="ctr"/>
          <a:lstStyle/>
          <a:p>
            <a:pPr algn="l" indent="0" marL="0">
              <a:lnSpc>
                <a:spcPct val="100000"/>
              </a:lnSpc>
              <a:buNone/>
            </a:pPr>
            <a:r>
              <a:rPr lang="en-US" sz="1400" b="1" dirty="0">
                <a:solidFill>
                  <a:srgbClr val="80006B"/>
                </a:solidFill>
                <a:latin typeface="Calibri" pitchFamily="34" charset="0"/>
                <a:ea typeface="Calibri" pitchFamily="34" charset="-122"/>
                <a:cs typeface="Calibri" pitchFamily="34" charset="-120"/>
              </a:rPr>
              <a:t>Accesos</a:t>
            </a:r>
            <a:endParaRPr lang="en-US" sz="1400" dirty="0"/>
          </a:p>
        </p:txBody>
      </p:sp>
      <p:sp>
        <p:nvSpPr>
          <p:cNvPr id="18" name="Text 16"/>
          <p:cNvSpPr txBox="1"/>
          <p:nvPr/>
        </p:nvSpPr>
        <p:spPr>
          <a:xfrm>
            <a:off x="3504438" y="3264408"/>
            <a:ext cx="2361438" cy="822960"/>
          </a:xfrm>
          <a:prstGeom prst="rect">
            <a:avLst/>
          </a:prstGeom>
          <a:noFill/>
          <a:ln/>
        </p:spPr>
        <p:txBody>
          <a:bodyPr wrap="square" lIns="508" tIns="508" rIns="508" bIns="508" rtlCol="0" anchor="t"/>
          <a:lstStyle/>
          <a:p>
            <a:pPr algn="l" indent="0" marL="0">
              <a:lnSpc>
                <a:spcPct val="100000"/>
              </a:lnSpc>
              <a:buNone/>
            </a:pPr>
            <a:r>
              <a:rPr lang="en-US" sz="1200" dirty="0">
                <a:solidFill>
                  <a:srgbClr val="262626"/>
                </a:solidFill>
                <a:latin typeface="Calibri" pitchFamily="34" charset="0"/>
                <a:ea typeface="Calibri" pitchFamily="34" charset="-122"/>
                <a:cs typeface="Calibri" pitchFamily="34" charset="-120"/>
              </a:rPr>
              <a:t>Credenciales individuales, solo consulta, en la red de la Clínica; sin copias ni dispositivos externos.</a:t>
            </a:r>
            <a:endParaRPr lang="en-US" sz="1200" dirty="0"/>
          </a:p>
        </p:txBody>
      </p:sp>
      <p:sp>
        <p:nvSpPr>
          <p:cNvPr id="19" name="Shape 17"/>
          <p:cNvSpPr/>
          <p:nvPr/>
        </p:nvSpPr>
        <p:spPr>
          <a:xfrm>
            <a:off x="6185916" y="2697480"/>
            <a:ext cx="2635758" cy="1463040"/>
          </a:xfrm>
          <a:prstGeom prst="roundRect">
            <a:avLst>
              <a:gd name="adj" fmla="val 5000"/>
            </a:avLst>
          </a:prstGeom>
          <a:solidFill>
            <a:srgbClr val="F7EDF5"/>
          </a:solidFill>
          <a:ln w="15875">
            <a:solidFill>
              <a:srgbClr val="D9B8D3"/>
            </a:solidFill>
            <a:prstDash val="solid"/>
          </a:ln>
        </p:spPr>
      </p:sp>
      <p:sp>
        <p:nvSpPr>
          <p:cNvPr id="20" name="Shape 18"/>
          <p:cNvSpPr/>
          <p:nvPr/>
        </p:nvSpPr>
        <p:spPr>
          <a:xfrm>
            <a:off x="6323076" y="2834640"/>
            <a:ext cx="365760" cy="365760"/>
          </a:xfrm>
          <a:prstGeom prst="ellipse">
            <a:avLst/>
          </a:prstGeom>
          <a:solidFill>
            <a:srgbClr val="FF5F3F"/>
          </a:solidFill>
          <a:ln/>
        </p:spPr>
      </p:sp>
      <p:sp>
        <p:nvSpPr>
          <p:cNvPr id="21" name="Text 19"/>
          <p:cNvSpPr txBox="1"/>
          <p:nvPr/>
        </p:nvSpPr>
        <p:spPr>
          <a:xfrm>
            <a:off x="6323076" y="2834640"/>
            <a:ext cx="365760" cy="365760"/>
          </a:xfrm>
          <a:prstGeom prst="rect">
            <a:avLst/>
          </a:prstGeom>
          <a:noFill/>
          <a:ln/>
        </p:spPr>
        <p:txBody>
          <a:bodyPr wrap="square" lIns="0" tIns="0" rIns="0" bIns="0" rtlCol="0" anchor="ctr"/>
          <a:lstStyle/>
          <a:p>
            <a:pPr algn="ctr" indent="0" marL="0">
              <a:lnSpc>
                <a:spcPct val="100000"/>
              </a:lnSpc>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2" name="Text 20"/>
          <p:cNvSpPr txBox="1"/>
          <p:nvPr/>
        </p:nvSpPr>
        <p:spPr>
          <a:xfrm>
            <a:off x="6780276" y="2807208"/>
            <a:ext cx="1949958" cy="411480"/>
          </a:xfrm>
          <a:prstGeom prst="rect">
            <a:avLst/>
          </a:prstGeom>
          <a:noFill/>
          <a:ln/>
        </p:spPr>
        <p:txBody>
          <a:bodyPr wrap="square" lIns="508" tIns="508" rIns="508" bIns="508" rtlCol="0" anchor="ctr"/>
          <a:lstStyle/>
          <a:p>
            <a:pPr algn="l" indent="0" marL="0">
              <a:lnSpc>
                <a:spcPct val="100000"/>
              </a:lnSpc>
              <a:buNone/>
            </a:pPr>
            <a:r>
              <a:rPr lang="en-US" sz="1400" b="1" dirty="0">
                <a:solidFill>
                  <a:srgbClr val="80006B"/>
                </a:solidFill>
                <a:latin typeface="Calibri" pitchFamily="34" charset="0"/>
                <a:ea typeface="Calibri" pitchFamily="34" charset="-122"/>
                <a:cs typeface="Calibri" pitchFamily="34" charset="-120"/>
              </a:rPr>
              <a:t>Codificación</a:t>
            </a:r>
            <a:endParaRPr lang="en-US" sz="1400" dirty="0"/>
          </a:p>
        </p:txBody>
      </p:sp>
      <p:sp>
        <p:nvSpPr>
          <p:cNvPr id="23" name="Text 21"/>
          <p:cNvSpPr txBox="1"/>
          <p:nvPr/>
        </p:nvSpPr>
        <p:spPr>
          <a:xfrm>
            <a:off x="6323076" y="3264408"/>
            <a:ext cx="2361438" cy="822960"/>
          </a:xfrm>
          <a:prstGeom prst="rect">
            <a:avLst/>
          </a:prstGeom>
          <a:noFill/>
          <a:ln/>
        </p:spPr>
        <p:txBody>
          <a:bodyPr wrap="square" lIns="508" tIns="508" rIns="508" bIns="508" rtlCol="0" anchor="t"/>
          <a:lstStyle/>
          <a:p>
            <a:pPr algn="l" indent="0" marL="0">
              <a:lnSpc>
                <a:spcPct val="100000"/>
              </a:lnSpc>
              <a:buNone/>
            </a:pPr>
            <a:r>
              <a:rPr lang="en-US" sz="1200" dirty="0">
                <a:solidFill>
                  <a:srgbClr val="262626"/>
                </a:solidFill>
                <a:latin typeface="Calibri" pitchFamily="34" charset="0"/>
                <a:ea typeface="Calibri" pitchFamily="34" charset="-122"/>
                <a:cs typeface="Calibri" pitchFamily="34" charset="-120"/>
              </a:rPr>
              <a:t>Código aleatorio sin alusión religiosa; fechas relativas; sin variable de religión.</a:t>
            </a:r>
            <a:endParaRPr lang="en-US" sz="1200" dirty="0"/>
          </a:p>
        </p:txBody>
      </p:sp>
      <p:sp>
        <p:nvSpPr>
          <p:cNvPr id="24" name="Shape 22"/>
          <p:cNvSpPr/>
          <p:nvPr/>
        </p:nvSpPr>
        <p:spPr>
          <a:xfrm>
            <a:off x="9004554" y="2697480"/>
            <a:ext cx="2635758" cy="1463040"/>
          </a:xfrm>
          <a:prstGeom prst="roundRect">
            <a:avLst>
              <a:gd name="adj" fmla="val 5000"/>
            </a:avLst>
          </a:prstGeom>
          <a:solidFill>
            <a:srgbClr val="FFFFFF"/>
          </a:solidFill>
          <a:ln w="15875">
            <a:solidFill>
              <a:srgbClr val="D9B8D3"/>
            </a:solidFill>
            <a:prstDash val="solid"/>
          </a:ln>
        </p:spPr>
      </p:sp>
      <p:sp>
        <p:nvSpPr>
          <p:cNvPr id="25" name="Shape 23"/>
          <p:cNvSpPr/>
          <p:nvPr/>
        </p:nvSpPr>
        <p:spPr>
          <a:xfrm>
            <a:off x="9141714" y="2834640"/>
            <a:ext cx="365760" cy="365760"/>
          </a:xfrm>
          <a:prstGeom prst="ellipse">
            <a:avLst/>
          </a:prstGeom>
          <a:solidFill>
            <a:srgbClr val="FF5F3F"/>
          </a:solidFill>
          <a:ln/>
        </p:spPr>
      </p:sp>
      <p:sp>
        <p:nvSpPr>
          <p:cNvPr id="26" name="Text 24"/>
          <p:cNvSpPr txBox="1"/>
          <p:nvPr/>
        </p:nvSpPr>
        <p:spPr>
          <a:xfrm>
            <a:off x="9141714" y="2834640"/>
            <a:ext cx="365760" cy="365760"/>
          </a:xfrm>
          <a:prstGeom prst="rect">
            <a:avLst/>
          </a:prstGeom>
          <a:noFill/>
          <a:ln/>
        </p:spPr>
        <p:txBody>
          <a:bodyPr wrap="square" lIns="0" tIns="0" rIns="0" bIns="0" rtlCol="0" anchor="ctr"/>
          <a:lstStyle/>
          <a:p>
            <a:pPr algn="ctr" indent="0" marL="0">
              <a:lnSpc>
                <a:spcPct val="100000"/>
              </a:lnSpc>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7" name="Text 25"/>
          <p:cNvSpPr txBox="1"/>
          <p:nvPr/>
        </p:nvSpPr>
        <p:spPr>
          <a:xfrm>
            <a:off x="9598914" y="2807208"/>
            <a:ext cx="1949958" cy="411480"/>
          </a:xfrm>
          <a:prstGeom prst="rect">
            <a:avLst/>
          </a:prstGeom>
          <a:noFill/>
          <a:ln/>
        </p:spPr>
        <p:txBody>
          <a:bodyPr wrap="square" lIns="508" tIns="508" rIns="508" bIns="508" rtlCol="0" anchor="ctr"/>
          <a:lstStyle/>
          <a:p>
            <a:pPr algn="l" indent="0" marL="0">
              <a:lnSpc>
                <a:spcPct val="100000"/>
              </a:lnSpc>
              <a:buNone/>
            </a:pPr>
            <a:r>
              <a:rPr lang="en-US" sz="1400" b="1" dirty="0">
                <a:solidFill>
                  <a:srgbClr val="80006B"/>
                </a:solidFill>
                <a:latin typeface="Calibri" pitchFamily="34" charset="0"/>
                <a:ea typeface="Calibri" pitchFamily="34" charset="-122"/>
                <a:cs typeface="Calibri" pitchFamily="34" charset="-120"/>
              </a:rPr>
              <a:t>Almacenamiento</a:t>
            </a:r>
            <a:endParaRPr lang="en-US" sz="1400" dirty="0"/>
          </a:p>
        </p:txBody>
      </p:sp>
      <p:sp>
        <p:nvSpPr>
          <p:cNvPr id="28" name="Text 26"/>
          <p:cNvSpPr txBox="1"/>
          <p:nvPr/>
        </p:nvSpPr>
        <p:spPr>
          <a:xfrm>
            <a:off x="9141714" y="3264408"/>
            <a:ext cx="2361438" cy="822960"/>
          </a:xfrm>
          <a:prstGeom prst="rect">
            <a:avLst/>
          </a:prstGeom>
          <a:noFill/>
          <a:ln/>
        </p:spPr>
        <p:txBody>
          <a:bodyPr wrap="square" lIns="508" tIns="508" rIns="508" bIns="508" rtlCol="0" anchor="t"/>
          <a:lstStyle/>
          <a:p>
            <a:pPr algn="l" indent="0" marL="0">
              <a:lnSpc>
                <a:spcPct val="100000"/>
              </a:lnSpc>
              <a:buNone/>
            </a:pPr>
            <a:r>
              <a:rPr lang="en-US" sz="1200" dirty="0">
                <a:solidFill>
                  <a:srgbClr val="262626"/>
                </a:solidFill>
                <a:latin typeface="Calibri" pitchFamily="34" charset="0"/>
                <a:ea typeface="Calibri" pitchFamily="34" charset="-122"/>
                <a:cs typeface="Calibri" pitchFamily="34" charset="-120"/>
              </a:rPr>
              <a:t>REDCap institucional o archivo cifrado; respaldos cifrados; conservación por cinco años.</a:t>
            </a:r>
            <a:endParaRPr lang="en-US" sz="1200" dirty="0"/>
          </a:p>
        </p:txBody>
      </p:sp>
      <p:sp>
        <p:nvSpPr>
          <p:cNvPr id="29" name="Shape 27"/>
          <p:cNvSpPr/>
          <p:nvPr/>
        </p:nvSpPr>
        <p:spPr>
          <a:xfrm>
            <a:off x="548640" y="4297680"/>
            <a:ext cx="2635758" cy="1463040"/>
          </a:xfrm>
          <a:prstGeom prst="roundRect">
            <a:avLst>
              <a:gd name="adj" fmla="val 5000"/>
            </a:avLst>
          </a:prstGeom>
          <a:solidFill>
            <a:srgbClr val="FFFFFF"/>
          </a:solidFill>
          <a:ln w="15875">
            <a:solidFill>
              <a:srgbClr val="D9B8D3"/>
            </a:solidFill>
            <a:prstDash val="solid"/>
          </a:ln>
        </p:spPr>
      </p:sp>
      <p:sp>
        <p:nvSpPr>
          <p:cNvPr id="30" name="Shape 28"/>
          <p:cNvSpPr/>
          <p:nvPr/>
        </p:nvSpPr>
        <p:spPr>
          <a:xfrm>
            <a:off x="685800" y="4434840"/>
            <a:ext cx="365760" cy="365760"/>
          </a:xfrm>
          <a:prstGeom prst="ellipse">
            <a:avLst/>
          </a:prstGeom>
          <a:solidFill>
            <a:srgbClr val="FF5F3F"/>
          </a:solidFill>
          <a:ln/>
        </p:spPr>
      </p:sp>
      <p:sp>
        <p:nvSpPr>
          <p:cNvPr id="31" name="Text 29"/>
          <p:cNvSpPr txBox="1"/>
          <p:nvPr/>
        </p:nvSpPr>
        <p:spPr>
          <a:xfrm>
            <a:off x="685800" y="4434840"/>
            <a:ext cx="365760" cy="365760"/>
          </a:xfrm>
          <a:prstGeom prst="rect">
            <a:avLst/>
          </a:prstGeom>
          <a:noFill/>
          <a:ln/>
        </p:spPr>
        <p:txBody>
          <a:bodyPr wrap="square" lIns="0" tIns="0" rIns="0" bIns="0" rtlCol="0" anchor="ctr"/>
          <a:lstStyle/>
          <a:p>
            <a:pPr algn="ctr" indent="0" marL="0">
              <a:lnSpc>
                <a:spcPct val="100000"/>
              </a:lnSpc>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32" name="Text 30"/>
          <p:cNvSpPr txBox="1"/>
          <p:nvPr/>
        </p:nvSpPr>
        <p:spPr>
          <a:xfrm>
            <a:off x="1143000" y="4407408"/>
            <a:ext cx="1949958" cy="411480"/>
          </a:xfrm>
          <a:prstGeom prst="rect">
            <a:avLst/>
          </a:prstGeom>
          <a:noFill/>
          <a:ln/>
        </p:spPr>
        <p:txBody>
          <a:bodyPr wrap="square" lIns="508" tIns="508" rIns="508" bIns="508" rtlCol="0" anchor="ctr"/>
          <a:lstStyle/>
          <a:p>
            <a:pPr algn="l" indent="0" marL="0">
              <a:lnSpc>
                <a:spcPct val="100000"/>
              </a:lnSpc>
              <a:buNone/>
            </a:pPr>
            <a:r>
              <a:rPr lang="en-US" sz="1400" b="1" dirty="0">
                <a:solidFill>
                  <a:srgbClr val="80006B"/>
                </a:solidFill>
                <a:latin typeface="Calibri" pitchFamily="34" charset="0"/>
                <a:ea typeface="Calibri" pitchFamily="34" charset="-122"/>
                <a:cs typeface="Calibri" pitchFamily="34" charset="-120"/>
              </a:rPr>
              <a:t>Custodia de claves</a:t>
            </a:r>
            <a:endParaRPr lang="en-US" sz="1400" dirty="0"/>
          </a:p>
        </p:txBody>
      </p:sp>
      <p:sp>
        <p:nvSpPr>
          <p:cNvPr id="33" name="Text 31"/>
          <p:cNvSpPr txBox="1"/>
          <p:nvPr/>
        </p:nvSpPr>
        <p:spPr>
          <a:xfrm>
            <a:off x="685800" y="4864608"/>
            <a:ext cx="2361438" cy="822960"/>
          </a:xfrm>
          <a:prstGeom prst="rect">
            <a:avLst/>
          </a:prstGeom>
          <a:noFill/>
          <a:ln/>
        </p:spPr>
        <p:txBody>
          <a:bodyPr wrap="square" lIns="508" tIns="508" rIns="508" bIns="508" rtlCol="0" anchor="t"/>
          <a:lstStyle/>
          <a:p>
            <a:pPr algn="l" indent="0" marL="0">
              <a:lnSpc>
                <a:spcPct val="100000"/>
              </a:lnSpc>
              <a:buNone/>
            </a:pPr>
            <a:r>
              <a:rPr lang="en-US" sz="1200" dirty="0">
                <a:solidFill>
                  <a:srgbClr val="262626"/>
                </a:solidFill>
                <a:latin typeface="Calibri" pitchFamily="34" charset="0"/>
                <a:ea typeface="Calibri" pitchFamily="34" charset="-122"/>
                <a:cs typeface="Calibri" pitchFamily="34" charset="-120"/>
              </a:rPr>
              <a:t>Archivo cifrado aparte, accesible solo a los investigadores; nunca se transmite con la base.</a:t>
            </a:r>
            <a:endParaRPr lang="en-US" sz="1200" dirty="0"/>
          </a:p>
        </p:txBody>
      </p:sp>
      <p:sp>
        <p:nvSpPr>
          <p:cNvPr id="34" name="Shape 32"/>
          <p:cNvSpPr/>
          <p:nvPr/>
        </p:nvSpPr>
        <p:spPr>
          <a:xfrm>
            <a:off x="3367278" y="4297680"/>
            <a:ext cx="2635758" cy="1463040"/>
          </a:xfrm>
          <a:prstGeom prst="roundRect">
            <a:avLst>
              <a:gd name="adj" fmla="val 5000"/>
            </a:avLst>
          </a:prstGeom>
          <a:solidFill>
            <a:srgbClr val="F7EDF5"/>
          </a:solidFill>
          <a:ln w="15875">
            <a:solidFill>
              <a:srgbClr val="D9B8D3"/>
            </a:solidFill>
            <a:prstDash val="solid"/>
          </a:ln>
        </p:spPr>
      </p:sp>
      <p:sp>
        <p:nvSpPr>
          <p:cNvPr id="35" name="Shape 33"/>
          <p:cNvSpPr/>
          <p:nvPr/>
        </p:nvSpPr>
        <p:spPr>
          <a:xfrm>
            <a:off x="3504438" y="4434840"/>
            <a:ext cx="365760" cy="365760"/>
          </a:xfrm>
          <a:prstGeom prst="ellipse">
            <a:avLst/>
          </a:prstGeom>
          <a:solidFill>
            <a:srgbClr val="FF5F3F"/>
          </a:solidFill>
          <a:ln/>
        </p:spPr>
      </p:sp>
      <p:sp>
        <p:nvSpPr>
          <p:cNvPr id="36" name="Text 34"/>
          <p:cNvSpPr txBox="1"/>
          <p:nvPr/>
        </p:nvSpPr>
        <p:spPr>
          <a:xfrm>
            <a:off x="3504438" y="4434840"/>
            <a:ext cx="365760" cy="365760"/>
          </a:xfrm>
          <a:prstGeom prst="rect">
            <a:avLst/>
          </a:prstGeom>
          <a:noFill/>
          <a:ln/>
        </p:spPr>
        <p:txBody>
          <a:bodyPr wrap="square" lIns="0" tIns="0" rIns="0" bIns="0" rtlCol="0" anchor="ctr"/>
          <a:lstStyle/>
          <a:p>
            <a:pPr algn="ctr" indent="0" marL="0">
              <a:lnSpc>
                <a:spcPct val="100000"/>
              </a:lnSpc>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37" name="Text 35"/>
          <p:cNvSpPr txBox="1"/>
          <p:nvPr/>
        </p:nvSpPr>
        <p:spPr>
          <a:xfrm>
            <a:off x="3961638" y="4407408"/>
            <a:ext cx="1949958" cy="411480"/>
          </a:xfrm>
          <a:prstGeom prst="rect">
            <a:avLst/>
          </a:prstGeom>
          <a:noFill/>
          <a:ln/>
        </p:spPr>
        <p:txBody>
          <a:bodyPr wrap="square" lIns="508" tIns="508" rIns="508" bIns="508" rtlCol="0" anchor="ctr"/>
          <a:lstStyle/>
          <a:p>
            <a:pPr algn="l" indent="0" marL="0">
              <a:lnSpc>
                <a:spcPct val="100000"/>
              </a:lnSpc>
              <a:buNone/>
            </a:pPr>
            <a:r>
              <a:rPr lang="en-US" sz="1400" b="1" dirty="0">
                <a:solidFill>
                  <a:srgbClr val="80006B"/>
                </a:solidFill>
                <a:latin typeface="Calibri" pitchFamily="34" charset="0"/>
                <a:ea typeface="Calibri" pitchFamily="34" charset="-122"/>
                <a:cs typeface="Calibri" pitchFamily="34" charset="-120"/>
              </a:rPr>
              <a:t>Incidentes</a:t>
            </a:r>
            <a:endParaRPr lang="en-US" sz="1400" dirty="0"/>
          </a:p>
        </p:txBody>
      </p:sp>
      <p:sp>
        <p:nvSpPr>
          <p:cNvPr id="38" name="Text 36"/>
          <p:cNvSpPr txBox="1"/>
          <p:nvPr/>
        </p:nvSpPr>
        <p:spPr>
          <a:xfrm>
            <a:off x="3504438" y="4864608"/>
            <a:ext cx="2361438" cy="822960"/>
          </a:xfrm>
          <a:prstGeom prst="rect">
            <a:avLst/>
          </a:prstGeom>
          <a:noFill/>
          <a:ln/>
        </p:spPr>
        <p:txBody>
          <a:bodyPr wrap="square" lIns="508" tIns="508" rIns="508" bIns="508" rtlCol="0" anchor="t"/>
          <a:lstStyle/>
          <a:p>
            <a:pPr algn="l" indent="0" marL="0">
              <a:lnSpc>
                <a:spcPct val="100000"/>
              </a:lnSpc>
              <a:buNone/>
            </a:pPr>
            <a:r>
              <a:rPr lang="en-US" sz="1200" dirty="0">
                <a:solidFill>
                  <a:srgbClr val="262626"/>
                </a:solidFill>
                <a:latin typeface="Calibri" pitchFamily="34" charset="0"/>
                <a:ea typeface="Calibri" pitchFamily="34" charset="-122"/>
                <a:cs typeface="Calibri" pitchFamily="34" charset="-120"/>
              </a:rPr>
              <a:t>Contención el mismo día; aviso en 24 h a la Clínica y al Comité; reporte a la SIC (art. 17 n).</a:t>
            </a:r>
            <a:endParaRPr lang="en-US" sz="1200" dirty="0"/>
          </a:p>
        </p:txBody>
      </p:sp>
      <p:sp>
        <p:nvSpPr>
          <p:cNvPr id="39" name="Shape 37"/>
          <p:cNvSpPr/>
          <p:nvPr/>
        </p:nvSpPr>
        <p:spPr>
          <a:xfrm>
            <a:off x="6185916" y="4297680"/>
            <a:ext cx="2635758" cy="1463040"/>
          </a:xfrm>
          <a:prstGeom prst="roundRect">
            <a:avLst>
              <a:gd name="adj" fmla="val 5000"/>
            </a:avLst>
          </a:prstGeom>
          <a:solidFill>
            <a:srgbClr val="FFFFFF"/>
          </a:solidFill>
          <a:ln w="15875">
            <a:solidFill>
              <a:srgbClr val="D9B8D3"/>
            </a:solidFill>
            <a:prstDash val="solid"/>
          </a:ln>
        </p:spPr>
      </p:sp>
      <p:sp>
        <p:nvSpPr>
          <p:cNvPr id="40" name="Shape 38"/>
          <p:cNvSpPr/>
          <p:nvPr/>
        </p:nvSpPr>
        <p:spPr>
          <a:xfrm>
            <a:off x="6323076" y="4434840"/>
            <a:ext cx="365760" cy="365760"/>
          </a:xfrm>
          <a:prstGeom prst="ellipse">
            <a:avLst/>
          </a:prstGeom>
          <a:solidFill>
            <a:srgbClr val="FF5F3F"/>
          </a:solidFill>
          <a:ln/>
        </p:spPr>
      </p:sp>
      <p:sp>
        <p:nvSpPr>
          <p:cNvPr id="41" name="Text 39"/>
          <p:cNvSpPr txBox="1"/>
          <p:nvPr/>
        </p:nvSpPr>
        <p:spPr>
          <a:xfrm>
            <a:off x="6323076" y="4434840"/>
            <a:ext cx="365760" cy="365760"/>
          </a:xfrm>
          <a:prstGeom prst="rect">
            <a:avLst/>
          </a:prstGeom>
          <a:noFill/>
          <a:ln/>
        </p:spPr>
        <p:txBody>
          <a:bodyPr wrap="square" lIns="0" tIns="0" rIns="0" bIns="0" rtlCol="0" anchor="ctr"/>
          <a:lstStyle/>
          <a:p>
            <a:pPr algn="ctr" indent="0" marL="0">
              <a:lnSpc>
                <a:spcPct val="100000"/>
              </a:lnSpc>
              <a:buNone/>
            </a:pPr>
            <a:r>
              <a:rPr lang="en-US" sz="1200" b="1" dirty="0">
                <a:solidFill>
                  <a:srgbClr val="FFFFFF"/>
                </a:solidFill>
                <a:latin typeface="Calibri" pitchFamily="34" charset="0"/>
                <a:ea typeface="Calibri" pitchFamily="34" charset="-122"/>
                <a:cs typeface="Calibri" pitchFamily="34" charset="-120"/>
              </a:rPr>
              <a:t>7</a:t>
            </a:r>
            <a:endParaRPr lang="en-US" sz="1200" dirty="0"/>
          </a:p>
        </p:txBody>
      </p:sp>
      <p:sp>
        <p:nvSpPr>
          <p:cNvPr id="42" name="Text 40"/>
          <p:cNvSpPr txBox="1"/>
          <p:nvPr/>
        </p:nvSpPr>
        <p:spPr>
          <a:xfrm>
            <a:off x="6780276" y="4407408"/>
            <a:ext cx="1949958" cy="411480"/>
          </a:xfrm>
          <a:prstGeom prst="rect">
            <a:avLst/>
          </a:prstGeom>
          <a:noFill/>
          <a:ln/>
        </p:spPr>
        <p:txBody>
          <a:bodyPr wrap="square" lIns="508" tIns="508" rIns="508" bIns="508" rtlCol="0" anchor="ctr"/>
          <a:lstStyle/>
          <a:p>
            <a:pPr algn="l" indent="0" marL="0">
              <a:lnSpc>
                <a:spcPct val="100000"/>
              </a:lnSpc>
              <a:buNone/>
            </a:pPr>
            <a:r>
              <a:rPr lang="en-US" sz="1400" b="1" dirty="0">
                <a:solidFill>
                  <a:srgbClr val="80006B"/>
                </a:solidFill>
                <a:latin typeface="Calibri" pitchFamily="34" charset="0"/>
                <a:ea typeface="Calibri" pitchFamily="34" charset="-122"/>
                <a:cs typeface="Calibri" pitchFamily="34" charset="-120"/>
              </a:rPr>
              <a:t>Identificación indirecta</a:t>
            </a:r>
            <a:endParaRPr lang="en-US" sz="1400" dirty="0"/>
          </a:p>
        </p:txBody>
      </p:sp>
      <p:sp>
        <p:nvSpPr>
          <p:cNvPr id="43" name="Text 41"/>
          <p:cNvSpPr txBox="1"/>
          <p:nvPr/>
        </p:nvSpPr>
        <p:spPr>
          <a:xfrm>
            <a:off x="6323076" y="4864608"/>
            <a:ext cx="2361438" cy="822960"/>
          </a:xfrm>
          <a:prstGeom prst="rect">
            <a:avLst/>
          </a:prstGeom>
          <a:noFill/>
          <a:ln/>
        </p:spPr>
        <p:txBody>
          <a:bodyPr wrap="square" lIns="508" tIns="508" rIns="508" bIns="508" rtlCol="0" anchor="t"/>
          <a:lstStyle/>
          <a:p>
            <a:pPr algn="l" indent="0" marL="0">
              <a:lnSpc>
                <a:spcPct val="100000"/>
              </a:lnSpc>
              <a:buNone/>
            </a:pPr>
            <a:r>
              <a:rPr lang="en-US" sz="1200" dirty="0">
                <a:solidFill>
                  <a:srgbClr val="262626"/>
                </a:solidFill>
                <a:latin typeface="Calibri" pitchFamily="34" charset="0"/>
                <a:ea typeface="Calibri" pitchFamily="34" charset="-122"/>
                <a:cs typeface="Calibri" pitchFamily="34" charset="-120"/>
              </a:rPr>
              <a:t>Celdas menores de 5 suprimidas, edad por grupos, sin casos individuales ni fechas.</a:t>
            </a:r>
            <a:endParaRPr lang="en-US" sz="1200" dirty="0"/>
          </a:p>
        </p:txBody>
      </p:sp>
      <p:sp>
        <p:nvSpPr>
          <p:cNvPr id="44" name="Shape 42"/>
          <p:cNvSpPr/>
          <p:nvPr/>
        </p:nvSpPr>
        <p:spPr>
          <a:xfrm>
            <a:off x="9004554" y="4297680"/>
            <a:ext cx="2635758" cy="1463040"/>
          </a:xfrm>
          <a:prstGeom prst="roundRect">
            <a:avLst>
              <a:gd name="adj" fmla="val 5000"/>
            </a:avLst>
          </a:prstGeom>
          <a:solidFill>
            <a:srgbClr val="F7EDF5"/>
          </a:solidFill>
          <a:ln w="15875">
            <a:solidFill>
              <a:srgbClr val="D9B8D3"/>
            </a:solidFill>
            <a:prstDash val="solid"/>
          </a:ln>
        </p:spPr>
      </p:sp>
      <p:sp>
        <p:nvSpPr>
          <p:cNvPr id="45" name="Shape 43"/>
          <p:cNvSpPr/>
          <p:nvPr/>
        </p:nvSpPr>
        <p:spPr>
          <a:xfrm>
            <a:off x="9141714" y="4434840"/>
            <a:ext cx="365760" cy="365760"/>
          </a:xfrm>
          <a:prstGeom prst="ellipse">
            <a:avLst/>
          </a:prstGeom>
          <a:solidFill>
            <a:srgbClr val="FF5F3F"/>
          </a:solidFill>
          <a:ln/>
        </p:spPr>
      </p:sp>
      <p:sp>
        <p:nvSpPr>
          <p:cNvPr id="46" name="Text 44"/>
          <p:cNvSpPr txBox="1"/>
          <p:nvPr/>
        </p:nvSpPr>
        <p:spPr>
          <a:xfrm>
            <a:off x="9141714" y="4434840"/>
            <a:ext cx="365760" cy="365760"/>
          </a:xfrm>
          <a:prstGeom prst="rect">
            <a:avLst/>
          </a:prstGeom>
          <a:noFill/>
          <a:ln/>
        </p:spPr>
        <p:txBody>
          <a:bodyPr wrap="square" lIns="0" tIns="0" rIns="0" bIns="0" rtlCol="0" anchor="ctr"/>
          <a:lstStyle/>
          <a:p>
            <a:pPr algn="ctr" indent="0" marL="0">
              <a:lnSpc>
                <a:spcPct val="100000"/>
              </a:lnSpc>
              <a:buNone/>
            </a:pPr>
            <a:r>
              <a:rPr lang="en-US" sz="1200" b="1" dirty="0">
                <a:solidFill>
                  <a:srgbClr val="FFFFFF"/>
                </a:solidFill>
                <a:latin typeface="Calibri" pitchFamily="34" charset="0"/>
                <a:ea typeface="Calibri" pitchFamily="34" charset="-122"/>
                <a:cs typeface="Calibri" pitchFamily="34" charset="-120"/>
              </a:rPr>
              <a:t>8</a:t>
            </a:r>
            <a:endParaRPr lang="en-US" sz="1200" dirty="0"/>
          </a:p>
        </p:txBody>
      </p:sp>
      <p:sp>
        <p:nvSpPr>
          <p:cNvPr id="47" name="Text 45"/>
          <p:cNvSpPr txBox="1"/>
          <p:nvPr/>
        </p:nvSpPr>
        <p:spPr>
          <a:xfrm>
            <a:off x="9598914" y="4407408"/>
            <a:ext cx="1949958" cy="411480"/>
          </a:xfrm>
          <a:prstGeom prst="rect">
            <a:avLst/>
          </a:prstGeom>
          <a:noFill/>
          <a:ln/>
        </p:spPr>
        <p:txBody>
          <a:bodyPr wrap="square" lIns="508" tIns="508" rIns="508" bIns="508" rtlCol="0" anchor="ctr"/>
          <a:lstStyle/>
          <a:p>
            <a:pPr algn="l" indent="0" marL="0">
              <a:lnSpc>
                <a:spcPct val="100000"/>
              </a:lnSpc>
              <a:buNone/>
            </a:pPr>
            <a:r>
              <a:rPr lang="en-US" sz="1400" b="1" dirty="0">
                <a:solidFill>
                  <a:srgbClr val="80006B"/>
                </a:solidFill>
                <a:latin typeface="Calibri" pitchFamily="34" charset="0"/>
                <a:ea typeface="Calibri" pitchFamily="34" charset="-122"/>
                <a:cs typeface="Calibri" pitchFamily="34" charset="-120"/>
              </a:rPr>
              <a:t>Minimización</a:t>
            </a:r>
            <a:endParaRPr lang="en-US" sz="1400" dirty="0"/>
          </a:p>
        </p:txBody>
      </p:sp>
      <p:sp>
        <p:nvSpPr>
          <p:cNvPr id="48" name="Text 46"/>
          <p:cNvSpPr txBox="1"/>
          <p:nvPr/>
        </p:nvSpPr>
        <p:spPr>
          <a:xfrm>
            <a:off x="9141714" y="4864608"/>
            <a:ext cx="2361438" cy="822960"/>
          </a:xfrm>
          <a:prstGeom prst="rect">
            <a:avLst/>
          </a:prstGeom>
          <a:noFill/>
          <a:ln/>
        </p:spPr>
        <p:txBody>
          <a:bodyPr wrap="square" lIns="508" tIns="508" rIns="508" bIns="508" rtlCol="0" anchor="t"/>
          <a:lstStyle/>
          <a:p>
            <a:pPr algn="l" indent="0" marL="0">
              <a:lnSpc>
                <a:spcPct val="100000"/>
              </a:lnSpc>
              <a:buNone/>
            </a:pPr>
            <a:r>
              <a:rPr lang="en-US" sz="1200" dirty="0">
                <a:solidFill>
                  <a:srgbClr val="262626"/>
                </a:solidFill>
                <a:latin typeface="Calibri" pitchFamily="34" charset="0"/>
                <a:ea typeface="Calibri" pitchFamily="34" charset="-122"/>
                <a:cs typeface="Calibri" pitchFamily="34" charset="-120"/>
              </a:rPr>
              <a:t>Solo los pacientes del listado de elegibilidad y las variables del diccionario.</a:t>
            </a:r>
            <a:endParaRPr lang="en-US" sz="1200" dirty="0"/>
          </a:p>
        </p:txBody>
      </p:sp>
      <p:sp>
        <p:nvSpPr>
          <p:cNvPr id="49" name="Text 47"/>
          <p:cNvSpPr txBox="1"/>
          <p:nvPr/>
        </p:nvSpPr>
        <p:spPr>
          <a:xfrm>
            <a:off x="548640" y="5833872"/>
            <a:ext cx="11091672" cy="292608"/>
          </a:xfrm>
          <a:prstGeom prst="rect">
            <a:avLst/>
          </a:prstGeom>
          <a:noFill/>
          <a:ln/>
        </p:spPr>
        <p:txBody>
          <a:bodyPr wrap="square" lIns="508" tIns="508" rIns="508" bIns="508" rtlCol="0" anchor="ctr"/>
          <a:lstStyle/>
          <a:p>
            <a:pPr algn="l" indent="0" marL="0">
              <a:lnSpc>
                <a:spcPct val="100000"/>
              </a:lnSpc>
              <a:buNone/>
            </a:pPr>
            <a:r>
              <a:rPr lang="en-US" sz="1200" b="1" dirty="0">
                <a:solidFill>
                  <a:srgbClr val="80006B"/>
                </a:solidFill>
                <a:latin typeface="Calibri" pitchFamily="34" charset="0"/>
                <a:ea typeface="Calibri" pitchFamily="34" charset="-122"/>
                <a:cs typeface="Calibri" pitchFamily="34" charset="-120"/>
              </a:rPr>
              <a:t>Dónde está en el protocolo v2.0:  </a:t>
            </a:r>
            <a:pPr algn="l" indent="0" marL="0">
              <a:lnSpc>
                <a:spcPct val="100000"/>
              </a:lnSpc>
              <a:buNone/>
            </a:pPr>
            <a:r>
              <a:rPr lang="en-US" sz="1200" dirty="0">
                <a:solidFill>
                  <a:srgbClr val="6B6B6B"/>
                </a:solidFill>
                <a:latin typeface="Calibri" pitchFamily="34" charset="0"/>
                <a:ea typeface="Calibri" pitchFamily="34" charset="-122"/>
                <a:cs typeface="Calibri" pitchFamily="34" charset="-120"/>
              </a:rPr>
              <a:t>numeral 3.9.1, pp. 42–43 · numeral 3.4, p. 31</a:t>
            </a:r>
            <a:endParaRPr lang="en-US" sz="1200" dirty="0"/>
          </a:p>
        </p:txBody>
      </p:sp>
      <p:sp>
        <p:nvSpPr>
          <p:cNvPr id="25" name="Slide Number Placeholder 0"/>
          <p:cNvSpPr>
            <a:spLocks noGrp="1"/>
          </p:cNvSpPr>
          <p:nvPr>
            <p:ph type="sldNum" sz="quarter" idx="4294967295"/>
          </p:nvPr>
        </p:nvSpPr>
        <p:spPr>
          <a:xfrm>
            <a:off x="11201400" y="635508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292608"/>
            <a:ext cx="8686800" cy="274320"/>
          </a:xfrm>
          <a:prstGeom prst="rect">
            <a:avLst/>
          </a:prstGeom>
          <a:noFill/>
          <a:ln/>
        </p:spPr>
        <p:txBody>
          <a:bodyPr wrap="square" lIns="508" tIns="508" rIns="508" bIns="508" rtlCol="0" anchor="t"/>
          <a:lstStyle/>
          <a:p>
            <a:pPr algn="l" indent="0" marL="0">
              <a:lnSpc>
                <a:spcPct val="100000"/>
              </a:lnSpc>
              <a:buNone/>
            </a:pPr>
            <a:r>
              <a:rPr lang="en-US" sz="1200" b="1" dirty="0">
                <a:solidFill>
                  <a:srgbClr val="FF5F3F"/>
                </a:solidFill>
                <a:latin typeface="Calibri" pitchFamily="34" charset="0"/>
                <a:ea typeface="Calibri" pitchFamily="34" charset="-122"/>
                <a:cs typeface="Calibri" pitchFamily="34" charset="-120"/>
              </a:rPr>
              <a:t>OBSERVACIÓN 6 DE 7</a:t>
            </a:r>
            <a:endParaRPr lang="en-US" sz="1200" dirty="0"/>
          </a:p>
        </p:txBody>
      </p:sp>
      <p:sp>
        <p:nvSpPr>
          <p:cNvPr id="3" name="Text 1"/>
          <p:cNvSpPr txBox="1"/>
          <p:nvPr/>
        </p:nvSpPr>
        <p:spPr>
          <a:xfrm>
            <a:off x="548640" y="548640"/>
            <a:ext cx="9326880" cy="548640"/>
          </a:xfrm>
          <a:prstGeom prst="rect">
            <a:avLst/>
          </a:prstGeom>
          <a:noFill/>
          <a:ln/>
        </p:spPr>
        <p:txBody>
          <a:bodyPr wrap="square" lIns="508" tIns="508" rIns="508" bIns="508" rtlCol="0" anchor="ctr"/>
          <a:lstStyle/>
          <a:p>
            <a:pPr algn="l" indent="0" marL="0">
              <a:lnSpc>
                <a:spcPct val="100000"/>
              </a:lnSpc>
              <a:buNone/>
            </a:pPr>
            <a:r>
              <a:rPr lang="en-US" sz="2800" b="1" dirty="0">
                <a:solidFill>
                  <a:srgbClr val="80006B"/>
                </a:solidFill>
                <a:latin typeface="Calibri" pitchFamily="34" charset="0"/>
                <a:ea typeface="Calibri" pitchFamily="34" charset="-122"/>
                <a:cs typeface="Calibri" pitchFamily="34" charset="-120"/>
              </a:rPr>
              <a:t>Interpretación y publicación</a:t>
            </a:r>
            <a:endParaRPr lang="en-US" sz="2800" dirty="0"/>
          </a:p>
        </p:txBody>
      </p:sp>
      <p:sp>
        <p:nvSpPr>
          <p:cNvPr id="4" name="Shape 2"/>
          <p:cNvSpPr/>
          <p:nvPr/>
        </p:nvSpPr>
        <p:spPr>
          <a:xfrm>
            <a:off x="548640" y="1261872"/>
            <a:ext cx="11091672" cy="713232"/>
          </a:xfrm>
          <a:prstGeom prst="roundRect">
            <a:avLst>
              <a:gd name="adj" fmla="val 10256"/>
            </a:avLst>
          </a:prstGeom>
          <a:solidFill>
            <a:srgbClr val="F7EDF5"/>
          </a:solidFill>
          <a:ln/>
        </p:spPr>
      </p:sp>
      <p:sp>
        <p:nvSpPr>
          <p:cNvPr id="5" name="Text 3"/>
          <p:cNvSpPr txBox="1"/>
          <p:nvPr/>
        </p:nvSpPr>
        <p:spPr>
          <a:xfrm>
            <a:off x="731520" y="1261872"/>
            <a:ext cx="10725912" cy="713232"/>
          </a:xfrm>
          <a:prstGeom prst="rect">
            <a:avLst/>
          </a:prstGeom>
          <a:noFill/>
          <a:ln/>
        </p:spPr>
        <p:txBody>
          <a:bodyPr wrap="square" lIns="508" tIns="508" rIns="508" bIns="508" rtlCol="0" anchor="ctr"/>
          <a:lstStyle/>
          <a:p>
            <a:pPr algn="l" indent="0" marL="0">
              <a:lnSpc>
                <a:spcPct val="100000"/>
              </a:lnSpc>
              <a:buNone/>
            </a:pPr>
            <a:r>
              <a:rPr lang="en-US" sz="1300" b="1" dirty="0">
                <a:solidFill>
                  <a:srgbClr val="80006B"/>
                </a:solidFill>
                <a:latin typeface="Calibri" pitchFamily="34" charset="0"/>
                <a:ea typeface="Calibri" pitchFamily="34" charset="-122"/>
                <a:cs typeface="Calibri" pitchFamily="34" charset="-120"/>
              </a:rPr>
              <a:t>Observación del Comité  </a:t>
            </a:r>
            <a:pPr algn="l" indent="0" marL="0">
              <a:lnSpc>
                <a:spcPct val="100000"/>
              </a:lnSpc>
              <a:buNone/>
            </a:pPr>
            <a:r>
              <a:rPr lang="en-US" sz="1300" i="1" dirty="0">
                <a:solidFill>
                  <a:srgbClr val="262626"/>
                </a:solidFill>
                <a:latin typeface="Calibri" pitchFamily="34" charset="0"/>
                <a:ea typeface="Calibri" pitchFamily="34" charset="-122"/>
                <a:cs typeface="Calibri" pitchFamily="34" charset="-120"/>
              </a:rPr>
              <a:t>«Definir medidas para evitar inferencias causales indebidas, atribuciones de complicaciones a la religión y tablas o descripciones que puedan identificar o estigmatizar a los pacientes».</a:t>
            </a:r>
            <a:endParaRPr lang="en-US" sz="1300" dirty="0"/>
          </a:p>
        </p:txBody>
      </p:sp>
      <p:sp>
        <p:nvSpPr>
          <p:cNvPr id="6" name="Shape 4"/>
          <p:cNvSpPr/>
          <p:nvPr/>
        </p:nvSpPr>
        <p:spPr>
          <a:xfrm>
            <a:off x="548640" y="2148840"/>
            <a:ext cx="1691640" cy="310896"/>
          </a:xfrm>
          <a:prstGeom prst="roundRect">
            <a:avLst>
              <a:gd name="adj" fmla="val 147059"/>
            </a:avLst>
          </a:prstGeom>
          <a:solidFill>
            <a:srgbClr val="FF5F3F"/>
          </a:solidFill>
          <a:ln/>
        </p:spPr>
      </p:sp>
      <p:sp>
        <p:nvSpPr>
          <p:cNvPr id="7" name="Text 5"/>
          <p:cNvSpPr txBox="1"/>
          <p:nvPr/>
        </p:nvSpPr>
        <p:spPr>
          <a:xfrm>
            <a:off x="548640" y="2148840"/>
            <a:ext cx="1691640" cy="310896"/>
          </a:xfrm>
          <a:prstGeom prst="rect">
            <a:avLst/>
          </a:prstGeom>
          <a:noFill/>
          <a:ln/>
        </p:spPr>
        <p:txBody>
          <a:bodyPr wrap="square" lIns="0" tIns="0" rIns="0" bIns="0" rtlCol="0" anchor="ctr"/>
          <a:lstStyle/>
          <a:p>
            <a:pPr algn="ctr" indent="0" marL="0">
              <a:lnSpc>
                <a:spcPct val="100000"/>
              </a:lnSpc>
              <a:buNone/>
            </a:pPr>
            <a:r>
              <a:rPr lang="en-US" sz="1100" b="1" dirty="0">
                <a:solidFill>
                  <a:srgbClr val="FFFFFF"/>
                </a:solidFill>
                <a:latin typeface="Calibri" pitchFamily="34" charset="0"/>
                <a:ea typeface="Calibri" pitchFamily="34" charset="-122"/>
                <a:cs typeface="Calibri" pitchFamily="34" charset="-120"/>
              </a:rPr>
              <a:t>Se acoge</a:t>
            </a:r>
            <a:endParaRPr lang="en-US" sz="1100" dirty="0"/>
          </a:p>
        </p:txBody>
      </p:sp>
      <p:sp>
        <p:nvSpPr>
          <p:cNvPr id="8" name="Text 6"/>
          <p:cNvSpPr txBox="1"/>
          <p:nvPr/>
        </p:nvSpPr>
        <p:spPr>
          <a:xfrm>
            <a:off x="2377440" y="2121408"/>
            <a:ext cx="9262872" cy="384048"/>
          </a:xfrm>
          <a:prstGeom prst="rect">
            <a:avLst/>
          </a:prstGeom>
          <a:noFill/>
          <a:ln/>
        </p:spPr>
        <p:txBody>
          <a:bodyPr wrap="square" lIns="508" tIns="508" rIns="508" bIns="508" rtlCol="0" anchor="ctr"/>
          <a:lstStyle/>
          <a:p>
            <a:pPr algn="l" indent="0" marL="0">
              <a:lnSpc>
                <a:spcPct val="100000"/>
              </a:lnSpc>
              <a:buNone/>
            </a:pPr>
            <a:r>
              <a:rPr lang="en-US" sz="1500" dirty="0">
                <a:solidFill>
                  <a:srgbClr val="262626"/>
                </a:solidFill>
                <a:latin typeface="Calibri" pitchFamily="34" charset="0"/>
                <a:ea typeface="Calibri" pitchFamily="34" charset="-122"/>
                <a:cs typeface="Calibri" pitchFamily="34" charset="-120"/>
              </a:rPr>
              <a:t>Se agregó el numeral 3.9.2, «Interpretación y publicación de los resultados».</a:t>
            </a:r>
            <a:endParaRPr lang="en-US" sz="1500" dirty="0"/>
          </a:p>
        </p:txBody>
      </p:sp>
      <p:sp>
        <p:nvSpPr>
          <p:cNvPr id="9" name="Shape 7"/>
          <p:cNvSpPr/>
          <p:nvPr/>
        </p:nvSpPr>
        <p:spPr>
          <a:xfrm>
            <a:off x="548640" y="2697480"/>
            <a:ext cx="5431536" cy="2971800"/>
          </a:xfrm>
          <a:prstGeom prst="roundRect">
            <a:avLst>
              <a:gd name="adj" fmla="val 2462"/>
            </a:avLst>
          </a:prstGeom>
          <a:solidFill>
            <a:srgbClr val="FFF1ED"/>
          </a:solidFill>
          <a:ln/>
        </p:spPr>
      </p:sp>
      <p:sp>
        <p:nvSpPr>
          <p:cNvPr id="10" name="Text 8"/>
          <p:cNvSpPr txBox="1"/>
          <p:nvPr/>
        </p:nvSpPr>
        <p:spPr>
          <a:xfrm>
            <a:off x="777240" y="2788920"/>
            <a:ext cx="4974336" cy="411480"/>
          </a:xfrm>
          <a:prstGeom prst="rect">
            <a:avLst/>
          </a:prstGeom>
          <a:noFill/>
          <a:ln/>
        </p:spPr>
        <p:txBody>
          <a:bodyPr wrap="square" lIns="508" tIns="508" rIns="508" bIns="508" rtlCol="0" anchor="t"/>
          <a:lstStyle/>
          <a:p>
            <a:pPr algn="l" indent="0" marL="0">
              <a:lnSpc>
                <a:spcPct val="100000"/>
              </a:lnSpc>
              <a:buNone/>
            </a:pPr>
            <a:r>
              <a:rPr lang="en-US" sz="1800" b="1" dirty="0">
                <a:solidFill>
                  <a:srgbClr val="FF5F3F"/>
                </a:solidFill>
                <a:latin typeface="Calibri" pitchFamily="34" charset="0"/>
                <a:ea typeface="Calibri" pitchFamily="34" charset="-122"/>
                <a:cs typeface="Calibri" pitchFamily="34" charset="-120"/>
              </a:rPr>
              <a:t>No haremos</a:t>
            </a:r>
            <a:endParaRPr lang="en-US" sz="1800" dirty="0"/>
          </a:p>
        </p:txBody>
      </p:sp>
      <p:sp>
        <p:nvSpPr>
          <p:cNvPr id="11" name="Shape 9"/>
          <p:cNvSpPr/>
          <p:nvPr/>
        </p:nvSpPr>
        <p:spPr>
          <a:xfrm>
            <a:off x="777240" y="3337560"/>
            <a:ext cx="310896" cy="310896"/>
          </a:xfrm>
          <a:prstGeom prst="ellipse">
            <a:avLst/>
          </a:prstGeom>
          <a:solidFill>
            <a:srgbClr val="FF5F3F"/>
          </a:solidFill>
          <a:ln/>
        </p:spPr>
      </p:sp>
      <p:sp>
        <p:nvSpPr>
          <p:cNvPr id="12" name="Text 10"/>
          <p:cNvSpPr txBox="1"/>
          <p:nvPr/>
        </p:nvSpPr>
        <p:spPr>
          <a:xfrm>
            <a:off x="777240" y="3337560"/>
            <a:ext cx="310896" cy="310896"/>
          </a:xfrm>
          <a:prstGeom prst="rect">
            <a:avLst/>
          </a:prstGeom>
          <a:noFill/>
          <a:ln/>
        </p:spPr>
        <p:txBody>
          <a:bodyPr wrap="square" lIns="0" tIns="0" rIns="0" bIns="0" rtlCol="0" anchor="ctr"/>
          <a:lstStyle/>
          <a:p>
            <a:pPr algn="ctr" indent="0" marL="0">
              <a:lnSpc>
                <a:spcPct val="100000"/>
              </a:lnSpc>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13" name="Text 11"/>
          <p:cNvSpPr txBox="1"/>
          <p:nvPr/>
        </p:nvSpPr>
        <p:spPr>
          <a:xfrm>
            <a:off x="1234440" y="3291840"/>
            <a:ext cx="4517136" cy="502920"/>
          </a:xfrm>
          <a:prstGeom prst="rect">
            <a:avLst/>
          </a:prstGeom>
          <a:noFill/>
          <a:ln/>
        </p:spPr>
        <p:txBody>
          <a:bodyPr wrap="square" lIns="508" tIns="508" rIns="508" bIns="508" rtlCol="0" anchor="ctr"/>
          <a:lstStyle/>
          <a:p>
            <a:pPr algn="l" indent="0" marL="0">
              <a:lnSpc>
                <a:spcPct val="100000"/>
              </a:lnSpc>
              <a:buNone/>
            </a:pPr>
            <a:r>
              <a:rPr lang="en-US" sz="1350" dirty="0">
                <a:solidFill>
                  <a:srgbClr val="262626"/>
                </a:solidFill>
                <a:latin typeface="Calibri" pitchFamily="34" charset="0"/>
                <a:ea typeface="Calibri" pitchFamily="34" charset="-122"/>
                <a:cs typeface="Calibri" pitchFamily="34" charset="-120"/>
              </a:rPr>
              <a:t>Afirmar causalidad, seguridad o equivalencia.</a:t>
            </a:r>
            <a:endParaRPr lang="en-US" sz="1350" dirty="0"/>
          </a:p>
        </p:txBody>
      </p:sp>
      <p:sp>
        <p:nvSpPr>
          <p:cNvPr id="14" name="Shape 12"/>
          <p:cNvSpPr/>
          <p:nvPr/>
        </p:nvSpPr>
        <p:spPr>
          <a:xfrm>
            <a:off x="777240" y="3904488"/>
            <a:ext cx="310896" cy="310896"/>
          </a:xfrm>
          <a:prstGeom prst="ellipse">
            <a:avLst/>
          </a:prstGeom>
          <a:solidFill>
            <a:srgbClr val="FF5F3F"/>
          </a:solidFill>
          <a:ln/>
        </p:spPr>
      </p:sp>
      <p:sp>
        <p:nvSpPr>
          <p:cNvPr id="15" name="Text 13"/>
          <p:cNvSpPr txBox="1"/>
          <p:nvPr/>
        </p:nvSpPr>
        <p:spPr>
          <a:xfrm>
            <a:off x="777240" y="3904488"/>
            <a:ext cx="310896" cy="310896"/>
          </a:xfrm>
          <a:prstGeom prst="rect">
            <a:avLst/>
          </a:prstGeom>
          <a:noFill/>
          <a:ln/>
        </p:spPr>
        <p:txBody>
          <a:bodyPr wrap="square" lIns="0" tIns="0" rIns="0" bIns="0" rtlCol="0" anchor="ctr"/>
          <a:lstStyle/>
          <a:p>
            <a:pPr algn="ctr" indent="0" marL="0">
              <a:lnSpc>
                <a:spcPct val="100000"/>
              </a:lnSpc>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16" name="Text 14"/>
          <p:cNvSpPr txBox="1"/>
          <p:nvPr/>
        </p:nvSpPr>
        <p:spPr>
          <a:xfrm>
            <a:off x="1234440" y="3858768"/>
            <a:ext cx="4517136" cy="502920"/>
          </a:xfrm>
          <a:prstGeom prst="rect">
            <a:avLst/>
          </a:prstGeom>
          <a:noFill/>
          <a:ln/>
        </p:spPr>
        <p:txBody>
          <a:bodyPr wrap="square" lIns="508" tIns="508" rIns="508" bIns="508" rtlCol="0" anchor="ctr"/>
          <a:lstStyle/>
          <a:p>
            <a:pPr algn="l" indent="0" marL="0">
              <a:lnSpc>
                <a:spcPct val="100000"/>
              </a:lnSpc>
              <a:buNone/>
            </a:pPr>
            <a:r>
              <a:rPr lang="en-US" sz="1350" dirty="0">
                <a:solidFill>
                  <a:srgbClr val="262626"/>
                </a:solidFill>
                <a:latin typeface="Calibri" pitchFamily="34" charset="0"/>
                <a:ea typeface="Calibri" pitchFamily="34" charset="-122"/>
                <a:cs typeface="Calibri" pitchFamily="34" charset="-120"/>
              </a:rPr>
              <a:t>Atribuir desenlaces a la religión o a la decisión del paciente.</a:t>
            </a:r>
            <a:endParaRPr lang="en-US" sz="1350" dirty="0"/>
          </a:p>
        </p:txBody>
      </p:sp>
      <p:sp>
        <p:nvSpPr>
          <p:cNvPr id="17" name="Shape 15"/>
          <p:cNvSpPr/>
          <p:nvPr/>
        </p:nvSpPr>
        <p:spPr>
          <a:xfrm>
            <a:off x="777240" y="4471416"/>
            <a:ext cx="310896" cy="310896"/>
          </a:xfrm>
          <a:prstGeom prst="ellipse">
            <a:avLst/>
          </a:prstGeom>
          <a:solidFill>
            <a:srgbClr val="FF5F3F"/>
          </a:solidFill>
          <a:ln/>
        </p:spPr>
      </p:sp>
      <p:sp>
        <p:nvSpPr>
          <p:cNvPr id="18" name="Text 16"/>
          <p:cNvSpPr txBox="1"/>
          <p:nvPr/>
        </p:nvSpPr>
        <p:spPr>
          <a:xfrm>
            <a:off x="777240" y="4471416"/>
            <a:ext cx="310896" cy="310896"/>
          </a:xfrm>
          <a:prstGeom prst="rect">
            <a:avLst/>
          </a:prstGeom>
          <a:noFill/>
          <a:ln/>
        </p:spPr>
        <p:txBody>
          <a:bodyPr wrap="square" lIns="0" tIns="0" rIns="0" bIns="0" rtlCol="0" anchor="ctr"/>
          <a:lstStyle/>
          <a:p>
            <a:pPr algn="ctr" indent="0" marL="0">
              <a:lnSpc>
                <a:spcPct val="100000"/>
              </a:lnSpc>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19" name="Text 17"/>
          <p:cNvSpPr txBox="1"/>
          <p:nvPr/>
        </p:nvSpPr>
        <p:spPr>
          <a:xfrm>
            <a:off x="1234440" y="4425696"/>
            <a:ext cx="4517136" cy="502920"/>
          </a:xfrm>
          <a:prstGeom prst="rect">
            <a:avLst/>
          </a:prstGeom>
          <a:noFill/>
          <a:ln/>
        </p:spPr>
        <p:txBody>
          <a:bodyPr wrap="square" lIns="508" tIns="508" rIns="508" bIns="508" rtlCol="0" anchor="ctr"/>
          <a:lstStyle/>
          <a:p>
            <a:pPr algn="l" indent="0" marL="0">
              <a:lnSpc>
                <a:spcPct val="100000"/>
              </a:lnSpc>
              <a:buNone/>
            </a:pPr>
            <a:r>
              <a:rPr lang="en-US" sz="1350" dirty="0">
                <a:solidFill>
                  <a:srgbClr val="262626"/>
                </a:solidFill>
                <a:latin typeface="Calibri" pitchFamily="34" charset="0"/>
                <a:ea typeface="Calibri" pitchFamily="34" charset="-122"/>
                <a:cs typeface="Calibri" pitchFamily="34" charset="-120"/>
              </a:rPr>
              <a:t>Publicar casos individuales, fechas o cruces identificables.</a:t>
            </a:r>
            <a:endParaRPr lang="en-US" sz="1350" dirty="0"/>
          </a:p>
        </p:txBody>
      </p:sp>
      <p:sp>
        <p:nvSpPr>
          <p:cNvPr id="20" name="Shape 18"/>
          <p:cNvSpPr/>
          <p:nvPr/>
        </p:nvSpPr>
        <p:spPr>
          <a:xfrm>
            <a:off x="777240" y="5038344"/>
            <a:ext cx="310896" cy="310896"/>
          </a:xfrm>
          <a:prstGeom prst="ellipse">
            <a:avLst/>
          </a:prstGeom>
          <a:solidFill>
            <a:srgbClr val="FF5F3F"/>
          </a:solidFill>
          <a:ln/>
        </p:spPr>
      </p:sp>
      <p:sp>
        <p:nvSpPr>
          <p:cNvPr id="21" name="Text 19"/>
          <p:cNvSpPr txBox="1"/>
          <p:nvPr/>
        </p:nvSpPr>
        <p:spPr>
          <a:xfrm>
            <a:off x="777240" y="5038344"/>
            <a:ext cx="310896" cy="310896"/>
          </a:xfrm>
          <a:prstGeom prst="rect">
            <a:avLst/>
          </a:prstGeom>
          <a:noFill/>
          <a:ln/>
        </p:spPr>
        <p:txBody>
          <a:bodyPr wrap="square" lIns="0" tIns="0" rIns="0" bIns="0" rtlCol="0" anchor="ctr"/>
          <a:lstStyle/>
          <a:p>
            <a:pPr algn="ctr" indent="0" marL="0">
              <a:lnSpc>
                <a:spcPct val="100000"/>
              </a:lnSpc>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22" name="Text 20"/>
          <p:cNvSpPr txBox="1"/>
          <p:nvPr/>
        </p:nvSpPr>
        <p:spPr>
          <a:xfrm>
            <a:off x="1234440" y="4992624"/>
            <a:ext cx="4517136" cy="502920"/>
          </a:xfrm>
          <a:prstGeom prst="rect">
            <a:avLst/>
          </a:prstGeom>
          <a:noFill/>
          <a:ln/>
        </p:spPr>
        <p:txBody>
          <a:bodyPr wrap="square" lIns="508" tIns="508" rIns="508" bIns="508" rtlCol="0" anchor="ctr"/>
          <a:lstStyle/>
          <a:p>
            <a:pPr algn="l" indent="0" marL="0">
              <a:lnSpc>
                <a:spcPct val="100000"/>
              </a:lnSpc>
              <a:buNone/>
            </a:pPr>
            <a:r>
              <a:rPr lang="en-US" sz="1350" dirty="0">
                <a:solidFill>
                  <a:srgbClr val="262626"/>
                </a:solidFill>
                <a:latin typeface="Calibri" pitchFamily="34" charset="0"/>
                <a:ea typeface="Calibri" pitchFamily="34" charset="-122"/>
                <a:cs typeface="Calibri" pitchFamily="34" charset="-120"/>
              </a:rPr>
              <a:t>Emitir comunicados o publicar en redes sin autorización institucional.</a:t>
            </a:r>
            <a:endParaRPr lang="en-US" sz="1350" dirty="0"/>
          </a:p>
        </p:txBody>
      </p:sp>
      <p:sp>
        <p:nvSpPr>
          <p:cNvPr id="23" name="Shape 21"/>
          <p:cNvSpPr/>
          <p:nvPr/>
        </p:nvSpPr>
        <p:spPr>
          <a:xfrm>
            <a:off x="6208776" y="2697480"/>
            <a:ext cx="5431536" cy="2971800"/>
          </a:xfrm>
          <a:prstGeom prst="roundRect">
            <a:avLst>
              <a:gd name="adj" fmla="val 2462"/>
            </a:avLst>
          </a:prstGeom>
          <a:solidFill>
            <a:srgbClr val="E6F5F2"/>
          </a:solidFill>
          <a:ln/>
        </p:spPr>
      </p:sp>
      <p:sp>
        <p:nvSpPr>
          <p:cNvPr id="24" name="Text 22"/>
          <p:cNvSpPr txBox="1"/>
          <p:nvPr/>
        </p:nvSpPr>
        <p:spPr>
          <a:xfrm>
            <a:off x="6437376" y="2788920"/>
            <a:ext cx="4974336" cy="411480"/>
          </a:xfrm>
          <a:prstGeom prst="rect">
            <a:avLst/>
          </a:prstGeom>
          <a:noFill/>
          <a:ln/>
        </p:spPr>
        <p:txBody>
          <a:bodyPr wrap="square" lIns="508" tIns="508" rIns="508" bIns="508" rtlCol="0" anchor="t"/>
          <a:lstStyle/>
          <a:p>
            <a:pPr algn="l" indent="0" marL="0">
              <a:lnSpc>
                <a:spcPct val="100000"/>
              </a:lnSpc>
              <a:buNone/>
            </a:pPr>
            <a:r>
              <a:rPr lang="en-US" sz="1800" b="1" dirty="0">
                <a:solidFill>
                  <a:srgbClr val="00826E"/>
                </a:solidFill>
                <a:latin typeface="Calibri" pitchFamily="34" charset="0"/>
                <a:ea typeface="Calibri" pitchFamily="34" charset="-122"/>
                <a:cs typeface="Calibri" pitchFamily="34" charset="-120"/>
              </a:rPr>
              <a:t>Haremos</a:t>
            </a:r>
            <a:endParaRPr lang="en-US" sz="1800" dirty="0"/>
          </a:p>
        </p:txBody>
      </p:sp>
      <p:sp>
        <p:nvSpPr>
          <p:cNvPr id="25" name="Shape 23"/>
          <p:cNvSpPr/>
          <p:nvPr/>
        </p:nvSpPr>
        <p:spPr>
          <a:xfrm>
            <a:off x="6437376" y="3337560"/>
            <a:ext cx="310896" cy="310896"/>
          </a:xfrm>
          <a:prstGeom prst="ellipse">
            <a:avLst/>
          </a:prstGeom>
          <a:solidFill>
            <a:srgbClr val="00826E"/>
          </a:solidFill>
          <a:ln/>
        </p:spPr>
      </p:sp>
      <p:sp>
        <p:nvSpPr>
          <p:cNvPr id="26" name="Text 24"/>
          <p:cNvSpPr txBox="1"/>
          <p:nvPr/>
        </p:nvSpPr>
        <p:spPr>
          <a:xfrm>
            <a:off x="6437376" y="3337560"/>
            <a:ext cx="310896" cy="310896"/>
          </a:xfrm>
          <a:prstGeom prst="rect">
            <a:avLst/>
          </a:prstGeom>
          <a:noFill/>
          <a:ln/>
        </p:spPr>
        <p:txBody>
          <a:bodyPr wrap="square" lIns="0" tIns="0" rIns="0" bIns="0" rtlCol="0" anchor="ctr"/>
          <a:lstStyle/>
          <a:p>
            <a:pPr algn="ctr" indent="0" marL="0">
              <a:lnSpc>
                <a:spcPct val="100000"/>
              </a:lnSpc>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27" name="Text 25"/>
          <p:cNvSpPr txBox="1"/>
          <p:nvPr/>
        </p:nvSpPr>
        <p:spPr>
          <a:xfrm>
            <a:off x="6894576" y="3291840"/>
            <a:ext cx="4517136" cy="502920"/>
          </a:xfrm>
          <a:prstGeom prst="rect">
            <a:avLst/>
          </a:prstGeom>
          <a:noFill/>
          <a:ln/>
        </p:spPr>
        <p:txBody>
          <a:bodyPr wrap="square" lIns="508" tIns="508" rIns="508" bIns="508" rtlCol="0" anchor="ctr"/>
          <a:lstStyle/>
          <a:p>
            <a:pPr algn="l" indent="0" marL="0">
              <a:lnSpc>
                <a:spcPct val="100000"/>
              </a:lnSpc>
              <a:buNone/>
            </a:pPr>
            <a:r>
              <a:rPr lang="en-US" sz="1350" dirty="0">
                <a:solidFill>
                  <a:srgbClr val="262626"/>
                </a:solidFill>
                <a:latin typeface="Calibri" pitchFamily="34" charset="0"/>
                <a:ea typeface="Calibri" pitchFamily="34" charset="-122"/>
                <a:cs typeface="Calibri" pitchFamily="34" charset="-120"/>
              </a:rPr>
              <a:t>Expresar resultados como frecuencia y asociación.</a:t>
            </a:r>
            <a:endParaRPr lang="en-US" sz="1350" dirty="0"/>
          </a:p>
        </p:txBody>
      </p:sp>
      <p:sp>
        <p:nvSpPr>
          <p:cNvPr id="28" name="Shape 26"/>
          <p:cNvSpPr/>
          <p:nvPr/>
        </p:nvSpPr>
        <p:spPr>
          <a:xfrm>
            <a:off x="6437376" y="3904488"/>
            <a:ext cx="310896" cy="310896"/>
          </a:xfrm>
          <a:prstGeom prst="ellipse">
            <a:avLst/>
          </a:prstGeom>
          <a:solidFill>
            <a:srgbClr val="00826E"/>
          </a:solidFill>
          <a:ln/>
        </p:spPr>
      </p:sp>
      <p:sp>
        <p:nvSpPr>
          <p:cNvPr id="29" name="Text 27"/>
          <p:cNvSpPr txBox="1"/>
          <p:nvPr/>
        </p:nvSpPr>
        <p:spPr>
          <a:xfrm>
            <a:off x="6437376" y="3904488"/>
            <a:ext cx="310896" cy="310896"/>
          </a:xfrm>
          <a:prstGeom prst="rect">
            <a:avLst/>
          </a:prstGeom>
          <a:noFill/>
          <a:ln/>
        </p:spPr>
        <p:txBody>
          <a:bodyPr wrap="square" lIns="0" tIns="0" rIns="0" bIns="0" rtlCol="0" anchor="ctr"/>
          <a:lstStyle/>
          <a:p>
            <a:pPr algn="ctr" indent="0" marL="0">
              <a:lnSpc>
                <a:spcPct val="100000"/>
              </a:lnSpc>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30" name="Text 28"/>
          <p:cNvSpPr txBox="1"/>
          <p:nvPr/>
        </p:nvSpPr>
        <p:spPr>
          <a:xfrm>
            <a:off x="6894576" y="3858768"/>
            <a:ext cx="4517136" cy="502920"/>
          </a:xfrm>
          <a:prstGeom prst="rect">
            <a:avLst/>
          </a:prstGeom>
          <a:noFill/>
          <a:ln/>
        </p:spPr>
        <p:txBody>
          <a:bodyPr wrap="square" lIns="508" tIns="508" rIns="508" bIns="508" rtlCol="0" anchor="ctr"/>
          <a:lstStyle/>
          <a:p>
            <a:pPr algn="l" indent="0" marL="0">
              <a:lnSpc>
                <a:spcPct val="100000"/>
              </a:lnSpc>
              <a:buNone/>
            </a:pPr>
            <a:r>
              <a:rPr lang="en-US" sz="1350" dirty="0">
                <a:solidFill>
                  <a:srgbClr val="262626"/>
                </a:solidFill>
                <a:latin typeface="Calibri" pitchFamily="34" charset="0"/>
                <a:ea typeface="Calibri" pitchFamily="34" charset="-122"/>
                <a:cs typeface="Calibri" pitchFamily="34" charset="-120"/>
              </a:rPr>
              <a:t>Relacionar complicaciones con factores clínicos y con el manejo de la sangre.</a:t>
            </a:r>
            <a:endParaRPr lang="en-US" sz="1350" dirty="0"/>
          </a:p>
        </p:txBody>
      </p:sp>
      <p:sp>
        <p:nvSpPr>
          <p:cNvPr id="31" name="Shape 29"/>
          <p:cNvSpPr/>
          <p:nvPr/>
        </p:nvSpPr>
        <p:spPr>
          <a:xfrm>
            <a:off x="6437376" y="4471416"/>
            <a:ext cx="310896" cy="310896"/>
          </a:xfrm>
          <a:prstGeom prst="ellipse">
            <a:avLst/>
          </a:prstGeom>
          <a:solidFill>
            <a:srgbClr val="00826E"/>
          </a:solidFill>
          <a:ln/>
        </p:spPr>
      </p:sp>
      <p:sp>
        <p:nvSpPr>
          <p:cNvPr id="32" name="Text 30"/>
          <p:cNvSpPr txBox="1"/>
          <p:nvPr/>
        </p:nvSpPr>
        <p:spPr>
          <a:xfrm>
            <a:off x="6437376" y="4471416"/>
            <a:ext cx="310896" cy="310896"/>
          </a:xfrm>
          <a:prstGeom prst="rect">
            <a:avLst/>
          </a:prstGeom>
          <a:noFill/>
          <a:ln/>
        </p:spPr>
        <p:txBody>
          <a:bodyPr wrap="square" lIns="0" tIns="0" rIns="0" bIns="0" rtlCol="0" anchor="ctr"/>
          <a:lstStyle/>
          <a:p>
            <a:pPr algn="ctr" indent="0" marL="0">
              <a:lnSpc>
                <a:spcPct val="100000"/>
              </a:lnSpc>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33" name="Text 31"/>
          <p:cNvSpPr txBox="1"/>
          <p:nvPr/>
        </p:nvSpPr>
        <p:spPr>
          <a:xfrm>
            <a:off x="6894576" y="4425696"/>
            <a:ext cx="4517136" cy="502920"/>
          </a:xfrm>
          <a:prstGeom prst="rect">
            <a:avLst/>
          </a:prstGeom>
          <a:noFill/>
          <a:ln/>
        </p:spPr>
        <p:txBody>
          <a:bodyPr wrap="square" lIns="508" tIns="508" rIns="508" bIns="508" rtlCol="0" anchor="ctr"/>
          <a:lstStyle/>
          <a:p>
            <a:pPr algn="l" indent="0" marL="0">
              <a:lnSpc>
                <a:spcPct val="100000"/>
              </a:lnSpc>
              <a:buNone/>
            </a:pPr>
            <a:r>
              <a:rPr lang="en-US" sz="1350" dirty="0">
                <a:solidFill>
                  <a:srgbClr val="262626"/>
                </a:solidFill>
                <a:latin typeface="Calibri" pitchFamily="34" charset="0"/>
                <a:ea typeface="Calibri" pitchFamily="34" charset="-122"/>
                <a:cs typeface="Calibri" pitchFamily="34" charset="-120"/>
              </a:rPr>
              <a:t>Usar lenguaje respetuoso: «pacientes con rechazo transfusional documentado».</a:t>
            </a:r>
            <a:endParaRPr lang="en-US" sz="1350" dirty="0"/>
          </a:p>
        </p:txBody>
      </p:sp>
      <p:sp>
        <p:nvSpPr>
          <p:cNvPr id="34" name="Shape 32"/>
          <p:cNvSpPr/>
          <p:nvPr/>
        </p:nvSpPr>
        <p:spPr>
          <a:xfrm>
            <a:off x="6437376" y="5038344"/>
            <a:ext cx="310896" cy="310896"/>
          </a:xfrm>
          <a:prstGeom prst="ellipse">
            <a:avLst/>
          </a:prstGeom>
          <a:solidFill>
            <a:srgbClr val="00826E"/>
          </a:solidFill>
          <a:ln/>
        </p:spPr>
      </p:sp>
      <p:sp>
        <p:nvSpPr>
          <p:cNvPr id="35" name="Text 33"/>
          <p:cNvSpPr txBox="1"/>
          <p:nvPr/>
        </p:nvSpPr>
        <p:spPr>
          <a:xfrm>
            <a:off x="6437376" y="5038344"/>
            <a:ext cx="310896" cy="310896"/>
          </a:xfrm>
          <a:prstGeom prst="rect">
            <a:avLst/>
          </a:prstGeom>
          <a:noFill/>
          <a:ln/>
        </p:spPr>
        <p:txBody>
          <a:bodyPr wrap="square" lIns="0" tIns="0" rIns="0" bIns="0" rtlCol="0" anchor="ctr"/>
          <a:lstStyle/>
          <a:p>
            <a:pPr algn="ctr" indent="0" marL="0">
              <a:lnSpc>
                <a:spcPct val="100000"/>
              </a:lnSpc>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36" name="Text 34"/>
          <p:cNvSpPr txBox="1"/>
          <p:nvPr/>
        </p:nvSpPr>
        <p:spPr>
          <a:xfrm>
            <a:off x="6894576" y="4992624"/>
            <a:ext cx="4517136" cy="502920"/>
          </a:xfrm>
          <a:prstGeom prst="rect">
            <a:avLst/>
          </a:prstGeom>
          <a:noFill/>
          <a:ln/>
        </p:spPr>
        <p:txBody>
          <a:bodyPr wrap="square" lIns="508" tIns="508" rIns="508" bIns="508" rtlCol="0" anchor="ctr"/>
          <a:lstStyle/>
          <a:p>
            <a:pPr algn="l" indent="0" marL="0">
              <a:lnSpc>
                <a:spcPct val="100000"/>
              </a:lnSpc>
              <a:buNone/>
            </a:pPr>
            <a:r>
              <a:rPr lang="en-US" sz="1350" dirty="0">
                <a:solidFill>
                  <a:srgbClr val="262626"/>
                </a:solidFill>
                <a:latin typeface="Calibri" pitchFamily="34" charset="0"/>
                <a:ea typeface="Calibri" pitchFamily="34" charset="-122"/>
                <a:cs typeface="Calibri" pitchFamily="34" charset="-120"/>
              </a:rPr>
              <a:t>Revisar antes de difundir y remitir el informe final al Comité.</a:t>
            </a:r>
            <a:endParaRPr lang="en-US" sz="1350" dirty="0"/>
          </a:p>
        </p:txBody>
      </p:sp>
      <p:sp>
        <p:nvSpPr>
          <p:cNvPr id="37" name="Text 35"/>
          <p:cNvSpPr txBox="1"/>
          <p:nvPr/>
        </p:nvSpPr>
        <p:spPr>
          <a:xfrm>
            <a:off x="548640" y="5833872"/>
            <a:ext cx="11091672" cy="292608"/>
          </a:xfrm>
          <a:prstGeom prst="rect">
            <a:avLst/>
          </a:prstGeom>
          <a:noFill/>
          <a:ln/>
        </p:spPr>
        <p:txBody>
          <a:bodyPr wrap="square" lIns="508" tIns="508" rIns="508" bIns="508" rtlCol="0" anchor="ctr"/>
          <a:lstStyle/>
          <a:p>
            <a:pPr algn="l" indent="0" marL="0">
              <a:lnSpc>
                <a:spcPct val="100000"/>
              </a:lnSpc>
              <a:buNone/>
            </a:pPr>
            <a:r>
              <a:rPr lang="en-US" sz="1200" b="1" dirty="0">
                <a:solidFill>
                  <a:srgbClr val="80006B"/>
                </a:solidFill>
                <a:latin typeface="Calibri" pitchFamily="34" charset="0"/>
                <a:ea typeface="Calibri" pitchFamily="34" charset="-122"/>
                <a:cs typeface="Calibri" pitchFamily="34" charset="-120"/>
              </a:rPr>
              <a:t>Dónde está en el protocolo v2.0:  </a:t>
            </a:r>
            <a:pPr algn="l" indent="0" marL="0">
              <a:lnSpc>
                <a:spcPct val="100000"/>
              </a:lnSpc>
              <a:buNone/>
            </a:pPr>
            <a:r>
              <a:rPr lang="en-US" sz="1200" dirty="0">
                <a:solidFill>
                  <a:srgbClr val="6B6B6B"/>
                </a:solidFill>
                <a:latin typeface="Calibri" pitchFamily="34" charset="0"/>
                <a:ea typeface="Calibri" pitchFamily="34" charset="-122"/>
                <a:cs typeface="Calibri" pitchFamily="34" charset="-120"/>
              </a:rPr>
              <a:t>numeral 3.9.2, p. 43 · numeral 3.9.1, p. 43 · numeral 3.10, p. 44</a:t>
            </a:r>
            <a:endParaRPr lang="en-US" sz="1200" dirty="0"/>
          </a:p>
        </p:txBody>
      </p:sp>
      <p:sp>
        <p:nvSpPr>
          <p:cNvPr id="25" name="Slide Number Placeholder 0"/>
          <p:cNvSpPr>
            <a:spLocks noGrp="1"/>
          </p:cNvSpPr>
          <p:nvPr>
            <p:ph type="sldNum" sz="quarter" idx="4294967295"/>
          </p:nvPr>
        </p:nvSpPr>
        <p:spPr>
          <a:xfrm>
            <a:off x="11201400" y="635508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292608"/>
            <a:ext cx="8686800" cy="274320"/>
          </a:xfrm>
          <a:prstGeom prst="rect">
            <a:avLst/>
          </a:prstGeom>
          <a:noFill/>
          <a:ln/>
        </p:spPr>
        <p:txBody>
          <a:bodyPr wrap="square" lIns="508" tIns="508" rIns="508" bIns="508" rtlCol="0" anchor="t"/>
          <a:lstStyle/>
          <a:p>
            <a:pPr algn="l" indent="0" marL="0">
              <a:lnSpc>
                <a:spcPct val="100000"/>
              </a:lnSpc>
              <a:buNone/>
            </a:pPr>
            <a:r>
              <a:rPr lang="en-US" sz="1200" b="1" dirty="0">
                <a:solidFill>
                  <a:srgbClr val="FF5F3F"/>
                </a:solidFill>
                <a:latin typeface="Calibri" pitchFamily="34" charset="0"/>
                <a:ea typeface="Calibri" pitchFamily="34" charset="-122"/>
                <a:cs typeface="Calibri" pitchFamily="34" charset="-120"/>
              </a:rPr>
              <a:t>OBSERVACIÓN 7 DE 7</a:t>
            </a:r>
            <a:endParaRPr lang="en-US" sz="1200" dirty="0"/>
          </a:p>
        </p:txBody>
      </p:sp>
      <p:sp>
        <p:nvSpPr>
          <p:cNvPr id="3" name="Text 1"/>
          <p:cNvSpPr txBox="1"/>
          <p:nvPr/>
        </p:nvSpPr>
        <p:spPr>
          <a:xfrm>
            <a:off x="548640" y="548640"/>
            <a:ext cx="9326880" cy="548640"/>
          </a:xfrm>
          <a:prstGeom prst="rect">
            <a:avLst/>
          </a:prstGeom>
          <a:noFill/>
          <a:ln/>
        </p:spPr>
        <p:txBody>
          <a:bodyPr wrap="square" lIns="508" tIns="508" rIns="508" bIns="508" rtlCol="0" anchor="ctr"/>
          <a:lstStyle/>
          <a:p>
            <a:pPr algn="l" indent="0" marL="0">
              <a:lnSpc>
                <a:spcPct val="100000"/>
              </a:lnSpc>
              <a:buNone/>
            </a:pPr>
            <a:r>
              <a:rPr lang="en-US" sz="2800" b="1" dirty="0">
                <a:solidFill>
                  <a:srgbClr val="80006B"/>
                </a:solidFill>
                <a:latin typeface="Calibri" pitchFamily="34" charset="0"/>
                <a:ea typeface="Calibri" pitchFamily="34" charset="-122"/>
                <a:cs typeface="Calibri" pitchFamily="34" charset="-120"/>
              </a:rPr>
              <a:t>Documentación transfusional</a:t>
            </a:r>
            <a:endParaRPr lang="en-US" sz="2800" dirty="0"/>
          </a:p>
        </p:txBody>
      </p:sp>
      <p:sp>
        <p:nvSpPr>
          <p:cNvPr id="4" name="Shape 2"/>
          <p:cNvSpPr/>
          <p:nvPr/>
        </p:nvSpPr>
        <p:spPr>
          <a:xfrm>
            <a:off x="548640" y="1261872"/>
            <a:ext cx="11091672" cy="713232"/>
          </a:xfrm>
          <a:prstGeom prst="roundRect">
            <a:avLst>
              <a:gd name="adj" fmla="val 10256"/>
            </a:avLst>
          </a:prstGeom>
          <a:solidFill>
            <a:srgbClr val="F7EDF5"/>
          </a:solidFill>
          <a:ln/>
        </p:spPr>
      </p:sp>
      <p:sp>
        <p:nvSpPr>
          <p:cNvPr id="5" name="Text 3"/>
          <p:cNvSpPr txBox="1"/>
          <p:nvPr/>
        </p:nvSpPr>
        <p:spPr>
          <a:xfrm>
            <a:off x="731520" y="1261872"/>
            <a:ext cx="10725912" cy="713232"/>
          </a:xfrm>
          <a:prstGeom prst="rect">
            <a:avLst/>
          </a:prstGeom>
          <a:noFill/>
          <a:ln/>
        </p:spPr>
        <p:txBody>
          <a:bodyPr wrap="square" lIns="508" tIns="508" rIns="508" bIns="508" rtlCol="0" anchor="ctr"/>
          <a:lstStyle/>
          <a:p>
            <a:pPr algn="l" indent="0" marL="0">
              <a:lnSpc>
                <a:spcPct val="100000"/>
              </a:lnSpc>
              <a:buNone/>
            </a:pPr>
            <a:r>
              <a:rPr lang="en-US" sz="1300" b="1" dirty="0">
                <a:solidFill>
                  <a:srgbClr val="80006B"/>
                </a:solidFill>
                <a:latin typeface="Calibri" pitchFamily="34" charset="0"/>
                <a:ea typeface="Calibri" pitchFamily="34" charset="-122"/>
                <a:cs typeface="Calibri" pitchFamily="34" charset="-120"/>
              </a:rPr>
              <a:t>Observación del Comité  </a:t>
            </a:r>
            <a:pPr algn="l" indent="0" marL="0">
              <a:lnSpc>
                <a:spcPct val="100000"/>
              </a:lnSpc>
              <a:buNone/>
            </a:pPr>
            <a:r>
              <a:rPr lang="en-US" sz="1300" i="1" dirty="0">
                <a:solidFill>
                  <a:srgbClr val="262626"/>
                </a:solidFill>
                <a:latin typeface="Calibri" pitchFamily="34" charset="0"/>
                <a:ea typeface="Calibri" pitchFamily="34" charset="-122"/>
                <a:cs typeface="Calibri" pitchFamily="34" charset="-120"/>
              </a:rPr>
              <a:t>«Precisar cómo se verificarán la negativa documentada, el producto sanguíneo involucrado, los cambios de voluntad y las circunstancias de cualquier transfusión registrada».</a:t>
            </a:r>
            <a:endParaRPr lang="en-US" sz="1300" dirty="0"/>
          </a:p>
        </p:txBody>
      </p:sp>
      <p:sp>
        <p:nvSpPr>
          <p:cNvPr id="6" name="Shape 4"/>
          <p:cNvSpPr/>
          <p:nvPr/>
        </p:nvSpPr>
        <p:spPr>
          <a:xfrm>
            <a:off x="548640" y="2148840"/>
            <a:ext cx="1691640" cy="310896"/>
          </a:xfrm>
          <a:prstGeom prst="roundRect">
            <a:avLst>
              <a:gd name="adj" fmla="val 147059"/>
            </a:avLst>
          </a:prstGeom>
          <a:solidFill>
            <a:srgbClr val="FF5F3F"/>
          </a:solidFill>
          <a:ln/>
        </p:spPr>
      </p:sp>
      <p:sp>
        <p:nvSpPr>
          <p:cNvPr id="7" name="Text 5"/>
          <p:cNvSpPr txBox="1"/>
          <p:nvPr/>
        </p:nvSpPr>
        <p:spPr>
          <a:xfrm>
            <a:off x="548640" y="2148840"/>
            <a:ext cx="1691640" cy="310896"/>
          </a:xfrm>
          <a:prstGeom prst="rect">
            <a:avLst/>
          </a:prstGeom>
          <a:noFill/>
          <a:ln/>
        </p:spPr>
        <p:txBody>
          <a:bodyPr wrap="square" lIns="0" tIns="0" rIns="0" bIns="0" rtlCol="0" anchor="ctr"/>
          <a:lstStyle/>
          <a:p>
            <a:pPr algn="ctr" indent="0" marL="0">
              <a:lnSpc>
                <a:spcPct val="100000"/>
              </a:lnSpc>
              <a:buNone/>
            </a:pPr>
            <a:r>
              <a:rPr lang="en-US" sz="1100" b="1" dirty="0">
                <a:solidFill>
                  <a:srgbClr val="FFFFFF"/>
                </a:solidFill>
                <a:latin typeface="Calibri" pitchFamily="34" charset="0"/>
                <a:ea typeface="Calibri" pitchFamily="34" charset="-122"/>
                <a:cs typeface="Calibri" pitchFamily="34" charset="-120"/>
              </a:rPr>
              <a:t>Se acoge</a:t>
            </a:r>
            <a:endParaRPr lang="en-US" sz="1100" dirty="0"/>
          </a:p>
        </p:txBody>
      </p:sp>
      <p:sp>
        <p:nvSpPr>
          <p:cNvPr id="8" name="Text 6"/>
          <p:cNvSpPr txBox="1"/>
          <p:nvPr/>
        </p:nvSpPr>
        <p:spPr>
          <a:xfrm>
            <a:off x="2377440" y="2121408"/>
            <a:ext cx="9262872" cy="384048"/>
          </a:xfrm>
          <a:prstGeom prst="rect">
            <a:avLst/>
          </a:prstGeom>
          <a:noFill/>
          <a:ln/>
        </p:spPr>
        <p:txBody>
          <a:bodyPr wrap="square" lIns="508" tIns="508" rIns="508" bIns="508" rtlCol="0" anchor="ctr"/>
          <a:lstStyle/>
          <a:p>
            <a:pPr algn="l" indent="0" marL="0">
              <a:lnSpc>
                <a:spcPct val="100000"/>
              </a:lnSpc>
              <a:buNone/>
            </a:pPr>
            <a:r>
              <a:rPr lang="en-US" sz="1500" dirty="0">
                <a:solidFill>
                  <a:srgbClr val="262626"/>
                </a:solidFill>
                <a:latin typeface="Calibri" pitchFamily="34" charset="0"/>
                <a:ea typeface="Calibri" pitchFamily="34" charset="-122"/>
                <a:cs typeface="Calibri" pitchFamily="34" charset="-120"/>
              </a:rPr>
              <a:t>Se agregó el procedimiento «Verificación de la documentación transfusional» y tres variables en la Tabla 3.</a:t>
            </a:r>
            <a:endParaRPr lang="en-US" sz="1500" dirty="0"/>
          </a:p>
        </p:txBody>
      </p:sp>
      <p:sp>
        <p:nvSpPr>
          <p:cNvPr id="9" name="Shape 7"/>
          <p:cNvSpPr/>
          <p:nvPr/>
        </p:nvSpPr>
        <p:spPr>
          <a:xfrm>
            <a:off x="548640" y="2697480"/>
            <a:ext cx="2567178" cy="1691640"/>
          </a:xfrm>
          <a:prstGeom prst="roundRect">
            <a:avLst>
              <a:gd name="adj" fmla="val 4324"/>
            </a:avLst>
          </a:prstGeom>
          <a:solidFill>
            <a:srgbClr val="F7EDF5"/>
          </a:solidFill>
          <a:ln/>
        </p:spPr>
      </p:sp>
      <p:sp>
        <p:nvSpPr>
          <p:cNvPr id="10" name="Shape 8"/>
          <p:cNvSpPr/>
          <p:nvPr/>
        </p:nvSpPr>
        <p:spPr>
          <a:xfrm>
            <a:off x="713232" y="2816352"/>
            <a:ext cx="411480" cy="411480"/>
          </a:xfrm>
          <a:prstGeom prst="ellipse">
            <a:avLst/>
          </a:prstGeom>
          <a:solidFill>
            <a:srgbClr val="80006B"/>
          </a:solidFill>
          <a:ln/>
        </p:spPr>
      </p:sp>
      <p:sp>
        <p:nvSpPr>
          <p:cNvPr id="11" name="Text 9"/>
          <p:cNvSpPr txBox="1"/>
          <p:nvPr/>
        </p:nvSpPr>
        <p:spPr>
          <a:xfrm>
            <a:off x="713232" y="2816352"/>
            <a:ext cx="411480" cy="411480"/>
          </a:xfrm>
          <a:prstGeom prst="rect">
            <a:avLst/>
          </a:prstGeom>
          <a:noFill/>
          <a:ln/>
        </p:spPr>
        <p:txBody>
          <a:bodyPr wrap="square" lIns="0" tIns="0" rIns="0" bIns="0" rtlCol="0" anchor="ctr"/>
          <a:lstStyle/>
          <a:p>
            <a:pPr algn="ctr" indent="0" marL="0">
              <a:lnSpc>
                <a:spcPct val="100000"/>
              </a:lnSpc>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2" name="Text 10"/>
          <p:cNvSpPr txBox="1"/>
          <p:nvPr/>
        </p:nvSpPr>
        <p:spPr>
          <a:xfrm>
            <a:off x="1234440" y="2798064"/>
            <a:ext cx="1789938" cy="457200"/>
          </a:xfrm>
          <a:prstGeom prst="rect">
            <a:avLst/>
          </a:prstGeom>
          <a:noFill/>
          <a:ln/>
        </p:spPr>
        <p:txBody>
          <a:bodyPr wrap="square" lIns="508" tIns="508" rIns="508" bIns="508" rtlCol="0" anchor="ctr"/>
          <a:lstStyle/>
          <a:p>
            <a:pPr algn="l" indent="0" marL="0">
              <a:lnSpc>
                <a:spcPct val="100000"/>
              </a:lnSpc>
              <a:buNone/>
            </a:pPr>
            <a:r>
              <a:rPr lang="en-US" sz="1500" b="1" dirty="0">
                <a:solidFill>
                  <a:srgbClr val="80006B"/>
                </a:solidFill>
                <a:latin typeface="Calibri" pitchFamily="34" charset="0"/>
                <a:ea typeface="Calibri" pitchFamily="34" charset="-122"/>
                <a:cs typeface="Calibri" pitchFamily="34" charset="-120"/>
              </a:rPr>
              <a:t>Negativa</a:t>
            </a:r>
            <a:endParaRPr lang="en-US" sz="1500" dirty="0"/>
          </a:p>
        </p:txBody>
      </p:sp>
      <p:sp>
        <p:nvSpPr>
          <p:cNvPr id="13" name="Text 11"/>
          <p:cNvSpPr txBox="1"/>
          <p:nvPr/>
        </p:nvSpPr>
        <p:spPr>
          <a:xfrm>
            <a:off x="713232" y="3310128"/>
            <a:ext cx="2237994" cy="1051560"/>
          </a:xfrm>
          <a:prstGeom prst="rect">
            <a:avLst/>
          </a:prstGeom>
          <a:noFill/>
          <a:ln/>
        </p:spPr>
        <p:txBody>
          <a:bodyPr wrap="square" lIns="508" tIns="508" rIns="508" bIns="508" rtlCol="0" anchor="t"/>
          <a:lstStyle/>
          <a:p>
            <a:pPr algn="l" indent="0" marL="0">
              <a:lnSpc>
                <a:spcPct val="100000"/>
              </a:lnSpc>
              <a:buNone/>
            </a:pPr>
            <a:r>
              <a:rPr lang="en-US" sz="1250" dirty="0">
                <a:solidFill>
                  <a:srgbClr val="262626"/>
                </a:solidFill>
                <a:latin typeface="Calibri" pitchFamily="34" charset="0"/>
                <a:ea typeface="Calibri" pitchFamily="34" charset="-122"/>
                <a:cs typeface="Calibri" pitchFamily="34" charset="-120"/>
              </a:rPr>
              <a:t>Tipo de documento, fecha, firma y profesional; válida solo si es escrita y previa a la cirugía.</a:t>
            </a:r>
            <a:endParaRPr lang="en-US" sz="1250" dirty="0"/>
          </a:p>
        </p:txBody>
      </p:sp>
      <p:sp>
        <p:nvSpPr>
          <p:cNvPr id="14" name="Shape 12"/>
          <p:cNvSpPr/>
          <p:nvPr/>
        </p:nvSpPr>
        <p:spPr>
          <a:xfrm>
            <a:off x="3152394" y="3401568"/>
            <a:ext cx="201168" cy="274320"/>
          </a:xfrm>
          <a:prstGeom prst="rightArrow">
            <a:avLst/>
          </a:prstGeom>
          <a:solidFill>
            <a:srgbClr val="FF5F3F"/>
          </a:solidFill>
          <a:ln/>
        </p:spPr>
      </p:sp>
      <p:sp>
        <p:nvSpPr>
          <p:cNvPr id="15" name="Shape 13"/>
          <p:cNvSpPr/>
          <p:nvPr/>
        </p:nvSpPr>
        <p:spPr>
          <a:xfrm>
            <a:off x="3390138" y="2697480"/>
            <a:ext cx="2567178" cy="1691640"/>
          </a:xfrm>
          <a:prstGeom prst="roundRect">
            <a:avLst>
              <a:gd name="adj" fmla="val 4324"/>
            </a:avLst>
          </a:prstGeom>
          <a:solidFill>
            <a:srgbClr val="F7EDF5"/>
          </a:solidFill>
          <a:ln/>
        </p:spPr>
      </p:sp>
      <p:sp>
        <p:nvSpPr>
          <p:cNvPr id="16" name="Shape 14"/>
          <p:cNvSpPr/>
          <p:nvPr/>
        </p:nvSpPr>
        <p:spPr>
          <a:xfrm>
            <a:off x="3554730" y="2816352"/>
            <a:ext cx="411480" cy="411480"/>
          </a:xfrm>
          <a:prstGeom prst="ellipse">
            <a:avLst/>
          </a:prstGeom>
          <a:solidFill>
            <a:srgbClr val="80006B"/>
          </a:solidFill>
          <a:ln/>
        </p:spPr>
      </p:sp>
      <p:sp>
        <p:nvSpPr>
          <p:cNvPr id="17" name="Text 15"/>
          <p:cNvSpPr txBox="1"/>
          <p:nvPr/>
        </p:nvSpPr>
        <p:spPr>
          <a:xfrm>
            <a:off x="3554730" y="2816352"/>
            <a:ext cx="411480" cy="411480"/>
          </a:xfrm>
          <a:prstGeom prst="rect">
            <a:avLst/>
          </a:prstGeom>
          <a:noFill/>
          <a:ln/>
        </p:spPr>
        <p:txBody>
          <a:bodyPr wrap="square" lIns="0" tIns="0" rIns="0" bIns="0" rtlCol="0" anchor="ctr"/>
          <a:lstStyle/>
          <a:p>
            <a:pPr algn="ctr" indent="0" marL="0">
              <a:lnSpc>
                <a:spcPct val="100000"/>
              </a:lnSpc>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8" name="Text 16"/>
          <p:cNvSpPr txBox="1"/>
          <p:nvPr/>
        </p:nvSpPr>
        <p:spPr>
          <a:xfrm>
            <a:off x="4075938" y="2798064"/>
            <a:ext cx="1789938" cy="457200"/>
          </a:xfrm>
          <a:prstGeom prst="rect">
            <a:avLst/>
          </a:prstGeom>
          <a:noFill/>
          <a:ln/>
        </p:spPr>
        <p:txBody>
          <a:bodyPr wrap="square" lIns="508" tIns="508" rIns="508" bIns="508" rtlCol="0" anchor="ctr"/>
          <a:lstStyle/>
          <a:p>
            <a:pPr algn="l" indent="0" marL="0">
              <a:lnSpc>
                <a:spcPct val="100000"/>
              </a:lnSpc>
              <a:buNone/>
            </a:pPr>
            <a:r>
              <a:rPr lang="en-US" sz="1500" b="1" dirty="0">
                <a:solidFill>
                  <a:srgbClr val="80006B"/>
                </a:solidFill>
                <a:latin typeface="Calibri" pitchFamily="34" charset="0"/>
                <a:ea typeface="Calibri" pitchFamily="34" charset="-122"/>
                <a:cs typeface="Calibri" pitchFamily="34" charset="-120"/>
              </a:rPr>
              <a:t>Producto</a:t>
            </a:r>
            <a:endParaRPr lang="en-US" sz="1500" dirty="0"/>
          </a:p>
        </p:txBody>
      </p:sp>
      <p:sp>
        <p:nvSpPr>
          <p:cNvPr id="19" name="Text 17"/>
          <p:cNvSpPr txBox="1"/>
          <p:nvPr/>
        </p:nvSpPr>
        <p:spPr>
          <a:xfrm>
            <a:off x="3554730" y="3310128"/>
            <a:ext cx="2237994" cy="1051560"/>
          </a:xfrm>
          <a:prstGeom prst="rect">
            <a:avLst/>
          </a:prstGeom>
          <a:noFill/>
          <a:ln/>
        </p:spPr>
        <p:txBody>
          <a:bodyPr wrap="square" lIns="508" tIns="508" rIns="508" bIns="508" rtlCol="0" anchor="t"/>
          <a:lstStyle/>
          <a:p>
            <a:pPr algn="l" indent="0" marL="0">
              <a:lnSpc>
                <a:spcPct val="100000"/>
              </a:lnSpc>
              <a:buNone/>
            </a:pPr>
            <a:r>
              <a:rPr lang="en-US" sz="1250" dirty="0">
                <a:solidFill>
                  <a:srgbClr val="262626"/>
                </a:solidFill>
                <a:latin typeface="Calibri" pitchFamily="34" charset="0"/>
                <a:ea typeface="Calibri" pitchFamily="34" charset="-122"/>
                <a:cs typeface="Calibri" pitchFamily="34" charset="-120"/>
              </a:rPr>
              <a:t>Aceptación, rechazo o ausencia de registro de cada componente, fracción y técnica autóloga.</a:t>
            </a:r>
            <a:endParaRPr lang="en-US" sz="1250" dirty="0"/>
          </a:p>
        </p:txBody>
      </p:sp>
      <p:sp>
        <p:nvSpPr>
          <p:cNvPr id="20" name="Shape 18"/>
          <p:cNvSpPr/>
          <p:nvPr/>
        </p:nvSpPr>
        <p:spPr>
          <a:xfrm>
            <a:off x="5993892" y="3401568"/>
            <a:ext cx="201168" cy="274320"/>
          </a:xfrm>
          <a:prstGeom prst="rightArrow">
            <a:avLst/>
          </a:prstGeom>
          <a:solidFill>
            <a:srgbClr val="FF5F3F"/>
          </a:solidFill>
          <a:ln/>
        </p:spPr>
      </p:sp>
      <p:sp>
        <p:nvSpPr>
          <p:cNvPr id="21" name="Shape 19"/>
          <p:cNvSpPr/>
          <p:nvPr/>
        </p:nvSpPr>
        <p:spPr>
          <a:xfrm>
            <a:off x="6231636" y="2697480"/>
            <a:ext cx="2567178" cy="1691640"/>
          </a:xfrm>
          <a:prstGeom prst="roundRect">
            <a:avLst>
              <a:gd name="adj" fmla="val 4324"/>
            </a:avLst>
          </a:prstGeom>
          <a:solidFill>
            <a:srgbClr val="F7EDF5"/>
          </a:solidFill>
          <a:ln/>
        </p:spPr>
      </p:sp>
      <p:sp>
        <p:nvSpPr>
          <p:cNvPr id="22" name="Shape 20"/>
          <p:cNvSpPr/>
          <p:nvPr/>
        </p:nvSpPr>
        <p:spPr>
          <a:xfrm>
            <a:off x="6396228" y="2816352"/>
            <a:ext cx="411480" cy="411480"/>
          </a:xfrm>
          <a:prstGeom prst="ellipse">
            <a:avLst/>
          </a:prstGeom>
          <a:solidFill>
            <a:srgbClr val="80006B"/>
          </a:solidFill>
          <a:ln/>
        </p:spPr>
      </p:sp>
      <p:sp>
        <p:nvSpPr>
          <p:cNvPr id="23" name="Text 21"/>
          <p:cNvSpPr txBox="1"/>
          <p:nvPr/>
        </p:nvSpPr>
        <p:spPr>
          <a:xfrm>
            <a:off x="6396228" y="2816352"/>
            <a:ext cx="411480" cy="411480"/>
          </a:xfrm>
          <a:prstGeom prst="rect">
            <a:avLst/>
          </a:prstGeom>
          <a:noFill/>
          <a:ln/>
        </p:spPr>
        <p:txBody>
          <a:bodyPr wrap="square" lIns="0" tIns="0" rIns="0" bIns="0" rtlCol="0" anchor="ctr"/>
          <a:lstStyle/>
          <a:p>
            <a:pPr algn="ctr" indent="0" marL="0">
              <a:lnSpc>
                <a:spcPct val="100000"/>
              </a:lnSpc>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4" name="Text 22"/>
          <p:cNvSpPr txBox="1"/>
          <p:nvPr/>
        </p:nvSpPr>
        <p:spPr>
          <a:xfrm>
            <a:off x="6917436" y="2798064"/>
            <a:ext cx="1789938" cy="457200"/>
          </a:xfrm>
          <a:prstGeom prst="rect">
            <a:avLst/>
          </a:prstGeom>
          <a:noFill/>
          <a:ln/>
        </p:spPr>
        <p:txBody>
          <a:bodyPr wrap="square" lIns="508" tIns="508" rIns="508" bIns="508" rtlCol="0" anchor="ctr"/>
          <a:lstStyle/>
          <a:p>
            <a:pPr algn="l" indent="0" marL="0">
              <a:lnSpc>
                <a:spcPct val="100000"/>
              </a:lnSpc>
              <a:buNone/>
            </a:pPr>
            <a:r>
              <a:rPr lang="en-US" sz="1500" b="1" dirty="0">
                <a:solidFill>
                  <a:srgbClr val="80006B"/>
                </a:solidFill>
                <a:latin typeface="Calibri" pitchFamily="34" charset="0"/>
                <a:ea typeface="Calibri" pitchFamily="34" charset="-122"/>
                <a:cs typeface="Calibri" pitchFamily="34" charset="-120"/>
              </a:rPr>
              <a:t>Cambio de voluntad</a:t>
            </a:r>
            <a:endParaRPr lang="en-US" sz="1500" dirty="0"/>
          </a:p>
        </p:txBody>
      </p:sp>
      <p:sp>
        <p:nvSpPr>
          <p:cNvPr id="25" name="Text 23"/>
          <p:cNvSpPr txBox="1"/>
          <p:nvPr/>
        </p:nvSpPr>
        <p:spPr>
          <a:xfrm>
            <a:off x="6396228" y="3310128"/>
            <a:ext cx="2237994" cy="1051560"/>
          </a:xfrm>
          <a:prstGeom prst="rect">
            <a:avLst/>
          </a:prstGeom>
          <a:noFill/>
          <a:ln/>
        </p:spPr>
        <p:txBody>
          <a:bodyPr wrap="square" lIns="508" tIns="508" rIns="508" bIns="508" rtlCol="0" anchor="t"/>
          <a:lstStyle/>
          <a:p>
            <a:pPr algn="l" indent="0" marL="0">
              <a:lnSpc>
                <a:spcPct val="100000"/>
              </a:lnSpc>
              <a:buNone/>
            </a:pPr>
            <a:r>
              <a:rPr lang="en-US" sz="1250" dirty="0">
                <a:solidFill>
                  <a:srgbClr val="262626"/>
                </a:solidFill>
                <a:latin typeface="Calibri" pitchFamily="34" charset="0"/>
                <a:ea typeface="Calibri" pitchFamily="34" charset="-122"/>
                <a:cs typeface="Calibri" pitchFamily="34" charset="-120"/>
              </a:rPr>
              <a:t>Fecha, fase, quién lo expresa (paciente o representante) y soporte.</a:t>
            </a:r>
            <a:endParaRPr lang="en-US" sz="1250" dirty="0"/>
          </a:p>
        </p:txBody>
      </p:sp>
      <p:sp>
        <p:nvSpPr>
          <p:cNvPr id="26" name="Shape 24"/>
          <p:cNvSpPr/>
          <p:nvPr/>
        </p:nvSpPr>
        <p:spPr>
          <a:xfrm>
            <a:off x="8835390" y="3401568"/>
            <a:ext cx="201168" cy="274320"/>
          </a:xfrm>
          <a:prstGeom prst="rightArrow">
            <a:avLst/>
          </a:prstGeom>
          <a:solidFill>
            <a:srgbClr val="FF5F3F"/>
          </a:solidFill>
          <a:ln/>
        </p:spPr>
      </p:sp>
      <p:sp>
        <p:nvSpPr>
          <p:cNvPr id="27" name="Shape 25"/>
          <p:cNvSpPr/>
          <p:nvPr/>
        </p:nvSpPr>
        <p:spPr>
          <a:xfrm>
            <a:off x="9073134" y="2697480"/>
            <a:ext cx="2567178" cy="1691640"/>
          </a:xfrm>
          <a:prstGeom prst="roundRect">
            <a:avLst>
              <a:gd name="adj" fmla="val 4324"/>
            </a:avLst>
          </a:prstGeom>
          <a:solidFill>
            <a:srgbClr val="F7EDF5"/>
          </a:solidFill>
          <a:ln/>
        </p:spPr>
      </p:sp>
      <p:sp>
        <p:nvSpPr>
          <p:cNvPr id="28" name="Shape 26"/>
          <p:cNvSpPr/>
          <p:nvPr/>
        </p:nvSpPr>
        <p:spPr>
          <a:xfrm>
            <a:off x="9237726" y="2816352"/>
            <a:ext cx="411480" cy="411480"/>
          </a:xfrm>
          <a:prstGeom prst="ellipse">
            <a:avLst/>
          </a:prstGeom>
          <a:solidFill>
            <a:srgbClr val="80006B"/>
          </a:solidFill>
          <a:ln/>
        </p:spPr>
      </p:sp>
      <p:sp>
        <p:nvSpPr>
          <p:cNvPr id="29" name="Text 27"/>
          <p:cNvSpPr txBox="1"/>
          <p:nvPr/>
        </p:nvSpPr>
        <p:spPr>
          <a:xfrm>
            <a:off x="9237726" y="2816352"/>
            <a:ext cx="411480" cy="411480"/>
          </a:xfrm>
          <a:prstGeom prst="rect">
            <a:avLst/>
          </a:prstGeom>
          <a:noFill/>
          <a:ln/>
        </p:spPr>
        <p:txBody>
          <a:bodyPr wrap="square" lIns="0" tIns="0" rIns="0" bIns="0" rtlCol="0" anchor="ctr"/>
          <a:lstStyle/>
          <a:p>
            <a:pPr algn="ctr" indent="0" marL="0">
              <a:lnSpc>
                <a:spcPct val="100000"/>
              </a:lnSpc>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30" name="Text 28"/>
          <p:cNvSpPr txBox="1"/>
          <p:nvPr/>
        </p:nvSpPr>
        <p:spPr>
          <a:xfrm>
            <a:off x="9758934" y="2798064"/>
            <a:ext cx="1789938" cy="457200"/>
          </a:xfrm>
          <a:prstGeom prst="rect">
            <a:avLst/>
          </a:prstGeom>
          <a:noFill/>
          <a:ln/>
        </p:spPr>
        <p:txBody>
          <a:bodyPr wrap="square" lIns="508" tIns="508" rIns="508" bIns="508" rtlCol="0" anchor="ctr"/>
          <a:lstStyle/>
          <a:p>
            <a:pPr algn="l" indent="0" marL="0">
              <a:lnSpc>
                <a:spcPct val="100000"/>
              </a:lnSpc>
              <a:buNone/>
            </a:pPr>
            <a:r>
              <a:rPr lang="en-US" sz="1500" b="1" dirty="0">
                <a:solidFill>
                  <a:srgbClr val="80006B"/>
                </a:solidFill>
                <a:latin typeface="Calibri" pitchFamily="34" charset="0"/>
                <a:ea typeface="Calibri" pitchFamily="34" charset="-122"/>
                <a:cs typeface="Calibri" pitchFamily="34" charset="-120"/>
              </a:rPr>
              <a:t>Transfusión</a:t>
            </a:r>
            <a:endParaRPr lang="en-US" sz="1500" dirty="0"/>
          </a:p>
        </p:txBody>
      </p:sp>
      <p:sp>
        <p:nvSpPr>
          <p:cNvPr id="31" name="Text 29"/>
          <p:cNvSpPr txBox="1"/>
          <p:nvPr/>
        </p:nvSpPr>
        <p:spPr>
          <a:xfrm>
            <a:off x="9237726" y="3310128"/>
            <a:ext cx="2237994" cy="1051560"/>
          </a:xfrm>
          <a:prstGeom prst="rect">
            <a:avLst/>
          </a:prstGeom>
          <a:noFill/>
          <a:ln/>
        </p:spPr>
        <p:txBody>
          <a:bodyPr wrap="square" lIns="508" tIns="508" rIns="508" bIns="508" rtlCol="0" anchor="t"/>
          <a:lstStyle/>
          <a:p>
            <a:pPr algn="l" indent="0" marL="0">
              <a:lnSpc>
                <a:spcPct val="100000"/>
              </a:lnSpc>
              <a:buNone/>
            </a:pPr>
            <a:r>
              <a:rPr lang="en-US" sz="1250" dirty="0">
                <a:solidFill>
                  <a:srgbClr val="262626"/>
                </a:solidFill>
                <a:latin typeface="Calibri" pitchFamily="34" charset="0"/>
                <a:ea typeface="Calibri" pitchFamily="34" charset="-122"/>
                <a:cs typeface="Calibri" pitchFamily="34" charset="-120"/>
              </a:rPr>
              <a:t>Triangulación: servicio transfusional, anestesia o enfermería y notas médicas.</a:t>
            </a:r>
            <a:endParaRPr lang="en-US" sz="1250" dirty="0"/>
          </a:p>
        </p:txBody>
      </p:sp>
      <p:sp>
        <p:nvSpPr>
          <p:cNvPr id="32" name="Text 30"/>
          <p:cNvSpPr txBox="1"/>
          <p:nvPr/>
        </p:nvSpPr>
        <p:spPr>
          <a:xfrm>
            <a:off x="548640" y="4553712"/>
            <a:ext cx="7680960" cy="320040"/>
          </a:xfrm>
          <a:prstGeom prst="rect">
            <a:avLst/>
          </a:prstGeom>
          <a:noFill/>
          <a:ln/>
        </p:spPr>
        <p:txBody>
          <a:bodyPr wrap="square" lIns="508" tIns="508" rIns="508" bIns="508" rtlCol="0" anchor="t"/>
          <a:lstStyle/>
          <a:p>
            <a:pPr algn="l" indent="0" marL="0">
              <a:lnSpc>
                <a:spcPct val="100000"/>
              </a:lnSpc>
              <a:buNone/>
            </a:pPr>
            <a:r>
              <a:rPr lang="en-US" sz="1400" b="1" dirty="0">
                <a:solidFill>
                  <a:srgbClr val="80006B"/>
                </a:solidFill>
                <a:latin typeface="Calibri" pitchFamily="34" charset="0"/>
                <a:ea typeface="Calibri" pitchFamily="34" charset="-122"/>
                <a:cs typeface="Calibri" pitchFamily="34" charset="-120"/>
              </a:rPr>
              <a:t>Clasificación de la circunstancia de cada transfusión</a:t>
            </a:r>
            <a:endParaRPr lang="en-US" sz="1400" dirty="0"/>
          </a:p>
        </p:txBody>
      </p:sp>
      <p:sp>
        <p:nvSpPr>
          <p:cNvPr id="33" name="Shape 31"/>
          <p:cNvSpPr/>
          <p:nvPr/>
        </p:nvSpPr>
        <p:spPr>
          <a:xfrm>
            <a:off x="548640" y="4937760"/>
            <a:ext cx="2926080" cy="310896"/>
          </a:xfrm>
          <a:prstGeom prst="roundRect">
            <a:avLst>
              <a:gd name="adj" fmla="val 147059"/>
            </a:avLst>
          </a:prstGeom>
          <a:solidFill>
            <a:srgbClr val="FF5F3F"/>
          </a:solidFill>
          <a:ln/>
        </p:spPr>
      </p:sp>
      <p:sp>
        <p:nvSpPr>
          <p:cNvPr id="34" name="Text 32"/>
          <p:cNvSpPr txBox="1"/>
          <p:nvPr/>
        </p:nvSpPr>
        <p:spPr>
          <a:xfrm>
            <a:off x="548640" y="4937760"/>
            <a:ext cx="2926080" cy="310896"/>
          </a:xfrm>
          <a:prstGeom prst="rect">
            <a:avLst/>
          </a:prstGeom>
          <a:noFill/>
          <a:ln/>
        </p:spPr>
        <p:txBody>
          <a:bodyPr wrap="square" lIns="0" tIns="0" rIns="0" bIns="0" rtlCol="0" anchor="ctr"/>
          <a:lstStyle/>
          <a:p>
            <a:pPr algn="ctr" indent="0" marL="0">
              <a:lnSpc>
                <a:spcPct val="100000"/>
              </a:lnSpc>
              <a:buNone/>
            </a:pPr>
            <a:r>
              <a:rPr lang="en-US" sz="1100" b="1" dirty="0">
                <a:solidFill>
                  <a:srgbClr val="FFFFFF"/>
                </a:solidFill>
                <a:latin typeface="Calibri" pitchFamily="34" charset="0"/>
                <a:ea typeface="Calibri" pitchFamily="34" charset="-122"/>
                <a:cs typeface="Calibri" pitchFamily="34" charset="-120"/>
              </a:rPr>
              <a:t>Con consentimiento o cambio de voluntad</a:t>
            </a:r>
            <a:endParaRPr lang="en-US" sz="1100" dirty="0"/>
          </a:p>
        </p:txBody>
      </p:sp>
      <p:sp>
        <p:nvSpPr>
          <p:cNvPr id="35" name="Shape 33"/>
          <p:cNvSpPr/>
          <p:nvPr/>
        </p:nvSpPr>
        <p:spPr>
          <a:xfrm>
            <a:off x="3611880" y="4937760"/>
            <a:ext cx="2103120" cy="310896"/>
          </a:xfrm>
          <a:prstGeom prst="roundRect">
            <a:avLst>
              <a:gd name="adj" fmla="val 147059"/>
            </a:avLst>
          </a:prstGeom>
          <a:solidFill>
            <a:srgbClr val="FF5F3F"/>
          </a:solidFill>
          <a:ln/>
        </p:spPr>
      </p:sp>
      <p:sp>
        <p:nvSpPr>
          <p:cNvPr id="36" name="Text 34"/>
          <p:cNvSpPr txBox="1"/>
          <p:nvPr/>
        </p:nvSpPr>
        <p:spPr>
          <a:xfrm>
            <a:off x="3611880" y="4937760"/>
            <a:ext cx="2103120" cy="310896"/>
          </a:xfrm>
          <a:prstGeom prst="rect">
            <a:avLst/>
          </a:prstGeom>
          <a:noFill/>
          <a:ln/>
        </p:spPr>
        <p:txBody>
          <a:bodyPr wrap="square" lIns="0" tIns="0" rIns="0" bIns="0" rtlCol="0" anchor="ctr"/>
          <a:lstStyle/>
          <a:p>
            <a:pPr algn="ctr" indent="0" marL="0">
              <a:lnSpc>
                <a:spcPct val="100000"/>
              </a:lnSpc>
              <a:buNone/>
            </a:pPr>
            <a:r>
              <a:rPr lang="en-US" sz="1100" b="1" dirty="0">
                <a:solidFill>
                  <a:srgbClr val="FFFFFF"/>
                </a:solidFill>
                <a:latin typeface="Calibri" pitchFamily="34" charset="0"/>
                <a:ea typeface="Calibri" pitchFamily="34" charset="-122"/>
                <a:cs typeface="Calibri" pitchFamily="34" charset="-120"/>
              </a:rPr>
              <a:t>Emergencia sin capacidad</a:t>
            </a:r>
            <a:endParaRPr lang="en-US" sz="1100" dirty="0"/>
          </a:p>
        </p:txBody>
      </p:sp>
      <p:sp>
        <p:nvSpPr>
          <p:cNvPr id="37" name="Shape 35"/>
          <p:cNvSpPr/>
          <p:nvPr/>
        </p:nvSpPr>
        <p:spPr>
          <a:xfrm>
            <a:off x="5852160" y="4937760"/>
            <a:ext cx="2377440" cy="310896"/>
          </a:xfrm>
          <a:prstGeom prst="roundRect">
            <a:avLst>
              <a:gd name="adj" fmla="val 147059"/>
            </a:avLst>
          </a:prstGeom>
          <a:solidFill>
            <a:srgbClr val="FF5F3F"/>
          </a:solidFill>
          <a:ln/>
        </p:spPr>
      </p:sp>
      <p:sp>
        <p:nvSpPr>
          <p:cNvPr id="38" name="Text 36"/>
          <p:cNvSpPr txBox="1"/>
          <p:nvPr/>
        </p:nvSpPr>
        <p:spPr>
          <a:xfrm>
            <a:off x="5852160" y="4937760"/>
            <a:ext cx="2377440" cy="310896"/>
          </a:xfrm>
          <a:prstGeom prst="rect">
            <a:avLst/>
          </a:prstGeom>
          <a:noFill/>
          <a:ln/>
        </p:spPr>
        <p:txBody>
          <a:bodyPr wrap="square" lIns="0" tIns="0" rIns="0" bIns="0" rtlCol="0" anchor="ctr"/>
          <a:lstStyle/>
          <a:p>
            <a:pPr algn="ctr" indent="0" marL="0">
              <a:lnSpc>
                <a:spcPct val="100000"/>
              </a:lnSpc>
              <a:buNone/>
            </a:pPr>
            <a:r>
              <a:rPr lang="en-US" sz="1100" b="1" dirty="0">
                <a:solidFill>
                  <a:srgbClr val="FFFFFF"/>
                </a:solidFill>
                <a:latin typeface="Calibri" pitchFamily="34" charset="0"/>
                <a:ea typeface="Calibri" pitchFamily="34" charset="-122"/>
                <a:cs typeface="Calibri" pitchFamily="34" charset="-120"/>
              </a:rPr>
              <a:t>Orden judicial o administrativa</a:t>
            </a:r>
            <a:endParaRPr lang="en-US" sz="1100" dirty="0"/>
          </a:p>
        </p:txBody>
      </p:sp>
      <p:sp>
        <p:nvSpPr>
          <p:cNvPr id="39" name="Shape 37"/>
          <p:cNvSpPr/>
          <p:nvPr/>
        </p:nvSpPr>
        <p:spPr>
          <a:xfrm>
            <a:off x="548640" y="5349240"/>
            <a:ext cx="2468880" cy="310896"/>
          </a:xfrm>
          <a:prstGeom prst="roundRect">
            <a:avLst>
              <a:gd name="adj" fmla="val 147059"/>
            </a:avLst>
          </a:prstGeom>
          <a:solidFill>
            <a:srgbClr val="FF5F3F"/>
          </a:solidFill>
          <a:ln/>
        </p:spPr>
      </p:sp>
      <p:sp>
        <p:nvSpPr>
          <p:cNvPr id="40" name="Text 38"/>
          <p:cNvSpPr txBox="1"/>
          <p:nvPr/>
        </p:nvSpPr>
        <p:spPr>
          <a:xfrm>
            <a:off x="548640" y="5349240"/>
            <a:ext cx="2468880" cy="310896"/>
          </a:xfrm>
          <a:prstGeom prst="rect">
            <a:avLst/>
          </a:prstGeom>
          <a:noFill/>
          <a:ln/>
        </p:spPr>
        <p:txBody>
          <a:bodyPr wrap="square" lIns="0" tIns="0" rIns="0" bIns="0" rtlCol="0" anchor="ctr"/>
          <a:lstStyle/>
          <a:p>
            <a:pPr algn="ctr" indent="0" marL="0">
              <a:lnSpc>
                <a:spcPct val="100000"/>
              </a:lnSpc>
              <a:buNone/>
            </a:pPr>
            <a:r>
              <a:rPr lang="en-US" sz="1100" b="1" dirty="0">
                <a:solidFill>
                  <a:srgbClr val="FFFFFF"/>
                </a:solidFill>
                <a:latin typeface="Calibri" pitchFamily="34" charset="0"/>
                <a:ea typeface="Calibri" pitchFamily="34" charset="-122"/>
                <a:cs typeface="Calibri" pitchFamily="34" charset="-120"/>
              </a:rPr>
              <a:t>Sin circunstancia documentada</a:t>
            </a:r>
            <a:endParaRPr lang="en-US" sz="1100" dirty="0"/>
          </a:p>
        </p:txBody>
      </p:sp>
      <p:sp>
        <p:nvSpPr>
          <p:cNvPr id="41" name="Shape 39"/>
          <p:cNvSpPr/>
          <p:nvPr/>
        </p:nvSpPr>
        <p:spPr>
          <a:xfrm>
            <a:off x="3154680" y="5349240"/>
            <a:ext cx="1645920" cy="310896"/>
          </a:xfrm>
          <a:prstGeom prst="roundRect">
            <a:avLst>
              <a:gd name="adj" fmla="val 147059"/>
            </a:avLst>
          </a:prstGeom>
          <a:solidFill>
            <a:srgbClr val="A65C99"/>
          </a:solidFill>
          <a:ln/>
        </p:spPr>
      </p:sp>
      <p:sp>
        <p:nvSpPr>
          <p:cNvPr id="42" name="Text 40"/>
          <p:cNvSpPr txBox="1"/>
          <p:nvPr/>
        </p:nvSpPr>
        <p:spPr>
          <a:xfrm>
            <a:off x="3154680" y="5349240"/>
            <a:ext cx="1645920" cy="310896"/>
          </a:xfrm>
          <a:prstGeom prst="rect">
            <a:avLst/>
          </a:prstGeom>
          <a:noFill/>
          <a:ln/>
        </p:spPr>
        <p:txBody>
          <a:bodyPr wrap="square" lIns="0" tIns="0" rIns="0" bIns="0" rtlCol="0" anchor="ctr"/>
          <a:lstStyle/>
          <a:p>
            <a:pPr algn="ctr" indent="0" marL="0">
              <a:lnSpc>
                <a:spcPct val="100000"/>
              </a:lnSpc>
              <a:buNone/>
            </a:pPr>
            <a:r>
              <a:rPr lang="en-US" sz="1100" b="1" dirty="0">
                <a:solidFill>
                  <a:srgbClr val="FFFFFF"/>
                </a:solidFill>
                <a:latin typeface="Calibri" pitchFamily="34" charset="0"/>
                <a:ea typeface="Calibri" pitchFamily="34" charset="-122"/>
                <a:cs typeface="Calibri" pitchFamily="34" charset="-120"/>
              </a:rPr>
              <a:t>No concluyente</a:t>
            </a:r>
            <a:endParaRPr lang="en-US" sz="1100" dirty="0"/>
          </a:p>
        </p:txBody>
      </p:sp>
      <p:sp>
        <p:nvSpPr>
          <p:cNvPr id="43" name="Shape 41"/>
          <p:cNvSpPr/>
          <p:nvPr/>
        </p:nvSpPr>
        <p:spPr>
          <a:xfrm>
            <a:off x="8366760" y="4553712"/>
            <a:ext cx="3273552" cy="1143000"/>
          </a:xfrm>
          <a:prstGeom prst="roundRect">
            <a:avLst>
              <a:gd name="adj" fmla="val 6400"/>
            </a:avLst>
          </a:prstGeom>
          <a:solidFill>
            <a:srgbClr val="80006B"/>
          </a:solidFill>
          <a:ln/>
        </p:spPr>
      </p:sp>
      <p:sp>
        <p:nvSpPr>
          <p:cNvPr id="44" name="Text 42"/>
          <p:cNvSpPr txBox="1"/>
          <p:nvPr/>
        </p:nvSpPr>
        <p:spPr>
          <a:xfrm>
            <a:off x="8503920" y="4553712"/>
            <a:ext cx="2999232" cy="1143000"/>
          </a:xfrm>
          <a:prstGeom prst="rect">
            <a:avLst/>
          </a:prstGeom>
          <a:noFill/>
          <a:ln/>
        </p:spPr>
        <p:txBody>
          <a:bodyPr wrap="square" lIns="635" tIns="635" rIns="635" bIns="635" rtlCol="0" anchor="ctr"/>
          <a:lstStyle/>
          <a:p>
            <a:pPr algn="l" indent="0" marL="0">
              <a:lnSpc>
                <a:spcPct val="100000"/>
              </a:lnSpc>
              <a:buNone/>
            </a:pPr>
            <a:r>
              <a:rPr lang="en-US" sz="2200" b="1" dirty="0">
                <a:solidFill>
                  <a:srgbClr val="FFFFFF"/>
                </a:solidFill>
                <a:latin typeface="Calibri" pitchFamily="34" charset="0"/>
                <a:ea typeface="Calibri" pitchFamily="34" charset="-122"/>
                <a:cs typeface="Calibri" pitchFamily="34" charset="-120"/>
              </a:rPr>
              <a:t>100 % </a:t>
            </a:r>
            <a:pPr algn="l" indent="0" marL="0">
              <a:lnSpc>
                <a:spcPct val="100000"/>
              </a:lnSpc>
              <a:buNone/>
            </a:pPr>
            <a:r>
              <a:rPr lang="en-US" sz="1200" b="1" dirty="0">
                <a:solidFill>
                  <a:srgbClr val="FFFFFF"/>
                </a:solidFill>
                <a:latin typeface="Calibri" pitchFamily="34" charset="0"/>
                <a:ea typeface="Calibri" pitchFamily="34" charset="-122"/>
                <a:cs typeface="Calibri" pitchFamily="34" charset="-120"/>
              </a:rPr>
              <a:t>de los pacientes con doble revisión independiente</a:t>
            </a:r>
            <a:endParaRPr lang="en-US" sz="1400" dirty="0"/>
          </a:p>
          <a:p>
            <a:pPr algn="l" indent="0" marL="0">
              <a:lnSpc>
                <a:spcPct val="100000"/>
              </a:lnSpc>
              <a:buNone/>
            </a:pPr>
            <a:r>
              <a:rPr lang="en-US" sz="1150" dirty="0">
                <a:solidFill>
                  <a:srgbClr val="FFFFFF"/>
                </a:solidFill>
                <a:latin typeface="Calibri" pitchFamily="34" charset="0"/>
                <a:ea typeface="Calibri" pitchFamily="34" charset="-122"/>
                <a:cs typeface="Calibri" pitchFamily="34" charset="-120"/>
              </a:rPr>
              <a:t>Sin juicio de legalidad ni de responsabilidad; datos solo agregados.</a:t>
            </a:r>
            <a:endParaRPr lang="en-US" sz="1400" dirty="0"/>
          </a:p>
        </p:txBody>
      </p:sp>
      <p:sp>
        <p:nvSpPr>
          <p:cNvPr id="45" name="Text 43"/>
          <p:cNvSpPr txBox="1"/>
          <p:nvPr/>
        </p:nvSpPr>
        <p:spPr>
          <a:xfrm>
            <a:off x="548640" y="5833872"/>
            <a:ext cx="11091672" cy="292608"/>
          </a:xfrm>
          <a:prstGeom prst="rect">
            <a:avLst/>
          </a:prstGeom>
          <a:noFill/>
          <a:ln/>
        </p:spPr>
        <p:txBody>
          <a:bodyPr wrap="square" lIns="508" tIns="508" rIns="508" bIns="508" rtlCol="0" anchor="ctr"/>
          <a:lstStyle/>
          <a:p>
            <a:pPr algn="l" indent="0" marL="0">
              <a:lnSpc>
                <a:spcPct val="100000"/>
              </a:lnSpc>
              <a:buNone/>
            </a:pPr>
            <a:r>
              <a:rPr lang="en-US" sz="1200" b="1" dirty="0">
                <a:solidFill>
                  <a:srgbClr val="80006B"/>
                </a:solidFill>
                <a:latin typeface="Calibri" pitchFamily="34" charset="0"/>
                <a:ea typeface="Calibri" pitchFamily="34" charset="-122"/>
                <a:cs typeface="Calibri" pitchFamily="34" charset="-120"/>
              </a:rPr>
              <a:t>Dónde está en el protocolo v2.0:  </a:t>
            </a:r>
            <a:pPr algn="l" indent="0" marL="0">
              <a:lnSpc>
                <a:spcPct val="100000"/>
              </a:lnSpc>
              <a:buNone/>
            </a:pPr>
            <a:r>
              <a:rPr lang="en-US" sz="1200" dirty="0">
                <a:solidFill>
                  <a:srgbClr val="6B6B6B"/>
                </a:solidFill>
                <a:latin typeface="Calibri" pitchFamily="34" charset="0"/>
                <a:ea typeface="Calibri" pitchFamily="34" charset="-122"/>
                <a:cs typeface="Calibri" pitchFamily="34" charset="-120"/>
              </a:rPr>
              <a:t>numeral 3.5, pp. 32–33 · Tabla 3, p. 38 · numeral 3.9, p. 41</a:t>
            </a:r>
            <a:endParaRPr lang="en-US" sz="1200" dirty="0"/>
          </a:p>
        </p:txBody>
      </p:sp>
      <p:sp>
        <p:nvSpPr>
          <p:cNvPr id="25" name="Slide Number Placeholder 0"/>
          <p:cNvSpPr>
            <a:spLocks noGrp="1"/>
          </p:cNvSpPr>
          <p:nvPr>
            <p:ph type="sldNum" sz="quarter" idx="4294967295"/>
          </p:nvPr>
        </p:nvSpPr>
        <p:spPr>
          <a:xfrm>
            <a:off x="11201400" y="635508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292608"/>
            <a:ext cx="8686800" cy="274320"/>
          </a:xfrm>
          <a:prstGeom prst="rect">
            <a:avLst/>
          </a:prstGeom>
          <a:noFill/>
          <a:ln/>
        </p:spPr>
        <p:txBody>
          <a:bodyPr wrap="square" lIns="508" tIns="508" rIns="508" bIns="508" rtlCol="0" anchor="t"/>
          <a:lstStyle/>
          <a:p>
            <a:pPr algn="l" indent="0" marL="0">
              <a:lnSpc>
                <a:spcPct val="100000"/>
              </a:lnSpc>
              <a:buNone/>
            </a:pPr>
            <a:r>
              <a:rPr lang="en-US" sz="1200" b="1" dirty="0">
                <a:solidFill>
                  <a:srgbClr val="FF5F3F"/>
                </a:solidFill>
                <a:latin typeface="Calibri" pitchFamily="34" charset="0"/>
                <a:ea typeface="Calibri" pitchFamily="34" charset="-122"/>
                <a:cs typeface="Calibri" pitchFamily="34" charset="-120"/>
              </a:rPr>
              <a:t>SÍNTESIS</a:t>
            </a:r>
            <a:endParaRPr lang="en-US" sz="1200" dirty="0"/>
          </a:p>
        </p:txBody>
      </p:sp>
      <p:sp>
        <p:nvSpPr>
          <p:cNvPr id="3" name="Text 1"/>
          <p:cNvSpPr txBox="1"/>
          <p:nvPr/>
        </p:nvSpPr>
        <p:spPr>
          <a:xfrm>
            <a:off x="548640" y="548640"/>
            <a:ext cx="9326880" cy="548640"/>
          </a:xfrm>
          <a:prstGeom prst="rect">
            <a:avLst/>
          </a:prstGeom>
          <a:noFill/>
          <a:ln/>
        </p:spPr>
        <p:txBody>
          <a:bodyPr wrap="square" lIns="508" tIns="508" rIns="508" bIns="508" rtlCol="0" anchor="ctr"/>
          <a:lstStyle/>
          <a:p>
            <a:pPr algn="l" indent="0" marL="0">
              <a:lnSpc>
                <a:spcPct val="100000"/>
              </a:lnSpc>
              <a:buNone/>
            </a:pPr>
            <a:r>
              <a:rPr lang="en-US" sz="2800" b="1" dirty="0">
                <a:solidFill>
                  <a:srgbClr val="80006B"/>
                </a:solidFill>
                <a:latin typeface="Calibri" pitchFamily="34" charset="0"/>
                <a:ea typeface="Calibri" pitchFamily="34" charset="-122"/>
                <a:cs typeface="Calibri" pitchFamily="34" charset="-120"/>
              </a:rPr>
              <a:t>Respuesta a las siete observaciones</a:t>
            </a:r>
            <a:endParaRPr lang="en-US" sz="28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1672" cy="914400"/>
        </p:xfrm>
        <a:graphic>
          <a:graphicData uri="http://schemas.openxmlformats.org/drawingml/2006/table">
            <a:tbl>
              <a:tblPr/>
              <a:tblGrid>
                <a:gridCol w="548640"/>
                <a:gridCol w="2514600"/>
                <a:gridCol w="1828800"/>
                <a:gridCol w="4572000"/>
                <a:gridCol w="1627632"/>
              </a:tblGrid>
              <a:tr h="54864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N.º</a:t>
                      </a:r>
                      <a:endParaRPr lang="en-US" sz="1400" dirty="0">
                        <a:latin typeface="Calibri" charset="0"/>
                        <a:ea typeface="Calibri" charset="0"/>
                        <a:cs typeface="Calibri" charset="0"/>
                      </a:endParaRPr>
                    </a:p>
                  </a:txBody>
                  <a:tcPr marL="73152" marR="73152" marT="73152" marB="73152" anchor="ctr">
                    <a:lnL w="9525" cap="flat" cmpd="sng" algn="ctr">
                      <a:solidFill>
                        <a:srgbClr val="E2C9DD"/>
                      </a:solidFill>
                      <a:prstDash val="solid"/>
                      <a:round/>
                      <a:headEnd type="none" w="med" len="med"/>
                      <a:tailEnd type="none" w="med" len="med"/>
                    </a:lnL>
                    <a:lnR w="9525" cap="flat" cmpd="sng" algn="ctr">
                      <a:solidFill>
                        <a:srgbClr val="E2C9DD"/>
                      </a:solidFill>
                      <a:prstDash val="solid"/>
                      <a:round/>
                      <a:headEnd type="none" w="med" len="med"/>
                      <a:tailEnd type="none" w="med" len="med"/>
                    </a:lnR>
                    <a:lnT w="9525" cap="flat" cmpd="sng" algn="ctr">
                      <a:solidFill>
                        <a:srgbClr val="E2C9DD"/>
                      </a:solidFill>
                      <a:prstDash val="solid"/>
                      <a:round/>
                      <a:headEnd type="none" w="med" len="med"/>
                      <a:tailEnd type="none" w="med" len="med"/>
                    </a:lnT>
                    <a:lnB w="9525" cap="flat" cmpd="sng" algn="ctr">
                      <a:solidFill>
                        <a:srgbClr val="E2C9DD"/>
                      </a:solidFill>
                      <a:prstDash val="solid"/>
                      <a:round/>
                      <a:headEnd type="none" w="med" len="med"/>
                      <a:tailEnd type="none" w="med" len="med"/>
                    </a:lnB>
                    <a:solidFill>
                      <a:srgbClr val="80006B"/>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Observación</a:t>
                      </a:r>
                      <a:endParaRPr lang="en-US" sz="1400" dirty="0">
                        <a:latin typeface="Calibri" charset="0"/>
                        <a:ea typeface="Calibri" charset="0"/>
                        <a:cs typeface="Calibri" charset="0"/>
                      </a:endParaRPr>
                    </a:p>
                  </a:txBody>
                  <a:tcPr marL="73152" marR="73152" marT="73152" marB="73152" anchor="ctr">
                    <a:lnL w="9525" cap="flat" cmpd="sng" algn="ctr">
                      <a:solidFill>
                        <a:srgbClr val="E2C9DD"/>
                      </a:solidFill>
                      <a:prstDash val="solid"/>
                      <a:round/>
                      <a:headEnd type="none" w="med" len="med"/>
                      <a:tailEnd type="none" w="med" len="med"/>
                    </a:lnL>
                    <a:lnR w="9525" cap="flat" cmpd="sng" algn="ctr">
                      <a:solidFill>
                        <a:srgbClr val="E2C9DD"/>
                      </a:solidFill>
                      <a:prstDash val="solid"/>
                      <a:round/>
                      <a:headEnd type="none" w="med" len="med"/>
                      <a:tailEnd type="none" w="med" len="med"/>
                    </a:lnR>
                    <a:lnT w="9525" cap="flat" cmpd="sng" algn="ctr">
                      <a:solidFill>
                        <a:srgbClr val="E2C9DD"/>
                      </a:solidFill>
                      <a:prstDash val="solid"/>
                      <a:round/>
                      <a:headEnd type="none" w="med" len="med"/>
                      <a:tailEnd type="none" w="med" len="med"/>
                    </a:lnT>
                    <a:lnB w="9525" cap="flat" cmpd="sng" algn="ctr">
                      <a:solidFill>
                        <a:srgbClr val="E2C9DD"/>
                      </a:solidFill>
                      <a:prstDash val="solid"/>
                      <a:round/>
                      <a:headEnd type="none" w="med" len="med"/>
                      <a:tailEnd type="none" w="med" len="med"/>
                    </a:lnB>
                    <a:solidFill>
                      <a:srgbClr val="80006B"/>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Respuesta</a:t>
                      </a:r>
                      <a:endParaRPr lang="en-US" sz="1400" dirty="0">
                        <a:latin typeface="Calibri" charset="0"/>
                        <a:ea typeface="Calibri" charset="0"/>
                        <a:cs typeface="Calibri" charset="0"/>
                      </a:endParaRPr>
                    </a:p>
                  </a:txBody>
                  <a:tcPr marL="73152" marR="73152" marT="73152" marB="73152" anchor="ctr">
                    <a:lnL w="9525" cap="flat" cmpd="sng" algn="ctr">
                      <a:solidFill>
                        <a:srgbClr val="E2C9DD"/>
                      </a:solidFill>
                      <a:prstDash val="solid"/>
                      <a:round/>
                      <a:headEnd type="none" w="med" len="med"/>
                      <a:tailEnd type="none" w="med" len="med"/>
                    </a:lnL>
                    <a:lnR w="9525" cap="flat" cmpd="sng" algn="ctr">
                      <a:solidFill>
                        <a:srgbClr val="E2C9DD"/>
                      </a:solidFill>
                      <a:prstDash val="solid"/>
                      <a:round/>
                      <a:headEnd type="none" w="med" len="med"/>
                      <a:tailEnd type="none" w="med" len="med"/>
                    </a:lnR>
                    <a:lnT w="9525" cap="flat" cmpd="sng" algn="ctr">
                      <a:solidFill>
                        <a:srgbClr val="E2C9DD"/>
                      </a:solidFill>
                      <a:prstDash val="solid"/>
                      <a:round/>
                      <a:headEnd type="none" w="med" len="med"/>
                      <a:tailEnd type="none" w="med" len="med"/>
                    </a:lnT>
                    <a:lnB w="9525" cap="flat" cmpd="sng" algn="ctr">
                      <a:solidFill>
                        <a:srgbClr val="E2C9DD"/>
                      </a:solidFill>
                      <a:prstDash val="solid"/>
                      <a:round/>
                      <a:headEnd type="none" w="med" len="med"/>
                      <a:tailEnd type="none" w="med" len="med"/>
                    </a:lnB>
                    <a:solidFill>
                      <a:srgbClr val="80006B"/>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Ajuste principal</a:t>
                      </a:r>
                      <a:endParaRPr lang="en-US" sz="1400" dirty="0">
                        <a:latin typeface="Calibri" charset="0"/>
                        <a:ea typeface="Calibri" charset="0"/>
                        <a:cs typeface="Calibri" charset="0"/>
                      </a:endParaRPr>
                    </a:p>
                  </a:txBody>
                  <a:tcPr marL="73152" marR="73152" marT="73152" marB="73152" anchor="ctr">
                    <a:lnL w="9525" cap="flat" cmpd="sng" algn="ctr">
                      <a:solidFill>
                        <a:srgbClr val="E2C9DD"/>
                      </a:solidFill>
                      <a:prstDash val="solid"/>
                      <a:round/>
                      <a:headEnd type="none" w="med" len="med"/>
                      <a:tailEnd type="none" w="med" len="med"/>
                    </a:lnL>
                    <a:lnR w="9525" cap="flat" cmpd="sng" algn="ctr">
                      <a:solidFill>
                        <a:srgbClr val="E2C9DD"/>
                      </a:solidFill>
                      <a:prstDash val="solid"/>
                      <a:round/>
                      <a:headEnd type="none" w="med" len="med"/>
                      <a:tailEnd type="none" w="med" len="med"/>
                    </a:lnR>
                    <a:lnT w="9525" cap="flat" cmpd="sng" algn="ctr">
                      <a:solidFill>
                        <a:srgbClr val="E2C9DD"/>
                      </a:solidFill>
                      <a:prstDash val="solid"/>
                      <a:round/>
                      <a:headEnd type="none" w="med" len="med"/>
                      <a:tailEnd type="none" w="med" len="med"/>
                    </a:lnT>
                    <a:lnB w="9525" cap="flat" cmpd="sng" algn="ctr">
                      <a:solidFill>
                        <a:srgbClr val="E2C9DD"/>
                      </a:solidFill>
                      <a:prstDash val="solid"/>
                      <a:round/>
                      <a:headEnd type="none" w="med" len="med"/>
                      <a:tailEnd type="none" w="med" len="med"/>
                    </a:lnB>
                    <a:solidFill>
                      <a:srgbClr val="80006B"/>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Páginas</a:t>
                      </a:r>
                      <a:endParaRPr lang="en-US" sz="1400" dirty="0">
                        <a:latin typeface="Calibri" charset="0"/>
                        <a:ea typeface="Calibri" charset="0"/>
                        <a:cs typeface="Calibri" charset="0"/>
                      </a:endParaRPr>
                    </a:p>
                  </a:txBody>
                  <a:tcPr marL="73152" marR="73152" marT="73152" marB="73152" anchor="ctr">
                    <a:lnL w="9525" cap="flat" cmpd="sng" algn="ctr">
                      <a:solidFill>
                        <a:srgbClr val="E2C9DD"/>
                      </a:solidFill>
                      <a:prstDash val="solid"/>
                      <a:round/>
                      <a:headEnd type="none" w="med" len="med"/>
                      <a:tailEnd type="none" w="med" len="med"/>
                    </a:lnL>
                    <a:lnR w="9525" cap="flat" cmpd="sng" algn="ctr">
                      <a:solidFill>
                        <a:srgbClr val="E2C9DD"/>
                      </a:solidFill>
                      <a:prstDash val="solid"/>
                      <a:round/>
                      <a:headEnd type="none" w="med" len="med"/>
                      <a:tailEnd type="none" w="med" len="med"/>
                    </a:lnR>
                    <a:lnT w="9525" cap="flat" cmpd="sng" algn="ctr">
                      <a:solidFill>
                        <a:srgbClr val="E2C9DD"/>
                      </a:solidFill>
                      <a:prstDash val="solid"/>
                      <a:round/>
                      <a:headEnd type="none" w="med" len="med"/>
                      <a:tailEnd type="none" w="med" len="med"/>
                    </a:lnT>
                    <a:lnB w="9525" cap="flat" cmpd="sng" algn="ctr">
                      <a:solidFill>
                        <a:srgbClr val="E2C9DD"/>
                      </a:solidFill>
                      <a:prstDash val="solid"/>
                      <a:round/>
                      <a:headEnd type="none" w="med" len="med"/>
                      <a:tailEnd type="none" w="med" len="med"/>
                    </a:lnB>
                    <a:solidFill>
                      <a:srgbClr val="80006B"/>
                    </a:solidFill>
                  </a:tcPr>
                </a:tc>
              </a:tr>
              <a:tr h="548640">
                <a:tc>
                  <a:txBody>
                    <a:bodyPr/>
                    <a:lstStyle/>
                    <a:p>
                      <a:pPr indent="0" marL="0">
                        <a:buNone/>
                      </a:pPr>
                      <a:r>
                        <a:rPr lang="en-US" sz="1400" dirty="0">
                          <a:solidFill>
                            <a:srgbClr val="262626"/>
                          </a:solidFill>
                          <a:latin typeface="Calibri" pitchFamily="34" charset="0"/>
                          <a:ea typeface="Calibri" pitchFamily="34" charset="-122"/>
                          <a:cs typeface="Calibri" pitchFamily="34" charset="-120"/>
                        </a:rPr>
                        <a:t>1</a:t>
                      </a:r>
                      <a:endParaRPr lang="en-US" sz="1400" dirty="0">
                        <a:latin typeface="Calibri" charset="0"/>
                        <a:ea typeface="Calibri" charset="0"/>
                        <a:cs typeface="Calibri" charset="0"/>
                      </a:endParaRPr>
                    </a:p>
                  </a:txBody>
                  <a:tcPr marL="73152" marR="73152" marT="73152" marB="73152" anchor="ctr">
                    <a:lnL w="9525" cap="flat" cmpd="sng" algn="ctr">
                      <a:solidFill>
                        <a:srgbClr val="E2C9DD"/>
                      </a:solidFill>
                      <a:prstDash val="solid"/>
                      <a:round/>
                      <a:headEnd type="none" w="med" len="med"/>
                      <a:tailEnd type="none" w="med" len="med"/>
                    </a:lnL>
                    <a:lnR w="9525" cap="flat" cmpd="sng" algn="ctr">
                      <a:solidFill>
                        <a:srgbClr val="E2C9DD"/>
                      </a:solidFill>
                      <a:prstDash val="solid"/>
                      <a:round/>
                      <a:headEnd type="none" w="med" len="med"/>
                      <a:tailEnd type="none" w="med" len="med"/>
                    </a:lnR>
                    <a:lnT w="9525" cap="flat" cmpd="sng" algn="ctr">
                      <a:solidFill>
                        <a:srgbClr val="E2C9DD"/>
                      </a:solidFill>
                      <a:prstDash val="solid"/>
                      <a:round/>
                      <a:headEnd type="none" w="med" len="med"/>
                      <a:tailEnd type="none" w="med" len="med"/>
                    </a:lnT>
                    <a:lnB w="9525" cap="flat" cmpd="sng" algn="ctr">
                      <a:solidFill>
                        <a:srgbClr val="E2C9DD"/>
                      </a:solidFill>
                      <a:prstDash val="solid"/>
                      <a:round/>
                      <a:headEnd type="none" w="med" len="med"/>
                      <a:tailEnd type="none" w="med" len="med"/>
                    </a:lnB>
                    <a:solidFill>
                      <a:srgbClr val="FFFFFF"/>
                    </a:solidFill>
                  </a:tcPr>
                </a:tc>
                <a:tc>
                  <a:txBody>
                    <a:bodyPr/>
                    <a:lstStyle/>
                    <a:p>
                      <a:pPr indent="0" marL="0">
                        <a:buNone/>
                      </a:pPr>
                      <a:r>
                        <a:rPr lang="en-US" sz="1400" dirty="0">
                          <a:solidFill>
                            <a:srgbClr val="262626"/>
                          </a:solidFill>
                          <a:latin typeface="Calibri" pitchFamily="34" charset="0"/>
                          <a:ea typeface="Calibri" pitchFamily="34" charset="-122"/>
                          <a:cs typeface="Calibri" pitchFamily="34" charset="-120"/>
                        </a:rPr>
                        <a:t>Población</a:t>
                      </a:r>
                      <a:endParaRPr lang="en-US" sz="1400" dirty="0">
                        <a:latin typeface="Calibri" charset="0"/>
                        <a:ea typeface="Calibri" charset="0"/>
                        <a:cs typeface="Calibri" charset="0"/>
                      </a:endParaRPr>
                    </a:p>
                  </a:txBody>
                  <a:tcPr marL="73152" marR="73152" marT="73152" marB="73152" anchor="ctr">
                    <a:lnL w="9525" cap="flat" cmpd="sng" algn="ctr">
                      <a:solidFill>
                        <a:srgbClr val="E2C9DD"/>
                      </a:solidFill>
                      <a:prstDash val="solid"/>
                      <a:round/>
                      <a:headEnd type="none" w="med" len="med"/>
                      <a:tailEnd type="none" w="med" len="med"/>
                    </a:lnL>
                    <a:lnR w="9525" cap="flat" cmpd="sng" algn="ctr">
                      <a:solidFill>
                        <a:srgbClr val="E2C9DD"/>
                      </a:solidFill>
                      <a:prstDash val="solid"/>
                      <a:round/>
                      <a:headEnd type="none" w="med" len="med"/>
                      <a:tailEnd type="none" w="med" len="med"/>
                    </a:lnR>
                    <a:lnT w="9525" cap="flat" cmpd="sng" algn="ctr">
                      <a:solidFill>
                        <a:srgbClr val="E2C9DD"/>
                      </a:solidFill>
                      <a:prstDash val="solid"/>
                      <a:round/>
                      <a:headEnd type="none" w="med" len="med"/>
                      <a:tailEnd type="none" w="med" len="med"/>
                    </a:lnT>
                    <a:lnB w="9525" cap="flat" cmpd="sng" algn="ctr">
                      <a:solidFill>
                        <a:srgbClr val="E2C9DD"/>
                      </a:solidFill>
                      <a:prstDash val="solid"/>
                      <a:round/>
                      <a:headEnd type="none" w="med" len="med"/>
                      <a:tailEnd type="none" w="med" len="med"/>
                    </a:lnB>
                    <a:solidFill>
                      <a:srgbClr val="FFFFFF"/>
                    </a:solidFill>
                  </a:tcPr>
                </a:tc>
                <a:tc>
                  <a:txBody>
                    <a:bodyPr/>
                    <a:lstStyle/>
                    <a:p>
                      <a:pPr indent="0" marL="0">
                        <a:buNone/>
                      </a:pPr>
                      <a:r>
                        <a:rPr lang="en-US" sz="1400" b="1" dirty="0">
                          <a:solidFill>
                            <a:srgbClr val="80006B"/>
                          </a:solidFill>
                          <a:latin typeface="Calibri" pitchFamily="34" charset="0"/>
                          <a:ea typeface="Calibri" pitchFamily="34" charset="-122"/>
                          <a:cs typeface="Calibri" pitchFamily="34" charset="-120"/>
                        </a:rPr>
                        <a:t>Se fundamenta</a:t>
                      </a:r>
                      <a:endParaRPr lang="en-US" sz="1400" dirty="0">
                        <a:latin typeface="Calibri" charset="0"/>
                        <a:ea typeface="Calibri" charset="0"/>
                        <a:cs typeface="Calibri" charset="0"/>
                      </a:endParaRPr>
                    </a:p>
                  </a:txBody>
                  <a:tcPr marL="73152" marR="73152" marT="73152" marB="73152" anchor="ctr">
                    <a:lnL w="9525" cap="flat" cmpd="sng" algn="ctr">
                      <a:solidFill>
                        <a:srgbClr val="E2C9DD"/>
                      </a:solidFill>
                      <a:prstDash val="solid"/>
                      <a:round/>
                      <a:headEnd type="none" w="med" len="med"/>
                      <a:tailEnd type="none" w="med" len="med"/>
                    </a:lnL>
                    <a:lnR w="9525" cap="flat" cmpd="sng" algn="ctr">
                      <a:solidFill>
                        <a:srgbClr val="E2C9DD"/>
                      </a:solidFill>
                      <a:prstDash val="solid"/>
                      <a:round/>
                      <a:headEnd type="none" w="med" len="med"/>
                      <a:tailEnd type="none" w="med" len="med"/>
                    </a:lnR>
                    <a:lnT w="9525" cap="flat" cmpd="sng" algn="ctr">
                      <a:solidFill>
                        <a:srgbClr val="E2C9DD"/>
                      </a:solidFill>
                      <a:prstDash val="solid"/>
                      <a:round/>
                      <a:headEnd type="none" w="med" len="med"/>
                      <a:tailEnd type="none" w="med" len="med"/>
                    </a:lnT>
                    <a:lnB w="9525" cap="flat" cmpd="sng" algn="ctr">
                      <a:solidFill>
                        <a:srgbClr val="E2C9DD"/>
                      </a:solidFill>
                      <a:prstDash val="solid"/>
                      <a:round/>
                      <a:headEnd type="none" w="med" len="med"/>
                      <a:tailEnd type="none" w="med" len="med"/>
                    </a:lnB>
                    <a:solidFill>
                      <a:srgbClr val="FFFFFF"/>
                    </a:solidFill>
                  </a:tcPr>
                </a:tc>
                <a:tc>
                  <a:txBody>
                    <a:bodyPr/>
                    <a:lstStyle/>
                    <a:p>
                      <a:pPr indent="0" marL="0">
                        <a:buNone/>
                      </a:pPr>
                      <a:r>
                        <a:rPr lang="en-US" sz="1400" dirty="0">
                          <a:solidFill>
                            <a:srgbClr val="262626"/>
                          </a:solidFill>
                          <a:latin typeface="Calibri" pitchFamily="34" charset="0"/>
                          <a:ea typeface="Calibri" pitchFamily="34" charset="-122"/>
                          <a:cs typeface="Calibri" pitchFamily="34" charset="-120"/>
                        </a:rPr>
                        <a:t>Se mantiene la delimitación; fundamentación y precedentes</a:t>
                      </a:r>
                      <a:endParaRPr lang="en-US" sz="1400" dirty="0">
                        <a:latin typeface="Calibri" charset="0"/>
                        <a:ea typeface="Calibri" charset="0"/>
                        <a:cs typeface="Calibri" charset="0"/>
                      </a:endParaRPr>
                    </a:p>
                  </a:txBody>
                  <a:tcPr marL="73152" marR="73152" marT="73152" marB="73152" anchor="ctr">
                    <a:lnL w="9525" cap="flat" cmpd="sng" algn="ctr">
                      <a:solidFill>
                        <a:srgbClr val="E2C9DD"/>
                      </a:solidFill>
                      <a:prstDash val="solid"/>
                      <a:round/>
                      <a:headEnd type="none" w="med" len="med"/>
                      <a:tailEnd type="none" w="med" len="med"/>
                    </a:lnL>
                    <a:lnR w="9525" cap="flat" cmpd="sng" algn="ctr">
                      <a:solidFill>
                        <a:srgbClr val="E2C9DD"/>
                      </a:solidFill>
                      <a:prstDash val="solid"/>
                      <a:round/>
                      <a:headEnd type="none" w="med" len="med"/>
                      <a:tailEnd type="none" w="med" len="med"/>
                    </a:lnR>
                    <a:lnT w="9525" cap="flat" cmpd="sng" algn="ctr">
                      <a:solidFill>
                        <a:srgbClr val="E2C9DD"/>
                      </a:solidFill>
                      <a:prstDash val="solid"/>
                      <a:round/>
                      <a:headEnd type="none" w="med" len="med"/>
                      <a:tailEnd type="none" w="med" len="med"/>
                    </a:lnT>
                    <a:lnB w="9525" cap="flat" cmpd="sng" algn="ctr">
                      <a:solidFill>
                        <a:srgbClr val="E2C9DD"/>
                      </a:solidFill>
                      <a:prstDash val="solid"/>
                      <a:round/>
                      <a:headEnd type="none" w="med" len="med"/>
                      <a:tailEnd type="none" w="med" len="med"/>
                    </a:lnB>
                    <a:solidFill>
                      <a:srgbClr val="FFFFFF"/>
                    </a:solidFill>
                  </a:tcPr>
                </a:tc>
                <a:tc>
                  <a:txBody>
                    <a:bodyPr/>
                    <a:lstStyle/>
                    <a:p>
                      <a:pPr indent="0" marL="0">
                        <a:buNone/>
                      </a:pPr>
                      <a:r>
                        <a:rPr lang="en-US" sz="1400" dirty="0">
                          <a:solidFill>
                            <a:srgbClr val="262626"/>
                          </a:solidFill>
                          <a:latin typeface="Calibri" pitchFamily="34" charset="0"/>
                          <a:ea typeface="Calibri" pitchFamily="34" charset="-122"/>
                          <a:cs typeface="Calibri" pitchFamily="34" charset="-120"/>
                        </a:rPr>
                        <a:t>11–12, 24–25</a:t>
                      </a:r>
                      <a:endParaRPr lang="en-US" sz="1400" dirty="0">
                        <a:latin typeface="Calibri" charset="0"/>
                        <a:ea typeface="Calibri" charset="0"/>
                        <a:cs typeface="Calibri" charset="0"/>
                      </a:endParaRPr>
                    </a:p>
                  </a:txBody>
                  <a:tcPr marL="73152" marR="73152" marT="73152" marB="73152" anchor="ctr">
                    <a:lnL w="9525" cap="flat" cmpd="sng" algn="ctr">
                      <a:solidFill>
                        <a:srgbClr val="E2C9DD"/>
                      </a:solidFill>
                      <a:prstDash val="solid"/>
                      <a:round/>
                      <a:headEnd type="none" w="med" len="med"/>
                      <a:tailEnd type="none" w="med" len="med"/>
                    </a:lnL>
                    <a:lnR w="9525" cap="flat" cmpd="sng" algn="ctr">
                      <a:solidFill>
                        <a:srgbClr val="E2C9DD"/>
                      </a:solidFill>
                      <a:prstDash val="solid"/>
                      <a:round/>
                      <a:headEnd type="none" w="med" len="med"/>
                      <a:tailEnd type="none" w="med" len="med"/>
                    </a:lnR>
                    <a:lnT w="9525" cap="flat" cmpd="sng" algn="ctr">
                      <a:solidFill>
                        <a:srgbClr val="E2C9DD"/>
                      </a:solidFill>
                      <a:prstDash val="solid"/>
                      <a:round/>
                      <a:headEnd type="none" w="med" len="med"/>
                      <a:tailEnd type="none" w="med" len="med"/>
                    </a:lnT>
                    <a:lnB w="9525" cap="flat" cmpd="sng" algn="ctr">
                      <a:solidFill>
                        <a:srgbClr val="E2C9DD"/>
                      </a:solidFill>
                      <a:prstDash val="solid"/>
                      <a:round/>
                      <a:headEnd type="none" w="med" len="med"/>
                      <a:tailEnd type="none" w="med" len="med"/>
                    </a:lnB>
                    <a:solidFill>
                      <a:srgbClr val="FFFFFF"/>
                    </a:solidFill>
                  </a:tcPr>
                </a:tc>
              </a:tr>
              <a:tr h="548640">
                <a:tc>
                  <a:txBody>
                    <a:bodyPr/>
                    <a:lstStyle/>
                    <a:p>
                      <a:pPr indent="0" marL="0">
                        <a:buNone/>
                      </a:pPr>
                      <a:r>
                        <a:rPr lang="en-US" sz="1400" dirty="0">
                          <a:solidFill>
                            <a:srgbClr val="262626"/>
                          </a:solidFill>
                          <a:latin typeface="Calibri" pitchFamily="34" charset="0"/>
                          <a:ea typeface="Calibri" pitchFamily="34" charset="-122"/>
                          <a:cs typeface="Calibri" pitchFamily="34" charset="-120"/>
                        </a:rPr>
                        <a:t>2</a:t>
                      </a:r>
                      <a:endParaRPr lang="en-US" sz="1400" dirty="0">
                        <a:latin typeface="Calibri" charset="0"/>
                        <a:ea typeface="Calibri" charset="0"/>
                        <a:cs typeface="Calibri" charset="0"/>
                      </a:endParaRPr>
                    </a:p>
                  </a:txBody>
                  <a:tcPr marL="73152" marR="73152" marT="73152" marB="73152" anchor="ctr">
                    <a:lnL w="9525" cap="flat" cmpd="sng" algn="ctr">
                      <a:solidFill>
                        <a:srgbClr val="E2C9DD"/>
                      </a:solidFill>
                      <a:prstDash val="solid"/>
                      <a:round/>
                      <a:headEnd type="none" w="med" len="med"/>
                      <a:tailEnd type="none" w="med" len="med"/>
                    </a:lnL>
                    <a:lnR w="9525" cap="flat" cmpd="sng" algn="ctr">
                      <a:solidFill>
                        <a:srgbClr val="E2C9DD"/>
                      </a:solidFill>
                      <a:prstDash val="solid"/>
                      <a:round/>
                      <a:headEnd type="none" w="med" len="med"/>
                      <a:tailEnd type="none" w="med" len="med"/>
                    </a:lnR>
                    <a:lnT w="9525" cap="flat" cmpd="sng" algn="ctr">
                      <a:solidFill>
                        <a:srgbClr val="E2C9DD"/>
                      </a:solidFill>
                      <a:prstDash val="solid"/>
                      <a:round/>
                      <a:headEnd type="none" w="med" len="med"/>
                      <a:tailEnd type="none" w="med" len="med"/>
                    </a:lnT>
                    <a:lnB w="9525" cap="flat" cmpd="sng" algn="ctr">
                      <a:solidFill>
                        <a:srgbClr val="E2C9DD"/>
                      </a:solidFill>
                      <a:prstDash val="solid"/>
                      <a:round/>
                      <a:headEnd type="none" w="med" len="med"/>
                      <a:tailEnd type="none" w="med" len="med"/>
                    </a:lnB>
                    <a:solidFill>
                      <a:srgbClr val="FFFFFF"/>
                    </a:solidFill>
                  </a:tcPr>
                </a:tc>
                <a:tc>
                  <a:txBody>
                    <a:bodyPr/>
                    <a:lstStyle/>
                    <a:p>
                      <a:pPr indent="0" marL="0">
                        <a:buNone/>
                      </a:pPr>
                      <a:r>
                        <a:rPr lang="en-US" sz="1400" dirty="0">
                          <a:solidFill>
                            <a:srgbClr val="262626"/>
                          </a:solidFill>
                          <a:latin typeface="Calibri" pitchFamily="34" charset="0"/>
                          <a:ea typeface="Calibri" pitchFamily="34" charset="-122"/>
                          <a:cs typeface="Calibri" pitchFamily="34" charset="-120"/>
                        </a:rPr>
                        <a:t>Coherencia</a:t>
                      </a:r>
                      <a:endParaRPr lang="en-US" sz="1400" dirty="0">
                        <a:latin typeface="Calibri" charset="0"/>
                        <a:ea typeface="Calibri" charset="0"/>
                        <a:cs typeface="Calibri" charset="0"/>
                      </a:endParaRPr>
                    </a:p>
                  </a:txBody>
                  <a:tcPr marL="73152" marR="73152" marT="73152" marB="73152" anchor="ctr">
                    <a:lnL w="9525" cap="flat" cmpd="sng" algn="ctr">
                      <a:solidFill>
                        <a:srgbClr val="E2C9DD"/>
                      </a:solidFill>
                      <a:prstDash val="solid"/>
                      <a:round/>
                      <a:headEnd type="none" w="med" len="med"/>
                      <a:tailEnd type="none" w="med" len="med"/>
                    </a:lnL>
                    <a:lnR w="9525" cap="flat" cmpd="sng" algn="ctr">
                      <a:solidFill>
                        <a:srgbClr val="E2C9DD"/>
                      </a:solidFill>
                      <a:prstDash val="solid"/>
                      <a:round/>
                      <a:headEnd type="none" w="med" len="med"/>
                      <a:tailEnd type="none" w="med" len="med"/>
                    </a:lnR>
                    <a:lnT w="9525" cap="flat" cmpd="sng" algn="ctr">
                      <a:solidFill>
                        <a:srgbClr val="E2C9DD"/>
                      </a:solidFill>
                      <a:prstDash val="solid"/>
                      <a:round/>
                      <a:headEnd type="none" w="med" len="med"/>
                      <a:tailEnd type="none" w="med" len="med"/>
                    </a:lnT>
                    <a:lnB w="9525" cap="flat" cmpd="sng" algn="ctr">
                      <a:solidFill>
                        <a:srgbClr val="E2C9DD"/>
                      </a:solidFill>
                      <a:prstDash val="solid"/>
                      <a:round/>
                      <a:headEnd type="none" w="med" len="med"/>
                      <a:tailEnd type="none" w="med" len="med"/>
                    </a:lnB>
                    <a:solidFill>
                      <a:srgbClr val="FFFFFF"/>
                    </a:solidFill>
                  </a:tcPr>
                </a:tc>
                <a:tc>
                  <a:txBody>
                    <a:bodyPr/>
                    <a:lstStyle/>
                    <a:p>
                      <a:pPr indent="0" marL="0">
                        <a:buNone/>
                      </a:pPr>
                      <a:r>
                        <a:rPr lang="en-US" sz="1400" b="1" dirty="0">
                          <a:solidFill>
                            <a:srgbClr val="FF5F3F"/>
                          </a:solidFill>
                          <a:latin typeface="Calibri" pitchFamily="34" charset="0"/>
                          <a:ea typeface="Calibri" pitchFamily="34" charset="-122"/>
                          <a:cs typeface="Calibri" pitchFamily="34" charset="-120"/>
                        </a:rPr>
                        <a:t>Se acoge en parte</a:t>
                      </a:r>
                      <a:endParaRPr lang="en-US" sz="1400" dirty="0">
                        <a:latin typeface="Calibri" charset="0"/>
                        <a:ea typeface="Calibri" charset="0"/>
                        <a:cs typeface="Calibri" charset="0"/>
                      </a:endParaRPr>
                    </a:p>
                  </a:txBody>
                  <a:tcPr marL="73152" marR="73152" marT="73152" marB="73152" anchor="ctr">
                    <a:lnL w="9525" cap="flat" cmpd="sng" algn="ctr">
                      <a:solidFill>
                        <a:srgbClr val="E2C9DD"/>
                      </a:solidFill>
                      <a:prstDash val="solid"/>
                      <a:round/>
                      <a:headEnd type="none" w="med" len="med"/>
                      <a:tailEnd type="none" w="med" len="med"/>
                    </a:lnL>
                    <a:lnR w="9525" cap="flat" cmpd="sng" algn="ctr">
                      <a:solidFill>
                        <a:srgbClr val="E2C9DD"/>
                      </a:solidFill>
                      <a:prstDash val="solid"/>
                      <a:round/>
                      <a:headEnd type="none" w="med" len="med"/>
                      <a:tailEnd type="none" w="med" len="med"/>
                    </a:lnR>
                    <a:lnT w="9525" cap="flat" cmpd="sng" algn="ctr">
                      <a:solidFill>
                        <a:srgbClr val="E2C9DD"/>
                      </a:solidFill>
                      <a:prstDash val="solid"/>
                      <a:round/>
                      <a:headEnd type="none" w="med" len="med"/>
                      <a:tailEnd type="none" w="med" len="med"/>
                    </a:lnT>
                    <a:lnB w="9525" cap="flat" cmpd="sng" algn="ctr">
                      <a:solidFill>
                        <a:srgbClr val="E2C9DD"/>
                      </a:solidFill>
                      <a:prstDash val="solid"/>
                      <a:round/>
                      <a:headEnd type="none" w="med" len="med"/>
                      <a:tailEnd type="none" w="med" len="med"/>
                    </a:lnB>
                    <a:solidFill>
                      <a:srgbClr val="FFFFFF"/>
                    </a:solidFill>
                  </a:tcPr>
                </a:tc>
                <a:tc>
                  <a:txBody>
                    <a:bodyPr/>
                    <a:lstStyle/>
                    <a:p>
                      <a:pPr indent="0" marL="0">
                        <a:buNone/>
                      </a:pPr>
                      <a:r>
                        <a:rPr lang="en-US" sz="1400" dirty="0">
                          <a:solidFill>
                            <a:srgbClr val="262626"/>
                          </a:solidFill>
                          <a:latin typeface="Calibri" pitchFamily="34" charset="0"/>
                          <a:ea typeface="Calibri" pitchFamily="34" charset="-122"/>
                          <a:cs typeface="Calibri" pitchFamily="34" charset="-120"/>
                        </a:rPr>
                        <a:t>Identidad religiosa ≠ decisión clínica; criterios 2 y 4</a:t>
                      </a:r>
                      <a:endParaRPr lang="en-US" sz="1400" dirty="0">
                        <a:latin typeface="Calibri" charset="0"/>
                        <a:ea typeface="Calibri" charset="0"/>
                        <a:cs typeface="Calibri" charset="0"/>
                      </a:endParaRPr>
                    </a:p>
                  </a:txBody>
                  <a:tcPr marL="73152" marR="73152" marT="73152" marB="73152" anchor="ctr">
                    <a:lnL w="9525" cap="flat" cmpd="sng" algn="ctr">
                      <a:solidFill>
                        <a:srgbClr val="E2C9DD"/>
                      </a:solidFill>
                      <a:prstDash val="solid"/>
                      <a:round/>
                      <a:headEnd type="none" w="med" len="med"/>
                      <a:tailEnd type="none" w="med" len="med"/>
                    </a:lnL>
                    <a:lnR w="9525" cap="flat" cmpd="sng" algn="ctr">
                      <a:solidFill>
                        <a:srgbClr val="E2C9DD"/>
                      </a:solidFill>
                      <a:prstDash val="solid"/>
                      <a:round/>
                      <a:headEnd type="none" w="med" len="med"/>
                      <a:tailEnd type="none" w="med" len="med"/>
                    </a:lnR>
                    <a:lnT w="9525" cap="flat" cmpd="sng" algn="ctr">
                      <a:solidFill>
                        <a:srgbClr val="E2C9DD"/>
                      </a:solidFill>
                      <a:prstDash val="solid"/>
                      <a:round/>
                      <a:headEnd type="none" w="med" len="med"/>
                      <a:tailEnd type="none" w="med" len="med"/>
                    </a:lnT>
                    <a:lnB w="9525" cap="flat" cmpd="sng" algn="ctr">
                      <a:solidFill>
                        <a:srgbClr val="E2C9DD"/>
                      </a:solidFill>
                      <a:prstDash val="solid"/>
                      <a:round/>
                      <a:headEnd type="none" w="med" len="med"/>
                      <a:tailEnd type="none" w="med" len="med"/>
                    </a:lnB>
                    <a:solidFill>
                      <a:srgbClr val="FFFFFF"/>
                    </a:solidFill>
                  </a:tcPr>
                </a:tc>
                <a:tc>
                  <a:txBody>
                    <a:bodyPr/>
                    <a:lstStyle/>
                    <a:p>
                      <a:pPr indent="0" marL="0">
                        <a:buNone/>
                      </a:pPr>
                      <a:r>
                        <a:rPr lang="en-US" sz="1400" dirty="0">
                          <a:solidFill>
                            <a:srgbClr val="262626"/>
                          </a:solidFill>
                          <a:latin typeface="Calibri" pitchFamily="34" charset="0"/>
                          <a:ea typeface="Calibri" pitchFamily="34" charset="-122"/>
                          <a:cs typeface="Calibri" pitchFamily="34" charset="-120"/>
                        </a:rPr>
                        <a:t>28–30</a:t>
                      </a:r>
                      <a:endParaRPr lang="en-US" sz="1400" dirty="0">
                        <a:latin typeface="Calibri" charset="0"/>
                        <a:ea typeface="Calibri" charset="0"/>
                        <a:cs typeface="Calibri" charset="0"/>
                      </a:endParaRPr>
                    </a:p>
                  </a:txBody>
                  <a:tcPr marL="73152" marR="73152" marT="73152" marB="73152" anchor="ctr">
                    <a:lnL w="9525" cap="flat" cmpd="sng" algn="ctr">
                      <a:solidFill>
                        <a:srgbClr val="E2C9DD"/>
                      </a:solidFill>
                      <a:prstDash val="solid"/>
                      <a:round/>
                      <a:headEnd type="none" w="med" len="med"/>
                      <a:tailEnd type="none" w="med" len="med"/>
                    </a:lnL>
                    <a:lnR w="9525" cap="flat" cmpd="sng" algn="ctr">
                      <a:solidFill>
                        <a:srgbClr val="E2C9DD"/>
                      </a:solidFill>
                      <a:prstDash val="solid"/>
                      <a:round/>
                      <a:headEnd type="none" w="med" len="med"/>
                      <a:tailEnd type="none" w="med" len="med"/>
                    </a:lnR>
                    <a:lnT w="9525" cap="flat" cmpd="sng" algn="ctr">
                      <a:solidFill>
                        <a:srgbClr val="E2C9DD"/>
                      </a:solidFill>
                      <a:prstDash val="solid"/>
                      <a:round/>
                      <a:headEnd type="none" w="med" len="med"/>
                      <a:tailEnd type="none" w="med" len="med"/>
                    </a:lnT>
                    <a:lnB w="9525" cap="flat" cmpd="sng" algn="ctr">
                      <a:solidFill>
                        <a:srgbClr val="E2C9DD"/>
                      </a:solidFill>
                      <a:prstDash val="solid"/>
                      <a:round/>
                      <a:headEnd type="none" w="med" len="med"/>
                      <a:tailEnd type="none" w="med" len="med"/>
                    </a:lnB>
                    <a:solidFill>
                      <a:srgbClr val="FFFFFF"/>
                    </a:solidFill>
                  </a:tcPr>
                </a:tc>
              </a:tr>
              <a:tr h="548640">
                <a:tc>
                  <a:txBody>
                    <a:bodyPr/>
                    <a:lstStyle/>
                    <a:p>
                      <a:pPr indent="0" marL="0">
                        <a:buNone/>
                      </a:pPr>
                      <a:r>
                        <a:rPr lang="en-US" sz="1400" dirty="0">
                          <a:solidFill>
                            <a:srgbClr val="262626"/>
                          </a:solidFill>
                          <a:latin typeface="Calibri" pitchFamily="34" charset="0"/>
                          <a:ea typeface="Calibri" pitchFamily="34" charset="-122"/>
                          <a:cs typeface="Calibri" pitchFamily="34" charset="-120"/>
                        </a:rPr>
                        <a:t>3</a:t>
                      </a:r>
                      <a:endParaRPr lang="en-US" sz="1400" dirty="0">
                        <a:latin typeface="Calibri" charset="0"/>
                        <a:ea typeface="Calibri" charset="0"/>
                        <a:cs typeface="Calibri" charset="0"/>
                      </a:endParaRPr>
                    </a:p>
                  </a:txBody>
                  <a:tcPr marL="73152" marR="73152" marT="73152" marB="73152" anchor="ctr">
                    <a:lnL w="9525" cap="flat" cmpd="sng" algn="ctr">
                      <a:solidFill>
                        <a:srgbClr val="E2C9DD"/>
                      </a:solidFill>
                      <a:prstDash val="solid"/>
                      <a:round/>
                      <a:headEnd type="none" w="med" len="med"/>
                      <a:tailEnd type="none" w="med" len="med"/>
                    </a:lnL>
                    <a:lnR w="9525" cap="flat" cmpd="sng" algn="ctr">
                      <a:solidFill>
                        <a:srgbClr val="E2C9DD"/>
                      </a:solidFill>
                      <a:prstDash val="solid"/>
                      <a:round/>
                      <a:headEnd type="none" w="med" len="med"/>
                      <a:tailEnd type="none" w="med" len="med"/>
                    </a:lnR>
                    <a:lnT w="9525" cap="flat" cmpd="sng" algn="ctr">
                      <a:solidFill>
                        <a:srgbClr val="E2C9DD"/>
                      </a:solidFill>
                      <a:prstDash val="solid"/>
                      <a:round/>
                      <a:headEnd type="none" w="med" len="med"/>
                      <a:tailEnd type="none" w="med" len="med"/>
                    </a:lnT>
                    <a:lnB w="9525" cap="flat" cmpd="sng" algn="ctr">
                      <a:solidFill>
                        <a:srgbClr val="E2C9DD"/>
                      </a:solidFill>
                      <a:prstDash val="solid"/>
                      <a:round/>
                      <a:headEnd type="none" w="med" len="med"/>
                      <a:tailEnd type="none" w="med" len="med"/>
                    </a:lnB>
                    <a:solidFill>
                      <a:srgbClr val="FFFFFF"/>
                    </a:solidFill>
                  </a:tcPr>
                </a:tc>
                <a:tc>
                  <a:txBody>
                    <a:bodyPr/>
                    <a:lstStyle/>
                    <a:p>
                      <a:pPr indent="0" marL="0">
                        <a:buNone/>
                      </a:pPr>
                      <a:r>
                        <a:rPr lang="en-US" sz="1400" dirty="0">
                          <a:solidFill>
                            <a:srgbClr val="262626"/>
                          </a:solidFill>
                          <a:latin typeface="Calibri" pitchFamily="34" charset="0"/>
                          <a:ea typeface="Calibri" pitchFamily="34" charset="-122"/>
                          <a:cs typeface="Calibri" pitchFamily="34" charset="-120"/>
                        </a:rPr>
                        <a:t>Contexto 2026</a:t>
                      </a:r>
                      <a:endParaRPr lang="en-US" sz="1400" dirty="0">
                        <a:latin typeface="Calibri" charset="0"/>
                        <a:ea typeface="Calibri" charset="0"/>
                        <a:cs typeface="Calibri" charset="0"/>
                      </a:endParaRPr>
                    </a:p>
                  </a:txBody>
                  <a:tcPr marL="73152" marR="73152" marT="73152" marB="73152" anchor="ctr">
                    <a:lnL w="9525" cap="flat" cmpd="sng" algn="ctr">
                      <a:solidFill>
                        <a:srgbClr val="E2C9DD"/>
                      </a:solidFill>
                      <a:prstDash val="solid"/>
                      <a:round/>
                      <a:headEnd type="none" w="med" len="med"/>
                      <a:tailEnd type="none" w="med" len="med"/>
                    </a:lnL>
                    <a:lnR w="9525" cap="flat" cmpd="sng" algn="ctr">
                      <a:solidFill>
                        <a:srgbClr val="E2C9DD"/>
                      </a:solidFill>
                      <a:prstDash val="solid"/>
                      <a:round/>
                      <a:headEnd type="none" w="med" len="med"/>
                      <a:tailEnd type="none" w="med" len="med"/>
                    </a:lnR>
                    <a:lnT w="9525" cap="flat" cmpd="sng" algn="ctr">
                      <a:solidFill>
                        <a:srgbClr val="E2C9DD"/>
                      </a:solidFill>
                      <a:prstDash val="solid"/>
                      <a:round/>
                      <a:headEnd type="none" w="med" len="med"/>
                      <a:tailEnd type="none" w="med" len="med"/>
                    </a:lnT>
                    <a:lnB w="9525" cap="flat" cmpd="sng" algn="ctr">
                      <a:solidFill>
                        <a:srgbClr val="E2C9DD"/>
                      </a:solidFill>
                      <a:prstDash val="solid"/>
                      <a:round/>
                      <a:headEnd type="none" w="med" len="med"/>
                      <a:tailEnd type="none" w="med" len="med"/>
                    </a:lnB>
                    <a:solidFill>
                      <a:srgbClr val="FFFFFF"/>
                    </a:solidFill>
                  </a:tcPr>
                </a:tc>
                <a:tc>
                  <a:txBody>
                    <a:bodyPr/>
                    <a:lstStyle/>
                    <a:p>
                      <a:pPr indent="0" marL="0">
                        <a:buNone/>
                      </a:pPr>
                      <a:r>
                        <a:rPr lang="en-US" sz="1400" b="1" dirty="0">
                          <a:solidFill>
                            <a:srgbClr val="FF5F3F"/>
                          </a:solidFill>
                          <a:latin typeface="Calibri" pitchFamily="34" charset="0"/>
                          <a:ea typeface="Calibri" pitchFamily="34" charset="-122"/>
                          <a:cs typeface="Calibri" pitchFamily="34" charset="-120"/>
                        </a:rPr>
                        <a:t>Se acoge</a:t>
                      </a:r>
                      <a:endParaRPr lang="en-US" sz="1400" dirty="0">
                        <a:latin typeface="Calibri" charset="0"/>
                        <a:ea typeface="Calibri" charset="0"/>
                        <a:cs typeface="Calibri" charset="0"/>
                      </a:endParaRPr>
                    </a:p>
                  </a:txBody>
                  <a:tcPr marL="73152" marR="73152" marT="73152" marB="73152" anchor="ctr">
                    <a:lnL w="9525" cap="flat" cmpd="sng" algn="ctr">
                      <a:solidFill>
                        <a:srgbClr val="E2C9DD"/>
                      </a:solidFill>
                      <a:prstDash val="solid"/>
                      <a:round/>
                      <a:headEnd type="none" w="med" len="med"/>
                      <a:tailEnd type="none" w="med" len="med"/>
                    </a:lnL>
                    <a:lnR w="9525" cap="flat" cmpd="sng" algn="ctr">
                      <a:solidFill>
                        <a:srgbClr val="E2C9DD"/>
                      </a:solidFill>
                      <a:prstDash val="solid"/>
                      <a:round/>
                      <a:headEnd type="none" w="med" len="med"/>
                      <a:tailEnd type="none" w="med" len="med"/>
                    </a:lnR>
                    <a:lnT w="9525" cap="flat" cmpd="sng" algn="ctr">
                      <a:solidFill>
                        <a:srgbClr val="E2C9DD"/>
                      </a:solidFill>
                      <a:prstDash val="solid"/>
                      <a:round/>
                      <a:headEnd type="none" w="med" len="med"/>
                      <a:tailEnd type="none" w="med" len="med"/>
                    </a:lnT>
                    <a:lnB w="9525" cap="flat" cmpd="sng" algn="ctr">
                      <a:solidFill>
                        <a:srgbClr val="E2C9DD"/>
                      </a:solidFill>
                      <a:prstDash val="solid"/>
                      <a:round/>
                      <a:headEnd type="none" w="med" len="med"/>
                      <a:tailEnd type="none" w="med" len="med"/>
                    </a:lnB>
                    <a:solidFill>
                      <a:srgbClr val="FFFFFF"/>
                    </a:solidFill>
                  </a:tcPr>
                </a:tc>
                <a:tc>
                  <a:txBody>
                    <a:bodyPr/>
                    <a:lstStyle/>
                    <a:p>
                      <a:pPr indent="0" marL="0">
                        <a:buNone/>
                      </a:pPr>
                      <a:r>
                        <a:rPr lang="en-US" sz="1400" dirty="0">
                          <a:solidFill>
                            <a:srgbClr val="262626"/>
                          </a:solidFill>
                          <a:latin typeface="Calibri" pitchFamily="34" charset="0"/>
                          <a:ea typeface="Calibri" pitchFamily="34" charset="-122"/>
                          <a:cs typeface="Calibri" pitchFamily="34" charset="-120"/>
                        </a:rPr>
                        <a:t>Cambios de marzo y septiembre; validez temporal</a:t>
                      </a:r>
                      <a:endParaRPr lang="en-US" sz="1400" dirty="0">
                        <a:latin typeface="Calibri" charset="0"/>
                        <a:ea typeface="Calibri" charset="0"/>
                        <a:cs typeface="Calibri" charset="0"/>
                      </a:endParaRPr>
                    </a:p>
                  </a:txBody>
                  <a:tcPr marL="73152" marR="73152" marT="73152" marB="73152" anchor="ctr">
                    <a:lnL w="9525" cap="flat" cmpd="sng" algn="ctr">
                      <a:solidFill>
                        <a:srgbClr val="E2C9DD"/>
                      </a:solidFill>
                      <a:prstDash val="solid"/>
                      <a:round/>
                      <a:headEnd type="none" w="med" len="med"/>
                      <a:tailEnd type="none" w="med" len="med"/>
                    </a:lnL>
                    <a:lnR w="9525" cap="flat" cmpd="sng" algn="ctr">
                      <a:solidFill>
                        <a:srgbClr val="E2C9DD"/>
                      </a:solidFill>
                      <a:prstDash val="solid"/>
                      <a:round/>
                      <a:headEnd type="none" w="med" len="med"/>
                      <a:tailEnd type="none" w="med" len="med"/>
                    </a:lnR>
                    <a:lnT w="9525" cap="flat" cmpd="sng" algn="ctr">
                      <a:solidFill>
                        <a:srgbClr val="E2C9DD"/>
                      </a:solidFill>
                      <a:prstDash val="solid"/>
                      <a:round/>
                      <a:headEnd type="none" w="med" len="med"/>
                      <a:tailEnd type="none" w="med" len="med"/>
                    </a:lnT>
                    <a:lnB w="9525" cap="flat" cmpd="sng" algn="ctr">
                      <a:solidFill>
                        <a:srgbClr val="E2C9DD"/>
                      </a:solidFill>
                      <a:prstDash val="solid"/>
                      <a:round/>
                      <a:headEnd type="none" w="med" len="med"/>
                      <a:tailEnd type="none" w="med" len="med"/>
                    </a:lnB>
                    <a:solidFill>
                      <a:srgbClr val="FFFFFF"/>
                    </a:solidFill>
                  </a:tcPr>
                </a:tc>
                <a:tc>
                  <a:txBody>
                    <a:bodyPr/>
                    <a:lstStyle/>
                    <a:p>
                      <a:pPr indent="0" marL="0">
                        <a:buNone/>
                      </a:pPr>
                      <a:r>
                        <a:rPr lang="en-US" sz="1400" dirty="0">
                          <a:solidFill>
                            <a:srgbClr val="262626"/>
                          </a:solidFill>
                          <a:latin typeface="Calibri" pitchFamily="34" charset="0"/>
                          <a:ea typeface="Calibri" pitchFamily="34" charset="-122"/>
                          <a:cs typeface="Calibri" pitchFamily="34" charset="-120"/>
                        </a:rPr>
                        <a:t>6, 18, 35</a:t>
                      </a:r>
                      <a:endParaRPr lang="en-US" sz="1400" dirty="0">
                        <a:latin typeface="Calibri" charset="0"/>
                        <a:ea typeface="Calibri" charset="0"/>
                        <a:cs typeface="Calibri" charset="0"/>
                      </a:endParaRPr>
                    </a:p>
                  </a:txBody>
                  <a:tcPr marL="73152" marR="73152" marT="73152" marB="73152" anchor="ctr">
                    <a:lnL w="9525" cap="flat" cmpd="sng" algn="ctr">
                      <a:solidFill>
                        <a:srgbClr val="E2C9DD"/>
                      </a:solidFill>
                      <a:prstDash val="solid"/>
                      <a:round/>
                      <a:headEnd type="none" w="med" len="med"/>
                      <a:tailEnd type="none" w="med" len="med"/>
                    </a:lnL>
                    <a:lnR w="9525" cap="flat" cmpd="sng" algn="ctr">
                      <a:solidFill>
                        <a:srgbClr val="E2C9DD"/>
                      </a:solidFill>
                      <a:prstDash val="solid"/>
                      <a:round/>
                      <a:headEnd type="none" w="med" len="med"/>
                      <a:tailEnd type="none" w="med" len="med"/>
                    </a:lnR>
                    <a:lnT w="9525" cap="flat" cmpd="sng" algn="ctr">
                      <a:solidFill>
                        <a:srgbClr val="E2C9DD"/>
                      </a:solidFill>
                      <a:prstDash val="solid"/>
                      <a:round/>
                      <a:headEnd type="none" w="med" len="med"/>
                      <a:tailEnd type="none" w="med" len="med"/>
                    </a:lnT>
                    <a:lnB w="9525" cap="flat" cmpd="sng" algn="ctr">
                      <a:solidFill>
                        <a:srgbClr val="E2C9DD"/>
                      </a:solidFill>
                      <a:prstDash val="solid"/>
                      <a:round/>
                      <a:headEnd type="none" w="med" len="med"/>
                      <a:tailEnd type="none" w="med" len="med"/>
                    </a:lnB>
                    <a:solidFill>
                      <a:srgbClr val="FFFFFF"/>
                    </a:solidFill>
                  </a:tcPr>
                </a:tc>
              </a:tr>
              <a:tr h="548640">
                <a:tc>
                  <a:txBody>
                    <a:bodyPr/>
                    <a:lstStyle/>
                    <a:p>
                      <a:pPr indent="0" marL="0">
                        <a:buNone/>
                      </a:pPr>
                      <a:r>
                        <a:rPr lang="en-US" sz="1400" dirty="0">
                          <a:solidFill>
                            <a:srgbClr val="262626"/>
                          </a:solidFill>
                          <a:latin typeface="Calibri" pitchFamily="34" charset="0"/>
                          <a:ea typeface="Calibri" pitchFamily="34" charset="-122"/>
                          <a:cs typeface="Calibri" pitchFamily="34" charset="-120"/>
                        </a:rPr>
                        <a:t>4</a:t>
                      </a:r>
                      <a:endParaRPr lang="en-US" sz="1400" dirty="0">
                        <a:latin typeface="Calibri" charset="0"/>
                        <a:ea typeface="Calibri" charset="0"/>
                        <a:cs typeface="Calibri" charset="0"/>
                      </a:endParaRPr>
                    </a:p>
                  </a:txBody>
                  <a:tcPr marL="73152" marR="73152" marT="73152" marB="73152" anchor="ctr">
                    <a:lnL w="9525" cap="flat" cmpd="sng" algn="ctr">
                      <a:solidFill>
                        <a:srgbClr val="E2C9DD"/>
                      </a:solidFill>
                      <a:prstDash val="solid"/>
                      <a:round/>
                      <a:headEnd type="none" w="med" len="med"/>
                      <a:tailEnd type="none" w="med" len="med"/>
                    </a:lnL>
                    <a:lnR w="9525" cap="flat" cmpd="sng" algn="ctr">
                      <a:solidFill>
                        <a:srgbClr val="E2C9DD"/>
                      </a:solidFill>
                      <a:prstDash val="solid"/>
                      <a:round/>
                      <a:headEnd type="none" w="med" len="med"/>
                      <a:tailEnd type="none" w="med" len="med"/>
                    </a:lnR>
                    <a:lnT w="9525" cap="flat" cmpd="sng" algn="ctr">
                      <a:solidFill>
                        <a:srgbClr val="E2C9DD"/>
                      </a:solidFill>
                      <a:prstDash val="solid"/>
                      <a:round/>
                      <a:headEnd type="none" w="med" len="med"/>
                      <a:tailEnd type="none" w="med" len="med"/>
                    </a:lnT>
                    <a:lnB w="9525" cap="flat" cmpd="sng" algn="ctr">
                      <a:solidFill>
                        <a:srgbClr val="E2C9DD"/>
                      </a:solidFill>
                      <a:prstDash val="solid"/>
                      <a:round/>
                      <a:headEnd type="none" w="med" len="med"/>
                      <a:tailEnd type="none" w="med" len="med"/>
                    </a:lnB>
                    <a:solidFill>
                      <a:srgbClr val="FFFFFF"/>
                    </a:solidFill>
                  </a:tcPr>
                </a:tc>
                <a:tc>
                  <a:txBody>
                    <a:bodyPr/>
                    <a:lstStyle/>
                    <a:p>
                      <a:pPr indent="0" marL="0">
                        <a:buNone/>
                      </a:pPr>
                      <a:r>
                        <a:rPr lang="en-US" sz="1400" dirty="0">
                          <a:solidFill>
                            <a:srgbClr val="262626"/>
                          </a:solidFill>
                          <a:latin typeface="Calibri" pitchFamily="34" charset="0"/>
                          <a:ea typeface="Calibri" pitchFamily="34" charset="-122"/>
                          <a:cs typeface="Calibri" pitchFamily="34" charset="-120"/>
                        </a:rPr>
                        <a:t>Riesgo y consentimiento</a:t>
                      </a:r>
                      <a:endParaRPr lang="en-US" sz="1400" dirty="0">
                        <a:latin typeface="Calibri" charset="0"/>
                        <a:ea typeface="Calibri" charset="0"/>
                        <a:cs typeface="Calibri" charset="0"/>
                      </a:endParaRPr>
                    </a:p>
                  </a:txBody>
                  <a:tcPr marL="73152" marR="73152" marT="73152" marB="73152" anchor="ctr">
                    <a:lnL w="9525" cap="flat" cmpd="sng" algn="ctr">
                      <a:solidFill>
                        <a:srgbClr val="E2C9DD"/>
                      </a:solidFill>
                      <a:prstDash val="solid"/>
                      <a:round/>
                      <a:headEnd type="none" w="med" len="med"/>
                      <a:tailEnd type="none" w="med" len="med"/>
                    </a:lnL>
                    <a:lnR w="9525" cap="flat" cmpd="sng" algn="ctr">
                      <a:solidFill>
                        <a:srgbClr val="E2C9DD"/>
                      </a:solidFill>
                      <a:prstDash val="solid"/>
                      <a:round/>
                      <a:headEnd type="none" w="med" len="med"/>
                      <a:tailEnd type="none" w="med" len="med"/>
                    </a:lnR>
                    <a:lnT w="9525" cap="flat" cmpd="sng" algn="ctr">
                      <a:solidFill>
                        <a:srgbClr val="E2C9DD"/>
                      </a:solidFill>
                      <a:prstDash val="solid"/>
                      <a:round/>
                      <a:headEnd type="none" w="med" len="med"/>
                      <a:tailEnd type="none" w="med" len="med"/>
                    </a:lnT>
                    <a:lnB w="9525" cap="flat" cmpd="sng" algn="ctr">
                      <a:solidFill>
                        <a:srgbClr val="E2C9DD"/>
                      </a:solidFill>
                      <a:prstDash val="solid"/>
                      <a:round/>
                      <a:headEnd type="none" w="med" len="med"/>
                      <a:tailEnd type="none" w="med" len="med"/>
                    </a:lnB>
                    <a:solidFill>
                      <a:srgbClr val="FFFFFF"/>
                    </a:solidFill>
                  </a:tcPr>
                </a:tc>
                <a:tc>
                  <a:txBody>
                    <a:bodyPr/>
                    <a:lstStyle/>
                    <a:p>
                      <a:pPr indent="0" marL="0">
                        <a:buNone/>
                      </a:pPr>
                      <a:r>
                        <a:rPr lang="en-US" sz="1400" b="1" dirty="0">
                          <a:solidFill>
                            <a:srgbClr val="FF5F3F"/>
                          </a:solidFill>
                          <a:latin typeface="Calibri" pitchFamily="34" charset="0"/>
                          <a:ea typeface="Calibri" pitchFamily="34" charset="-122"/>
                          <a:cs typeface="Calibri" pitchFamily="34" charset="-120"/>
                        </a:rPr>
                        <a:t>Se acoge</a:t>
                      </a:r>
                      <a:endParaRPr lang="en-US" sz="1400" dirty="0">
                        <a:latin typeface="Calibri" charset="0"/>
                        <a:ea typeface="Calibri" charset="0"/>
                        <a:cs typeface="Calibri" charset="0"/>
                      </a:endParaRPr>
                    </a:p>
                  </a:txBody>
                  <a:tcPr marL="73152" marR="73152" marT="73152" marB="73152" anchor="ctr">
                    <a:lnL w="9525" cap="flat" cmpd="sng" algn="ctr">
                      <a:solidFill>
                        <a:srgbClr val="E2C9DD"/>
                      </a:solidFill>
                      <a:prstDash val="solid"/>
                      <a:round/>
                      <a:headEnd type="none" w="med" len="med"/>
                      <a:tailEnd type="none" w="med" len="med"/>
                    </a:lnL>
                    <a:lnR w="9525" cap="flat" cmpd="sng" algn="ctr">
                      <a:solidFill>
                        <a:srgbClr val="E2C9DD"/>
                      </a:solidFill>
                      <a:prstDash val="solid"/>
                      <a:round/>
                      <a:headEnd type="none" w="med" len="med"/>
                      <a:tailEnd type="none" w="med" len="med"/>
                    </a:lnR>
                    <a:lnT w="9525" cap="flat" cmpd="sng" algn="ctr">
                      <a:solidFill>
                        <a:srgbClr val="E2C9DD"/>
                      </a:solidFill>
                      <a:prstDash val="solid"/>
                      <a:round/>
                      <a:headEnd type="none" w="med" len="med"/>
                      <a:tailEnd type="none" w="med" len="med"/>
                    </a:lnT>
                    <a:lnB w="9525" cap="flat" cmpd="sng" algn="ctr">
                      <a:solidFill>
                        <a:srgbClr val="E2C9DD"/>
                      </a:solidFill>
                      <a:prstDash val="solid"/>
                      <a:round/>
                      <a:headEnd type="none" w="med" len="med"/>
                      <a:tailEnd type="none" w="med" len="med"/>
                    </a:lnB>
                    <a:solidFill>
                      <a:srgbClr val="FFFFFF"/>
                    </a:solidFill>
                  </a:tcPr>
                </a:tc>
                <a:tc>
                  <a:txBody>
                    <a:bodyPr/>
                    <a:lstStyle/>
                    <a:p>
                      <a:pPr indent="0" marL="0">
                        <a:buNone/>
                      </a:pPr>
                      <a:r>
                        <a:rPr lang="en-US" sz="1400" dirty="0">
                          <a:solidFill>
                            <a:srgbClr val="262626"/>
                          </a:solidFill>
                          <a:latin typeface="Calibri" pitchFamily="34" charset="0"/>
                          <a:ea typeface="Calibri" pitchFamily="34" charset="-122"/>
                          <a:cs typeface="Calibri" pitchFamily="34" charset="-120"/>
                        </a:rPr>
                        <a:t>Supuestos del art. 11; cinco condiciones de dispensa</a:t>
                      </a:r>
                      <a:endParaRPr lang="en-US" sz="1400" dirty="0">
                        <a:latin typeface="Calibri" charset="0"/>
                        <a:ea typeface="Calibri" charset="0"/>
                        <a:cs typeface="Calibri" charset="0"/>
                      </a:endParaRPr>
                    </a:p>
                  </a:txBody>
                  <a:tcPr marL="73152" marR="73152" marT="73152" marB="73152" anchor="ctr">
                    <a:lnL w="9525" cap="flat" cmpd="sng" algn="ctr">
                      <a:solidFill>
                        <a:srgbClr val="E2C9DD"/>
                      </a:solidFill>
                      <a:prstDash val="solid"/>
                      <a:round/>
                      <a:headEnd type="none" w="med" len="med"/>
                      <a:tailEnd type="none" w="med" len="med"/>
                    </a:lnL>
                    <a:lnR w="9525" cap="flat" cmpd="sng" algn="ctr">
                      <a:solidFill>
                        <a:srgbClr val="E2C9DD"/>
                      </a:solidFill>
                      <a:prstDash val="solid"/>
                      <a:round/>
                      <a:headEnd type="none" w="med" len="med"/>
                      <a:tailEnd type="none" w="med" len="med"/>
                    </a:lnR>
                    <a:lnT w="9525" cap="flat" cmpd="sng" algn="ctr">
                      <a:solidFill>
                        <a:srgbClr val="E2C9DD"/>
                      </a:solidFill>
                      <a:prstDash val="solid"/>
                      <a:round/>
                      <a:headEnd type="none" w="med" len="med"/>
                      <a:tailEnd type="none" w="med" len="med"/>
                    </a:lnT>
                    <a:lnB w="9525" cap="flat" cmpd="sng" algn="ctr">
                      <a:solidFill>
                        <a:srgbClr val="E2C9DD"/>
                      </a:solidFill>
                      <a:prstDash val="solid"/>
                      <a:round/>
                      <a:headEnd type="none" w="med" len="med"/>
                      <a:tailEnd type="none" w="med" len="med"/>
                    </a:lnB>
                    <a:solidFill>
                      <a:srgbClr val="FFFFFF"/>
                    </a:solidFill>
                  </a:tcPr>
                </a:tc>
                <a:tc>
                  <a:txBody>
                    <a:bodyPr/>
                    <a:lstStyle/>
                    <a:p>
                      <a:pPr indent="0" marL="0">
                        <a:buNone/>
                      </a:pPr>
                      <a:r>
                        <a:rPr lang="en-US" sz="1400" dirty="0">
                          <a:solidFill>
                            <a:srgbClr val="262626"/>
                          </a:solidFill>
                          <a:latin typeface="Calibri" pitchFamily="34" charset="0"/>
                          <a:ea typeface="Calibri" pitchFamily="34" charset="-122"/>
                          <a:cs typeface="Calibri" pitchFamily="34" charset="-120"/>
                        </a:rPr>
                        <a:t>40–41</a:t>
                      </a:r>
                      <a:endParaRPr lang="en-US" sz="1400" dirty="0">
                        <a:latin typeface="Calibri" charset="0"/>
                        <a:ea typeface="Calibri" charset="0"/>
                        <a:cs typeface="Calibri" charset="0"/>
                      </a:endParaRPr>
                    </a:p>
                  </a:txBody>
                  <a:tcPr marL="73152" marR="73152" marT="73152" marB="73152" anchor="ctr">
                    <a:lnL w="9525" cap="flat" cmpd="sng" algn="ctr">
                      <a:solidFill>
                        <a:srgbClr val="E2C9DD"/>
                      </a:solidFill>
                      <a:prstDash val="solid"/>
                      <a:round/>
                      <a:headEnd type="none" w="med" len="med"/>
                      <a:tailEnd type="none" w="med" len="med"/>
                    </a:lnL>
                    <a:lnR w="9525" cap="flat" cmpd="sng" algn="ctr">
                      <a:solidFill>
                        <a:srgbClr val="E2C9DD"/>
                      </a:solidFill>
                      <a:prstDash val="solid"/>
                      <a:round/>
                      <a:headEnd type="none" w="med" len="med"/>
                      <a:tailEnd type="none" w="med" len="med"/>
                    </a:lnR>
                    <a:lnT w="9525" cap="flat" cmpd="sng" algn="ctr">
                      <a:solidFill>
                        <a:srgbClr val="E2C9DD"/>
                      </a:solidFill>
                      <a:prstDash val="solid"/>
                      <a:round/>
                      <a:headEnd type="none" w="med" len="med"/>
                      <a:tailEnd type="none" w="med" len="med"/>
                    </a:lnT>
                    <a:lnB w="9525" cap="flat" cmpd="sng" algn="ctr">
                      <a:solidFill>
                        <a:srgbClr val="E2C9DD"/>
                      </a:solidFill>
                      <a:prstDash val="solid"/>
                      <a:round/>
                      <a:headEnd type="none" w="med" len="med"/>
                      <a:tailEnd type="none" w="med" len="med"/>
                    </a:lnB>
                    <a:solidFill>
                      <a:srgbClr val="FFFFFF"/>
                    </a:solidFill>
                  </a:tcPr>
                </a:tc>
              </a:tr>
              <a:tr h="548640">
                <a:tc>
                  <a:txBody>
                    <a:bodyPr/>
                    <a:lstStyle/>
                    <a:p>
                      <a:pPr indent="0" marL="0">
                        <a:buNone/>
                      </a:pPr>
                      <a:r>
                        <a:rPr lang="en-US" sz="1400" dirty="0">
                          <a:solidFill>
                            <a:srgbClr val="262626"/>
                          </a:solidFill>
                          <a:latin typeface="Calibri" pitchFamily="34" charset="0"/>
                          <a:ea typeface="Calibri" pitchFamily="34" charset="-122"/>
                          <a:cs typeface="Calibri" pitchFamily="34" charset="-120"/>
                        </a:rPr>
                        <a:t>5</a:t>
                      </a:r>
                      <a:endParaRPr lang="en-US" sz="1400" dirty="0">
                        <a:latin typeface="Calibri" charset="0"/>
                        <a:ea typeface="Calibri" charset="0"/>
                        <a:cs typeface="Calibri" charset="0"/>
                      </a:endParaRPr>
                    </a:p>
                  </a:txBody>
                  <a:tcPr marL="73152" marR="73152" marT="73152" marB="73152" anchor="ctr">
                    <a:lnL w="9525" cap="flat" cmpd="sng" algn="ctr">
                      <a:solidFill>
                        <a:srgbClr val="E2C9DD"/>
                      </a:solidFill>
                      <a:prstDash val="solid"/>
                      <a:round/>
                      <a:headEnd type="none" w="med" len="med"/>
                      <a:tailEnd type="none" w="med" len="med"/>
                    </a:lnL>
                    <a:lnR w="9525" cap="flat" cmpd="sng" algn="ctr">
                      <a:solidFill>
                        <a:srgbClr val="E2C9DD"/>
                      </a:solidFill>
                      <a:prstDash val="solid"/>
                      <a:round/>
                      <a:headEnd type="none" w="med" len="med"/>
                      <a:tailEnd type="none" w="med" len="med"/>
                    </a:lnR>
                    <a:lnT w="9525" cap="flat" cmpd="sng" algn="ctr">
                      <a:solidFill>
                        <a:srgbClr val="E2C9DD"/>
                      </a:solidFill>
                      <a:prstDash val="solid"/>
                      <a:round/>
                      <a:headEnd type="none" w="med" len="med"/>
                      <a:tailEnd type="none" w="med" len="med"/>
                    </a:lnT>
                    <a:lnB w="9525" cap="flat" cmpd="sng" algn="ctr">
                      <a:solidFill>
                        <a:srgbClr val="E2C9DD"/>
                      </a:solidFill>
                      <a:prstDash val="solid"/>
                      <a:round/>
                      <a:headEnd type="none" w="med" len="med"/>
                      <a:tailEnd type="none" w="med" len="med"/>
                    </a:lnB>
                    <a:solidFill>
                      <a:srgbClr val="FFFFFF"/>
                    </a:solidFill>
                  </a:tcPr>
                </a:tc>
                <a:tc>
                  <a:txBody>
                    <a:bodyPr/>
                    <a:lstStyle/>
                    <a:p>
                      <a:pPr indent="0" marL="0">
                        <a:buNone/>
                      </a:pPr>
                      <a:r>
                        <a:rPr lang="en-US" sz="1400" dirty="0">
                          <a:solidFill>
                            <a:srgbClr val="262626"/>
                          </a:solidFill>
                          <a:latin typeface="Calibri" pitchFamily="34" charset="0"/>
                          <a:ea typeface="Calibri" pitchFamily="34" charset="-122"/>
                          <a:cs typeface="Calibri" pitchFamily="34" charset="-120"/>
                        </a:rPr>
                        <a:t>Datos sensibles</a:t>
                      </a:r>
                      <a:endParaRPr lang="en-US" sz="1400" dirty="0">
                        <a:latin typeface="Calibri" charset="0"/>
                        <a:ea typeface="Calibri" charset="0"/>
                        <a:cs typeface="Calibri" charset="0"/>
                      </a:endParaRPr>
                    </a:p>
                  </a:txBody>
                  <a:tcPr marL="73152" marR="73152" marT="73152" marB="73152" anchor="ctr">
                    <a:lnL w="9525" cap="flat" cmpd="sng" algn="ctr">
                      <a:solidFill>
                        <a:srgbClr val="E2C9DD"/>
                      </a:solidFill>
                      <a:prstDash val="solid"/>
                      <a:round/>
                      <a:headEnd type="none" w="med" len="med"/>
                      <a:tailEnd type="none" w="med" len="med"/>
                    </a:lnL>
                    <a:lnR w="9525" cap="flat" cmpd="sng" algn="ctr">
                      <a:solidFill>
                        <a:srgbClr val="E2C9DD"/>
                      </a:solidFill>
                      <a:prstDash val="solid"/>
                      <a:round/>
                      <a:headEnd type="none" w="med" len="med"/>
                      <a:tailEnd type="none" w="med" len="med"/>
                    </a:lnR>
                    <a:lnT w="9525" cap="flat" cmpd="sng" algn="ctr">
                      <a:solidFill>
                        <a:srgbClr val="E2C9DD"/>
                      </a:solidFill>
                      <a:prstDash val="solid"/>
                      <a:round/>
                      <a:headEnd type="none" w="med" len="med"/>
                      <a:tailEnd type="none" w="med" len="med"/>
                    </a:lnT>
                    <a:lnB w="9525" cap="flat" cmpd="sng" algn="ctr">
                      <a:solidFill>
                        <a:srgbClr val="E2C9DD"/>
                      </a:solidFill>
                      <a:prstDash val="solid"/>
                      <a:round/>
                      <a:headEnd type="none" w="med" len="med"/>
                      <a:tailEnd type="none" w="med" len="med"/>
                    </a:lnB>
                    <a:solidFill>
                      <a:srgbClr val="FFFFFF"/>
                    </a:solidFill>
                  </a:tcPr>
                </a:tc>
                <a:tc>
                  <a:txBody>
                    <a:bodyPr/>
                    <a:lstStyle/>
                    <a:p>
                      <a:pPr indent="0" marL="0">
                        <a:buNone/>
                      </a:pPr>
                      <a:r>
                        <a:rPr lang="en-US" sz="1400" b="1" dirty="0">
                          <a:solidFill>
                            <a:srgbClr val="FF5F3F"/>
                          </a:solidFill>
                          <a:latin typeface="Calibri" pitchFamily="34" charset="0"/>
                          <a:ea typeface="Calibri" pitchFamily="34" charset="-122"/>
                          <a:cs typeface="Calibri" pitchFamily="34" charset="-120"/>
                        </a:rPr>
                        <a:t>Se acoge</a:t>
                      </a:r>
                      <a:endParaRPr lang="en-US" sz="1400" dirty="0">
                        <a:latin typeface="Calibri" charset="0"/>
                        <a:ea typeface="Calibri" charset="0"/>
                        <a:cs typeface="Calibri" charset="0"/>
                      </a:endParaRPr>
                    </a:p>
                  </a:txBody>
                  <a:tcPr marL="73152" marR="73152" marT="73152" marB="73152" anchor="ctr">
                    <a:lnL w="9525" cap="flat" cmpd="sng" algn="ctr">
                      <a:solidFill>
                        <a:srgbClr val="E2C9DD"/>
                      </a:solidFill>
                      <a:prstDash val="solid"/>
                      <a:round/>
                      <a:headEnd type="none" w="med" len="med"/>
                      <a:tailEnd type="none" w="med" len="med"/>
                    </a:lnL>
                    <a:lnR w="9525" cap="flat" cmpd="sng" algn="ctr">
                      <a:solidFill>
                        <a:srgbClr val="E2C9DD"/>
                      </a:solidFill>
                      <a:prstDash val="solid"/>
                      <a:round/>
                      <a:headEnd type="none" w="med" len="med"/>
                      <a:tailEnd type="none" w="med" len="med"/>
                    </a:lnR>
                    <a:lnT w="9525" cap="flat" cmpd="sng" algn="ctr">
                      <a:solidFill>
                        <a:srgbClr val="E2C9DD"/>
                      </a:solidFill>
                      <a:prstDash val="solid"/>
                      <a:round/>
                      <a:headEnd type="none" w="med" len="med"/>
                      <a:tailEnd type="none" w="med" len="med"/>
                    </a:lnT>
                    <a:lnB w="9525" cap="flat" cmpd="sng" algn="ctr">
                      <a:solidFill>
                        <a:srgbClr val="E2C9DD"/>
                      </a:solidFill>
                      <a:prstDash val="solid"/>
                      <a:round/>
                      <a:headEnd type="none" w="med" len="med"/>
                      <a:tailEnd type="none" w="med" len="med"/>
                    </a:lnB>
                    <a:solidFill>
                      <a:srgbClr val="FFFFFF"/>
                    </a:solidFill>
                  </a:tcPr>
                </a:tc>
                <a:tc>
                  <a:txBody>
                    <a:bodyPr/>
                    <a:lstStyle/>
                    <a:p>
                      <a:pPr indent="0" marL="0">
                        <a:buNone/>
                      </a:pPr>
                      <a:r>
                        <a:rPr lang="en-US" sz="1400" dirty="0">
                          <a:solidFill>
                            <a:srgbClr val="262626"/>
                          </a:solidFill>
                          <a:latin typeface="Calibri" pitchFamily="34" charset="0"/>
                          <a:ea typeface="Calibri" pitchFamily="34" charset="-122"/>
                          <a:cs typeface="Calibri" pitchFamily="34" charset="-120"/>
                        </a:rPr>
                        <a:t>Plan de protección de datos (numeral 3.9.1)</a:t>
                      </a:r>
                      <a:endParaRPr lang="en-US" sz="1400" dirty="0">
                        <a:latin typeface="Calibri" charset="0"/>
                        <a:ea typeface="Calibri" charset="0"/>
                        <a:cs typeface="Calibri" charset="0"/>
                      </a:endParaRPr>
                    </a:p>
                  </a:txBody>
                  <a:tcPr marL="73152" marR="73152" marT="73152" marB="73152" anchor="ctr">
                    <a:lnL w="9525" cap="flat" cmpd="sng" algn="ctr">
                      <a:solidFill>
                        <a:srgbClr val="E2C9DD"/>
                      </a:solidFill>
                      <a:prstDash val="solid"/>
                      <a:round/>
                      <a:headEnd type="none" w="med" len="med"/>
                      <a:tailEnd type="none" w="med" len="med"/>
                    </a:lnL>
                    <a:lnR w="9525" cap="flat" cmpd="sng" algn="ctr">
                      <a:solidFill>
                        <a:srgbClr val="E2C9DD"/>
                      </a:solidFill>
                      <a:prstDash val="solid"/>
                      <a:round/>
                      <a:headEnd type="none" w="med" len="med"/>
                      <a:tailEnd type="none" w="med" len="med"/>
                    </a:lnR>
                    <a:lnT w="9525" cap="flat" cmpd="sng" algn="ctr">
                      <a:solidFill>
                        <a:srgbClr val="E2C9DD"/>
                      </a:solidFill>
                      <a:prstDash val="solid"/>
                      <a:round/>
                      <a:headEnd type="none" w="med" len="med"/>
                      <a:tailEnd type="none" w="med" len="med"/>
                    </a:lnT>
                    <a:lnB w="9525" cap="flat" cmpd="sng" algn="ctr">
                      <a:solidFill>
                        <a:srgbClr val="E2C9DD"/>
                      </a:solidFill>
                      <a:prstDash val="solid"/>
                      <a:round/>
                      <a:headEnd type="none" w="med" len="med"/>
                      <a:tailEnd type="none" w="med" len="med"/>
                    </a:lnB>
                    <a:solidFill>
                      <a:srgbClr val="FFFFFF"/>
                    </a:solidFill>
                  </a:tcPr>
                </a:tc>
                <a:tc>
                  <a:txBody>
                    <a:bodyPr/>
                    <a:lstStyle/>
                    <a:p>
                      <a:pPr indent="0" marL="0">
                        <a:buNone/>
                      </a:pPr>
                      <a:r>
                        <a:rPr lang="en-US" sz="1400" dirty="0">
                          <a:solidFill>
                            <a:srgbClr val="262626"/>
                          </a:solidFill>
                          <a:latin typeface="Calibri" pitchFamily="34" charset="0"/>
                          <a:ea typeface="Calibri" pitchFamily="34" charset="-122"/>
                          <a:cs typeface="Calibri" pitchFamily="34" charset="-120"/>
                        </a:rPr>
                        <a:t>42–43</a:t>
                      </a:r>
                      <a:endParaRPr lang="en-US" sz="1400" dirty="0">
                        <a:latin typeface="Calibri" charset="0"/>
                        <a:ea typeface="Calibri" charset="0"/>
                        <a:cs typeface="Calibri" charset="0"/>
                      </a:endParaRPr>
                    </a:p>
                  </a:txBody>
                  <a:tcPr marL="73152" marR="73152" marT="73152" marB="73152" anchor="ctr">
                    <a:lnL w="9525" cap="flat" cmpd="sng" algn="ctr">
                      <a:solidFill>
                        <a:srgbClr val="E2C9DD"/>
                      </a:solidFill>
                      <a:prstDash val="solid"/>
                      <a:round/>
                      <a:headEnd type="none" w="med" len="med"/>
                      <a:tailEnd type="none" w="med" len="med"/>
                    </a:lnL>
                    <a:lnR w="9525" cap="flat" cmpd="sng" algn="ctr">
                      <a:solidFill>
                        <a:srgbClr val="E2C9DD"/>
                      </a:solidFill>
                      <a:prstDash val="solid"/>
                      <a:round/>
                      <a:headEnd type="none" w="med" len="med"/>
                      <a:tailEnd type="none" w="med" len="med"/>
                    </a:lnR>
                    <a:lnT w="9525" cap="flat" cmpd="sng" algn="ctr">
                      <a:solidFill>
                        <a:srgbClr val="E2C9DD"/>
                      </a:solidFill>
                      <a:prstDash val="solid"/>
                      <a:round/>
                      <a:headEnd type="none" w="med" len="med"/>
                      <a:tailEnd type="none" w="med" len="med"/>
                    </a:lnT>
                    <a:lnB w="9525" cap="flat" cmpd="sng" algn="ctr">
                      <a:solidFill>
                        <a:srgbClr val="E2C9DD"/>
                      </a:solidFill>
                      <a:prstDash val="solid"/>
                      <a:round/>
                      <a:headEnd type="none" w="med" len="med"/>
                      <a:tailEnd type="none" w="med" len="med"/>
                    </a:lnB>
                    <a:solidFill>
                      <a:srgbClr val="FFFFFF"/>
                    </a:solidFill>
                  </a:tcPr>
                </a:tc>
              </a:tr>
              <a:tr h="548640">
                <a:tc>
                  <a:txBody>
                    <a:bodyPr/>
                    <a:lstStyle/>
                    <a:p>
                      <a:pPr indent="0" marL="0">
                        <a:buNone/>
                      </a:pPr>
                      <a:r>
                        <a:rPr lang="en-US" sz="1400" dirty="0">
                          <a:solidFill>
                            <a:srgbClr val="262626"/>
                          </a:solidFill>
                          <a:latin typeface="Calibri" pitchFamily="34" charset="0"/>
                          <a:ea typeface="Calibri" pitchFamily="34" charset="-122"/>
                          <a:cs typeface="Calibri" pitchFamily="34" charset="-120"/>
                        </a:rPr>
                        <a:t>6</a:t>
                      </a:r>
                      <a:endParaRPr lang="en-US" sz="1400" dirty="0">
                        <a:latin typeface="Calibri" charset="0"/>
                        <a:ea typeface="Calibri" charset="0"/>
                        <a:cs typeface="Calibri" charset="0"/>
                      </a:endParaRPr>
                    </a:p>
                  </a:txBody>
                  <a:tcPr marL="73152" marR="73152" marT="73152" marB="73152" anchor="ctr">
                    <a:lnL w="9525" cap="flat" cmpd="sng" algn="ctr">
                      <a:solidFill>
                        <a:srgbClr val="E2C9DD"/>
                      </a:solidFill>
                      <a:prstDash val="solid"/>
                      <a:round/>
                      <a:headEnd type="none" w="med" len="med"/>
                      <a:tailEnd type="none" w="med" len="med"/>
                    </a:lnL>
                    <a:lnR w="9525" cap="flat" cmpd="sng" algn="ctr">
                      <a:solidFill>
                        <a:srgbClr val="E2C9DD"/>
                      </a:solidFill>
                      <a:prstDash val="solid"/>
                      <a:round/>
                      <a:headEnd type="none" w="med" len="med"/>
                      <a:tailEnd type="none" w="med" len="med"/>
                    </a:lnR>
                    <a:lnT w="9525" cap="flat" cmpd="sng" algn="ctr">
                      <a:solidFill>
                        <a:srgbClr val="E2C9DD"/>
                      </a:solidFill>
                      <a:prstDash val="solid"/>
                      <a:round/>
                      <a:headEnd type="none" w="med" len="med"/>
                      <a:tailEnd type="none" w="med" len="med"/>
                    </a:lnT>
                    <a:lnB w="9525" cap="flat" cmpd="sng" algn="ctr">
                      <a:solidFill>
                        <a:srgbClr val="E2C9DD"/>
                      </a:solidFill>
                      <a:prstDash val="solid"/>
                      <a:round/>
                      <a:headEnd type="none" w="med" len="med"/>
                      <a:tailEnd type="none" w="med" len="med"/>
                    </a:lnB>
                    <a:solidFill>
                      <a:srgbClr val="FFFFFF"/>
                    </a:solidFill>
                  </a:tcPr>
                </a:tc>
                <a:tc>
                  <a:txBody>
                    <a:bodyPr/>
                    <a:lstStyle/>
                    <a:p>
                      <a:pPr indent="0" marL="0">
                        <a:buNone/>
                      </a:pPr>
                      <a:r>
                        <a:rPr lang="en-US" sz="1400" dirty="0">
                          <a:solidFill>
                            <a:srgbClr val="262626"/>
                          </a:solidFill>
                          <a:latin typeface="Calibri" pitchFamily="34" charset="0"/>
                          <a:ea typeface="Calibri" pitchFamily="34" charset="-122"/>
                          <a:cs typeface="Calibri" pitchFamily="34" charset="-120"/>
                        </a:rPr>
                        <a:t>Interpretación y publicación</a:t>
                      </a:r>
                      <a:endParaRPr lang="en-US" sz="1400" dirty="0">
                        <a:latin typeface="Calibri" charset="0"/>
                        <a:ea typeface="Calibri" charset="0"/>
                        <a:cs typeface="Calibri" charset="0"/>
                      </a:endParaRPr>
                    </a:p>
                  </a:txBody>
                  <a:tcPr marL="73152" marR="73152" marT="73152" marB="73152" anchor="ctr">
                    <a:lnL w="9525" cap="flat" cmpd="sng" algn="ctr">
                      <a:solidFill>
                        <a:srgbClr val="E2C9DD"/>
                      </a:solidFill>
                      <a:prstDash val="solid"/>
                      <a:round/>
                      <a:headEnd type="none" w="med" len="med"/>
                      <a:tailEnd type="none" w="med" len="med"/>
                    </a:lnL>
                    <a:lnR w="9525" cap="flat" cmpd="sng" algn="ctr">
                      <a:solidFill>
                        <a:srgbClr val="E2C9DD"/>
                      </a:solidFill>
                      <a:prstDash val="solid"/>
                      <a:round/>
                      <a:headEnd type="none" w="med" len="med"/>
                      <a:tailEnd type="none" w="med" len="med"/>
                    </a:lnR>
                    <a:lnT w="9525" cap="flat" cmpd="sng" algn="ctr">
                      <a:solidFill>
                        <a:srgbClr val="E2C9DD"/>
                      </a:solidFill>
                      <a:prstDash val="solid"/>
                      <a:round/>
                      <a:headEnd type="none" w="med" len="med"/>
                      <a:tailEnd type="none" w="med" len="med"/>
                    </a:lnT>
                    <a:lnB w="9525" cap="flat" cmpd="sng" algn="ctr">
                      <a:solidFill>
                        <a:srgbClr val="E2C9DD"/>
                      </a:solidFill>
                      <a:prstDash val="solid"/>
                      <a:round/>
                      <a:headEnd type="none" w="med" len="med"/>
                      <a:tailEnd type="none" w="med" len="med"/>
                    </a:lnB>
                    <a:solidFill>
                      <a:srgbClr val="FFFFFF"/>
                    </a:solidFill>
                  </a:tcPr>
                </a:tc>
                <a:tc>
                  <a:txBody>
                    <a:bodyPr/>
                    <a:lstStyle/>
                    <a:p>
                      <a:pPr indent="0" marL="0">
                        <a:buNone/>
                      </a:pPr>
                      <a:r>
                        <a:rPr lang="en-US" sz="1400" b="1" dirty="0">
                          <a:solidFill>
                            <a:srgbClr val="FF5F3F"/>
                          </a:solidFill>
                          <a:latin typeface="Calibri" pitchFamily="34" charset="0"/>
                          <a:ea typeface="Calibri" pitchFamily="34" charset="-122"/>
                          <a:cs typeface="Calibri" pitchFamily="34" charset="-120"/>
                        </a:rPr>
                        <a:t>Se acoge</a:t>
                      </a:r>
                      <a:endParaRPr lang="en-US" sz="1400" dirty="0">
                        <a:latin typeface="Calibri" charset="0"/>
                        <a:ea typeface="Calibri" charset="0"/>
                        <a:cs typeface="Calibri" charset="0"/>
                      </a:endParaRPr>
                    </a:p>
                  </a:txBody>
                  <a:tcPr marL="73152" marR="73152" marT="73152" marB="73152" anchor="ctr">
                    <a:lnL w="9525" cap="flat" cmpd="sng" algn="ctr">
                      <a:solidFill>
                        <a:srgbClr val="E2C9DD"/>
                      </a:solidFill>
                      <a:prstDash val="solid"/>
                      <a:round/>
                      <a:headEnd type="none" w="med" len="med"/>
                      <a:tailEnd type="none" w="med" len="med"/>
                    </a:lnL>
                    <a:lnR w="9525" cap="flat" cmpd="sng" algn="ctr">
                      <a:solidFill>
                        <a:srgbClr val="E2C9DD"/>
                      </a:solidFill>
                      <a:prstDash val="solid"/>
                      <a:round/>
                      <a:headEnd type="none" w="med" len="med"/>
                      <a:tailEnd type="none" w="med" len="med"/>
                    </a:lnR>
                    <a:lnT w="9525" cap="flat" cmpd="sng" algn="ctr">
                      <a:solidFill>
                        <a:srgbClr val="E2C9DD"/>
                      </a:solidFill>
                      <a:prstDash val="solid"/>
                      <a:round/>
                      <a:headEnd type="none" w="med" len="med"/>
                      <a:tailEnd type="none" w="med" len="med"/>
                    </a:lnT>
                    <a:lnB w="9525" cap="flat" cmpd="sng" algn="ctr">
                      <a:solidFill>
                        <a:srgbClr val="E2C9DD"/>
                      </a:solidFill>
                      <a:prstDash val="solid"/>
                      <a:round/>
                      <a:headEnd type="none" w="med" len="med"/>
                      <a:tailEnd type="none" w="med" len="med"/>
                    </a:lnB>
                    <a:solidFill>
                      <a:srgbClr val="FFFFFF"/>
                    </a:solidFill>
                  </a:tcPr>
                </a:tc>
                <a:tc>
                  <a:txBody>
                    <a:bodyPr/>
                    <a:lstStyle/>
                    <a:p>
                      <a:pPr indent="0" marL="0">
                        <a:buNone/>
                      </a:pPr>
                      <a:r>
                        <a:rPr lang="en-US" sz="1400" dirty="0">
                          <a:solidFill>
                            <a:srgbClr val="262626"/>
                          </a:solidFill>
                          <a:latin typeface="Calibri" pitchFamily="34" charset="0"/>
                          <a:ea typeface="Calibri" pitchFamily="34" charset="-122"/>
                          <a:cs typeface="Calibri" pitchFamily="34" charset="-120"/>
                        </a:rPr>
                        <a:t>Reglas de interpretación y difusión (numeral 3.9.2)</a:t>
                      </a:r>
                      <a:endParaRPr lang="en-US" sz="1400" dirty="0">
                        <a:latin typeface="Calibri" charset="0"/>
                        <a:ea typeface="Calibri" charset="0"/>
                        <a:cs typeface="Calibri" charset="0"/>
                      </a:endParaRPr>
                    </a:p>
                  </a:txBody>
                  <a:tcPr marL="73152" marR="73152" marT="73152" marB="73152" anchor="ctr">
                    <a:lnL w="9525" cap="flat" cmpd="sng" algn="ctr">
                      <a:solidFill>
                        <a:srgbClr val="E2C9DD"/>
                      </a:solidFill>
                      <a:prstDash val="solid"/>
                      <a:round/>
                      <a:headEnd type="none" w="med" len="med"/>
                      <a:tailEnd type="none" w="med" len="med"/>
                    </a:lnL>
                    <a:lnR w="9525" cap="flat" cmpd="sng" algn="ctr">
                      <a:solidFill>
                        <a:srgbClr val="E2C9DD"/>
                      </a:solidFill>
                      <a:prstDash val="solid"/>
                      <a:round/>
                      <a:headEnd type="none" w="med" len="med"/>
                      <a:tailEnd type="none" w="med" len="med"/>
                    </a:lnR>
                    <a:lnT w="9525" cap="flat" cmpd="sng" algn="ctr">
                      <a:solidFill>
                        <a:srgbClr val="E2C9DD"/>
                      </a:solidFill>
                      <a:prstDash val="solid"/>
                      <a:round/>
                      <a:headEnd type="none" w="med" len="med"/>
                      <a:tailEnd type="none" w="med" len="med"/>
                    </a:lnT>
                    <a:lnB w="9525" cap="flat" cmpd="sng" algn="ctr">
                      <a:solidFill>
                        <a:srgbClr val="E2C9DD"/>
                      </a:solidFill>
                      <a:prstDash val="solid"/>
                      <a:round/>
                      <a:headEnd type="none" w="med" len="med"/>
                      <a:tailEnd type="none" w="med" len="med"/>
                    </a:lnB>
                    <a:solidFill>
                      <a:srgbClr val="FFFFFF"/>
                    </a:solidFill>
                  </a:tcPr>
                </a:tc>
                <a:tc>
                  <a:txBody>
                    <a:bodyPr/>
                    <a:lstStyle/>
                    <a:p>
                      <a:pPr indent="0" marL="0">
                        <a:buNone/>
                      </a:pPr>
                      <a:r>
                        <a:rPr lang="en-US" sz="1400" dirty="0">
                          <a:solidFill>
                            <a:srgbClr val="262626"/>
                          </a:solidFill>
                          <a:latin typeface="Calibri" pitchFamily="34" charset="0"/>
                          <a:ea typeface="Calibri" pitchFamily="34" charset="-122"/>
                          <a:cs typeface="Calibri" pitchFamily="34" charset="-120"/>
                        </a:rPr>
                        <a:t>43–44</a:t>
                      </a:r>
                      <a:endParaRPr lang="en-US" sz="1400" dirty="0">
                        <a:latin typeface="Calibri" charset="0"/>
                        <a:ea typeface="Calibri" charset="0"/>
                        <a:cs typeface="Calibri" charset="0"/>
                      </a:endParaRPr>
                    </a:p>
                  </a:txBody>
                  <a:tcPr marL="73152" marR="73152" marT="73152" marB="73152" anchor="ctr">
                    <a:lnL w="9525" cap="flat" cmpd="sng" algn="ctr">
                      <a:solidFill>
                        <a:srgbClr val="E2C9DD"/>
                      </a:solidFill>
                      <a:prstDash val="solid"/>
                      <a:round/>
                      <a:headEnd type="none" w="med" len="med"/>
                      <a:tailEnd type="none" w="med" len="med"/>
                    </a:lnL>
                    <a:lnR w="9525" cap="flat" cmpd="sng" algn="ctr">
                      <a:solidFill>
                        <a:srgbClr val="E2C9DD"/>
                      </a:solidFill>
                      <a:prstDash val="solid"/>
                      <a:round/>
                      <a:headEnd type="none" w="med" len="med"/>
                      <a:tailEnd type="none" w="med" len="med"/>
                    </a:lnR>
                    <a:lnT w="9525" cap="flat" cmpd="sng" algn="ctr">
                      <a:solidFill>
                        <a:srgbClr val="E2C9DD"/>
                      </a:solidFill>
                      <a:prstDash val="solid"/>
                      <a:round/>
                      <a:headEnd type="none" w="med" len="med"/>
                      <a:tailEnd type="none" w="med" len="med"/>
                    </a:lnT>
                    <a:lnB w="9525" cap="flat" cmpd="sng" algn="ctr">
                      <a:solidFill>
                        <a:srgbClr val="E2C9DD"/>
                      </a:solidFill>
                      <a:prstDash val="solid"/>
                      <a:round/>
                      <a:headEnd type="none" w="med" len="med"/>
                      <a:tailEnd type="none" w="med" len="med"/>
                    </a:lnB>
                    <a:solidFill>
                      <a:srgbClr val="FFFFFF"/>
                    </a:solidFill>
                  </a:tcPr>
                </a:tc>
              </a:tr>
              <a:tr h="548640">
                <a:tc>
                  <a:txBody>
                    <a:bodyPr/>
                    <a:lstStyle/>
                    <a:p>
                      <a:pPr indent="0" marL="0">
                        <a:buNone/>
                      </a:pPr>
                      <a:r>
                        <a:rPr lang="en-US" sz="1400" dirty="0">
                          <a:solidFill>
                            <a:srgbClr val="262626"/>
                          </a:solidFill>
                          <a:latin typeface="Calibri" pitchFamily="34" charset="0"/>
                          <a:ea typeface="Calibri" pitchFamily="34" charset="-122"/>
                          <a:cs typeface="Calibri" pitchFamily="34" charset="-120"/>
                        </a:rPr>
                        <a:t>7</a:t>
                      </a:r>
                      <a:endParaRPr lang="en-US" sz="1400" dirty="0">
                        <a:latin typeface="Calibri" charset="0"/>
                        <a:ea typeface="Calibri" charset="0"/>
                        <a:cs typeface="Calibri" charset="0"/>
                      </a:endParaRPr>
                    </a:p>
                  </a:txBody>
                  <a:tcPr marL="73152" marR="73152" marT="73152" marB="73152" anchor="ctr">
                    <a:lnL w="9525" cap="flat" cmpd="sng" algn="ctr">
                      <a:solidFill>
                        <a:srgbClr val="E2C9DD"/>
                      </a:solidFill>
                      <a:prstDash val="solid"/>
                      <a:round/>
                      <a:headEnd type="none" w="med" len="med"/>
                      <a:tailEnd type="none" w="med" len="med"/>
                    </a:lnL>
                    <a:lnR w="9525" cap="flat" cmpd="sng" algn="ctr">
                      <a:solidFill>
                        <a:srgbClr val="E2C9DD"/>
                      </a:solidFill>
                      <a:prstDash val="solid"/>
                      <a:round/>
                      <a:headEnd type="none" w="med" len="med"/>
                      <a:tailEnd type="none" w="med" len="med"/>
                    </a:lnR>
                    <a:lnT w="9525" cap="flat" cmpd="sng" algn="ctr">
                      <a:solidFill>
                        <a:srgbClr val="E2C9DD"/>
                      </a:solidFill>
                      <a:prstDash val="solid"/>
                      <a:round/>
                      <a:headEnd type="none" w="med" len="med"/>
                      <a:tailEnd type="none" w="med" len="med"/>
                    </a:lnT>
                    <a:lnB w="9525" cap="flat" cmpd="sng" algn="ctr">
                      <a:solidFill>
                        <a:srgbClr val="E2C9DD"/>
                      </a:solidFill>
                      <a:prstDash val="solid"/>
                      <a:round/>
                      <a:headEnd type="none" w="med" len="med"/>
                      <a:tailEnd type="none" w="med" len="med"/>
                    </a:lnB>
                    <a:solidFill>
                      <a:srgbClr val="FFFFFF"/>
                    </a:solidFill>
                  </a:tcPr>
                </a:tc>
                <a:tc>
                  <a:txBody>
                    <a:bodyPr/>
                    <a:lstStyle/>
                    <a:p>
                      <a:pPr indent="0" marL="0">
                        <a:buNone/>
                      </a:pPr>
                      <a:r>
                        <a:rPr lang="en-US" sz="1400" dirty="0">
                          <a:solidFill>
                            <a:srgbClr val="262626"/>
                          </a:solidFill>
                          <a:latin typeface="Calibri" pitchFamily="34" charset="0"/>
                          <a:ea typeface="Calibri" pitchFamily="34" charset="-122"/>
                          <a:cs typeface="Calibri" pitchFamily="34" charset="-120"/>
                        </a:rPr>
                        <a:t>Documentación transfusional</a:t>
                      </a:r>
                      <a:endParaRPr lang="en-US" sz="1400" dirty="0">
                        <a:latin typeface="Calibri" charset="0"/>
                        <a:ea typeface="Calibri" charset="0"/>
                        <a:cs typeface="Calibri" charset="0"/>
                      </a:endParaRPr>
                    </a:p>
                  </a:txBody>
                  <a:tcPr marL="73152" marR="73152" marT="73152" marB="73152" anchor="ctr">
                    <a:lnL w="9525" cap="flat" cmpd="sng" algn="ctr">
                      <a:solidFill>
                        <a:srgbClr val="E2C9DD"/>
                      </a:solidFill>
                      <a:prstDash val="solid"/>
                      <a:round/>
                      <a:headEnd type="none" w="med" len="med"/>
                      <a:tailEnd type="none" w="med" len="med"/>
                    </a:lnL>
                    <a:lnR w="9525" cap="flat" cmpd="sng" algn="ctr">
                      <a:solidFill>
                        <a:srgbClr val="E2C9DD"/>
                      </a:solidFill>
                      <a:prstDash val="solid"/>
                      <a:round/>
                      <a:headEnd type="none" w="med" len="med"/>
                      <a:tailEnd type="none" w="med" len="med"/>
                    </a:lnR>
                    <a:lnT w="9525" cap="flat" cmpd="sng" algn="ctr">
                      <a:solidFill>
                        <a:srgbClr val="E2C9DD"/>
                      </a:solidFill>
                      <a:prstDash val="solid"/>
                      <a:round/>
                      <a:headEnd type="none" w="med" len="med"/>
                      <a:tailEnd type="none" w="med" len="med"/>
                    </a:lnT>
                    <a:lnB w="9525" cap="flat" cmpd="sng" algn="ctr">
                      <a:solidFill>
                        <a:srgbClr val="E2C9DD"/>
                      </a:solidFill>
                      <a:prstDash val="solid"/>
                      <a:round/>
                      <a:headEnd type="none" w="med" len="med"/>
                      <a:tailEnd type="none" w="med" len="med"/>
                    </a:lnB>
                    <a:solidFill>
                      <a:srgbClr val="FFFFFF"/>
                    </a:solidFill>
                  </a:tcPr>
                </a:tc>
                <a:tc>
                  <a:txBody>
                    <a:bodyPr/>
                    <a:lstStyle/>
                    <a:p>
                      <a:pPr indent="0" marL="0">
                        <a:buNone/>
                      </a:pPr>
                      <a:r>
                        <a:rPr lang="en-US" sz="1400" b="1" dirty="0">
                          <a:solidFill>
                            <a:srgbClr val="FF5F3F"/>
                          </a:solidFill>
                          <a:latin typeface="Calibri" pitchFamily="34" charset="0"/>
                          <a:ea typeface="Calibri" pitchFamily="34" charset="-122"/>
                          <a:cs typeface="Calibri" pitchFamily="34" charset="-120"/>
                        </a:rPr>
                        <a:t>Se acoge</a:t>
                      </a:r>
                      <a:endParaRPr lang="en-US" sz="1400" dirty="0">
                        <a:latin typeface="Calibri" charset="0"/>
                        <a:ea typeface="Calibri" charset="0"/>
                        <a:cs typeface="Calibri" charset="0"/>
                      </a:endParaRPr>
                    </a:p>
                  </a:txBody>
                  <a:tcPr marL="73152" marR="73152" marT="73152" marB="73152" anchor="ctr">
                    <a:lnL w="9525" cap="flat" cmpd="sng" algn="ctr">
                      <a:solidFill>
                        <a:srgbClr val="E2C9DD"/>
                      </a:solidFill>
                      <a:prstDash val="solid"/>
                      <a:round/>
                      <a:headEnd type="none" w="med" len="med"/>
                      <a:tailEnd type="none" w="med" len="med"/>
                    </a:lnL>
                    <a:lnR w="9525" cap="flat" cmpd="sng" algn="ctr">
                      <a:solidFill>
                        <a:srgbClr val="E2C9DD"/>
                      </a:solidFill>
                      <a:prstDash val="solid"/>
                      <a:round/>
                      <a:headEnd type="none" w="med" len="med"/>
                      <a:tailEnd type="none" w="med" len="med"/>
                    </a:lnR>
                    <a:lnT w="9525" cap="flat" cmpd="sng" algn="ctr">
                      <a:solidFill>
                        <a:srgbClr val="E2C9DD"/>
                      </a:solidFill>
                      <a:prstDash val="solid"/>
                      <a:round/>
                      <a:headEnd type="none" w="med" len="med"/>
                      <a:tailEnd type="none" w="med" len="med"/>
                    </a:lnT>
                    <a:lnB w="9525" cap="flat" cmpd="sng" algn="ctr">
                      <a:solidFill>
                        <a:srgbClr val="E2C9DD"/>
                      </a:solidFill>
                      <a:prstDash val="solid"/>
                      <a:round/>
                      <a:headEnd type="none" w="med" len="med"/>
                      <a:tailEnd type="none" w="med" len="med"/>
                    </a:lnB>
                    <a:solidFill>
                      <a:srgbClr val="FFFFFF"/>
                    </a:solidFill>
                  </a:tcPr>
                </a:tc>
                <a:tc>
                  <a:txBody>
                    <a:bodyPr/>
                    <a:lstStyle/>
                    <a:p>
                      <a:pPr indent="0" marL="0">
                        <a:buNone/>
                      </a:pPr>
                      <a:r>
                        <a:rPr lang="en-US" sz="1400" dirty="0">
                          <a:solidFill>
                            <a:srgbClr val="262626"/>
                          </a:solidFill>
                          <a:latin typeface="Calibri" pitchFamily="34" charset="0"/>
                          <a:ea typeface="Calibri" pitchFamily="34" charset="-122"/>
                          <a:cs typeface="Calibri" pitchFamily="34" charset="-120"/>
                        </a:rPr>
                        <a:t>Doble verificación, triangulación y 3 variables nuevas</a:t>
                      </a:r>
                      <a:endParaRPr lang="en-US" sz="1400" dirty="0">
                        <a:latin typeface="Calibri" charset="0"/>
                        <a:ea typeface="Calibri" charset="0"/>
                        <a:cs typeface="Calibri" charset="0"/>
                      </a:endParaRPr>
                    </a:p>
                  </a:txBody>
                  <a:tcPr marL="73152" marR="73152" marT="73152" marB="73152" anchor="ctr">
                    <a:lnL w="9525" cap="flat" cmpd="sng" algn="ctr">
                      <a:solidFill>
                        <a:srgbClr val="E2C9DD"/>
                      </a:solidFill>
                      <a:prstDash val="solid"/>
                      <a:round/>
                      <a:headEnd type="none" w="med" len="med"/>
                      <a:tailEnd type="none" w="med" len="med"/>
                    </a:lnL>
                    <a:lnR w="9525" cap="flat" cmpd="sng" algn="ctr">
                      <a:solidFill>
                        <a:srgbClr val="E2C9DD"/>
                      </a:solidFill>
                      <a:prstDash val="solid"/>
                      <a:round/>
                      <a:headEnd type="none" w="med" len="med"/>
                      <a:tailEnd type="none" w="med" len="med"/>
                    </a:lnR>
                    <a:lnT w="9525" cap="flat" cmpd="sng" algn="ctr">
                      <a:solidFill>
                        <a:srgbClr val="E2C9DD"/>
                      </a:solidFill>
                      <a:prstDash val="solid"/>
                      <a:round/>
                      <a:headEnd type="none" w="med" len="med"/>
                      <a:tailEnd type="none" w="med" len="med"/>
                    </a:lnT>
                    <a:lnB w="9525" cap="flat" cmpd="sng" algn="ctr">
                      <a:solidFill>
                        <a:srgbClr val="E2C9DD"/>
                      </a:solidFill>
                      <a:prstDash val="solid"/>
                      <a:round/>
                      <a:headEnd type="none" w="med" len="med"/>
                      <a:tailEnd type="none" w="med" len="med"/>
                    </a:lnB>
                    <a:solidFill>
                      <a:srgbClr val="FFFFFF"/>
                    </a:solidFill>
                  </a:tcPr>
                </a:tc>
                <a:tc>
                  <a:txBody>
                    <a:bodyPr/>
                    <a:lstStyle/>
                    <a:p>
                      <a:pPr indent="0" marL="0">
                        <a:buNone/>
                      </a:pPr>
                      <a:r>
                        <a:rPr lang="en-US" sz="1400" dirty="0">
                          <a:solidFill>
                            <a:srgbClr val="262626"/>
                          </a:solidFill>
                          <a:latin typeface="Calibri" pitchFamily="34" charset="0"/>
                          <a:ea typeface="Calibri" pitchFamily="34" charset="-122"/>
                          <a:cs typeface="Calibri" pitchFamily="34" charset="-120"/>
                        </a:rPr>
                        <a:t>32–33, 38</a:t>
                      </a:r>
                      <a:endParaRPr lang="en-US" sz="1400" dirty="0">
                        <a:latin typeface="Calibri" charset="0"/>
                        <a:ea typeface="Calibri" charset="0"/>
                        <a:cs typeface="Calibri" charset="0"/>
                      </a:endParaRPr>
                    </a:p>
                  </a:txBody>
                  <a:tcPr marL="73152" marR="73152" marT="73152" marB="73152" anchor="ctr">
                    <a:lnL w="9525" cap="flat" cmpd="sng" algn="ctr">
                      <a:solidFill>
                        <a:srgbClr val="E2C9DD"/>
                      </a:solidFill>
                      <a:prstDash val="solid"/>
                      <a:round/>
                      <a:headEnd type="none" w="med" len="med"/>
                      <a:tailEnd type="none" w="med" len="med"/>
                    </a:lnL>
                    <a:lnR w="9525" cap="flat" cmpd="sng" algn="ctr">
                      <a:solidFill>
                        <a:srgbClr val="E2C9DD"/>
                      </a:solidFill>
                      <a:prstDash val="solid"/>
                      <a:round/>
                      <a:headEnd type="none" w="med" len="med"/>
                      <a:tailEnd type="none" w="med" len="med"/>
                    </a:lnR>
                    <a:lnT w="9525" cap="flat" cmpd="sng" algn="ctr">
                      <a:solidFill>
                        <a:srgbClr val="E2C9DD"/>
                      </a:solidFill>
                      <a:prstDash val="solid"/>
                      <a:round/>
                      <a:headEnd type="none" w="med" len="med"/>
                      <a:tailEnd type="none" w="med" len="med"/>
                    </a:lnT>
                    <a:lnB w="9525" cap="flat" cmpd="sng" algn="ctr">
                      <a:solidFill>
                        <a:srgbClr val="E2C9DD"/>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201400" y="635508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292608"/>
            <a:ext cx="8686800" cy="274320"/>
          </a:xfrm>
          <a:prstGeom prst="rect">
            <a:avLst/>
          </a:prstGeom>
          <a:noFill/>
          <a:ln/>
        </p:spPr>
        <p:txBody>
          <a:bodyPr wrap="square" lIns="508" tIns="508" rIns="508" bIns="508" rtlCol="0" anchor="t"/>
          <a:lstStyle/>
          <a:p>
            <a:pPr algn="l" indent="0" marL="0">
              <a:lnSpc>
                <a:spcPct val="100000"/>
              </a:lnSpc>
              <a:buNone/>
            </a:pPr>
            <a:r>
              <a:rPr lang="en-US" sz="1200" b="1" dirty="0">
                <a:solidFill>
                  <a:srgbClr val="FF5F3F"/>
                </a:solidFill>
                <a:latin typeface="Calibri" pitchFamily="34" charset="0"/>
                <a:ea typeface="Calibri" pitchFamily="34" charset="-122"/>
                <a:cs typeface="Calibri" pitchFamily="34" charset="-120"/>
              </a:rPr>
              <a:t>CIERRE</a:t>
            </a:r>
            <a:endParaRPr lang="en-US" sz="1200" dirty="0"/>
          </a:p>
        </p:txBody>
      </p:sp>
      <p:sp>
        <p:nvSpPr>
          <p:cNvPr id="3" name="Text 1"/>
          <p:cNvSpPr txBox="1"/>
          <p:nvPr/>
        </p:nvSpPr>
        <p:spPr>
          <a:xfrm>
            <a:off x="548640" y="548640"/>
            <a:ext cx="9326880" cy="548640"/>
          </a:xfrm>
          <a:prstGeom prst="rect">
            <a:avLst/>
          </a:prstGeom>
          <a:noFill/>
          <a:ln/>
        </p:spPr>
        <p:txBody>
          <a:bodyPr wrap="square" lIns="508" tIns="508" rIns="508" bIns="508" rtlCol="0" anchor="ctr"/>
          <a:lstStyle/>
          <a:p>
            <a:pPr algn="l" indent="0" marL="0">
              <a:lnSpc>
                <a:spcPct val="100000"/>
              </a:lnSpc>
              <a:buNone/>
            </a:pPr>
            <a:r>
              <a:rPr lang="en-US" sz="2800" b="1" dirty="0">
                <a:solidFill>
                  <a:srgbClr val="80006B"/>
                </a:solidFill>
                <a:latin typeface="Calibri" pitchFamily="34" charset="0"/>
                <a:ea typeface="Calibri" pitchFamily="34" charset="-122"/>
                <a:cs typeface="Calibri" pitchFamily="34" charset="-120"/>
              </a:rPr>
              <a:t>Compromisos del equipo investigador</a:t>
            </a:r>
            <a:endParaRPr lang="en-US" sz="2800" dirty="0"/>
          </a:p>
        </p:txBody>
      </p:sp>
      <p:sp>
        <p:nvSpPr>
          <p:cNvPr id="4" name="Shape 2"/>
          <p:cNvSpPr/>
          <p:nvPr/>
        </p:nvSpPr>
        <p:spPr>
          <a:xfrm>
            <a:off x="548640" y="1417320"/>
            <a:ext cx="548640" cy="548640"/>
          </a:xfrm>
          <a:prstGeom prst="ellipse">
            <a:avLst/>
          </a:prstGeom>
          <a:solidFill>
            <a:srgbClr val="80006B"/>
          </a:solidFill>
          <a:ln/>
        </p:spPr>
      </p:sp>
      <p:sp>
        <p:nvSpPr>
          <p:cNvPr id="5" name="Text 3"/>
          <p:cNvSpPr txBox="1"/>
          <p:nvPr/>
        </p:nvSpPr>
        <p:spPr>
          <a:xfrm>
            <a:off x="548640" y="1417320"/>
            <a:ext cx="548640" cy="548640"/>
          </a:xfrm>
          <a:prstGeom prst="rect">
            <a:avLst/>
          </a:prstGeom>
          <a:noFill/>
          <a:ln/>
        </p:spPr>
        <p:txBody>
          <a:bodyPr wrap="square" lIns="0" tIns="0" rIns="0" bIns="0" rtlCol="0" anchor="ctr"/>
          <a:lstStyle/>
          <a:p>
            <a:pPr algn="ctr" indent="0" marL="0">
              <a:lnSpc>
                <a:spcPct val="100000"/>
              </a:lnSpc>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6" name="Text 4"/>
          <p:cNvSpPr txBox="1"/>
          <p:nvPr/>
        </p:nvSpPr>
        <p:spPr>
          <a:xfrm>
            <a:off x="1325880" y="1325880"/>
            <a:ext cx="6035040" cy="731520"/>
          </a:xfrm>
          <a:prstGeom prst="rect">
            <a:avLst/>
          </a:prstGeom>
          <a:noFill/>
          <a:ln/>
        </p:spPr>
        <p:txBody>
          <a:bodyPr wrap="square" lIns="508" tIns="508" rIns="508" bIns="508" rtlCol="0" anchor="ctr"/>
          <a:lstStyle/>
          <a:p>
            <a:pPr algn="l" indent="0" marL="0">
              <a:lnSpc>
                <a:spcPct val="100000"/>
              </a:lnSpc>
              <a:buNone/>
            </a:pPr>
            <a:r>
              <a:rPr lang="en-US" sz="1700" dirty="0">
                <a:solidFill>
                  <a:srgbClr val="262626"/>
                </a:solidFill>
                <a:latin typeface="Calibri" pitchFamily="34" charset="0"/>
                <a:ea typeface="Calibri" pitchFamily="34" charset="-122"/>
                <a:cs typeface="Calibri" pitchFamily="34" charset="-120"/>
              </a:rPr>
              <a:t>No revisar historias clínicas antes del aval del Comité y de la autorización institucional.</a:t>
            </a:r>
            <a:endParaRPr lang="en-US" sz="1700" dirty="0"/>
          </a:p>
        </p:txBody>
      </p:sp>
      <p:sp>
        <p:nvSpPr>
          <p:cNvPr id="7" name="Shape 5"/>
          <p:cNvSpPr/>
          <p:nvPr/>
        </p:nvSpPr>
        <p:spPr>
          <a:xfrm>
            <a:off x="548640" y="2423160"/>
            <a:ext cx="548640" cy="548640"/>
          </a:xfrm>
          <a:prstGeom prst="ellipse">
            <a:avLst/>
          </a:prstGeom>
          <a:solidFill>
            <a:srgbClr val="80006B"/>
          </a:solidFill>
          <a:ln/>
        </p:spPr>
      </p:sp>
      <p:sp>
        <p:nvSpPr>
          <p:cNvPr id="8" name="Text 6"/>
          <p:cNvSpPr txBox="1"/>
          <p:nvPr/>
        </p:nvSpPr>
        <p:spPr>
          <a:xfrm>
            <a:off x="548640" y="2423160"/>
            <a:ext cx="548640" cy="548640"/>
          </a:xfrm>
          <a:prstGeom prst="rect">
            <a:avLst/>
          </a:prstGeom>
          <a:noFill/>
          <a:ln/>
        </p:spPr>
        <p:txBody>
          <a:bodyPr wrap="square" lIns="0" tIns="0" rIns="0" bIns="0" rtlCol="0" anchor="ctr"/>
          <a:lstStyle/>
          <a:p>
            <a:pPr algn="ctr" indent="0" marL="0">
              <a:lnSpc>
                <a:spcPct val="100000"/>
              </a:lnSpc>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9" name="Text 7"/>
          <p:cNvSpPr txBox="1"/>
          <p:nvPr/>
        </p:nvSpPr>
        <p:spPr>
          <a:xfrm>
            <a:off x="1325880" y="2331720"/>
            <a:ext cx="6035040" cy="731520"/>
          </a:xfrm>
          <a:prstGeom prst="rect">
            <a:avLst/>
          </a:prstGeom>
          <a:noFill/>
          <a:ln/>
        </p:spPr>
        <p:txBody>
          <a:bodyPr wrap="square" lIns="508" tIns="508" rIns="508" bIns="508" rtlCol="0" anchor="ctr"/>
          <a:lstStyle/>
          <a:p>
            <a:pPr algn="l" indent="0" marL="0">
              <a:lnSpc>
                <a:spcPct val="100000"/>
              </a:lnSpc>
              <a:buNone/>
            </a:pPr>
            <a:r>
              <a:rPr lang="en-US" sz="1700" dirty="0">
                <a:solidFill>
                  <a:srgbClr val="262626"/>
                </a:solidFill>
                <a:latin typeface="Calibri" pitchFamily="34" charset="0"/>
                <a:ea typeface="Calibri" pitchFamily="34" charset="-122"/>
                <a:cs typeface="Calibri" pitchFamily="34" charset="-120"/>
              </a:rPr>
              <a:t>Someter al Comité cualquier enmienda del protocolo antes de aplicarla.</a:t>
            </a:r>
            <a:endParaRPr lang="en-US" sz="1700" dirty="0"/>
          </a:p>
        </p:txBody>
      </p:sp>
      <p:sp>
        <p:nvSpPr>
          <p:cNvPr id="10" name="Shape 8"/>
          <p:cNvSpPr/>
          <p:nvPr/>
        </p:nvSpPr>
        <p:spPr>
          <a:xfrm>
            <a:off x="548640" y="3429000"/>
            <a:ext cx="548640" cy="548640"/>
          </a:xfrm>
          <a:prstGeom prst="ellipse">
            <a:avLst/>
          </a:prstGeom>
          <a:solidFill>
            <a:srgbClr val="80006B"/>
          </a:solidFill>
          <a:ln/>
        </p:spPr>
      </p:sp>
      <p:sp>
        <p:nvSpPr>
          <p:cNvPr id="11" name="Text 9"/>
          <p:cNvSpPr txBox="1"/>
          <p:nvPr/>
        </p:nvSpPr>
        <p:spPr>
          <a:xfrm>
            <a:off x="548640" y="3429000"/>
            <a:ext cx="548640" cy="548640"/>
          </a:xfrm>
          <a:prstGeom prst="rect">
            <a:avLst/>
          </a:prstGeom>
          <a:noFill/>
          <a:ln/>
        </p:spPr>
        <p:txBody>
          <a:bodyPr wrap="square" lIns="0" tIns="0" rIns="0" bIns="0" rtlCol="0" anchor="ctr"/>
          <a:lstStyle/>
          <a:p>
            <a:pPr algn="ctr" indent="0" marL="0">
              <a:lnSpc>
                <a:spcPct val="100000"/>
              </a:lnSpc>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2" name="Text 10"/>
          <p:cNvSpPr txBox="1"/>
          <p:nvPr/>
        </p:nvSpPr>
        <p:spPr>
          <a:xfrm>
            <a:off x="1325880" y="3337560"/>
            <a:ext cx="6035040" cy="731520"/>
          </a:xfrm>
          <a:prstGeom prst="rect">
            <a:avLst/>
          </a:prstGeom>
          <a:noFill/>
          <a:ln/>
        </p:spPr>
        <p:txBody>
          <a:bodyPr wrap="square" lIns="508" tIns="508" rIns="508" bIns="508" rtlCol="0" anchor="ctr"/>
          <a:lstStyle/>
          <a:p>
            <a:pPr algn="l" indent="0" marL="0">
              <a:lnSpc>
                <a:spcPct val="100000"/>
              </a:lnSpc>
              <a:buNone/>
            </a:pPr>
            <a:r>
              <a:rPr lang="en-US" sz="1700" dirty="0">
                <a:solidFill>
                  <a:srgbClr val="262626"/>
                </a:solidFill>
                <a:latin typeface="Calibri" pitchFamily="34" charset="0"/>
                <a:ea typeface="Calibri" pitchFamily="34" charset="-122"/>
                <a:cs typeface="Calibri" pitchFamily="34" charset="-120"/>
              </a:rPr>
              <a:t>Notificar al Comité cualquier incidente de seguridad de la información en las 24 horas siguientes.</a:t>
            </a:r>
            <a:endParaRPr lang="en-US" sz="1700" dirty="0"/>
          </a:p>
        </p:txBody>
      </p:sp>
      <p:sp>
        <p:nvSpPr>
          <p:cNvPr id="13" name="Shape 11"/>
          <p:cNvSpPr/>
          <p:nvPr/>
        </p:nvSpPr>
        <p:spPr>
          <a:xfrm>
            <a:off x="548640" y="4434840"/>
            <a:ext cx="548640" cy="548640"/>
          </a:xfrm>
          <a:prstGeom prst="ellipse">
            <a:avLst/>
          </a:prstGeom>
          <a:solidFill>
            <a:srgbClr val="80006B"/>
          </a:solidFill>
          <a:ln/>
        </p:spPr>
      </p:sp>
      <p:sp>
        <p:nvSpPr>
          <p:cNvPr id="14" name="Text 12"/>
          <p:cNvSpPr txBox="1"/>
          <p:nvPr/>
        </p:nvSpPr>
        <p:spPr>
          <a:xfrm>
            <a:off x="548640" y="4434840"/>
            <a:ext cx="548640" cy="548640"/>
          </a:xfrm>
          <a:prstGeom prst="rect">
            <a:avLst/>
          </a:prstGeom>
          <a:noFill/>
          <a:ln/>
        </p:spPr>
        <p:txBody>
          <a:bodyPr wrap="square" lIns="0" tIns="0" rIns="0" bIns="0" rtlCol="0" anchor="ctr"/>
          <a:lstStyle/>
          <a:p>
            <a:pPr algn="ctr" indent="0" marL="0">
              <a:lnSpc>
                <a:spcPct val="100000"/>
              </a:lnSpc>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5" name="Text 13"/>
          <p:cNvSpPr txBox="1"/>
          <p:nvPr/>
        </p:nvSpPr>
        <p:spPr>
          <a:xfrm>
            <a:off x="1325880" y="4343400"/>
            <a:ext cx="6035040" cy="731520"/>
          </a:xfrm>
          <a:prstGeom prst="rect">
            <a:avLst/>
          </a:prstGeom>
          <a:noFill/>
          <a:ln/>
        </p:spPr>
        <p:txBody>
          <a:bodyPr wrap="square" lIns="508" tIns="508" rIns="508" bIns="508" rtlCol="0" anchor="ctr"/>
          <a:lstStyle/>
          <a:p>
            <a:pPr algn="l" indent="0" marL="0">
              <a:lnSpc>
                <a:spcPct val="100000"/>
              </a:lnSpc>
              <a:buNone/>
            </a:pPr>
            <a:r>
              <a:rPr lang="en-US" sz="1700" dirty="0">
                <a:solidFill>
                  <a:srgbClr val="262626"/>
                </a:solidFill>
                <a:latin typeface="Calibri" pitchFamily="34" charset="0"/>
                <a:ea typeface="Calibri" pitchFamily="34" charset="-122"/>
                <a:cs typeface="Calibri" pitchFamily="34" charset="-120"/>
              </a:rPr>
              <a:t>Atender cualquier aclaración adicional y sustentar el protocolo cuando el Comité lo requiera.</a:t>
            </a:r>
            <a:endParaRPr lang="en-US" sz="1700" dirty="0"/>
          </a:p>
        </p:txBody>
      </p:sp>
      <p:sp>
        <p:nvSpPr>
          <p:cNvPr id="16" name="Shape 14"/>
          <p:cNvSpPr/>
          <p:nvPr/>
        </p:nvSpPr>
        <p:spPr>
          <a:xfrm>
            <a:off x="7635240" y="1325880"/>
            <a:ext cx="4005072" cy="4343400"/>
          </a:xfrm>
          <a:prstGeom prst="roundRect">
            <a:avLst>
              <a:gd name="adj" fmla="val 1826"/>
            </a:avLst>
          </a:prstGeom>
          <a:solidFill>
            <a:srgbClr val="FF5F3F"/>
          </a:solidFill>
          <a:ln/>
        </p:spPr>
      </p:sp>
      <p:sp>
        <p:nvSpPr>
          <p:cNvPr id="17" name="Text 15"/>
          <p:cNvSpPr txBox="1"/>
          <p:nvPr/>
        </p:nvSpPr>
        <p:spPr>
          <a:xfrm>
            <a:off x="7909560" y="1554480"/>
            <a:ext cx="3474720" cy="548640"/>
          </a:xfrm>
          <a:prstGeom prst="rect">
            <a:avLst/>
          </a:prstGeom>
          <a:noFill/>
          <a:ln/>
        </p:spPr>
        <p:txBody>
          <a:bodyPr wrap="square" lIns="508" tIns="508" rIns="508" bIns="508" rtlCol="0" anchor="t"/>
          <a:lstStyle/>
          <a:p>
            <a:pPr algn="l" indent="0" marL="0">
              <a:lnSpc>
                <a:spcPct val="100000"/>
              </a:lnSpc>
              <a:buNone/>
            </a:pPr>
            <a:r>
              <a:rPr lang="en-US" sz="2600" b="1" dirty="0">
                <a:solidFill>
                  <a:srgbClr val="FFFFFF"/>
                </a:solidFill>
                <a:latin typeface="Calibri" pitchFamily="34" charset="0"/>
                <a:ea typeface="Calibri" pitchFamily="34" charset="-122"/>
                <a:cs typeface="Calibri" pitchFamily="34" charset="-120"/>
              </a:rPr>
              <a:t>Solicitud</a:t>
            </a:r>
            <a:endParaRPr lang="en-US" sz="2600" dirty="0"/>
          </a:p>
        </p:txBody>
      </p:sp>
      <p:sp>
        <p:nvSpPr>
          <p:cNvPr id="18" name="Text 16"/>
          <p:cNvSpPr txBox="1"/>
          <p:nvPr/>
        </p:nvSpPr>
        <p:spPr>
          <a:xfrm>
            <a:off x="7909560" y="2240280"/>
            <a:ext cx="3474720" cy="2011680"/>
          </a:xfrm>
          <a:prstGeom prst="rect">
            <a:avLst/>
          </a:prstGeom>
          <a:noFill/>
          <a:ln/>
        </p:spPr>
        <p:txBody>
          <a:bodyPr wrap="square" lIns="508" tIns="508" rIns="508" bIns="508" rtlCol="0" anchor="t"/>
          <a:lstStyle/>
          <a:p>
            <a:pPr algn="l" indent="0" marL="0">
              <a:lnSpc>
                <a:spcPct val="100000"/>
              </a:lnSpc>
              <a:buNone/>
            </a:pPr>
            <a:r>
              <a:rPr lang="en-US" sz="1800" dirty="0">
                <a:solidFill>
                  <a:srgbClr val="FFFFFF"/>
                </a:solidFill>
                <a:latin typeface="Calibri" pitchFamily="34" charset="0"/>
                <a:ea typeface="Calibri" pitchFamily="34" charset="-122"/>
                <a:cs typeface="Calibri" pitchFamily="34" charset="-120"/>
              </a:rPr>
              <a:t>Respetuosamente solicitamos al Comité considerar la emisión del aval ético para la versión 2.0 del protocolo.</a:t>
            </a:r>
            <a:endParaRPr lang="en-US" sz="1800" dirty="0"/>
          </a:p>
        </p:txBody>
      </p:sp>
      <p:pic>
        <p:nvPicPr>
          <p:cNvPr id="19" name="Image 0" descr="/tmp/claude-0/-home-user-nes/a5bb95c2-4a06-56c4-9fc4-42b080fd2b5e/scratchpad/deck2/assets/corazon_naranja.png">    </p:cNvPr>
          <p:cNvPicPr>
            <a:picLocks noChangeAspect="1"/>
          </p:cNvPicPr>
          <p:nvPr/>
        </p:nvPicPr>
        <p:blipFill>
          <a:blip r:embed="rId1"/>
          <a:stretch>
            <a:fillRect/>
          </a:stretch>
        </p:blipFill>
        <p:spPr>
          <a:xfrm>
            <a:off x="7909560" y="4434840"/>
            <a:ext cx="2011680" cy="1005840"/>
          </a:xfrm>
          <a:prstGeom prst="rect">
            <a:avLst/>
          </a:prstGeom>
        </p:spPr>
      </p:pic>
      <p:sp>
        <p:nvSpPr>
          <p:cNvPr id="25" name="Slide Number Placeholder 0"/>
          <p:cNvSpPr>
            <a:spLocks noGrp="1"/>
          </p:cNvSpPr>
          <p:nvPr>
            <p:ph type="sldNum" sz="quarter" idx="4294967295"/>
          </p:nvPr>
        </p:nvSpPr>
        <p:spPr>
          <a:xfrm>
            <a:off x="11201400" y="635508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2103120"/>
            <a:ext cx="6400800" cy="1280160"/>
          </a:xfrm>
          <a:prstGeom prst="rect">
            <a:avLst/>
          </a:prstGeom>
          <a:noFill/>
          <a:ln/>
        </p:spPr>
        <p:txBody>
          <a:bodyPr wrap="square" lIns="508" tIns="508" rIns="508" bIns="508" rtlCol="0" anchor="t"/>
          <a:lstStyle/>
          <a:p>
            <a:pPr algn="l" indent="0" marL="0">
              <a:lnSpc>
                <a:spcPct val="100000"/>
              </a:lnSpc>
              <a:buNone/>
            </a:pPr>
            <a:r>
              <a:rPr lang="en-US" sz="6600" b="1" dirty="0">
                <a:solidFill>
                  <a:srgbClr val="FFFFFF"/>
                </a:solidFill>
                <a:latin typeface="Calibri" pitchFamily="34" charset="0"/>
                <a:ea typeface="Calibri" pitchFamily="34" charset="-122"/>
                <a:cs typeface="Calibri" pitchFamily="34" charset="-120"/>
              </a:rPr>
              <a:t>Gracias</a:t>
            </a:r>
            <a:endParaRPr lang="en-US" sz="6600" dirty="0"/>
          </a:p>
        </p:txBody>
      </p:sp>
      <p:sp>
        <p:nvSpPr>
          <p:cNvPr id="3" name="Text 1"/>
          <p:cNvSpPr txBox="1"/>
          <p:nvPr/>
        </p:nvSpPr>
        <p:spPr>
          <a:xfrm>
            <a:off x="548640" y="3429000"/>
            <a:ext cx="6217920" cy="731520"/>
          </a:xfrm>
          <a:prstGeom prst="rect">
            <a:avLst/>
          </a:prstGeom>
          <a:noFill/>
          <a:ln/>
        </p:spPr>
        <p:txBody>
          <a:bodyPr wrap="square" lIns="508" tIns="508" rIns="508" bIns="508" rtlCol="0" anchor="t"/>
          <a:lstStyle/>
          <a:p>
            <a:pPr algn="l" indent="0" marL="0">
              <a:lnSpc>
                <a:spcPct val="100000"/>
              </a:lnSpc>
              <a:buNone/>
            </a:pPr>
            <a:r>
              <a:rPr lang="en-US" sz="2000" dirty="0">
                <a:solidFill>
                  <a:srgbClr val="FFFFFF"/>
                </a:solidFill>
                <a:latin typeface="Calibri" pitchFamily="34" charset="0"/>
                <a:ea typeface="Calibri" pitchFamily="34" charset="-122"/>
                <a:cs typeface="Calibri" pitchFamily="34" charset="-120"/>
              </a:rPr>
              <a:t>Quedamos atentos a las preguntas y observaciones del Comité.</a:t>
            </a:r>
            <a:endParaRPr lang="en-US" sz="2000" dirty="0"/>
          </a:p>
        </p:txBody>
      </p:sp>
    </p:spTree>
  </p:cSld>
  <p:clrMapOvr>
    <a:masterClrMapping/>
  </p:clrMapOvr>
</p:sld>
</file>

<file path=ppt/theme/theme1.xml><?xml version="1.0" encoding="utf-8"?>
<a:theme xmlns:a="http://schemas.openxmlformats.org/drawingml/2006/main" name="Zentria Comite">
  <a:themeElements>
    <a:clrScheme name="Zentria Comite">
      <a:dk1>
        <a:srgbClr val="262626"/>
      </a:dk1>
      <a:lt1>
        <a:srgbClr val="FFFFFF"/>
      </a:lt1>
      <a:dk2>
        <a:srgbClr val="80006B"/>
      </a:dk2>
      <a:lt2>
        <a:srgbClr val="F7EDF5"/>
      </a:lt2>
      <a:accent1>
        <a:srgbClr val="80006B"/>
      </a:accent1>
      <a:accent2>
        <a:srgbClr val="FF5F3F"/>
      </a:accent2>
      <a:accent3>
        <a:srgbClr val="A65C99"/>
      </a:accent3>
      <a:accent4>
        <a:srgbClr val="00957E"/>
      </a:accent4>
      <a:accent5>
        <a:srgbClr val="FFB5A6"/>
      </a:accent5>
      <a:accent6>
        <a:srgbClr val="6B6B6B"/>
      </a:accent6>
      <a:hlink>
        <a:srgbClr val="80006B"/>
      </a:hlink>
      <a:folHlink>
        <a:srgbClr val="A65C99"/>
      </a:folHlink>
    </a:clrScheme>
    <a:fontScheme name="Zentria Comit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Respuesta al Comité de Bioética en Investigación</dc:title>
  <dc:subject>PptxGenJS Presentation</dc:subject>
  <dc:creator>Daily Daniela Torres Villazon; Nestor Fabian Sanabria Duarte</dc:creator>
  <cp:lastModifiedBy>Daily Daniela Torres Villazon; Nestor Fabian Sanabria Duarte</cp:lastModifiedBy>
  <cp:revision>1</cp:revision>
  <dcterms:created xsi:type="dcterms:W3CDTF">2026-10-23T13:14:37Z</dcterms:created>
  <dcterms:modified xsi:type="dcterms:W3CDTF">2026-10-23T13:14:37Z</dcterms:modified>
</cp:coreProperties>
</file>
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Fisiopatología de bacterias grampositivas con dos modelos: S. aureus (dorado, racimos) y S. pyogenes (rojo, cadenas). Las imágenes son ilustraciones originales, no micrografías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Objetivo, anatomía y fisiología en los primeros 10 minutos; fisiopatología en 20; cierre con conclusiones.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Objetivo. Tres preguntas guían la charla: cómo entra, cómo evade al sistema inmune y cómo lesiona. Usamos S. aureus y S. pyogenes como modelos de mayor impacto clínico.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Clasificación. Por forma: cocos o bacilos. Entre cocos, la disposición orienta: racimos (Staphylococcus, catalasa positivo), cadenas (Streptococcus, catalasa negativo), pares y cadenas cortas (Enterococcus). Entre bacilos, la espora separa Clostridium y Bacillus de Listeria y Corynebacterium. Nos centraremos en los dos cocos de mayor relevancia.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Pared. Define al grampositivo: peptidoglucano grueso (20-80 nm, multicapa) que retiene el cristal violeta, y ausencia de membrana externa. Lo atraviesan ácidos teicoicos (de pared) y lipoteicoicos (de membrana). En superficie, proteína A (S. aureus) o proteína M (S. pyogenes). Sin membrana externa no hay lipopolisacárido; el reconocimiento inmune será por otros componentes.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Estructura y función. Puente a la fisiopatología: el peptidoglucano da forma y es diana de betalactámicos; los ácidos teicoicos dan carga, adhesión y defensa ante péptidos antimicrobianos; las proteínas de superficie median adhesión y evasión; la cápsula dificulta la fagocitosis.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Crecimiento. Fisión binaria: tabique de peptidoglucano sintetizado por las proteínas de unión a penicilina (PBP). En S. aureus el plano cambia en planos perpendiculares, de ahi los racimos; en Streptococcus un solo plano forma cadenas. La síntesis del tabique es lo que bloquean los betalactámicos.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Colonización. S. aureus coloniza fosas nasales de cerca de un tercio de la poblacion; S. pyogenes, faringe y piel. Es un equilibrio con epitelio y microbiota. La enfermedad aparece al romperse ese equilibrio: herida, catéter, infección viral previa o cirugía.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Regulación. Puente entre fisiología y fisiopatología. S. aureus mide su densidad con el sistema agr y su péptido autoinductor (AIP). Con baja densidad predominan adhesinas (colonizar); al subir la densidad, agr activa toxinas y proteasas y baja adhesinas (invadir). agr también regula la biopelícula.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Secuencia. Colonización, ruptura de barrera, invasión, inflamación y lesión. Tres tipos de daño: directo por toxinas, inflamatorio mediado por el huésped (neutrófilos, citocinas) e inmunológico posinfeccioso (fiebre reumática).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Reconocimiento inmune. Sin lipopolisacárido, el grampositivo se reconoce por otros patrones. Las lipoproteínas son el principal ligando de TLR2 (con TLR1 o TLR6) en membrana, vía MyD88. Los fragmentos de peptidoglucano (muramil dipéptido) los detecta NOD2 en el citosol vía RIPK2. Ambas convergen en NF-kB: TNF-alfa, IL-1beta, IL-6, IL-8. Precisión: no enseñar al peptidoglucano intacto como ligando principal de TLR2.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Neutrófilos. Defensa central: fagocitosis, ROS y NET (redes de ADN con histonas y proteínas antimicrobianas). S. aureus es potente inductor de NET pero las degrada con su nucleasa, y la biopelícula las bloquea. El daño colateral de los neutrófilos contribuye a la necrosis y al 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 aureus. Gran capacidad de adaptación: coloniza, invade, forma abscesos, persiste en dispositivos y adquiere resistencia. Produce infecciones de piel y tejidos blandos, bacteriemia, endocarditis, osteomielitis, artritis, neumonía y choque tóxico. Veremos adhesión, evasión, absceso, toxinas, biopelícula y resistencia.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Adhesión. Las adhesinas MSCRAMM unen matriz del huésped: factor de aglutinación A al fibrinógeno, proteínas de unión a fibronectina a la fibronectina, adhesina de colágeno al colágeno. Explican el tropismo por endocardio dañado, hueso y dispositivos. La unión a fibronectina ademas facilita la internalización en células no fagocíticas.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Evasión. La proteína A une la Fc de la IgG en orientación invertida, impidiendo opsonización y fagocitosis; ademas actua como superantigeno de linfocitos B y altera la respuesta de anticuerpos (dificulta las vacunas). La cápsula oculta. SCIN y CHIPS inhiben la convertasa de C3 y el receptor de C5a. La estafiloxantina, pigmento dorado, es antioxidante frente a ROS de los neutrófilos.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Absceso. Estructura organizada, no solo pus. Centro con comunidad bacteriana; la coagulasa y la unión al factor de von Willebrand activan protrombina y forman pseudocápsula de fibrina. Alrededor, neutrófilos muchos muertos por leucocidinas (pus) y una capa de neutrófilos viables. Por eso el drenaje es parte del tratamiento: los antibióticos penetran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Toxinas. La alfa-toxina se une a ADAM10 y forma poros que lisan epitelio y endotelio. Las leucocidinas (Panton-Valentine) destruyen neutrófilos y se asocian a neumonía necrosante. Los superantígenos (TSST-1, enterotoxinas) activan masivamente linfocitos T y causan choque tóxico. Tambien hay modulinas solubles en fenol con efecto citolítico.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Biopelícula. Las bacterias se adhieren a una superficie (prótesis, catéter, hueso necrótico), se acumulan y producen matriz de polisacárido (PIA), ADN extracelular y proteínas; maduran y se dispersan (regulado por agr), sembrando nuevos focos. La matriz protege de neutrófilos y anticuerpos, y las de crecimiento lento toleran los antibióticos. Precisión: tolerancia no es resistencia; la CIM puede no cambiar. Las infecciones de dispositivos suelen requerir retirarlos.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MRSA. S. aureus adquiere el casete SCCmec con el gen mecA, que codifica PBP2a, una proteína de unión a penicilina de baja afinidad por casi todos los betalactámicos: mantiene la síntesis de pared cuando el antibiótico inactiva las PBP nativas. La resistencia de alto nivel requiere otros genes. Mensaje: la resistencia no aumenta la virulencia; cambia el tratamiento.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 pyogenes. Estreptococo del grupo A, beta-hemolítico. Espectro: superficial (faringitis, impétigo, escarlatina), invasivo (celulitis, fascitis necrosante, choque tóxico) y secuelas no supurativas (fiebre reumática, glomerulonefritis). Armas: proteína M, enzimas que destruyen tejido y superantígenos.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Proteína M. Proteína fibrilar en espiral que sobresale de la superficie. Recluta proteínas del huésped: fibrinógeno, reguladores del complemento (C4BP, factor H) e inmunoglobulinas. Resultado: menos depósito de C3b, menos opsonización y menos fagocitosis. Su región hipervariable define mas de 200 tipos emm; los anticuerpos son específicos de tipo, lo que dificulta las vacunas. Las cepas emm1 invasivas unen fibrinógeno con alta afinidad.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Enzimas. SpeB es una cistein-proteasa que degrada matriz, inmunoglobulinas y citocinas. Las estreptolisinas O y S forman poros que lisan leucocitos y eritrocitos (la O es la base de la antiestreptolisina O). Las DNasas (Sda1) degradan las NET. La estreptocinasa activa plasminógeno a plasmina y disuelve fibrina, facilitando la diseminación. A diferencia del absceso de S. aureus, S. pyogenes tiende a diseminarse.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Fascitis necrosante. La bacteria y sus enzimas avanzan por el plano de la fascia, poco vascularizado, mientras la piel inicialmente se ve poco afectada: el dolor es desproporcionado. La trombosis de vasos perforantes produce necrosis y bloquea la llegada del antibiótico. Tratamiento: desbridamiento quirúrgico repetido mas antibióticos; la clindamicina suprime la síntesis de toxinas; inmunoglobulina y oxígeno hiperbárico como coadyuvantes.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Superantígenos. Toxinas como TSST-1 (S. aureus) y SpeA o SpeC (S. pyogenes) unen el MHC de clase II fuera del surco y la región variable beta del receptor T, sin procesamiento antigénico. Activan de forma policlonal hasta un 20% de los linfocitos T, frente a menos del 0,01% con un antígeno convencional. La liberacion masiva de IL-2, IFN-gamma y TNF produce fiebre, hipotensión, fuga capilar y falla multiorgánica: choque tóxico. Aquí el daño lo produce el sistema inmune.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Fiebre reumática. Dos a tres semanas tras una faringitis por S. pyogenes, en personas susceptibles, anticuerpos y linfocitos T contra proteína M y carbohidrato del grupo A reaccionan de forma cruzada con proteínas propias semejantes: miosina cardíaca, laminina y proteínas valvulares. Resultado: carditis, artritis, corea y, a largo plazo, cardiopatía reumática. El mimetismo molecular es la hipótesis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Comparación. S. aureus localiza y persiste: absceso, proteína A, alfa-toxina y leucocidinas, resistencia por mecA, persistencia en biopelícula. S. pyogenes disemina: necrosis que avanza, proteína M, SpeB y estreptolisinas, sigue sensible a penicilina (resistencia variable a macrólidos y clindamicina) y deja secuelas inmunológicas. Ambos producen superantígenos y choque tóxico: los mecanismos no son exclusivos.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Conclusiones. 1) La pared da forma, es diana de betalactámicos y es reconocida por la inmunidad innata. 2) La colonización es frecuente; la virulencia se activa según el entorno (quorum sensing). 3) S. aureus persiste: absceso, biopelícula y MRSA. 4) S. pyogenes invade y disemina con proteína M y enzimas. 5) Buena parte del daño (choque tóxico, fiebre reumática) lo causa la respuesta del huésped. Mensaje final: la gravedad no depende solo de la bacteria, sino de su capacidad de invadir, evadir, producir toxinas y desencadenar inflamación.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jpeg"/><Relationship Id="rId3" Type="http://schemas.openxmlformats.org/officeDocument/2006/relationships/image" Target="../media/image-30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Grampositivos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colonización al choque séptico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Staphylococcus aureus y Streptococcus pyogenes como modelos de enfermedad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Néstor Fabián Sanabria Duarte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 de III año - Especialización en medicina interna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la exposición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1284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39696" y="137160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139696" y="221284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22192" y="137160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22192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822192" y="221284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Fisiología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04688" y="137160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04688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5504688" y="221284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87184" y="137160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87184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187184" y="221284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- bases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91840" y="352044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91840" y="3520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- fisiopatología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debemos comprender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OBJETIVO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 grampositivo pasa de colonizar a enfermar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Howden BP, Giulieri SG, Wong Fok Lung T, Baines SL, Sharkey LK, Lee JYH, et al. Staphylococcus aureus host interactions and adaptation. Nat Rev Microbiol. 2023;21(6):380-95.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24328" cy="2834640"/>
          </a:xfrm>
          <a:prstGeom prst="roundRect">
            <a:avLst>
              <a:gd name="adj" fmla="val 3484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1600200"/>
            <a:ext cx="914400" cy="9144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1819656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69748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29184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Adhesión e invasión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64408" y="1417320"/>
            <a:ext cx="2624328" cy="2834640"/>
          </a:xfrm>
          <a:prstGeom prst="roundRect">
            <a:avLst>
              <a:gd name="adj" fmla="val 3484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23944" y="1600200"/>
            <a:ext cx="914400" cy="9144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1965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64408" y="269748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evade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3264408" y="329184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inmunitario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071616" y="1417320"/>
            <a:ext cx="2624328" cy="2834640"/>
          </a:xfrm>
          <a:prstGeom prst="roundRect">
            <a:avLst>
              <a:gd name="adj" fmla="val 3484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31152" y="1600200"/>
            <a:ext cx="914400" cy="9144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181965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71616" y="269748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lesiona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6071616" y="329184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Toxinas e inflamación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clasificación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ANATOMÍA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morfológica de los grampositivos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Cheung GYC, Bae JS, Otto M. Pathogenicity and virulence of Staphylococcus aureus. Virulence. 2021;12(1):547-69.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73552" y="123444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Grampositivos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 flipH="1">
            <a:off x="2194560" y="1783080"/>
            <a:ext cx="1645920" cy="365760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03520" y="1783080"/>
            <a:ext cx="1645920" cy="365760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19456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182880" cy="18288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788920"/>
            <a:ext cx="182880" cy="18288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788920"/>
            <a:ext cx="182880" cy="18288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953512"/>
            <a:ext cx="182880" cy="18288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953512"/>
            <a:ext cx="182880" cy="18288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2953512"/>
            <a:ext cx="182880" cy="18288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1732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Racimos </a:t>
            </a:r>
            <a:pPr indent="0" marL="0">
              <a:buNone/>
            </a:pPr>
            <a:r>
              <a:rPr lang="en-US" sz="200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Staphylococcus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85800" y="3520440"/>
            <a:ext cx="137160" cy="137160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520440"/>
            <a:ext cx="137160" cy="137160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3520440"/>
            <a:ext cx="137160" cy="137160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520440"/>
            <a:ext cx="137160" cy="137160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3520440"/>
            <a:ext cx="137160" cy="137160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1732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</a:t>
            </a:r>
            <a:pPr indent="0" marL="0">
              <a:buNone/>
            </a:pPr>
            <a:r>
              <a:rPr lang="en-US" sz="200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Streptococcus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840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Enterococcus: pares y cadenas cortas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663440" y="219456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632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Bacilos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27432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Esporulados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Clostridium - Bacillus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474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esporulados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Listeria - Corynebacterium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ANATOMÍA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pared: gruesa, sin membrana externa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Wu X, Han J, Gong G, Koffas MAG, Zha J. Wall teichoic acids: physiology and applications. FEMS Microbiol Rev. 2021;45(4):fuaa064.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Torrens G, Cava F. Mechanisms conferring bacterial cell wall variability and adaptivity. Biochem Soc Trans. 2024;52(5):1981-93.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206240" cy="274320"/>
          </a:xfrm>
          <a:prstGeom prst="rect">
            <a:avLst/>
          </a:prstGeom>
          <a:solidFill>
            <a:srgbClr val="A78BFA">
              <a:alpha val="85000"/>
            </a:srgbClr>
          </a:solidFill>
          <a:ln w="6350">
            <a:solidFill>
              <a:srgbClr val="5B3F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57984"/>
            <a:ext cx="4206240" cy="274320"/>
          </a:xfrm>
          <a:prstGeom prst="rect">
            <a:avLst/>
          </a:prstGeom>
          <a:solidFill>
            <a:srgbClr val="A78BFA">
              <a:alpha val="79000"/>
            </a:srgbClr>
          </a:solidFill>
          <a:ln w="6350">
            <a:solidFill>
              <a:srgbClr val="5B3F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87168"/>
            <a:ext cx="4206240" cy="274320"/>
          </a:xfrm>
          <a:prstGeom prst="rect">
            <a:avLst/>
          </a:prstGeom>
          <a:solidFill>
            <a:srgbClr val="A78BFA">
              <a:alpha val="73000"/>
            </a:srgbClr>
          </a:solidFill>
          <a:ln w="6350">
            <a:solidFill>
              <a:srgbClr val="5B3F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16352"/>
            <a:ext cx="4206240" cy="274320"/>
          </a:xfrm>
          <a:prstGeom prst="rect">
            <a:avLst/>
          </a:prstGeom>
          <a:solidFill>
            <a:srgbClr val="A78BFA">
              <a:alpha val="67000"/>
            </a:srgbClr>
          </a:solidFill>
          <a:ln w="6350">
            <a:solidFill>
              <a:srgbClr val="5B3F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145536"/>
            <a:ext cx="4206240" cy="274320"/>
          </a:xfrm>
          <a:prstGeom prst="rect">
            <a:avLst/>
          </a:prstGeom>
          <a:solidFill>
            <a:srgbClr val="A78BFA">
              <a:alpha val="61000"/>
            </a:srgbClr>
          </a:solidFill>
          <a:ln w="6350">
            <a:solidFill>
              <a:srgbClr val="5B3F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520440"/>
            <a:ext cx="4206240" cy="128016"/>
          </a:xfrm>
          <a:prstGeom prst="rect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12464"/>
            <a:ext cx="4206240" cy="128016"/>
          </a:xfrm>
          <a:prstGeom prst="rect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1463040"/>
            <a:ext cx="0" cy="178308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1463040"/>
            <a:ext cx="0" cy="178308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1463040"/>
            <a:ext cx="0" cy="178308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1463040"/>
            <a:ext cx="0" cy="178308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1463040"/>
            <a:ext cx="0" cy="178308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1463040"/>
            <a:ext cx="0" cy="178308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1463040"/>
            <a:ext cx="0" cy="2240280"/>
          </a:xfrm>
          <a:prstGeom prst="line">
            <a:avLst/>
          </a:prstGeom>
          <a:noFill/>
          <a:ln w="38100">
            <a:solidFill>
              <a:srgbClr val="F2546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468880" y="1463040"/>
            <a:ext cx="0" cy="2240280"/>
          </a:xfrm>
          <a:prstGeom prst="line">
            <a:avLst/>
          </a:prstGeom>
          <a:noFill/>
          <a:ln w="38100">
            <a:solidFill>
              <a:srgbClr val="F2546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840480" y="1463040"/>
            <a:ext cx="0" cy="2240280"/>
          </a:xfrm>
          <a:prstGeom prst="line">
            <a:avLst/>
          </a:prstGeom>
          <a:noFill/>
          <a:ln w="38100">
            <a:solidFill>
              <a:srgbClr val="F2546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1234440"/>
            <a:ext cx="347472" cy="347472"/>
          </a:xfrm>
          <a:prstGeom prst="ellipse">
            <a:avLst/>
          </a:prstGeom>
          <a:solidFill>
            <a:srgbClr val="E5E7F5"/>
          </a:solidFill>
          <a:ln w="12700">
            <a:solidFill>
              <a:srgbClr val="E5E7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1234440"/>
            <a:ext cx="347472" cy="347472"/>
          </a:xfrm>
          <a:prstGeom prst="ellipse">
            <a:avLst/>
          </a:prstGeom>
          <a:solidFill>
            <a:srgbClr val="E5E7F5"/>
          </a:solidFill>
          <a:ln w="12700">
            <a:solidFill>
              <a:srgbClr val="E5E7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7480" y="1234440"/>
            <a:ext cx="347472" cy="347472"/>
          </a:xfrm>
          <a:prstGeom prst="ellipse">
            <a:avLst/>
          </a:prstGeom>
          <a:solidFill>
            <a:srgbClr val="E5E7F5"/>
          </a:solidFill>
          <a:ln w="12700">
            <a:solidFill>
              <a:srgbClr val="E5E7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1234440"/>
            <a:ext cx="347472" cy="347472"/>
          </a:xfrm>
          <a:prstGeom prst="ellipse">
            <a:avLst/>
          </a:prstGeom>
          <a:solidFill>
            <a:srgbClr val="E5E7F5"/>
          </a:solidFill>
          <a:ln w="12700">
            <a:solidFill>
              <a:srgbClr val="E5E7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1371600"/>
            <a:ext cx="219456" cy="219456"/>
          </a:xfrm>
          <a:prstGeom prst="ellipse">
            <a:avLst/>
          </a:prstGeom>
          <a:solidFill>
            <a:srgbClr val="E5E7F5"/>
          </a:solidFill>
          <a:ln w="12700">
            <a:solidFill>
              <a:srgbClr val="E5E7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49240" y="12618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de superficie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983480" y="2404872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49240" y="229514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Peptidoglucano: 20-80 nm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983480" y="1856232"/>
            <a:ext cx="219456" cy="21945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49240" y="174650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Ácidos teicoicos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983480" y="3090672"/>
            <a:ext cx="219456" cy="219456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49240" y="298094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Ácidos lipoteicoicos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983480" y="3685032"/>
            <a:ext cx="219456" cy="219456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49240" y="357530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Membrana citoplasmática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ANATOMÍA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tiene una consecuencia clínica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Wu X, Han J, Gong G, Koffas MAG, Zha J. Wall teichoic acids: physiology and applications. FEMS Microbiol Rev. 2021;45(4):fuaa064.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Cheung GYC, Bae JS, Otto M. Pathogenicity and virulence of Staphylococcus aureus. Virulence. 2021;12(1):547-69.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325880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Peptidoglucano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46120" y="1645920"/>
            <a:ext cx="36576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703320" y="13258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y resistencia - diana de betalactámicos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" y="2103120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Ácidos teicoicos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46120" y="2423160"/>
            <a:ext cx="36576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703320" y="2103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Adhesión y defensa ante péptidos antimicrobianos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" y="2880360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de superficie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46120" y="3200400"/>
            <a:ext cx="36576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703320" y="28803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Adherir y evadir (proteína A, proteína M)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" y="3657600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46120" y="3977640"/>
            <a:ext cx="36576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703320" y="36576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 la fagocitosis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Fisiología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Crecer, colonizar y decidir cuándo atacar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FISIOLOGÍA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de división define la forma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Torrens G, Cava F. Mechanisms conferring bacterial cell wall variability and adaptivity. Biochem Soc Trans. 2024;52(5):1981-93.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sucesivos y perpendiculares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560320"/>
            <a:ext cx="27432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691640" y="2331720"/>
            <a:ext cx="411480" cy="41148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2331720"/>
            <a:ext cx="411480" cy="41148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560320"/>
            <a:ext cx="27432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26080" y="2148840"/>
            <a:ext cx="365760" cy="36576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2148840"/>
            <a:ext cx="365760" cy="36576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514600"/>
            <a:ext cx="365760" cy="36576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2514600"/>
            <a:ext cx="365760" cy="36576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2331720"/>
            <a:ext cx="365760" cy="36576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2834640"/>
            <a:ext cx="365760" cy="36576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429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Racimos (Staphylococcus)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plano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983480" y="2331720"/>
            <a:ext cx="457200" cy="457200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2560320"/>
            <a:ext cx="27432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43600" y="2377440"/>
            <a:ext cx="384048" cy="384048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377440"/>
            <a:ext cx="384048" cy="384048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2377440"/>
            <a:ext cx="384048" cy="384048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2377440"/>
            <a:ext cx="384048" cy="384048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2377440"/>
            <a:ext cx="384048" cy="384048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1000" y="2377440"/>
            <a:ext cx="384048" cy="384048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429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Cadenas (Streptococcus)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FISIOLOGÍA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Colonizar no es enfermar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Howden BP, Giulieri SG, Wong Fok Lung T, Baines SL, Sharkey LK, Lee JYH, et al. Staphylococcus aureus host interactions and adaptation. Nat Rev Microbiol. 2023;21(6):380-95.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965960"/>
          </a:xfrm>
          <a:prstGeom prst="roundRect">
            <a:avLst>
              <a:gd name="adj" fmla="val 4651"/>
            </a:avLst>
          </a:prstGeom>
          <a:solidFill>
            <a:srgbClr val="151B33"/>
          </a:solidFill>
          <a:ln w="6350">
            <a:solidFill>
              <a:srgbClr val="151B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1691640" cy="1691640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42316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242316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Fosas nasales y piel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2560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del 30% de personas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4023360" cy="1965960"/>
          </a:xfrm>
          <a:prstGeom prst="roundRect">
            <a:avLst>
              <a:gd name="adj" fmla="val 4651"/>
            </a:avLst>
          </a:prstGeom>
          <a:solidFill>
            <a:srgbClr val="151B33"/>
          </a:solidFill>
          <a:ln w="6350">
            <a:solidFill>
              <a:srgbClr val="151B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463040"/>
            <a:ext cx="1691640" cy="1691640"/>
          </a:xfrm>
          <a:prstGeom prst="ellipse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2940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pyogenes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Faringe y piel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2560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Portadores asintomáticos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30352" y="3474720"/>
            <a:ext cx="8083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enfermedad aparece cuando se rompe la barrera: herida, catéter, virosis, cirugía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FISIOLOGÍA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sensing: la bacteria decide cuándo atacar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Vinodhini V, Kavitha M. Deciphering agr quorum sensing in Staphylococcus aureus: insights and therapeutic prospects. Mol Biol Rep. 2024;51(1):155.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 bacterias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347472" cy="347472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2011680"/>
            <a:ext cx="347472" cy="347472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2011680"/>
            <a:ext cx="347472" cy="347472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011680"/>
            <a:ext cx="347472" cy="347472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5603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 adhesinas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coloniza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34840" y="2514600"/>
            <a:ext cx="45720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0" y="132588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bacterias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257800" y="1920240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96712" y="1920240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35624" y="1920240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74536" y="1920240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13448" y="1920240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920240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91272" y="1920240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800" y="2249424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96712" y="2249424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35624" y="2249424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4536" y="2249424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3448" y="2249424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2249424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91272" y="2249424"/>
            <a:ext cx="310896" cy="310896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12080" y="2606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toxinas y proteasas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invade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0352" y="3840480"/>
            <a:ext cx="8083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agr de S. aureus: señal = péptido autoinductor (AIP)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una bacteria desencadena una enfermedad grave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colonización a la lesión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Howden BP, Giulieri SG, Wong Fok Lung T, Baines SL, Sharkey LK, Lee JYH, et al. Staphylococcus aureus host interactions and adaptation. Nat Rev Microbiol. 2023;21(6):380-95.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04672" y="1554480"/>
            <a:ext cx="868680" cy="8686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" y="1762963"/>
            <a:ext cx="451714" cy="45171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37360" y="1984248"/>
            <a:ext cx="32004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457200" y="2560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Colonización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487168" y="1554480"/>
            <a:ext cx="868680" cy="86868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651" y="1762963"/>
            <a:ext cx="451714" cy="45171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19856" y="1984248"/>
            <a:ext cx="32004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2139696" y="2560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de barrera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169664" y="1554480"/>
            <a:ext cx="868680" cy="86868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147" y="1762963"/>
            <a:ext cx="451714" cy="45171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102352" y="1984248"/>
            <a:ext cx="32004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3822192" y="2560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852160" y="1554480"/>
            <a:ext cx="868680" cy="86868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643" y="1762963"/>
            <a:ext cx="451714" cy="45171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784848" y="1984248"/>
            <a:ext cx="32004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1" name="Text 15"/>
          <p:cNvSpPr txBox="1"/>
          <p:nvPr/>
        </p:nvSpPr>
        <p:spPr>
          <a:xfrm>
            <a:off x="5504688" y="2560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Inflamación</a:t>
            </a:r>
            <a:endParaRPr lang="en-US" sz="2000" dirty="0"/>
          </a:p>
        </p:txBody>
      </p:sp>
      <p:sp>
        <p:nvSpPr>
          <p:cNvPr id="22" name="Shape 16"/>
          <p:cNvSpPr/>
          <p:nvPr/>
        </p:nvSpPr>
        <p:spPr>
          <a:xfrm>
            <a:off x="7534656" y="1554480"/>
            <a:ext cx="868680" cy="86868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3139" y="1762963"/>
            <a:ext cx="451714" cy="45171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87184" y="2560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Lesión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457200" y="35204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30352" y="3520440"/>
            <a:ext cx="8083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daño viene de la bacteria y de la respuesta del huésped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 el huésped al grampositivo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Mohammad M, Ali A, Nguyen MT, Gotz F, Pullerits R, Jin T. Staphylococcus aureus lipoproteins in infectious diseases. Front Microbiol. 2022;13:1006765.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Howden BP, Giulieri SG, Wong Fok Lung T, Baines SL, Sharkey LK, Lee JYH, et al. Staphylococcus aureus host interactions and adaptation. Nat Rev Microbiol. 2023;21(6):380-95.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37160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Lipoproteínas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265176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Peptidoglucano (MDP)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80360" y="1737360"/>
            <a:ext cx="41148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3017520"/>
            <a:ext cx="41148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13716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TLR2 - membrana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37560" y="265176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0712" y="265176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NOD2 - citosol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03520" y="1737360"/>
            <a:ext cx="502920" cy="502920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5303520" y="2514600"/>
            <a:ext cx="502920" cy="502920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52160" y="201168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25312" y="201168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NF-kB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269480" y="2377440"/>
            <a:ext cx="32004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635240" y="1600200"/>
            <a:ext cx="1097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TNF-alfa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IL-1beta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IL-6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IL-8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" y="3657600"/>
            <a:ext cx="8083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fiebre, vasodilatación y reclutamiento de neutrófilos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Neutrófilos: defensa y daño tisular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Speziale P, Pietrocola G. Staphylococcus aureus induces neutrophil extracellular traps (NETs) and neutralizes their bactericidal potential. Comput Struct Biotechnol J. 2021;19:3451-7.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5" y="15014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325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Fagocitosis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5" y="24615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Especies reactivas de oxígeno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324612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5" y="342168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246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extracelulares (NET)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4663440" y="132588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84632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S. aureus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19659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Nucleasa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 las NET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Leucocidinas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matan neutrófilos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Biopelícula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neutraliza las NET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 - S. AUREUS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aureus: un patógeno que persiste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Howden BP, Giulieri SG, Wong Fok Lung T, Baines SL, Sharkey LK, Lee JYH, et al. Staphylococcus aureus host interactions and adaptation. Nat Rev Microbiol. 2023;21(6):380-95.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Cheung GYC, Bae JS, Otto M. Pathogenicity and virulence of Staphylococcus aureus. Virulence. 2021;12(1):547-69.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017520" cy="301752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49040" y="1325880"/>
            <a:ext cx="4937760" cy="512064"/>
          </a:xfrm>
          <a:prstGeom prst="roundRect">
            <a:avLst>
              <a:gd name="adj" fmla="val 17857"/>
            </a:avLst>
          </a:prstGeom>
          <a:solidFill>
            <a:srgbClr val="151B33"/>
          </a:solidFill>
          <a:ln w="6350">
            <a:solidFill>
              <a:srgbClr val="151B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86200" y="1472184"/>
            <a:ext cx="219456" cy="219456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51960" y="13258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 y tejidos blandos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749040" y="1929384"/>
            <a:ext cx="4937760" cy="512064"/>
          </a:xfrm>
          <a:prstGeom prst="roundRect">
            <a:avLst>
              <a:gd name="adj" fmla="val 17857"/>
            </a:avLst>
          </a:prstGeom>
          <a:solidFill>
            <a:srgbClr val="151B33"/>
          </a:solidFill>
          <a:ln w="6350">
            <a:solidFill>
              <a:srgbClr val="151B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86200" y="2075688"/>
            <a:ext cx="219456" cy="219456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51960" y="19293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Bacteriemia y endocarditis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749040" y="2532888"/>
            <a:ext cx="4937760" cy="512064"/>
          </a:xfrm>
          <a:prstGeom prst="roundRect">
            <a:avLst>
              <a:gd name="adj" fmla="val 17857"/>
            </a:avLst>
          </a:prstGeom>
          <a:solidFill>
            <a:srgbClr val="151B33"/>
          </a:solidFill>
          <a:ln w="6350">
            <a:solidFill>
              <a:srgbClr val="151B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86200" y="2679192"/>
            <a:ext cx="219456" cy="219456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51960" y="253288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Osteomielitis y artritis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749040" y="3136392"/>
            <a:ext cx="4937760" cy="512064"/>
          </a:xfrm>
          <a:prstGeom prst="roundRect">
            <a:avLst>
              <a:gd name="adj" fmla="val 17857"/>
            </a:avLst>
          </a:prstGeom>
          <a:solidFill>
            <a:srgbClr val="151B33"/>
          </a:solidFill>
          <a:ln w="6350">
            <a:solidFill>
              <a:srgbClr val="151B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86200" y="3282696"/>
            <a:ext cx="219456" cy="219456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51960" y="313639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Neumonía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3749040" y="3739896"/>
            <a:ext cx="4937760" cy="512064"/>
          </a:xfrm>
          <a:prstGeom prst="roundRect">
            <a:avLst>
              <a:gd name="adj" fmla="val 17857"/>
            </a:avLst>
          </a:prstGeom>
          <a:solidFill>
            <a:srgbClr val="151B33"/>
          </a:solidFill>
          <a:ln w="6350">
            <a:solidFill>
              <a:srgbClr val="151B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86200" y="3886200"/>
            <a:ext cx="219456" cy="219456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51960" y="373989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Síndrome de choque tóxico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 - S. AUREUS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Adhesinas: anclarse a la matriz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Cheung GYC, Bae JS, Otto M. Pathogenicity and virulence of Staphylococcus aureus. Virulence. 2021;12(1):547-69.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325880"/>
            <a:ext cx="3511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aglutinación 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60520" y="1664208"/>
            <a:ext cx="45720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132588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36592" y="13258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Fibrinógeno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2194560"/>
            <a:ext cx="3511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de unión a fibronectina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160520" y="2532888"/>
            <a:ext cx="45720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63440" y="219456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21945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Fibronectina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3063240"/>
            <a:ext cx="3511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Adhesina de colágeno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60520" y="3401568"/>
            <a:ext cx="45720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63440" y="306324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36592" y="306324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Colágeno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58000" y="1325880"/>
            <a:ext cx="1828800" cy="2423160"/>
          </a:xfrm>
          <a:prstGeom prst="roundRect">
            <a:avLst>
              <a:gd name="adj" fmla="val 5000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1417320"/>
            <a:ext cx="1645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Endocardio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Catéteres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Prótesis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3886200"/>
            <a:ext cx="8083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MSCRAMM: proteínas que reconocen la matriz del huésped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 - S. AUREUS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Escapar del sistema inmune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Bear A, Locke T, Rowland-Jones S, Pecetta S, Bagnoli F, Darton TC. The immune evasion roles of Staphylococcus aureus protein A and impact on vaccine development. Front Cell Infect Microbiol. 2023;13:1242702.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Cheung GYC, Bae JS, Otto M. Pathogenicity and virulence of Staphylococcus aureus. Virulence. 2021;12(1):547-69.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822960" cy="82296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" y="1797710"/>
            <a:ext cx="427939" cy="4279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A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IgG al revés: no opsoniza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1600200"/>
            <a:ext cx="822960" cy="82296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830" y="179771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585216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a los fagocitos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57200" y="28803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154680"/>
            <a:ext cx="822960" cy="82296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335219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Inhibidores del complemento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Bloquean C3 y C5a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4663440" y="28803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46320" y="3154680"/>
            <a:ext cx="822960" cy="82296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830" y="3352190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85216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Estafiloxantina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585216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Pigmento dorado antioxidante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 - S. AUREUS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S. aureus forma abscesos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Enriquez KT, Skaar EP. The anatomy and molecular inventory of Staphylococcus aureus abscesses. Trends Microbiol. 2026;34(6):665-76.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Cheung GYC, Bae JS, Otto M. Pathogenicity and virulence of Staphylococcus aureus. Virulence. 2021;12(1):547-69.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6384" y="1463040"/>
            <a:ext cx="3182112" cy="2651760"/>
          </a:xfrm>
          <a:prstGeom prst="ellipse">
            <a:avLst/>
          </a:prstGeom>
          <a:solidFill>
            <a:srgbClr val="A07A60">
              <a:alpha val="70000"/>
            </a:srgbClr>
          </a:solidFill>
          <a:ln w="12700">
            <a:solidFill>
              <a:srgbClr val="A07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37360"/>
            <a:ext cx="2523744" cy="2103120"/>
          </a:xfrm>
          <a:prstGeom prst="ellipse">
            <a:avLst/>
          </a:prstGeom>
          <a:solidFill>
            <a:srgbClr val="F2546B">
              <a:alpha val="85000"/>
            </a:srgbClr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2034540"/>
            <a:ext cx="1810512" cy="1508760"/>
          </a:xfrm>
          <a:prstGeom prst="ellipse">
            <a:avLst/>
          </a:prstGeom>
          <a:solidFill>
            <a:srgbClr val="E5E7F5">
              <a:alpha val="35000"/>
            </a:srgbClr>
          </a:solidFill>
          <a:ln w="12700">
            <a:solidFill>
              <a:srgbClr val="E5E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1368" y="2308860"/>
            <a:ext cx="1152144" cy="960120"/>
          </a:xfrm>
          <a:prstGeom prst="ellipse">
            <a:avLst/>
          </a:prstGeom>
          <a:solidFill>
            <a:srgbClr val="C9A227">
              <a:alpha val="85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5688" y="2537460"/>
            <a:ext cx="603504" cy="502920"/>
          </a:xfrm>
          <a:prstGeom prst="ellipse">
            <a:avLst/>
          </a:prstGeom>
          <a:solidFill>
            <a:srgbClr val="F2B43C">
              <a:alpha val="85000"/>
            </a:srgbClr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508760"/>
            <a:ext cx="256032" cy="256032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37160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bacteriana central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34840" y="2112264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9751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Pseudocápsula de fibrina (coagulasa)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434840" y="2715768"/>
            <a:ext cx="256032" cy="256032"/>
          </a:xfrm>
          <a:prstGeom prst="ellipse">
            <a:avLst/>
          </a:prstGeom>
          <a:solidFill>
            <a:srgbClr val="E5E7F5"/>
          </a:solidFill>
          <a:ln w="12700">
            <a:solidFill>
              <a:srgbClr val="E5E7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257860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Neutrófilos muertos: pus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434840" y="3319272"/>
            <a:ext cx="256032" cy="256032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1821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neutrófilos viables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434840" y="3922776"/>
            <a:ext cx="256032" cy="256032"/>
          </a:xfrm>
          <a:prstGeom prst="ellipse">
            <a:avLst/>
          </a:prstGeom>
          <a:solidFill>
            <a:srgbClr val="A07A60"/>
          </a:solidFill>
          <a:ln w="12700">
            <a:solidFill>
              <a:srgbClr val="A07A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37856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 sano alrededor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 - S. AUREUS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Toxinas: del daño celular al choque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Cheung GYC, Bae JS, Otto M. Pathogenicity and virulence of Staphylococcus aureus. Virulence. 2021;12(1):547-69.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Tuffs SW, Dufresne K, Rishi A, Walton NR, McCormick JK. Novel insights into the immune response to bacterial T cell superantigens. Nat Rev Immunol. 2024;24(6):417-34.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24328" cy="2971800"/>
          </a:xfrm>
          <a:prstGeom prst="roundRect">
            <a:avLst>
              <a:gd name="adj" fmla="val 3484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alfa-toxina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3172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poros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64792" y="3108960"/>
            <a:ext cx="914" cy="274320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94360" y="342900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Lisis de epitelio y endotelio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64408" y="1325880"/>
            <a:ext cx="2624328" cy="2971800"/>
          </a:xfrm>
          <a:prstGeom prst="roundRect">
            <a:avLst>
              <a:gd name="adj" fmla="val 3484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14173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Leucocidinas (PVL)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233172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Destruyen leucocitos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0" y="3108960"/>
            <a:ext cx="914" cy="274320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401568" y="342900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Neumonía necrosante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71616" y="1325880"/>
            <a:ext cx="2624328" cy="2971800"/>
          </a:xfrm>
          <a:prstGeom prst="roundRect">
            <a:avLst>
              <a:gd name="adj" fmla="val 3484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8776" y="14173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Superantígenos (TSST-1)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233172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Activan linfocitos T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79208" y="3108960"/>
            <a:ext cx="914" cy="274320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208776" y="342900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Síndrome de choque tóxico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 - S. AUREUS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Biopelícula: la infección que persiste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Peng Q, Tang X, Dong W, Sun N, Yuan W. A review of biofilm formation of Staphylococcus aureus and its regulation mechanism. Antibiotics (Basel). 2022;12(1):12.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920240" cy="109728"/>
          </a:xfrm>
          <a:prstGeom prst="rect">
            <a:avLst/>
          </a:prstGeom>
          <a:solidFill>
            <a:srgbClr val="B4BCE0"/>
          </a:solidFill>
          <a:ln w="12700">
            <a:solidFill>
              <a:srgbClr val="B4BC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32304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Adhesión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377440" y="2286000"/>
            <a:ext cx="182880" cy="914"/>
          </a:xfrm>
          <a:prstGeom prst="line">
            <a:avLst/>
          </a:prstGeom>
          <a:noFill/>
          <a:ln w="254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2743200"/>
            <a:ext cx="1920240" cy="109728"/>
          </a:xfrm>
          <a:prstGeom prst="rect">
            <a:avLst/>
          </a:prstGeom>
          <a:solidFill>
            <a:srgbClr val="B4BCE0"/>
          </a:solidFill>
          <a:ln w="12700">
            <a:solidFill>
              <a:srgbClr val="B4B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2148840"/>
            <a:ext cx="1645920" cy="594360"/>
          </a:xfrm>
          <a:prstGeom prst="roundRect">
            <a:avLst>
              <a:gd name="adj" fmla="val 23077"/>
            </a:avLst>
          </a:prstGeom>
          <a:solidFill>
            <a:srgbClr val="2EC4B6">
              <a:alpha val="25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2432304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432304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432304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2432304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Acumulación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480560" y="2286000"/>
            <a:ext cx="182880" cy="914"/>
          </a:xfrm>
          <a:prstGeom prst="line">
            <a:avLst/>
          </a:prstGeom>
          <a:noFill/>
          <a:ln w="254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63440" y="2743200"/>
            <a:ext cx="1920240" cy="109728"/>
          </a:xfrm>
          <a:prstGeom prst="rect">
            <a:avLst/>
          </a:prstGeom>
          <a:solidFill>
            <a:srgbClr val="B4BCE0"/>
          </a:solidFill>
          <a:ln w="12700">
            <a:solidFill>
              <a:srgbClr val="B4B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600200"/>
            <a:ext cx="1645920" cy="1143000"/>
          </a:xfrm>
          <a:prstGeom prst="roundRect">
            <a:avLst>
              <a:gd name="adj" fmla="val 12000"/>
            </a:avLst>
          </a:prstGeom>
          <a:solidFill>
            <a:srgbClr val="2EC4B6">
              <a:alpha val="25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432304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2432304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2432304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2432304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432304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2139696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2139696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139696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2139696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Maduración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0" y="2286000"/>
            <a:ext cx="182880" cy="914"/>
          </a:xfrm>
          <a:prstGeom prst="line">
            <a:avLst/>
          </a:prstGeom>
          <a:noFill/>
          <a:ln w="254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766560" y="2743200"/>
            <a:ext cx="1920240" cy="109728"/>
          </a:xfrm>
          <a:prstGeom prst="rect">
            <a:avLst/>
          </a:prstGeom>
          <a:solidFill>
            <a:srgbClr val="B4BCE0"/>
          </a:solidFill>
          <a:ln w="12700">
            <a:solidFill>
              <a:srgbClr val="B4B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2432304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2432304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1463040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1737360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1463040"/>
            <a:ext cx="274320" cy="27432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6656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57200" y="36118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30352" y="3611880"/>
            <a:ext cx="3877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que protege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4663440" y="36118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36592" y="3611880"/>
            <a:ext cx="3877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 antibióticos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 - S. AUREUS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MRSA: el antibiótico pierde su blanco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Lade H, Kim JS. Molecular determinants of beta-lactam resistance in methicillin-resistant Staphylococcus aureus (MRSA): an updated review. Antibiotics (Basel). 2023;12(9):1362.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4630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SCCmec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Casete genético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304288" y="1920240"/>
            <a:ext cx="237744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4630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07408" y="1920240"/>
            <a:ext cx="237744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63440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14630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PBP2a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10528" y="1920240"/>
            <a:ext cx="237744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66560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39712" y="14630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 intacta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 al betalactámico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1546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PBP2a tiene baja afinidad por los betalactámicos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no significa mayor virulencia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 - S. PYOGENES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pyogenes: de la faringe a tejidos profundos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Bergsten H, Nizet V. The intricate pathogenicity of Group A Streptococcus: a comprehensive update. Virulence. 2024;15(1):2412745.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017520" cy="301752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49040" y="132588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1325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Faringitis - impétigo - escarlatina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749040" y="2350008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931920" y="235000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Invasiva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Celulitis - fascitis necrosante - choque tóxico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749040" y="3374136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31920" y="3374136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Secuelas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reumática - glomerulonefritis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 - S. PYOGENES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M: un escudo contra la fagocitosis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Wrighton S, Nordenfelt P. Revisiting the streptococcal M protein: modern perspectives on antibody function, host interactions, and therapeutic targeting. Front Immunol. 2026;17:1771053.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Fan S, Tsai CJY, Loh JMS, Proft T. Group A streptococcal virulence factors and vaccine development-an update. Microorganisms. 2026;14(2):357.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3840480" cy="365760"/>
          </a:xfrm>
          <a:prstGeom prst="rect">
            <a:avLst/>
          </a:prstGeom>
          <a:solidFill>
            <a:srgbClr val="F2546B">
              <a:alpha val="80000"/>
            </a:srgbClr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37360"/>
            <a:ext cx="0" cy="2103120"/>
          </a:xfrm>
          <a:prstGeom prst="line">
            <a:avLst/>
          </a:prstGeom>
          <a:noFill/>
          <a:ln w="76200">
            <a:solidFill>
              <a:srgbClr val="F25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737360"/>
            <a:ext cx="0" cy="2103120"/>
          </a:xfrm>
          <a:prstGeom prst="line">
            <a:avLst/>
          </a:prstGeom>
          <a:noFill/>
          <a:ln w="76200">
            <a:solidFill>
              <a:srgbClr val="FF9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25880"/>
            <a:ext cx="548640" cy="4114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737360"/>
            <a:ext cx="0" cy="2103120"/>
          </a:xfrm>
          <a:prstGeom prst="line">
            <a:avLst/>
          </a:prstGeom>
          <a:noFill/>
          <a:ln w="76200">
            <a:solidFill>
              <a:srgbClr val="F254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12848" y="1737360"/>
            <a:ext cx="0" cy="2103120"/>
          </a:xfrm>
          <a:prstGeom prst="line">
            <a:avLst/>
          </a:prstGeom>
          <a:noFill/>
          <a:ln w="76200">
            <a:solidFill>
              <a:srgbClr val="FF9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1325880"/>
            <a:ext cx="548640" cy="41148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737360"/>
            <a:ext cx="0" cy="2103120"/>
          </a:xfrm>
          <a:prstGeom prst="line">
            <a:avLst/>
          </a:prstGeom>
          <a:noFill/>
          <a:ln w="76200">
            <a:solidFill>
              <a:srgbClr val="F254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737360"/>
            <a:ext cx="0" cy="2103120"/>
          </a:xfrm>
          <a:prstGeom prst="line">
            <a:avLst/>
          </a:prstGeom>
          <a:noFill/>
          <a:ln w="76200">
            <a:solidFill>
              <a:srgbClr val="FF9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1325880"/>
            <a:ext cx="54864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bacteriana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1490472"/>
            <a:ext cx="274320" cy="2743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13716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Fibrinógeno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0" y="2176272"/>
            <a:ext cx="274320" cy="27432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20574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C4BP y factor H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0" y="2862072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27432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Inmunoglobulinas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0" y="35204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45152" y="3520440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C3b -&gt; menos fagocitosis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 - S. PYOGENES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Enzimas que destruyen y diseminan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Bergsten H, Nizet V. The intricate pathogenicity of Group A Streptococcus: a comprehensive update. Virulence. 2024;15(1):2412745.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Fan S, Tsai CJY, Loh JMS, Proft T. Group A streptococcal virulence factors and vaccine development-an update. Microorganisms. 2026;14(2):357.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SpeB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Proteasa: degrada tejido y defensas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356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Estreptolisinas O y 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Poros: lisan células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44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DNasas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20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Degradan las NET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944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Estreptocinasa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520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Plasmina: disuelve fibrina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 - S. PYOGENES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Fascitis necrosante: por qué progresa rápido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Allaw F, Wehbe S, Kanj SS. Necrotizing fasciitis: an update on epidemiology, diagnostic methods, and treatment. Curr Opin Infect Dis. 2024;37(2):105-11.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Bergsten H, Nizet V. The intricate pathogenicity of Group A Streptococcus: a comprehensive update. Virulence. 2024;15(1):2412745.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640080"/>
          </a:xfrm>
          <a:prstGeom prst="rect">
            <a:avLst/>
          </a:prstGeom>
          <a:solidFill>
            <a:srgbClr val="E8C4B0">
              <a:alpha val="70000"/>
            </a:srgbClr>
          </a:solidFill>
          <a:ln w="12700">
            <a:solidFill>
              <a:srgbClr val="E8C4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3840480" cy="640080"/>
          </a:xfrm>
          <a:prstGeom prst="rect">
            <a:avLst/>
          </a:prstGeom>
          <a:solidFill>
            <a:srgbClr val="D9A441">
              <a:alpha val="70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391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 subcutáneo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752344"/>
            <a:ext cx="3840480" cy="640080"/>
          </a:xfrm>
          <a:prstGeom prst="rect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5234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465576"/>
            <a:ext cx="3840480" cy="640080"/>
          </a:xfrm>
          <a:prstGeom prst="rect">
            <a:avLst/>
          </a:prstGeom>
          <a:solidFill>
            <a:srgbClr val="8B2E3C">
              <a:alpha val="70000"/>
            </a:srgbClr>
          </a:solidFill>
          <a:ln w="12700">
            <a:solidFill>
              <a:srgbClr val="8B2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6557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Músculo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3200400" cy="914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91440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por la fascia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13258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132588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desproporcionado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 que se ve en la piel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0" y="29718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45152" y="2971800"/>
            <a:ext cx="3968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urgente + antibióticos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Superantígenos: la respuesta inmune fuera de control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Tuffs SW, Dufresne K, Rishi A, Walton NR, McCormick JK. Novel insights into the immune response to bacterial T cell superantigens. Nat Rev Immunol. 2024;24(6):417-34.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3840480" cy="822960"/>
          </a:xfrm>
          <a:prstGeom prst="roundRect">
            <a:avLst>
              <a:gd name="adj" fmla="val 22222"/>
            </a:avLst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4290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presentadora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3840480" cy="822960"/>
          </a:xfrm>
          <a:prstGeom prst="roundRect">
            <a:avLst>
              <a:gd name="adj" fmla="val 22222"/>
            </a:avLst>
          </a:prstGeom>
          <a:solidFill>
            <a:srgbClr val="F2B43C">
              <a:alpha val="30000"/>
            </a:srgbClr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325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Linfocito 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2788920"/>
            <a:ext cx="1042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II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214884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2148840"/>
            <a:ext cx="1042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828800" y="2240280"/>
            <a:ext cx="1188720" cy="10972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28800" y="22402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23774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fuera del surco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1325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20%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1984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linfocitos T activados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377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0,01%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035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antígeno convencional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0" y="347472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45152" y="3474720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Tormenta de citocinas -&gt; choque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 - S. PYOGENES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infección desencadena autoinmunidad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Zhuang S, Guo D, Yu D. A mini review of the pathogenesis of acute rheumatic fever and rheumatic heart disease. Front Cell Infect Microbiol. 2025;15:1447149.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60120" y="1371600"/>
            <a:ext cx="914400" cy="9144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1591056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65960" y="1828800"/>
            <a:ext cx="54864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45720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Faringitis por S. pyogenes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063240" y="1371600"/>
            <a:ext cx="914400" cy="914400"/>
          </a:xfrm>
          <a:prstGeom prst="ellipse">
            <a:avLst/>
          </a:prstGeom>
          <a:solidFill>
            <a:srgbClr val="B4BCE0"/>
          </a:solidFill>
          <a:ln w="12700">
            <a:solidFill>
              <a:srgbClr val="B4BC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1591056"/>
            <a:ext cx="475488" cy="4754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69080" y="1828800"/>
            <a:ext cx="54864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256032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semanas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166360" y="1371600"/>
            <a:ext cx="914400" cy="9144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816" y="1591056"/>
            <a:ext cx="475488" cy="47548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72200" y="1828800"/>
            <a:ext cx="548640" cy="914"/>
          </a:xfrm>
          <a:prstGeom prst="line">
            <a:avLst/>
          </a:prstGeom>
          <a:noFill/>
          <a:ln w="3810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466344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Mimetismo molecular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7269480" y="1371600"/>
            <a:ext cx="914400" cy="9144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1591056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6656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Carditis y daño valvular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M y carbohidrato del grupo A </a:t>
            </a:r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parecen a miosina cardíaca y proteínas valvulares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FISIOPATOLOGÍA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bacterias, dos estrategias de daño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Cheung GYC, Bae JS, Otto M. Pathogenicity and virulence of Staphylococcus aureus. Virulence. 2021;12(1):547-69.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188720"/>
            <a:ext cx="502920" cy="502920"/>
          </a:xfrm>
          <a:prstGeom prst="ellipse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02920" cy="502920"/>
          </a:xfrm>
          <a:prstGeom prst="ellipse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52044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pyogenes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457200" y="178308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E2647"/>
          </a:solidFill>
          <a:ln w="6350">
            <a:solidFill>
              <a:srgbClr val="1E264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94360" y="1783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Lesión típica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2971800" y="17830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Absceso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17830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Necrosis que disemina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57200" y="2313432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51B33"/>
          </a:solidFill>
          <a:ln w="6350">
            <a:solidFill>
              <a:srgbClr val="151B3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4360" y="23134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Escudo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2971800" y="23134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A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0" y="231343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M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57200" y="2843784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E2647"/>
          </a:solidFill>
          <a:ln w="6350">
            <a:solidFill>
              <a:srgbClr val="1E264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94360" y="284378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Toxina clave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2971800" y="284378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alfa-toxina - PVL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0" y="28437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SpeB - estreptolisinas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457200" y="3374136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51B33"/>
          </a:solidFill>
          <a:ln w="6350">
            <a:solidFill>
              <a:srgbClr val="151B3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94360" y="337413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2971800" y="33741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MRSA (mecA)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0" y="337413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 penicilina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457200" y="3904488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E2647"/>
          </a:solidFill>
          <a:ln w="6350">
            <a:solidFill>
              <a:srgbClr val="1E2647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94360" y="39044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Secuela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2971800" y="390448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6400800" y="390448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reumática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5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CONCLUSIONES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ideas para recordar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Howden BP, Giulieri SG, Wong Fok Lung T, Baines SL, Sharkey LK, Lee JYH, et al. Staphylococcus aureus host interactions and adaptation. Nat Rev Microbiol. 2023;21(6):380-95.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2801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pared es estructura, diana y señal de alarma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475488" cy="47548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9019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Colonizar no es enfermar: la virulencia se regula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75488" cy="475488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persiste: absceso, biopelícula, MRSA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475488" cy="475488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4553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pyogenes invade: proteína M y necrosis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803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7673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 el daño lo causa el propio huésped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Néstor Fabián Sanabria Duarte - Medicina interna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(Vancouver)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Wu X, Han J, Gong G, Koffas MAG, Zha J. Wall teichoic acids: physiology and applications. FEMS Microbiol Rev. 2021;45(4):fuaa064.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Torrens G, Cava F. Mechanisms conferring bacterial cell wall variability and adaptivity. Biochem Soc Trans. 2024;52(5):1981-93.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Vinodhini V, Kavitha M. Deciphering agr quorum sensing in Staphylococcus aureus: insights and therapeutic prospects. Mol Biol Rep. 2024;51(1):155.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Mohammad M, Ali A, Nguyen MT, Gotz F, Pullerits R, Jin T. Staphylococcus aureus lipoproteins in infectious diseases. Front Microbiol. 2022;13:1006765.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Speziale P, Pietrocola G. Staphylococcus aureus induces neutrophil extracellular traps (NETs) and neutralizes their bactericidal potential. Comput Struct Biotechnol J. 2021;19:3451-7.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Howden BP, Giulieri SG, Wong Fok Lung T, Baines SL, Sharkey LK, Lee JYH, et al. Staphylococcus aureus host interactions and adaptation. Nat Rev Microbiol. 2023;21(6):380-95.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Cheung GYC, Bae JS, Otto M. Pathogenicity and virulence of Staphylococcus aureus. Virulence. 2021;12(1):547-69.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Bear A, Locke T, Rowland-Jones S, Pecetta S, Bagnoli F, Darton TC. The immune evasion roles of Staphylococcus aureus protein A and impact on vaccine development. Front Cell Infect Microbiol. 2023;13:1242702.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Enriquez KT, Skaar EP. The anatomy and molecular inventory of Staphylococcus aureus abscesses. Trends Microbiol. 2026;34(6):665-76.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617720" y="1143000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Peng Q, Tang X, Dong W, Sun N, Yuan W. A review of biofilm formation of Staphylococcus aureus and its regulation mechanism. Antibiotics (Basel). 2022;12(1):12.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Lade H, Kim JS. Molecular determinants of beta-lactam resistance in methicillin-resistant Staphylococcus aureus (MRSA): an updated review. Antibiotics (Basel). 2023;12(9):1362.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Bergsten H, Nizet V. The intricate pathogenicity of Group A Streptococcus: a comprehensive update. Virulence. 2024;15(1):2412745.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Wrighton S, Nordenfelt P. Revisiting the streptococcal M protein: modern perspectives on antibody function, host interactions, and therapeutic targeting. Front Immunol. 2026;17:1771053.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Fan S, Tsai CJY, Loh JMS, Proft T. Group A streptococcal virulence factors and vaccine development-an update. Microorganisms. 2026;14(2):357.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Tuffs SW, Dufresne K, Rishi A, Walton NR, McCormick JK. Novel insights into the immune response to bacterial T cell superantigens. Nat Rev Immunol. 2024;24(6):417-34.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Allaw F, Wehbe S, Kanj SS. Necrotizing fasciitis: an update on epidemiology, diagnostic methods, and treatment. Curr Opin Infect Dis. 2024;37(2):105-11.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Zhuang S, Guo D, Yu D. A mini review of the pathogenesis of acute rheumatic fever and rheumatic heart disease. Front Cell Infect Microbiol. 2025;15:1447149.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Fisiopatología de las bacterias grampositivas</dc:title>
  <dc:subject>PptxGenJS Presentation</dc:subject>
  <dc:creator>Néstor Fabián Sanabria Duarte</dc:creator>
  <cp:lastModifiedBy>Néstor Fabián Sanabria Duarte</cp:lastModifiedBy>
  <cp:revision>1</cp:revision>
  <dcterms:created xsi:type="dcterms:W3CDTF">2026-10-11T14:50:57Z</dcterms:created>
  <dcterms:modified xsi:type="dcterms:W3CDTF">2026-10-11T14:50:57Z</dcterms:modified>
</cp:coreProperties>
</file>
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  <p:sldMasterId id="2147483749" r:id="rId5"/>
  </p:sldMasterIdLst>
  <p:notesMasterIdLst>
    <p:notesMasterId r:id="rId21"/>
  </p:notesMasterIdLst>
  <p:sldIdLst>
    <p:sldId id="271" r:id="rId6"/>
    <p:sldId id="272" r:id="rId7"/>
    <p:sldId id="309" r:id="rId8"/>
    <p:sldId id="326" r:id="rId44"/>
    <p:sldId id="325" r:id="rId43"/>
    <p:sldId id="324" r:id="rId42"/>
    <p:sldId id="323" r:id="rId41"/>
    <p:sldId id="322" r:id="rId40"/>
    <p:sldId id="321" r:id="rId39"/>
    <p:sldId id="320" r:id="rId38"/>
    <p:sldId id="319" r:id="rId37"/>
    <p:sldId id="318" r:id="rId36"/>
    <p:sldId id="317" r:id="rId35"/>
    <p:sldId id="316" r:id="rId34"/>
    <p:sldId id="315" r:id="rId33"/>
    <p:sldId id="314" r:id="rId32"/>
    <p:sldId id="313" r:id="rId31"/>
    <p:sldId id="312" r:id="rId30"/>
    <p:sldId id="311" r:id="rId29"/>
    <p:sldId id="310" r:id="rId28"/>
    <p:sldId id="282" r:id="rId20"/>
  </p:sldIdLst>
  <p:sldSz cx="17532350" cy="9864725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7">
          <p15:clr>
            <a:srgbClr val="A4A3A4"/>
          </p15:clr>
        </p15:guide>
        <p15:guide id="2" pos="55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olás Londoño Torres" initials="NL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206E"/>
    <a:srgbClr val="80006B"/>
    <a:srgbClr val="C0AABA"/>
    <a:srgbClr val="A65C99"/>
    <a:srgbClr val="AF21AF"/>
    <a:srgbClr val="9210C0"/>
    <a:srgbClr val="FFFFFF"/>
    <a:srgbClr val="D9D9D9"/>
    <a:srgbClr val="00436D"/>
    <a:srgbClr val="004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" y="29"/>
      </p:cViewPr>
      <p:guideLst>
        <p:guide orient="horz" pos="3107"/>
        <p:guide pos="55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22" Type="http://schemas.openxmlformats.org/officeDocument/2006/relationships/tags" Target="tags/tag1.xml"/><Relationship Id="rId27" Type="http://schemas.openxmlformats.org/officeDocument/2006/relationships/tableStyles" Target="tableStyles.xml"/>  <Relationship Id="rId28" Type="http://schemas.openxmlformats.org/officeDocument/2006/relationships/slide" Target="slides/slide16.xml"/>
  <Relationship Id="rId29" Type="http://schemas.openxmlformats.org/officeDocument/2006/relationships/slide" Target="slides/slide17.xml"/>
  <Relationship Id="rId30" Type="http://schemas.openxmlformats.org/officeDocument/2006/relationships/slide" Target="slides/slide18.xml"/>
  <Relationship Id="rId31" Type="http://schemas.openxmlformats.org/officeDocument/2006/relationships/slide" Target="slides/slide19.xml"/>
  <Relationship Id="rId32" Type="http://schemas.openxmlformats.org/officeDocument/2006/relationships/slide" Target="slides/slide20.xml"/>
  <Relationship Id="rId33" Type="http://schemas.openxmlformats.org/officeDocument/2006/relationships/slide" Target="slides/slide21.xml"/>
  <Relationship Id="rId34" Type="http://schemas.openxmlformats.org/officeDocument/2006/relationships/slide" Target="slides/slide22.xml"/>
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833FB-3724-4D3E-AF68-9319E5BFE1B5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s-CO"/>
        </a:p>
      </dgm:t>
    </dgm:pt>
    <dgm:pt modelId="{50244EEA-43F4-4C52-8E3D-5724ADEC3E9E}">
      <dgm:prSet/>
      <dgm:spPr/>
      <dgm:t>
        <a:bodyPr/>
        <a:lstStyle/>
        <a:p>
          <a:r>
            <a:rPr lang="es-CO" dirty="0">
              <a:solidFill>
                <a:schemeClr val="tx1"/>
              </a:solidFill>
            </a:rPr>
            <a:t>Para la elaboración de esta presentación se utilizó </a:t>
          </a:r>
          <a:r>
            <a:rPr lang="es-CO" b="1" dirty="0" err="1">
              <a:solidFill>
                <a:schemeClr val="tx1"/>
              </a:solidFill>
            </a:rPr>
            <a:t>Claude</a:t>
          </a:r>
          <a:r>
            <a:rPr lang="es-CO" b="1" dirty="0">
              <a:solidFill>
                <a:schemeClr val="tx1"/>
              </a:solidFill>
            </a:rPr>
            <a:t> (</a:t>
          </a:r>
          <a:r>
            <a:rPr lang="es-CO" b="1" dirty="0" err="1">
              <a:solidFill>
                <a:schemeClr val="tx1"/>
              </a:solidFill>
            </a:rPr>
            <a:t>Anthropic</a:t>
          </a:r>
          <a:r>
            <a:rPr lang="es-CO" b="1" dirty="0">
              <a:solidFill>
                <a:schemeClr val="tx1"/>
              </a:solidFill>
            </a:rPr>
            <a:t>)</a:t>
          </a:r>
          <a:r>
            <a:rPr lang="es-CO" dirty="0">
              <a:solidFill>
                <a:schemeClr val="tx1"/>
              </a:solidFill>
            </a:rPr>
            <a:t> nivel 3 como herramienta de apoyo para la </a:t>
          </a:r>
          <a:r>
            <a:rPr lang="es-CO" b="1" dirty="0">
              <a:solidFill>
                <a:schemeClr val="tx1"/>
              </a:solidFill>
            </a:rPr>
            <a:t>síntesis del contenido de la ficha técnica F-INV-004 y el diseño de esquemas y </a:t>
          </a:r>
          <a:r>
            <a:rPr lang="es-CO" b="1">
              <a:solidFill>
                <a:schemeClr val="tx1"/>
              </a:solidFill>
            </a:rPr>
            <a:t>recursos gráficos.</a:t>
          </a:r>
          <a:endParaRPr lang="es-CO" dirty="0">
            <a:solidFill>
              <a:schemeClr val="tx1"/>
            </a:solidFill>
          </a:endParaRPr>
        </a:p>
      </dgm:t>
    </dgm:pt>
    <dgm:pt modelId="{679FF703-765D-4674-BC98-692114DF4DB2}" type="parTrans" cxnId="{2E832E71-60A1-42D3-A30A-C5634A1E5D67}">
      <dgm:prSet/>
      <dgm:spPr/>
      <dgm:t>
        <a:bodyPr/>
        <a:lstStyle/>
        <a:p>
          <a:endParaRPr lang="es-CO"/>
        </a:p>
      </dgm:t>
    </dgm:pt>
    <dgm:pt modelId="{94580680-D3C6-4968-B1D7-14CB5F7891B7}" type="sibTrans" cxnId="{2E832E71-60A1-42D3-A30A-C5634A1E5D67}">
      <dgm:prSet/>
      <dgm:spPr/>
      <dgm:t>
        <a:bodyPr/>
        <a:lstStyle/>
        <a:p>
          <a:endParaRPr lang="es-CO"/>
        </a:p>
      </dgm:t>
    </dgm:pt>
    <dgm:pt modelId="{3B45C8E3-C028-4771-B075-CD0263CD9F6A}">
      <dgm:prSet/>
      <dgm:spPr/>
      <dgm:t>
        <a:bodyPr/>
        <a:lstStyle/>
        <a:p>
          <a:r>
            <a:rPr lang="es-CO" dirty="0">
              <a:solidFill>
                <a:schemeClr val="tx1"/>
              </a:solidFill>
            </a:rPr>
            <a:t>Todo el contenido generado con asistencia de inteligencia artificial fue </a:t>
          </a:r>
          <a:r>
            <a:rPr lang="es-CO" b="1" dirty="0">
              <a:solidFill>
                <a:schemeClr val="tx1"/>
              </a:solidFill>
            </a:rPr>
            <a:t>revisado, verificado y supervisado por los autores</a:t>
          </a:r>
          <a:r>
            <a:rPr lang="es-CO" dirty="0">
              <a:solidFill>
                <a:schemeClr val="tx1"/>
              </a:solidFill>
            </a:rPr>
            <a:t>, quienes realizaron los ajustes correspondientes y asumen la </a:t>
          </a:r>
          <a:r>
            <a:rPr lang="es-CO" b="1" dirty="0">
              <a:solidFill>
                <a:schemeClr val="tx1"/>
              </a:solidFill>
            </a:rPr>
            <a:t>responsabilidad final sobre la precisión, pertinencia e integridad del contenido presentado</a:t>
          </a:r>
          <a:r>
            <a:rPr lang="es-CO" dirty="0">
              <a:solidFill>
                <a:schemeClr val="tx1"/>
              </a:solidFill>
            </a:rPr>
            <a:t>.</a:t>
          </a:r>
        </a:p>
      </dgm:t>
    </dgm:pt>
    <dgm:pt modelId="{E97DBAF7-A5D5-47E9-B14D-BB86285838B5}" type="parTrans" cxnId="{4F5C3D71-E827-4ED4-A055-65E9384D6892}">
      <dgm:prSet/>
      <dgm:spPr/>
      <dgm:t>
        <a:bodyPr/>
        <a:lstStyle/>
        <a:p>
          <a:endParaRPr lang="es-CO"/>
        </a:p>
      </dgm:t>
    </dgm:pt>
    <dgm:pt modelId="{3B5C31F5-F471-4A61-A399-305FE581819A}" type="sibTrans" cxnId="{4F5C3D71-E827-4ED4-A055-65E9384D6892}">
      <dgm:prSet/>
      <dgm:spPr/>
      <dgm:t>
        <a:bodyPr/>
        <a:lstStyle/>
        <a:p>
          <a:endParaRPr lang="es-CO"/>
        </a:p>
      </dgm:t>
    </dgm:pt>
    <dgm:pt modelId="{6A43A38D-E881-459F-B074-D72D607447B4}">
      <dgm:prSet/>
      <dgm:spPr/>
      <dgm:t>
        <a:bodyPr/>
        <a:lstStyle/>
        <a:p>
          <a:r>
            <a:rPr lang="es-CO" dirty="0">
              <a:solidFill>
                <a:schemeClr val="tx1"/>
              </a:solidFill>
            </a:rPr>
            <a:t>La inteligencia artificial </a:t>
          </a:r>
          <a:r>
            <a:rPr lang="es-CO" b="1" dirty="0">
              <a:solidFill>
                <a:schemeClr val="tx1"/>
              </a:solidFill>
            </a:rPr>
            <a:t>no fue utilizada para la generación, modificación ni interpretación de los datos de la investigación</a:t>
          </a:r>
          <a:r>
            <a:rPr lang="es-CO" dirty="0">
              <a:solidFill>
                <a:schemeClr val="tx1"/>
              </a:solidFill>
            </a:rPr>
            <a:t>.</a:t>
          </a:r>
        </a:p>
      </dgm:t>
    </dgm:pt>
    <dgm:pt modelId="{4C6A659C-BDF7-4D58-AC63-613273475267}" type="parTrans" cxnId="{9FF9A3AD-5525-4905-9920-F9E920EABE96}">
      <dgm:prSet/>
      <dgm:spPr/>
      <dgm:t>
        <a:bodyPr/>
        <a:lstStyle/>
        <a:p>
          <a:endParaRPr lang="es-CO"/>
        </a:p>
      </dgm:t>
    </dgm:pt>
    <dgm:pt modelId="{6E979BAD-2D79-41BC-BEEF-7D166C86EF7A}" type="sibTrans" cxnId="{9FF9A3AD-5525-4905-9920-F9E920EABE96}">
      <dgm:prSet/>
      <dgm:spPr/>
      <dgm:t>
        <a:bodyPr/>
        <a:lstStyle/>
        <a:p>
          <a:endParaRPr lang="es-CO"/>
        </a:p>
      </dgm:t>
    </dgm:pt>
    <dgm:pt modelId="{1B3DBF31-D7E2-477A-B3F7-68D51241B603}" type="pres">
      <dgm:prSet presAssocID="{D2F833FB-3724-4D3E-AF68-9319E5BFE1B5}" presName="linear" presStyleCnt="0">
        <dgm:presLayoutVars>
          <dgm:animLvl val="lvl"/>
          <dgm:resizeHandles val="exact"/>
        </dgm:presLayoutVars>
      </dgm:prSet>
      <dgm:spPr/>
    </dgm:pt>
    <dgm:pt modelId="{08253441-91BB-4308-9F82-AA702599BCB3}" type="pres">
      <dgm:prSet presAssocID="{50244EEA-43F4-4C52-8E3D-5724ADEC3E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D0BADA-E3F5-4C9F-9EAE-FC1515D23041}" type="pres">
      <dgm:prSet presAssocID="{94580680-D3C6-4968-B1D7-14CB5F7891B7}" presName="spacer" presStyleCnt="0"/>
      <dgm:spPr/>
    </dgm:pt>
    <dgm:pt modelId="{0495F718-F17B-4355-A1D4-1DE6A2792C18}" type="pres">
      <dgm:prSet presAssocID="{3B45C8E3-C028-4771-B075-CD0263CD9F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3CA232-DFB7-4B01-A15F-38A4B85B4176}" type="pres">
      <dgm:prSet presAssocID="{3B5C31F5-F471-4A61-A399-305FE581819A}" presName="spacer" presStyleCnt="0"/>
      <dgm:spPr/>
    </dgm:pt>
    <dgm:pt modelId="{5AD9CED7-93BF-4FF9-B996-595C3A0A8515}" type="pres">
      <dgm:prSet presAssocID="{6A43A38D-E881-459F-B074-D72D607447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098438-CFE7-45B6-B72E-C3C10613E194}" type="presOf" srcId="{50244EEA-43F4-4C52-8E3D-5724ADEC3E9E}" destId="{08253441-91BB-4308-9F82-AA702599BCB3}" srcOrd="0" destOrd="0" presId="urn:microsoft.com/office/officeart/2005/8/layout/vList2"/>
    <dgm:cxn modelId="{311C8646-5B3F-466D-BAEF-CB49E3CED069}" type="presOf" srcId="{D2F833FB-3724-4D3E-AF68-9319E5BFE1B5}" destId="{1B3DBF31-D7E2-477A-B3F7-68D51241B603}" srcOrd="0" destOrd="0" presId="urn:microsoft.com/office/officeart/2005/8/layout/vList2"/>
    <dgm:cxn modelId="{2E832E71-60A1-42D3-A30A-C5634A1E5D67}" srcId="{D2F833FB-3724-4D3E-AF68-9319E5BFE1B5}" destId="{50244EEA-43F4-4C52-8E3D-5724ADEC3E9E}" srcOrd="0" destOrd="0" parTransId="{679FF703-765D-4674-BC98-692114DF4DB2}" sibTransId="{94580680-D3C6-4968-B1D7-14CB5F7891B7}"/>
    <dgm:cxn modelId="{4F5C3D71-E827-4ED4-A055-65E9384D6892}" srcId="{D2F833FB-3724-4D3E-AF68-9319E5BFE1B5}" destId="{3B45C8E3-C028-4771-B075-CD0263CD9F6A}" srcOrd="1" destOrd="0" parTransId="{E97DBAF7-A5D5-47E9-B14D-BB86285838B5}" sibTransId="{3B5C31F5-F471-4A61-A399-305FE581819A}"/>
    <dgm:cxn modelId="{928CED74-F779-4E76-9385-041957E6C649}" type="presOf" srcId="{6A43A38D-E881-459F-B074-D72D607447B4}" destId="{5AD9CED7-93BF-4FF9-B996-595C3A0A8515}" srcOrd="0" destOrd="0" presId="urn:microsoft.com/office/officeart/2005/8/layout/vList2"/>
    <dgm:cxn modelId="{9FF9A3AD-5525-4905-9920-F9E920EABE96}" srcId="{D2F833FB-3724-4D3E-AF68-9319E5BFE1B5}" destId="{6A43A38D-E881-459F-B074-D72D607447B4}" srcOrd="2" destOrd="0" parTransId="{4C6A659C-BDF7-4D58-AC63-613273475267}" sibTransId="{6E979BAD-2D79-41BC-BEEF-7D166C86EF7A}"/>
    <dgm:cxn modelId="{0735C6C9-A711-4ABD-950D-392403668ACD}" type="presOf" srcId="{3B45C8E3-C028-4771-B075-CD0263CD9F6A}" destId="{0495F718-F17B-4355-A1D4-1DE6A2792C18}" srcOrd="0" destOrd="0" presId="urn:microsoft.com/office/officeart/2005/8/layout/vList2"/>
    <dgm:cxn modelId="{BFCC5C42-CDF2-4F2F-9D2D-AB82C3036C71}" type="presParOf" srcId="{1B3DBF31-D7E2-477A-B3F7-68D51241B603}" destId="{08253441-91BB-4308-9F82-AA702599BCB3}" srcOrd="0" destOrd="0" presId="urn:microsoft.com/office/officeart/2005/8/layout/vList2"/>
    <dgm:cxn modelId="{06890736-C45B-45B0-85E8-4D17C1D6D63F}" type="presParOf" srcId="{1B3DBF31-D7E2-477A-B3F7-68D51241B603}" destId="{08D0BADA-E3F5-4C9F-9EAE-FC1515D23041}" srcOrd="1" destOrd="0" presId="urn:microsoft.com/office/officeart/2005/8/layout/vList2"/>
    <dgm:cxn modelId="{EF968087-F855-4DF3-BFE7-45FE7B7102A9}" type="presParOf" srcId="{1B3DBF31-D7E2-477A-B3F7-68D51241B603}" destId="{0495F718-F17B-4355-A1D4-1DE6A2792C18}" srcOrd="2" destOrd="0" presId="urn:microsoft.com/office/officeart/2005/8/layout/vList2"/>
    <dgm:cxn modelId="{38A96BA7-10B0-46C9-BDC9-45CE007DAB9A}" type="presParOf" srcId="{1B3DBF31-D7E2-477A-B3F7-68D51241B603}" destId="{C83CA232-DFB7-4B01-A15F-38A4B85B4176}" srcOrd="3" destOrd="0" presId="urn:microsoft.com/office/officeart/2005/8/layout/vList2"/>
    <dgm:cxn modelId="{5FFA0A7E-CA0C-488C-8875-951070C50E94}" type="presParOf" srcId="{1B3DBF31-D7E2-477A-B3F7-68D51241B603}" destId="{5AD9CED7-93BF-4FF9-B996-595C3A0A851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53441-91BB-4308-9F82-AA702599BCB3}">
      <dsp:nvSpPr>
        <dsp:cNvPr id="0" name=""/>
        <dsp:cNvSpPr/>
      </dsp:nvSpPr>
      <dsp:spPr>
        <a:xfrm>
          <a:off x="0" y="60511"/>
          <a:ext cx="13353341" cy="18006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>
              <a:solidFill>
                <a:schemeClr val="tx1"/>
              </a:solidFill>
            </a:rPr>
            <a:t>Para la elaboración de esta presentación se utilizó </a:t>
          </a:r>
          <a:r>
            <a:rPr lang="es-CO" sz="2400" b="1" kern="1200" dirty="0" err="1">
              <a:solidFill>
                <a:schemeClr val="tx1"/>
              </a:solidFill>
            </a:rPr>
            <a:t>Claude</a:t>
          </a:r>
          <a:r>
            <a:rPr lang="es-CO" sz="2400" b="1" kern="1200" dirty="0">
              <a:solidFill>
                <a:schemeClr val="tx1"/>
              </a:solidFill>
            </a:rPr>
            <a:t> (</a:t>
          </a:r>
          <a:r>
            <a:rPr lang="es-CO" sz="2400" b="1" kern="1200" dirty="0" err="1">
              <a:solidFill>
                <a:schemeClr val="tx1"/>
              </a:solidFill>
            </a:rPr>
            <a:t>Anthropic</a:t>
          </a:r>
          <a:r>
            <a:rPr lang="es-CO" sz="2400" b="1" kern="1200" dirty="0">
              <a:solidFill>
                <a:schemeClr val="tx1"/>
              </a:solidFill>
            </a:rPr>
            <a:t>)</a:t>
          </a:r>
          <a:r>
            <a:rPr lang="es-CO" sz="2400" kern="1200" dirty="0">
              <a:solidFill>
                <a:schemeClr val="tx1"/>
              </a:solidFill>
            </a:rPr>
            <a:t> nivel 3 como herramienta de apoyo para la </a:t>
          </a:r>
          <a:r>
            <a:rPr lang="es-CO" sz="2400" b="1" kern="1200" dirty="0">
              <a:solidFill>
                <a:schemeClr val="tx1"/>
              </a:solidFill>
            </a:rPr>
            <a:t>síntesis del contenido de la ficha técnica F-INV-004 y el diseño de esquemas y </a:t>
          </a:r>
          <a:r>
            <a:rPr lang="es-CO" sz="2400" b="1" kern="1200">
              <a:solidFill>
                <a:schemeClr val="tx1"/>
              </a:solidFill>
            </a:rPr>
            <a:t>recursos gráficos.</a:t>
          </a:r>
          <a:endParaRPr lang="es-CO" sz="2400" kern="1200" dirty="0">
            <a:solidFill>
              <a:schemeClr val="tx1"/>
            </a:solidFill>
          </a:endParaRPr>
        </a:p>
      </dsp:txBody>
      <dsp:txXfrm>
        <a:off x="87899" y="148410"/>
        <a:ext cx="13177543" cy="1624831"/>
      </dsp:txXfrm>
    </dsp:sp>
    <dsp:sp modelId="{0495F718-F17B-4355-A1D4-1DE6A2792C18}">
      <dsp:nvSpPr>
        <dsp:cNvPr id="0" name=""/>
        <dsp:cNvSpPr/>
      </dsp:nvSpPr>
      <dsp:spPr>
        <a:xfrm>
          <a:off x="0" y="1930261"/>
          <a:ext cx="13353341" cy="18006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>
              <a:solidFill>
                <a:schemeClr val="tx1"/>
              </a:solidFill>
            </a:rPr>
            <a:t>Todo el contenido generado con asistencia de inteligencia artificial fue </a:t>
          </a:r>
          <a:r>
            <a:rPr lang="es-CO" sz="2400" b="1" kern="1200" dirty="0">
              <a:solidFill>
                <a:schemeClr val="tx1"/>
              </a:solidFill>
            </a:rPr>
            <a:t>revisado, verificado y supervisado por los autores</a:t>
          </a:r>
          <a:r>
            <a:rPr lang="es-CO" sz="2400" kern="1200" dirty="0">
              <a:solidFill>
                <a:schemeClr val="tx1"/>
              </a:solidFill>
            </a:rPr>
            <a:t>, quienes realizaron los ajustes correspondientes y asumen la </a:t>
          </a:r>
          <a:r>
            <a:rPr lang="es-CO" sz="2400" b="1" kern="1200" dirty="0">
              <a:solidFill>
                <a:schemeClr val="tx1"/>
              </a:solidFill>
            </a:rPr>
            <a:t>responsabilidad final sobre la precisión, pertinencia e integridad del contenido presentado</a:t>
          </a:r>
          <a:r>
            <a:rPr lang="es-CO" sz="2400" kern="1200" dirty="0">
              <a:solidFill>
                <a:schemeClr val="tx1"/>
              </a:solidFill>
            </a:rPr>
            <a:t>.</a:t>
          </a:r>
        </a:p>
      </dsp:txBody>
      <dsp:txXfrm>
        <a:off x="87899" y="2018160"/>
        <a:ext cx="13177543" cy="1624831"/>
      </dsp:txXfrm>
    </dsp:sp>
    <dsp:sp modelId="{5AD9CED7-93BF-4FF9-B996-595C3A0A8515}">
      <dsp:nvSpPr>
        <dsp:cNvPr id="0" name=""/>
        <dsp:cNvSpPr/>
      </dsp:nvSpPr>
      <dsp:spPr>
        <a:xfrm>
          <a:off x="0" y="3800010"/>
          <a:ext cx="13353341" cy="18006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>
              <a:solidFill>
                <a:schemeClr val="tx1"/>
              </a:solidFill>
            </a:rPr>
            <a:t>La inteligencia artificial </a:t>
          </a:r>
          <a:r>
            <a:rPr lang="es-CO" sz="2400" b="1" kern="1200" dirty="0">
              <a:solidFill>
                <a:schemeClr val="tx1"/>
              </a:solidFill>
            </a:rPr>
            <a:t>no fue utilizada para la generación, modificación ni interpretación de los datos de la investigación</a:t>
          </a:r>
          <a:r>
            <a:rPr lang="es-CO" sz="2400" kern="1200" dirty="0">
              <a:solidFill>
                <a:schemeClr val="tx1"/>
              </a:solidFill>
            </a:rPr>
            <a:t>.</a:t>
          </a:r>
        </a:p>
      </dsp:txBody>
      <dsp:txXfrm>
        <a:off x="87899" y="3887909"/>
        <a:ext cx="13177543" cy="1624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AC92E-E261-4F1E-B06F-8A9464DA2DD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47E62-A95C-4B6D-9D49-A3B014170E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1pPr>
    <a:lvl2pPr marL="657499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2pPr>
    <a:lvl3pPr marL="1314999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3pPr>
    <a:lvl4pPr marL="1972498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4pPr>
    <a:lvl5pPr marL="2629997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5pPr>
    <a:lvl6pPr marL="3287497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6pPr>
    <a:lvl7pPr marL="3944996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7pPr>
    <a:lvl8pPr marL="4602495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8pPr>
    <a:lvl9pPr marL="5259995" algn="l" defTabSz="1314999" rtl="0" eaLnBrk="1" latinLnBrk="0" hangingPunct="1">
      <a:defRPr sz="17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0.emf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image" Target="../media/image11.emf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png"/><Relationship Id="rId5" Type="http://schemas.openxmlformats.org/officeDocument/2006/relationships/image" Target="../media/image11.emf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9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.emf"/><Relationship Id="rId9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10.emf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11.emf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9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.emf"/><Relationship Id="rId9" Type="http://schemas.openxmlformats.org/officeDocument/2006/relationships/image" Target="../media/image1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5" Type="http://schemas.openxmlformats.org/officeDocument/2006/relationships/image" Target="../media/image20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30.xml"/><Relationship Id="rId7" Type="http://schemas.openxmlformats.org/officeDocument/2006/relationships/image" Target="../media/image22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3A6DD-75D5-AB7C-1816-66179EE81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4575568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3A6DD-75D5-AB7C-1816-66179EE81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5F9F4966-B59A-90EB-9631-8AF4956225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629" y="3457775"/>
            <a:ext cx="11844635" cy="23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3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852907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AC0EA8-EC61-DEDF-E2E4-E2E7586794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1618" y="3863807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14FEFD19-81D7-7949-3F48-913792CA1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045" y="550683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1BE730-AF34-B3D3-56F4-3FDFECFDA4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8955" y="3840853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02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47D8DF34-EACB-521B-2670-3509A9FAAD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7382" y="548387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382A8E-97AA-521A-F85B-A57F92E45B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92030" y="3861662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03</a:t>
            </a:r>
          </a:p>
        </p:txBody>
      </p:sp>
      <p:sp>
        <p:nvSpPr>
          <p:cNvPr id="13" name="Text Placeholder 59">
            <a:extLst>
              <a:ext uri="{FF2B5EF4-FFF2-40B4-BE49-F238E27FC236}">
                <a16:creationId xmlns:a16="http://schemas.microsoft.com/office/drawing/2014/main" id="{2F9B9FEA-5DB7-8AFE-9602-6441477DD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460" y="5504684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D3D61E2-D3AB-6CDB-F8EB-FABDC8B2C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952250" y="3857901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04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04327601-EC0F-7BE1-04C5-EE6C049DE3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50677" y="5500923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04726-DC9F-B590-1FB8-1C6762ED53DD}"/>
              </a:ext>
            </a:extLst>
          </p:cNvPr>
          <p:cNvCxnSpPr/>
          <p:nvPr userDrawn="1"/>
        </p:nvCxnSpPr>
        <p:spPr>
          <a:xfrm flipV="1">
            <a:off x="5606777" y="2245600"/>
            <a:ext cx="113724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A4D121-0C83-FB2D-227C-6041ED1922B8}"/>
              </a:ext>
            </a:extLst>
          </p:cNvPr>
          <p:cNvSpPr txBox="1"/>
          <p:nvPr userDrawn="1"/>
        </p:nvSpPr>
        <p:spPr>
          <a:xfrm>
            <a:off x="979556" y="1007365"/>
            <a:ext cx="4556775" cy="1593296"/>
          </a:xfrm>
          <a:prstGeom prst="rect">
            <a:avLst/>
          </a:prstGeom>
          <a:noFill/>
        </p:spPr>
        <p:txBody>
          <a:bodyPr wrap="none" lIns="131484" tIns="65742" rIns="131484" bIns="65742" rtlCol="0">
            <a:spAutoFit/>
          </a:bodyPr>
          <a:lstStyle/>
          <a:p>
            <a:r>
              <a:rPr lang="pt-BR" sz="9491">
                <a:solidFill>
                  <a:schemeClr val="tx2"/>
                </a:solidFill>
                <a:latin typeface="DM Sans" pitchFamily="2" charset="0"/>
              </a:rPr>
              <a:t>Agenda</a:t>
            </a:r>
            <a:endParaRPr lang="en-US" sz="9491">
              <a:solidFill>
                <a:schemeClr val="tx2"/>
              </a:solidFill>
              <a:latin typeface="DM Sans" pitchFamily="2" charset="0"/>
            </a:endParaRPr>
          </a:p>
        </p:txBody>
      </p:sp>
      <p:cxnSp>
        <p:nvCxnSpPr>
          <p:cNvPr id="20" name="Conector reto 12">
            <a:extLst>
              <a:ext uri="{FF2B5EF4-FFF2-40B4-BE49-F238E27FC236}">
                <a16:creationId xmlns:a16="http://schemas.microsoft.com/office/drawing/2014/main" id="{86919837-450A-00C7-A47D-9A39FD44ABD0}"/>
              </a:ext>
            </a:extLst>
          </p:cNvPr>
          <p:cNvCxnSpPr/>
          <p:nvPr userDrawn="1"/>
        </p:nvCxnSpPr>
        <p:spPr>
          <a:xfrm>
            <a:off x="1314931" y="12834754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12">
            <a:extLst>
              <a:ext uri="{FF2B5EF4-FFF2-40B4-BE49-F238E27FC236}">
                <a16:creationId xmlns:a16="http://schemas.microsoft.com/office/drawing/2014/main" id="{A662A7E3-097F-C826-86EB-08AC47132D2F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570105-FB3E-0016-9B6E-786C8357E3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5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1332C8F-8393-7475-6CEE-E964E49F9D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108336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1332C8F-8393-7475-6CEE-E964E49F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BA5B65-20C4-45AB-93D8-2859109E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64473"/>
            <a:ext cx="15121652" cy="90787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8F6FE0E8-D6AE-B42B-D06E-5A00B9B24985}"/>
              </a:ext>
            </a:extLst>
          </p:cNvPr>
          <p:cNvCxnSpPr/>
          <p:nvPr userDrawn="1"/>
        </p:nvCxnSpPr>
        <p:spPr>
          <a:xfrm>
            <a:off x="1314931" y="12540282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2">
            <a:extLst>
              <a:ext uri="{FF2B5EF4-FFF2-40B4-BE49-F238E27FC236}">
                <a16:creationId xmlns:a16="http://schemas.microsoft.com/office/drawing/2014/main" id="{105163A6-0542-7752-ECE5-EFBED54C4E2E}"/>
              </a:ext>
            </a:extLst>
          </p:cNvPr>
          <p:cNvCxnSpPr/>
          <p:nvPr userDrawn="1"/>
        </p:nvCxnSpPr>
        <p:spPr>
          <a:xfrm>
            <a:off x="988129" y="9018410"/>
            <a:ext cx="1542227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2">
            <a:extLst>
              <a:ext uri="{FF2B5EF4-FFF2-40B4-BE49-F238E27FC236}">
                <a16:creationId xmlns:a16="http://schemas.microsoft.com/office/drawing/2014/main" id="{2218A07B-31B4-1B90-4C14-4B2A8EAA1504}"/>
              </a:ext>
            </a:extLst>
          </p:cNvPr>
          <p:cNvCxnSpPr/>
          <p:nvPr userDrawn="1"/>
        </p:nvCxnSpPr>
        <p:spPr>
          <a:xfrm>
            <a:off x="913079" y="1444934"/>
            <a:ext cx="1567924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6748F30-4954-6ABA-75DF-41F600858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8EBC07F-1EFB-E8C6-EC48-EC4527B5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910D718-0075-ACBE-2861-0985E14771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774508" y="3077689"/>
            <a:ext cx="8381447" cy="42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3321694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10"/>
            <a:ext cx="15121652" cy="902828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073B40-971E-2009-F0CC-2BEAA6319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50" y="2626027"/>
            <a:ext cx="15121652" cy="62590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  <a:lvl2pPr>
              <a:defRPr>
                <a:solidFill>
                  <a:schemeClr val="bg1"/>
                </a:solidFill>
                <a:latin typeface="DM Sans" pitchFamily="2" charset="0"/>
              </a:defRPr>
            </a:lvl2pPr>
            <a:lvl3pPr>
              <a:defRPr>
                <a:solidFill>
                  <a:schemeClr val="bg1"/>
                </a:solidFill>
                <a:latin typeface="DM Sans" pitchFamily="2" charset="0"/>
              </a:defRPr>
            </a:lvl3pPr>
            <a:lvl4pPr>
              <a:defRPr>
                <a:solidFill>
                  <a:schemeClr val="bg1"/>
                </a:solidFill>
                <a:latin typeface="DM Sans" pitchFamily="2" charset="0"/>
              </a:defRPr>
            </a:lvl4pPr>
            <a:lvl5pPr>
              <a:defRPr>
                <a:solidFill>
                  <a:schemeClr val="bg1"/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2">
            <a:extLst>
              <a:ext uri="{FF2B5EF4-FFF2-40B4-BE49-F238E27FC236}">
                <a16:creationId xmlns:a16="http://schemas.microsoft.com/office/drawing/2014/main" id="{C675DBA4-5533-3C78-B9A6-6C7E42D2B9DA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346F9F3-DBA2-84E8-9FC6-2083326B45E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5A8BE88-9348-E9A9-565F-C1B9C78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2560066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35B43310-88E7-F65C-442E-2386FB30E6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4EED22B-E715-8F56-5049-41B43188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FF8354DE-14EA-CD0D-1160-B58703E7A9B1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3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852907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AC0EA8-EC61-DEDF-E2E4-E2E7586794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1618" y="3863807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14FEFD19-81D7-7949-3F48-913792CA1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045" y="550683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1BE730-AF34-B3D3-56F4-3FDFECFDA4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8955" y="3840853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02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47D8DF34-EACB-521B-2670-3509A9FAAD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7382" y="548387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382A8E-97AA-521A-F85B-A57F92E45B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92030" y="3861662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03</a:t>
            </a:r>
          </a:p>
        </p:txBody>
      </p:sp>
      <p:sp>
        <p:nvSpPr>
          <p:cNvPr id="13" name="Text Placeholder 59">
            <a:extLst>
              <a:ext uri="{FF2B5EF4-FFF2-40B4-BE49-F238E27FC236}">
                <a16:creationId xmlns:a16="http://schemas.microsoft.com/office/drawing/2014/main" id="{2F9B9FEA-5DB7-8AFE-9602-6441477DD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460" y="5504684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D3D61E2-D3AB-6CDB-F8EB-FABDC8B2C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952250" y="3857901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04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04327601-EC0F-7BE1-04C5-EE6C049DE3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50677" y="5500923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04726-DC9F-B590-1FB8-1C6762ED53DD}"/>
              </a:ext>
            </a:extLst>
          </p:cNvPr>
          <p:cNvCxnSpPr/>
          <p:nvPr userDrawn="1"/>
        </p:nvCxnSpPr>
        <p:spPr>
          <a:xfrm flipV="1">
            <a:off x="5606777" y="2245600"/>
            <a:ext cx="113724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A4D121-0C83-FB2D-227C-6041ED1922B8}"/>
              </a:ext>
            </a:extLst>
          </p:cNvPr>
          <p:cNvSpPr txBox="1"/>
          <p:nvPr userDrawn="1"/>
        </p:nvSpPr>
        <p:spPr>
          <a:xfrm>
            <a:off x="979556" y="1007365"/>
            <a:ext cx="4556775" cy="1593296"/>
          </a:xfrm>
          <a:prstGeom prst="rect">
            <a:avLst/>
          </a:prstGeom>
          <a:noFill/>
        </p:spPr>
        <p:txBody>
          <a:bodyPr wrap="none" lIns="131484" tIns="65742" rIns="131484" bIns="65742" rtlCol="0">
            <a:spAutoFit/>
          </a:bodyPr>
          <a:lstStyle/>
          <a:p>
            <a:r>
              <a:rPr lang="pt-BR" sz="9491">
                <a:solidFill>
                  <a:schemeClr val="tx2"/>
                </a:solidFill>
                <a:latin typeface="DM Sans" pitchFamily="2" charset="0"/>
              </a:rPr>
              <a:t>Agenda</a:t>
            </a:r>
            <a:endParaRPr lang="en-US" sz="9491">
              <a:solidFill>
                <a:schemeClr val="tx2"/>
              </a:solidFill>
              <a:latin typeface="DM Sans" pitchFamily="2" charset="0"/>
            </a:endParaRPr>
          </a:p>
        </p:txBody>
      </p:sp>
      <p:cxnSp>
        <p:nvCxnSpPr>
          <p:cNvPr id="20" name="Conector reto 12">
            <a:extLst>
              <a:ext uri="{FF2B5EF4-FFF2-40B4-BE49-F238E27FC236}">
                <a16:creationId xmlns:a16="http://schemas.microsoft.com/office/drawing/2014/main" id="{86919837-450A-00C7-A47D-9A39FD44ABD0}"/>
              </a:ext>
            </a:extLst>
          </p:cNvPr>
          <p:cNvCxnSpPr/>
          <p:nvPr userDrawn="1"/>
        </p:nvCxnSpPr>
        <p:spPr>
          <a:xfrm>
            <a:off x="1314931" y="12834754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12">
            <a:extLst>
              <a:ext uri="{FF2B5EF4-FFF2-40B4-BE49-F238E27FC236}">
                <a16:creationId xmlns:a16="http://schemas.microsoft.com/office/drawing/2014/main" id="{A662A7E3-097F-C826-86EB-08AC47132D2F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570105-FB3E-0016-9B6E-786C8357E3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1332C8F-8393-7475-6CEE-E964E49F9D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108336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1332C8F-8393-7475-6CEE-E964E49F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BA5B65-20C4-45AB-93D8-2859109E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64473"/>
            <a:ext cx="15121652" cy="90787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8F6FE0E8-D6AE-B42B-D06E-5A00B9B24985}"/>
              </a:ext>
            </a:extLst>
          </p:cNvPr>
          <p:cNvCxnSpPr/>
          <p:nvPr userDrawn="1"/>
        </p:nvCxnSpPr>
        <p:spPr>
          <a:xfrm>
            <a:off x="1314931" y="12540282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2">
            <a:extLst>
              <a:ext uri="{FF2B5EF4-FFF2-40B4-BE49-F238E27FC236}">
                <a16:creationId xmlns:a16="http://schemas.microsoft.com/office/drawing/2014/main" id="{105163A6-0542-7752-ECE5-EFBED54C4E2E}"/>
              </a:ext>
            </a:extLst>
          </p:cNvPr>
          <p:cNvCxnSpPr/>
          <p:nvPr userDrawn="1"/>
        </p:nvCxnSpPr>
        <p:spPr>
          <a:xfrm>
            <a:off x="988129" y="9018410"/>
            <a:ext cx="1542227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2">
            <a:extLst>
              <a:ext uri="{FF2B5EF4-FFF2-40B4-BE49-F238E27FC236}">
                <a16:creationId xmlns:a16="http://schemas.microsoft.com/office/drawing/2014/main" id="{2218A07B-31B4-1B90-4C14-4B2A8EAA1504}"/>
              </a:ext>
            </a:extLst>
          </p:cNvPr>
          <p:cNvCxnSpPr/>
          <p:nvPr userDrawn="1"/>
        </p:nvCxnSpPr>
        <p:spPr>
          <a:xfrm>
            <a:off x="913079" y="1444934"/>
            <a:ext cx="1567924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6748F30-4954-6ABA-75DF-41F600858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8EBC07F-1EFB-E8C6-EC48-EC4527B5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910D718-0075-ACBE-2861-0985E14771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774508" y="3077689"/>
            <a:ext cx="8381447" cy="42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D22446A7-1BA6-89E5-0897-1B223853CFF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1332C8F-8393-7475-6CEE-E964E49F9D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108336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1332C8F-8393-7475-6CEE-E964E49F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BA5B65-20C4-45AB-93D8-2859109E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64473"/>
            <a:ext cx="15121652" cy="90787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8F6FE0E8-D6AE-B42B-D06E-5A00B9B24985}"/>
              </a:ext>
            </a:extLst>
          </p:cNvPr>
          <p:cNvCxnSpPr/>
          <p:nvPr userDrawn="1"/>
        </p:nvCxnSpPr>
        <p:spPr>
          <a:xfrm>
            <a:off x="1314931" y="12540282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2">
            <a:extLst>
              <a:ext uri="{FF2B5EF4-FFF2-40B4-BE49-F238E27FC236}">
                <a16:creationId xmlns:a16="http://schemas.microsoft.com/office/drawing/2014/main" id="{105163A6-0542-7752-ECE5-EFBED54C4E2E}"/>
              </a:ext>
            </a:extLst>
          </p:cNvPr>
          <p:cNvCxnSpPr/>
          <p:nvPr userDrawn="1"/>
        </p:nvCxnSpPr>
        <p:spPr>
          <a:xfrm>
            <a:off x="988129" y="9018410"/>
            <a:ext cx="1542227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2">
            <a:extLst>
              <a:ext uri="{FF2B5EF4-FFF2-40B4-BE49-F238E27FC236}">
                <a16:creationId xmlns:a16="http://schemas.microsoft.com/office/drawing/2014/main" id="{2218A07B-31B4-1B90-4C14-4B2A8EAA1504}"/>
              </a:ext>
            </a:extLst>
          </p:cNvPr>
          <p:cNvCxnSpPr/>
          <p:nvPr userDrawn="1"/>
        </p:nvCxnSpPr>
        <p:spPr>
          <a:xfrm>
            <a:off x="913079" y="1444934"/>
            <a:ext cx="1567924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6748F30-4954-6ABA-75DF-41F600858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8EBC07F-1EFB-E8C6-EC48-EC4527B5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910D718-0075-ACBE-2861-0985E14771E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774508" y="3077689"/>
            <a:ext cx="8381447" cy="42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3321694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10"/>
            <a:ext cx="15121652" cy="902828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073B40-971E-2009-F0CC-2BEAA6319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50" y="2626027"/>
            <a:ext cx="15121652" cy="62590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  <a:lvl2pPr>
              <a:defRPr>
                <a:solidFill>
                  <a:schemeClr val="bg1"/>
                </a:solidFill>
                <a:latin typeface="DM Sans" pitchFamily="2" charset="0"/>
              </a:defRPr>
            </a:lvl2pPr>
            <a:lvl3pPr>
              <a:defRPr>
                <a:solidFill>
                  <a:schemeClr val="bg1"/>
                </a:solidFill>
                <a:latin typeface="DM Sans" pitchFamily="2" charset="0"/>
              </a:defRPr>
            </a:lvl3pPr>
            <a:lvl4pPr>
              <a:defRPr>
                <a:solidFill>
                  <a:schemeClr val="bg1"/>
                </a:solidFill>
                <a:latin typeface="DM Sans" pitchFamily="2" charset="0"/>
              </a:defRPr>
            </a:lvl4pPr>
            <a:lvl5pPr>
              <a:defRPr>
                <a:solidFill>
                  <a:schemeClr val="bg1"/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2">
            <a:extLst>
              <a:ext uri="{FF2B5EF4-FFF2-40B4-BE49-F238E27FC236}">
                <a16:creationId xmlns:a16="http://schemas.microsoft.com/office/drawing/2014/main" id="{C675DBA4-5533-3C78-B9A6-6C7E42D2B9DA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346F9F3-DBA2-84E8-9FC6-2083326B45E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5A8BE88-9348-E9A9-565F-C1B9C78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2560066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35B43310-88E7-F65C-442E-2386FB30E6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4EED22B-E715-8F56-5049-41B43188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FF8354DE-14EA-CD0D-1160-B58703E7A9B1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3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7149A0BD-B86F-E99A-385C-5A9416E72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780060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7149A0BD-B86F-E99A-385C-5A9416E72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m 10">
            <a:extLst>
              <a:ext uri="{FF2B5EF4-FFF2-40B4-BE49-F238E27FC236}">
                <a16:creationId xmlns:a16="http://schemas.microsoft.com/office/drawing/2014/main" id="{9072D5D8-9AFD-3102-BADF-14BAE68400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1273" t="21888" r="21273" b="21664"/>
          <a:stretch/>
        </p:blipFill>
        <p:spPr>
          <a:xfrm>
            <a:off x="-1" y="0"/>
            <a:ext cx="17532351" cy="9864725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CEE2381-7AA8-93FF-0CE8-F892DDA6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4AF49-1C09-84C6-03AA-91D4DA54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197" y="564473"/>
            <a:ext cx="9589406" cy="111192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647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F7C33B0-7533-DE54-DE8D-C9D6DE20A6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4497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F7C33B0-7533-DE54-DE8D-C9D6DE20A6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7">
            <a:extLst>
              <a:ext uri="{FF2B5EF4-FFF2-40B4-BE49-F238E27FC236}">
                <a16:creationId xmlns:a16="http://schemas.microsoft.com/office/drawing/2014/main" id="{C68913BB-90DE-9372-5B77-ED0F7DCF35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21776" r="69864" b="21776"/>
          <a:stretch/>
        </p:blipFill>
        <p:spPr>
          <a:xfrm>
            <a:off x="8334441" y="0"/>
            <a:ext cx="9197909" cy="98647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D860EEC-9D7A-3F47-AA1F-46C1D09B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62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2ADC096-D227-2F99-63B6-EF8C0BD3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0173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C905770B-F100-8706-1376-988FD8BE642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83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F7C33B0-7533-DE54-DE8D-C9D6DE20A6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4497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F7C33B0-7533-DE54-DE8D-C9D6DE20A6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7">
            <a:extLst>
              <a:ext uri="{FF2B5EF4-FFF2-40B4-BE49-F238E27FC236}">
                <a16:creationId xmlns:a16="http://schemas.microsoft.com/office/drawing/2014/main" id="{C68913BB-90DE-9372-5B77-ED0F7DCF35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21776" r="69864" b="21776"/>
          <a:stretch/>
        </p:blipFill>
        <p:spPr>
          <a:xfrm>
            <a:off x="8334441" y="0"/>
            <a:ext cx="9197909" cy="98647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D860EEC-9D7A-3F47-AA1F-46C1D09B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62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2ADC096-D227-2F99-63B6-EF8C0BD3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0173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C905770B-F100-8706-1376-988FD8BE642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83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360D432-F57B-C6B1-8EFD-3489A15746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272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360D432-F57B-C6B1-8EFD-3489A15746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F5427C-C502-CEA4-DFC3-19DBE8A3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913" y="525463"/>
            <a:ext cx="15122525" cy="1906587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Zentria icons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91FF1-B668-E25B-24F3-867AB243B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ED4A1CAA-0D21-456F-697D-BBEF1872D3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0" y="2777455"/>
            <a:ext cx="4315201" cy="2154907"/>
          </a:xfrm>
          <a:prstGeom prst="rect">
            <a:avLst/>
          </a:prstGeom>
        </p:spPr>
      </p:pic>
      <p:pic>
        <p:nvPicPr>
          <p:cNvPr id="9" name="Picture 8" descr="A picture containing laser, way&#10;&#10;Description automatically generated">
            <a:extLst>
              <a:ext uri="{FF2B5EF4-FFF2-40B4-BE49-F238E27FC236}">
                <a16:creationId xmlns:a16="http://schemas.microsoft.com/office/drawing/2014/main" id="{98730E00-EE2B-A2CF-58BD-46F6EAC296B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75" y="2774760"/>
            <a:ext cx="4315201" cy="2160294"/>
          </a:xfrm>
          <a:prstGeom prst="rect">
            <a:avLst/>
          </a:prstGeom>
        </p:spPr>
      </p:pic>
      <p:pic>
        <p:nvPicPr>
          <p:cNvPr id="11" name="Picture 10" descr="Shape, icon&#10;&#10;Description automatically generated">
            <a:extLst>
              <a:ext uri="{FF2B5EF4-FFF2-40B4-BE49-F238E27FC236}">
                <a16:creationId xmlns:a16="http://schemas.microsoft.com/office/drawing/2014/main" id="{CF04179F-9D3C-37BD-410F-7BEDE8BD58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578" y="2064180"/>
            <a:ext cx="5736361" cy="2868182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BC2EF6DC-84A8-FC16-B86E-DD0E164789A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759" y="3693629"/>
            <a:ext cx="6309997" cy="3162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C6A0AA-D4D0-EB37-F0B9-4B5ECFAC8B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03" y="4063986"/>
            <a:ext cx="6317885" cy="3155000"/>
          </a:xfrm>
          <a:prstGeom prst="rect">
            <a:avLst/>
          </a:prstGeom>
        </p:spPr>
      </p:pic>
      <p:pic>
        <p:nvPicPr>
          <p:cNvPr id="17" name="Picture 16" descr="A picture containing indoor, laser, domestic cat&#10;&#10;Description automatically generated">
            <a:extLst>
              <a:ext uri="{FF2B5EF4-FFF2-40B4-BE49-F238E27FC236}">
                <a16:creationId xmlns:a16="http://schemas.microsoft.com/office/drawing/2014/main" id="{AE522012-22F5-0D3F-18B7-36CDEA24BBB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02" y="5977561"/>
            <a:ext cx="6317885" cy="3162886"/>
          </a:xfrm>
          <a:prstGeom prst="rect">
            <a:avLst/>
          </a:prstGeom>
        </p:spPr>
      </p:pic>
      <p:pic>
        <p:nvPicPr>
          <p:cNvPr id="19" name="Picture 18" descr="Shape&#10;&#10;Description automatically generated with low confidence">
            <a:extLst>
              <a:ext uri="{FF2B5EF4-FFF2-40B4-BE49-F238E27FC236}">
                <a16:creationId xmlns:a16="http://schemas.microsoft.com/office/drawing/2014/main" id="{32A14AEF-961F-CD01-15B2-ACD63346B2C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823" y="4718674"/>
            <a:ext cx="6317885" cy="3155000"/>
          </a:xfrm>
          <a:prstGeom prst="rect">
            <a:avLst/>
          </a:prstGeom>
        </p:spPr>
      </p:pic>
      <p:pic>
        <p:nvPicPr>
          <p:cNvPr id="21" name="Picture 20" descr="A picture containing laser, night sky&#10;&#10;Description automatically generated">
            <a:extLst>
              <a:ext uri="{FF2B5EF4-FFF2-40B4-BE49-F238E27FC236}">
                <a16:creationId xmlns:a16="http://schemas.microsoft.com/office/drawing/2014/main" id="{306D1A31-6192-4B53-E920-EFB8610544E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873" y="5926566"/>
            <a:ext cx="6949674" cy="34791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C3A544-6363-90C8-30E6-F088B2B25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9281" t="16881" r="60208" b="17242"/>
          <a:stretch/>
        </p:blipFill>
        <p:spPr>
          <a:xfrm>
            <a:off x="14763763" y="6998676"/>
            <a:ext cx="1651380" cy="1436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B22998-185A-2EE3-810A-E4AE7FC0FE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0044" t="28434" r="38523" b="11508"/>
          <a:stretch/>
        </p:blipFill>
        <p:spPr>
          <a:xfrm>
            <a:off x="15219825" y="3719111"/>
            <a:ext cx="1160060" cy="1310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C03A21-9375-4AF5-58B4-4A28958E6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61986" t="27711" r="28684" b="17243"/>
          <a:stretch/>
        </p:blipFill>
        <p:spPr>
          <a:xfrm>
            <a:off x="15219825" y="5428204"/>
            <a:ext cx="504967" cy="12007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F97354-6329-AF62-7ED8-0767864F20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71857" t="20559" r="12509" b="20003"/>
          <a:stretch/>
        </p:blipFill>
        <p:spPr>
          <a:xfrm>
            <a:off x="15808129" y="5278297"/>
            <a:ext cx="846161" cy="1296537"/>
          </a:xfrm>
          <a:prstGeom prst="rect">
            <a:avLst/>
          </a:prstGeom>
        </p:spPr>
      </p:pic>
      <p:sp>
        <p:nvSpPr>
          <p:cNvPr id="26" name="Oval 4">
            <a:extLst>
              <a:ext uri="{FF2B5EF4-FFF2-40B4-BE49-F238E27FC236}">
                <a16:creationId xmlns:a16="http://schemas.microsoft.com/office/drawing/2014/main" id="{B6EE72E2-4DB1-E3AD-AC3F-24D2554EC7DC}"/>
              </a:ext>
            </a:extLst>
          </p:cNvPr>
          <p:cNvSpPr/>
          <p:nvPr userDrawn="1"/>
        </p:nvSpPr>
        <p:spPr>
          <a:xfrm>
            <a:off x="7406585" y="6608362"/>
            <a:ext cx="2355159" cy="2012232"/>
          </a:xfrm>
          <a:custGeom>
            <a:avLst/>
            <a:gdLst>
              <a:gd name="connsiteX0" fmla="*/ 0 w 3789333"/>
              <a:gd name="connsiteY0" fmla="*/ 1835426 h 3670851"/>
              <a:gd name="connsiteX1" fmla="*/ 1894667 w 3789333"/>
              <a:gd name="connsiteY1" fmla="*/ 0 h 3670851"/>
              <a:gd name="connsiteX2" fmla="*/ 3789334 w 3789333"/>
              <a:gd name="connsiteY2" fmla="*/ 1835426 h 3670851"/>
              <a:gd name="connsiteX3" fmla="*/ 1894667 w 3789333"/>
              <a:gd name="connsiteY3" fmla="*/ 3670852 h 3670851"/>
              <a:gd name="connsiteX4" fmla="*/ 0 w 3789333"/>
              <a:gd name="connsiteY4" fmla="*/ 1835426 h 3670851"/>
              <a:gd name="connsiteX0" fmla="*/ 17 w 3789351"/>
              <a:gd name="connsiteY0" fmla="*/ 2325756 h 4161182"/>
              <a:gd name="connsiteX1" fmla="*/ 1921189 w 3789351"/>
              <a:gd name="connsiteY1" fmla="*/ 0 h 4161182"/>
              <a:gd name="connsiteX2" fmla="*/ 3789351 w 3789351"/>
              <a:gd name="connsiteY2" fmla="*/ 2325756 h 4161182"/>
              <a:gd name="connsiteX3" fmla="*/ 1894684 w 3789351"/>
              <a:gd name="connsiteY3" fmla="*/ 4161182 h 4161182"/>
              <a:gd name="connsiteX4" fmla="*/ 17 w 3789351"/>
              <a:gd name="connsiteY4" fmla="*/ 2325756 h 4161182"/>
              <a:gd name="connsiteX0" fmla="*/ 8 w 4398942"/>
              <a:gd name="connsiteY0" fmla="*/ 2272783 h 4161287"/>
              <a:gd name="connsiteX1" fmla="*/ 2530780 w 4398942"/>
              <a:gd name="connsiteY1" fmla="*/ 36 h 4161287"/>
              <a:gd name="connsiteX2" fmla="*/ 4398942 w 4398942"/>
              <a:gd name="connsiteY2" fmla="*/ 2325792 h 4161287"/>
              <a:gd name="connsiteX3" fmla="*/ 2504275 w 4398942"/>
              <a:gd name="connsiteY3" fmla="*/ 4161218 h 4161287"/>
              <a:gd name="connsiteX4" fmla="*/ 8 w 4398942"/>
              <a:gd name="connsiteY4" fmla="*/ 2272783 h 4161287"/>
              <a:gd name="connsiteX0" fmla="*/ 8 w 5048298"/>
              <a:gd name="connsiteY0" fmla="*/ 2272829 h 4161424"/>
              <a:gd name="connsiteX1" fmla="*/ 2530780 w 5048298"/>
              <a:gd name="connsiteY1" fmla="*/ 82 h 4161424"/>
              <a:gd name="connsiteX2" fmla="*/ 5048298 w 5048298"/>
              <a:gd name="connsiteY2" fmla="*/ 2352342 h 4161424"/>
              <a:gd name="connsiteX3" fmla="*/ 2504275 w 5048298"/>
              <a:gd name="connsiteY3" fmla="*/ 4161264 h 4161424"/>
              <a:gd name="connsiteX4" fmla="*/ 8 w 5048298"/>
              <a:gd name="connsiteY4" fmla="*/ 2272829 h 4161424"/>
              <a:gd name="connsiteX0" fmla="*/ 0 w 5048290"/>
              <a:gd name="connsiteY0" fmla="*/ 2272834 h 4704704"/>
              <a:gd name="connsiteX1" fmla="*/ 2530772 w 5048290"/>
              <a:gd name="connsiteY1" fmla="*/ 87 h 4704704"/>
              <a:gd name="connsiteX2" fmla="*/ 5048290 w 5048290"/>
              <a:gd name="connsiteY2" fmla="*/ 2352347 h 4704704"/>
              <a:gd name="connsiteX3" fmla="*/ 2530771 w 5048290"/>
              <a:gd name="connsiteY3" fmla="*/ 4704608 h 4704704"/>
              <a:gd name="connsiteX4" fmla="*/ 0 w 5048290"/>
              <a:gd name="connsiteY4" fmla="*/ 2272834 h 4704704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123 w 5048413"/>
              <a:gd name="connsiteY0" fmla="*/ 2272834 h 4718236"/>
              <a:gd name="connsiteX1" fmla="*/ 2530895 w 5048413"/>
              <a:gd name="connsiteY1" fmla="*/ 87 h 4718236"/>
              <a:gd name="connsiteX2" fmla="*/ 5048413 w 5048413"/>
              <a:gd name="connsiteY2" fmla="*/ 2352347 h 4718236"/>
              <a:gd name="connsiteX3" fmla="*/ 2438128 w 5048413"/>
              <a:gd name="connsiteY3" fmla="*/ 4717860 h 4718236"/>
              <a:gd name="connsiteX4" fmla="*/ 123 w 5048413"/>
              <a:gd name="connsiteY4" fmla="*/ 2272834 h 4718236"/>
              <a:gd name="connsiteX0" fmla="*/ 484 w 5048774"/>
              <a:gd name="connsiteY0" fmla="*/ 2286085 h 4731487"/>
              <a:gd name="connsiteX1" fmla="*/ 2624022 w 5048774"/>
              <a:gd name="connsiteY1" fmla="*/ 86 h 4731487"/>
              <a:gd name="connsiteX2" fmla="*/ 5048774 w 5048774"/>
              <a:gd name="connsiteY2" fmla="*/ 2365598 h 4731487"/>
              <a:gd name="connsiteX3" fmla="*/ 2438489 w 5048774"/>
              <a:gd name="connsiteY3" fmla="*/ 4731111 h 4731487"/>
              <a:gd name="connsiteX4" fmla="*/ 484 w 5048774"/>
              <a:gd name="connsiteY4" fmla="*/ 2286085 h 4731487"/>
              <a:gd name="connsiteX0" fmla="*/ 204 w 5048494"/>
              <a:gd name="connsiteY0" fmla="*/ 2299336 h 4744738"/>
              <a:gd name="connsiteX1" fmla="*/ 2557481 w 5048494"/>
              <a:gd name="connsiteY1" fmla="*/ 85 h 4744738"/>
              <a:gd name="connsiteX2" fmla="*/ 5048494 w 5048494"/>
              <a:gd name="connsiteY2" fmla="*/ 2378849 h 4744738"/>
              <a:gd name="connsiteX3" fmla="*/ 2438209 w 5048494"/>
              <a:gd name="connsiteY3" fmla="*/ 4744362 h 4744738"/>
              <a:gd name="connsiteX4" fmla="*/ 204 w 5048494"/>
              <a:gd name="connsiteY4" fmla="*/ 2299336 h 474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494" h="4744738">
                <a:moveTo>
                  <a:pt x="204" y="2299336"/>
                </a:moveTo>
                <a:cubicBezTo>
                  <a:pt x="20083" y="1508623"/>
                  <a:pt x="1464308" y="-13167"/>
                  <a:pt x="2557481" y="85"/>
                </a:cubicBezTo>
                <a:cubicBezTo>
                  <a:pt x="3650654" y="13337"/>
                  <a:pt x="5048494" y="1365171"/>
                  <a:pt x="5048494" y="2378849"/>
                </a:cubicBezTo>
                <a:cubicBezTo>
                  <a:pt x="5048494" y="3392527"/>
                  <a:pt x="3451869" y="4770866"/>
                  <a:pt x="2438209" y="4744362"/>
                </a:cubicBezTo>
                <a:cubicBezTo>
                  <a:pt x="1424549" y="4717858"/>
                  <a:pt x="-19675" y="3090049"/>
                  <a:pt x="204" y="2299336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4">
            <a:extLst>
              <a:ext uri="{FF2B5EF4-FFF2-40B4-BE49-F238E27FC236}">
                <a16:creationId xmlns:a16="http://schemas.microsoft.com/office/drawing/2014/main" id="{FF4EFFE0-7897-DBFD-CE89-6975F79C255D}"/>
              </a:ext>
            </a:extLst>
          </p:cNvPr>
          <p:cNvSpPr/>
          <p:nvPr userDrawn="1"/>
        </p:nvSpPr>
        <p:spPr>
          <a:xfrm>
            <a:off x="7128097" y="4147443"/>
            <a:ext cx="2355159" cy="2012232"/>
          </a:xfrm>
          <a:custGeom>
            <a:avLst/>
            <a:gdLst>
              <a:gd name="connsiteX0" fmla="*/ 0 w 3789333"/>
              <a:gd name="connsiteY0" fmla="*/ 1835426 h 3670851"/>
              <a:gd name="connsiteX1" fmla="*/ 1894667 w 3789333"/>
              <a:gd name="connsiteY1" fmla="*/ 0 h 3670851"/>
              <a:gd name="connsiteX2" fmla="*/ 3789334 w 3789333"/>
              <a:gd name="connsiteY2" fmla="*/ 1835426 h 3670851"/>
              <a:gd name="connsiteX3" fmla="*/ 1894667 w 3789333"/>
              <a:gd name="connsiteY3" fmla="*/ 3670852 h 3670851"/>
              <a:gd name="connsiteX4" fmla="*/ 0 w 3789333"/>
              <a:gd name="connsiteY4" fmla="*/ 1835426 h 3670851"/>
              <a:gd name="connsiteX0" fmla="*/ 17 w 3789351"/>
              <a:gd name="connsiteY0" fmla="*/ 2325756 h 4161182"/>
              <a:gd name="connsiteX1" fmla="*/ 1921189 w 3789351"/>
              <a:gd name="connsiteY1" fmla="*/ 0 h 4161182"/>
              <a:gd name="connsiteX2" fmla="*/ 3789351 w 3789351"/>
              <a:gd name="connsiteY2" fmla="*/ 2325756 h 4161182"/>
              <a:gd name="connsiteX3" fmla="*/ 1894684 w 3789351"/>
              <a:gd name="connsiteY3" fmla="*/ 4161182 h 4161182"/>
              <a:gd name="connsiteX4" fmla="*/ 17 w 3789351"/>
              <a:gd name="connsiteY4" fmla="*/ 2325756 h 4161182"/>
              <a:gd name="connsiteX0" fmla="*/ 8 w 4398942"/>
              <a:gd name="connsiteY0" fmla="*/ 2272783 h 4161287"/>
              <a:gd name="connsiteX1" fmla="*/ 2530780 w 4398942"/>
              <a:gd name="connsiteY1" fmla="*/ 36 h 4161287"/>
              <a:gd name="connsiteX2" fmla="*/ 4398942 w 4398942"/>
              <a:gd name="connsiteY2" fmla="*/ 2325792 h 4161287"/>
              <a:gd name="connsiteX3" fmla="*/ 2504275 w 4398942"/>
              <a:gd name="connsiteY3" fmla="*/ 4161218 h 4161287"/>
              <a:gd name="connsiteX4" fmla="*/ 8 w 4398942"/>
              <a:gd name="connsiteY4" fmla="*/ 2272783 h 4161287"/>
              <a:gd name="connsiteX0" fmla="*/ 8 w 5048298"/>
              <a:gd name="connsiteY0" fmla="*/ 2272829 h 4161424"/>
              <a:gd name="connsiteX1" fmla="*/ 2530780 w 5048298"/>
              <a:gd name="connsiteY1" fmla="*/ 82 h 4161424"/>
              <a:gd name="connsiteX2" fmla="*/ 5048298 w 5048298"/>
              <a:gd name="connsiteY2" fmla="*/ 2352342 h 4161424"/>
              <a:gd name="connsiteX3" fmla="*/ 2504275 w 5048298"/>
              <a:gd name="connsiteY3" fmla="*/ 4161264 h 4161424"/>
              <a:gd name="connsiteX4" fmla="*/ 8 w 5048298"/>
              <a:gd name="connsiteY4" fmla="*/ 2272829 h 4161424"/>
              <a:gd name="connsiteX0" fmla="*/ 0 w 5048290"/>
              <a:gd name="connsiteY0" fmla="*/ 2272834 h 4704704"/>
              <a:gd name="connsiteX1" fmla="*/ 2530772 w 5048290"/>
              <a:gd name="connsiteY1" fmla="*/ 87 h 4704704"/>
              <a:gd name="connsiteX2" fmla="*/ 5048290 w 5048290"/>
              <a:gd name="connsiteY2" fmla="*/ 2352347 h 4704704"/>
              <a:gd name="connsiteX3" fmla="*/ 2530771 w 5048290"/>
              <a:gd name="connsiteY3" fmla="*/ 4704608 h 4704704"/>
              <a:gd name="connsiteX4" fmla="*/ 0 w 5048290"/>
              <a:gd name="connsiteY4" fmla="*/ 2272834 h 4704704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123 w 5048413"/>
              <a:gd name="connsiteY0" fmla="*/ 2272834 h 4718236"/>
              <a:gd name="connsiteX1" fmla="*/ 2530895 w 5048413"/>
              <a:gd name="connsiteY1" fmla="*/ 87 h 4718236"/>
              <a:gd name="connsiteX2" fmla="*/ 5048413 w 5048413"/>
              <a:gd name="connsiteY2" fmla="*/ 2352347 h 4718236"/>
              <a:gd name="connsiteX3" fmla="*/ 2438128 w 5048413"/>
              <a:gd name="connsiteY3" fmla="*/ 4717860 h 4718236"/>
              <a:gd name="connsiteX4" fmla="*/ 123 w 5048413"/>
              <a:gd name="connsiteY4" fmla="*/ 2272834 h 4718236"/>
              <a:gd name="connsiteX0" fmla="*/ 484 w 5048774"/>
              <a:gd name="connsiteY0" fmla="*/ 2286085 h 4731487"/>
              <a:gd name="connsiteX1" fmla="*/ 2624022 w 5048774"/>
              <a:gd name="connsiteY1" fmla="*/ 86 h 4731487"/>
              <a:gd name="connsiteX2" fmla="*/ 5048774 w 5048774"/>
              <a:gd name="connsiteY2" fmla="*/ 2365598 h 4731487"/>
              <a:gd name="connsiteX3" fmla="*/ 2438489 w 5048774"/>
              <a:gd name="connsiteY3" fmla="*/ 4731111 h 4731487"/>
              <a:gd name="connsiteX4" fmla="*/ 484 w 5048774"/>
              <a:gd name="connsiteY4" fmla="*/ 2286085 h 4731487"/>
              <a:gd name="connsiteX0" fmla="*/ 204 w 5048494"/>
              <a:gd name="connsiteY0" fmla="*/ 2299336 h 4744738"/>
              <a:gd name="connsiteX1" fmla="*/ 2557481 w 5048494"/>
              <a:gd name="connsiteY1" fmla="*/ 85 h 4744738"/>
              <a:gd name="connsiteX2" fmla="*/ 5048494 w 5048494"/>
              <a:gd name="connsiteY2" fmla="*/ 2378849 h 4744738"/>
              <a:gd name="connsiteX3" fmla="*/ 2438209 w 5048494"/>
              <a:gd name="connsiteY3" fmla="*/ 4744362 h 4744738"/>
              <a:gd name="connsiteX4" fmla="*/ 204 w 5048494"/>
              <a:gd name="connsiteY4" fmla="*/ 2299336 h 474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494" h="4744738">
                <a:moveTo>
                  <a:pt x="204" y="2299336"/>
                </a:moveTo>
                <a:cubicBezTo>
                  <a:pt x="20083" y="1508623"/>
                  <a:pt x="1464308" y="-13167"/>
                  <a:pt x="2557481" y="85"/>
                </a:cubicBezTo>
                <a:cubicBezTo>
                  <a:pt x="3650654" y="13337"/>
                  <a:pt x="5048494" y="1365171"/>
                  <a:pt x="5048494" y="2378849"/>
                </a:cubicBezTo>
                <a:cubicBezTo>
                  <a:pt x="5048494" y="3392527"/>
                  <a:pt x="3451869" y="4770866"/>
                  <a:pt x="2438209" y="4744362"/>
                </a:cubicBezTo>
                <a:cubicBezTo>
                  <a:pt x="1424549" y="4717858"/>
                  <a:pt x="-19675" y="3090049"/>
                  <a:pt x="204" y="2299336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99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3A6DD-75D5-AB7C-1816-66179EE81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4575568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3A6DD-75D5-AB7C-1816-66179EE81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5F9F4966-B59A-90EB-9631-8AF4956225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629" y="3457775"/>
            <a:ext cx="11844635" cy="23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47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852907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AC0EA8-EC61-DEDF-E2E4-E2E7586794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1618" y="3863807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14FEFD19-81D7-7949-3F48-913792CA1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045" y="550683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1BE730-AF34-B3D3-56F4-3FDFECFDA4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8955" y="3840853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02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47D8DF34-EACB-521B-2670-3509A9FAAD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7382" y="5483872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382A8E-97AA-521A-F85B-A57F92E45B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92030" y="3861662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03</a:t>
            </a:r>
          </a:p>
        </p:txBody>
      </p:sp>
      <p:sp>
        <p:nvSpPr>
          <p:cNvPr id="13" name="Text Placeholder 59">
            <a:extLst>
              <a:ext uri="{FF2B5EF4-FFF2-40B4-BE49-F238E27FC236}">
                <a16:creationId xmlns:a16="http://schemas.microsoft.com/office/drawing/2014/main" id="{2F9B9FEA-5DB7-8AFE-9602-6441477DD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460" y="5504684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D3D61E2-D3AB-6CDB-F8EB-FABDC8B2C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952250" y="3857901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9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04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04327601-EC0F-7BE1-04C5-EE6C049DE3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50677" y="5500923"/>
            <a:ext cx="3673319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76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04726-DC9F-B590-1FB8-1C6762ED53DD}"/>
              </a:ext>
            </a:extLst>
          </p:cNvPr>
          <p:cNvCxnSpPr/>
          <p:nvPr userDrawn="1"/>
        </p:nvCxnSpPr>
        <p:spPr>
          <a:xfrm flipV="1">
            <a:off x="5606777" y="2245600"/>
            <a:ext cx="113724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A4D121-0C83-FB2D-227C-6041ED1922B8}"/>
              </a:ext>
            </a:extLst>
          </p:cNvPr>
          <p:cNvSpPr txBox="1"/>
          <p:nvPr userDrawn="1"/>
        </p:nvSpPr>
        <p:spPr>
          <a:xfrm>
            <a:off x="979556" y="1007365"/>
            <a:ext cx="4556775" cy="1593296"/>
          </a:xfrm>
          <a:prstGeom prst="rect">
            <a:avLst/>
          </a:prstGeom>
          <a:noFill/>
        </p:spPr>
        <p:txBody>
          <a:bodyPr wrap="none" lIns="131484" tIns="65742" rIns="131484" bIns="65742" rtlCol="0">
            <a:spAutoFit/>
          </a:bodyPr>
          <a:lstStyle/>
          <a:p>
            <a:r>
              <a:rPr lang="pt-BR" sz="9491">
                <a:solidFill>
                  <a:schemeClr val="tx2"/>
                </a:solidFill>
                <a:latin typeface="DM Sans" pitchFamily="2" charset="0"/>
              </a:rPr>
              <a:t>Agenda</a:t>
            </a:r>
            <a:endParaRPr lang="en-US" sz="9491">
              <a:solidFill>
                <a:schemeClr val="tx2"/>
              </a:solidFill>
              <a:latin typeface="DM Sans" pitchFamily="2" charset="0"/>
            </a:endParaRPr>
          </a:p>
        </p:txBody>
      </p:sp>
      <p:cxnSp>
        <p:nvCxnSpPr>
          <p:cNvPr id="20" name="Conector reto 12">
            <a:extLst>
              <a:ext uri="{FF2B5EF4-FFF2-40B4-BE49-F238E27FC236}">
                <a16:creationId xmlns:a16="http://schemas.microsoft.com/office/drawing/2014/main" id="{86919837-450A-00C7-A47D-9A39FD44ABD0}"/>
              </a:ext>
            </a:extLst>
          </p:cNvPr>
          <p:cNvCxnSpPr/>
          <p:nvPr userDrawn="1"/>
        </p:nvCxnSpPr>
        <p:spPr>
          <a:xfrm>
            <a:off x="1314931" y="12834754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12">
            <a:extLst>
              <a:ext uri="{FF2B5EF4-FFF2-40B4-BE49-F238E27FC236}">
                <a16:creationId xmlns:a16="http://schemas.microsoft.com/office/drawing/2014/main" id="{A662A7E3-097F-C826-86EB-08AC47132D2F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570105-FB3E-0016-9B6E-786C8357E3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02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1332C8F-8393-7475-6CEE-E964E49F9D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108336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1332C8F-8393-7475-6CEE-E964E49F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BA5B65-20C4-45AB-93D8-2859109E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64473"/>
            <a:ext cx="15121652" cy="90787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8F6FE0E8-D6AE-B42B-D06E-5A00B9B24985}"/>
              </a:ext>
            </a:extLst>
          </p:cNvPr>
          <p:cNvCxnSpPr/>
          <p:nvPr userDrawn="1"/>
        </p:nvCxnSpPr>
        <p:spPr>
          <a:xfrm>
            <a:off x="1314931" y="12540282"/>
            <a:ext cx="22579750" cy="0"/>
          </a:xfrm>
          <a:prstGeom prst="line">
            <a:avLst/>
          </a:prstGeom>
          <a:ln w="127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2">
            <a:extLst>
              <a:ext uri="{FF2B5EF4-FFF2-40B4-BE49-F238E27FC236}">
                <a16:creationId xmlns:a16="http://schemas.microsoft.com/office/drawing/2014/main" id="{105163A6-0542-7752-ECE5-EFBED54C4E2E}"/>
              </a:ext>
            </a:extLst>
          </p:cNvPr>
          <p:cNvCxnSpPr/>
          <p:nvPr userDrawn="1"/>
        </p:nvCxnSpPr>
        <p:spPr>
          <a:xfrm>
            <a:off x="988129" y="9018410"/>
            <a:ext cx="1542227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2">
            <a:extLst>
              <a:ext uri="{FF2B5EF4-FFF2-40B4-BE49-F238E27FC236}">
                <a16:creationId xmlns:a16="http://schemas.microsoft.com/office/drawing/2014/main" id="{2218A07B-31B4-1B90-4C14-4B2A8EAA1504}"/>
              </a:ext>
            </a:extLst>
          </p:cNvPr>
          <p:cNvCxnSpPr/>
          <p:nvPr userDrawn="1"/>
        </p:nvCxnSpPr>
        <p:spPr>
          <a:xfrm>
            <a:off x="913079" y="1444934"/>
            <a:ext cx="1567924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6748F30-4954-6ABA-75DF-41F600858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7" y="8914275"/>
            <a:ext cx="1382387" cy="1035667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8EBC07F-1EFB-E8C6-EC48-EC4527B5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910D718-0075-ACBE-2861-0985E14771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774508" y="3077689"/>
            <a:ext cx="8381447" cy="42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97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3321694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10"/>
            <a:ext cx="15121652" cy="902828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073B40-971E-2009-F0CC-2BEAA6319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50" y="2626027"/>
            <a:ext cx="15121652" cy="62590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  <a:lvl2pPr>
              <a:defRPr>
                <a:solidFill>
                  <a:schemeClr val="bg1"/>
                </a:solidFill>
                <a:latin typeface="DM Sans" pitchFamily="2" charset="0"/>
              </a:defRPr>
            </a:lvl2pPr>
            <a:lvl3pPr>
              <a:defRPr>
                <a:solidFill>
                  <a:schemeClr val="bg1"/>
                </a:solidFill>
                <a:latin typeface="DM Sans" pitchFamily="2" charset="0"/>
              </a:defRPr>
            </a:lvl3pPr>
            <a:lvl4pPr>
              <a:defRPr>
                <a:solidFill>
                  <a:schemeClr val="bg1"/>
                </a:solidFill>
                <a:latin typeface="DM Sans" pitchFamily="2" charset="0"/>
              </a:defRPr>
            </a:lvl4pPr>
            <a:lvl5pPr>
              <a:defRPr>
                <a:solidFill>
                  <a:schemeClr val="bg1"/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2">
            <a:extLst>
              <a:ext uri="{FF2B5EF4-FFF2-40B4-BE49-F238E27FC236}">
                <a16:creationId xmlns:a16="http://schemas.microsoft.com/office/drawing/2014/main" id="{C675DBA4-5533-3C78-B9A6-6C7E42D2B9DA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346F9F3-DBA2-84E8-9FC6-2083326B45E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5A8BE88-9348-E9A9-565F-C1B9C78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79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2560066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35B43310-88E7-F65C-442E-2386FB30E6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910720C-0039-EF86-8BA7-0A6C5433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Conector reto 12">
            <a:extLst>
              <a:ext uri="{FF2B5EF4-FFF2-40B4-BE49-F238E27FC236}">
                <a16:creationId xmlns:a16="http://schemas.microsoft.com/office/drawing/2014/main" id="{BEB3AAC1-C310-C516-9DDD-8F50C21593BE}"/>
              </a:ext>
            </a:extLst>
          </p:cNvPr>
          <p:cNvCxnSpPr/>
          <p:nvPr userDrawn="1"/>
        </p:nvCxnSpPr>
        <p:spPr>
          <a:xfrm>
            <a:off x="1007755" y="9018410"/>
            <a:ext cx="154222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4EED22B-E715-8F56-5049-41B43188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FF8354DE-14EA-CD0D-1160-B58703E7A9B1}"/>
              </a:ext>
            </a:extLst>
          </p:cNvPr>
          <p:cNvCxnSpPr/>
          <p:nvPr userDrawn="1"/>
        </p:nvCxnSpPr>
        <p:spPr>
          <a:xfrm>
            <a:off x="913079" y="1444403"/>
            <a:ext cx="156792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47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7149A0BD-B86F-E99A-385C-5A9416E72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780060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7149A0BD-B86F-E99A-385C-5A9416E72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m 10">
            <a:extLst>
              <a:ext uri="{FF2B5EF4-FFF2-40B4-BE49-F238E27FC236}">
                <a16:creationId xmlns:a16="http://schemas.microsoft.com/office/drawing/2014/main" id="{9072D5D8-9AFD-3102-BADF-14BAE68400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1273" t="21888" r="21273" b="21664"/>
          <a:stretch/>
        </p:blipFill>
        <p:spPr>
          <a:xfrm>
            <a:off x="-1" y="0"/>
            <a:ext cx="17532351" cy="9864725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CEE2381-7AA8-93FF-0CE8-F892DDA6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1" y="9143142"/>
            <a:ext cx="11530888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4AF49-1C09-84C6-03AA-91D4DA54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197" y="564473"/>
            <a:ext cx="9589406" cy="1111927"/>
          </a:xfrm>
          <a:prstGeom prst="rect">
            <a:avLst/>
          </a:prstGeom>
        </p:spPr>
        <p:txBody>
          <a:bodyPr vert="horz"/>
          <a:lstStyle>
            <a:lvl1pPr>
              <a:defRPr sz="5177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022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F7C33B0-7533-DE54-DE8D-C9D6DE20A6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44975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F7C33B0-7533-DE54-DE8D-C9D6DE20A6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7">
            <a:extLst>
              <a:ext uri="{FF2B5EF4-FFF2-40B4-BE49-F238E27FC236}">
                <a16:creationId xmlns:a16="http://schemas.microsoft.com/office/drawing/2014/main" id="{C68913BB-90DE-9372-5B77-ED0F7DCF35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21776" r="69864" b="21776"/>
          <a:stretch/>
        </p:blipFill>
        <p:spPr>
          <a:xfrm>
            <a:off x="8334441" y="0"/>
            <a:ext cx="9197909" cy="98647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D860EEC-9D7A-3F47-AA1F-46C1D09B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62" y="525209"/>
            <a:ext cx="15121652" cy="91923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2ADC096-D227-2F99-63B6-EF8C0BD3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0173" y="9143142"/>
            <a:ext cx="11530888" cy="5252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C905770B-F100-8706-1376-988FD8BE642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8" y="8914275"/>
            <a:ext cx="1382388" cy="10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02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360D432-F57B-C6B1-8EFD-3489A15746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272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360D432-F57B-C6B1-8EFD-3489A15746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F5427C-C502-CEA4-DFC3-19DBE8A3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913" y="525463"/>
            <a:ext cx="15122525" cy="1906587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Zentria icons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91FF1-B668-E25B-24F3-867AB243B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ED4A1CAA-0D21-456F-697D-BBEF1872D3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0" y="2777455"/>
            <a:ext cx="4315201" cy="2154907"/>
          </a:xfrm>
          <a:prstGeom prst="rect">
            <a:avLst/>
          </a:prstGeom>
        </p:spPr>
      </p:pic>
      <p:pic>
        <p:nvPicPr>
          <p:cNvPr id="9" name="Picture 8" descr="A picture containing laser, way&#10;&#10;Description automatically generated">
            <a:extLst>
              <a:ext uri="{FF2B5EF4-FFF2-40B4-BE49-F238E27FC236}">
                <a16:creationId xmlns:a16="http://schemas.microsoft.com/office/drawing/2014/main" id="{98730E00-EE2B-A2CF-58BD-46F6EAC296B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75" y="2774760"/>
            <a:ext cx="4315201" cy="2160294"/>
          </a:xfrm>
          <a:prstGeom prst="rect">
            <a:avLst/>
          </a:prstGeom>
        </p:spPr>
      </p:pic>
      <p:pic>
        <p:nvPicPr>
          <p:cNvPr id="11" name="Picture 10" descr="Shape, icon&#10;&#10;Description automatically generated">
            <a:extLst>
              <a:ext uri="{FF2B5EF4-FFF2-40B4-BE49-F238E27FC236}">
                <a16:creationId xmlns:a16="http://schemas.microsoft.com/office/drawing/2014/main" id="{CF04179F-9D3C-37BD-410F-7BEDE8BD58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578" y="2064180"/>
            <a:ext cx="5736361" cy="2868182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BC2EF6DC-84A8-FC16-B86E-DD0E164789A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759" y="3693629"/>
            <a:ext cx="6309997" cy="3162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C6A0AA-D4D0-EB37-F0B9-4B5ECFAC8B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03" y="4063986"/>
            <a:ext cx="6317885" cy="3155000"/>
          </a:xfrm>
          <a:prstGeom prst="rect">
            <a:avLst/>
          </a:prstGeom>
        </p:spPr>
      </p:pic>
      <p:pic>
        <p:nvPicPr>
          <p:cNvPr id="17" name="Picture 16" descr="A picture containing indoor, laser, domestic cat&#10;&#10;Description automatically generated">
            <a:extLst>
              <a:ext uri="{FF2B5EF4-FFF2-40B4-BE49-F238E27FC236}">
                <a16:creationId xmlns:a16="http://schemas.microsoft.com/office/drawing/2014/main" id="{AE522012-22F5-0D3F-18B7-36CDEA24BBB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02" y="5977561"/>
            <a:ext cx="6317885" cy="3162886"/>
          </a:xfrm>
          <a:prstGeom prst="rect">
            <a:avLst/>
          </a:prstGeom>
        </p:spPr>
      </p:pic>
      <p:pic>
        <p:nvPicPr>
          <p:cNvPr id="19" name="Picture 18" descr="Shape&#10;&#10;Description automatically generated with low confidence">
            <a:extLst>
              <a:ext uri="{FF2B5EF4-FFF2-40B4-BE49-F238E27FC236}">
                <a16:creationId xmlns:a16="http://schemas.microsoft.com/office/drawing/2014/main" id="{32A14AEF-961F-CD01-15B2-ACD63346B2C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823" y="4718674"/>
            <a:ext cx="6317885" cy="3155000"/>
          </a:xfrm>
          <a:prstGeom prst="rect">
            <a:avLst/>
          </a:prstGeom>
        </p:spPr>
      </p:pic>
      <p:pic>
        <p:nvPicPr>
          <p:cNvPr id="21" name="Picture 20" descr="A picture containing laser, night sky&#10;&#10;Description automatically generated">
            <a:extLst>
              <a:ext uri="{FF2B5EF4-FFF2-40B4-BE49-F238E27FC236}">
                <a16:creationId xmlns:a16="http://schemas.microsoft.com/office/drawing/2014/main" id="{306D1A31-6192-4B53-E920-EFB8610544E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873" y="5926566"/>
            <a:ext cx="6949674" cy="34791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C3A544-6363-90C8-30E6-F088B2B25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9281" t="16881" r="60208" b="17242"/>
          <a:stretch/>
        </p:blipFill>
        <p:spPr>
          <a:xfrm>
            <a:off x="14763763" y="6998676"/>
            <a:ext cx="1651380" cy="1436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B22998-185A-2EE3-810A-E4AE7FC0FE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0044" t="28434" r="38523" b="11508"/>
          <a:stretch/>
        </p:blipFill>
        <p:spPr>
          <a:xfrm>
            <a:off x="15219825" y="3719111"/>
            <a:ext cx="1160060" cy="1310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C03A21-9375-4AF5-58B4-4A28958E6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61986" t="27711" r="28684" b="17243"/>
          <a:stretch/>
        </p:blipFill>
        <p:spPr>
          <a:xfrm>
            <a:off x="15219825" y="5428204"/>
            <a:ext cx="504967" cy="12007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F97354-6329-AF62-7ED8-0767864F20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71857" t="20559" r="12509" b="20003"/>
          <a:stretch/>
        </p:blipFill>
        <p:spPr>
          <a:xfrm>
            <a:off x="15808129" y="5278297"/>
            <a:ext cx="846161" cy="1296537"/>
          </a:xfrm>
          <a:prstGeom prst="rect">
            <a:avLst/>
          </a:prstGeom>
        </p:spPr>
      </p:pic>
      <p:sp>
        <p:nvSpPr>
          <p:cNvPr id="26" name="Oval 4">
            <a:extLst>
              <a:ext uri="{FF2B5EF4-FFF2-40B4-BE49-F238E27FC236}">
                <a16:creationId xmlns:a16="http://schemas.microsoft.com/office/drawing/2014/main" id="{B6EE72E2-4DB1-E3AD-AC3F-24D2554EC7DC}"/>
              </a:ext>
            </a:extLst>
          </p:cNvPr>
          <p:cNvSpPr/>
          <p:nvPr userDrawn="1"/>
        </p:nvSpPr>
        <p:spPr>
          <a:xfrm>
            <a:off x="7406585" y="6608362"/>
            <a:ext cx="2355159" cy="2012232"/>
          </a:xfrm>
          <a:custGeom>
            <a:avLst/>
            <a:gdLst>
              <a:gd name="connsiteX0" fmla="*/ 0 w 3789333"/>
              <a:gd name="connsiteY0" fmla="*/ 1835426 h 3670851"/>
              <a:gd name="connsiteX1" fmla="*/ 1894667 w 3789333"/>
              <a:gd name="connsiteY1" fmla="*/ 0 h 3670851"/>
              <a:gd name="connsiteX2" fmla="*/ 3789334 w 3789333"/>
              <a:gd name="connsiteY2" fmla="*/ 1835426 h 3670851"/>
              <a:gd name="connsiteX3" fmla="*/ 1894667 w 3789333"/>
              <a:gd name="connsiteY3" fmla="*/ 3670852 h 3670851"/>
              <a:gd name="connsiteX4" fmla="*/ 0 w 3789333"/>
              <a:gd name="connsiteY4" fmla="*/ 1835426 h 3670851"/>
              <a:gd name="connsiteX0" fmla="*/ 17 w 3789351"/>
              <a:gd name="connsiteY0" fmla="*/ 2325756 h 4161182"/>
              <a:gd name="connsiteX1" fmla="*/ 1921189 w 3789351"/>
              <a:gd name="connsiteY1" fmla="*/ 0 h 4161182"/>
              <a:gd name="connsiteX2" fmla="*/ 3789351 w 3789351"/>
              <a:gd name="connsiteY2" fmla="*/ 2325756 h 4161182"/>
              <a:gd name="connsiteX3" fmla="*/ 1894684 w 3789351"/>
              <a:gd name="connsiteY3" fmla="*/ 4161182 h 4161182"/>
              <a:gd name="connsiteX4" fmla="*/ 17 w 3789351"/>
              <a:gd name="connsiteY4" fmla="*/ 2325756 h 4161182"/>
              <a:gd name="connsiteX0" fmla="*/ 8 w 4398942"/>
              <a:gd name="connsiteY0" fmla="*/ 2272783 h 4161287"/>
              <a:gd name="connsiteX1" fmla="*/ 2530780 w 4398942"/>
              <a:gd name="connsiteY1" fmla="*/ 36 h 4161287"/>
              <a:gd name="connsiteX2" fmla="*/ 4398942 w 4398942"/>
              <a:gd name="connsiteY2" fmla="*/ 2325792 h 4161287"/>
              <a:gd name="connsiteX3" fmla="*/ 2504275 w 4398942"/>
              <a:gd name="connsiteY3" fmla="*/ 4161218 h 4161287"/>
              <a:gd name="connsiteX4" fmla="*/ 8 w 4398942"/>
              <a:gd name="connsiteY4" fmla="*/ 2272783 h 4161287"/>
              <a:gd name="connsiteX0" fmla="*/ 8 w 5048298"/>
              <a:gd name="connsiteY0" fmla="*/ 2272829 h 4161424"/>
              <a:gd name="connsiteX1" fmla="*/ 2530780 w 5048298"/>
              <a:gd name="connsiteY1" fmla="*/ 82 h 4161424"/>
              <a:gd name="connsiteX2" fmla="*/ 5048298 w 5048298"/>
              <a:gd name="connsiteY2" fmla="*/ 2352342 h 4161424"/>
              <a:gd name="connsiteX3" fmla="*/ 2504275 w 5048298"/>
              <a:gd name="connsiteY3" fmla="*/ 4161264 h 4161424"/>
              <a:gd name="connsiteX4" fmla="*/ 8 w 5048298"/>
              <a:gd name="connsiteY4" fmla="*/ 2272829 h 4161424"/>
              <a:gd name="connsiteX0" fmla="*/ 0 w 5048290"/>
              <a:gd name="connsiteY0" fmla="*/ 2272834 h 4704704"/>
              <a:gd name="connsiteX1" fmla="*/ 2530772 w 5048290"/>
              <a:gd name="connsiteY1" fmla="*/ 87 h 4704704"/>
              <a:gd name="connsiteX2" fmla="*/ 5048290 w 5048290"/>
              <a:gd name="connsiteY2" fmla="*/ 2352347 h 4704704"/>
              <a:gd name="connsiteX3" fmla="*/ 2530771 w 5048290"/>
              <a:gd name="connsiteY3" fmla="*/ 4704608 h 4704704"/>
              <a:gd name="connsiteX4" fmla="*/ 0 w 5048290"/>
              <a:gd name="connsiteY4" fmla="*/ 2272834 h 4704704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123 w 5048413"/>
              <a:gd name="connsiteY0" fmla="*/ 2272834 h 4718236"/>
              <a:gd name="connsiteX1" fmla="*/ 2530895 w 5048413"/>
              <a:gd name="connsiteY1" fmla="*/ 87 h 4718236"/>
              <a:gd name="connsiteX2" fmla="*/ 5048413 w 5048413"/>
              <a:gd name="connsiteY2" fmla="*/ 2352347 h 4718236"/>
              <a:gd name="connsiteX3" fmla="*/ 2438128 w 5048413"/>
              <a:gd name="connsiteY3" fmla="*/ 4717860 h 4718236"/>
              <a:gd name="connsiteX4" fmla="*/ 123 w 5048413"/>
              <a:gd name="connsiteY4" fmla="*/ 2272834 h 4718236"/>
              <a:gd name="connsiteX0" fmla="*/ 484 w 5048774"/>
              <a:gd name="connsiteY0" fmla="*/ 2286085 h 4731487"/>
              <a:gd name="connsiteX1" fmla="*/ 2624022 w 5048774"/>
              <a:gd name="connsiteY1" fmla="*/ 86 h 4731487"/>
              <a:gd name="connsiteX2" fmla="*/ 5048774 w 5048774"/>
              <a:gd name="connsiteY2" fmla="*/ 2365598 h 4731487"/>
              <a:gd name="connsiteX3" fmla="*/ 2438489 w 5048774"/>
              <a:gd name="connsiteY3" fmla="*/ 4731111 h 4731487"/>
              <a:gd name="connsiteX4" fmla="*/ 484 w 5048774"/>
              <a:gd name="connsiteY4" fmla="*/ 2286085 h 4731487"/>
              <a:gd name="connsiteX0" fmla="*/ 204 w 5048494"/>
              <a:gd name="connsiteY0" fmla="*/ 2299336 h 4744738"/>
              <a:gd name="connsiteX1" fmla="*/ 2557481 w 5048494"/>
              <a:gd name="connsiteY1" fmla="*/ 85 h 4744738"/>
              <a:gd name="connsiteX2" fmla="*/ 5048494 w 5048494"/>
              <a:gd name="connsiteY2" fmla="*/ 2378849 h 4744738"/>
              <a:gd name="connsiteX3" fmla="*/ 2438209 w 5048494"/>
              <a:gd name="connsiteY3" fmla="*/ 4744362 h 4744738"/>
              <a:gd name="connsiteX4" fmla="*/ 204 w 5048494"/>
              <a:gd name="connsiteY4" fmla="*/ 2299336 h 474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494" h="4744738">
                <a:moveTo>
                  <a:pt x="204" y="2299336"/>
                </a:moveTo>
                <a:cubicBezTo>
                  <a:pt x="20083" y="1508623"/>
                  <a:pt x="1464308" y="-13167"/>
                  <a:pt x="2557481" y="85"/>
                </a:cubicBezTo>
                <a:cubicBezTo>
                  <a:pt x="3650654" y="13337"/>
                  <a:pt x="5048494" y="1365171"/>
                  <a:pt x="5048494" y="2378849"/>
                </a:cubicBezTo>
                <a:cubicBezTo>
                  <a:pt x="5048494" y="3392527"/>
                  <a:pt x="3451869" y="4770866"/>
                  <a:pt x="2438209" y="4744362"/>
                </a:cubicBezTo>
                <a:cubicBezTo>
                  <a:pt x="1424549" y="4717858"/>
                  <a:pt x="-19675" y="3090049"/>
                  <a:pt x="204" y="2299336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4">
            <a:extLst>
              <a:ext uri="{FF2B5EF4-FFF2-40B4-BE49-F238E27FC236}">
                <a16:creationId xmlns:a16="http://schemas.microsoft.com/office/drawing/2014/main" id="{FF4EFFE0-7897-DBFD-CE89-6975F79C255D}"/>
              </a:ext>
            </a:extLst>
          </p:cNvPr>
          <p:cNvSpPr/>
          <p:nvPr userDrawn="1"/>
        </p:nvSpPr>
        <p:spPr>
          <a:xfrm>
            <a:off x="7128097" y="4147443"/>
            <a:ext cx="2355159" cy="2012232"/>
          </a:xfrm>
          <a:custGeom>
            <a:avLst/>
            <a:gdLst>
              <a:gd name="connsiteX0" fmla="*/ 0 w 3789333"/>
              <a:gd name="connsiteY0" fmla="*/ 1835426 h 3670851"/>
              <a:gd name="connsiteX1" fmla="*/ 1894667 w 3789333"/>
              <a:gd name="connsiteY1" fmla="*/ 0 h 3670851"/>
              <a:gd name="connsiteX2" fmla="*/ 3789334 w 3789333"/>
              <a:gd name="connsiteY2" fmla="*/ 1835426 h 3670851"/>
              <a:gd name="connsiteX3" fmla="*/ 1894667 w 3789333"/>
              <a:gd name="connsiteY3" fmla="*/ 3670852 h 3670851"/>
              <a:gd name="connsiteX4" fmla="*/ 0 w 3789333"/>
              <a:gd name="connsiteY4" fmla="*/ 1835426 h 3670851"/>
              <a:gd name="connsiteX0" fmla="*/ 17 w 3789351"/>
              <a:gd name="connsiteY0" fmla="*/ 2325756 h 4161182"/>
              <a:gd name="connsiteX1" fmla="*/ 1921189 w 3789351"/>
              <a:gd name="connsiteY1" fmla="*/ 0 h 4161182"/>
              <a:gd name="connsiteX2" fmla="*/ 3789351 w 3789351"/>
              <a:gd name="connsiteY2" fmla="*/ 2325756 h 4161182"/>
              <a:gd name="connsiteX3" fmla="*/ 1894684 w 3789351"/>
              <a:gd name="connsiteY3" fmla="*/ 4161182 h 4161182"/>
              <a:gd name="connsiteX4" fmla="*/ 17 w 3789351"/>
              <a:gd name="connsiteY4" fmla="*/ 2325756 h 4161182"/>
              <a:gd name="connsiteX0" fmla="*/ 8 w 4398942"/>
              <a:gd name="connsiteY0" fmla="*/ 2272783 h 4161287"/>
              <a:gd name="connsiteX1" fmla="*/ 2530780 w 4398942"/>
              <a:gd name="connsiteY1" fmla="*/ 36 h 4161287"/>
              <a:gd name="connsiteX2" fmla="*/ 4398942 w 4398942"/>
              <a:gd name="connsiteY2" fmla="*/ 2325792 h 4161287"/>
              <a:gd name="connsiteX3" fmla="*/ 2504275 w 4398942"/>
              <a:gd name="connsiteY3" fmla="*/ 4161218 h 4161287"/>
              <a:gd name="connsiteX4" fmla="*/ 8 w 4398942"/>
              <a:gd name="connsiteY4" fmla="*/ 2272783 h 4161287"/>
              <a:gd name="connsiteX0" fmla="*/ 8 w 5048298"/>
              <a:gd name="connsiteY0" fmla="*/ 2272829 h 4161424"/>
              <a:gd name="connsiteX1" fmla="*/ 2530780 w 5048298"/>
              <a:gd name="connsiteY1" fmla="*/ 82 h 4161424"/>
              <a:gd name="connsiteX2" fmla="*/ 5048298 w 5048298"/>
              <a:gd name="connsiteY2" fmla="*/ 2352342 h 4161424"/>
              <a:gd name="connsiteX3" fmla="*/ 2504275 w 5048298"/>
              <a:gd name="connsiteY3" fmla="*/ 4161264 h 4161424"/>
              <a:gd name="connsiteX4" fmla="*/ 8 w 5048298"/>
              <a:gd name="connsiteY4" fmla="*/ 2272829 h 4161424"/>
              <a:gd name="connsiteX0" fmla="*/ 0 w 5048290"/>
              <a:gd name="connsiteY0" fmla="*/ 2272834 h 4704704"/>
              <a:gd name="connsiteX1" fmla="*/ 2530772 w 5048290"/>
              <a:gd name="connsiteY1" fmla="*/ 87 h 4704704"/>
              <a:gd name="connsiteX2" fmla="*/ 5048290 w 5048290"/>
              <a:gd name="connsiteY2" fmla="*/ 2352347 h 4704704"/>
              <a:gd name="connsiteX3" fmla="*/ 2530771 w 5048290"/>
              <a:gd name="connsiteY3" fmla="*/ 4704608 h 4704704"/>
              <a:gd name="connsiteX4" fmla="*/ 0 w 5048290"/>
              <a:gd name="connsiteY4" fmla="*/ 2272834 h 4704704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0 w 5048290"/>
              <a:gd name="connsiteY0" fmla="*/ 2272834 h 4704988"/>
              <a:gd name="connsiteX1" fmla="*/ 2530772 w 5048290"/>
              <a:gd name="connsiteY1" fmla="*/ 87 h 4704988"/>
              <a:gd name="connsiteX2" fmla="*/ 5048290 w 5048290"/>
              <a:gd name="connsiteY2" fmla="*/ 2352347 h 4704988"/>
              <a:gd name="connsiteX3" fmla="*/ 2530771 w 5048290"/>
              <a:gd name="connsiteY3" fmla="*/ 4704608 h 4704988"/>
              <a:gd name="connsiteX4" fmla="*/ 0 w 5048290"/>
              <a:gd name="connsiteY4" fmla="*/ 2272834 h 4704988"/>
              <a:gd name="connsiteX0" fmla="*/ 123 w 5048413"/>
              <a:gd name="connsiteY0" fmla="*/ 2272834 h 4718236"/>
              <a:gd name="connsiteX1" fmla="*/ 2530895 w 5048413"/>
              <a:gd name="connsiteY1" fmla="*/ 87 h 4718236"/>
              <a:gd name="connsiteX2" fmla="*/ 5048413 w 5048413"/>
              <a:gd name="connsiteY2" fmla="*/ 2352347 h 4718236"/>
              <a:gd name="connsiteX3" fmla="*/ 2438128 w 5048413"/>
              <a:gd name="connsiteY3" fmla="*/ 4717860 h 4718236"/>
              <a:gd name="connsiteX4" fmla="*/ 123 w 5048413"/>
              <a:gd name="connsiteY4" fmla="*/ 2272834 h 4718236"/>
              <a:gd name="connsiteX0" fmla="*/ 484 w 5048774"/>
              <a:gd name="connsiteY0" fmla="*/ 2286085 h 4731487"/>
              <a:gd name="connsiteX1" fmla="*/ 2624022 w 5048774"/>
              <a:gd name="connsiteY1" fmla="*/ 86 h 4731487"/>
              <a:gd name="connsiteX2" fmla="*/ 5048774 w 5048774"/>
              <a:gd name="connsiteY2" fmla="*/ 2365598 h 4731487"/>
              <a:gd name="connsiteX3" fmla="*/ 2438489 w 5048774"/>
              <a:gd name="connsiteY3" fmla="*/ 4731111 h 4731487"/>
              <a:gd name="connsiteX4" fmla="*/ 484 w 5048774"/>
              <a:gd name="connsiteY4" fmla="*/ 2286085 h 4731487"/>
              <a:gd name="connsiteX0" fmla="*/ 204 w 5048494"/>
              <a:gd name="connsiteY0" fmla="*/ 2299336 h 4744738"/>
              <a:gd name="connsiteX1" fmla="*/ 2557481 w 5048494"/>
              <a:gd name="connsiteY1" fmla="*/ 85 h 4744738"/>
              <a:gd name="connsiteX2" fmla="*/ 5048494 w 5048494"/>
              <a:gd name="connsiteY2" fmla="*/ 2378849 h 4744738"/>
              <a:gd name="connsiteX3" fmla="*/ 2438209 w 5048494"/>
              <a:gd name="connsiteY3" fmla="*/ 4744362 h 4744738"/>
              <a:gd name="connsiteX4" fmla="*/ 204 w 5048494"/>
              <a:gd name="connsiteY4" fmla="*/ 2299336 h 474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494" h="4744738">
                <a:moveTo>
                  <a:pt x="204" y="2299336"/>
                </a:moveTo>
                <a:cubicBezTo>
                  <a:pt x="20083" y="1508623"/>
                  <a:pt x="1464308" y="-13167"/>
                  <a:pt x="2557481" y="85"/>
                </a:cubicBezTo>
                <a:cubicBezTo>
                  <a:pt x="3650654" y="13337"/>
                  <a:pt x="5048494" y="1365171"/>
                  <a:pt x="5048494" y="2378849"/>
                </a:cubicBezTo>
                <a:cubicBezTo>
                  <a:pt x="5048494" y="3392527"/>
                  <a:pt x="3451869" y="4770866"/>
                  <a:pt x="2438209" y="4744362"/>
                </a:cubicBezTo>
                <a:cubicBezTo>
                  <a:pt x="1424549" y="4717858"/>
                  <a:pt x="-19675" y="3090049"/>
                  <a:pt x="204" y="2299336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203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3A6DD-75D5-AB7C-1816-66179EE81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590795"/>
              </p:ext>
            </p:extLst>
          </p:nvPr>
        </p:nvGraphicFramePr>
        <p:xfrm>
          <a:off x="2284" y="2284"/>
          <a:ext cx="2283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3A6DD-75D5-AB7C-1816-66179EE81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" y="2284"/>
                        <a:ext cx="2283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4D2BFCB-EFD6-43F7-B5CA-AB1C4ACF42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2246"/>
          <a:stretch/>
        </p:blipFill>
        <p:spPr>
          <a:xfrm>
            <a:off x="2335328" y="3005242"/>
            <a:ext cx="4356144" cy="32661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03ADF7-4133-D1C8-427E-43438B335CDB}"/>
              </a:ext>
            </a:extLst>
          </p:cNvPr>
          <p:cNvSpPr txBox="1"/>
          <p:nvPr userDrawn="1"/>
        </p:nvSpPr>
        <p:spPr>
          <a:xfrm>
            <a:off x="6642217" y="3531400"/>
            <a:ext cx="6231607" cy="2208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3750" b="1" noProof="0">
                <a:solidFill>
                  <a:schemeClr val="bg1"/>
                </a:solidFill>
                <a:latin typeface="DM Sans" pitchFamily="2" charset="0"/>
                <a:cs typeface="Arial" panose="020B0604020202020204" pitchFamily="34" charset="0"/>
              </a:rPr>
              <a:t>zentria</a:t>
            </a:r>
            <a:endParaRPr lang="en-US" sz="13750" b="1" i="1" noProof="0">
              <a:solidFill>
                <a:schemeClr val="bg1"/>
              </a:solidFill>
              <a:latin typeface="DM Sans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86E52B-3D4E-61EA-D54F-6C3AF0347FCA}"/>
              </a:ext>
            </a:extLst>
          </p:cNvPr>
          <p:cNvSpPr txBox="1"/>
          <p:nvPr userDrawn="1"/>
        </p:nvSpPr>
        <p:spPr>
          <a:xfrm>
            <a:off x="2335328" y="6305600"/>
            <a:ext cx="5002902" cy="41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93" noProof="0">
                <a:solidFill>
                  <a:schemeClr val="bg1"/>
                </a:solidFill>
              </a:rPr>
              <a:t>QBR4 | Diciembre 2022</a:t>
            </a:r>
          </a:p>
        </p:txBody>
      </p:sp>
    </p:spTree>
    <p:extLst>
      <p:ext uri="{BB962C8B-B14F-4D97-AF65-F5344CB8AC3E}">
        <p14:creationId xmlns:p14="http://schemas.microsoft.com/office/powerpoint/2010/main" val="177646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7078546"/>
              </p:ext>
            </p:extLst>
          </p:nvPr>
        </p:nvGraphicFramePr>
        <p:xfrm>
          <a:off x="1586" y="1587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6" y="1587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942679" y="6088308"/>
            <a:ext cx="9399023" cy="715611"/>
          </a:xfrm>
          <a:prstGeom prst="rect">
            <a:avLst/>
          </a:prstGeom>
        </p:spPr>
        <p:txBody>
          <a:bodyPr vert="horz" lIns="91434" tIns="45717" rIns="91434" bIns="45717">
            <a:normAutofit/>
          </a:bodyPr>
          <a:lstStyle>
            <a:lvl1pPr>
              <a:defRPr sz="4983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pt-BR"/>
              <a:t>Presentation Name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66394" y="6724996"/>
            <a:ext cx="3416652" cy="510866"/>
          </a:xfrm>
          <a:prstGeom prst="rect">
            <a:avLst/>
          </a:prstGeom>
        </p:spPr>
        <p:txBody>
          <a:bodyPr lIns="91434" tIns="45717" rIns="91434" bIns="45717">
            <a:noAutofit/>
          </a:bodyPr>
          <a:lstStyle>
            <a:lvl1pPr marL="0" indent="0" algn="l">
              <a:buNone/>
              <a:defRPr sz="2391" baseline="0">
                <a:solidFill>
                  <a:srgbClr val="404040"/>
                </a:solidFill>
                <a:latin typeface="+mn-lt"/>
              </a:defRPr>
            </a:lvl1pPr>
            <a:lvl2pPr marL="655853" indent="0" algn="ctr">
              <a:buNone/>
              <a:defRPr sz="2890"/>
            </a:lvl2pPr>
            <a:lvl3pPr marL="1311701" indent="0" algn="ctr">
              <a:buNone/>
              <a:defRPr sz="2591"/>
            </a:lvl3pPr>
            <a:lvl4pPr marL="1967554" indent="0" algn="ctr">
              <a:buNone/>
              <a:defRPr sz="2291"/>
            </a:lvl4pPr>
            <a:lvl5pPr marL="2623406" indent="0" algn="ctr">
              <a:buNone/>
              <a:defRPr sz="2291"/>
            </a:lvl5pPr>
            <a:lvl6pPr marL="3279257" indent="0" algn="ctr">
              <a:buNone/>
              <a:defRPr sz="2291"/>
            </a:lvl6pPr>
            <a:lvl7pPr marL="3935109" indent="0" algn="ctr">
              <a:buNone/>
              <a:defRPr sz="2291"/>
            </a:lvl7pPr>
            <a:lvl8pPr marL="4590960" indent="0" algn="ctr">
              <a:buNone/>
              <a:defRPr sz="2291"/>
            </a:lvl8pPr>
            <a:lvl9pPr marL="5246811" indent="0" algn="ctr">
              <a:buNone/>
              <a:defRPr sz="2291"/>
            </a:lvl9pPr>
          </a:lstStyle>
          <a:p>
            <a:r>
              <a:rPr lang="pt-BR"/>
              <a:t>DATE (MONTH YEAR)</a:t>
            </a:r>
            <a:endParaRPr lang="en-US"/>
          </a:p>
        </p:txBody>
      </p:sp>
      <p:pic>
        <p:nvPicPr>
          <p:cNvPr id="11" name="Imagem 3">
            <a:extLst>
              <a:ext uri="{FF2B5EF4-FFF2-40B4-BE49-F238E27FC236}">
                <a16:creationId xmlns:a16="http://schemas.microsoft.com/office/drawing/2014/main" id="{9E2586E2-2F3A-4516-B926-522FFF8528A8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3" t="36849" r="40698" b="51383"/>
          <a:stretch/>
        </p:blipFill>
        <p:spPr>
          <a:xfrm>
            <a:off x="661613" y="6182154"/>
            <a:ext cx="3922797" cy="1160929"/>
          </a:xfrm>
          <a:prstGeom prst="rect">
            <a:avLst/>
          </a:prstGeom>
        </p:spPr>
      </p:pic>
      <p:cxnSp>
        <p:nvCxnSpPr>
          <p:cNvPr id="12" name="Conector reto 44">
            <a:extLst>
              <a:ext uri="{FF2B5EF4-FFF2-40B4-BE49-F238E27FC236}">
                <a16:creationId xmlns:a16="http://schemas.microsoft.com/office/drawing/2014/main" id="{8C1E7D06-02DB-48A3-8EE0-BE55BEEC25E9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5182608" y="5848887"/>
            <a:ext cx="0" cy="1494194"/>
          </a:xfrm>
          <a:prstGeom prst="line">
            <a:avLst/>
          </a:prstGeom>
          <a:ln w="76200">
            <a:solidFill>
              <a:srgbClr val="0043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FA47BC-98E6-E20F-E1FE-BB75D0B373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5924" y="7344882"/>
            <a:ext cx="2963269" cy="222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02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4242200"/>
              </p:ext>
            </p:extLst>
          </p:nvPr>
        </p:nvGraphicFramePr>
        <p:xfrm>
          <a:off x="2284" y="2284"/>
          <a:ext cx="2283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" y="2284"/>
                        <a:ext cx="2283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AC0EA8-EC61-DEDF-E2E4-E2E7586794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1619" y="3863808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66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14FEFD19-81D7-7949-3F48-913792CA1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046" y="5506832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1BE730-AF34-B3D3-56F4-3FDFECFDA4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8957" y="3840854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66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02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47D8DF34-EACB-521B-2670-3509A9FAAD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7383" y="5483873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382A8E-97AA-521A-F85B-A57F92E45B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92032" y="3861662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66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03</a:t>
            </a:r>
          </a:p>
        </p:txBody>
      </p:sp>
      <p:sp>
        <p:nvSpPr>
          <p:cNvPr id="13" name="Text Placeholder 59">
            <a:extLst>
              <a:ext uri="{FF2B5EF4-FFF2-40B4-BE49-F238E27FC236}">
                <a16:creationId xmlns:a16="http://schemas.microsoft.com/office/drawing/2014/main" id="{2F9B9FEA-5DB7-8AFE-9602-6441477DD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460" y="5504684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D3D61E2-D3AB-6CDB-F8EB-FABDC8B2C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952251" y="3857902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9466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04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04327601-EC0F-7BE1-04C5-EE6C049DE3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50677" y="5500924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04726-DC9F-B590-1FB8-1C6762ED53DD}"/>
              </a:ext>
            </a:extLst>
          </p:cNvPr>
          <p:cNvCxnSpPr/>
          <p:nvPr userDrawn="1"/>
        </p:nvCxnSpPr>
        <p:spPr>
          <a:xfrm flipV="1">
            <a:off x="5606777" y="2245600"/>
            <a:ext cx="113724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A4D121-0C83-FB2D-227C-6041ED1922B8}"/>
              </a:ext>
            </a:extLst>
          </p:cNvPr>
          <p:cNvSpPr txBox="1"/>
          <p:nvPr userDrawn="1"/>
        </p:nvSpPr>
        <p:spPr>
          <a:xfrm>
            <a:off x="979556" y="1007366"/>
            <a:ext cx="4546449" cy="1589093"/>
          </a:xfrm>
          <a:prstGeom prst="rect">
            <a:avLst/>
          </a:prstGeom>
          <a:noFill/>
        </p:spPr>
        <p:txBody>
          <a:bodyPr wrap="none" lIns="131133" tIns="65566" rIns="131133" bIns="65566" rtlCol="0">
            <a:spAutoFit/>
          </a:bodyPr>
          <a:lstStyle/>
          <a:p>
            <a:r>
              <a:rPr lang="pt-BR" sz="9466">
                <a:solidFill>
                  <a:schemeClr val="tx2"/>
                </a:solidFill>
                <a:latin typeface="DM Sans" pitchFamily="2" charset="0"/>
              </a:rPr>
              <a:t>Agenda</a:t>
            </a:r>
            <a:endParaRPr lang="en-US" sz="9466">
              <a:solidFill>
                <a:schemeClr val="tx2"/>
              </a:solidFill>
              <a:latin typeface="DM Sans" pitchFamily="2" charset="0"/>
            </a:endParaRPr>
          </a:p>
        </p:txBody>
      </p:sp>
      <p:cxnSp>
        <p:nvCxnSpPr>
          <p:cNvPr id="22" name="Conector reto 12">
            <a:extLst>
              <a:ext uri="{FF2B5EF4-FFF2-40B4-BE49-F238E27FC236}">
                <a16:creationId xmlns:a16="http://schemas.microsoft.com/office/drawing/2014/main" id="{A662A7E3-097F-C826-86EB-08AC47132D2F}"/>
              </a:ext>
            </a:extLst>
          </p:cNvPr>
          <p:cNvCxnSpPr/>
          <p:nvPr userDrawn="1"/>
        </p:nvCxnSpPr>
        <p:spPr>
          <a:xfrm>
            <a:off x="1007754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4AF29DF-AE69-8863-B0F8-F364E95664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" y="8998869"/>
            <a:ext cx="1256715" cy="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7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52425C-0C69-73C9-AD07-977B9C796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6075720"/>
              </p:ext>
            </p:extLst>
          </p:nvPr>
        </p:nvGraphicFramePr>
        <p:xfrm>
          <a:off x="2284" y="2284"/>
          <a:ext cx="2283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52425C-0C69-73C9-AD07-977B9C796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" y="2284"/>
                        <a:ext cx="2283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04726-DC9F-B590-1FB8-1C6762ED53DD}"/>
              </a:ext>
            </a:extLst>
          </p:cNvPr>
          <p:cNvCxnSpPr/>
          <p:nvPr userDrawn="1"/>
        </p:nvCxnSpPr>
        <p:spPr>
          <a:xfrm flipV="1">
            <a:off x="5606777" y="2245600"/>
            <a:ext cx="113724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A4D121-0C83-FB2D-227C-6041ED1922B8}"/>
              </a:ext>
            </a:extLst>
          </p:cNvPr>
          <p:cNvSpPr txBox="1"/>
          <p:nvPr userDrawn="1"/>
        </p:nvSpPr>
        <p:spPr>
          <a:xfrm>
            <a:off x="979556" y="1007366"/>
            <a:ext cx="4546449" cy="1589093"/>
          </a:xfrm>
          <a:prstGeom prst="rect">
            <a:avLst/>
          </a:prstGeom>
          <a:noFill/>
        </p:spPr>
        <p:txBody>
          <a:bodyPr wrap="none" lIns="131133" tIns="65566" rIns="131133" bIns="65566" rtlCol="0">
            <a:spAutoFit/>
          </a:bodyPr>
          <a:lstStyle/>
          <a:p>
            <a:r>
              <a:rPr lang="pt-BR" sz="9466">
                <a:solidFill>
                  <a:schemeClr val="tx2"/>
                </a:solidFill>
                <a:latin typeface="DM Sans" pitchFamily="2" charset="0"/>
              </a:rPr>
              <a:t>Agenda</a:t>
            </a:r>
            <a:endParaRPr lang="en-US" sz="9466">
              <a:solidFill>
                <a:schemeClr val="tx2"/>
              </a:solidFill>
              <a:latin typeface="DM Sans" pitchFamily="2" charset="0"/>
            </a:endParaRPr>
          </a:p>
        </p:txBody>
      </p:sp>
      <p:cxnSp>
        <p:nvCxnSpPr>
          <p:cNvPr id="22" name="Conector reto 12">
            <a:extLst>
              <a:ext uri="{FF2B5EF4-FFF2-40B4-BE49-F238E27FC236}">
                <a16:creationId xmlns:a16="http://schemas.microsoft.com/office/drawing/2014/main" id="{A662A7E3-097F-C826-86EB-08AC47132D2F}"/>
              </a:ext>
            </a:extLst>
          </p:cNvPr>
          <p:cNvCxnSpPr/>
          <p:nvPr userDrawn="1"/>
        </p:nvCxnSpPr>
        <p:spPr>
          <a:xfrm>
            <a:off x="1007754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4AF29DF-AE69-8863-B0F8-F364E95664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" y="8998869"/>
            <a:ext cx="1256715" cy="94151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A14644-2BA1-8970-1674-CD4F0D64D3AA}"/>
              </a:ext>
            </a:extLst>
          </p:cNvPr>
          <p:cNvCxnSpPr/>
          <p:nvPr userDrawn="1"/>
        </p:nvCxnSpPr>
        <p:spPr>
          <a:xfrm>
            <a:off x="2836366" y="3840852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914565-D652-3933-4939-228763C11AFD}"/>
              </a:ext>
            </a:extLst>
          </p:cNvPr>
          <p:cNvCxnSpPr/>
          <p:nvPr userDrawn="1"/>
        </p:nvCxnSpPr>
        <p:spPr>
          <a:xfrm>
            <a:off x="2836366" y="6418219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8826B4-BC16-66C1-CCE6-012DF11F1D45}"/>
              </a:ext>
            </a:extLst>
          </p:cNvPr>
          <p:cNvCxnSpPr/>
          <p:nvPr userDrawn="1"/>
        </p:nvCxnSpPr>
        <p:spPr>
          <a:xfrm>
            <a:off x="6817811" y="3840852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DCB50F-DE42-DEFD-DDCA-617B0C774B1B}"/>
              </a:ext>
            </a:extLst>
          </p:cNvPr>
          <p:cNvCxnSpPr/>
          <p:nvPr userDrawn="1"/>
        </p:nvCxnSpPr>
        <p:spPr>
          <a:xfrm>
            <a:off x="6817811" y="6418219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D947C840-410C-9EED-1119-44214D8F9D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80065" y="5483873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FDEBCAB2-1659-88ED-8C1A-D94860EED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49108" y="5483873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A087C56-291A-D926-7E6B-76892A08B059}"/>
              </a:ext>
            </a:extLst>
          </p:cNvPr>
          <p:cNvCxnSpPr/>
          <p:nvPr userDrawn="1"/>
        </p:nvCxnSpPr>
        <p:spPr>
          <a:xfrm>
            <a:off x="10957827" y="3840852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EBDBA2-A874-E1DC-6256-A8B4D07AC5DF}"/>
              </a:ext>
            </a:extLst>
          </p:cNvPr>
          <p:cNvCxnSpPr/>
          <p:nvPr userDrawn="1"/>
        </p:nvCxnSpPr>
        <p:spPr>
          <a:xfrm>
            <a:off x="10957827" y="6418219"/>
            <a:ext cx="3244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59">
            <a:extLst>
              <a:ext uri="{FF2B5EF4-FFF2-40B4-BE49-F238E27FC236}">
                <a16:creationId xmlns:a16="http://schemas.microsoft.com/office/drawing/2014/main" id="{0BED24AC-04C2-BBBA-3328-A1DAC2DF45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89125" y="5483873"/>
            <a:ext cx="3673320" cy="743912"/>
          </a:xfrm>
          <a:prstGeom prst="rect">
            <a:avLst/>
          </a:prstGeom>
          <a:noFill/>
        </p:spPr>
        <p:txBody>
          <a:bodyPr lIns="91434" tIns="45717" rIns="91434" bIns="45717"/>
          <a:lstStyle>
            <a:lvl1pPr marL="0" indent="0" algn="ctr">
              <a:buNone/>
              <a:defRPr sz="2868">
                <a:solidFill>
                  <a:srgbClr val="404040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ITEM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B4F579E-9EDF-56D6-C3AC-DD6855916F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78360" y="3882266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7173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5D4965A-8FDB-78C0-0469-442215BF3D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48255" y="3875684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7173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B2DAC7C-9E11-7DBF-4D29-64DFFDCC3A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687421" y="3871989"/>
            <a:ext cx="3675025" cy="1411172"/>
          </a:xfrm>
          <a:prstGeom prst="rect">
            <a:avLst/>
          </a:prstGeom>
          <a:noFill/>
          <a:ln w="44450" cap="sq">
            <a:noFill/>
            <a:miter lim="800000"/>
          </a:ln>
        </p:spPr>
        <p:txBody>
          <a:bodyPr lIns="91434" tIns="45717" rIns="91434" bIns="45717" anchor="b">
            <a:normAutofit/>
          </a:bodyPr>
          <a:lstStyle>
            <a:lvl1pPr marL="0" indent="0" algn="ctr">
              <a:buNone/>
              <a:defRPr sz="7173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pt-BR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762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1332C8F-8393-7475-6CEE-E964E49F9D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3433573"/>
              </p:ext>
            </p:extLst>
          </p:nvPr>
        </p:nvGraphicFramePr>
        <p:xfrm>
          <a:off x="2284" y="2284"/>
          <a:ext cx="2283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1332C8F-8393-7475-6CEE-E964E49F9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" y="2284"/>
                        <a:ext cx="2283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BA5B65-20C4-45AB-93D8-2859109E54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2653" y="189055"/>
            <a:ext cx="13116203" cy="907877"/>
          </a:xfrm>
          <a:prstGeom prst="rect">
            <a:avLst/>
          </a:prstGeom>
        </p:spPr>
        <p:txBody>
          <a:bodyPr vert="horz" anchor="ctr" anchorCtr="0"/>
          <a:lstStyle>
            <a:lvl1pPr>
              <a:defRPr sz="4184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edit Master title</a:t>
            </a:r>
          </a:p>
        </p:txBody>
      </p:sp>
      <p:cxnSp>
        <p:nvCxnSpPr>
          <p:cNvPr id="9" name="Conector reto 12">
            <a:extLst>
              <a:ext uri="{FF2B5EF4-FFF2-40B4-BE49-F238E27FC236}">
                <a16:creationId xmlns:a16="http://schemas.microsoft.com/office/drawing/2014/main" id="{105163A6-0542-7752-ECE5-EFBED54C4E2E}"/>
              </a:ext>
            </a:extLst>
          </p:cNvPr>
          <p:cNvCxnSpPr/>
          <p:nvPr userDrawn="1"/>
        </p:nvCxnSpPr>
        <p:spPr>
          <a:xfrm>
            <a:off x="988130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2">
            <a:extLst>
              <a:ext uri="{FF2B5EF4-FFF2-40B4-BE49-F238E27FC236}">
                <a16:creationId xmlns:a16="http://schemas.microsoft.com/office/drawing/2014/main" id="{2218A07B-31B4-1B90-4C14-4B2A8EAA1504}"/>
              </a:ext>
            </a:extLst>
          </p:cNvPr>
          <p:cNvCxnSpPr/>
          <p:nvPr userDrawn="1"/>
        </p:nvCxnSpPr>
        <p:spPr>
          <a:xfrm>
            <a:off x="913078" y="1204334"/>
            <a:ext cx="15679247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8EBC07F-1EFB-E8C6-EC48-EC4527B5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3" y="9143144"/>
            <a:ext cx="11530887" cy="525205"/>
          </a:xfrm>
        </p:spPr>
        <p:txBody>
          <a:bodyPr/>
          <a:lstStyle>
            <a:lvl1pPr algn="l"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11451D-0627-9FB4-301E-B265DC59281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" y="8998869"/>
            <a:ext cx="1256715" cy="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5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488329" y="9159194"/>
            <a:ext cx="826106" cy="483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93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40226-5367-8B41-839B-83F16FF912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" y="8998869"/>
            <a:ext cx="1256715" cy="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9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 em 1 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B626AC3-3586-F4C4-DB9B-48DD0CED7D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9283502"/>
              </p:ext>
            </p:extLst>
          </p:nvPr>
        </p:nvGraphicFramePr>
        <p:xfrm>
          <a:off x="1586" y="1587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B626AC3-3586-F4C4-DB9B-48DD0CED7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6" y="1587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A048744-E3D8-74B6-72BA-DE995005D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0" y="564473"/>
            <a:ext cx="15121653" cy="907877"/>
          </a:xfrm>
          <a:prstGeom prst="rect">
            <a:avLst/>
          </a:prstGeom>
        </p:spPr>
        <p:txBody>
          <a:bodyPr vert="horz" anchor="ctr" anchorCtr="0"/>
          <a:lstStyle>
            <a:lvl1pPr>
              <a:defRPr sz="4184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Conector reto 12">
            <a:extLst>
              <a:ext uri="{FF2B5EF4-FFF2-40B4-BE49-F238E27FC236}">
                <a16:creationId xmlns:a16="http://schemas.microsoft.com/office/drawing/2014/main" id="{1B86BA4C-3418-8A29-7EFE-2807EB7C243E}"/>
              </a:ext>
            </a:extLst>
          </p:cNvPr>
          <p:cNvCxnSpPr/>
          <p:nvPr userDrawn="1"/>
        </p:nvCxnSpPr>
        <p:spPr>
          <a:xfrm>
            <a:off x="988130" y="9018410"/>
            <a:ext cx="15422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F27414-C2FA-45C1-BF3A-29309DF7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733" y="9143144"/>
            <a:ext cx="11530887" cy="525205"/>
          </a:xfrm>
        </p:spPr>
        <p:txBody>
          <a:bodyPr/>
          <a:lstStyle>
            <a:lvl1pPr>
              <a:defRPr>
                <a:latin typeface="DM Sans" pitchFamily="2" charset="0"/>
              </a:defRPr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285E1-FAFA-FAEA-28E9-1EE83659228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" y="8998869"/>
            <a:ext cx="1256715" cy="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4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as, Subcapas e Ag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73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ags" Target="../tags/tag26.xml"/><Relationship Id="rId5" Type="http://schemas.openxmlformats.org/officeDocument/2006/relationships/slideLayout" Target="../slideLayouts/slideLayout2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07591" y="9143139"/>
            <a:ext cx="5917168" cy="525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AF67970-BEFA-5A10-A5F9-72D9191C87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588513198"/>
              </p:ext>
            </p:extLst>
          </p:nvPr>
        </p:nvGraphicFramePr>
        <p:xfrm>
          <a:off x="2283" y="2284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21" imgH="420" progId="TCLayout.ActiveDocument.1">
                  <p:embed/>
                </p:oleObj>
              </mc:Choice>
              <mc:Fallback>
                <p:oleObj name="think-cell Slide" r:id="rId25" imgW="421" imgH="42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AF67970-BEFA-5A10-A5F9-72D9191C8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83" y="2284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>
            <a:extLst>
              <a:ext uri="{FF2B5EF4-FFF2-40B4-BE49-F238E27FC236}">
                <a16:creationId xmlns:a16="http://schemas.microsoft.com/office/drawing/2014/main" id="{5D655657-F95F-B53C-413F-69DE6A8ECB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327002" y="9349876"/>
            <a:ext cx="431459" cy="26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marL="0" marR="0" lvl="0" indent="0" algn="r" defTabSz="137389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D6822A-07B1-4F91-A295-811CDA9E83C4}" type="slidenum"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itchFamily="34" charset="0"/>
              </a:rPr>
              <a:pPr marL="0" marR="0" lvl="0" indent="0" algn="r" defTabSz="137389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72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9" name="Retângulo 18">
            <a:extLst>
              <a:ext uri="{FF2B5EF4-FFF2-40B4-BE49-F238E27FC236}">
                <a16:creationId xmlns:a16="http://schemas.microsoft.com/office/drawing/2014/main" id="{28DA736E-7D84-589A-08F3-F2D07B8C0553}"/>
              </a:ext>
            </a:extLst>
          </p:cNvPr>
          <p:cNvSpPr/>
          <p:nvPr userDrawn="1"/>
        </p:nvSpPr>
        <p:spPr>
          <a:xfrm>
            <a:off x="12604805" y="54453"/>
            <a:ext cx="4343368" cy="38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754" tIns="51754" rIns="51754" bIns="51754">
            <a:spAutoFit/>
          </a:bodyPr>
          <a:lstStyle/>
          <a:p>
            <a:pPr marL="0" marR="0" lvl="0" indent="0" algn="r" defTabSz="1314555" rtl="0" eaLnBrk="1" fontAlgn="base" latinLnBrk="0" hangingPunct="1">
              <a:lnSpc>
                <a:spcPct val="110000"/>
              </a:lnSpc>
              <a:spcBef>
                <a:spcPts val="431"/>
              </a:spcBef>
              <a:spcAft>
                <a:spcPct val="0"/>
              </a:spcAft>
              <a:buClr>
                <a:srgbClr val="00446B"/>
              </a:buClr>
              <a:buSzTx/>
              <a:buFontTx/>
              <a:buNone/>
              <a:tabLst/>
              <a:defRPr/>
            </a:pPr>
            <a:r>
              <a:rPr kumimoji="0" lang="es-CO" sz="1726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Confidencial</a:t>
            </a:r>
            <a:endParaRPr kumimoji="0" lang="pt-BR" sz="1726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70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62" r:id="rId2"/>
    <p:sldLayoutId id="2147483763" r:id="rId3"/>
    <p:sldLayoutId id="2147483764" r:id="rId4"/>
    <p:sldLayoutId id="2147483765" r:id="rId5"/>
    <p:sldLayoutId id="2147483708" r:id="rId6"/>
    <p:sldLayoutId id="2147483761" r:id="rId7"/>
    <p:sldLayoutId id="2147483728" r:id="rId8"/>
    <p:sldLayoutId id="2147483651" r:id="rId9"/>
    <p:sldLayoutId id="2147483709" r:id="rId10"/>
    <p:sldLayoutId id="2147483652" r:id="rId11"/>
    <p:sldLayoutId id="2147483766" r:id="rId12"/>
    <p:sldLayoutId id="2147483711" r:id="rId13"/>
    <p:sldLayoutId id="2147483727" r:id="rId14"/>
    <p:sldLayoutId id="2147483730" r:id="rId15"/>
    <p:sldLayoutId id="2147483731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</p:sldLayoutIdLst>
  <p:txStyles>
    <p:titleStyle>
      <a:lvl1pPr algn="l" defTabSz="1314907" rtl="0" eaLnBrk="1" latinLnBrk="0" hangingPunct="1">
        <a:lnSpc>
          <a:spcPct val="90000"/>
        </a:lnSpc>
        <a:spcBef>
          <a:spcPct val="0"/>
        </a:spcBef>
        <a:buNone/>
        <a:defRPr sz="63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8727" indent="-328727" algn="l" defTabSz="1314907" rtl="0" eaLnBrk="1" latinLnBrk="0" hangingPunct="1">
        <a:lnSpc>
          <a:spcPct val="90000"/>
        </a:lnSpc>
        <a:spcBef>
          <a:spcPts val="1438"/>
        </a:spcBef>
        <a:buFont typeface="Arial" panose="020B0604020202020204" pitchFamily="34" charset="0"/>
        <a:buChar char="•"/>
        <a:defRPr sz="4026" kern="1200">
          <a:solidFill>
            <a:schemeClr val="tx1"/>
          </a:solidFill>
          <a:latin typeface="+mn-lt"/>
          <a:ea typeface="+mn-ea"/>
          <a:cs typeface="+mn-cs"/>
        </a:defRPr>
      </a:lvl1pPr>
      <a:lvl2pPr marL="986180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3451" kern="1200">
          <a:solidFill>
            <a:schemeClr val="tx1"/>
          </a:solidFill>
          <a:latin typeface="+mn-lt"/>
          <a:ea typeface="+mn-ea"/>
          <a:cs typeface="+mn-cs"/>
        </a:defRPr>
      </a:lvl2pPr>
      <a:lvl3pPr marL="1643634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3pPr>
      <a:lvl4pPr marL="2301088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4pPr>
      <a:lvl5pPr marL="2958541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5pPr>
      <a:lvl6pPr marL="3615995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6pPr>
      <a:lvl7pPr marL="4273448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7pPr>
      <a:lvl8pPr marL="4930902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8pPr>
      <a:lvl9pPr marL="5588356" indent="-328727" algn="l" defTabSz="1314907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1pPr>
      <a:lvl2pPr marL="657454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2pPr>
      <a:lvl3pPr marL="1314907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3pPr>
      <a:lvl4pPr marL="1972361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4pPr>
      <a:lvl5pPr marL="2629814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5pPr>
      <a:lvl6pPr marL="3287268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6pPr>
      <a:lvl7pPr marL="3944722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7pPr>
      <a:lvl8pPr marL="4602175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8pPr>
      <a:lvl9pPr marL="5259629" algn="l" defTabSz="1314907" rtl="0" eaLnBrk="1" latinLnBrk="0" hangingPunct="1">
        <a:defRPr sz="2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07591" y="9143141"/>
            <a:ext cx="5917168" cy="525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AF67970-BEFA-5A10-A5F9-72D9191C87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566313456"/>
              </p:ext>
            </p:extLst>
          </p:nvPr>
        </p:nvGraphicFramePr>
        <p:xfrm>
          <a:off x="2284" y="2284"/>
          <a:ext cx="2283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21" imgH="420" progId="TCLayout.ActiveDocument.1">
                  <p:embed/>
                </p:oleObj>
              </mc:Choice>
              <mc:Fallback>
                <p:oleObj name="think-cell Slide" r:id="rId12" imgW="421" imgH="42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AF67970-BEFA-5A10-A5F9-72D9191C8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4" y="2284"/>
                        <a:ext cx="2283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>
            <a:extLst>
              <a:ext uri="{FF2B5EF4-FFF2-40B4-BE49-F238E27FC236}">
                <a16:creationId xmlns:a16="http://schemas.microsoft.com/office/drawing/2014/main" id="{5D655657-F95F-B53C-413F-69DE6A8ECB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327003" y="9350453"/>
            <a:ext cx="431458" cy="26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defTabSz="955675" eaLnBrk="0" hangingPunct="0"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algn="ctr" defTabSz="955675" eaLnBrk="0" fontAlgn="base" hangingPunct="0">
              <a:spcBef>
                <a:spcPct val="50000"/>
              </a:spcBef>
              <a:spcAft>
                <a:spcPct val="0"/>
              </a:spcAft>
              <a:buSzPct val="80000"/>
              <a:buFont typeface="Wingdings" pitchFamily="2" charset="2"/>
              <a:defRPr sz="9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marL="0" marR="0" lvl="0" indent="0" algn="r" defTabSz="137029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D6822A-07B1-4F91-A295-811CDA9E83C4}" type="slidenum">
              <a:rPr kumimoji="0" lang="en-US" sz="1722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itchFamily="34" charset="0"/>
              </a:rPr>
              <a:pPr marL="0" marR="0" lvl="0" indent="0" algn="r" defTabSz="137029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722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9" name="Retângulo 18">
            <a:extLst>
              <a:ext uri="{FF2B5EF4-FFF2-40B4-BE49-F238E27FC236}">
                <a16:creationId xmlns:a16="http://schemas.microsoft.com/office/drawing/2014/main" id="{28DA736E-7D84-589A-08F3-F2D07B8C0553}"/>
              </a:ext>
            </a:extLst>
          </p:cNvPr>
          <p:cNvSpPr/>
          <p:nvPr userDrawn="1"/>
        </p:nvSpPr>
        <p:spPr>
          <a:xfrm>
            <a:off x="13930836" y="6369"/>
            <a:ext cx="3589559" cy="38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615" tIns="51615" rIns="51615" bIns="51615">
            <a:spAutoFit/>
          </a:bodyPr>
          <a:lstStyle/>
          <a:p>
            <a:pPr marL="0" marR="0" lvl="0" indent="0" algn="ctr" defTabSz="1311106" rtl="0" eaLnBrk="1" fontAlgn="base" latinLnBrk="0" hangingPunct="1">
              <a:lnSpc>
                <a:spcPct val="110000"/>
              </a:lnSpc>
              <a:spcBef>
                <a:spcPts val="430"/>
              </a:spcBef>
              <a:spcAft>
                <a:spcPct val="0"/>
              </a:spcAft>
              <a:buClr>
                <a:srgbClr val="00446B"/>
              </a:buClr>
              <a:buSzTx/>
              <a:buFontTx/>
              <a:buNone/>
              <a:tabLst/>
              <a:defRPr/>
            </a:pPr>
            <a:r>
              <a:rPr kumimoji="0" lang="en-US" sz="1722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Highly</a:t>
            </a:r>
            <a:r>
              <a:rPr kumimoji="0" lang="pt-BR" sz="1722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1722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confidential</a:t>
            </a:r>
            <a:r>
              <a:rPr kumimoji="0" lang="pt-BR" sz="1722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 and trade secret</a:t>
            </a:r>
          </a:p>
        </p:txBody>
      </p:sp>
    </p:spTree>
    <p:extLst>
      <p:ext uri="{BB962C8B-B14F-4D97-AF65-F5344CB8AC3E}">
        <p14:creationId xmlns:p14="http://schemas.microsoft.com/office/powerpoint/2010/main" val="85114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l" defTabSz="1311457" rtl="0" eaLnBrk="1" latinLnBrk="0" hangingPunct="1">
        <a:lnSpc>
          <a:spcPct val="90000"/>
        </a:lnSpc>
        <a:spcBef>
          <a:spcPct val="0"/>
        </a:spcBef>
        <a:buNone/>
        <a:defRPr sz="6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7865" indent="-327865" algn="l" defTabSz="1311457" rtl="0" eaLnBrk="1" latinLnBrk="0" hangingPunct="1">
        <a:lnSpc>
          <a:spcPct val="90000"/>
        </a:lnSpc>
        <a:spcBef>
          <a:spcPts val="1434"/>
        </a:spcBef>
        <a:buFont typeface="Arial" panose="020B0604020202020204" pitchFamily="34" charset="0"/>
        <a:buChar char="•"/>
        <a:defRPr sz="4016" kern="1200">
          <a:solidFill>
            <a:schemeClr val="tx1"/>
          </a:solidFill>
          <a:latin typeface="+mn-lt"/>
          <a:ea typeface="+mn-ea"/>
          <a:cs typeface="+mn-cs"/>
        </a:defRPr>
      </a:lvl1pPr>
      <a:lvl2pPr marL="983592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3442" kern="1200">
          <a:solidFill>
            <a:schemeClr val="tx1"/>
          </a:solidFill>
          <a:latin typeface="+mn-lt"/>
          <a:ea typeface="+mn-ea"/>
          <a:cs typeface="+mn-cs"/>
        </a:defRPr>
      </a:lvl2pPr>
      <a:lvl3pPr marL="1639321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868" kern="1200">
          <a:solidFill>
            <a:schemeClr val="tx1"/>
          </a:solidFill>
          <a:latin typeface="+mn-lt"/>
          <a:ea typeface="+mn-ea"/>
          <a:cs typeface="+mn-cs"/>
        </a:defRPr>
      </a:lvl3pPr>
      <a:lvl4pPr marL="2295051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4pPr>
      <a:lvl5pPr marL="2950778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5pPr>
      <a:lvl6pPr marL="3606508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6pPr>
      <a:lvl7pPr marL="4262234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7pPr>
      <a:lvl8pPr marL="4917964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8pPr>
      <a:lvl9pPr marL="5573692" indent="-327865" algn="l" defTabSz="1311457" rtl="0" eaLnBrk="1" latinLnBrk="0" hangingPunct="1">
        <a:lnSpc>
          <a:spcPct val="90000"/>
        </a:lnSpc>
        <a:spcBef>
          <a:spcPts val="718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1pPr>
      <a:lvl2pPr marL="655728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2pPr>
      <a:lvl3pPr marL="1311457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3pPr>
      <a:lvl4pPr marL="1967185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4pPr>
      <a:lvl5pPr marL="2622914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5pPr>
      <a:lvl6pPr marL="3278641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6pPr>
      <a:lvl7pPr marL="3934372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7pPr>
      <a:lvl8pPr marL="4590098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8pPr>
      <a:lvl9pPr marL="5245829" algn="l" defTabSz="1311457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oleObject" Target="../embeddings/oleObject18.bin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Relationship Id="rId6" Type="http://schemas.openxmlformats.org/officeDocument/2006/relationships/diagramData" Target="../diagrams/data1.xml"/><Relationship Id="rId5" Type="http://schemas.openxmlformats.org/officeDocument/2006/relationships/image" Target="../media/image24.png"/><Relationship Id="rId10" Type="http://schemas.microsoft.com/office/2007/relationships/diagramDrawing" Target="../diagrams/drawing1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coins_w.png"/><Relationship Id="rId4" Type="http://schemas.openxmlformats.org/officeDocument/2006/relationships/image" Target="../media/ico_coins_w.sv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microscope_w.png"/><Relationship Id="rId4" Type="http://schemas.openxmlformats.org/officeDocument/2006/relationships/image" Target="../media/ico_microscope_w.svg"/><Relationship Id="rId5" Type="http://schemas.openxmlformats.org/officeDocument/2006/relationships/image" Target="../media/ico_hospital_w.png"/><Relationship Id="rId6" Type="http://schemas.openxmlformats.org/officeDocument/2006/relationships/image" Target="../media/ico_hospital_w.svg"/><Relationship Id="rId7" Type="http://schemas.openxmlformats.org/officeDocument/2006/relationships/image" Target="../media/ico_handmed_w.png"/><Relationship Id="rId8" Type="http://schemas.openxmlformats.org/officeDocument/2006/relationships/image" Target="../media/ico_handmed_w.svg"/><Relationship Id="rId9" Type="http://schemas.openxmlformats.org/officeDocument/2006/relationships/image" Target="../media/ico_news_w.png"/><Relationship Id="rId10" Type="http://schemas.openxmlformats.org/officeDocument/2006/relationships/image" Target="../media/ico_news_w.svg"/><Relationship Id="rId11" Type="http://schemas.openxmlformats.org/officeDocument/2006/relationships/image" Target="../media/ico_grad_w.png"/><Relationship Id="rId12" Type="http://schemas.openxmlformats.org/officeDocument/2006/relationships/image" Target="../media/ico_grad_w.svg"/><Relationship Id="rId13" Type="http://schemas.openxmlformats.org/officeDocument/2006/relationships/image" Target="../media/ico_bullhorn_w.png"/><Relationship Id="rId14" Type="http://schemas.openxmlformats.org/officeDocument/2006/relationships/image" Target="../media/ico_bullhorn_w.sv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shield_p.png"/><Relationship Id="rId4" Type="http://schemas.openxmlformats.org/officeDocument/2006/relationships/image" Target="../media/ico_shield_p.svg"/><Relationship Id="rId5" Type="http://schemas.openxmlformats.org/officeDocument/2006/relationships/image" Target="../media/ico_gavel_w.png"/><Relationship Id="rId6" Type="http://schemas.openxmlformats.org/officeDocument/2006/relationships/image" Target="../media/ico_gavel_w.svg"/><Relationship Id="rId7" Type="http://schemas.openxmlformats.org/officeDocument/2006/relationships/image" Target="../media/ico_pen_w.png"/><Relationship Id="rId8" Type="http://schemas.openxmlformats.org/officeDocument/2006/relationships/image" Target="../media/ico_pen_w.svg"/><Relationship Id="rId9" Type="http://schemas.openxmlformats.org/officeDocument/2006/relationships/image" Target="../media/ico_lock_w.png"/><Relationship Id="rId10" Type="http://schemas.openxmlformats.org/officeDocument/2006/relationships/image" Target="../media/ico_lock_w.svg"/><Relationship Id="rId11" Type="http://schemas.openxmlformats.org/officeDocument/2006/relationships/image" Target="../media/ico_handshake_w.png"/><Relationship Id="rId12" Type="http://schemas.openxmlformats.org/officeDocument/2006/relationships/image" Target="../media/ico_handshake_w.sv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sigma_w.png"/><Relationship Id="rId4" Type="http://schemas.openxmlformats.org/officeDocument/2006/relationships/image" Target="../media/ico_sigma_w.svg"/><Relationship Id="rId5" Type="http://schemas.openxmlformats.org/officeDocument/2006/relationships/image" Target="../media/ico_chart_w.png"/><Relationship Id="rId6" Type="http://schemas.openxmlformats.org/officeDocument/2006/relationships/image" Target="../media/ico_chart_w.svg"/><Relationship Id="rId7" Type="http://schemas.openxmlformats.org/officeDocument/2006/relationships/image" Target="../media/ico_filter_w.png"/><Relationship Id="rId8" Type="http://schemas.openxmlformats.org/officeDocument/2006/relationships/image" Target="../media/ico_filter_w.sv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clipboard_p.png"/><Relationship Id="rId4" Type="http://schemas.openxmlformats.org/officeDocument/2006/relationships/image" Target="../media/ico_clipboard_p.svg"/><Relationship Id="rId5" Type="http://schemas.openxmlformats.org/officeDocument/2006/relationships/image" Target="../media/ico_search_p.png"/><Relationship Id="rId6" Type="http://schemas.openxmlformats.org/officeDocument/2006/relationships/image" Target="../media/ico_search_p.svg"/><Relationship Id="rId7" Type="http://schemas.openxmlformats.org/officeDocument/2006/relationships/image" Target="../media/ico_filemed_p.png"/><Relationship Id="rId8" Type="http://schemas.openxmlformats.org/officeDocument/2006/relationships/image" Target="../media/ico_filemed_p.svg"/><Relationship Id="rId9" Type="http://schemas.openxmlformats.org/officeDocument/2006/relationships/image" Target="../media/ico_dropslash_p.png"/><Relationship Id="rId10" Type="http://schemas.openxmlformats.org/officeDocument/2006/relationships/image" Target="../media/ico_dropslash_p.svg"/><Relationship Id="rId11" Type="http://schemas.openxmlformats.org/officeDocument/2006/relationships/image" Target="../media/ico_usercheck_w.png"/><Relationship Id="rId12" Type="http://schemas.openxmlformats.org/officeDocument/2006/relationships/image" Target="../media/ico_usercheck_w.svg"/><Relationship Id="rId13" Type="http://schemas.openxmlformats.org/officeDocument/2006/relationships/image" Target="../media/ico_laptop_w.png"/><Relationship Id="rId14" Type="http://schemas.openxmlformats.org/officeDocument/2006/relationships/image" Target="../media/ico_laptop_w.svg"/><Relationship Id="rId15" Type="http://schemas.openxmlformats.org/officeDocument/2006/relationships/image" Target="../media/ico_list_w.png"/><Relationship Id="rId16" Type="http://schemas.openxmlformats.org/officeDocument/2006/relationships/image" Target="../media/ico_list_w.svg"/><Relationship Id="rId17" Type="http://schemas.openxmlformats.org/officeDocument/2006/relationships/image" Target="../media/ico_userlock_w.png"/><Relationship Id="rId18" Type="http://schemas.openxmlformats.org/officeDocument/2006/relationships/image" Target="../media/ico_userlock_w.svg"/><Relationship Id="rId19" Type="http://schemas.openxmlformats.org/officeDocument/2006/relationships/image" Target="../media/ico_calendar_w.png"/><Relationship Id="rId20" Type="http://schemas.openxmlformats.org/officeDocument/2006/relationships/image" Target="../media/ico_calendar_w.svg"/><Relationship Id="rId21" Type="http://schemas.openxmlformats.org/officeDocument/2006/relationships/image" Target="../media/ico_database_w.png"/><Relationship Id="rId22" Type="http://schemas.openxmlformats.org/officeDocument/2006/relationships/image" Target="../media/ico_database_w.sv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heartcrack_w.png"/><Relationship Id="rId4" Type="http://schemas.openxmlformats.org/officeDocument/2006/relationships/image" Target="../media/ico_heartcrack_w.svg"/><Relationship Id="rId5" Type="http://schemas.openxmlformats.org/officeDocument/2006/relationships/image" Target="../media/ico_brain_w.png"/><Relationship Id="rId6" Type="http://schemas.openxmlformats.org/officeDocument/2006/relationships/image" Target="../media/ico_brain_w.svg"/><Relationship Id="rId7" Type="http://schemas.openxmlformats.org/officeDocument/2006/relationships/image" Target="../media/ico_heartpulse_w.png"/><Relationship Id="rId8" Type="http://schemas.openxmlformats.org/officeDocument/2006/relationships/image" Target="../media/ico_heartpulse_w.svg"/><Relationship Id="rId9" Type="http://schemas.openxmlformats.org/officeDocument/2006/relationships/image" Target="../media/ico_kidney_w.png"/><Relationship Id="rId10" Type="http://schemas.openxmlformats.org/officeDocument/2006/relationships/image" Target="../media/ico_kidney_w.svg"/><Relationship Id="rId11" Type="http://schemas.openxmlformats.org/officeDocument/2006/relationships/image" Target="../media/ico_lungs_w.png"/><Relationship Id="rId12" Type="http://schemas.openxmlformats.org/officeDocument/2006/relationships/image" Target="../media/ico_lungs_w.svg"/><Relationship Id="rId13" Type="http://schemas.openxmlformats.org/officeDocument/2006/relationships/image" Target="../media/ico_virus_w.png"/><Relationship Id="rId14" Type="http://schemas.openxmlformats.org/officeDocument/2006/relationships/image" Target="../media/ico_virus_w.svg"/><Relationship Id="rId15" Type="http://schemas.openxmlformats.org/officeDocument/2006/relationships/image" Target="../media/ico_doctor_w.png"/><Relationship Id="rId16" Type="http://schemas.openxmlformats.org/officeDocument/2006/relationships/image" Target="../media/ico_doctor_w.svg"/><Relationship Id="rId17" Type="http://schemas.openxmlformats.org/officeDocument/2006/relationships/image" Target="../media/ico_droplet_o.png"/><Relationship Id="rId18" Type="http://schemas.openxmlformats.org/officeDocument/2006/relationships/image" Target="../media/ico_droplet_o.sv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heart_p.png"/><Relationship Id="rId4" Type="http://schemas.openxmlformats.org/officeDocument/2006/relationships/image" Target="../media/ico_heart_p.svg"/><Relationship Id="rId5" Type="http://schemas.openxmlformats.org/officeDocument/2006/relationships/image" Target="../media/ico_check_w.png"/><Relationship Id="rId6" Type="http://schemas.openxmlformats.org/officeDocument/2006/relationships/image" Target="../media/ico_check_w.svg"/><Relationship Id="rId7" Type="http://schemas.openxmlformats.org/officeDocument/2006/relationships/image" Target="../media/ico_xmark_w.png"/><Relationship Id="rId8" Type="http://schemas.openxmlformats.org/officeDocument/2006/relationships/image" Target="../media/ico_xmark_w.sv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layers_w.png"/><Relationship Id="rId4" Type="http://schemas.openxmlformats.org/officeDocument/2006/relationships/image" Target="../media/ico_layers_w.svg"/><Relationship Id="rId5" Type="http://schemas.openxmlformats.org/officeDocument/2006/relationships/image" Target="../media/ico_location_w.png"/><Relationship Id="rId6" Type="http://schemas.openxmlformats.org/officeDocument/2006/relationships/image" Target="../media/ico_location_w.svg"/><Relationship Id="rId7" Type="http://schemas.openxmlformats.org/officeDocument/2006/relationships/image" Target="../media/ico_calendar_w.png"/><Relationship Id="rId8" Type="http://schemas.openxmlformats.org/officeDocument/2006/relationships/image" Target="../media/ico_calendar_w.svg"/><Relationship Id="rId9" Type="http://schemas.openxmlformats.org/officeDocument/2006/relationships/image" Target="../media/ico_users_w.png"/><Relationship Id="rId10" Type="http://schemas.openxmlformats.org/officeDocument/2006/relationships/image" Target="../media/ico_users_w.svg"/><Relationship Id="rId11" Type="http://schemas.openxmlformats.org/officeDocument/2006/relationships/image" Target="../media/ico_filter_w.png"/><Relationship Id="rId12" Type="http://schemas.openxmlformats.org/officeDocument/2006/relationships/image" Target="../media/ico_filter_w.svg"/><Relationship Id="rId13" Type="http://schemas.openxmlformats.org/officeDocument/2006/relationships/image" Target="../media/ico_warn_o.png"/><Relationship Id="rId14" Type="http://schemas.openxmlformats.org/officeDocument/2006/relationships/image" Target="../media/ico_warn_o.sv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bullseye_w.png"/><Relationship Id="rId4" Type="http://schemas.openxmlformats.org/officeDocument/2006/relationships/image" Target="../media/ico_bullseye_w.svg"/><Relationship Id="rId5" Type="http://schemas.openxmlformats.org/officeDocument/2006/relationships/image" Target="../media/ico_users_p.png"/><Relationship Id="rId6" Type="http://schemas.openxmlformats.org/officeDocument/2006/relationships/image" Target="../media/ico_users_p.svg"/><Relationship Id="rId7" Type="http://schemas.openxmlformats.org/officeDocument/2006/relationships/image" Target="../media/ico_handmed_p.png"/><Relationship Id="rId8" Type="http://schemas.openxmlformats.org/officeDocument/2006/relationships/image" Target="../media/ico_handmed_p.svg"/><Relationship Id="rId9" Type="http://schemas.openxmlformats.org/officeDocument/2006/relationships/image" Target="../media/ico_droplet_p.png"/><Relationship Id="rId10" Type="http://schemas.openxmlformats.org/officeDocument/2006/relationships/image" Target="../media/ico_droplet_p.svg"/><Relationship Id="rId11" Type="http://schemas.openxmlformats.org/officeDocument/2006/relationships/image" Target="../media/ico_chart_p.png"/><Relationship Id="rId12" Type="http://schemas.openxmlformats.org/officeDocument/2006/relationships/image" Target="../media/ico_chart_p.svg"/><Relationship Id="rId13" Type="http://schemas.openxmlformats.org/officeDocument/2006/relationships/image" Target="../media/ico_search_p.png"/><Relationship Id="rId14" Type="http://schemas.openxmlformats.org/officeDocument/2006/relationships/image" Target="../media/ico_search_p.sv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clipboard_w.png"/><Relationship Id="rId4" Type="http://schemas.openxmlformats.org/officeDocument/2006/relationships/image" Target="../media/ico_clipboard_w.svg"/><Relationship Id="rId5" Type="http://schemas.openxmlformats.org/officeDocument/2006/relationships/image" Target="../media/ico_heartpulse_w.png"/><Relationship Id="rId6" Type="http://schemas.openxmlformats.org/officeDocument/2006/relationships/image" Target="../media/ico_heartpulse_w.svg"/><Relationship Id="rId7" Type="http://schemas.openxmlformats.org/officeDocument/2006/relationships/image" Target="../media/ico_bed_w.png"/><Relationship Id="rId8" Type="http://schemas.openxmlformats.org/officeDocument/2006/relationships/image" Target="../media/ico_bed_w.sv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chart_w.png"/><Relationship Id="rId4" Type="http://schemas.openxmlformats.org/officeDocument/2006/relationships/image" Target="../media/ico_chart_w.svg"/><Relationship Id="rId5" Type="http://schemas.openxmlformats.org/officeDocument/2006/relationships/image" Target="../media/ico_bulb_w.png"/><Relationship Id="rId6" Type="http://schemas.openxmlformats.org/officeDocument/2006/relationships/image" Target="../media/ico_bulb_w.svg"/><Relationship Id="rId7" Type="http://schemas.openxmlformats.org/officeDocument/2006/relationships/image" Target="../media/ico_handmed_w.png"/><Relationship Id="rId8" Type="http://schemas.openxmlformats.org/officeDocument/2006/relationships/image" Target="../media/ico_handmed_w.svg"/><Relationship Id="rId9" Type="http://schemas.openxmlformats.org/officeDocument/2006/relationships/image" Target="../media/ico_database_w.png"/><Relationship Id="rId10" Type="http://schemas.openxmlformats.org/officeDocument/2006/relationships/image" Target="../media/ico_database_w.sv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filemed_w.png"/><Relationship Id="rId4" Type="http://schemas.openxmlformats.org/officeDocument/2006/relationships/image" Target="../media/ico_filemed_w.svg"/><Relationship Id="rId5" Type="http://schemas.openxmlformats.org/officeDocument/2006/relationships/image" Target="../media/ico_globe_w.png"/><Relationship Id="rId6" Type="http://schemas.openxmlformats.org/officeDocument/2006/relationships/image" Target="../media/ico_globe_w.svg"/><Relationship Id="rId7" Type="http://schemas.openxmlformats.org/officeDocument/2006/relationships/image" Target="../media/ico_hospital_w.png"/><Relationship Id="rId8" Type="http://schemas.openxmlformats.org/officeDocument/2006/relationships/image" Target="../media/ico_hospital_w.svg"/><Relationship Id="rId9" Type="http://schemas.openxmlformats.org/officeDocument/2006/relationships/image" Target="../media/ico_question_p.png"/><Relationship Id="rId10" Type="http://schemas.openxmlformats.org/officeDocument/2006/relationships/image" Target="../media/ico_question_p.sv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scale_w.png"/><Relationship Id="rId4" Type="http://schemas.openxmlformats.org/officeDocument/2006/relationships/image" Target="../media/ico_scale_w.svg"/><Relationship Id="rId5" Type="http://schemas.openxmlformats.org/officeDocument/2006/relationships/image" Target="../media/ico_warn_o.png"/><Relationship Id="rId6" Type="http://schemas.openxmlformats.org/officeDocument/2006/relationships/image" Target="../media/ico_warn_o.svg"/><Relationship Id="rId7" Type="http://schemas.openxmlformats.org/officeDocument/2006/relationships/image" Target="../media/ico_heartcrack_w.png"/><Relationship Id="rId8" Type="http://schemas.openxmlformats.org/officeDocument/2006/relationships/image" Target="../media/ico_heartcrack_w.sv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co_heartpulse_w.png"/><Relationship Id="rId4" Type="http://schemas.openxmlformats.org/officeDocument/2006/relationships/image" Target="../media/ico_heartpulse_w.svg"/><Relationship Id="rId5" Type="http://schemas.openxmlformats.org/officeDocument/2006/relationships/image" Target="../media/ico_dropslash_w.png"/><Relationship Id="rId6" Type="http://schemas.openxmlformats.org/officeDocument/2006/relationships/image" Target="../media/ico_dropslash_w.svg"/><Relationship Id="rId7" Type="http://schemas.openxmlformats.org/officeDocument/2006/relationships/image" Target="../media/ico_warn_w.png"/><Relationship Id="rId8" Type="http://schemas.openxmlformats.org/officeDocument/2006/relationships/image" Target="../media/ico_warn_w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97595C7C-5B14-C9FA-B0DC-C9D2B5C128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8743153"/>
              </p:ext>
            </p:extLst>
          </p:nvPr>
        </p:nvGraphicFramePr>
        <p:xfrm>
          <a:off x="2283" y="3672"/>
          <a:ext cx="2284" cy="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97595C7C-5B14-C9FA-B0DC-C9D2B5C12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3" y="3672"/>
                        <a:ext cx="2284" cy="2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45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FE05A-74B7-7F20-684E-DBA3B507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42" y="1000000"/>
            <a:ext cx="9563438" cy="4600000"/>
          </a:xfrm>
        </p:spPr>
        <p:txBody>
          <a:bodyPr/>
          <a:lstStyle/>
          <a:p>
            <a:pPr algn="ctr"/>
            <a:r>
              <a:rPr lang="es-CO" sz="3800" b="1" dirty="0"/>
              <a:t>Complicaciones mayores y mortalidad intrahospitalaria según el tipo de cirugía cardiaca en pacientes </a:t>
            </a:r>
            <a:r>
              <a:rPr lang="es-CO" sz="3800" b="1" dirty="0">
                <a:solidFill>
                  <a:schemeClr val="accent3">
                    <a:lumMod val="75000"/>
                  </a:schemeClr>
                </a:solidFill>
              </a:rPr>
              <a:t>Testigos de Jehová</a:t>
            </a:r>
            <a:r>
              <a:rPr lang="es-CO" sz="3800" b="1" dirty="0"/>
              <a:t>: cohorte retrospectiva en Barranquilla, 2020–2025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A4A0CD4-14DD-50EF-5D5B-F3E08813DE81}"/>
              </a:ext>
            </a:extLst>
          </p:cNvPr>
          <p:cNvSpPr txBox="1">
            <a:spLocks/>
          </p:cNvSpPr>
          <p:nvPr/>
        </p:nvSpPr>
        <p:spPr>
          <a:xfrm>
            <a:off x="613979" y="5900000"/>
            <a:ext cx="9800000" cy="2750000"/>
          </a:xfrm>
          <a:prstGeom prst="rect">
            <a:avLst/>
          </a:prstGeom>
        </p:spPr>
        <p:txBody>
          <a:bodyPr vert="horz"/>
          <a:lstStyle>
            <a:lvl1pPr algn="l" defTabSz="1314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27" kern="1200">
                <a:solidFill>
                  <a:schemeClr val="bg1"/>
                </a:solidFill>
                <a:latin typeface="DM Sans" pitchFamily="2" charset="0"/>
                <a:ea typeface="+mj-ea"/>
                <a:cs typeface="+mj-cs"/>
              </a:defRPr>
            </a:lvl1pPr>
          </a:lstStyle>
          <a:p>
            <a:pPr>
              <a:spcAft>
                <a:spcPts val="200"/>
              </a:spcAft>
            </a:pPr>
            <a:r>
              <a:rPr lang="es-CO" sz="2600" b="1" dirty="0"/>
              <a:t>Daily Daniela Torres Villazon</a:t>
            </a:r>
          </a:p>
          <a:p>
            <a:pPr>
              <a:spcAft>
                <a:spcPts val="200"/>
              </a:spcAft>
            </a:pPr>
            <a:r>
              <a:rPr lang="es-CO" sz="2600" b="1" dirty="0"/>
              <a:t>Nestor Fabian Sanabria Duarte</a:t>
            </a:r>
          </a:p>
          <a:p>
            <a:pPr>
              <a:spcAft>
                <a:spcPts val="200"/>
              </a:spcAft>
            </a:pPr>
            <a:r>
              <a:rPr lang="es-CO" sz="1800" dirty="0"/>
              <a:t>Asesora metodológica: Evelyn Mendoza Torres</a:t>
            </a:r>
          </a:p>
          <a:p>
            <a:pPr>
              <a:spcAft>
                <a:spcPts val="200"/>
              </a:spcAft>
            </a:pPr>
            <a:r>
              <a:rPr lang="es-CO" sz="1600" dirty="0"/>
              <a:t>Especialización en Medicina Interna · Universidad Libre Seccional Barranquilla</a:t>
            </a:r>
          </a:p>
          <a:p>
            <a:pPr>
              <a:spcAft>
                <a:spcPts val="200"/>
              </a:spcAft>
            </a:pPr>
            <a:r>
              <a:rPr lang="es-CO" sz="1600" dirty="0">
                <a:solidFill>
                  <a:srgbClr val="FFB5A6"/>
                </a:solidFill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25185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AE9AC75-EF44-8065-459B-0BDA8CD07F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65" name="Imagen 1">
            <a:extLst>
              <a:ext uri="{FF2B5EF4-FFF2-40B4-BE49-F238E27FC236}">
                <a16:creationId xmlns:a16="http://schemas.microsoft.com/office/drawing/2014/main" id="{C158F582-2391-495D-87E2-42B43178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544" y="9129252"/>
            <a:ext cx="1581150" cy="73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1205350" y="622194"/>
            <a:ext cx="151216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78206E"/>
                </a:solidFill>
              </a:rPr>
              <a:t>DECLARACIÓN DE USO DE INTELIGENCIA ARTIFICIAL</a:t>
            </a:r>
            <a:endParaRPr lang="es-CO" sz="4000" b="1" dirty="0">
              <a:solidFill>
                <a:srgbClr val="78206E"/>
              </a:solidFill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719D7FC5-0C0E-9352-1F5A-24B4DBF93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077287"/>
              </p:ext>
            </p:extLst>
          </p:nvPr>
        </p:nvGraphicFramePr>
        <p:xfrm>
          <a:off x="1087898" y="2539419"/>
          <a:ext cx="13353341" cy="5661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64600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3A37E58-CD07-EEED-B994-56AD48FC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733" y="4067161"/>
            <a:ext cx="5996552" cy="1730402"/>
          </a:xfrm>
        </p:spPr>
        <p:txBody>
          <a:bodyPr/>
          <a:lstStyle/>
          <a:p>
            <a:r>
              <a:rPr lang="es-ES" sz="9600" dirty="0"/>
              <a:t>GRACIAS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932587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REFERENCIAS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Numero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20</a:t>
            </a:r>
            <a:endParaRPr lang="es-CO" sz="1300" dirty="0"/>
          </a:p>
        </p:txBody>
      </p:sp>
      <p:sp>
        <p:nvSpPr>
          <p:cNvPr id="6" name="Texto 6"/>
          <p:cNvSpPr txBox="1"/>
          <p:nvPr/>
        </p:nvSpPr>
        <p:spPr>
          <a:xfrm>
            <a:off x="1508760" y="182880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Colombia. Congreso de la República. Ley 23 de 1981.</a:t>
            </a:r>
            <a:endParaRPr lang="es-CO" sz="1500" dirty="0"/>
          </a:p>
        </p:txBody>
      </p:sp>
      <p:sp>
        <p:nvSpPr>
          <p:cNvPr id="7" name="Numero 7"/>
          <p:cNvSpPr/>
          <p:nvPr/>
        </p:nvSpPr>
        <p:spPr>
          <a:xfrm>
            <a:off x="914400" y="2578608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21</a:t>
            </a:r>
            <a:endParaRPr lang="es-CO" sz="1300" dirty="0"/>
          </a:p>
        </p:txBody>
      </p:sp>
      <p:sp>
        <p:nvSpPr>
          <p:cNvPr id="8" name="Texto 8"/>
          <p:cNvSpPr txBox="1"/>
          <p:nvPr/>
        </p:nvSpPr>
        <p:spPr>
          <a:xfrm>
            <a:off x="1508760" y="250545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Colombia. Ministerio de Salud. Resolución 8430 de 1993.</a:t>
            </a:r>
            <a:endParaRPr lang="es-CO" sz="1500" dirty="0"/>
          </a:p>
        </p:txBody>
      </p:sp>
      <p:sp>
        <p:nvSpPr>
          <p:cNvPr id="9" name="Numero 9"/>
          <p:cNvSpPr/>
          <p:nvPr/>
        </p:nvSpPr>
        <p:spPr>
          <a:xfrm>
            <a:off x="914400" y="3255264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22</a:t>
            </a:r>
            <a:endParaRPr lang="es-CO" sz="1300" dirty="0"/>
          </a:p>
        </p:txBody>
      </p:sp>
      <p:sp>
        <p:nvSpPr>
          <p:cNvPr id="10" name="Texto 10"/>
          <p:cNvSpPr txBox="1"/>
          <p:nvPr/>
        </p:nvSpPr>
        <p:spPr>
          <a:xfrm>
            <a:off x="1508760" y="318211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Colombia. Congreso de la República. Ley Estatutaria 1581 de 2012.</a:t>
            </a:r>
            <a:endParaRPr lang="es-CO" sz="1500" dirty="0"/>
          </a:p>
        </p:txBody>
      </p:sp>
      <p:sp>
        <p:nvSpPr>
          <p:cNvPr id="11" name="Numero 11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23</a:t>
            </a:r>
            <a:endParaRPr lang="es-CO" sz="1300" dirty="0"/>
          </a:p>
        </p:txBody>
      </p:sp>
      <p:sp>
        <p:nvSpPr>
          <p:cNvPr id="12" name="Texto 12"/>
          <p:cNvSpPr txBox="1"/>
          <p:nvPr/>
        </p:nvSpPr>
        <p:spPr>
          <a:xfrm>
            <a:off x="1508760" y="385876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Carson JL, et al. JAMA. 2023;330(19):1892-902.</a:t>
            </a:r>
            <a:endParaRPr lang="es-CO" sz="1500" dirty="0"/>
          </a:p>
        </p:txBody>
      </p:sp>
      <p:sp>
        <p:nvSpPr>
          <p:cNvPr id="13" name="Numero 13"/>
          <p:cNvSpPr/>
          <p:nvPr/>
        </p:nvSpPr>
        <p:spPr>
          <a:xfrm>
            <a:off x="914400" y="4608576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24</a:t>
            </a:r>
            <a:endParaRPr lang="es-CO" sz="1300" dirty="0"/>
          </a:p>
        </p:txBody>
      </p:sp>
      <p:sp>
        <p:nvSpPr>
          <p:cNvPr id="14" name="Texto 14"/>
          <p:cNvSpPr txBox="1"/>
          <p:nvPr/>
        </p:nvSpPr>
        <p:spPr>
          <a:xfrm>
            <a:off x="1508760" y="4535424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O'Brien SM, et al. Ann Thorac Surg. 2018;105(5):1419-28.</a:t>
            </a:r>
            <a:endParaRPr lang="es-CO" sz="1500" dirty="0"/>
          </a:p>
        </p:txBody>
      </p:sp>
      <p:sp>
        <p:nvSpPr>
          <p:cNvPr id="15" name="Numero 15"/>
          <p:cNvSpPr/>
          <p:nvPr/>
        </p:nvSpPr>
        <p:spPr>
          <a:xfrm>
            <a:off x="914400" y="5285232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25</a:t>
            </a:r>
            <a:endParaRPr lang="es-CO" sz="1300" dirty="0"/>
          </a:p>
        </p:txBody>
      </p:sp>
      <p:sp>
        <p:nvSpPr>
          <p:cNvPr id="16" name="Texto 16"/>
          <p:cNvSpPr txBox="1"/>
          <p:nvPr/>
        </p:nvSpPr>
        <p:spPr>
          <a:xfrm>
            <a:off x="1508760" y="521208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Dyke C, et al. J Thorac Cardiovasc Surg. 2014;147(5):1458-63.</a:t>
            </a:r>
            <a:endParaRPr lang="es-CO" sz="1500" dirty="0"/>
          </a:p>
        </p:txBody>
      </p:sp>
      <p:sp>
        <p:nvSpPr>
          <p:cNvPr id="17" name="Numero 17"/>
          <p:cNvSpPr/>
          <p:nvPr/>
        </p:nvSpPr>
        <p:spPr>
          <a:xfrm>
            <a:off x="914400" y="5961888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26</a:t>
            </a:r>
            <a:endParaRPr lang="es-CO" sz="1300" dirty="0"/>
          </a:p>
        </p:txBody>
      </p:sp>
      <p:sp>
        <p:nvSpPr>
          <p:cNvPr id="18" name="Texto 18"/>
          <p:cNvSpPr txBox="1"/>
          <p:nvPr/>
        </p:nvSpPr>
        <p:spPr>
          <a:xfrm>
            <a:off x="1508760" y="588873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KDIGO AKI Work Group. Kidney Int Suppl. 2012;2(1):1-138.</a:t>
            </a:r>
            <a:endParaRPr lang="es-CO" sz="1500" dirty="0"/>
          </a:p>
        </p:txBody>
      </p:sp>
      <p:sp>
        <p:nvSpPr>
          <p:cNvPr id="19" name="Numero 19"/>
          <p:cNvSpPr/>
          <p:nvPr/>
        </p:nvSpPr>
        <p:spPr>
          <a:xfrm>
            <a:off x="914400" y="6638544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27</a:t>
            </a:r>
            <a:endParaRPr lang="es-CO" sz="1300" dirty="0"/>
          </a:p>
        </p:txBody>
      </p:sp>
      <p:sp>
        <p:nvSpPr>
          <p:cNvPr id="20" name="Texto 20"/>
          <p:cNvSpPr txBox="1"/>
          <p:nvPr/>
        </p:nvSpPr>
        <p:spPr>
          <a:xfrm>
            <a:off x="1508760" y="656539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Singer M, et al. JAMA. 2016;315(8):801-10.</a:t>
            </a:r>
            <a:endParaRPr lang="es-CO" sz="1500" dirty="0"/>
          </a:p>
        </p:txBody>
      </p:sp>
      <p:sp>
        <p:nvSpPr>
          <p:cNvPr id="21" name="Numero 21"/>
          <p:cNvSpPr/>
          <p:nvPr/>
        </p:nvSpPr>
        <p:spPr>
          <a:xfrm>
            <a:off x="914400" y="7315200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28</a:t>
            </a:r>
            <a:endParaRPr lang="es-CO" sz="1300" dirty="0"/>
          </a:p>
        </p:txBody>
      </p:sp>
      <p:sp>
        <p:nvSpPr>
          <p:cNvPr id="22" name="Texto 22"/>
          <p:cNvSpPr txBox="1"/>
          <p:nvPr/>
        </p:nvSpPr>
        <p:spPr>
          <a:xfrm>
            <a:off x="1508760" y="724204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Baran DA, et al. Catheter Cardiovasc Interv. 2019;94(1):29-37.</a:t>
            </a:r>
            <a:endParaRPr lang="es-CO" sz="1500" dirty="0"/>
          </a:p>
        </p:txBody>
      </p:sp>
      <p:sp>
        <p:nvSpPr>
          <p:cNvPr id="23" name="Numero 23"/>
          <p:cNvSpPr/>
          <p:nvPr/>
        </p:nvSpPr>
        <p:spPr>
          <a:xfrm>
            <a:off x="7863840" y="1901952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29</a:t>
            </a:r>
            <a:endParaRPr lang="es-CO" sz="1300" dirty="0"/>
          </a:p>
        </p:txBody>
      </p:sp>
      <p:sp>
        <p:nvSpPr>
          <p:cNvPr id="24" name="Texto 24"/>
          <p:cNvSpPr txBox="1"/>
          <p:nvPr/>
        </p:nvSpPr>
        <p:spPr>
          <a:xfrm>
            <a:off x="8458200" y="182880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Thygesen K, et al. Circulation. 2018;138(20):e618-51.</a:t>
            </a:r>
            <a:endParaRPr lang="es-CO" sz="1500" dirty="0"/>
          </a:p>
        </p:txBody>
      </p:sp>
      <p:sp>
        <p:nvSpPr>
          <p:cNvPr id="25" name="Numero 25"/>
          <p:cNvSpPr/>
          <p:nvPr/>
        </p:nvSpPr>
        <p:spPr>
          <a:xfrm>
            <a:off x="7863840" y="2578608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30</a:t>
            </a:r>
            <a:endParaRPr lang="es-CO" sz="1300" dirty="0"/>
          </a:p>
        </p:txBody>
      </p:sp>
      <p:sp>
        <p:nvSpPr>
          <p:cNvPr id="26" name="Texto 26"/>
          <p:cNvSpPr txBox="1"/>
          <p:nvPr/>
        </p:nvSpPr>
        <p:spPr>
          <a:xfrm>
            <a:off x="8458200" y="250545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Nashef SAM, et al. Eur J Cardiothorac Surg. 2012;41(4):734-45.</a:t>
            </a:r>
            <a:endParaRPr lang="es-CO" sz="1500" dirty="0"/>
          </a:p>
        </p:txBody>
      </p:sp>
      <p:sp>
        <p:nvSpPr>
          <p:cNvPr id="27" name="Numero 27"/>
          <p:cNvSpPr/>
          <p:nvPr/>
        </p:nvSpPr>
        <p:spPr>
          <a:xfrm>
            <a:off x="7863840" y="3255264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31</a:t>
            </a:r>
            <a:endParaRPr lang="es-CO" sz="1300" dirty="0"/>
          </a:p>
        </p:txBody>
      </p:sp>
      <p:sp>
        <p:nvSpPr>
          <p:cNvPr id="28" name="Texto 28"/>
          <p:cNvSpPr txBox="1"/>
          <p:nvPr/>
        </p:nvSpPr>
        <p:spPr>
          <a:xfrm>
            <a:off x="8458200" y="318211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von Elm E, et al. Lancet. 2007;370(9596):1453-7.</a:t>
            </a:r>
            <a:endParaRPr lang="es-CO" sz="1500" dirty="0"/>
          </a:p>
        </p:txBody>
      </p:sp>
      <p:sp>
        <p:nvSpPr>
          <p:cNvPr id="29" name="Numero 29"/>
          <p:cNvSpPr/>
          <p:nvPr/>
        </p:nvSpPr>
        <p:spPr>
          <a:xfrm>
            <a:off x="7863840" y="3931920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32</a:t>
            </a:r>
            <a:endParaRPr lang="es-CO" sz="1300" dirty="0"/>
          </a:p>
        </p:txBody>
      </p:sp>
      <p:sp>
        <p:nvSpPr>
          <p:cNvPr id="30" name="Texto 30"/>
          <p:cNvSpPr txBox="1"/>
          <p:nvPr/>
        </p:nvSpPr>
        <p:spPr>
          <a:xfrm>
            <a:off x="8458200" y="385876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Benchimol EI, et al. PLoS Med. 2015;12(10):e1001885.</a:t>
            </a:r>
            <a:endParaRPr lang="es-CO" sz="1500" dirty="0"/>
          </a:p>
        </p:txBody>
      </p:sp>
      <p:sp>
        <p:nvSpPr>
          <p:cNvPr id="31" name="Numero 31"/>
          <p:cNvSpPr/>
          <p:nvPr/>
        </p:nvSpPr>
        <p:spPr>
          <a:xfrm>
            <a:off x="7863840" y="4608576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33</a:t>
            </a:r>
            <a:endParaRPr lang="es-CO" sz="1300" dirty="0"/>
          </a:p>
        </p:txBody>
      </p:sp>
      <p:sp>
        <p:nvSpPr>
          <p:cNvPr id="32" name="Texto 32"/>
          <p:cNvSpPr txBox="1"/>
          <p:nvPr/>
        </p:nvSpPr>
        <p:spPr>
          <a:xfrm>
            <a:off x="8458200" y="4535424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Vassar M, Holzmann M. J Educ Eval Health Prof. 2013;10:12.</a:t>
            </a:r>
            <a:endParaRPr lang="es-CO" sz="1500" dirty="0"/>
          </a:p>
        </p:txBody>
      </p:sp>
      <p:sp>
        <p:nvSpPr>
          <p:cNvPr id="33" name="Numero 33"/>
          <p:cNvSpPr/>
          <p:nvPr/>
        </p:nvSpPr>
        <p:spPr>
          <a:xfrm>
            <a:off x="7863840" y="5285232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34</a:t>
            </a:r>
            <a:endParaRPr lang="es-CO" sz="1300" dirty="0"/>
          </a:p>
        </p:txBody>
      </p:sp>
      <p:sp>
        <p:nvSpPr>
          <p:cNvPr id="34" name="Texto 34"/>
          <p:cNvSpPr txBox="1"/>
          <p:nvPr/>
        </p:nvSpPr>
        <p:spPr>
          <a:xfrm>
            <a:off x="8458200" y="521208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Peduzzi P, et al. J Clin Epidemiol. 1996;49(12):1373-9.</a:t>
            </a:r>
            <a:endParaRPr lang="es-CO" sz="1500" dirty="0"/>
          </a:p>
        </p:txBody>
      </p:sp>
      <p:sp>
        <p:nvSpPr>
          <p:cNvPr id="35" name="Numero 35"/>
          <p:cNvSpPr/>
          <p:nvPr/>
        </p:nvSpPr>
        <p:spPr>
          <a:xfrm>
            <a:off x="7863840" y="5961888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35</a:t>
            </a:r>
            <a:endParaRPr lang="es-CO" sz="1300" dirty="0"/>
          </a:p>
        </p:txBody>
      </p:sp>
      <p:sp>
        <p:nvSpPr>
          <p:cNvPr id="36" name="Texto 36"/>
          <p:cNvSpPr txBox="1"/>
          <p:nvPr/>
        </p:nvSpPr>
        <p:spPr>
          <a:xfrm>
            <a:off x="8458200" y="588873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National Commission. The Belmont Report. 1979.</a:t>
            </a:r>
            <a:endParaRPr lang="es-CO" sz="1500" dirty="0"/>
          </a:p>
        </p:txBody>
      </p:sp>
      <p:sp>
        <p:nvSpPr>
          <p:cNvPr id="37" name="Numero 37"/>
          <p:cNvSpPr/>
          <p:nvPr/>
        </p:nvSpPr>
        <p:spPr>
          <a:xfrm>
            <a:off x="7863840" y="6638544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36</a:t>
            </a:r>
            <a:endParaRPr lang="es-CO" sz="1300" dirty="0"/>
          </a:p>
        </p:txBody>
      </p:sp>
      <p:sp>
        <p:nvSpPr>
          <p:cNvPr id="38" name="Texto 38"/>
          <p:cNvSpPr txBox="1"/>
          <p:nvPr/>
        </p:nvSpPr>
        <p:spPr>
          <a:xfrm>
            <a:off x="8458200" y="656539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World Medical Association. Declaración de Helsinki. 2024.</a:t>
            </a:r>
            <a:endParaRPr lang="es-CO" sz="1500" dirty="0"/>
          </a:p>
        </p:txBody>
      </p:sp>
      <p:sp>
        <p:nvSpPr>
          <p:cNvPr id="39" name="Numero 39"/>
          <p:cNvSpPr/>
          <p:nvPr/>
        </p:nvSpPr>
        <p:spPr>
          <a:xfrm>
            <a:off x="7863840" y="7315200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37</a:t>
            </a:r>
            <a:endParaRPr lang="es-CO" sz="1300" dirty="0"/>
          </a:p>
        </p:txBody>
      </p:sp>
      <p:sp>
        <p:nvSpPr>
          <p:cNvPr id="40" name="Texto 40"/>
          <p:cNvSpPr txBox="1"/>
          <p:nvPr/>
        </p:nvSpPr>
        <p:spPr>
          <a:xfrm>
            <a:off x="8458200" y="724204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Colombia. Ministerio de Salud. Resolución 1995 de 1999.</a:t>
            </a:r>
            <a:endParaRPr lang="es-CO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REFERENCIAS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Numero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</a:t>
            </a:r>
            <a:endParaRPr lang="es-CO" sz="1300" dirty="0"/>
          </a:p>
        </p:txBody>
      </p:sp>
      <p:sp>
        <p:nvSpPr>
          <p:cNvPr id="6" name="Texto 6"/>
          <p:cNvSpPr txBox="1"/>
          <p:nvPr/>
        </p:nvSpPr>
        <p:spPr>
          <a:xfrm>
            <a:off x="1508760" y="182880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Tibi P, et al. Ann Thorac Surg. 2021;112(3):981-1004.</a:t>
            </a:r>
            <a:endParaRPr lang="es-CO" sz="1500" dirty="0"/>
          </a:p>
        </p:txBody>
      </p:sp>
      <p:sp>
        <p:nvSpPr>
          <p:cNvPr id="7" name="Numero 7"/>
          <p:cNvSpPr/>
          <p:nvPr/>
        </p:nvSpPr>
        <p:spPr>
          <a:xfrm>
            <a:off x="914400" y="2578608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2</a:t>
            </a:r>
            <a:endParaRPr lang="es-CO" sz="1300" dirty="0"/>
          </a:p>
        </p:txBody>
      </p:sp>
      <p:sp>
        <p:nvSpPr>
          <p:cNvPr id="8" name="Texto 8"/>
          <p:cNvSpPr txBox="1"/>
          <p:nvPr/>
        </p:nvSpPr>
        <p:spPr>
          <a:xfrm>
            <a:off x="1508760" y="250545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Salenger R, et al. Ann Thorac Surg. 2025;119(2):280-295.</a:t>
            </a:r>
            <a:endParaRPr lang="es-CO" sz="1500" dirty="0"/>
          </a:p>
        </p:txBody>
      </p:sp>
      <p:sp>
        <p:nvSpPr>
          <p:cNvPr id="9" name="Numero 9"/>
          <p:cNvSpPr/>
          <p:nvPr/>
        </p:nvSpPr>
        <p:spPr>
          <a:xfrm>
            <a:off x="914400" y="3255264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3</a:t>
            </a:r>
            <a:endParaRPr lang="es-CO" sz="1300" dirty="0"/>
          </a:p>
        </p:txBody>
      </p:sp>
      <p:sp>
        <p:nvSpPr>
          <p:cNvPr id="10" name="Texto 10"/>
          <p:cNvSpPr txBox="1"/>
          <p:nvPr/>
        </p:nvSpPr>
        <p:spPr>
          <a:xfrm>
            <a:off x="1508760" y="318211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Klein AA, et al. Anaesthesia. 2019;74(1):74-82.</a:t>
            </a:r>
            <a:endParaRPr lang="es-CO" sz="1500" dirty="0"/>
          </a:p>
        </p:txBody>
      </p:sp>
      <p:sp>
        <p:nvSpPr>
          <p:cNvPr id="11" name="Numero 11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4</a:t>
            </a:r>
            <a:endParaRPr lang="es-CO" sz="1300" dirty="0"/>
          </a:p>
        </p:txBody>
      </p:sp>
      <p:sp>
        <p:nvSpPr>
          <p:cNvPr id="12" name="Texto 12"/>
          <p:cNvSpPr txBox="1"/>
          <p:nvPr/>
        </p:nvSpPr>
        <p:spPr>
          <a:xfrm>
            <a:off x="1508760" y="385876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Maheta DK, Frishman WH, Aronow WS. Cardiol Rev. 2024.</a:t>
            </a:r>
            <a:endParaRPr lang="es-CO" sz="1500" dirty="0"/>
          </a:p>
        </p:txBody>
      </p:sp>
      <p:sp>
        <p:nvSpPr>
          <p:cNvPr id="13" name="Numero 13"/>
          <p:cNvSpPr/>
          <p:nvPr/>
        </p:nvSpPr>
        <p:spPr>
          <a:xfrm>
            <a:off x="914400" y="4608576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5</a:t>
            </a:r>
            <a:endParaRPr lang="es-CO" sz="1300" dirty="0"/>
          </a:p>
        </p:txBody>
      </p:sp>
      <p:sp>
        <p:nvSpPr>
          <p:cNvPr id="14" name="Texto 14"/>
          <p:cNvSpPr txBox="1"/>
          <p:nvPr/>
        </p:nvSpPr>
        <p:spPr>
          <a:xfrm>
            <a:off x="1508760" y="4535424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Testigos de Jehová. Informe 2025 [en línea]. jw.org.</a:t>
            </a:r>
            <a:endParaRPr lang="es-CO" sz="1500" dirty="0"/>
          </a:p>
        </p:txBody>
      </p:sp>
      <p:sp>
        <p:nvSpPr>
          <p:cNvPr id="15" name="Numero 15"/>
          <p:cNvSpPr/>
          <p:nvPr/>
        </p:nvSpPr>
        <p:spPr>
          <a:xfrm>
            <a:off x="914400" y="5285232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6</a:t>
            </a:r>
            <a:endParaRPr lang="es-CO" sz="1300" dirty="0"/>
          </a:p>
        </p:txBody>
      </p:sp>
      <p:sp>
        <p:nvSpPr>
          <p:cNvPr id="16" name="Texto 16"/>
          <p:cNvSpPr txBox="1"/>
          <p:nvPr/>
        </p:nvSpPr>
        <p:spPr>
          <a:xfrm>
            <a:off x="1508760" y="521208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Testigos de Jehová. Por todo el mundo: Colombia [en línea].</a:t>
            </a:r>
            <a:endParaRPr lang="es-CO" sz="1500" dirty="0"/>
          </a:p>
        </p:txBody>
      </p:sp>
      <p:sp>
        <p:nvSpPr>
          <p:cNvPr id="17" name="Numero 17"/>
          <p:cNvSpPr/>
          <p:nvPr/>
        </p:nvSpPr>
        <p:spPr>
          <a:xfrm>
            <a:off x="914400" y="5961888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7</a:t>
            </a:r>
            <a:endParaRPr lang="es-CO" sz="1300" dirty="0"/>
          </a:p>
        </p:txBody>
      </p:sp>
      <p:sp>
        <p:nvSpPr>
          <p:cNvPr id="18" name="Texto 18"/>
          <p:cNvSpPr txBox="1"/>
          <p:nvPr/>
        </p:nvSpPr>
        <p:spPr>
          <a:xfrm>
            <a:off x="1508760" y="588873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Gemelli M, et al. Curr Probl Cardiol. 2024;49(1):102078.</a:t>
            </a:r>
            <a:endParaRPr lang="es-CO" sz="1500" dirty="0"/>
          </a:p>
        </p:txBody>
      </p:sp>
      <p:sp>
        <p:nvSpPr>
          <p:cNvPr id="19" name="Numero 19"/>
          <p:cNvSpPr/>
          <p:nvPr/>
        </p:nvSpPr>
        <p:spPr>
          <a:xfrm>
            <a:off x="914400" y="6638544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8</a:t>
            </a:r>
            <a:endParaRPr lang="es-CO" sz="1300" dirty="0"/>
          </a:p>
        </p:txBody>
      </p:sp>
      <p:sp>
        <p:nvSpPr>
          <p:cNvPr id="20" name="Texto 20"/>
          <p:cNvSpPr txBox="1"/>
          <p:nvPr/>
        </p:nvSpPr>
        <p:spPr>
          <a:xfrm>
            <a:off x="1508760" y="656539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Vitolo M, et al. Curr Probl Cardiol. 2023;48(9):101789.</a:t>
            </a:r>
            <a:endParaRPr lang="es-CO" sz="1500" dirty="0"/>
          </a:p>
        </p:txBody>
      </p:sp>
      <p:sp>
        <p:nvSpPr>
          <p:cNvPr id="21" name="Numero 21"/>
          <p:cNvSpPr/>
          <p:nvPr/>
        </p:nvSpPr>
        <p:spPr>
          <a:xfrm>
            <a:off x="914400" y="7315200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9</a:t>
            </a:r>
            <a:endParaRPr lang="es-CO" sz="1300" dirty="0"/>
          </a:p>
        </p:txBody>
      </p:sp>
      <p:sp>
        <p:nvSpPr>
          <p:cNvPr id="22" name="Texto 22"/>
          <p:cNvSpPr txBox="1"/>
          <p:nvPr/>
        </p:nvSpPr>
        <p:spPr>
          <a:xfrm>
            <a:off x="1508760" y="724204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Pattakos G, et al. Arch Intern Med. 2012;172(15):1154-60.</a:t>
            </a:r>
            <a:endParaRPr lang="es-CO" sz="1500" dirty="0"/>
          </a:p>
        </p:txBody>
      </p:sp>
      <p:sp>
        <p:nvSpPr>
          <p:cNvPr id="23" name="Numero 23"/>
          <p:cNvSpPr/>
          <p:nvPr/>
        </p:nvSpPr>
        <p:spPr>
          <a:xfrm>
            <a:off x="914400" y="7991856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10</a:t>
            </a:r>
            <a:endParaRPr lang="es-CO" sz="1300" dirty="0"/>
          </a:p>
        </p:txBody>
      </p:sp>
      <p:sp>
        <p:nvSpPr>
          <p:cNvPr id="24" name="Texto 24"/>
          <p:cNvSpPr txBox="1"/>
          <p:nvPr/>
        </p:nvSpPr>
        <p:spPr>
          <a:xfrm>
            <a:off x="1508760" y="7918704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Langstraat M, et al. J Cardiothorac Vasc Anesth. 2023;37(9):1601-5.</a:t>
            </a:r>
            <a:endParaRPr lang="es-CO" sz="1500" dirty="0"/>
          </a:p>
        </p:txBody>
      </p:sp>
      <p:sp>
        <p:nvSpPr>
          <p:cNvPr id="25" name="Numero 25"/>
          <p:cNvSpPr/>
          <p:nvPr/>
        </p:nvSpPr>
        <p:spPr>
          <a:xfrm>
            <a:off x="7863840" y="1901952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11</a:t>
            </a:r>
            <a:endParaRPr lang="es-CO" sz="1300" dirty="0"/>
          </a:p>
        </p:txBody>
      </p:sp>
      <p:sp>
        <p:nvSpPr>
          <p:cNvPr id="26" name="Texto 26"/>
          <p:cNvSpPr txBox="1"/>
          <p:nvPr/>
        </p:nvSpPr>
        <p:spPr>
          <a:xfrm>
            <a:off x="8458200" y="182880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Chambault AL, et al. Perfusion. 2021;36(7):661-71.</a:t>
            </a:r>
            <a:endParaRPr lang="es-CO" sz="1500" dirty="0"/>
          </a:p>
        </p:txBody>
      </p:sp>
      <p:sp>
        <p:nvSpPr>
          <p:cNvPr id="27" name="Numero 27"/>
          <p:cNvSpPr/>
          <p:nvPr/>
        </p:nvSpPr>
        <p:spPr>
          <a:xfrm>
            <a:off x="7863840" y="2578608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12</a:t>
            </a:r>
            <a:endParaRPr lang="es-CO" sz="1300" dirty="0"/>
          </a:p>
        </p:txBody>
      </p:sp>
      <p:sp>
        <p:nvSpPr>
          <p:cNvPr id="28" name="Texto 28"/>
          <p:cNvSpPr txBox="1"/>
          <p:nvPr/>
        </p:nvSpPr>
        <p:spPr>
          <a:xfrm>
            <a:off x="8458200" y="250545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Helwani MA, et al. J Cardiothorac Vasc Anesth. 2023;37(4):513-8.</a:t>
            </a:r>
            <a:endParaRPr lang="es-CO" sz="1500" dirty="0"/>
          </a:p>
        </p:txBody>
      </p:sp>
      <p:sp>
        <p:nvSpPr>
          <p:cNvPr id="29" name="Numero 29"/>
          <p:cNvSpPr/>
          <p:nvPr/>
        </p:nvSpPr>
        <p:spPr>
          <a:xfrm>
            <a:off x="7863840" y="3255264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13</a:t>
            </a:r>
            <a:endParaRPr lang="es-CO" sz="1300" dirty="0"/>
          </a:p>
        </p:txBody>
      </p:sp>
      <p:sp>
        <p:nvSpPr>
          <p:cNvPr id="30" name="Texto 30"/>
          <p:cNvSpPr txBox="1"/>
          <p:nvPr/>
        </p:nvSpPr>
        <p:spPr>
          <a:xfrm>
            <a:off x="8458200" y="318211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Carson JL, et al. Transfusion. 2002;42(7):812-8.</a:t>
            </a:r>
            <a:endParaRPr lang="es-CO" sz="1500" dirty="0"/>
          </a:p>
        </p:txBody>
      </p:sp>
      <p:sp>
        <p:nvSpPr>
          <p:cNvPr id="31" name="Numero 31"/>
          <p:cNvSpPr/>
          <p:nvPr/>
        </p:nvSpPr>
        <p:spPr>
          <a:xfrm>
            <a:off x="7863840" y="3931920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14</a:t>
            </a:r>
            <a:endParaRPr lang="es-CO" sz="1300" dirty="0"/>
          </a:p>
        </p:txBody>
      </p:sp>
      <p:sp>
        <p:nvSpPr>
          <p:cNvPr id="32" name="Texto 32"/>
          <p:cNvSpPr txBox="1"/>
          <p:nvPr/>
        </p:nvSpPr>
        <p:spPr>
          <a:xfrm>
            <a:off x="8458200" y="385876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Yamabe T, et al. J Card Surg. 2025;2025:9190618.</a:t>
            </a:r>
            <a:endParaRPr lang="es-CO" sz="1500" dirty="0"/>
          </a:p>
        </p:txBody>
      </p:sp>
      <p:sp>
        <p:nvSpPr>
          <p:cNvPr id="33" name="Numero 33"/>
          <p:cNvSpPr/>
          <p:nvPr/>
        </p:nvSpPr>
        <p:spPr>
          <a:xfrm>
            <a:off x="7863840" y="4608576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15</a:t>
            </a:r>
            <a:endParaRPr lang="es-CO" sz="1300" dirty="0"/>
          </a:p>
        </p:txBody>
      </p:sp>
      <p:sp>
        <p:nvSpPr>
          <p:cNvPr id="34" name="Texto 34"/>
          <p:cNvSpPr txBox="1"/>
          <p:nvPr/>
        </p:nvSpPr>
        <p:spPr>
          <a:xfrm>
            <a:off x="8458200" y="4535424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Montes Villalobos L, et al. Póster. Fundación Cardiovascular de Colombia.</a:t>
            </a:r>
            <a:endParaRPr lang="es-CO" sz="1500" dirty="0"/>
          </a:p>
        </p:txBody>
      </p:sp>
      <p:sp>
        <p:nvSpPr>
          <p:cNvPr id="35" name="Numero 35"/>
          <p:cNvSpPr/>
          <p:nvPr/>
        </p:nvSpPr>
        <p:spPr>
          <a:xfrm>
            <a:off x="7863840" y="5285232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16</a:t>
            </a:r>
            <a:endParaRPr lang="es-CO" sz="1300" dirty="0"/>
          </a:p>
        </p:txBody>
      </p:sp>
      <p:sp>
        <p:nvSpPr>
          <p:cNvPr id="36" name="Texto 36"/>
          <p:cNvSpPr txBox="1"/>
          <p:nvPr/>
        </p:nvSpPr>
        <p:spPr>
          <a:xfrm>
            <a:off x="8458200" y="5212080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Bernal JM, et al. Rev Esp Cardiol. 2006;59(5):507-9.</a:t>
            </a:r>
            <a:endParaRPr lang="es-CO" sz="1500" dirty="0"/>
          </a:p>
        </p:txBody>
      </p:sp>
      <p:sp>
        <p:nvSpPr>
          <p:cNvPr id="37" name="Numero 37"/>
          <p:cNvSpPr/>
          <p:nvPr/>
        </p:nvSpPr>
        <p:spPr>
          <a:xfrm>
            <a:off x="7863840" y="5961888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17</a:t>
            </a:r>
            <a:endParaRPr lang="es-CO" sz="1300" dirty="0"/>
          </a:p>
        </p:txBody>
      </p:sp>
      <p:sp>
        <p:nvSpPr>
          <p:cNvPr id="38" name="Texto 38"/>
          <p:cNvSpPr txBox="1"/>
          <p:nvPr/>
        </p:nvSpPr>
        <p:spPr>
          <a:xfrm>
            <a:off x="8458200" y="5888736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Woldendorp K, et al. Gen Thorac Cardiovasc Surg. 2023;71(6):323-30.</a:t>
            </a:r>
            <a:endParaRPr lang="es-CO" sz="1500" dirty="0"/>
          </a:p>
        </p:txBody>
      </p:sp>
      <p:sp>
        <p:nvSpPr>
          <p:cNvPr id="39" name="Numero 39"/>
          <p:cNvSpPr/>
          <p:nvPr/>
        </p:nvSpPr>
        <p:spPr>
          <a:xfrm>
            <a:off x="7863840" y="6638544"/>
            <a:ext cx="457200" cy="45720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80006B"/>
                </a:solidFill>
              </a:rPr>
              <a:t>18</a:t>
            </a:r>
            <a:endParaRPr lang="es-CO" sz="1300" dirty="0"/>
          </a:p>
        </p:txBody>
      </p:sp>
      <p:sp>
        <p:nvSpPr>
          <p:cNvPr id="40" name="Texto 40"/>
          <p:cNvSpPr txBox="1"/>
          <p:nvPr/>
        </p:nvSpPr>
        <p:spPr>
          <a:xfrm>
            <a:off x="8458200" y="6565392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Müller H, et al. Ann Thorac Surg. 2020;109(2):526-33.</a:t>
            </a:r>
            <a:endParaRPr lang="es-CO" sz="1500" dirty="0"/>
          </a:p>
        </p:txBody>
      </p:sp>
      <p:sp>
        <p:nvSpPr>
          <p:cNvPr id="41" name="Numero 41"/>
          <p:cNvSpPr/>
          <p:nvPr/>
        </p:nvSpPr>
        <p:spPr>
          <a:xfrm>
            <a:off x="7863840" y="7315200"/>
            <a:ext cx="457200" cy="4572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</a:rPr>
              <a:t>19</a:t>
            </a:r>
            <a:endParaRPr lang="es-CO" sz="1300" dirty="0"/>
          </a:p>
        </p:txBody>
      </p:sp>
      <p:sp>
        <p:nvSpPr>
          <p:cNvPr id="42" name="Texto 42"/>
          <p:cNvSpPr txBox="1"/>
          <p:nvPr/>
        </p:nvSpPr>
        <p:spPr>
          <a:xfrm>
            <a:off x="8458200" y="7242048"/>
            <a:ext cx="6217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Casselman FPA, et al. Eur J Cardiothorac Surg. 2025;67(5):ezae352.</a:t>
            </a:r>
            <a:endParaRPr lang="es-CO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CRONOGRAMA Y PRESUPUESTO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exto 5"/>
          <p:cNvSpPr txBox="1"/>
          <p:nvPr/>
        </p:nvSpPr>
        <p:spPr>
          <a:xfrm>
            <a:off x="914400" y="1737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Cronograma de actividades</a:t>
            </a:r>
            <a:endParaRPr lang="es-CO" sz="1900" dirty="0"/>
          </a:p>
        </p:txBody>
      </p:sp>
      <p:sp>
        <p:nvSpPr>
          <p:cNvPr id="6" name="Forma 6"/>
          <p:cNvSpPr/>
          <p:nvPr/>
        </p:nvSpPr>
        <p:spPr>
          <a:xfrm>
            <a:off x="914400" y="2331720"/>
            <a:ext cx="4160520" cy="502920"/>
          </a:xfrm>
          <a:prstGeom prst="rect">
            <a:avLst/>
          </a:prstGeom>
          <a:solidFill>
            <a:srgbClr val="80006B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Actividad</a:t>
            </a:r>
            <a:endParaRPr lang="es-CO" sz="1400" dirty="0"/>
          </a:p>
        </p:txBody>
      </p:sp>
      <p:sp>
        <p:nvSpPr>
          <p:cNvPr id="7" name="Forma 7"/>
          <p:cNvSpPr/>
          <p:nvPr/>
        </p:nvSpPr>
        <p:spPr>
          <a:xfrm>
            <a:off x="5074920" y="2331720"/>
            <a:ext cx="758952" cy="502920"/>
          </a:xfrm>
          <a:prstGeom prst="rect">
            <a:avLst/>
          </a:prstGeom>
          <a:solidFill>
            <a:srgbClr val="FF5F3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Previa</a:t>
            </a:r>
            <a:endParaRPr lang="es-CO" sz="1250" dirty="0"/>
          </a:p>
        </p:txBody>
      </p:sp>
      <p:sp>
        <p:nvSpPr>
          <p:cNvPr id="8" name="Forma 8"/>
          <p:cNvSpPr/>
          <p:nvPr/>
        </p:nvSpPr>
        <p:spPr>
          <a:xfrm>
            <a:off x="5833872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1</a:t>
            </a:r>
            <a:endParaRPr lang="es-CO" sz="1250" dirty="0"/>
          </a:p>
        </p:txBody>
      </p:sp>
      <p:sp>
        <p:nvSpPr>
          <p:cNvPr id="9" name="Forma 9"/>
          <p:cNvSpPr/>
          <p:nvPr/>
        </p:nvSpPr>
        <p:spPr>
          <a:xfrm>
            <a:off x="6592824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2</a:t>
            </a:r>
            <a:endParaRPr lang="es-CO" sz="1250" dirty="0"/>
          </a:p>
        </p:txBody>
      </p:sp>
      <p:sp>
        <p:nvSpPr>
          <p:cNvPr id="10" name="Forma 10"/>
          <p:cNvSpPr/>
          <p:nvPr/>
        </p:nvSpPr>
        <p:spPr>
          <a:xfrm>
            <a:off x="7351776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3</a:t>
            </a:r>
            <a:endParaRPr lang="es-CO" sz="1250" dirty="0"/>
          </a:p>
        </p:txBody>
      </p:sp>
      <p:sp>
        <p:nvSpPr>
          <p:cNvPr id="11" name="Forma 11"/>
          <p:cNvSpPr/>
          <p:nvPr/>
        </p:nvSpPr>
        <p:spPr>
          <a:xfrm>
            <a:off x="8110728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4</a:t>
            </a:r>
            <a:endParaRPr lang="es-CO" sz="1250" dirty="0"/>
          </a:p>
        </p:txBody>
      </p:sp>
      <p:sp>
        <p:nvSpPr>
          <p:cNvPr id="12" name="Forma 12"/>
          <p:cNvSpPr/>
          <p:nvPr/>
        </p:nvSpPr>
        <p:spPr>
          <a:xfrm>
            <a:off x="8869680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5</a:t>
            </a:r>
            <a:endParaRPr lang="es-CO" sz="1250" dirty="0"/>
          </a:p>
        </p:txBody>
      </p:sp>
      <p:sp>
        <p:nvSpPr>
          <p:cNvPr id="13" name="Forma 13"/>
          <p:cNvSpPr/>
          <p:nvPr/>
        </p:nvSpPr>
        <p:spPr>
          <a:xfrm>
            <a:off x="9628632" y="2331720"/>
            <a:ext cx="758952" cy="502920"/>
          </a:xfrm>
          <a:prstGeom prst="rect">
            <a:avLst/>
          </a:prstGeom>
          <a:solidFill>
            <a:srgbClr val="80006B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</a:rPr>
              <a:t>Mes 6</a:t>
            </a:r>
            <a:endParaRPr lang="es-CO" sz="1250" dirty="0"/>
          </a:p>
        </p:txBody>
      </p:sp>
      <p:sp>
        <p:nvSpPr>
          <p:cNvPr id="14" name="Fila 14"/>
          <p:cNvSpPr/>
          <p:nvPr/>
        </p:nvSpPr>
        <p:spPr>
          <a:xfrm>
            <a:off x="914400" y="2834640"/>
            <a:ext cx="9473184" cy="841248"/>
          </a:xfrm>
          <a:prstGeom prst="rect">
            <a:avLst/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5" name="Texto 15"/>
          <p:cNvSpPr txBox="1"/>
          <p:nvPr/>
        </p:nvSpPr>
        <p:spPr>
          <a:xfrm>
            <a:off x="1051560" y="2834640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Ajustes del comité, avales éticos y autorización de acceso a historias</a:t>
            </a:r>
            <a:endParaRPr lang="es-CO" sz="1450" dirty="0"/>
          </a:p>
        </p:txBody>
      </p:sp>
      <p:cxnSp>
        <p:nvCxnSpPr>
          <p:cNvPr id="16" name="Conector 16"/>
          <p:cNvCxnSpPr/>
          <p:nvPr/>
        </p:nvCxnSpPr>
        <p:spPr>
          <a:xfrm>
            <a:off x="5074920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17" name="Conector 17"/>
          <p:cNvCxnSpPr/>
          <p:nvPr/>
        </p:nvCxnSpPr>
        <p:spPr>
          <a:xfrm>
            <a:off x="5833872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18" name="Conector 18"/>
          <p:cNvCxnSpPr/>
          <p:nvPr/>
        </p:nvCxnSpPr>
        <p:spPr>
          <a:xfrm>
            <a:off x="6592824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19" name="Conector 19"/>
          <p:cNvCxnSpPr/>
          <p:nvPr/>
        </p:nvCxnSpPr>
        <p:spPr>
          <a:xfrm>
            <a:off x="7351776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0" name="Conector 20"/>
          <p:cNvCxnSpPr/>
          <p:nvPr/>
        </p:nvCxnSpPr>
        <p:spPr>
          <a:xfrm>
            <a:off x="8110728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8869680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2" name="Conector 22"/>
          <p:cNvCxnSpPr/>
          <p:nvPr/>
        </p:nvCxnSpPr>
        <p:spPr>
          <a:xfrm>
            <a:off x="9628632" y="283464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23" name="Barra 23"/>
          <p:cNvSpPr/>
          <p:nvPr/>
        </p:nvSpPr>
        <p:spPr>
          <a:xfrm>
            <a:off x="5148072" y="3054096"/>
            <a:ext cx="612648" cy="402336"/>
          </a:xfrm>
          <a:prstGeom prst="roundRect">
            <a:avLst>
              <a:gd name="adj" fmla="val 45454"/>
            </a:avLst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4" name="Fila 24"/>
          <p:cNvSpPr/>
          <p:nvPr/>
        </p:nvSpPr>
        <p:spPr>
          <a:xfrm>
            <a:off x="914400" y="3675888"/>
            <a:ext cx="9473184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5" name="Texto 25"/>
          <p:cNvSpPr txBox="1"/>
          <p:nvPr/>
        </p:nvSpPr>
        <p:spPr>
          <a:xfrm>
            <a:off x="1051560" y="3675888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Identificación de registros, verificación de casos y prueba piloto</a:t>
            </a:r>
            <a:endParaRPr lang="es-CO" sz="1450" dirty="0"/>
          </a:p>
        </p:txBody>
      </p:sp>
      <p:cxnSp>
        <p:nvCxnSpPr>
          <p:cNvPr id="26" name="Conector 26"/>
          <p:cNvCxnSpPr/>
          <p:nvPr/>
        </p:nvCxnSpPr>
        <p:spPr>
          <a:xfrm>
            <a:off x="5074920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7" name="Conector 27"/>
          <p:cNvCxnSpPr/>
          <p:nvPr/>
        </p:nvCxnSpPr>
        <p:spPr>
          <a:xfrm>
            <a:off x="5833872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8" name="Conector 28"/>
          <p:cNvCxnSpPr/>
          <p:nvPr/>
        </p:nvCxnSpPr>
        <p:spPr>
          <a:xfrm>
            <a:off x="6592824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29" name="Conector 29"/>
          <p:cNvCxnSpPr/>
          <p:nvPr/>
        </p:nvCxnSpPr>
        <p:spPr>
          <a:xfrm>
            <a:off x="7351776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0" name="Conector 30"/>
          <p:cNvCxnSpPr/>
          <p:nvPr/>
        </p:nvCxnSpPr>
        <p:spPr>
          <a:xfrm>
            <a:off x="8110728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1" name="Conector 31"/>
          <p:cNvCxnSpPr/>
          <p:nvPr/>
        </p:nvCxnSpPr>
        <p:spPr>
          <a:xfrm>
            <a:off x="8869680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2" name="Conector 32"/>
          <p:cNvCxnSpPr/>
          <p:nvPr/>
        </p:nvCxnSpPr>
        <p:spPr>
          <a:xfrm>
            <a:off x="9628632" y="3675888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33" name="Barra 33"/>
          <p:cNvSpPr/>
          <p:nvPr/>
        </p:nvSpPr>
        <p:spPr>
          <a:xfrm>
            <a:off x="5907024" y="3895344"/>
            <a:ext cx="612648" cy="402336"/>
          </a:xfrm>
          <a:prstGeom prst="roundRect">
            <a:avLst>
              <a:gd name="adj" fmla="val 45454"/>
            </a:avLst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4" name="Fila 34"/>
          <p:cNvSpPr/>
          <p:nvPr/>
        </p:nvSpPr>
        <p:spPr>
          <a:xfrm>
            <a:off x="914400" y="4517136"/>
            <a:ext cx="9473184" cy="841248"/>
          </a:xfrm>
          <a:prstGeom prst="rect">
            <a:avLst/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5" name="Texto 35"/>
          <p:cNvSpPr txBox="1"/>
          <p:nvPr/>
        </p:nvSpPr>
        <p:spPr>
          <a:xfrm>
            <a:off x="1051560" y="4517136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Revisión de historias y construcción de la base de datos</a:t>
            </a:r>
            <a:endParaRPr lang="es-CO" sz="1450" dirty="0"/>
          </a:p>
        </p:txBody>
      </p:sp>
      <p:cxnSp>
        <p:nvCxnSpPr>
          <p:cNvPr id="36" name="Conector 36"/>
          <p:cNvCxnSpPr/>
          <p:nvPr/>
        </p:nvCxnSpPr>
        <p:spPr>
          <a:xfrm>
            <a:off x="5074920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7" name="Conector 37"/>
          <p:cNvCxnSpPr/>
          <p:nvPr/>
        </p:nvCxnSpPr>
        <p:spPr>
          <a:xfrm>
            <a:off x="5833872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8" name="Conector 38"/>
          <p:cNvCxnSpPr/>
          <p:nvPr/>
        </p:nvCxnSpPr>
        <p:spPr>
          <a:xfrm>
            <a:off x="6592824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39" name="Conector 39"/>
          <p:cNvCxnSpPr/>
          <p:nvPr/>
        </p:nvCxnSpPr>
        <p:spPr>
          <a:xfrm>
            <a:off x="7351776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0" name="Conector 40"/>
          <p:cNvCxnSpPr/>
          <p:nvPr/>
        </p:nvCxnSpPr>
        <p:spPr>
          <a:xfrm>
            <a:off x="8110728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1" name="Conector 41"/>
          <p:cNvCxnSpPr/>
          <p:nvPr/>
        </p:nvCxnSpPr>
        <p:spPr>
          <a:xfrm>
            <a:off x="8869680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2" name="Conector 42"/>
          <p:cNvCxnSpPr/>
          <p:nvPr/>
        </p:nvCxnSpPr>
        <p:spPr>
          <a:xfrm>
            <a:off x="9628632" y="4517136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43" name="Barra 43"/>
          <p:cNvSpPr/>
          <p:nvPr/>
        </p:nvSpPr>
        <p:spPr>
          <a:xfrm>
            <a:off x="6665976" y="4736592"/>
            <a:ext cx="1371600" cy="402336"/>
          </a:xfrm>
          <a:prstGeom prst="roundRect">
            <a:avLst>
              <a:gd name="adj" fmla="val 45454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4" name="Fila 44"/>
          <p:cNvSpPr/>
          <p:nvPr/>
        </p:nvSpPr>
        <p:spPr>
          <a:xfrm>
            <a:off x="914400" y="5358384"/>
            <a:ext cx="9473184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5" name="Texto 45"/>
          <p:cNvSpPr txBox="1"/>
          <p:nvPr/>
        </p:nvSpPr>
        <p:spPr>
          <a:xfrm>
            <a:off x="1051560" y="5358384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Depuración, datos faltantes y seguimiento a 30 días</a:t>
            </a:r>
            <a:endParaRPr lang="es-CO" sz="1450" dirty="0"/>
          </a:p>
        </p:txBody>
      </p:sp>
      <p:cxnSp>
        <p:nvCxnSpPr>
          <p:cNvPr id="46" name="Conector 46"/>
          <p:cNvCxnSpPr/>
          <p:nvPr/>
        </p:nvCxnSpPr>
        <p:spPr>
          <a:xfrm>
            <a:off x="5074920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7" name="Conector 47"/>
          <p:cNvCxnSpPr/>
          <p:nvPr/>
        </p:nvCxnSpPr>
        <p:spPr>
          <a:xfrm>
            <a:off x="5833872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8" name="Conector 48"/>
          <p:cNvCxnSpPr/>
          <p:nvPr/>
        </p:nvCxnSpPr>
        <p:spPr>
          <a:xfrm>
            <a:off x="6592824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49" name="Conector 49"/>
          <p:cNvCxnSpPr/>
          <p:nvPr/>
        </p:nvCxnSpPr>
        <p:spPr>
          <a:xfrm>
            <a:off x="7351776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0" name="Conector 50"/>
          <p:cNvCxnSpPr/>
          <p:nvPr/>
        </p:nvCxnSpPr>
        <p:spPr>
          <a:xfrm>
            <a:off x="8110728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1" name="Conector 51"/>
          <p:cNvCxnSpPr/>
          <p:nvPr/>
        </p:nvCxnSpPr>
        <p:spPr>
          <a:xfrm>
            <a:off x="8869680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2" name="Conector 52"/>
          <p:cNvCxnSpPr/>
          <p:nvPr/>
        </p:nvCxnSpPr>
        <p:spPr>
          <a:xfrm>
            <a:off x="9628632" y="5358384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53" name="Barra 53"/>
          <p:cNvSpPr/>
          <p:nvPr/>
        </p:nvSpPr>
        <p:spPr>
          <a:xfrm>
            <a:off x="8183880" y="5577840"/>
            <a:ext cx="612648" cy="402336"/>
          </a:xfrm>
          <a:prstGeom prst="roundRect">
            <a:avLst>
              <a:gd name="adj" fmla="val 45454"/>
            </a:avLst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54" name="Fila 54"/>
          <p:cNvSpPr/>
          <p:nvPr/>
        </p:nvSpPr>
        <p:spPr>
          <a:xfrm>
            <a:off x="914400" y="6199632"/>
            <a:ext cx="9473184" cy="841248"/>
          </a:xfrm>
          <a:prstGeom prst="rect">
            <a:avLst/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55" name="Texto 55"/>
          <p:cNvSpPr txBox="1"/>
          <p:nvPr/>
        </p:nvSpPr>
        <p:spPr>
          <a:xfrm>
            <a:off x="1051560" y="6199632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Análisis descriptivo y exploratorio; elaboración de tablas</a:t>
            </a:r>
            <a:endParaRPr lang="es-CO" sz="1450" dirty="0"/>
          </a:p>
        </p:txBody>
      </p:sp>
      <p:cxnSp>
        <p:nvCxnSpPr>
          <p:cNvPr id="56" name="Conector 56"/>
          <p:cNvCxnSpPr/>
          <p:nvPr/>
        </p:nvCxnSpPr>
        <p:spPr>
          <a:xfrm>
            <a:off x="5074920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7" name="Conector 57"/>
          <p:cNvCxnSpPr/>
          <p:nvPr/>
        </p:nvCxnSpPr>
        <p:spPr>
          <a:xfrm>
            <a:off x="5833872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8" name="Conector 58"/>
          <p:cNvCxnSpPr/>
          <p:nvPr/>
        </p:nvCxnSpPr>
        <p:spPr>
          <a:xfrm>
            <a:off x="6592824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59" name="Conector 59"/>
          <p:cNvCxnSpPr/>
          <p:nvPr/>
        </p:nvCxnSpPr>
        <p:spPr>
          <a:xfrm>
            <a:off x="7351776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0" name="Conector 60"/>
          <p:cNvCxnSpPr/>
          <p:nvPr/>
        </p:nvCxnSpPr>
        <p:spPr>
          <a:xfrm>
            <a:off x="8110728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1" name="Conector 61"/>
          <p:cNvCxnSpPr/>
          <p:nvPr/>
        </p:nvCxnSpPr>
        <p:spPr>
          <a:xfrm>
            <a:off x="8869680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2" name="Conector 62"/>
          <p:cNvCxnSpPr/>
          <p:nvPr/>
        </p:nvCxnSpPr>
        <p:spPr>
          <a:xfrm>
            <a:off x="9628632" y="6199632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63" name="Barra 63"/>
          <p:cNvSpPr/>
          <p:nvPr/>
        </p:nvSpPr>
        <p:spPr>
          <a:xfrm>
            <a:off x="8942832" y="6419088"/>
            <a:ext cx="612648" cy="402336"/>
          </a:xfrm>
          <a:prstGeom prst="roundRect">
            <a:avLst>
              <a:gd name="adj" fmla="val 45454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4" name="Fila 64"/>
          <p:cNvSpPr/>
          <p:nvPr/>
        </p:nvSpPr>
        <p:spPr>
          <a:xfrm>
            <a:off x="914400" y="7040880"/>
            <a:ext cx="9473184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5" name="Texto 65"/>
          <p:cNvSpPr txBox="1"/>
          <p:nvPr/>
        </p:nvSpPr>
        <p:spPr>
          <a:xfrm>
            <a:off x="1051560" y="7040880"/>
            <a:ext cx="3931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Redacción, revisión metodológica y entrega del trabajo de grado</a:t>
            </a:r>
            <a:endParaRPr lang="es-CO" sz="1450" dirty="0"/>
          </a:p>
        </p:txBody>
      </p:sp>
      <p:cxnSp>
        <p:nvCxnSpPr>
          <p:cNvPr id="66" name="Conector 66"/>
          <p:cNvCxnSpPr/>
          <p:nvPr/>
        </p:nvCxnSpPr>
        <p:spPr>
          <a:xfrm>
            <a:off x="5074920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7" name="Conector 67"/>
          <p:cNvCxnSpPr/>
          <p:nvPr/>
        </p:nvCxnSpPr>
        <p:spPr>
          <a:xfrm>
            <a:off x="5833872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8" name="Conector 68"/>
          <p:cNvCxnSpPr/>
          <p:nvPr/>
        </p:nvCxnSpPr>
        <p:spPr>
          <a:xfrm>
            <a:off x="6592824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69" name="Conector 69"/>
          <p:cNvCxnSpPr/>
          <p:nvPr/>
        </p:nvCxnSpPr>
        <p:spPr>
          <a:xfrm>
            <a:off x="7351776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70" name="Conector 70"/>
          <p:cNvCxnSpPr/>
          <p:nvPr/>
        </p:nvCxnSpPr>
        <p:spPr>
          <a:xfrm>
            <a:off x="8110728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71" name="Conector 71"/>
          <p:cNvCxnSpPr/>
          <p:nvPr/>
        </p:nvCxnSpPr>
        <p:spPr>
          <a:xfrm>
            <a:off x="8869680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cxnSp>
        <p:nvCxnSpPr>
          <p:cNvPr id="72" name="Conector 72"/>
          <p:cNvCxnSpPr/>
          <p:nvPr/>
        </p:nvCxnSpPr>
        <p:spPr>
          <a:xfrm>
            <a:off x="9628632" y="7040880"/>
            <a:ext cx="0" cy="841248"/>
          </a:xfrm>
          <a:prstGeom prst="line">
            <a:avLst/>
          </a:prstGeom>
          <a:ln w="9525">
            <a:solidFill>
              <a:srgbClr val="E2C3DD"/>
            </a:solidFill>
          </a:ln>
        </p:spPr>
      </p:cxnSp>
      <p:sp>
        <p:nvSpPr>
          <p:cNvPr id="73" name="Barra 73"/>
          <p:cNvSpPr/>
          <p:nvPr/>
        </p:nvSpPr>
        <p:spPr>
          <a:xfrm>
            <a:off x="9701784" y="7260336"/>
            <a:ext cx="612648" cy="402336"/>
          </a:xfrm>
          <a:prstGeom prst="roundRect">
            <a:avLst>
              <a:gd name="adj" fmla="val 45454"/>
            </a:avLst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4" name="Texto 74"/>
          <p:cNvSpPr txBox="1"/>
          <p:nvPr/>
        </p:nvSpPr>
        <p:spPr>
          <a:xfrm>
            <a:off x="914400" y="8001000"/>
            <a:ext cx="9418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i="1" dirty="0">
                <a:solidFill>
                  <a:srgbClr val="6E6577"/>
                </a:solidFill>
              </a:rPr>
              <a:t>Los seis meses operativos comienzan después de obtener los avales éticos y los permisos institucionales; la identificación de casos forma parte del estudio.</a:t>
            </a:r>
            <a:endParaRPr lang="es-CO" sz="1300" dirty="0"/>
          </a:p>
        </p:txBody>
      </p:sp>
      <p:sp>
        <p:nvSpPr>
          <p:cNvPr id="75" name="Tarjeta 75"/>
          <p:cNvSpPr/>
          <p:nvPr/>
        </p:nvSpPr>
        <p:spPr>
          <a:xfrm>
            <a:off x="10469880" y="1783080"/>
            <a:ext cx="4160520" cy="6858000"/>
          </a:xfrm>
          <a:prstGeom prst="roundRect">
            <a:avLst>
              <a:gd name="adj" fmla="val 3516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6" name="Circulo 76"/>
          <p:cNvSpPr/>
          <p:nvPr/>
        </p:nvSpPr>
        <p:spPr>
          <a:xfrm>
            <a:off x="10698480" y="196596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7" name="Icono coins 77" descr="coin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5018" y="2152498"/>
            <a:ext cx="404165" cy="404165"/>
          </a:xfrm>
          <a:prstGeom prst="rect">
            <a:avLst/>
          </a:prstGeom>
        </p:spPr>
      </p:pic>
      <p:sp>
        <p:nvSpPr>
          <p:cNvPr id="78" name="Texto 78"/>
          <p:cNvSpPr txBox="1"/>
          <p:nvPr/>
        </p:nvSpPr>
        <p:spPr>
          <a:xfrm>
            <a:off x="11612880" y="19659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80006B"/>
                </a:solidFill>
              </a:rPr>
              <a:t>Presupuesto</a:t>
            </a:r>
            <a:endParaRPr lang="es-CO" sz="20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aportes en especie</a:t>
            </a:r>
            <a:endParaRPr lang="es-CO" sz="1400" dirty="0"/>
          </a:p>
        </p:txBody>
      </p:sp>
      <p:sp>
        <p:nvSpPr>
          <p:cNvPr id="79" name="Forma 79"/>
          <p:cNvSpPr/>
          <p:nvPr/>
        </p:nvSpPr>
        <p:spPr>
          <a:xfrm>
            <a:off x="10698480" y="3017520"/>
            <a:ext cx="37033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txBody>
          <a:bodyPr wrap="square" lIns="164592" tIns="45720" rIns="13716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Investigadores</a:t>
            </a:r>
            <a:endParaRPr lang="es-CO" sz="15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2E2A33"/>
                </a:solidFill>
              </a:rPr>
              <a:t>Tiempo, equipos de cómputo y herramientas informáticas</a:t>
            </a:r>
            <a:endParaRPr lang="es-CO" sz="1300" dirty="0"/>
          </a:p>
        </p:txBody>
      </p:sp>
      <p:sp>
        <p:nvSpPr>
          <p:cNvPr id="80" name="Forma 80"/>
          <p:cNvSpPr/>
          <p:nvPr/>
        </p:nvSpPr>
        <p:spPr>
          <a:xfrm>
            <a:off x="10698480" y="4343400"/>
            <a:ext cx="37033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txBody>
          <a:bodyPr wrap="square" lIns="164592" tIns="45720" rIns="13716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Universidad Libre</a:t>
            </a:r>
            <a:endParaRPr lang="es-CO" sz="15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2E2A33"/>
                </a:solidFill>
              </a:rPr>
              <a:t>Infraestructura y recursos institucionales</a:t>
            </a:r>
            <a:endParaRPr lang="es-CO" sz="1300" dirty="0"/>
          </a:p>
        </p:txBody>
      </p:sp>
      <p:sp>
        <p:nvSpPr>
          <p:cNvPr id="81" name="Forma 81"/>
          <p:cNvSpPr/>
          <p:nvPr/>
        </p:nvSpPr>
        <p:spPr>
          <a:xfrm>
            <a:off x="10698480" y="5669280"/>
            <a:ext cx="37033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txBody>
          <a:bodyPr wrap="square" lIns="164592" tIns="45720" rIns="13716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Clínica General del Norte</a:t>
            </a:r>
            <a:endParaRPr lang="es-CO" sz="15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2E2A33"/>
                </a:solidFill>
              </a:rPr>
              <a:t>Acceso autorizado a historias clínicas y fuentes institucionales</a:t>
            </a:r>
            <a:endParaRPr lang="es-CO" sz="1300" dirty="0"/>
          </a:p>
        </p:txBody>
      </p:sp>
      <p:sp>
        <p:nvSpPr>
          <p:cNvPr id="82" name="Forma 82"/>
          <p:cNvSpPr/>
          <p:nvPr/>
        </p:nvSpPr>
        <p:spPr>
          <a:xfrm>
            <a:off x="10698480" y="7086600"/>
            <a:ext cx="3703320" cy="1325880"/>
          </a:xfrm>
          <a:prstGeom prst="roundRect">
            <a:avLst>
              <a:gd name="adj" fmla="val 9655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F3DDEE"/>
                </a:solidFill>
              </a:rPr>
              <a:t>Aportes en efectivo</a:t>
            </a:r>
            <a:endParaRPr lang="es-CO" sz="1400" dirty="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rgbClr val="FFFFFF"/>
                </a:solidFill>
              </a:rPr>
              <a:t>$0 COP</a:t>
            </a:r>
            <a:endParaRPr lang="es-CO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IMPACTO Y PRODUCTOS ESPERADOS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4425696" cy="3246120"/>
          </a:xfrm>
          <a:prstGeom prst="roundRect">
            <a:avLst>
              <a:gd name="adj" fmla="val 4507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43000" y="1965960"/>
            <a:ext cx="731520" cy="73152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microscope 7" descr="microscop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8565" y="2141525"/>
            <a:ext cx="380390" cy="380390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2011680" y="1965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Científico y académico</a:t>
            </a:r>
            <a:endParaRPr lang="es-CO" sz="1800" dirty="0"/>
          </a:p>
        </p:txBody>
      </p:sp>
      <p:sp>
        <p:nvSpPr>
          <p:cNvPr id="9" name="Texto 9"/>
          <p:cNvSpPr txBox="1"/>
          <p:nvPr/>
        </p:nvSpPr>
        <p:spPr>
          <a:xfrm>
            <a:off x="1188720" y="2834640"/>
            <a:ext cx="3931920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Primera caracterización institucional publicada en el Caribe colombiano de la morbimortalidad y de las prácticas de conservación sanguínea: línea de base para estudios futuros.</a:t>
            </a:r>
            <a:endParaRPr lang="es-CO" sz="1650" dirty="0"/>
          </a:p>
        </p:txBody>
      </p:sp>
      <p:sp>
        <p:nvSpPr>
          <p:cNvPr id="10" name="Tarjeta 10"/>
          <p:cNvSpPr/>
          <p:nvPr/>
        </p:nvSpPr>
        <p:spPr>
          <a:xfrm>
            <a:off x="5559552" y="1783080"/>
            <a:ext cx="4425696" cy="3246120"/>
          </a:xfrm>
          <a:prstGeom prst="roundRect">
            <a:avLst>
              <a:gd name="adj" fmla="val 4507"/>
            </a:avLst>
          </a:prstGeom>
          <a:solidFill>
            <a:srgbClr val="EEDAE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5788152" y="1965960"/>
            <a:ext cx="731520" cy="73152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hospital 12" descr="hospita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3717" y="2141525"/>
            <a:ext cx="380390" cy="380390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6656832" y="1965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Institucional y asistencial</a:t>
            </a:r>
            <a:endParaRPr lang="es-CO" sz="1800" dirty="0"/>
          </a:p>
        </p:txBody>
      </p:sp>
      <p:sp>
        <p:nvSpPr>
          <p:cNvPr id="14" name="Texto 14"/>
          <p:cNvSpPr txBox="1"/>
          <p:nvPr/>
        </p:nvSpPr>
        <p:spPr>
          <a:xfrm>
            <a:off x="5833872" y="2834640"/>
            <a:ext cx="3931920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Insumo para fortalecer y estandarizar protocolos de manejo de la sangre del paciente, articulando Medicina Interna, Cardiología, Cirugía Cardiovascular, Anestesiología, UCI y Hematología.</a:t>
            </a:r>
            <a:endParaRPr lang="es-CO" sz="1650" dirty="0"/>
          </a:p>
        </p:txBody>
      </p:sp>
      <p:sp>
        <p:nvSpPr>
          <p:cNvPr id="15" name="Tarjeta 15"/>
          <p:cNvSpPr/>
          <p:nvPr/>
        </p:nvSpPr>
        <p:spPr>
          <a:xfrm>
            <a:off x="10204704" y="1783080"/>
            <a:ext cx="4425696" cy="3246120"/>
          </a:xfrm>
          <a:prstGeom prst="roundRect">
            <a:avLst>
              <a:gd name="adj" fmla="val 4507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6" name="Circulo 16"/>
          <p:cNvSpPr/>
          <p:nvPr/>
        </p:nvSpPr>
        <p:spPr>
          <a:xfrm>
            <a:off x="10433304" y="1965960"/>
            <a:ext cx="731520" cy="73152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7" name="Icono handmed 17" descr="handm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8869" y="2141525"/>
            <a:ext cx="380390" cy="380390"/>
          </a:xfrm>
          <a:prstGeom prst="rect">
            <a:avLst/>
          </a:prstGeom>
        </p:spPr>
      </p:pic>
      <p:sp>
        <p:nvSpPr>
          <p:cNvPr id="18" name="Texto 18"/>
          <p:cNvSpPr txBox="1"/>
          <p:nvPr/>
        </p:nvSpPr>
        <p:spPr>
          <a:xfrm>
            <a:off x="11301984" y="19659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Social y ético</a:t>
            </a:r>
            <a:endParaRPr lang="es-CO" sz="1800" dirty="0"/>
          </a:p>
        </p:txBody>
      </p:sp>
      <p:sp>
        <p:nvSpPr>
          <p:cNvPr id="19" name="Texto 19"/>
          <p:cNvSpPr txBox="1"/>
          <p:nvPr/>
        </p:nvSpPr>
        <p:spPr>
          <a:xfrm>
            <a:off x="10479024" y="2834640"/>
            <a:ext cx="3931920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Atención más segura y respetuosa de la autonomía del paciente, aplicable a otras cirugías mayores con restricciones transfusionales.</a:t>
            </a:r>
            <a:endParaRPr lang="es-CO" sz="1650" dirty="0"/>
          </a:p>
        </p:txBody>
      </p:sp>
      <p:sp>
        <p:nvSpPr>
          <p:cNvPr id="20" name="Tarjeta 20"/>
          <p:cNvSpPr/>
          <p:nvPr/>
        </p:nvSpPr>
        <p:spPr>
          <a:xfrm>
            <a:off x="914400" y="5257800"/>
            <a:ext cx="676656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1" name="Circulo 21"/>
          <p:cNvSpPr/>
          <p:nvPr/>
        </p:nvSpPr>
        <p:spPr>
          <a:xfrm>
            <a:off x="1143000" y="5669280"/>
            <a:ext cx="960120" cy="96012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2" name="Icono news 22" descr="news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3429" y="5899709"/>
            <a:ext cx="499262" cy="499262"/>
          </a:xfrm>
          <a:prstGeom prst="rect">
            <a:avLst/>
          </a:prstGeom>
        </p:spPr>
      </p:pic>
      <p:sp>
        <p:nvSpPr>
          <p:cNvPr id="23" name="Texto 23"/>
          <p:cNvSpPr txBox="1"/>
          <p:nvPr/>
        </p:nvSpPr>
        <p:spPr>
          <a:xfrm>
            <a:off x="2286000" y="534924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Artículo original en revista indexada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Reportado según STROBE y RECORD</a:t>
            </a:r>
            <a:endParaRPr lang="es-CO" sz="1400" dirty="0"/>
          </a:p>
        </p:txBody>
      </p:sp>
      <p:sp>
        <p:nvSpPr>
          <p:cNvPr id="24" name="Forma 24"/>
          <p:cNvSpPr/>
          <p:nvPr/>
        </p:nvSpPr>
        <p:spPr>
          <a:xfrm>
            <a:off x="5806440" y="5440680"/>
            <a:ext cx="1691640" cy="1417320"/>
          </a:xfrm>
          <a:prstGeom prst="roundRect">
            <a:avLst>
              <a:gd name="adj" fmla="val 9032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dirty="0">
                <a:solidFill>
                  <a:srgbClr val="FFFFFF"/>
                </a:solidFill>
              </a:rPr>
              <a:t>12</a:t>
            </a:r>
            <a:endParaRPr lang="es-CO" sz="3800" dirty="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dirty="0">
                <a:solidFill>
                  <a:srgbClr val="F3DDEE"/>
                </a:solidFill>
              </a:rPr>
              <a:t>meses</a:t>
            </a:r>
            <a:endParaRPr lang="es-CO" sz="1150" dirty="0"/>
          </a:p>
        </p:txBody>
      </p:sp>
      <p:sp>
        <p:nvSpPr>
          <p:cNvPr id="25" name="Tarjeta 25"/>
          <p:cNvSpPr/>
          <p:nvPr/>
        </p:nvSpPr>
        <p:spPr>
          <a:xfrm>
            <a:off x="7863840" y="5257800"/>
            <a:ext cx="676656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6" name="Circulo 26"/>
          <p:cNvSpPr/>
          <p:nvPr/>
        </p:nvSpPr>
        <p:spPr>
          <a:xfrm>
            <a:off x="8092440" y="5669280"/>
            <a:ext cx="960120" cy="96012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7" name="Icono grad 27" descr="grad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22869" y="5899709"/>
            <a:ext cx="499262" cy="499262"/>
          </a:xfrm>
          <a:prstGeom prst="rect">
            <a:avLst/>
          </a:prstGeom>
        </p:spPr>
      </p:pic>
      <p:sp>
        <p:nvSpPr>
          <p:cNvPr id="28" name="Texto 28"/>
          <p:cNvSpPr txBox="1"/>
          <p:nvPr/>
        </p:nvSpPr>
        <p:spPr>
          <a:xfrm>
            <a:off x="9235440" y="534924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Trabajo de grado de especialización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Medicina Interna, Universidad Libre Seccional Barranquilla</a:t>
            </a:r>
            <a:endParaRPr lang="es-CO" sz="1400" dirty="0"/>
          </a:p>
        </p:txBody>
      </p:sp>
      <p:sp>
        <p:nvSpPr>
          <p:cNvPr id="29" name="Forma 29"/>
          <p:cNvSpPr/>
          <p:nvPr/>
        </p:nvSpPr>
        <p:spPr>
          <a:xfrm>
            <a:off x="12755880" y="5440680"/>
            <a:ext cx="1691640" cy="1417320"/>
          </a:xfrm>
          <a:prstGeom prst="roundRect">
            <a:avLst>
              <a:gd name="adj" fmla="val 9032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dirty="0">
                <a:solidFill>
                  <a:srgbClr val="FFFFFF"/>
                </a:solidFill>
              </a:rPr>
              <a:t>6</a:t>
            </a:r>
            <a:endParaRPr lang="es-CO" sz="3800" dirty="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dirty="0">
                <a:solidFill>
                  <a:srgbClr val="F3DDEE"/>
                </a:solidFill>
              </a:rPr>
              <a:t>meses desde el aval ético</a:t>
            </a:r>
            <a:endParaRPr lang="es-CO" sz="1150" dirty="0"/>
          </a:p>
        </p:txBody>
      </p:sp>
      <p:sp>
        <p:nvSpPr>
          <p:cNvPr id="30" name="Tarjeta 30"/>
          <p:cNvSpPr/>
          <p:nvPr/>
        </p:nvSpPr>
        <p:spPr>
          <a:xfrm>
            <a:off x="914400" y="7269480"/>
            <a:ext cx="13716000" cy="1371600"/>
          </a:xfrm>
          <a:prstGeom prst="roundRect">
            <a:avLst>
              <a:gd name="adj" fmla="val 10666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1" name="Circulo 31"/>
          <p:cNvSpPr/>
          <p:nvPr/>
        </p:nvSpPr>
        <p:spPr>
          <a:xfrm>
            <a:off x="1143000" y="7543800"/>
            <a:ext cx="822960" cy="82296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32" name="Icono bullhorn 32" descr="bullhorn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0510" y="7741310"/>
            <a:ext cx="427939" cy="427939"/>
          </a:xfrm>
          <a:prstGeom prst="rect">
            <a:avLst/>
          </a:prstGeom>
        </p:spPr>
      </p:pic>
      <p:sp>
        <p:nvSpPr>
          <p:cNvPr id="33" name="Texto 33"/>
          <p:cNvSpPr txBox="1"/>
          <p:nvPr/>
        </p:nvSpPr>
        <p:spPr>
          <a:xfrm>
            <a:off x="2240280" y="7315200"/>
            <a:ext cx="12207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50" b="1" dirty="0">
                <a:solidFill>
                  <a:srgbClr val="80006B"/>
                </a:solidFill>
              </a:rPr>
              <a:t xml:space="preserve">Comunicación: </a:t>
            </a:r>
            <a:r>
              <a:rPr lang="es-CO" sz="1550" dirty="0">
                <a:solidFill>
                  <a:srgbClr val="2E2A33"/>
                </a:solidFill>
              </a:rPr>
              <a:t xml:space="preserve">ponencia oral o póster en eventos académicos locales, regionales o nacionales y socialización con la Clínica General del Norte y los servicios involucrados. </a:t>
            </a:r>
            <a:r>
              <a:rPr lang="es-CO" sz="1550" b="1" dirty="0">
                <a:solidFill>
                  <a:srgbClr val="2E2A33"/>
                </a:solidFill>
              </a:rPr>
              <a:t>Toda la difusión será agregada y confidencial; las conclusiones no atribuirán causalidad ni afirmarán equivalencia.</a:t>
            </a:r>
            <a:endParaRPr lang="es-CO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ASPECTOS ÉTICOS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4206240" cy="6858000"/>
          </a:xfrm>
          <a:prstGeom prst="roundRect">
            <a:avLst>
              <a:gd name="adj" fmla="val 3478"/>
            </a:avLst>
          </a:prstGeom>
          <a:solidFill>
            <a:srgbClr val="80006B"/>
          </a:solidFill>
          <a:ln>
            <a:noFill/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2331720" y="21031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shield 7" descr="shiel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1760" y="2423160"/>
            <a:ext cx="731520" cy="731520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1188720" y="365760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dirty="0">
                <a:solidFill>
                  <a:srgbClr val="FFFFFF"/>
                </a:solidFill>
              </a:rPr>
              <a:t>Investigación sin riesgo</a:t>
            </a:r>
            <a:endParaRPr lang="es-CO" sz="2600" dirty="0"/>
          </a:p>
        </p:txBody>
      </p:sp>
      <p:sp>
        <p:nvSpPr>
          <p:cNvPr id="9" name="Texto 9"/>
          <p:cNvSpPr txBox="1"/>
          <p:nvPr/>
        </p:nvSpPr>
        <p:spPr>
          <a:xfrm>
            <a:off x="1234440" y="470916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50" dirty="0">
                <a:solidFill>
                  <a:srgbClr val="F3DDEE"/>
                </a:solidFill>
              </a:rPr>
              <a:t>Artículo 11, Resolución 8430 de 1993 (21). Estudio documental retrospectivo, sin contacto ni intervención. La clasificación definitiva la establecerán los comités, dado que se tratarán datos de salud y convicciones religiosas.</a:t>
            </a:r>
            <a:endParaRPr lang="es-CO" sz="1550" dirty="0"/>
          </a:p>
        </p:txBody>
      </p:sp>
      <p:sp>
        <p:nvSpPr>
          <p:cNvPr id="10" name="Forma 10"/>
          <p:cNvSpPr/>
          <p:nvPr/>
        </p:nvSpPr>
        <p:spPr>
          <a:xfrm>
            <a:off x="1188720" y="7178040"/>
            <a:ext cx="3657600" cy="1188720"/>
          </a:xfrm>
          <a:prstGeom prst="roundRect">
            <a:avLst>
              <a:gd name="adj" fmla="val 10769"/>
            </a:avLst>
          </a:prstGeom>
          <a:solidFill>
            <a:srgbClr val="9A2688"/>
          </a:solidFill>
          <a:ln>
            <a:noFill/>
          </a:ln>
        </p:spPr>
        <p:txBody>
          <a:bodyPr wrap="square" lIns="137160" tIns="45720" rIns="13716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FFFFFF"/>
                </a:solidFill>
              </a:rPr>
              <a:t>Principios</a:t>
            </a:r>
            <a:endParaRPr lang="es-CO" sz="1500" dirty="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50" dirty="0">
                <a:solidFill>
                  <a:srgbClr val="F3DDEE"/>
                </a:solidFill>
              </a:rPr>
              <a:t>Informe Belmont · Declaración de Helsinki (35,36)</a:t>
            </a:r>
            <a:endParaRPr lang="es-CO" sz="1350" dirty="0"/>
          </a:p>
        </p:txBody>
      </p:sp>
      <p:sp>
        <p:nvSpPr>
          <p:cNvPr id="11" name="Tarjeta 11"/>
          <p:cNvSpPr/>
          <p:nvPr/>
        </p:nvSpPr>
        <p:spPr>
          <a:xfrm>
            <a:off x="5440680" y="1783080"/>
            <a:ext cx="4526280" cy="3291840"/>
          </a:xfrm>
          <a:prstGeom prst="roundRect">
            <a:avLst>
              <a:gd name="adj" fmla="val 444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2" name="Circulo 12"/>
          <p:cNvSpPr/>
          <p:nvPr/>
        </p:nvSpPr>
        <p:spPr>
          <a:xfrm>
            <a:off x="5669280" y="2011680"/>
            <a:ext cx="731520" cy="73152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3" name="Icono gavel 13" descr="gav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4845" y="2187245"/>
            <a:ext cx="380390" cy="380390"/>
          </a:xfrm>
          <a:prstGeom prst="rect">
            <a:avLst/>
          </a:prstGeom>
        </p:spPr>
      </p:pic>
      <p:sp>
        <p:nvSpPr>
          <p:cNvPr id="14" name="Texto 14"/>
          <p:cNvSpPr txBox="1"/>
          <p:nvPr/>
        </p:nvSpPr>
        <p:spPr>
          <a:xfrm>
            <a:off x="6583680" y="201168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Normatividad</a:t>
            </a:r>
            <a:endParaRPr lang="es-CO" sz="1900" dirty="0"/>
          </a:p>
        </p:txBody>
      </p:sp>
      <p:sp>
        <p:nvSpPr>
          <p:cNvPr id="15" name="Texto 15"/>
          <p:cNvSpPr txBox="1"/>
          <p:nvPr/>
        </p:nvSpPr>
        <p:spPr>
          <a:xfrm>
            <a:off x="5715000" y="2880360"/>
            <a:ext cx="4023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Ley 23 de 1981 · Resolución 8430 de 1993 · Resolución 1995 de 1999 · Ley Estatutaria 1581 de 2012, que permite el tratamiento científico de datos sensibles con supresión de la identidad (20-22,37).</a:t>
            </a:r>
            <a:endParaRPr lang="es-CO" sz="1600" dirty="0"/>
          </a:p>
        </p:txBody>
      </p:sp>
      <p:sp>
        <p:nvSpPr>
          <p:cNvPr id="16" name="Tarjeta 16"/>
          <p:cNvSpPr/>
          <p:nvPr/>
        </p:nvSpPr>
        <p:spPr>
          <a:xfrm>
            <a:off x="10104120" y="1783080"/>
            <a:ext cx="45262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7" name="Circulo 17"/>
          <p:cNvSpPr/>
          <p:nvPr/>
        </p:nvSpPr>
        <p:spPr>
          <a:xfrm>
            <a:off x="10332720" y="2011680"/>
            <a:ext cx="731520" cy="73152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8" name="Icono pen 18" descr="pe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8285" y="2187245"/>
            <a:ext cx="380390" cy="380390"/>
          </a:xfrm>
          <a:prstGeom prst="rect">
            <a:avLst/>
          </a:prstGeom>
        </p:spPr>
      </p:pic>
      <p:sp>
        <p:nvSpPr>
          <p:cNvPr id="19" name="Texto 19"/>
          <p:cNvSpPr txBox="1"/>
          <p:nvPr/>
        </p:nvSpPr>
        <p:spPr>
          <a:xfrm>
            <a:off x="11247120" y="201168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Consentimiento informado</a:t>
            </a:r>
            <a:endParaRPr lang="es-CO" sz="1900" dirty="0"/>
          </a:p>
        </p:txBody>
      </p:sp>
      <p:sp>
        <p:nvSpPr>
          <p:cNvPr id="20" name="Texto 20"/>
          <p:cNvSpPr txBox="1"/>
          <p:nvPr/>
        </p:nvSpPr>
        <p:spPr>
          <a:xfrm>
            <a:off x="10378440" y="2880360"/>
            <a:ext cx="4023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Se solicitará su dispensa (Res. 8430, art. 16, parágrafo 1; Ley 1581, art. 6, literal e): diseño retrospectivo, sin intervención, pacientes fallecidos o no localizables y publicación agregada.</a:t>
            </a:r>
            <a:endParaRPr lang="es-CO" sz="1600" dirty="0"/>
          </a:p>
        </p:txBody>
      </p:sp>
      <p:sp>
        <p:nvSpPr>
          <p:cNvPr id="21" name="Tarjeta 21"/>
          <p:cNvSpPr/>
          <p:nvPr/>
        </p:nvSpPr>
        <p:spPr>
          <a:xfrm>
            <a:off x="5440680" y="5303520"/>
            <a:ext cx="45262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2" name="Circulo 22"/>
          <p:cNvSpPr/>
          <p:nvPr/>
        </p:nvSpPr>
        <p:spPr>
          <a:xfrm>
            <a:off x="5669280" y="5532120"/>
            <a:ext cx="731520" cy="73152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3" name="Icono lock 23" descr="lo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4845" y="5707685"/>
            <a:ext cx="380390" cy="380390"/>
          </a:xfrm>
          <a:prstGeom prst="rect">
            <a:avLst/>
          </a:prstGeom>
        </p:spPr>
      </p:pic>
      <p:sp>
        <p:nvSpPr>
          <p:cNvPr id="24" name="Texto 24"/>
          <p:cNvSpPr txBox="1"/>
          <p:nvPr/>
        </p:nvSpPr>
        <p:spPr>
          <a:xfrm>
            <a:off x="6583680" y="553212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Protección de datos</a:t>
            </a:r>
            <a:endParaRPr lang="es-CO" sz="1900" dirty="0"/>
          </a:p>
        </p:txBody>
      </p:sp>
      <p:sp>
        <p:nvSpPr>
          <p:cNvPr id="25" name="Texto 25"/>
          <p:cNvSpPr txBox="1"/>
          <p:nvPr/>
        </p:nvSpPr>
        <p:spPr>
          <a:xfrm>
            <a:off x="5715000" y="6400800"/>
            <a:ext cx="4023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Código de estudio y base sin identificadores; tabla de correspondencia cifrada y separada; conservación por 5 años; resultados agregados sin combinaciones que identifiquen.</a:t>
            </a:r>
            <a:endParaRPr lang="es-CO" sz="1600" dirty="0"/>
          </a:p>
        </p:txBody>
      </p:sp>
      <p:sp>
        <p:nvSpPr>
          <p:cNvPr id="26" name="Tarjeta 26"/>
          <p:cNvSpPr/>
          <p:nvPr/>
        </p:nvSpPr>
        <p:spPr>
          <a:xfrm>
            <a:off x="10104120" y="5303520"/>
            <a:ext cx="4526280" cy="3291840"/>
          </a:xfrm>
          <a:prstGeom prst="roundRect">
            <a:avLst>
              <a:gd name="adj" fmla="val 444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7" name="Circulo 27"/>
          <p:cNvSpPr/>
          <p:nvPr/>
        </p:nvSpPr>
        <p:spPr>
          <a:xfrm>
            <a:off x="10332720" y="5532120"/>
            <a:ext cx="731520" cy="73152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8" name="Icono handshake 28" descr="handshake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08285" y="5707685"/>
            <a:ext cx="380390" cy="380390"/>
          </a:xfrm>
          <a:prstGeom prst="rect">
            <a:avLst/>
          </a:prstGeom>
        </p:spPr>
      </p:pic>
      <p:sp>
        <p:nvSpPr>
          <p:cNvPr id="29" name="Texto 29"/>
          <p:cNvSpPr txBox="1"/>
          <p:nvPr/>
        </p:nvSpPr>
        <p:spPr>
          <a:xfrm>
            <a:off x="11247120" y="553212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Avales y conflictos</a:t>
            </a:r>
            <a:endParaRPr lang="es-CO" sz="1900" dirty="0"/>
          </a:p>
        </p:txBody>
      </p:sp>
      <p:sp>
        <p:nvSpPr>
          <p:cNvPr id="30" name="Texto 30"/>
          <p:cNvSpPr txBox="1"/>
          <p:nvPr/>
        </p:nvSpPr>
        <p:spPr>
          <a:xfrm>
            <a:off x="10378440" y="6400800"/>
            <a:ext cx="4023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Inicio tras la aprobación de los comités de ética de la Universidad Libre y de la Clínica General del Norte. Sin conflictos de interés ni financiación de la industria.</a:t>
            </a:r>
            <a:endParaRPr lang="es-CO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PLAN DE ANÁLISIS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4425696" cy="4572000"/>
          </a:xfrm>
          <a:prstGeom prst="roundRect">
            <a:avLst>
              <a:gd name="adj" fmla="val 3305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43000" y="196596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sigma 7" descr="sigma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9538" y="2152498"/>
            <a:ext cx="404165" cy="404165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2057400" y="196596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rgbClr val="80006B"/>
                </a:solidFill>
              </a:rPr>
              <a:t>Descriptivo</a:t>
            </a:r>
            <a:endParaRPr lang="es-CO" sz="2100" dirty="0"/>
          </a:p>
        </p:txBody>
      </p:sp>
      <p:sp>
        <p:nvSpPr>
          <p:cNvPr id="9" name="Texto 9"/>
          <p:cNvSpPr txBox="1"/>
          <p:nvPr/>
        </p:nvSpPr>
        <p:spPr>
          <a:xfrm>
            <a:off x="1188720" y="2926080"/>
            <a:ext cx="393192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R versión 4.4 o posterior; diagrama de flujo de selección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Unidad: paciente y su primera cirugía índice elegible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Media (DE) o mediana (RIC); frecuencias con su denominador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Proporciones con IC 95 % (Wilson), global y por tipo de cirugía</a:t>
            </a:r>
            <a:endParaRPr lang="es-CO" sz="1750" dirty="0"/>
          </a:p>
        </p:txBody>
      </p:sp>
      <p:sp>
        <p:nvSpPr>
          <p:cNvPr id="10" name="Tarjeta 10"/>
          <p:cNvSpPr/>
          <p:nvPr/>
        </p:nvSpPr>
        <p:spPr>
          <a:xfrm>
            <a:off x="5559552" y="1783080"/>
            <a:ext cx="4425696" cy="457200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5788152" y="1965960"/>
            <a:ext cx="777240" cy="77724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chart 12" descr="char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4690" y="2152498"/>
            <a:ext cx="404165" cy="404165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6702552" y="196596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rgbClr val="80006B"/>
                </a:solidFill>
              </a:rPr>
              <a:t>Exploratorio</a:t>
            </a:r>
            <a:endParaRPr lang="es-CO" sz="2100" dirty="0"/>
          </a:p>
        </p:txBody>
      </p:sp>
      <p:sp>
        <p:nvSpPr>
          <p:cNvPr id="14" name="Texto 14"/>
          <p:cNvSpPr txBox="1"/>
          <p:nvPr/>
        </p:nvSpPr>
        <p:spPr>
          <a:xfrm>
            <a:off x="5833872" y="2926080"/>
            <a:ext cx="393192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Fisher-Freeman-Halton (tabla 2 × 3), p bilateral &lt; 0,05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Diferencias de riesgo por pares, IC 95 % (Newcombe); corrección de Holm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Regresión logística solo con ≥ 40 eventos; Firth si hay separación (34)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Si no: estratificación por urgencia y EuroSCORE II</a:t>
            </a:r>
            <a:endParaRPr lang="es-CO" sz="1750" dirty="0"/>
          </a:p>
        </p:txBody>
      </p:sp>
      <p:sp>
        <p:nvSpPr>
          <p:cNvPr id="15" name="Tarjeta 15"/>
          <p:cNvSpPr/>
          <p:nvPr/>
        </p:nvSpPr>
        <p:spPr>
          <a:xfrm>
            <a:off x="10204704" y="1783080"/>
            <a:ext cx="4425696" cy="4572000"/>
          </a:xfrm>
          <a:prstGeom prst="roundRect">
            <a:avLst>
              <a:gd name="adj" fmla="val 3305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6" name="Circulo 16"/>
          <p:cNvSpPr/>
          <p:nvPr/>
        </p:nvSpPr>
        <p:spPr>
          <a:xfrm>
            <a:off x="10433304" y="196596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7" name="Icono filter 17" descr="filter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19842" y="2152498"/>
            <a:ext cx="404165" cy="404165"/>
          </a:xfrm>
          <a:prstGeom prst="rect">
            <a:avLst/>
          </a:prstGeom>
        </p:spPr>
      </p:pic>
      <p:sp>
        <p:nvSpPr>
          <p:cNvPr id="18" name="Texto 18"/>
          <p:cNvSpPr txBox="1"/>
          <p:nvPr/>
        </p:nvSpPr>
        <p:spPr>
          <a:xfrm>
            <a:off x="11347704" y="196596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rgbClr val="80006B"/>
                </a:solidFill>
              </a:rPr>
              <a:t>Faltantes y sensibilidad</a:t>
            </a:r>
            <a:endParaRPr lang="es-CO" sz="2100" dirty="0"/>
          </a:p>
        </p:txBody>
      </p:sp>
      <p:sp>
        <p:nvSpPr>
          <p:cNvPr id="19" name="Texto 19"/>
          <p:cNvSpPr txBox="1"/>
          <p:nvPr/>
        </p:nvSpPr>
        <p:spPr>
          <a:xfrm>
            <a:off x="10479024" y="2926080"/>
            <a:ext cx="393192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Casos completos por variable, sin imputar desenlaces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Sin seguimiento verificable no se asume vivo a 30 días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Sensibilidad: excluir a quienes recibieron hemocomponentes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10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Sensibilidad: solo cirugía electiva</a:t>
            </a:r>
            <a:endParaRPr lang="es-CO" sz="1750" dirty="0"/>
          </a:p>
        </p:txBody>
      </p:sp>
      <p:sp>
        <p:nvSpPr>
          <p:cNvPr id="20" name="Texto 20"/>
          <p:cNvSpPr txBox="1"/>
          <p:nvPr/>
        </p:nvSpPr>
        <p:spPr>
          <a:xfrm>
            <a:off x="914400" y="65379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Sesgos y su control</a:t>
            </a:r>
            <a:endParaRPr lang="es-CO" sz="1800" dirty="0"/>
          </a:p>
        </p:txBody>
      </p:sp>
      <p:sp>
        <p:nvSpPr>
          <p:cNvPr id="21" name="Forma 21"/>
          <p:cNvSpPr/>
          <p:nvPr/>
        </p:nvSpPr>
        <p:spPr>
          <a:xfrm>
            <a:off x="914400" y="7040880"/>
            <a:ext cx="3291840" cy="1097280"/>
          </a:xfrm>
          <a:prstGeom prst="roundRect">
            <a:avLst>
              <a:gd name="adj" fmla="val 11666"/>
            </a:avLst>
          </a:prstGeom>
          <a:solidFill>
            <a:srgbClr val="EEDAEB"/>
          </a:solidFill>
          <a:ln>
            <a:noFill/>
          </a:ln>
        </p:spPr>
        <p:txBody>
          <a:bodyPr wrap="square" lIns="164592" tIns="45720" rIns="164592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80006B"/>
                </a:solidFill>
              </a:rPr>
              <a:t>Selección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2E2A33"/>
                </a:solidFill>
              </a:rPr>
              <a:t>búsqueda multifuente y aporte de cada fuente</a:t>
            </a:r>
            <a:endParaRPr lang="es-CO" sz="1400" dirty="0"/>
          </a:p>
        </p:txBody>
      </p:sp>
      <p:sp>
        <p:nvSpPr>
          <p:cNvPr id="22" name="Forma 22"/>
          <p:cNvSpPr/>
          <p:nvPr/>
        </p:nvSpPr>
        <p:spPr>
          <a:xfrm>
            <a:off x="4389120" y="7040880"/>
            <a:ext cx="3291840" cy="1097280"/>
          </a:xfrm>
          <a:prstGeom prst="roundRect">
            <a:avLst>
              <a:gd name="adj" fmla="val 11666"/>
            </a:avLst>
          </a:prstGeom>
          <a:solidFill>
            <a:srgbClr val="EEDAEB"/>
          </a:solidFill>
          <a:ln>
            <a:noFill/>
          </a:ln>
        </p:spPr>
        <p:txBody>
          <a:bodyPr wrap="square" lIns="164592" tIns="45720" rIns="164592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80006B"/>
                </a:solidFill>
              </a:rPr>
              <a:t>Información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2E2A33"/>
                </a:solidFill>
              </a:rPr>
              <a:t>definiciones objetivas, doble extracción y concordancia</a:t>
            </a:r>
            <a:endParaRPr lang="es-CO" sz="1400" dirty="0"/>
          </a:p>
        </p:txBody>
      </p:sp>
      <p:sp>
        <p:nvSpPr>
          <p:cNvPr id="23" name="Forma 23"/>
          <p:cNvSpPr/>
          <p:nvPr/>
        </p:nvSpPr>
        <p:spPr>
          <a:xfrm>
            <a:off x="7863840" y="7040880"/>
            <a:ext cx="3291840" cy="1097280"/>
          </a:xfrm>
          <a:prstGeom prst="roundRect">
            <a:avLst>
              <a:gd name="adj" fmla="val 11666"/>
            </a:avLst>
          </a:prstGeom>
          <a:solidFill>
            <a:srgbClr val="EEDAEB"/>
          </a:solidFill>
          <a:ln>
            <a:noFill/>
          </a:ln>
        </p:spPr>
        <p:txBody>
          <a:bodyPr wrap="square" lIns="164592" tIns="45720" rIns="164592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80006B"/>
                </a:solidFill>
              </a:rPr>
              <a:t>Seguimiento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2E2A33"/>
                </a:solidFill>
              </a:rPr>
              <a:t>incompleto explícito, sin asumir supervivencia</a:t>
            </a:r>
            <a:endParaRPr lang="es-CO" sz="1400" dirty="0"/>
          </a:p>
        </p:txBody>
      </p:sp>
      <p:sp>
        <p:nvSpPr>
          <p:cNvPr id="24" name="Forma 24"/>
          <p:cNvSpPr/>
          <p:nvPr/>
        </p:nvSpPr>
        <p:spPr>
          <a:xfrm>
            <a:off x="11338560" y="7040880"/>
            <a:ext cx="3291840" cy="1097280"/>
          </a:xfrm>
          <a:prstGeom prst="roundRect">
            <a:avLst>
              <a:gd name="adj" fmla="val 11666"/>
            </a:avLst>
          </a:prstGeom>
          <a:solidFill>
            <a:srgbClr val="EEDAEB"/>
          </a:solidFill>
          <a:ln>
            <a:noFill/>
          </a:ln>
        </p:spPr>
        <p:txBody>
          <a:bodyPr wrap="square" lIns="164592" tIns="45720" rIns="164592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80006B"/>
                </a:solidFill>
              </a:rPr>
              <a:t>Confusión por indicación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2E2A33"/>
                </a:solidFill>
              </a:rPr>
              <a:t>estratificación por urgencia y EuroSCORE II</a:t>
            </a:r>
            <a:endParaRPr lang="es-CO" sz="1400" dirty="0"/>
          </a:p>
        </p:txBody>
      </p:sp>
      <p:sp>
        <p:nvSpPr>
          <p:cNvPr id="25" name="Texto 25"/>
          <p:cNvSpPr txBox="1"/>
          <p:nvPr/>
        </p:nvSpPr>
        <p:spPr>
          <a:xfrm>
            <a:off x="914400" y="8229600"/>
            <a:ext cx="13716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i="1" dirty="0">
                <a:solidFill>
                  <a:srgbClr val="6E6577"/>
                </a:solidFill>
              </a:rPr>
              <a:t>No se atribuirán efectos causales al tipo de cirugía ni se interpretará la ausencia de significación como equivalencia o seguridad.</a:t>
            </a:r>
            <a:endParaRPr lang="es-CO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RECOLECCIÓN DE DATOS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4343400" cy="4434840"/>
          </a:xfrm>
          <a:prstGeom prst="roundRect">
            <a:avLst>
              <a:gd name="adj" fmla="val 3368"/>
            </a:avLst>
          </a:prstGeom>
          <a:solidFill>
            <a:srgbClr val="80006B"/>
          </a:solidFill>
          <a:ln>
            <a:noFill/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Texto 6"/>
          <p:cNvSpPr txBox="1"/>
          <p:nvPr/>
        </p:nvSpPr>
        <p:spPr>
          <a:xfrm>
            <a:off x="1188720" y="1920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1 · Identificación multifuente</a:t>
            </a:r>
            <a:endParaRPr lang="es-CO" sz="1800" dirty="0"/>
          </a:p>
        </p:txBody>
      </p:sp>
      <p:sp>
        <p:nvSpPr>
          <p:cNvPr id="7" name="Fuente 7"/>
          <p:cNvSpPr/>
          <p:nvPr/>
        </p:nvSpPr>
        <p:spPr>
          <a:xfrm>
            <a:off x="1143000" y="2606040"/>
            <a:ext cx="388620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8" name="Icono clipboard 8" descr="clipboar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0" y="2779776"/>
            <a:ext cx="429768" cy="429768"/>
          </a:xfrm>
          <a:prstGeom prst="rect">
            <a:avLst/>
          </a:prstGeom>
        </p:spPr>
      </p:pic>
      <p:sp>
        <p:nvSpPr>
          <p:cNvPr id="9" name="Texto 9"/>
          <p:cNvSpPr txBox="1"/>
          <p:nvPr/>
        </p:nvSpPr>
        <p:spPr>
          <a:xfrm>
            <a:off x="1828800" y="260604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50" dirty="0">
                <a:solidFill>
                  <a:srgbClr val="2E2A33"/>
                </a:solidFill>
              </a:rPr>
              <a:t>Listados de cirugía cardiaca, perfusión y UCI cardiovascular</a:t>
            </a:r>
            <a:endParaRPr lang="es-CO" sz="1350" dirty="0"/>
          </a:p>
        </p:txBody>
      </p:sp>
      <p:sp>
        <p:nvSpPr>
          <p:cNvPr id="10" name="Fuente 10"/>
          <p:cNvSpPr/>
          <p:nvPr/>
        </p:nvSpPr>
        <p:spPr>
          <a:xfrm>
            <a:off x="1143000" y="3493008"/>
            <a:ext cx="388620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1" name="Icono search 11" descr="search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0160" y="3666744"/>
            <a:ext cx="429768" cy="429768"/>
          </a:xfrm>
          <a:prstGeom prst="rect">
            <a:avLst/>
          </a:prstGeom>
        </p:spPr>
      </p:pic>
      <p:sp>
        <p:nvSpPr>
          <p:cNvPr id="12" name="Texto 12"/>
          <p:cNvSpPr txBox="1"/>
          <p:nvPr/>
        </p:nvSpPr>
        <p:spPr>
          <a:xfrm>
            <a:off x="1828800" y="3493008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50" dirty="0">
                <a:solidFill>
                  <a:srgbClr val="2E2A33"/>
                </a:solidFill>
              </a:rPr>
              <a:t>Texto libre en la historia clínica: «Testigo de Jehová», «rechazo transfusional», «sin sangre»…</a:t>
            </a:r>
            <a:endParaRPr lang="es-CO" sz="1350" dirty="0"/>
          </a:p>
        </p:txBody>
      </p:sp>
      <p:sp>
        <p:nvSpPr>
          <p:cNvPr id="13" name="Fuente 13"/>
          <p:cNvSpPr/>
          <p:nvPr/>
        </p:nvSpPr>
        <p:spPr>
          <a:xfrm>
            <a:off x="1143000" y="4379976"/>
            <a:ext cx="388620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4" name="Icono filemed 14" descr="filem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0160" y="4553712"/>
            <a:ext cx="429768" cy="429768"/>
          </a:xfrm>
          <a:prstGeom prst="rect">
            <a:avLst/>
          </a:prstGeom>
        </p:spPr>
      </p:pic>
      <p:sp>
        <p:nvSpPr>
          <p:cNvPr id="15" name="Texto 15"/>
          <p:cNvSpPr txBox="1"/>
          <p:nvPr/>
        </p:nvSpPr>
        <p:spPr>
          <a:xfrm>
            <a:off x="1828800" y="4379976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50" dirty="0">
                <a:solidFill>
                  <a:srgbClr val="2E2A33"/>
                </a:solidFill>
              </a:rPr>
              <a:t>Formatos institucionales de disentimiento</a:t>
            </a:r>
            <a:endParaRPr lang="es-CO" sz="1350" dirty="0"/>
          </a:p>
        </p:txBody>
      </p:sp>
      <p:sp>
        <p:nvSpPr>
          <p:cNvPr id="16" name="Fuente 16"/>
          <p:cNvSpPr/>
          <p:nvPr/>
        </p:nvSpPr>
        <p:spPr>
          <a:xfrm>
            <a:off x="1143000" y="5266944"/>
            <a:ext cx="388620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7" name="Icono dropslash 17" descr="dropslash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0160" y="5440680"/>
            <a:ext cx="429768" cy="429768"/>
          </a:xfrm>
          <a:prstGeom prst="rect">
            <a:avLst/>
          </a:prstGeom>
        </p:spPr>
      </p:pic>
      <p:sp>
        <p:nvSpPr>
          <p:cNvPr id="18" name="Texto 18"/>
          <p:cNvSpPr txBox="1"/>
          <p:nvPr/>
        </p:nvSpPr>
        <p:spPr>
          <a:xfrm>
            <a:off x="1828800" y="5266944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50" dirty="0">
                <a:solidFill>
                  <a:srgbClr val="2E2A33"/>
                </a:solidFill>
              </a:rPr>
              <a:t>Solicitudes canceladas del servicio de transfusión</a:t>
            </a:r>
            <a:endParaRPr lang="es-CO" sz="1350" dirty="0"/>
          </a:p>
        </p:txBody>
      </p:sp>
      <p:sp>
        <p:nvSpPr>
          <p:cNvPr id="19" name="Flecha 19"/>
          <p:cNvSpPr/>
          <p:nvPr/>
        </p:nvSpPr>
        <p:spPr>
          <a:xfrm>
            <a:off x="5321808" y="3657600"/>
            <a:ext cx="256032" cy="457200"/>
          </a:xfrm>
          <a:prstGeom prst="chevron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0" name="Tarjeta 20"/>
          <p:cNvSpPr/>
          <p:nvPr/>
        </p:nvSpPr>
        <p:spPr>
          <a:xfrm>
            <a:off x="5669280" y="1783080"/>
            <a:ext cx="2834640" cy="4434840"/>
          </a:xfrm>
          <a:prstGeom prst="roundRect">
            <a:avLst>
              <a:gd name="adj" fmla="val 516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1" name="Circulo 21"/>
          <p:cNvSpPr/>
          <p:nvPr/>
        </p:nvSpPr>
        <p:spPr>
          <a:xfrm>
            <a:off x="6583680" y="196596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2" name="Icono usercheck 22" descr="userche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5082" y="2207362"/>
            <a:ext cx="523037" cy="523037"/>
          </a:xfrm>
          <a:prstGeom prst="rect">
            <a:avLst/>
          </a:prstGeom>
        </p:spPr>
      </p:pic>
      <p:sp>
        <p:nvSpPr>
          <p:cNvPr id="23" name="Texto 23"/>
          <p:cNvSpPr txBox="1"/>
          <p:nvPr/>
        </p:nvSpPr>
        <p:spPr>
          <a:xfrm>
            <a:off x="580644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2 · Verificación</a:t>
            </a:r>
            <a:endParaRPr lang="es-CO" sz="1700" dirty="0"/>
          </a:p>
        </p:txBody>
      </p:sp>
      <p:sp>
        <p:nvSpPr>
          <p:cNvPr id="24" name="Texto 24"/>
          <p:cNvSpPr txBox="1"/>
          <p:nvPr/>
        </p:nvSpPr>
        <p:spPr>
          <a:xfrm>
            <a:off x="5852160" y="36118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Condición de Testigo de Jehová y negativa preoperatoria a glóbulos rojos. Cirugía índice: primera operación elegible; las demás se registran como eventos.</a:t>
            </a:r>
            <a:endParaRPr lang="es-CO" sz="1600" dirty="0"/>
          </a:p>
        </p:txBody>
      </p:sp>
      <p:sp>
        <p:nvSpPr>
          <p:cNvPr id="25" name="Flecha 25"/>
          <p:cNvSpPr/>
          <p:nvPr/>
        </p:nvSpPr>
        <p:spPr>
          <a:xfrm>
            <a:off x="8366760" y="3657600"/>
            <a:ext cx="256032" cy="457200"/>
          </a:xfrm>
          <a:prstGeom prst="chevron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6" name="Tarjeta 26"/>
          <p:cNvSpPr/>
          <p:nvPr/>
        </p:nvSpPr>
        <p:spPr>
          <a:xfrm>
            <a:off x="8714232" y="1783080"/>
            <a:ext cx="2834640" cy="4434840"/>
          </a:xfrm>
          <a:prstGeom prst="roundRect">
            <a:avLst>
              <a:gd name="adj" fmla="val 5161"/>
            </a:avLst>
          </a:prstGeom>
          <a:solidFill>
            <a:srgbClr val="EEDAE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7" name="Circulo 27"/>
          <p:cNvSpPr/>
          <p:nvPr/>
        </p:nvSpPr>
        <p:spPr>
          <a:xfrm>
            <a:off x="9628632" y="196596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8" name="Icono laptop 28" descr="laptop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0034" y="2207362"/>
            <a:ext cx="523037" cy="523037"/>
          </a:xfrm>
          <a:prstGeom prst="rect">
            <a:avLst/>
          </a:prstGeom>
        </p:spPr>
      </p:pic>
      <p:sp>
        <p:nvSpPr>
          <p:cNvPr id="29" name="Texto 29"/>
          <p:cNvSpPr txBox="1"/>
          <p:nvPr/>
        </p:nvSpPr>
        <p:spPr>
          <a:xfrm>
            <a:off x="8851392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3 · Instrumento</a:t>
            </a:r>
            <a:endParaRPr lang="es-CO" sz="1700" dirty="0"/>
          </a:p>
        </p:txBody>
      </p:sp>
      <p:sp>
        <p:nvSpPr>
          <p:cNvPr id="30" name="Texto 30"/>
          <p:cNvSpPr txBox="1"/>
          <p:nvPr/>
        </p:nvSpPr>
        <p:spPr>
          <a:xfrm>
            <a:off x="8897112" y="36118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Formulario en REDCap o Excel protegido, con listas desplegables y rangos de validación. Prueba piloto con cinco historias.</a:t>
            </a:r>
            <a:endParaRPr lang="es-CO" sz="1600" dirty="0"/>
          </a:p>
        </p:txBody>
      </p:sp>
      <p:sp>
        <p:nvSpPr>
          <p:cNvPr id="31" name="Flecha 31"/>
          <p:cNvSpPr/>
          <p:nvPr/>
        </p:nvSpPr>
        <p:spPr>
          <a:xfrm>
            <a:off x="11411712" y="3657600"/>
            <a:ext cx="256032" cy="457200"/>
          </a:xfrm>
          <a:prstGeom prst="chevron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2" name="Tarjeta 32"/>
          <p:cNvSpPr/>
          <p:nvPr/>
        </p:nvSpPr>
        <p:spPr>
          <a:xfrm>
            <a:off x="11759184" y="1783080"/>
            <a:ext cx="2834640" cy="4434840"/>
          </a:xfrm>
          <a:prstGeom prst="roundRect">
            <a:avLst>
              <a:gd name="adj" fmla="val 516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3" name="Circulo 33"/>
          <p:cNvSpPr/>
          <p:nvPr/>
        </p:nvSpPr>
        <p:spPr>
          <a:xfrm>
            <a:off x="12673584" y="196596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34" name="Icono list 34" descr="list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914986" y="2207362"/>
            <a:ext cx="523037" cy="523037"/>
          </a:xfrm>
          <a:prstGeom prst="rect">
            <a:avLst/>
          </a:prstGeom>
        </p:spPr>
      </p:pic>
      <p:sp>
        <p:nvSpPr>
          <p:cNvPr id="35" name="Texto 35"/>
          <p:cNvSpPr txBox="1"/>
          <p:nvPr/>
        </p:nvSpPr>
        <p:spPr>
          <a:xfrm>
            <a:off x="11896344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4 · Control de calidad</a:t>
            </a:r>
            <a:endParaRPr lang="es-CO" sz="1700" dirty="0"/>
          </a:p>
        </p:txBody>
      </p:sp>
      <p:sp>
        <p:nvSpPr>
          <p:cNvPr id="36" name="Texto 36"/>
          <p:cNvSpPr txBox="1"/>
          <p:nvPr/>
        </p:nvSpPr>
        <p:spPr>
          <a:xfrm>
            <a:off x="11942064" y="361188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Doble verificación de variables esenciales; revisión independiente del 20 % (mínimo 10); kappa de Cohen &lt; 0,6 → ajuste y reentrenamiento (33).</a:t>
            </a:r>
            <a:endParaRPr lang="es-CO" sz="1600" dirty="0"/>
          </a:p>
        </p:txBody>
      </p:sp>
      <p:sp>
        <p:nvSpPr>
          <p:cNvPr id="37" name="Tarjeta 37"/>
          <p:cNvSpPr/>
          <p:nvPr/>
        </p:nvSpPr>
        <p:spPr>
          <a:xfrm>
            <a:off x="914400" y="6446520"/>
            <a:ext cx="4425696" cy="2194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8" name="Circulo 38"/>
          <p:cNvSpPr/>
          <p:nvPr/>
        </p:nvSpPr>
        <p:spPr>
          <a:xfrm>
            <a:off x="1143000" y="6629400"/>
            <a:ext cx="640080" cy="64008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39" name="Icono userlock 39" descr="userlock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96619" y="6783019"/>
            <a:ext cx="332842" cy="332842"/>
          </a:xfrm>
          <a:prstGeom prst="rect">
            <a:avLst/>
          </a:prstGeom>
        </p:spPr>
      </p:pic>
      <p:sp>
        <p:nvSpPr>
          <p:cNvPr id="40" name="Texto 40"/>
          <p:cNvSpPr txBox="1"/>
          <p:nvPr/>
        </p:nvSpPr>
        <p:spPr>
          <a:xfrm>
            <a:off x="1920240" y="66294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Sin contacto</a:t>
            </a:r>
            <a:endParaRPr lang="es-CO" sz="1700" dirty="0"/>
          </a:p>
        </p:txBody>
      </p:sp>
      <p:sp>
        <p:nvSpPr>
          <p:cNvPr id="41" name="Texto 41"/>
          <p:cNvSpPr txBox="1"/>
          <p:nvPr/>
        </p:nvSpPr>
        <p:spPr>
          <a:xfrm>
            <a:off x="1143000" y="731520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No se contactará a pacientes, familias ni organizaciones religiosas; se documentará el aporte y solapamiento de cada fuente.</a:t>
            </a:r>
            <a:endParaRPr lang="es-CO" sz="1500" dirty="0"/>
          </a:p>
        </p:txBody>
      </p:sp>
      <p:sp>
        <p:nvSpPr>
          <p:cNvPr id="42" name="Tarjeta 42"/>
          <p:cNvSpPr/>
          <p:nvPr/>
        </p:nvSpPr>
        <p:spPr>
          <a:xfrm>
            <a:off x="5559552" y="6446520"/>
            <a:ext cx="4425696" cy="2194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3" name="Circulo 43"/>
          <p:cNvSpPr/>
          <p:nvPr/>
        </p:nvSpPr>
        <p:spPr>
          <a:xfrm>
            <a:off x="5788152" y="6629400"/>
            <a:ext cx="640080" cy="64008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44" name="Icono calendar 44" descr="calendar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41771" y="6783019"/>
            <a:ext cx="332842" cy="332842"/>
          </a:xfrm>
          <a:prstGeom prst="rect">
            <a:avLst/>
          </a:prstGeom>
        </p:spPr>
      </p:pic>
      <p:sp>
        <p:nvSpPr>
          <p:cNvPr id="45" name="Texto 45"/>
          <p:cNvSpPr txBox="1"/>
          <p:nvPr/>
        </p:nvSpPr>
        <p:spPr>
          <a:xfrm>
            <a:off x="6565392" y="66294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Estado vital a 30 días</a:t>
            </a:r>
            <a:endParaRPr lang="es-CO" sz="1700" dirty="0"/>
          </a:p>
        </p:txBody>
      </p:sp>
      <p:sp>
        <p:nvSpPr>
          <p:cNvPr id="46" name="Texto 46"/>
          <p:cNvSpPr txBox="1"/>
          <p:nvPr/>
        </p:nvSpPr>
        <p:spPr>
          <a:xfrm>
            <a:off x="5788152" y="731520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Notas ambulatorias, reingresos y registros institucionales; Registraduría solo con autorización del comité. Sin verificación: «no determinada».</a:t>
            </a:r>
            <a:endParaRPr lang="es-CO" sz="1500" dirty="0"/>
          </a:p>
        </p:txBody>
      </p:sp>
      <p:sp>
        <p:nvSpPr>
          <p:cNvPr id="47" name="Tarjeta 47"/>
          <p:cNvSpPr/>
          <p:nvPr/>
        </p:nvSpPr>
        <p:spPr>
          <a:xfrm>
            <a:off x="10204704" y="6446520"/>
            <a:ext cx="4425696" cy="21945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8" name="Circulo 48"/>
          <p:cNvSpPr/>
          <p:nvPr/>
        </p:nvSpPr>
        <p:spPr>
          <a:xfrm>
            <a:off x="10433304" y="6629400"/>
            <a:ext cx="640080" cy="64008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49" name="Icono database 49" descr="database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86923" y="6783019"/>
            <a:ext cx="332842" cy="332842"/>
          </a:xfrm>
          <a:prstGeom prst="rect">
            <a:avLst/>
          </a:prstGeom>
        </p:spPr>
      </p:pic>
      <p:sp>
        <p:nvSpPr>
          <p:cNvPr id="50" name="Texto 50"/>
          <p:cNvSpPr txBox="1"/>
          <p:nvPr/>
        </p:nvSpPr>
        <p:spPr>
          <a:xfrm>
            <a:off x="11210544" y="66294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Datos faltantes</a:t>
            </a:r>
            <a:endParaRPr lang="es-CO" sz="1700" dirty="0"/>
          </a:p>
        </p:txBody>
      </p:sp>
      <p:sp>
        <p:nvSpPr>
          <p:cNvPr id="51" name="Texto 51"/>
          <p:cNvSpPr txBox="1"/>
          <p:nvPr/>
        </p:nvSpPr>
        <p:spPr>
          <a:xfrm>
            <a:off x="10433304" y="731520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La falta de creatinina, hemoglobina o seguimiento a 30 días no excluye a un paciente con desenlace primario evaluable.</a:t>
            </a:r>
            <a:endParaRPr lang="es-CO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DESENLACES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914400" y="1591056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A65C99"/>
                </a:solidFill>
              </a:rPr>
              <a:t>Desenlace primario compuesto: complicación mayor o muerte intrahospitalaria</a:t>
            </a:r>
            <a:endParaRPr lang="es-CO" sz="2400" dirty="0"/>
          </a:p>
        </p:txBody>
      </p:sp>
      <p:pic>
        <p:nvPicPr>
          <p:cNvPr id="5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6" name="Tarjeta 6"/>
          <p:cNvSpPr/>
          <p:nvPr/>
        </p:nvSpPr>
        <p:spPr>
          <a:xfrm>
            <a:off x="914400" y="224028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" name="Circulo 7"/>
          <p:cNvSpPr/>
          <p:nvPr/>
        </p:nvSpPr>
        <p:spPr>
          <a:xfrm>
            <a:off x="1097280" y="2441448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8" name="Icono heartcrack 8" descr="heartcrack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872" y="2606040"/>
            <a:ext cx="356616" cy="356616"/>
          </a:xfrm>
          <a:prstGeom prst="rect">
            <a:avLst/>
          </a:prstGeom>
        </p:spPr>
      </p:pic>
      <p:sp>
        <p:nvSpPr>
          <p:cNvPr id="9" name="Texto 9"/>
          <p:cNvSpPr txBox="1"/>
          <p:nvPr/>
        </p:nvSpPr>
        <p:spPr>
          <a:xfrm>
            <a:off x="1920240" y="23774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Muerte intrahospitalaria</a:t>
            </a:r>
            <a:endParaRPr lang="es-CO" sz="1650" dirty="0"/>
          </a:p>
        </p:txBody>
      </p:sp>
      <p:sp>
        <p:nvSpPr>
          <p:cNvPr id="10" name="Texto 10"/>
          <p:cNvSpPr txBox="1"/>
          <p:nvPr/>
        </p:nvSpPr>
        <p:spPr>
          <a:xfrm>
            <a:off x="1143000" y="320040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Por cualquier causa durante la hospitalización índice.</a:t>
            </a:r>
            <a:endParaRPr lang="es-CO" sz="1500" dirty="0"/>
          </a:p>
        </p:txBody>
      </p:sp>
      <p:sp>
        <p:nvSpPr>
          <p:cNvPr id="11" name="Tarjeta 11"/>
          <p:cNvSpPr/>
          <p:nvPr/>
        </p:nvSpPr>
        <p:spPr>
          <a:xfrm>
            <a:off x="4389120" y="224028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2" name="Circulo 12"/>
          <p:cNvSpPr/>
          <p:nvPr/>
        </p:nvSpPr>
        <p:spPr>
          <a:xfrm>
            <a:off x="4572000" y="2441448"/>
            <a:ext cx="685800" cy="6858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3" name="Icono brain 13" descr="brai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592" y="2606040"/>
            <a:ext cx="356616" cy="356616"/>
          </a:xfrm>
          <a:prstGeom prst="rect">
            <a:avLst/>
          </a:prstGeom>
        </p:spPr>
      </p:pic>
      <p:sp>
        <p:nvSpPr>
          <p:cNvPr id="14" name="Texto 14"/>
          <p:cNvSpPr txBox="1"/>
          <p:nvPr/>
        </p:nvSpPr>
        <p:spPr>
          <a:xfrm>
            <a:off x="5394960" y="23774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Accidente cerebrovascular</a:t>
            </a:r>
            <a:endParaRPr lang="es-CO" sz="1650" dirty="0"/>
          </a:p>
        </p:txBody>
      </p:sp>
      <p:sp>
        <p:nvSpPr>
          <p:cNvPr id="15" name="Texto 15"/>
          <p:cNvSpPr txBox="1"/>
          <p:nvPr/>
        </p:nvSpPr>
        <p:spPr>
          <a:xfrm>
            <a:off x="4617720" y="320040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Déficit focal nuevo &gt; 24 h o lesión aguda en neuroimagen.</a:t>
            </a:r>
            <a:endParaRPr lang="es-CO" sz="1500" dirty="0"/>
          </a:p>
        </p:txBody>
      </p:sp>
      <p:sp>
        <p:nvSpPr>
          <p:cNvPr id="16" name="Tarjeta 16"/>
          <p:cNvSpPr/>
          <p:nvPr/>
        </p:nvSpPr>
        <p:spPr>
          <a:xfrm>
            <a:off x="7863840" y="224028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7" name="Circulo 17"/>
          <p:cNvSpPr/>
          <p:nvPr/>
        </p:nvSpPr>
        <p:spPr>
          <a:xfrm>
            <a:off x="8046720" y="2441448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8" name="Icono heartpulse 18" descr="heartpuls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1312" y="2606040"/>
            <a:ext cx="356616" cy="356616"/>
          </a:xfrm>
          <a:prstGeom prst="rect">
            <a:avLst/>
          </a:prstGeom>
        </p:spPr>
      </p:pic>
      <p:sp>
        <p:nvSpPr>
          <p:cNvPr id="19" name="Texto 19"/>
          <p:cNvSpPr txBox="1"/>
          <p:nvPr/>
        </p:nvSpPr>
        <p:spPr>
          <a:xfrm>
            <a:off x="8869680" y="23774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Shock cardiogénico</a:t>
            </a:r>
            <a:endParaRPr lang="es-CO" sz="1650" dirty="0"/>
          </a:p>
        </p:txBody>
      </p:sp>
      <p:sp>
        <p:nvSpPr>
          <p:cNvPr id="20" name="Texto 20"/>
          <p:cNvSpPr txBox="1"/>
          <p:nvPr/>
        </p:nvSpPr>
        <p:spPr>
          <a:xfrm>
            <a:off x="8092440" y="320040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PAS &lt; 90 mmHg &gt; 30 min o soporte, con hipoperfusión; SCAI ≥ C</a:t>
            </a:r>
            <a:r>
              <a:rPr lang="es-CO" sz="1400" dirty="0">
                <a:solidFill>
                  <a:srgbClr val="6E6577"/>
                </a:solidFill>
              </a:rPr>
              <a:t xml:space="preserve"> (28)</a:t>
            </a:r>
            <a:endParaRPr lang="es-CO" sz="1400" dirty="0"/>
          </a:p>
        </p:txBody>
      </p:sp>
      <p:sp>
        <p:nvSpPr>
          <p:cNvPr id="21" name="Tarjeta 21"/>
          <p:cNvSpPr/>
          <p:nvPr/>
        </p:nvSpPr>
        <p:spPr>
          <a:xfrm>
            <a:off x="11338560" y="224028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2" name="Circulo 22"/>
          <p:cNvSpPr/>
          <p:nvPr/>
        </p:nvSpPr>
        <p:spPr>
          <a:xfrm>
            <a:off x="11521440" y="2441448"/>
            <a:ext cx="685800" cy="6858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3" name="Icono kidney 23" descr="kidney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6032" y="2606040"/>
            <a:ext cx="356616" cy="356616"/>
          </a:xfrm>
          <a:prstGeom prst="rect">
            <a:avLst/>
          </a:prstGeom>
        </p:spPr>
      </p:pic>
      <p:sp>
        <p:nvSpPr>
          <p:cNvPr id="24" name="Texto 24"/>
          <p:cNvSpPr txBox="1"/>
          <p:nvPr/>
        </p:nvSpPr>
        <p:spPr>
          <a:xfrm>
            <a:off x="12344400" y="23774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Lesión renal aguda 2–3</a:t>
            </a:r>
            <a:endParaRPr lang="es-CO" sz="1650" dirty="0"/>
          </a:p>
        </p:txBody>
      </p:sp>
      <p:sp>
        <p:nvSpPr>
          <p:cNvPr id="25" name="Texto 25"/>
          <p:cNvSpPr txBox="1"/>
          <p:nvPr/>
        </p:nvSpPr>
        <p:spPr>
          <a:xfrm>
            <a:off x="11567160" y="320040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Creatinina ≥ 2 veces la basal, ≥ 4 mg/dL o terapia renal en 7 días</a:t>
            </a:r>
            <a:r>
              <a:rPr lang="es-CO" sz="1400" dirty="0">
                <a:solidFill>
                  <a:srgbClr val="6E6577"/>
                </a:solidFill>
              </a:rPr>
              <a:t xml:space="preserve"> (26)</a:t>
            </a:r>
            <a:endParaRPr lang="es-CO" sz="1400" dirty="0"/>
          </a:p>
        </p:txBody>
      </p:sp>
      <p:sp>
        <p:nvSpPr>
          <p:cNvPr id="26" name="Tarjeta 26"/>
          <p:cNvSpPr/>
          <p:nvPr/>
        </p:nvSpPr>
        <p:spPr>
          <a:xfrm>
            <a:off x="914400" y="448056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7" name="Circulo 27"/>
          <p:cNvSpPr/>
          <p:nvPr/>
        </p:nvSpPr>
        <p:spPr>
          <a:xfrm>
            <a:off x="1097280" y="4681728"/>
            <a:ext cx="685800" cy="6858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8" name="Icono lungs 28" descr="lungs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1872" y="4846320"/>
            <a:ext cx="356616" cy="356616"/>
          </a:xfrm>
          <a:prstGeom prst="rect">
            <a:avLst/>
          </a:prstGeom>
        </p:spPr>
      </p:pic>
      <p:sp>
        <p:nvSpPr>
          <p:cNvPr id="29" name="Texto 29"/>
          <p:cNvSpPr txBox="1"/>
          <p:nvPr/>
        </p:nvSpPr>
        <p:spPr>
          <a:xfrm>
            <a:off x="1920240" y="46177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Complicación respiratoria</a:t>
            </a:r>
            <a:endParaRPr lang="es-CO" sz="1650" dirty="0"/>
          </a:p>
        </p:txBody>
      </p:sp>
      <p:sp>
        <p:nvSpPr>
          <p:cNvPr id="30" name="Texto 30"/>
          <p:cNvSpPr txBox="1"/>
          <p:nvPr/>
        </p:nvSpPr>
        <p:spPr>
          <a:xfrm>
            <a:off x="1143000" y="544068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Ventilación mecánica invasiva &gt; 24 h o reintubación.</a:t>
            </a:r>
            <a:endParaRPr lang="es-CO" sz="1500" dirty="0"/>
          </a:p>
        </p:txBody>
      </p:sp>
      <p:sp>
        <p:nvSpPr>
          <p:cNvPr id="31" name="Tarjeta 31"/>
          <p:cNvSpPr/>
          <p:nvPr/>
        </p:nvSpPr>
        <p:spPr>
          <a:xfrm>
            <a:off x="4389120" y="448056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2" name="Circulo 32"/>
          <p:cNvSpPr/>
          <p:nvPr/>
        </p:nvSpPr>
        <p:spPr>
          <a:xfrm>
            <a:off x="4572000" y="4681728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33" name="Icono virus 33" descr="virus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36592" y="4846320"/>
            <a:ext cx="356616" cy="356616"/>
          </a:xfrm>
          <a:prstGeom prst="rect">
            <a:avLst/>
          </a:prstGeom>
        </p:spPr>
      </p:pic>
      <p:sp>
        <p:nvSpPr>
          <p:cNvPr id="34" name="Texto 34"/>
          <p:cNvSpPr txBox="1"/>
          <p:nvPr/>
        </p:nvSpPr>
        <p:spPr>
          <a:xfrm>
            <a:off x="5394960" y="46177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Infección grave</a:t>
            </a:r>
            <a:endParaRPr lang="es-CO" sz="1650" dirty="0"/>
          </a:p>
        </p:txBody>
      </p:sp>
      <p:sp>
        <p:nvSpPr>
          <p:cNvPr id="35" name="Texto 35"/>
          <p:cNvSpPr txBox="1"/>
          <p:nvPr/>
        </p:nvSpPr>
        <p:spPr>
          <a:xfrm>
            <a:off x="4617720" y="544068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Sepsis, mediastinitis o neumonía asociada al ventilador</a:t>
            </a:r>
            <a:r>
              <a:rPr lang="es-CO" sz="1400" dirty="0">
                <a:solidFill>
                  <a:srgbClr val="6E6577"/>
                </a:solidFill>
              </a:rPr>
              <a:t xml:space="preserve"> (27)</a:t>
            </a:r>
            <a:endParaRPr lang="es-CO" sz="1400" dirty="0"/>
          </a:p>
        </p:txBody>
      </p:sp>
      <p:sp>
        <p:nvSpPr>
          <p:cNvPr id="36" name="Tarjeta 36"/>
          <p:cNvSpPr/>
          <p:nvPr/>
        </p:nvSpPr>
        <p:spPr>
          <a:xfrm>
            <a:off x="7863840" y="448056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7" name="Circulo 37"/>
          <p:cNvSpPr/>
          <p:nvPr/>
        </p:nvSpPr>
        <p:spPr>
          <a:xfrm>
            <a:off x="8046720" y="4681728"/>
            <a:ext cx="685800" cy="6858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38" name="Icono doctor 38" descr="doctor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11312" y="4846320"/>
            <a:ext cx="356616" cy="356616"/>
          </a:xfrm>
          <a:prstGeom prst="rect">
            <a:avLst/>
          </a:prstGeom>
        </p:spPr>
      </p:pic>
      <p:sp>
        <p:nvSpPr>
          <p:cNvPr id="39" name="Texto 39"/>
          <p:cNvSpPr txBox="1"/>
          <p:nvPr/>
        </p:nvSpPr>
        <p:spPr>
          <a:xfrm>
            <a:off x="8869680" y="46177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b="1" dirty="0">
                <a:solidFill>
                  <a:srgbClr val="80006B"/>
                </a:solidFill>
              </a:rPr>
              <a:t>Reintervención</a:t>
            </a:r>
            <a:endParaRPr lang="es-CO" sz="1650" dirty="0"/>
          </a:p>
        </p:txBody>
      </p:sp>
      <p:sp>
        <p:nvSpPr>
          <p:cNvPr id="40" name="Texto 40"/>
          <p:cNvSpPr txBox="1"/>
          <p:nvPr/>
        </p:nvSpPr>
        <p:spPr>
          <a:xfrm>
            <a:off x="8092440" y="5440680"/>
            <a:ext cx="2880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Nueva cirugía o reapertura torácica relacionada con la cirugía índice.</a:t>
            </a:r>
            <a:endParaRPr lang="es-CO" sz="1500" dirty="0"/>
          </a:p>
        </p:txBody>
      </p:sp>
      <p:sp>
        <p:nvSpPr>
          <p:cNvPr id="41" name="Tarjeta 41"/>
          <p:cNvSpPr/>
          <p:nvPr/>
        </p:nvSpPr>
        <p:spPr>
          <a:xfrm>
            <a:off x="11338560" y="4480560"/>
            <a:ext cx="3291840" cy="2057400"/>
          </a:xfrm>
          <a:prstGeom prst="roundRect">
            <a:avLst>
              <a:gd name="adj" fmla="val 7111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2" name="Texto 42"/>
          <p:cNvSpPr txBox="1"/>
          <p:nvPr/>
        </p:nvSpPr>
        <p:spPr>
          <a:xfrm>
            <a:off x="11567160" y="4617720"/>
            <a:ext cx="283464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 dirty="0">
                <a:solidFill>
                  <a:srgbClr val="FFFFFF"/>
                </a:solidFill>
              </a:rPr>
              <a:t>Desde la cirugía índice hasta el egreso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F3DDEE"/>
                </a:solidFill>
              </a:rPr>
              <a:t>Cada paciente se cuenta una vez</a:t>
            </a:r>
            <a:endParaRPr lang="es-CO" sz="1500" dirty="0"/>
          </a:p>
        </p:txBody>
      </p:sp>
      <p:sp>
        <p:nvSpPr>
          <p:cNvPr id="43" name="Texto 43"/>
          <p:cNvSpPr txBox="1"/>
          <p:nvPr/>
        </p:nvSpPr>
        <p:spPr>
          <a:xfrm>
            <a:off x="914400" y="6766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Desenlaces secundarios</a:t>
            </a:r>
            <a:endParaRPr lang="es-CO" sz="1800" dirty="0"/>
          </a:p>
        </p:txBody>
      </p:sp>
      <p:sp>
        <p:nvSpPr>
          <p:cNvPr id="44" name="Forma 44"/>
          <p:cNvSpPr/>
          <p:nvPr/>
        </p:nvSpPr>
        <p:spPr>
          <a:xfrm>
            <a:off x="914400" y="7269480"/>
            <a:ext cx="237744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Mortalidad a 30 días</a:t>
            </a:r>
            <a:endParaRPr lang="es-CO" sz="1400" dirty="0"/>
          </a:p>
        </p:txBody>
      </p:sp>
      <p:sp>
        <p:nvSpPr>
          <p:cNvPr id="45" name="Forma 45"/>
          <p:cNvSpPr/>
          <p:nvPr/>
        </p:nvSpPr>
        <p:spPr>
          <a:xfrm>
            <a:off x="3456432" y="7269480"/>
            <a:ext cx="214884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Infarto tipo 5 (29)</a:t>
            </a:r>
            <a:endParaRPr lang="es-CO" sz="1400" dirty="0"/>
          </a:p>
        </p:txBody>
      </p:sp>
      <p:sp>
        <p:nvSpPr>
          <p:cNvPr id="46" name="Forma 46"/>
          <p:cNvSpPr/>
          <p:nvPr/>
        </p:nvSpPr>
        <p:spPr>
          <a:xfrm>
            <a:off x="5769864" y="7269480"/>
            <a:ext cx="352044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Fibrilación auricular posoperatoria</a:t>
            </a:r>
            <a:endParaRPr lang="es-CO" sz="1400" dirty="0"/>
          </a:p>
        </p:txBody>
      </p:sp>
      <p:sp>
        <p:nvSpPr>
          <p:cNvPr id="47" name="Forma 47"/>
          <p:cNvSpPr/>
          <p:nvPr/>
        </p:nvSpPr>
        <p:spPr>
          <a:xfrm>
            <a:off x="914400" y="7927848"/>
            <a:ext cx="315468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Sangrado mayor clase 3–4 (25)</a:t>
            </a:r>
            <a:endParaRPr lang="es-CO" sz="1400" dirty="0"/>
          </a:p>
        </p:txBody>
      </p:sp>
      <p:sp>
        <p:nvSpPr>
          <p:cNvPr id="48" name="Forma 48"/>
          <p:cNvSpPr/>
          <p:nvPr/>
        </p:nvSpPr>
        <p:spPr>
          <a:xfrm>
            <a:off x="4233672" y="7927848"/>
            <a:ext cx="31089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Estancia en UCI y hospitalaria</a:t>
            </a:r>
            <a:endParaRPr lang="es-CO" sz="1400" dirty="0"/>
          </a:p>
        </p:txBody>
      </p:sp>
      <p:sp>
        <p:nvSpPr>
          <p:cNvPr id="49" name="Forma 49"/>
          <p:cNvSpPr/>
          <p:nvPr/>
        </p:nvSpPr>
        <p:spPr>
          <a:xfrm>
            <a:off x="7507224" y="7927848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65C99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Ventilación y vasoactivos</a:t>
            </a:r>
            <a:endParaRPr lang="es-CO" sz="1400" dirty="0"/>
          </a:p>
        </p:txBody>
      </p:sp>
      <p:sp>
        <p:nvSpPr>
          <p:cNvPr id="50" name="Tarjeta 50"/>
          <p:cNvSpPr/>
          <p:nvPr/>
        </p:nvSpPr>
        <p:spPr>
          <a:xfrm>
            <a:off x="10972800" y="6766560"/>
            <a:ext cx="3657600" cy="1874520"/>
          </a:xfrm>
          <a:prstGeom prst="roundRect">
            <a:avLst>
              <a:gd name="adj" fmla="val 7804"/>
            </a:avLst>
          </a:prstGeom>
          <a:solidFill>
            <a:srgbClr val="FFEDE8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51" name="Icono droplet 51" descr="droplet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55680" y="6949440"/>
            <a:ext cx="502920" cy="502920"/>
          </a:xfrm>
          <a:prstGeom prst="rect">
            <a:avLst/>
          </a:prstGeom>
        </p:spPr>
      </p:pic>
      <p:sp>
        <p:nvSpPr>
          <p:cNvPr id="52" name="Texto 52"/>
          <p:cNvSpPr txBox="1"/>
          <p:nvPr/>
        </p:nvSpPr>
        <p:spPr>
          <a:xfrm>
            <a:off x="11795760" y="687628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50" b="1" dirty="0">
                <a:solidFill>
                  <a:srgbClr val="B8361C"/>
                </a:solidFill>
              </a:rPr>
              <a:t>Transfusión pese al rechazo</a:t>
            </a:r>
            <a:endParaRPr lang="es-CO" sz="1550" dirty="0"/>
          </a:p>
        </p:txBody>
      </p:sp>
      <p:sp>
        <p:nvSpPr>
          <p:cNvPr id="53" name="Texto 53"/>
          <p:cNvSpPr txBox="1"/>
          <p:nvPr/>
        </p:nvSpPr>
        <p:spPr>
          <a:xfrm>
            <a:off x="11155680" y="7498080"/>
            <a:ext cx="33375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Se registra tipo, momento y circunstancia; no modifica la elegibilidad.</a:t>
            </a:r>
            <a:endParaRPr lang="es-CO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METODOLOGÍA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914400" y="1591056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A65C99"/>
                </a:solidFill>
              </a:rPr>
              <a:t>Exposición: tipo de cirugía cardiaca mayor y criterios de selección</a:t>
            </a:r>
            <a:endParaRPr lang="es-CO" sz="2400" dirty="0"/>
          </a:p>
        </p:txBody>
      </p:sp>
      <p:pic>
        <p:nvPicPr>
          <p:cNvPr id="5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6" name="Tarjeta 6"/>
          <p:cNvSpPr/>
          <p:nvPr/>
        </p:nvSpPr>
        <p:spPr>
          <a:xfrm>
            <a:off x="914400" y="2240280"/>
            <a:ext cx="4425696" cy="1325880"/>
          </a:xfrm>
          <a:prstGeom prst="roundRect">
            <a:avLst>
              <a:gd name="adj" fmla="val 11034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" name="Circulo 7"/>
          <p:cNvSpPr/>
          <p:nvPr/>
        </p:nvSpPr>
        <p:spPr>
          <a:xfrm>
            <a:off x="1143000" y="24688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8" name="Icono heart 8" descr="hear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0" y="2606040"/>
            <a:ext cx="594360" cy="594360"/>
          </a:xfrm>
          <a:prstGeom prst="rect">
            <a:avLst/>
          </a:prstGeom>
        </p:spPr>
      </p:pic>
      <p:sp>
        <p:nvSpPr>
          <p:cNvPr id="9" name="Texto 9"/>
          <p:cNvSpPr txBox="1"/>
          <p:nvPr/>
        </p:nvSpPr>
        <p:spPr>
          <a:xfrm>
            <a:off x="2194560" y="2331720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Revascularización coronaria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F3DDEE"/>
                </a:solidFill>
              </a:rPr>
              <a:t>Uno o más injertos</a:t>
            </a:r>
            <a:endParaRPr lang="es-CO" sz="1400" dirty="0"/>
          </a:p>
        </p:txBody>
      </p:sp>
      <p:sp>
        <p:nvSpPr>
          <p:cNvPr id="10" name="Tarjeta 10"/>
          <p:cNvSpPr/>
          <p:nvPr/>
        </p:nvSpPr>
        <p:spPr>
          <a:xfrm>
            <a:off x="5559552" y="2240280"/>
            <a:ext cx="4425696" cy="1325880"/>
          </a:xfrm>
          <a:prstGeom prst="roundRect">
            <a:avLst>
              <a:gd name="adj" fmla="val 11034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5788152" y="24688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heart 12" descr="hear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5312" y="2606040"/>
            <a:ext cx="594360" cy="594360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6839712" y="2331720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Cirugía valvular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F3DDEE"/>
                </a:solidFill>
              </a:rPr>
              <a:t>Reemplazo o reparación; dos o más válvulas: multivalvular</a:t>
            </a:r>
            <a:endParaRPr lang="es-CO" sz="1400" dirty="0"/>
          </a:p>
        </p:txBody>
      </p:sp>
      <p:sp>
        <p:nvSpPr>
          <p:cNvPr id="14" name="Tarjeta 14"/>
          <p:cNvSpPr/>
          <p:nvPr/>
        </p:nvSpPr>
        <p:spPr>
          <a:xfrm>
            <a:off x="10204704" y="2240280"/>
            <a:ext cx="4425696" cy="1325880"/>
          </a:xfrm>
          <a:prstGeom prst="roundRect">
            <a:avLst>
              <a:gd name="adj" fmla="val 11034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5" name="Circulo 15"/>
          <p:cNvSpPr/>
          <p:nvPr/>
        </p:nvSpPr>
        <p:spPr>
          <a:xfrm>
            <a:off x="10433304" y="24688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6" name="Icono heart 16" descr="hear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0464" y="2606040"/>
            <a:ext cx="594360" cy="594360"/>
          </a:xfrm>
          <a:prstGeom prst="rect">
            <a:avLst/>
          </a:prstGeom>
        </p:spPr>
      </p:pic>
      <p:sp>
        <p:nvSpPr>
          <p:cNvPr id="17" name="Texto 17"/>
          <p:cNvSpPr txBox="1"/>
          <p:nvPr/>
        </p:nvSpPr>
        <p:spPr>
          <a:xfrm>
            <a:off x="11484864" y="2331720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Cirugía combinada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F3DDEE"/>
                </a:solidFill>
              </a:rPr>
              <a:t>Revascularización + cirugía valvular en el mismo acto</a:t>
            </a:r>
            <a:endParaRPr lang="es-CO" sz="1400" dirty="0"/>
          </a:p>
        </p:txBody>
      </p:sp>
      <p:sp>
        <p:nvSpPr>
          <p:cNvPr id="18" name="Tarjeta 18"/>
          <p:cNvSpPr/>
          <p:nvPr/>
        </p:nvSpPr>
        <p:spPr>
          <a:xfrm>
            <a:off x="914400" y="3794760"/>
            <a:ext cx="6766560" cy="4846320"/>
          </a:xfrm>
          <a:prstGeom prst="roundRect">
            <a:avLst>
              <a:gd name="adj" fmla="val 3018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9" name="Circulo 19"/>
          <p:cNvSpPr/>
          <p:nvPr/>
        </p:nvSpPr>
        <p:spPr>
          <a:xfrm>
            <a:off x="1188720" y="3977640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0" name="Icono check 20" descr="check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3312" y="4142232"/>
            <a:ext cx="356616" cy="356616"/>
          </a:xfrm>
          <a:prstGeom prst="rect">
            <a:avLst/>
          </a:prstGeom>
        </p:spPr>
      </p:pic>
      <p:sp>
        <p:nvSpPr>
          <p:cNvPr id="21" name="Texto 21"/>
          <p:cNvSpPr txBox="1"/>
          <p:nvPr/>
        </p:nvSpPr>
        <p:spPr>
          <a:xfrm>
            <a:off x="2057400" y="397764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rgbClr val="80006B"/>
                </a:solidFill>
              </a:rPr>
              <a:t>Criterios de inclusión</a:t>
            </a:r>
            <a:endParaRPr lang="es-CO" sz="2100" dirty="0"/>
          </a:p>
        </p:txBody>
      </p:sp>
      <p:sp>
        <p:nvSpPr>
          <p:cNvPr id="22" name="Texto 22"/>
          <p:cNvSpPr txBox="1"/>
          <p:nvPr/>
        </p:nvSpPr>
        <p:spPr>
          <a:xfrm>
            <a:off x="1234440" y="4846320"/>
            <a:ext cx="621792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Edad de 18 años o más.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Identificación documentada como Testigo de Jehová (historia clínica, formato de rechazo transfusional, epicrisis o consentimiento prequirúrgico).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Cirugía cardiaca mayor por esternotomía o minitoracotomía, con o sin circulación extracorpórea.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Rechazo de transfusión de glóbulos rojos registrado antes de la cirugía.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80006B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Información que permita establecer el procedimiento índice y el estado vital intrahospitalario.</a:t>
            </a:r>
            <a:endParaRPr lang="es-CO" sz="1750" dirty="0"/>
          </a:p>
        </p:txBody>
      </p:sp>
      <p:sp>
        <p:nvSpPr>
          <p:cNvPr id="23" name="Tarjeta 23"/>
          <p:cNvSpPr/>
          <p:nvPr/>
        </p:nvSpPr>
        <p:spPr>
          <a:xfrm>
            <a:off x="7863840" y="3794760"/>
            <a:ext cx="6766560" cy="4846320"/>
          </a:xfrm>
          <a:prstGeom prst="roundRect">
            <a:avLst>
              <a:gd name="adj" fmla="val 3018"/>
            </a:avLst>
          </a:prstGeom>
          <a:solidFill>
            <a:srgbClr val="FFEDE8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4" name="Circulo 24"/>
          <p:cNvSpPr/>
          <p:nvPr/>
        </p:nvSpPr>
        <p:spPr>
          <a:xfrm>
            <a:off x="8138160" y="3977640"/>
            <a:ext cx="685800" cy="68580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5" name="Icono xmark 25" descr="xmark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2752" y="4142232"/>
            <a:ext cx="356616" cy="356616"/>
          </a:xfrm>
          <a:prstGeom prst="rect">
            <a:avLst/>
          </a:prstGeom>
        </p:spPr>
      </p:pic>
      <p:sp>
        <p:nvSpPr>
          <p:cNvPr id="26" name="Texto 26"/>
          <p:cNvSpPr txBox="1"/>
          <p:nvPr/>
        </p:nvSpPr>
        <p:spPr>
          <a:xfrm>
            <a:off x="9006840" y="397764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rgbClr val="B8361C"/>
                </a:solidFill>
              </a:rPr>
              <a:t>Criterios de exclusión</a:t>
            </a:r>
            <a:endParaRPr lang="es-CO" sz="2100" dirty="0"/>
          </a:p>
        </p:txBody>
      </p:sp>
      <p:sp>
        <p:nvSpPr>
          <p:cNvPr id="27" name="Texto 27"/>
          <p:cNvSpPr txBox="1"/>
          <p:nvPr/>
        </p:nvSpPr>
        <p:spPr>
          <a:xfrm>
            <a:off x="8183880" y="4846320"/>
            <a:ext cx="621792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Procedimientos percutáneos o endovasculares, y procedimientos no clasificados como cirugía mayor.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Perfil hemorrágico distinto: aorta torácica, cardiopatías congénitas, trasplante, asistencia ventricular, pericardiectomía y tumores cardiacos.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Cirugías suspendidas antes de iniciar el acto quirúrgico (las iniciadas e interrumpidas permanecen).</a:t>
            </a:r>
            <a:endParaRPr lang="es-CO" sz="1750" dirty="0"/>
          </a:p>
          <a:p>
            <a:pPr algn="l" marL="274320" indent="-274320">
              <a:spcBef>
                <a:spcPts val="0"/>
              </a:spcBef>
              <a:spcAft>
                <a:spcPts val="900"/>
              </a:spcAft>
              <a:buClr>
                <a:srgbClr val="FF5F3F"/>
              </a:buClr>
              <a:buSzPct val="100000"/>
              <a:buFont typeface="Arial"/>
              <a:buChar char="•"/>
            </a:pPr>
            <a:r>
              <a:rPr lang="es-CO" sz="1750" dirty="0">
                <a:solidFill>
                  <a:srgbClr val="2E2A33"/>
                </a:solidFill>
              </a:rPr>
              <a:t>Historias sin confirmación de la condición y del rechazo preoperatorio, de la cirugía o del estado vital al egreso.</a:t>
            </a:r>
            <a:endParaRPr lang="es-CO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METODOLOGÍA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914400" y="1591056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A65C99"/>
                </a:solidFill>
              </a:rPr>
              <a:t>Diseño, población y muestra</a:t>
            </a:r>
            <a:endParaRPr lang="es-CO" sz="2400" dirty="0"/>
          </a:p>
        </p:txBody>
      </p:sp>
      <p:pic>
        <p:nvPicPr>
          <p:cNvPr id="5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6" name="Tarjeta 6"/>
          <p:cNvSpPr/>
          <p:nvPr/>
        </p:nvSpPr>
        <p:spPr>
          <a:xfrm>
            <a:off x="914400" y="2286000"/>
            <a:ext cx="6400800" cy="1143000"/>
          </a:xfrm>
          <a:prstGeom prst="roundRect">
            <a:avLst>
              <a:gd name="adj" fmla="val 128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" name="Circulo 7"/>
          <p:cNvSpPr/>
          <p:nvPr/>
        </p:nvSpPr>
        <p:spPr>
          <a:xfrm>
            <a:off x="1097280" y="246888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8" name="Icono layers 8" descr="layer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3818" y="2655418"/>
            <a:ext cx="404165" cy="404165"/>
          </a:xfrm>
          <a:prstGeom prst="rect">
            <a:avLst/>
          </a:prstGeom>
        </p:spPr>
      </p:pic>
      <p:sp>
        <p:nvSpPr>
          <p:cNvPr id="9" name="Texto 9"/>
          <p:cNvSpPr txBox="1"/>
          <p:nvPr/>
        </p:nvSpPr>
        <p:spPr>
          <a:xfrm>
            <a:off x="2103120" y="233172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Diseño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Cohorte retrospectiva institucional, observacional, sin intervención; reporte según STROBE y RECORD (31,32).</a:t>
            </a:r>
            <a:endParaRPr lang="es-CO" sz="1450" dirty="0"/>
          </a:p>
        </p:txBody>
      </p:sp>
      <p:sp>
        <p:nvSpPr>
          <p:cNvPr id="10" name="Tarjeta 10"/>
          <p:cNvSpPr/>
          <p:nvPr/>
        </p:nvSpPr>
        <p:spPr>
          <a:xfrm>
            <a:off x="914400" y="3566160"/>
            <a:ext cx="6400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875">
            <a:solidFill>
              <a:srgbClr val="EEDAEB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1097280" y="3749040"/>
            <a:ext cx="777240" cy="77724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location 12" descr="locati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3818" y="3935578"/>
            <a:ext cx="404165" cy="404165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2103120" y="361188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Lugar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Organización Clínica General del Norte, Barranquilla.</a:t>
            </a:r>
            <a:endParaRPr lang="es-CO" sz="1450" dirty="0"/>
          </a:p>
        </p:txBody>
      </p:sp>
      <p:sp>
        <p:nvSpPr>
          <p:cNvPr id="14" name="Tarjeta 14"/>
          <p:cNvSpPr/>
          <p:nvPr/>
        </p:nvSpPr>
        <p:spPr>
          <a:xfrm>
            <a:off x="914400" y="4846320"/>
            <a:ext cx="6400800" cy="1143000"/>
          </a:xfrm>
          <a:prstGeom prst="roundRect">
            <a:avLst>
              <a:gd name="adj" fmla="val 128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5" name="Circulo 15"/>
          <p:cNvSpPr/>
          <p:nvPr/>
        </p:nvSpPr>
        <p:spPr>
          <a:xfrm>
            <a:off x="1097280" y="502920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6" name="Icono calendar 16" descr="calendar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3818" y="5215738"/>
            <a:ext cx="404165" cy="404165"/>
          </a:xfrm>
          <a:prstGeom prst="rect">
            <a:avLst/>
          </a:prstGeom>
        </p:spPr>
      </p:pic>
      <p:sp>
        <p:nvSpPr>
          <p:cNvPr id="17" name="Texto 17"/>
          <p:cNvSpPr txBox="1"/>
          <p:nvPr/>
        </p:nvSpPr>
        <p:spPr>
          <a:xfrm>
            <a:off x="2103120" y="489204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Periodo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1 de enero de 2020 a 31 de diciembre de 2025; seguimiento hasta el egreso y estado vital a 30 días.</a:t>
            </a:r>
            <a:endParaRPr lang="es-CO" sz="1450" dirty="0"/>
          </a:p>
        </p:txBody>
      </p:sp>
      <p:sp>
        <p:nvSpPr>
          <p:cNvPr id="18" name="Tarjeta 18"/>
          <p:cNvSpPr/>
          <p:nvPr/>
        </p:nvSpPr>
        <p:spPr>
          <a:xfrm>
            <a:off x="914400" y="6126480"/>
            <a:ext cx="64008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875">
            <a:solidFill>
              <a:srgbClr val="EEDAEB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9" name="Circulo 19"/>
          <p:cNvSpPr/>
          <p:nvPr/>
        </p:nvSpPr>
        <p:spPr>
          <a:xfrm>
            <a:off x="1097280" y="6309360"/>
            <a:ext cx="777240" cy="77724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0" name="Icono users 20" descr="users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3818" y="6495898"/>
            <a:ext cx="404165" cy="404165"/>
          </a:xfrm>
          <a:prstGeom prst="rect">
            <a:avLst/>
          </a:prstGeom>
        </p:spPr>
      </p:pic>
      <p:sp>
        <p:nvSpPr>
          <p:cNvPr id="21" name="Texto 21"/>
          <p:cNvSpPr txBox="1"/>
          <p:nvPr/>
        </p:nvSpPr>
        <p:spPr>
          <a:xfrm>
            <a:off x="2103120" y="617220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Población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Adultos Testigos de Jehová con rechazo de glóbulos rojos documentado antes de la cirugía.</a:t>
            </a:r>
            <a:endParaRPr lang="es-CO" sz="1450" dirty="0"/>
          </a:p>
        </p:txBody>
      </p:sp>
      <p:sp>
        <p:nvSpPr>
          <p:cNvPr id="22" name="Tarjeta 22"/>
          <p:cNvSpPr/>
          <p:nvPr/>
        </p:nvSpPr>
        <p:spPr>
          <a:xfrm>
            <a:off x="914400" y="7406640"/>
            <a:ext cx="6400800" cy="1143000"/>
          </a:xfrm>
          <a:prstGeom prst="roundRect">
            <a:avLst>
              <a:gd name="adj" fmla="val 128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3" name="Circulo 23"/>
          <p:cNvSpPr/>
          <p:nvPr/>
        </p:nvSpPr>
        <p:spPr>
          <a:xfrm>
            <a:off x="1097280" y="758952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4" name="Icono filter 24" descr="filter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83818" y="7776058"/>
            <a:ext cx="404165" cy="404165"/>
          </a:xfrm>
          <a:prstGeom prst="rect">
            <a:avLst/>
          </a:prstGeom>
        </p:spPr>
      </p:pic>
      <p:sp>
        <p:nvSpPr>
          <p:cNvPr id="25" name="Texto 25"/>
          <p:cNvSpPr txBox="1"/>
          <p:nvPr/>
        </p:nvSpPr>
        <p:spPr>
          <a:xfrm>
            <a:off x="2103120" y="7452360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Muestra</a:t>
            </a:r>
            <a:endParaRPr lang="es-CO" sz="17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50" dirty="0">
                <a:solidFill>
                  <a:srgbClr val="2E2A33"/>
                </a:solidFill>
              </a:rPr>
              <a:t>Censo consecutivo (no probabilístico); no se calcula tamaño muestral para contraste de hipótesis.</a:t>
            </a:r>
            <a:endParaRPr lang="es-CO" sz="1450" dirty="0"/>
          </a:p>
        </p:txBody>
      </p:sp>
      <p:sp>
        <p:nvSpPr>
          <p:cNvPr id="26" name="Texto 26"/>
          <p:cNvSpPr txBox="1"/>
          <p:nvPr/>
        </p:nvSpPr>
        <p:spPr>
          <a:xfrm>
            <a:off x="7772400" y="228600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Precisión esperada del desenlace primario</a:t>
            </a:r>
            <a:endParaRPr lang="es-CO" sz="19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6E6577"/>
                </a:solidFill>
              </a:rPr>
              <a:t>Eventos/pacientes = proporción (IC 95 %, método de Wilson). Cálculo propio.</a:t>
            </a:r>
            <a:endParaRPr lang="es-CO" sz="1300" dirty="0"/>
          </a:p>
        </p:txBody>
      </p:sp>
      <p:graphicFrame>
        <p:nvGraphicFramePr>
          <p:cNvPr id="27" name="Tabla 27"/>
          <p:cNvGraphicFramePr>
            <a:graphicFrameLocks noGrp="1"/>
          </p:cNvGraphicFramePr>
          <p:nvPr/>
        </p:nvGraphicFramePr>
        <p:xfrm>
          <a:off x="7772400" y="3154680"/>
          <a:ext cx="6858000" cy="3767328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b="1" dirty="0">
                          <a:solidFill>
                            <a:srgbClr val="FFFFFF"/>
                          </a:solidFill>
                        </a:rPr>
                        <a:t>Pacientes</a:t>
                      </a:r>
                      <a:endParaRPr lang="es-CO" sz="15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80006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b="1" dirty="0">
                          <a:solidFill>
                            <a:srgbClr val="FFFFFF"/>
                          </a:solidFill>
                        </a:rPr>
                        <a:t>Frecuencia 10 %</a:t>
                      </a:r>
                      <a:endParaRPr lang="es-CO" sz="15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80006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b="1" dirty="0">
                          <a:solidFill>
                            <a:srgbClr val="FFFFFF"/>
                          </a:solidFill>
                        </a:rPr>
                        <a:t>Frecuencia 20 %</a:t>
                      </a:r>
                      <a:endParaRPr lang="es-CO" sz="15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80006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b="1" dirty="0">
                          <a:solidFill>
                            <a:srgbClr val="FFFFFF"/>
                          </a:solidFill>
                        </a:rPr>
                        <a:t>Frecuencia 30 %</a:t>
                      </a:r>
                      <a:endParaRPr lang="es-CO" sz="15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80006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80006B"/>
                          </a:solidFill>
                        </a:rPr>
                        <a:t>20</a:t>
                      </a:r>
                      <a:endParaRPr lang="es-CO" sz="20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2/20 = 10 %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(2,8–30,1)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4/20 = 20 %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(8,1–41,6)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6/20 = 30 %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(14,5–51,9)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80006B"/>
                          </a:solidFill>
                        </a:rPr>
                        <a:t>30</a:t>
                      </a:r>
                      <a:endParaRPr lang="es-CO" sz="20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3/30 = 10 %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(3,5–25,6)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6/30 = 20 %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(9,5–37,3)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9/30 = 30 %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(16,7–47,9)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80006B"/>
                          </a:solidFill>
                        </a:rPr>
                        <a:t>50</a:t>
                      </a:r>
                      <a:endParaRPr lang="es-CO" sz="20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5/50 = 10 %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(4,3–21,4)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10/50 = 20 %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(11,2–33,0)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15/50 = 30 %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(19,1–43,8)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80006B"/>
                          </a:solidFill>
                        </a:rPr>
                        <a:t>80</a:t>
                      </a:r>
                      <a:endParaRPr lang="es-CO" sz="20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8/80 = 10 %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(5,2–18,5)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16/80 = 20 %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(12,7–30,0)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dirty="0">
                          <a:solidFill>
                            <a:srgbClr val="2E2A33"/>
                          </a:solidFill>
                        </a:rPr>
                        <a:t>24/80 = 30 %</a:t>
                      </a:r>
                      <a:endParaRPr lang="es-CO" sz="1600" dirty="0"/>
                    </a:p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300" dirty="0">
                          <a:solidFill>
                            <a:srgbClr val="6E6577"/>
                          </a:solidFill>
                        </a:rPr>
                        <a:t>(21,1–40,8)</a:t>
                      </a:r>
                      <a:endParaRPr lang="es-CO" sz="1300" dirty="0"/>
                    </a:p>
                  </a:txBody>
                  <a:tcPr marL="109728" marR="109728" marT="54864" marB="54864" anchor="ctr">
                    <a:lnL w="9525">
                      <a:solidFill>
                        <a:srgbClr val="E2C3DD"/>
                      </a:solidFill>
                    </a:lnL>
                    <a:lnR w="9525">
                      <a:solidFill>
                        <a:srgbClr val="E2C3DD"/>
                      </a:solidFill>
                    </a:lnR>
                    <a:lnT w="9525">
                      <a:solidFill>
                        <a:srgbClr val="E2C3DD"/>
                      </a:solidFill>
                    </a:lnT>
                    <a:lnB w="9525">
                      <a:solidFill>
                        <a:srgbClr val="E2C3DD"/>
                      </a:solidFill>
                    </a:lnB>
                    <a:solidFill>
                      <a:srgbClr val="F8EFF6"/>
                    </a:solidFill>
                  </a:tcPr>
                </a:tc>
              </a:tr>
            </a:tbl>
          </a:graphicData>
        </a:graphic>
      </p:graphicFrame>
      <p:sp>
        <p:nvSpPr>
          <p:cNvPr id="28" name="Nota 28"/>
          <p:cNvSpPr/>
          <p:nvPr/>
        </p:nvSpPr>
        <p:spPr>
          <a:xfrm>
            <a:off x="7772400" y="7498080"/>
            <a:ext cx="6858000" cy="1143000"/>
          </a:xfrm>
          <a:prstGeom prst="roundRect">
            <a:avLst>
              <a:gd name="adj" fmla="val 11200"/>
            </a:avLst>
          </a:prstGeom>
          <a:solidFill>
            <a:srgbClr val="FFEDE8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9" name="Icono warn 29" descr="warn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01000" y="7790688"/>
            <a:ext cx="548640" cy="548640"/>
          </a:xfrm>
          <a:prstGeom prst="rect">
            <a:avLst/>
          </a:prstGeom>
        </p:spPr>
      </p:pic>
      <p:sp>
        <p:nvSpPr>
          <p:cNvPr id="30" name="Texto 30"/>
          <p:cNvSpPr txBox="1"/>
          <p:nvPr/>
        </p:nvSpPr>
        <p:spPr>
          <a:xfrm>
            <a:off x="8732520" y="7543800"/>
            <a:ext cx="57607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Con menos de 20 pacientes, el análisis será solo descriptivo, sin comparaciones inferenciales entre tipos de cirugía.</a:t>
            </a:r>
            <a:endParaRPr lang="es-CO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OBJETIVOS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13716000" cy="2057400"/>
          </a:xfrm>
          <a:prstGeom prst="roundRect">
            <a:avLst>
              <a:gd name="adj" fmla="val 711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234440" y="2194560"/>
            <a:ext cx="1234440" cy="12344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bullseye 7" descr="bullsey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0706" y="2490826"/>
            <a:ext cx="641909" cy="641909"/>
          </a:xfrm>
          <a:prstGeom prst="rect">
            <a:avLst/>
          </a:prstGeom>
        </p:spPr>
      </p:pic>
      <p:sp>
        <p:nvSpPr>
          <p:cNvPr id="8" name="Forma 8"/>
          <p:cNvSpPr/>
          <p:nvPr/>
        </p:nvSpPr>
        <p:spPr>
          <a:xfrm>
            <a:off x="2788920" y="1938528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FFFFFF"/>
                </a:solidFill>
              </a:rPr>
              <a:t>OBJETIVO GENERAL</a:t>
            </a:r>
            <a:endParaRPr lang="es-CO" sz="1600" dirty="0"/>
          </a:p>
        </p:txBody>
      </p:sp>
      <p:sp>
        <p:nvSpPr>
          <p:cNvPr id="9" name="Texto 9"/>
          <p:cNvSpPr txBox="1"/>
          <p:nvPr/>
        </p:nvSpPr>
        <p:spPr>
          <a:xfrm>
            <a:off x="2788920" y="2487168"/>
            <a:ext cx="11612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2E2A33"/>
                </a:solidFill>
              </a:rPr>
              <a:t>Estimar la frecuencia de complicación mayor o muerte intrahospitalaria y describir los desenlaces según el tipo de cirugía cardiaca mayor (revascularización coronaria, cirugía valvular o combinada) en adultos Testigos de Jehová con rechazo transfusional documentado, atendidos en la Clínica General del Norte entre 2020 y 2025.</a:t>
            </a:r>
            <a:endParaRPr lang="es-CO" sz="1800" dirty="0"/>
          </a:p>
        </p:txBody>
      </p:sp>
      <p:sp>
        <p:nvSpPr>
          <p:cNvPr id="10" name="Texto 10"/>
          <p:cNvSpPr txBox="1"/>
          <p:nvPr/>
        </p:nvSpPr>
        <p:spPr>
          <a:xfrm>
            <a:off x="914400" y="4023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OBJETIVOS ESPECÍFICOS</a:t>
            </a:r>
            <a:endParaRPr lang="es-CO" sz="1900" dirty="0"/>
          </a:p>
        </p:txBody>
      </p:sp>
      <p:cxnSp>
        <p:nvCxnSpPr>
          <p:cNvPr id="11" name="Conector 11"/>
          <p:cNvCxnSpPr/>
          <p:nvPr/>
        </p:nvCxnSpPr>
        <p:spPr>
          <a:xfrm>
            <a:off x="4572000" y="4251960"/>
            <a:ext cx="10058400" cy="0"/>
          </a:xfrm>
          <a:prstGeom prst="line">
            <a:avLst/>
          </a:prstGeom>
          <a:ln w="15875">
            <a:solidFill>
              <a:srgbClr val="E2C3DD"/>
            </a:solidFill>
          </a:ln>
        </p:spPr>
      </p:cxnSp>
      <p:sp>
        <p:nvSpPr>
          <p:cNvPr id="12" name="Tarjeta 12"/>
          <p:cNvSpPr/>
          <p:nvPr/>
        </p:nvSpPr>
        <p:spPr>
          <a:xfrm>
            <a:off x="914400" y="4572000"/>
            <a:ext cx="2606040" cy="4069080"/>
          </a:xfrm>
          <a:prstGeom prst="roundRect">
            <a:avLst>
              <a:gd name="adj" fmla="val 561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3" name="Numero 13"/>
          <p:cNvSpPr/>
          <p:nvPr/>
        </p:nvSpPr>
        <p:spPr>
          <a:xfrm>
            <a:off x="1097280" y="4754880"/>
            <a:ext cx="548640" cy="5486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1</a:t>
            </a:r>
            <a:endParaRPr lang="es-CO" sz="1800" dirty="0"/>
          </a:p>
        </p:txBody>
      </p:sp>
      <p:pic>
        <p:nvPicPr>
          <p:cNvPr id="14" name="Icono users 14" descr="users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4520" y="4846320"/>
            <a:ext cx="731520" cy="731520"/>
          </a:xfrm>
          <a:prstGeom prst="rect">
            <a:avLst/>
          </a:prstGeom>
        </p:spPr>
      </p:pic>
      <p:sp>
        <p:nvSpPr>
          <p:cNvPr id="15" name="Forma 15"/>
          <p:cNvSpPr/>
          <p:nvPr/>
        </p:nvSpPr>
        <p:spPr>
          <a:xfrm>
            <a:off x="1188720" y="57607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EEDAE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Describir</a:t>
            </a:r>
            <a:endParaRPr lang="es-CO" sz="1700" dirty="0"/>
          </a:p>
        </p:txBody>
      </p:sp>
      <p:sp>
        <p:nvSpPr>
          <p:cNvPr id="16" name="Texto 16"/>
          <p:cNvSpPr txBox="1"/>
          <p:nvPr/>
        </p:nvSpPr>
        <p:spPr>
          <a:xfrm>
            <a:off x="1097280" y="63550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las características sociodemográficas, clínicas, quirúrgicas y de riesgo basal (EuroSCORE II).</a:t>
            </a:r>
            <a:endParaRPr lang="es-CO" sz="1700" dirty="0"/>
          </a:p>
        </p:txBody>
      </p:sp>
      <p:sp>
        <p:nvSpPr>
          <p:cNvPr id="17" name="Tarjeta 17"/>
          <p:cNvSpPr/>
          <p:nvPr/>
        </p:nvSpPr>
        <p:spPr>
          <a:xfrm>
            <a:off x="3703320" y="4572000"/>
            <a:ext cx="2606040" cy="40690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8" name="Numero 18"/>
          <p:cNvSpPr/>
          <p:nvPr/>
        </p:nvSpPr>
        <p:spPr>
          <a:xfrm>
            <a:off x="3886200" y="4754880"/>
            <a:ext cx="548640" cy="5486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2</a:t>
            </a:r>
            <a:endParaRPr lang="es-CO" sz="1800" dirty="0"/>
          </a:p>
        </p:txBody>
      </p:sp>
      <p:pic>
        <p:nvPicPr>
          <p:cNvPr id="19" name="Icono handmed 19" descr="handm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3440" y="4846320"/>
            <a:ext cx="731520" cy="731520"/>
          </a:xfrm>
          <a:prstGeom prst="rect">
            <a:avLst/>
          </a:prstGeom>
        </p:spPr>
      </p:pic>
      <p:sp>
        <p:nvSpPr>
          <p:cNvPr id="20" name="Forma 20"/>
          <p:cNvSpPr/>
          <p:nvPr/>
        </p:nvSpPr>
        <p:spPr>
          <a:xfrm>
            <a:off x="3977640" y="57607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EEDAE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Identificar</a:t>
            </a:r>
            <a:endParaRPr lang="es-CO" sz="1700" dirty="0"/>
          </a:p>
        </p:txBody>
      </p:sp>
      <p:sp>
        <p:nvSpPr>
          <p:cNvPr id="21" name="Texto 21"/>
          <p:cNvSpPr txBox="1"/>
          <p:nvPr/>
        </p:nvSpPr>
        <p:spPr>
          <a:xfrm>
            <a:off x="3886200" y="63550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el perfil de aceptación de fracciones y técnicas autólogas, y las estrategias de conservación sanguínea en cada periodo.</a:t>
            </a:r>
            <a:endParaRPr lang="es-CO" sz="1700" dirty="0"/>
          </a:p>
        </p:txBody>
      </p:sp>
      <p:sp>
        <p:nvSpPr>
          <p:cNvPr id="22" name="Tarjeta 22"/>
          <p:cNvSpPr/>
          <p:nvPr/>
        </p:nvSpPr>
        <p:spPr>
          <a:xfrm>
            <a:off x="6492240" y="4572000"/>
            <a:ext cx="2606040" cy="4069080"/>
          </a:xfrm>
          <a:prstGeom prst="roundRect">
            <a:avLst>
              <a:gd name="adj" fmla="val 561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3" name="Numero 23"/>
          <p:cNvSpPr/>
          <p:nvPr/>
        </p:nvSpPr>
        <p:spPr>
          <a:xfrm>
            <a:off x="6675120" y="4754880"/>
            <a:ext cx="548640" cy="5486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3</a:t>
            </a:r>
            <a:endParaRPr lang="es-CO" sz="1800" dirty="0"/>
          </a:p>
        </p:txBody>
      </p:sp>
      <p:pic>
        <p:nvPicPr>
          <p:cNvPr id="24" name="Icono droplet 24" descr="droplet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2360" y="4846320"/>
            <a:ext cx="731520" cy="731520"/>
          </a:xfrm>
          <a:prstGeom prst="rect">
            <a:avLst/>
          </a:prstGeom>
        </p:spPr>
      </p:pic>
      <p:sp>
        <p:nvSpPr>
          <p:cNvPr id="25" name="Forma 25"/>
          <p:cNvSpPr/>
          <p:nvPr/>
        </p:nvSpPr>
        <p:spPr>
          <a:xfrm>
            <a:off x="6766560" y="57607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EEDAE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Describir</a:t>
            </a:r>
            <a:endParaRPr lang="es-CO" sz="1700" dirty="0"/>
          </a:p>
        </p:txBody>
      </p:sp>
      <p:sp>
        <p:nvSpPr>
          <p:cNvPr id="26" name="Texto 26"/>
          <p:cNvSpPr txBox="1"/>
          <p:nvPr/>
        </p:nvSpPr>
        <p:spPr>
          <a:xfrm>
            <a:off x="6675120" y="63550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la trayectoria de hemoglobina y hematocrito, la pérdida sanguínea y la frecuencia de anemia pre y posoperatoria grave.</a:t>
            </a:r>
            <a:endParaRPr lang="es-CO" sz="1700" dirty="0"/>
          </a:p>
        </p:txBody>
      </p:sp>
      <p:sp>
        <p:nvSpPr>
          <p:cNvPr id="27" name="Tarjeta 27"/>
          <p:cNvSpPr/>
          <p:nvPr/>
        </p:nvSpPr>
        <p:spPr>
          <a:xfrm>
            <a:off x="9281160" y="4572000"/>
            <a:ext cx="2606040" cy="40690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8" name="Numero 28"/>
          <p:cNvSpPr/>
          <p:nvPr/>
        </p:nvSpPr>
        <p:spPr>
          <a:xfrm>
            <a:off x="9464040" y="4754880"/>
            <a:ext cx="548640" cy="5486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4</a:t>
            </a:r>
            <a:endParaRPr lang="es-CO" sz="1800" dirty="0"/>
          </a:p>
        </p:txBody>
      </p:sp>
      <p:pic>
        <p:nvPicPr>
          <p:cNvPr id="29" name="Icono chart 29" descr="chart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41280" y="4846320"/>
            <a:ext cx="731520" cy="731520"/>
          </a:xfrm>
          <a:prstGeom prst="rect">
            <a:avLst/>
          </a:prstGeom>
        </p:spPr>
      </p:pic>
      <p:sp>
        <p:nvSpPr>
          <p:cNvPr id="30" name="Forma 30"/>
          <p:cNvSpPr/>
          <p:nvPr/>
        </p:nvSpPr>
        <p:spPr>
          <a:xfrm>
            <a:off x="9555480" y="57607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EEDAE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Estimar</a:t>
            </a:r>
            <a:endParaRPr lang="es-CO" sz="1700" dirty="0"/>
          </a:p>
        </p:txBody>
      </p:sp>
      <p:sp>
        <p:nvSpPr>
          <p:cNvPr id="31" name="Texto 31"/>
          <p:cNvSpPr txBox="1"/>
          <p:nvPr/>
        </p:nvSpPr>
        <p:spPr>
          <a:xfrm>
            <a:off x="9464040" y="63550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la frecuencia del desenlace primario, sus componentes y los desenlaces secundarios, global y por tipo de cirugía.</a:t>
            </a:r>
            <a:endParaRPr lang="es-CO" sz="1700" dirty="0"/>
          </a:p>
        </p:txBody>
      </p:sp>
      <p:sp>
        <p:nvSpPr>
          <p:cNvPr id="32" name="Tarjeta 32"/>
          <p:cNvSpPr/>
          <p:nvPr/>
        </p:nvSpPr>
        <p:spPr>
          <a:xfrm>
            <a:off x="12070080" y="4572000"/>
            <a:ext cx="2606040" cy="4069080"/>
          </a:xfrm>
          <a:prstGeom prst="roundRect">
            <a:avLst>
              <a:gd name="adj" fmla="val 561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3" name="Numero 33"/>
          <p:cNvSpPr/>
          <p:nvPr/>
        </p:nvSpPr>
        <p:spPr>
          <a:xfrm>
            <a:off x="12252960" y="4754880"/>
            <a:ext cx="548640" cy="5486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5</a:t>
            </a:r>
            <a:endParaRPr lang="es-CO" sz="1800" dirty="0"/>
          </a:p>
        </p:txBody>
      </p:sp>
      <p:pic>
        <p:nvPicPr>
          <p:cNvPr id="34" name="Icono search 34" descr="search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030200" y="4846320"/>
            <a:ext cx="731520" cy="731520"/>
          </a:xfrm>
          <a:prstGeom prst="rect">
            <a:avLst/>
          </a:prstGeom>
        </p:spPr>
      </p:pic>
      <p:sp>
        <p:nvSpPr>
          <p:cNvPr id="35" name="Forma 35"/>
          <p:cNvSpPr/>
          <p:nvPr/>
        </p:nvSpPr>
        <p:spPr>
          <a:xfrm>
            <a:off x="12344400" y="57607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EEDAE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b="1" dirty="0">
                <a:solidFill>
                  <a:srgbClr val="80006B"/>
                </a:solidFill>
              </a:rPr>
              <a:t>Explorar</a:t>
            </a:r>
            <a:endParaRPr lang="es-CO" sz="1700" dirty="0"/>
          </a:p>
        </p:txBody>
      </p:sp>
      <p:sp>
        <p:nvSpPr>
          <p:cNvPr id="36" name="Texto 36"/>
          <p:cNvSpPr txBox="1"/>
          <p:nvPr/>
        </p:nvSpPr>
        <p:spPr>
          <a:xfrm>
            <a:off x="12252960" y="63550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si los datos lo permiten, diferencias del desenlace primario por tipo de cirugía, según urgencia y riesgo basal.</a:t>
            </a:r>
            <a:endParaRPr lang="es-CO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MARCO TEÓRICO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914400" y="1591056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A65C99"/>
                </a:solidFill>
              </a:rPr>
              <a:t>Umbrales hematológicos y definiciones estandarizadas</a:t>
            </a:r>
            <a:endParaRPr lang="es-CO" sz="2400" dirty="0"/>
          </a:p>
        </p:txBody>
      </p:sp>
      <p:pic>
        <p:nvPicPr>
          <p:cNvPr id="5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6" name="Tarjeta 6"/>
          <p:cNvSpPr/>
          <p:nvPr/>
        </p:nvSpPr>
        <p:spPr>
          <a:xfrm>
            <a:off x="914400" y="2286000"/>
            <a:ext cx="7498080" cy="6355080"/>
          </a:xfrm>
          <a:prstGeom prst="roundRect">
            <a:avLst>
              <a:gd name="adj" fmla="val 2302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" name="Texto 7"/>
          <p:cNvSpPr txBox="1"/>
          <p:nvPr/>
        </p:nvSpPr>
        <p:spPr>
          <a:xfrm>
            <a:off x="1234440" y="2468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Hemoglobina (g/dL)</a:t>
            </a:r>
            <a:endParaRPr lang="es-CO" sz="1900" dirty="0"/>
          </a:p>
        </p:txBody>
      </p:sp>
      <p:sp>
        <p:nvSpPr>
          <p:cNvPr id="8" name="Zona 8"/>
          <p:cNvSpPr/>
          <p:nvPr/>
        </p:nvSpPr>
        <p:spPr>
          <a:xfrm>
            <a:off x="1325880" y="3520440"/>
            <a:ext cx="2225040" cy="548640"/>
          </a:xfrm>
          <a:prstGeom prst="rect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9" name="Texto 9"/>
          <p:cNvSpPr txBox="1"/>
          <p:nvPr/>
        </p:nvSpPr>
        <p:spPr>
          <a:xfrm>
            <a:off x="1325880" y="3063240"/>
            <a:ext cx="2225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80006B"/>
                </a:solidFill>
              </a:rPr>
              <a:t>Crítica</a:t>
            </a:r>
            <a:endParaRPr lang="es-CO" sz="1400" dirty="0"/>
          </a:p>
        </p:txBody>
      </p:sp>
      <p:sp>
        <p:nvSpPr>
          <p:cNvPr id="10" name="Zona 10"/>
          <p:cNvSpPr/>
          <p:nvPr/>
        </p:nvSpPr>
        <p:spPr>
          <a:xfrm>
            <a:off x="3550920" y="3520440"/>
            <a:ext cx="890016" cy="548640"/>
          </a:xfrm>
          <a:prstGeom prst="rect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Texto 11"/>
          <p:cNvSpPr txBox="1"/>
          <p:nvPr/>
        </p:nvSpPr>
        <p:spPr>
          <a:xfrm>
            <a:off x="3550920" y="3063240"/>
            <a:ext cx="8900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5F3F"/>
                </a:solidFill>
              </a:rPr>
              <a:t>Grave</a:t>
            </a:r>
            <a:endParaRPr lang="es-CO" sz="1400" dirty="0"/>
          </a:p>
        </p:txBody>
      </p:sp>
      <p:sp>
        <p:nvSpPr>
          <p:cNvPr id="12" name="Zona 12"/>
          <p:cNvSpPr/>
          <p:nvPr/>
        </p:nvSpPr>
        <p:spPr>
          <a:xfrm>
            <a:off x="4440936" y="3520440"/>
            <a:ext cx="2670048" cy="548640"/>
          </a:xfrm>
          <a:prstGeom prst="rect">
            <a:avLst/>
          </a:prstGeom>
          <a:solidFill>
            <a:srgbClr val="FFB5A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3" name="Texto 13"/>
          <p:cNvSpPr txBox="1"/>
          <p:nvPr/>
        </p:nvSpPr>
        <p:spPr>
          <a:xfrm>
            <a:off x="4440936" y="3063240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C0452B"/>
                </a:solidFill>
              </a:rPr>
              <a:t>Anemia</a:t>
            </a:r>
            <a:endParaRPr lang="es-CO" sz="1400" dirty="0"/>
          </a:p>
        </p:txBody>
      </p:sp>
      <p:sp>
        <p:nvSpPr>
          <p:cNvPr id="14" name="Zona 14"/>
          <p:cNvSpPr/>
          <p:nvPr/>
        </p:nvSpPr>
        <p:spPr>
          <a:xfrm>
            <a:off x="7110984" y="3520440"/>
            <a:ext cx="890016" cy="548640"/>
          </a:xfrm>
          <a:prstGeom prst="rect">
            <a:avLst/>
          </a:prstGeom>
          <a:solidFill>
            <a:srgbClr val="E2C3DD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5" name="Texto 15"/>
          <p:cNvSpPr txBox="1"/>
          <p:nvPr/>
        </p:nvSpPr>
        <p:spPr>
          <a:xfrm>
            <a:off x="7110984" y="3063240"/>
            <a:ext cx="8900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6E6577"/>
                </a:solidFill>
              </a:rPr>
              <a:t>Normal</a:t>
            </a:r>
            <a:endParaRPr lang="es-CO" sz="1400" dirty="0"/>
          </a:p>
        </p:txBody>
      </p:sp>
      <p:cxnSp>
        <p:nvCxnSpPr>
          <p:cNvPr id="16" name="Conector 16"/>
          <p:cNvCxnSpPr/>
          <p:nvPr/>
        </p:nvCxnSpPr>
        <p:spPr>
          <a:xfrm>
            <a:off x="1325880" y="4069080"/>
            <a:ext cx="0" cy="137160"/>
          </a:xfrm>
          <a:prstGeom prst="line">
            <a:avLst/>
          </a:prstGeom>
          <a:ln w="12700">
            <a:solidFill>
              <a:srgbClr val="6E6577"/>
            </a:solidFill>
          </a:ln>
        </p:spPr>
      </p:cxnSp>
      <p:sp>
        <p:nvSpPr>
          <p:cNvPr id="17" name="Texto 17"/>
          <p:cNvSpPr txBox="1"/>
          <p:nvPr/>
        </p:nvSpPr>
        <p:spPr>
          <a:xfrm>
            <a:off x="1051560" y="42062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0</a:t>
            </a:r>
            <a:endParaRPr lang="es-CO" sz="1400" dirty="0"/>
          </a:p>
        </p:txBody>
      </p:sp>
      <p:cxnSp>
        <p:nvCxnSpPr>
          <p:cNvPr id="18" name="Conector 18"/>
          <p:cNvCxnSpPr/>
          <p:nvPr/>
        </p:nvCxnSpPr>
        <p:spPr>
          <a:xfrm>
            <a:off x="3550920" y="4069080"/>
            <a:ext cx="0" cy="137160"/>
          </a:xfrm>
          <a:prstGeom prst="line">
            <a:avLst/>
          </a:prstGeom>
          <a:ln w="12700">
            <a:solidFill>
              <a:srgbClr val="6E6577"/>
            </a:solidFill>
          </a:ln>
        </p:spPr>
      </p:cxnSp>
      <p:sp>
        <p:nvSpPr>
          <p:cNvPr id="19" name="Texto 19"/>
          <p:cNvSpPr txBox="1"/>
          <p:nvPr/>
        </p:nvSpPr>
        <p:spPr>
          <a:xfrm>
            <a:off x="3276600" y="42062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5</a:t>
            </a:r>
            <a:endParaRPr lang="es-CO" sz="1400" dirty="0"/>
          </a:p>
        </p:txBody>
      </p:sp>
      <p:cxnSp>
        <p:nvCxnSpPr>
          <p:cNvPr id="20" name="Conector 20"/>
          <p:cNvCxnSpPr/>
          <p:nvPr/>
        </p:nvCxnSpPr>
        <p:spPr>
          <a:xfrm>
            <a:off x="4440936" y="4069080"/>
            <a:ext cx="0" cy="137160"/>
          </a:xfrm>
          <a:prstGeom prst="line">
            <a:avLst/>
          </a:prstGeom>
          <a:ln w="12700">
            <a:solidFill>
              <a:srgbClr val="6E6577"/>
            </a:solidFill>
          </a:ln>
        </p:spPr>
      </p:cxnSp>
      <p:sp>
        <p:nvSpPr>
          <p:cNvPr id="21" name="Texto 21"/>
          <p:cNvSpPr txBox="1"/>
          <p:nvPr/>
        </p:nvSpPr>
        <p:spPr>
          <a:xfrm>
            <a:off x="4166616" y="42062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7</a:t>
            </a:r>
            <a:endParaRPr lang="es-CO" sz="1400" dirty="0"/>
          </a:p>
        </p:txBody>
      </p:sp>
      <p:cxnSp>
        <p:nvCxnSpPr>
          <p:cNvPr id="22" name="Conector 22"/>
          <p:cNvCxnSpPr/>
          <p:nvPr/>
        </p:nvCxnSpPr>
        <p:spPr>
          <a:xfrm>
            <a:off x="7110984" y="4069080"/>
            <a:ext cx="0" cy="137160"/>
          </a:xfrm>
          <a:prstGeom prst="line">
            <a:avLst/>
          </a:prstGeom>
          <a:ln w="12700">
            <a:solidFill>
              <a:srgbClr val="6E6577"/>
            </a:solidFill>
          </a:ln>
        </p:spPr>
      </p:cxnSp>
      <p:sp>
        <p:nvSpPr>
          <p:cNvPr id="23" name="Texto 23"/>
          <p:cNvSpPr txBox="1"/>
          <p:nvPr/>
        </p:nvSpPr>
        <p:spPr>
          <a:xfrm>
            <a:off x="6836664" y="42062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13</a:t>
            </a:r>
            <a:endParaRPr lang="es-CO" sz="1400" dirty="0"/>
          </a:p>
        </p:txBody>
      </p:sp>
      <p:cxnSp>
        <p:nvCxnSpPr>
          <p:cNvPr id="24" name="Conector 24"/>
          <p:cNvCxnSpPr/>
          <p:nvPr/>
        </p:nvCxnSpPr>
        <p:spPr>
          <a:xfrm>
            <a:off x="8001000" y="4069080"/>
            <a:ext cx="0" cy="137160"/>
          </a:xfrm>
          <a:prstGeom prst="line">
            <a:avLst/>
          </a:prstGeom>
          <a:ln w="12700">
            <a:solidFill>
              <a:srgbClr val="6E6577"/>
            </a:solidFill>
          </a:ln>
        </p:spPr>
      </p:cxnSp>
      <p:sp>
        <p:nvSpPr>
          <p:cNvPr id="25" name="Texto 25"/>
          <p:cNvSpPr txBox="1"/>
          <p:nvPr/>
        </p:nvSpPr>
        <p:spPr>
          <a:xfrm>
            <a:off x="7726680" y="42062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15</a:t>
            </a:r>
            <a:endParaRPr lang="es-CO" sz="1400" dirty="0"/>
          </a:p>
        </p:txBody>
      </p:sp>
      <p:sp>
        <p:nvSpPr>
          <p:cNvPr id="26" name="Punto 26"/>
          <p:cNvSpPr/>
          <p:nvPr/>
        </p:nvSpPr>
        <p:spPr>
          <a:xfrm>
            <a:off x="1280160" y="4846320"/>
            <a:ext cx="292608" cy="292608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7" name="Texto 27"/>
          <p:cNvSpPr txBox="1"/>
          <p:nvPr/>
        </p:nvSpPr>
        <p:spPr>
          <a:xfrm>
            <a:off x="1783080" y="475488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2E2A33"/>
                </a:solidFill>
              </a:rPr>
              <a:t>Anemia posoperatoria crítica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Hemoglobina mínima &lt; 5 g/dL</a:t>
            </a:r>
            <a:r>
              <a:rPr lang="es-CO" sz="1400" dirty="0">
                <a:solidFill>
                  <a:srgbClr val="6E6577"/>
                </a:solidFill>
              </a:rPr>
              <a:t xml:space="preserve"> (13)</a:t>
            </a:r>
            <a:endParaRPr lang="es-CO" sz="1400" dirty="0"/>
          </a:p>
        </p:txBody>
      </p:sp>
      <p:sp>
        <p:nvSpPr>
          <p:cNvPr id="28" name="Punto 28"/>
          <p:cNvSpPr/>
          <p:nvPr/>
        </p:nvSpPr>
        <p:spPr>
          <a:xfrm>
            <a:off x="1280160" y="6080760"/>
            <a:ext cx="292608" cy="292608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9" name="Texto 29"/>
          <p:cNvSpPr txBox="1"/>
          <p:nvPr/>
        </p:nvSpPr>
        <p:spPr>
          <a:xfrm>
            <a:off x="1783080" y="59893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2E2A33"/>
                </a:solidFill>
              </a:rPr>
              <a:t>Anemia posoperatoria grave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Hemoglobina mínima &lt; 7 g/dL o hematocrito mínimo &lt; 21 %</a:t>
            </a:r>
            <a:r>
              <a:rPr lang="es-CO" sz="1400" dirty="0">
                <a:solidFill>
                  <a:srgbClr val="6E6577"/>
                </a:solidFill>
              </a:rPr>
              <a:t xml:space="preserve"> (12,13)</a:t>
            </a:r>
            <a:endParaRPr lang="es-CO" sz="1400" dirty="0"/>
          </a:p>
        </p:txBody>
      </p:sp>
      <p:sp>
        <p:nvSpPr>
          <p:cNvPr id="30" name="Punto 30"/>
          <p:cNvSpPr/>
          <p:nvPr/>
        </p:nvSpPr>
        <p:spPr>
          <a:xfrm>
            <a:off x="1280160" y="7315200"/>
            <a:ext cx="292608" cy="292608"/>
          </a:xfrm>
          <a:prstGeom prst="ellipse">
            <a:avLst/>
          </a:prstGeom>
          <a:solidFill>
            <a:srgbClr val="FFB5A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1" name="Texto 31"/>
          <p:cNvSpPr txBox="1"/>
          <p:nvPr/>
        </p:nvSpPr>
        <p:spPr>
          <a:xfrm>
            <a:off x="1783080" y="722376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2E2A33"/>
                </a:solidFill>
              </a:rPr>
              <a:t>Anemia preoperatoria</a:t>
            </a:r>
            <a:endParaRPr lang="es-CO" sz="18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Hemoglobina &lt; 13 g/dL en ambos sexos (EACTS 2024); también según la OMS: &lt; 13 g/dL hombres y &lt; 12 g/dL mujeres</a:t>
            </a:r>
            <a:r>
              <a:rPr lang="es-CO" sz="1400" dirty="0">
                <a:solidFill>
                  <a:srgbClr val="6E6577"/>
                </a:solidFill>
              </a:rPr>
              <a:t xml:space="preserve"> (19)</a:t>
            </a:r>
            <a:endParaRPr lang="es-CO" sz="1400" dirty="0"/>
          </a:p>
        </p:txBody>
      </p:sp>
      <p:sp>
        <p:nvSpPr>
          <p:cNvPr id="32" name="Texto 32"/>
          <p:cNvSpPr txBox="1"/>
          <p:nvPr/>
        </p:nvSpPr>
        <p:spPr>
          <a:xfrm>
            <a:off x="8778240" y="233172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Definiciones estandarizadas</a:t>
            </a:r>
            <a:endParaRPr lang="es-CO" sz="1900" dirty="0"/>
          </a:p>
        </p:txBody>
      </p:sp>
      <p:sp>
        <p:nvSpPr>
          <p:cNvPr id="33" name="Fila 33"/>
          <p:cNvSpPr/>
          <p:nvPr/>
        </p:nvSpPr>
        <p:spPr>
          <a:xfrm>
            <a:off x="8778240" y="2926080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4" name="Forma 34"/>
          <p:cNvSpPr/>
          <p:nvPr/>
        </p:nvSpPr>
        <p:spPr>
          <a:xfrm>
            <a:off x="8869680" y="30175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STS</a:t>
            </a:r>
            <a:endParaRPr lang="es-CO" sz="1400" dirty="0"/>
          </a:p>
        </p:txBody>
      </p:sp>
      <p:sp>
        <p:nvSpPr>
          <p:cNvPr id="35" name="Texto 35"/>
          <p:cNvSpPr txBox="1"/>
          <p:nvPr/>
        </p:nvSpPr>
        <p:spPr>
          <a:xfrm>
            <a:off x="10881360" y="29260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Morbilidad o mortalidad mayor</a:t>
            </a:r>
            <a:r>
              <a:rPr lang="es-CO" sz="1400" dirty="0">
                <a:solidFill>
                  <a:srgbClr val="6E6577"/>
                </a:solidFill>
              </a:rPr>
              <a:t xml:space="preserve"> (24)</a:t>
            </a:r>
            <a:endParaRPr lang="es-CO" sz="1400" dirty="0"/>
          </a:p>
        </p:txBody>
      </p:sp>
      <p:sp>
        <p:nvSpPr>
          <p:cNvPr id="36" name="Fila 36"/>
          <p:cNvSpPr/>
          <p:nvPr/>
        </p:nvSpPr>
        <p:spPr>
          <a:xfrm>
            <a:off x="8778240" y="3739896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AEB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7" name="Forma 37"/>
          <p:cNvSpPr/>
          <p:nvPr/>
        </p:nvSpPr>
        <p:spPr>
          <a:xfrm>
            <a:off x="8869680" y="3831336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Universal</a:t>
            </a:r>
            <a:endParaRPr lang="es-CO" sz="1400" dirty="0"/>
          </a:p>
        </p:txBody>
      </p:sp>
      <p:sp>
        <p:nvSpPr>
          <p:cNvPr id="38" name="Texto 38"/>
          <p:cNvSpPr txBox="1"/>
          <p:nvPr/>
        </p:nvSpPr>
        <p:spPr>
          <a:xfrm>
            <a:off x="10881360" y="373989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Sangrado perioperatorio en cirugía cardiaca</a:t>
            </a:r>
            <a:r>
              <a:rPr lang="es-CO" sz="1400" dirty="0">
                <a:solidFill>
                  <a:srgbClr val="6E6577"/>
                </a:solidFill>
              </a:rPr>
              <a:t xml:space="preserve"> (25)</a:t>
            </a:r>
            <a:endParaRPr lang="es-CO" sz="1400" dirty="0"/>
          </a:p>
        </p:txBody>
      </p:sp>
      <p:sp>
        <p:nvSpPr>
          <p:cNvPr id="39" name="Fila 39"/>
          <p:cNvSpPr/>
          <p:nvPr/>
        </p:nvSpPr>
        <p:spPr>
          <a:xfrm>
            <a:off x="8778240" y="4553712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0" name="Forma 40"/>
          <p:cNvSpPr/>
          <p:nvPr/>
        </p:nvSpPr>
        <p:spPr>
          <a:xfrm>
            <a:off x="8869680" y="4645152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KDIGO</a:t>
            </a:r>
            <a:endParaRPr lang="es-CO" sz="1400" dirty="0"/>
          </a:p>
        </p:txBody>
      </p:sp>
      <p:sp>
        <p:nvSpPr>
          <p:cNvPr id="41" name="Texto 41"/>
          <p:cNvSpPr txBox="1"/>
          <p:nvPr/>
        </p:nvSpPr>
        <p:spPr>
          <a:xfrm>
            <a:off x="10881360" y="4553712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Lesión renal aguda</a:t>
            </a:r>
            <a:r>
              <a:rPr lang="es-CO" sz="1400" dirty="0">
                <a:solidFill>
                  <a:srgbClr val="6E6577"/>
                </a:solidFill>
              </a:rPr>
              <a:t xml:space="preserve"> (26)</a:t>
            </a:r>
            <a:endParaRPr lang="es-CO" sz="1400" dirty="0"/>
          </a:p>
        </p:txBody>
      </p:sp>
      <p:sp>
        <p:nvSpPr>
          <p:cNvPr id="42" name="Fila 42"/>
          <p:cNvSpPr/>
          <p:nvPr/>
        </p:nvSpPr>
        <p:spPr>
          <a:xfrm>
            <a:off x="8778240" y="5367528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AEB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3" name="Forma 43"/>
          <p:cNvSpPr/>
          <p:nvPr/>
        </p:nvSpPr>
        <p:spPr>
          <a:xfrm>
            <a:off x="8869680" y="5458968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Sepsis-3</a:t>
            </a:r>
            <a:endParaRPr lang="es-CO" sz="1400" dirty="0"/>
          </a:p>
        </p:txBody>
      </p:sp>
      <p:sp>
        <p:nvSpPr>
          <p:cNvPr id="44" name="Texto 44"/>
          <p:cNvSpPr txBox="1"/>
          <p:nvPr/>
        </p:nvSpPr>
        <p:spPr>
          <a:xfrm>
            <a:off x="10881360" y="536752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Sepsis</a:t>
            </a:r>
            <a:r>
              <a:rPr lang="es-CO" sz="1400" dirty="0">
                <a:solidFill>
                  <a:srgbClr val="6E6577"/>
                </a:solidFill>
              </a:rPr>
              <a:t xml:space="preserve"> (27)</a:t>
            </a:r>
            <a:endParaRPr lang="es-CO" sz="1400" dirty="0"/>
          </a:p>
        </p:txBody>
      </p:sp>
      <p:sp>
        <p:nvSpPr>
          <p:cNvPr id="45" name="Fila 45"/>
          <p:cNvSpPr/>
          <p:nvPr/>
        </p:nvSpPr>
        <p:spPr>
          <a:xfrm>
            <a:off x="8778240" y="6181344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6" name="Forma 46"/>
          <p:cNvSpPr/>
          <p:nvPr/>
        </p:nvSpPr>
        <p:spPr>
          <a:xfrm>
            <a:off x="8869680" y="6272784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SCAI</a:t>
            </a:r>
            <a:endParaRPr lang="es-CO" sz="1400" dirty="0"/>
          </a:p>
        </p:txBody>
      </p:sp>
      <p:sp>
        <p:nvSpPr>
          <p:cNvPr id="47" name="Texto 47"/>
          <p:cNvSpPr txBox="1"/>
          <p:nvPr/>
        </p:nvSpPr>
        <p:spPr>
          <a:xfrm>
            <a:off x="10881360" y="6181344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Shock cardiogénico</a:t>
            </a:r>
            <a:r>
              <a:rPr lang="es-CO" sz="1400" dirty="0">
                <a:solidFill>
                  <a:srgbClr val="6E6577"/>
                </a:solidFill>
              </a:rPr>
              <a:t xml:space="preserve"> (28)</a:t>
            </a:r>
            <a:endParaRPr lang="es-CO" sz="1400" dirty="0"/>
          </a:p>
        </p:txBody>
      </p:sp>
      <p:sp>
        <p:nvSpPr>
          <p:cNvPr id="48" name="Fila 48"/>
          <p:cNvSpPr/>
          <p:nvPr/>
        </p:nvSpPr>
        <p:spPr>
          <a:xfrm>
            <a:off x="8778240" y="6995160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EDAEB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49" name="Forma 49"/>
          <p:cNvSpPr/>
          <p:nvPr/>
        </p:nvSpPr>
        <p:spPr>
          <a:xfrm>
            <a:off x="8869680" y="70866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4.ª definición</a:t>
            </a:r>
            <a:endParaRPr lang="es-CO" sz="1400" dirty="0"/>
          </a:p>
        </p:txBody>
      </p:sp>
      <p:sp>
        <p:nvSpPr>
          <p:cNvPr id="50" name="Texto 50"/>
          <p:cNvSpPr txBox="1"/>
          <p:nvPr/>
        </p:nvSpPr>
        <p:spPr>
          <a:xfrm>
            <a:off x="10881360" y="69951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Infarto perioperatorio</a:t>
            </a:r>
            <a:r>
              <a:rPr lang="es-CO" sz="1400" dirty="0">
                <a:solidFill>
                  <a:srgbClr val="6E6577"/>
                </a:solidFill>
              </a:rPr>
              <a:t xml:space="preserve"> (29)</a:t>
            </a:r>
            <a:endParaRPr lang="es-CO" sz="1400" dirty="0"/>
          </a:p>
        </p:txBody>
      </p:sp>
      <p:sp>
        <p:nvSpPr>
          <p:cNvPr id="51" name="Fila 51"/>
          <p:cNvSpPr/>
          <p:nvPr/>
        </p:nvSpPr>
        <p:spPr>
          <a:xfrm>
            <a:off x="8778240" y="7808976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52" name="Forma 52"/>
          <p:cNvSpPr/>
          <p:nvPr/>
        </p:nvSpPr>
        <p:spPr>
          <a:xfrm>
            <a:off x="8869680" y="7900416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80006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FFFFFF"/>
                </a:solidFill>
              </a:rPr>
              <a:t>EuroSCORE II</a:t>
            </a:r>
            <a:endParaRPr lang="es-CO" sz="1400" dirty="0"/>
          </a:p>
        </p:txBody>
      </p:sp>
      <p:sp>
        <p:nvSpPr>
          <p:cNvPr id="53" name="Texto 53"/>
          <p:cNvSpPr txBox="1"/>
          <p:nvPr/>
        </p:nvSpPr>
        <p:spPr>
          <a:xfrm>
            <a:off x="10881360" y="780897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Riesgo quirúrgico basal</a:t>
            </a:r>
            <a:r>
              <a:rPr lang="es-CO" sz="1400" dirty="0">
                <a:solidFill>
                  <a:srgbClr val="6E6577"/>
                </a:solidFill>
              </a:rPr>
              <a:t xml:space="preserve"> (30)</a:t>
            </a:r>
            <a:endParaRPr lang="es-CO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MARCO TEÓRICO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914400" y="1591056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A65C99"/>
                </a:solidFill>
              </a:rPr>
              <a:t>Manejo de la sangre del paciente: programa institucional multidisciplinario (1,2)</a:t>
            </a:r>
            <a:endParaRPr lang="es-CO" sz="2400" dirty="0"/>
          </a:p>
        </p:txBody>
      </p:sp>
      <p:pic>
        <p:nvPicPr>
          <p:cNvPr id="5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6" name="Tarjeta 6"/>
          <p:cNvSpPr/>
          <p:nvPr/>
        </p:nvSpPr>
        <p:spPr>
          <a:xfrm>
            <a:off x="914400" y="2286000"/>
            <a:ext cx="4206240" cy="3017520"/>
          </a:xfrm>
          <a:prstGeom prst="roundRect">
            <a:avLst>
              <a:gd name="adj" fmla="val 4848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7" name="Numero 7"/>
          <p:cNvSpPr/>
          <p:nvPr/>
        </p:nvSpPr>
        <p:spPr>
          <a:xfrm>
            <a:off x="1188720" y="2514600"/>
            <a:ext cx="502920" cy="50292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1</a:t>
            </a:r>
            <a:endParaRPr lang="es-CO" sz="1800" dirty="0"/>
          </a:p>
        </p:txBody>
      </p:sp>
      <p:sp>
        <p:nvSpPr>
          <p:cNvPr id="8" name="Circulo 8"/>
          <p:cNvSpPr/>
          <p:nvPr/>
        </p:nvSpPr>
        <p:spPr>
          <a:xfrm>
            <a:off x="2514600" y="251460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9" name="Icono clipboard 9" descr="clipboar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6002" y="2756002"/>
            <a:ext cx="523037" cy="523037"/>
          </a:xfrm>
          <a:prstGeom prst="rect">
            <a:avLst/>
          </a:prstGeom>
        </p:spPr>
      </p:pic>
      <p:sp>
        <p:nvSpPr>
          <p:cNvPr id="10" name="Texto 10"/>
          <p:cNvSpPr txBox="1"/>
          <p:nvPr/>
        </p:nvSpPr>
        <p:spPr>
          <a:xfrm>
            <a:off x="1143000" y="36118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PREOPERATORIO</a:t>
            </a:r>
            <a:endParaRPr lang="es-CO" sz="1900" dirty="0"/>
          </a:p>
        </p:txBody>
      </p:sp>
      <p:sp>
        <p:nvSpPr>
          <p:cNvPr id="11" name="Texto 11"/>
          <p:cNvSpPr txBox="1"/>
          <p:nvPr/>
        </p:nvSpPr>
        <p:spPr>
          <a:xfrm>
            <a:off x="1188720" y="41148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Corrección de la anemia y de las deficiencias tratables; documentación individual de productos o técnicas aceptables.</a:t>
            </a:r>
            <a:endParaRPr lang="es-CO" sz="1750" dirty="0"/>
          </a:p>
        </p:txBody>
      </p:sp>
      <p:sp>
        <p:nvSpPr>
          <p:cNvPr id="12" name="Flecha 12"/>
          <p:cNvSpPr/>
          <p:nvPr/>
        </p:nvSpPr>
        <p:spPr>
          <a:xfrm>
            <a:off x="5230368" y="3520440"/>
            <a:ext cx="329184" cy="548640"/>
          </a:xfrm>
          <a:prstGeom prst="chevron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3" name="Tarjeta 13"/>
          <p:cNvSpPr/>
          <p:nvPr/>
        </p:nvSpPr>
        <p:spPr>
          <a:xfrm>
            <a:off x="5669280" y="2286000"/>
            <a:ext cx="4206240" cy="3017520"/>
          </a:xfrm>
          <a:prstGeom prst="roundRect">
            <a:avLst>
              <a:gd name="adj" fmla="val 4848"/>
            </a:avLst>
          </a:prstGeom>
          <a:solidFill>
            <a:srgbClr val="EEDAE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4" name="Numero 14"/>
          <p:cNvSpPr/>
          <p:nvPr/>
        </p:nvSpPr>
        <p:spPr>
          <a:xfrm>
            <a:off x="5943600" y="2514600"/>
            <a:ext cx="502920" cy="50292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2</a:t>
            </a:r>
            <a:endParaRPr lang="es-CO" sz="1800" dirty="0"/>
          </a:p>
        </p:txBody>
      </p:sp>
      <p:sp>
        <p:nvSpPr>
          <p:cNvPr id="15" name="Circulo 15"/>
          <p:cNvSpPr/>
          <p:nvPr/>
        </p:nvSpPr>
        <p:spPr>
          <a:xfrm>
            <a:off x="7269480" y="251460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6" name="Icono heartpulse 16" descr="heartpuls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0882" y="2756002"/>
            <a:ext cx="523037" cy="523037"/>
          </a:xfrm>
          <a:prstGeom prst="rect">
            <a:avLst/>
          </a:prstGeom>
        </p:spPr>
      </p:pic>
      <p:sp>
        <p:nvSpPr>
          <p:cNvPr id="17" name="Texto 17"/>
          <p:cNvSpPr txBox="1"/>
          <p:nvPr/>
        </p:nvSpPr>
        <p:spPr>
          <a:xfrm>
            <a:off x="5897880" y="36118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INTRAOPERATORIO</a:t>
            </a:r>
            <a:endParaRPr lang="es-CO" sz="1900" dirty="0"/>
          </a:p>
        </p:txBody>
      </p:sp>
      <p:sp>
        <p:nvSpPr>
          <p:cNvPr id="18" name="Texto 18"/>
          <p:cNvSpPr txBox="1"/>
          <p:nvPr/>
        </p:nvSpPr>
        <p:spPr>
          <a:xfrm>
            <a:off x="5943600" y="41148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Estrategias para reducir el sangrado y optimizar la hemostasia.</a:t>
            </a:r>
            <a:endParaRPr lang="es-CO" sz="1750" dirty="0"/>
          </a:p>
        </p:txBody>
      </p:sp>
      <p:sp>
        <p:nvSpPr>
          <p:cNvPr id="19" name="Flecha 19"/>
          <p:cNvSpPr/>
          <p:nvPr/>
        </p:nvSpPr>
        <p:spPr>
          <a:xfrm>
            <a:off x="9985248" y="3520440"/>
            <a:ext cx="329184" cy="548640"/>
          </a:xfrm>
          <a:prstGeom prst="chevron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0" name="Tarjeta 20"/>
          <p:cNvSpPr/>
          <p:nvPr/>
        </p:nvSpPr>
        <p:spPr>
          <a:xfrm>
            <a:off x="10424160" y="2286000"/>
            <a:ext cx="4206240" cy="3017520"/>
          </a:xfrm>
          <a:prstGeom prst="roundRect">
            <a:avLst>
              <a:gd name="adj" fmla="val 4848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1" name="Numero 21"/>
          <p:cNvSpPr/>
          <p:nvPr/>
        </p:nvSpPr>
        <p:spPr>
          <a:xfrm>
            <a:off x="10698480" y="2514600"/>
            <a:ext cx="502920" cy="50292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FFFF"/>
                </a:solidFill>
              </a:rPr>
              <a:t>3</a:t>
            </a:r>
            <a:endParaRPr lang="es-CO" sz="1800" dirty="0"/>
          </a:p>
        </p:txBody>
      </p:sp>
      <p:sp>
        <p:nvSpPr>
          <p:cNvPr id="22" name="Circulo 22"/>
          <p:cNvSpPr/>
          <p:nvPr/>
        </p:nvSpPr>
        <p:spPr>
          <a:xfrm>
            <a:off x="12024360" y="2514600"/>
            <a:ext cx="1005840" cy="10058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3" name="Icono bed 23" descr="b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65762" y="2756002"/>
            <a:ext cx="523037" cy="523037"/>
          </a:xfrm>
          <a:prstGeom prst="rect">
            <a:avLst/>
          </a:prstGeom>
        </p:spPr>
      </p:pic>
      <p:sp>
        <p:nvSpPr>
          <p:cNvPr id="24" name="Texto 24"/>
          <p:cNvSpPr txBox="1"/>
          <p:nvPr/>
        </p:nvSpPr>
        <p:spPr>
          <a:xfrm>
            <a:off x="10652760" y="36118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POSOPERATORIO</a:t>
            </a:r>
            <a:endParaRPr lang="es-CO" sz="1900" dirty="0"/>
          </a:p>
        </p:txBody>
      </p:sp>
      <p:sp>
        <p:nvSpPr>
          <p:cNvPr id="25" name="Texto 25"/>
          <p:cNvSpPr txBox="1"/>
          <p:nvPr/>
        </p:nvSpPr>
        <p:spPr>
          <a:xfrm>
            <a:off x="10698480" y="41148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Prevención de la anemia iatrogénica, vigilancia y reducción de flebotomías.</a:t>
            </a:r>
            <a:endParaRPr lang="es-CO" sz="1750" dirty="0"/>
          </a:p>
        </p:txBody>
      </p:sp>
      <p:sp>
        <p:nvSpPr>
          <p:cNvPr id="26" name="Tarjeta 26"/>
          <p:cNvSpPr/>
          <p:nvPr/>
        </p:nvSpPr>
        <p:spPr>
          <a:xfrm>
            <a:off x="914400" y="5577840"/>
            <a:ext cx="4425696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7" name="Texto 27"/>
          <p:cNvSpPr txBox="1"/>
          <p:nvPr/>
        </p:nvSpPr>
        <p:spPr>
          <a:xfrm>
            <a:off x="1188720" y="5760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Transfusión y gravedad</a:t>
            </a:r>
            <a:endParaRPr lang="es-CO" sz="1900" dirty="0"/>
          </a:p>
        </p:txBody>
      </p:sp>
      <p:sp>
        <p:nvSpPr>
          <p:cNvPr id="28" name="Texto 28"/>
          <p:cNvSpPr txBox="1"/>
          <p:nvPr/>
        </p:nvSpPr>
        <p:spPr>
          <a:xfrm>
            <a:off x="1188720" y="630936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Los transfundidos suelen tener más gravedad, más sangrado o cirugías urgentes o complejas: la transfusión también marca peor condición y no permite inferir causalidad</a:t>
            </a:r>
            <a:r>
              <a:rPr lang="es-CO" sz="1400" dirty="0">
                <a:solidFill>
                  <a:srgbClr val="6E6577"/>
                </a:solidFill>
              </a:rPr>
              <a:t xml:space="preserve"> (17)</a:t>
            </a:r>
            <a:endParaRPr lang="es-CO" sz="1400" dirty="0"/>
          </a:p>
        </p:txBody>
      </p:sp>
      <p:sp>
        <p:nvSpPr>
          <p:cNvPr id="29" name="Tarjeta 29"/>
          <p:cNvSpPr/>
          <p:nvPr/>
        </p:nvSpPr>
        <p:spPr>
          <a:xfrm>
            <a:off x="5559552" y="5577840"/>
            <a:ext cx="4425696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0" name="Texto 30"/>
          <p:cNvSpPr txBox="1"/>
          <p:nvPr/>
        </p:nvSpPr>
        <p:spPr>
          <a:xfrm>
            <a:off x="5833872" y="5760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Umbral de 7,5 g/dL</a:t>
            </a:r>
            <a:endParaRPr lang="es-CO" sz="1900" dirty="0"/>
          </a:p>
        </p:txBody>
      </p:sp>
      <p:sp>
        <p:nvSpPr>
          <p:cNvPr id="31" name="Texto 31"/>
          <p:cNvSpPr txBox="1"/>
          <p:nvPr/>
        </p:nvSpPr>
        <p:spPr>
          <a:xfrm>
            <a:off x="5833872" y="630936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Umbral restrictivo de 2023 para quien acepta glóbulos rojos: contextualiza la atención habitual, pero no es una meta de seguridad para quien la rechaza</a:t>
            </a:r>
            <a:r>
              <a:rPr lang="es-CO" sz="1400" dirty="0">
                <a:solidFill>
                  <a:srgbClr val="6E6577"/>
                </a:solidFill>
              </a:rPr>
              <a:t xml:space="preserve"> (23)</a:t>
            </a:r>
            <a:endParaRPr lang="es-CO" sz="1400" dirty="0"/>
          </a:p>
        </p:txBody>
      </p:sp>
      <p:sp>
        <p:nvSpPr>
          <p:cNvPr id="32" name="Tarjeta 32"/>
          <p:cNvSpPr/>
          <p:nvPr/>
        </p:nvSpPr>
        <p:spPr>
          <a:xfrm>
            <a:off x="10204704" y="5577840"/>
            <a:ext cx="4425696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3" name="Texto 33"/>
          <p:cNvSpPr txBox="1"/>
          <p:nvPr/>
        </p:nvSpPr>
        <p:spPr>
          <a:xfrm>
            <a:off x="10479024" y="5760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Decisión individual</a:t>
            </a:r>
            <a:endParaRPr lang="es-CO" sz="1900" dirty="0"/>
          </a:p>
        </p:txBody>
      </p:sp>
      <p:sp>
        <p:nvSpPr>
          <p:cNvPr id="34" name="Texto 34"/>
          <p:cNvSpPr txBox="1"/>
          <p:nvPr/>
        </p:nvSpPr>
        <p:spPr>
          <a:xfrm>
            <a:off x="10479024" y="630936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50" dirty="0">
                <a:solidFill>
                  <a:srgbClr val="2E2A33"/>
                </a:solidFill>
              </a:rPr>
              <a:t>La aceptación de recuperación celular, fracciones o técnicas autólogas no se presupone por la pertenencia religiosa: se confirma con cada persona</a:t>
            </a:r>
            <a:r>
              <a:rPr lang="es-CO" sz="1400" dirty="0">
                <a:solidFill>
                  <a:srgbClr val="6E6577"/>
                </a:solidFill>
              </a:rPr>
              <a:t xml:space="preserve"> (3,15)</a:t>
            </a:r>
            <a:endParaRPr lang="es-CO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JUSTIFICACIÓN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67665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88720" y="2057400"/>
            <a:ext cx="914400" cy="9144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chart 7" descr="char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8176" y="2276856"/>
            <a:ext cx="475488" cy="475488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2331720" y="205740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dirty="0">
                <a:solidFill>
                  <a:srgbClr val="80006B"/>
                </a:solidFill>
              </a:rPr>
              <a:t>Magnitud</a:t>
            </a:r>
            <a:endParaRPr lang="es-CO" sz="2600" dirty="0"/>
          </a:p>
        </p:txBody>
      </p:sp>
      <p:sp>
        <p:nvSpPr>
          <p:cNvPr id="9" name="Texto 9"/>
          <p:cNvSpPr txBox="1"/>
          <p:nvPr/>
        </p:nvSpPr>
        <p:spPr>
          <a:xfrm>
            <a:off x="1234440" y="3154680"/>
            <a:ext cx="61722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dirty="0">
                <a:solidFill>
                  <a:srgbClr val="2E2A33"/>
                </a:solidFill>
              </a:rPr>
              <a:t>Escenario de riesgo de sangrado perioperatorio, coagulopatía y variabilidad transfusional. Las guías recomiendan tratar la anemia, reducir pérdidas, planificar las alternativas aceptadas y medir el sangrado con indicadores institucionales</a:t>
            </a:r>
            <a:r>
              <a:rPr lang="es-CO" sz="1400" dirty="0">
                <a:solidFill>
                  <a:srgbClr val="6E6577"/>
                </a:solidFill>
              </a:rPr>
              <a:t xml:space="preserve"> (1-3)</a:t>
            </a:r>
            <a:endParaRPr lang="es-CO" sz="1400" dirty="0"/>
          </a:p>
        </p:txBody>
      </p:sp>
      <p:sp>
        <p:nvSpPr>
          <p:cNvPr id="10" name="Tarjeta 10"/>
          <p:cNvSpPr/>
          <p:nvPr/>
        </p:nvSpPr>
        <p:spPr>
          <a:xfrm>
            <a:off x="7863840" y="1783080"/>
            <a:ext cx="6766560" cy="3291840"/>
          </a:xfrm>
          <a:prstGeom prst="roundRect">
            <a:avLst>
              <a:gd name="adj" fmla="val 444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8138160" y="2057400"/>
            <a:ext cx="914400" cy="9144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bulb 12" descr="bulb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616" y="2276856"/>
            <a:ext cx="475488" cy="475488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9281160" y="205740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dirty="0">
                <a:solidFill>
                  <a:srgbClr val="80006B"/>
                </a:solidFill>
              </a:rPr>
              <a:t>Trascendencia</a:t>
            </a:r>
            <a:endParaRPr lang="es-CO" sz="2600" dirty="0"/>
          </a:p>
        </p:txBody>
      </p:sp>
      <p:sp>
        <p:nvSpPr>
          <p:cNvPr id="14" name="Texto 14"/>
          <p:cNvSpPr txBox="1"/>
          <p:nvPr/>
        </p:nvSpPr>
        <p:spPr>
          <a:xfrm>
            <a:off x="8183880" y="3154680"/>
            <a:ext cx="61722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dirty="0">
                <a:solidFill>
                  <a:srgbClr val="2E2A33"/>
                </a:solidFill>
              </a:rPr>
              <a:t>39 estudios con 180.074 pacientes: la transfusión se asoció con mayor mortalidad temprana (OR 3,87) y a largo plazo (OR 2,01), sin poder atribuir causalidad</a:t>
            </a:r>
            <a:r>
              <a:rPr lang="es-CO" sz="1400" dirty="0">
                <a:solidFill>
                  <a:srgbClr val="6E6577"/>
                </a:solidFill>
              </a:rPr>
              <a:t xml:space="preserve"> (17)</a:t>
            </a:r>
            <a:r>
              <a:rPr lang="es-CO" sz="1900" dirty="0">
                <a:solidFill>
                  <a:srgbClr val="2E2A33"/>
                </a:solidFill>
              </a:rPr>
              <a:t>. En Testigos de Jehová, la urgencia y la anemia posoperatoria grave modifican el pronóstico</a:t>
            </a:r>
            <a:r>
              <a:rPr lang="es-CO" sz="1400" dirty="0">
                <a:solidFill>
                  <a:srgbClr val="6E6577"/>
                </a:solidFill>
              </a:rPr>
              <a:t xml:space="preserve"> (12,14)</a:t>
            </a:r>
            <a:endParaRPr lang="es-CO" sz="1400" dirty="0"/>
          </a:p>
        </p:txBody>
      </p:sp>
      <p:sp>
        <p:nvSpPr>
          <p:cNvPr id="15" name="Tarjeta 15"/>
          <p:cNvSpPr/>
          <p:nvPr/>
        </p:nvSpPr>
        <p:spPr>
          <a:xfrm>
            <a:off x="914400" y="5303520"/>
            <a:ext cx="6766560" cy="3291840"/>
          </a:xfrm>
          <a:prstGeom prst="roundRect">
            <a:avLst>
              <a:gd name="adj" fmla="val 4444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6" name="Circulo 16"/>
          <p:cNvSpPr/>
          <p:nvPr/>
        </p:nvSpPr>
        <p:spPr>
          <a:xfrm>
            <a:off x="1188720" y="5577840"/>
            <a:ext cx="914400" cy="914400"/>
          </a:xfrm>
          <a:prstGeom prst="ellipse">
            <a:avLst/>
          </a:prstGeom>
          <a:solidFill>
            <a:srgbClr val="A65C99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7" name="Icono handmed 17" descr="handm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8176" y="5797296"/>
            <a:ext cx="475488" cy="475488"/>
          </a:xfrm>
          <a:prstGeom prst="rect">
            <a:avLst/>
          </a:prstGeom>
        </p:spPr>
      </p:pic>
      <p:sp>
        <p:nvSpPr>
          <p:cNvPr id="18" name="Texto 18"/>
          <p:cNvSpPr txBox="1"/>
          <p:nvPr/>
        </p:nvSpPr>
        <p:spPr>
          <a:xfrm>
            <a:off x="2331720" y="55778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dirty="0">
                <a:solidFill>
                  <a:srgbClr val="80006B"/>
                </a:solidFill>
              </a:rPr>
              <a:t>Vulnerabilidad</a:t>
            </a:r>
            <a:endParaRPr lang="es-CO" sz="2600" dirty="0"/>
          </a:p>
        </p:txBody>
      </p:sp>
      <p:sp>
        <p:nvSpPr>
          <p:cNvPr id="19" name="Texto 19"/>
          <p:cNvSpPr txBox="1"/>
          <p:nvPr/>
        </p:nvSpPr>
        <p:spPr>
          <a:xfrm>
            <a:off x="1234440" y="6675120"/>
            <a:ext cx="61722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dirty="0">
                <a:solidFill>
                  <a:srgbClr val="2E2A33"/>
                </a:solidFill>
              </a:rPr>
              <a:t>La anemia preoperatoria, la pérdida sanguínea y la anemia iatrogénica son modificables con programas de manejo de la sangre del paciente</a:t>
            </a:r>
            <a:r>
              <a:rPr lang="es-CO" sz="1400" dirty="0">
                <a:solidFill>
                  <a:srgbClr val="6E6577"/>
                </a:solidFill>
              </a:rPr>
              <a:t xml:space="preserve"> (1,19)</a:t>
            </a:r>
            <a:r>
              <a:rPr lang="es-CO" sz="1900" dirty="0">
                <a:solidFill>
                  <a:srgbClr val="2E2A33"/>
                </a:solidFill>
              </a:rPr>
              <a:t>. Conocer su frecuencia local permite priorizar acciones.</a:t>
            </a:r>
            <a:endParaRPr lang="es-CO" sz="1900" dirty="0"/>
          </a:p>
        </p:txBody>
      </p:sp>
      <p:sp>
        <p:nvSpPr>
          <p:cNvPr id="20" name="Tarjeta 20"/>
          <p:cNvSpPr/>
          <p:nvPr/>
        </p:nvSpPr>
        <p:spPr>
          <a:xfrm>
            <a:off x="7863840" y="5303520"/>
            <a:ext cx="67665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1" name="Circulo 21"/>
          <p:cNvSpPr/>
          <p:nvPr/>
        </p:nvSpPr>
        <p:spPr>
          <a:xfrm>
            <a:off x="8138160" y="5577840"/>
            <a:ext cx="914400" cy="9144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2" name="Icono database 22" descr="databas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57616" y="5797296"/>
            <a:ext cx="475488" cy="475488"/>
          </a:xfrm>
          <a:prstGeom prst="rect">
            <a:avLst/>
          </a:prstGeom>
        </p:spPr>
      </p:pic>
      <p:sp>
        <p:nvSpPr>
          <p:cNvPr id="23" name="Texto 23"/>
          <p:cNvSpPr txBox="1"/>
          <p:nvPr/>
        </p:nvSpPr>
        <p:spPr>
          <a:xfrm>
            <a:off x="9281160" y="55778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600" b="1" dirty="0">
                <a:solidFill>
                  <a:srgbClr val="80006B"/>
                </a:solidFill>
              </a:rPr>
              <a:t>Factibilidad</a:t>
            </a:r>
            <a:endParaRPr lang="es-CO" sz="2600" dirty="0"/>
          </a:p>
        </p:txBody>
      </p:sp>
      <p:sp>
        <p:nvSpPr>
          <p:cNvPr id="24" name="Texto 24"/>
          <p:cNvSpPr txBox="1"/>
          <p:nvPr/>
        </p:nvSpPr>
        <p:spPr>
          <a:xfrm>
            <a:off x="8183880" y="6675120"/>
            <a:ext cx="61722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dirty="0">
                <a:solidFill>
                  <a:srgbClr val="2E2A33"/>
                </a:solidFill>
              </a:rPr>
              <a:t>La cohorte retrospectiva aprovecha registros clínicos existentes sin interferir con la práctica habitual; es éticamente viable con salvaguardas para información sensible (Ley 23 de 1981, Resolución 8430 de 1993, Ley 1581 de 2012)</a:t>
            </a:r>
            <a:r>
              <a:rPr lang="es-CO" sz="1400" dirty="0">
                <a:solidFill>
                  <a:srgbClr val="6E6577"/>
                </a:solidFill>
              </a:rPr>
              <a:t xml:space="preserve"> (20-22)</a:t>
            </a:r>
            <a:endParaRPr lang="es-CO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VACÍO DEL CONOCIMIENTO Y PREGUNTA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4425696" cy="2103120"/>
          </a:xfrm>
          <a:prstGeom prst="roundRect">
            <a:avLst>
              <a:gd name="adj" fmla="val 6956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43000" y="2011680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filemed 7" descr="fileme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7592" y="2176272"/>
            <a:ext cx="356616" cy="356616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1965960" y="201168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En Colombia, un solo póster</a:t>
            </a:r>
            <a:endParaRPr lang="es-CO" sz="1800" dirty="0"/>
          </a:p>
        </p:txBody>
      </p:sp>
      <p:sp>
        <p:nvSpPr>
          <p:cNvPr id="9" name="Texto 9"/>
          <p:cNvSpPr txBox="1"/>
          <p:nvPr/>
        </p:nvSpPr>
        <p:spPr>
          <a:xfrm>
            <a:off x="1143000" y="2788920"/>
            <a:ext cx="3977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Fundación Cardiovascular de Colombia: 30 pacientes operados entre 2012 y 2021, con una muerte posoperatoria</a:t>
            </a:r>
            <a:r>
              <a:rPr lang="es-CO" sz="1400" dirty="0">
                <a:solidFill>
                  <a:srgbClr val="6E6577"/>
                </a:solidFill>
              </a:rPr>
              <a:t xml:space="preserve"> (15)</a:t>
            </a:r>
            <a:endParaRPr lang="es-CO" sz="1400" dirty="0"/>
          </a:p>
        </p:txBody>
      </p:sp>
      <p:sp>
        <p:nvSpPr>
          <p:cNvPr id="10" name="Tarjeta 10"/>
          <p:cNvSpPr/>
          <p:nvPr/>
        </p:nvSpPr>
        <p:spPr>
          <a:xfrm>
            <a:off x="5559552" y="1783080"/>
            <a:ext cx="4425696" cy="2103120"/>
          </a:xfrm>
          <a:prstGeom prst="roundRect">
            <a:avLst>
              <a:gd name="adj" fmla="val 6956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1" name="Circulo 11"/>
          <p:cNvSpPr/>
          <p:nvPr/>
        </p:nvSpPr>
        <p:spPr>
          <a:xfrm>
            <a:off x="5788152" y="2011680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2" name="Icono globe 12" descr="glob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2744" y="2176272"/>
            <a:ext cx="356616" cy="356616"/>
          </a:xfrm>
          <a:prstGeom prst="rect">
            <a:avLst/>
          </a:prstGeom>
        </p:spPr>
      </p:pic>
      <p:sp>
        <p:nvSpPr>
          <p:cNvPr id="13" name="Texto 13"/>
          <p:cNvSpPr txBox="1"/>
          <p:nvPr/>
        </p:nvSpPr>
        <p:spPr>
          <a:xfrm>
            <a:off x="6611112" y="201168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Evidencia no nacional</a:t>
            </a:r>
            <a:endParaRPr lang="es-CO" sz="1800" dirty="0"/>
          </a:p>
        </p:txBody>
      </p:sp>
      <p:sp>
        <p:nvSpPr>
          <p:cNvPr id="14" name="Texto 14"/>
          <p:cNvSpPr txBox="1"/>
          <p:nvPr/>
        </p:nvSpPr>
        <p:spPr>
          <a:xfrm>
            <a:off x="5788152" y="2788920"/>
            <a:ext cx="3977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La serie de Bernal y colaboradores corresponde a Santander, España, y no constituye evidencia colombiana</a:t>
            </a:r>
            <a:r>
              <a:rPr lang="es-CO" sz="1400" dirty="0">
                <a:solidFill>
                  <a:srgbClr val="6E6577"/>
                </a:solidFill>
              </a:rPr>
              <a:t xml:space="preserve"> (16)</a:t>
            </a:r>
            <a:endParaRPr lang="es-CO" sz="1400" dirty="0"/>
          </a:p>
        </p:txBody>
      </p:sp>
      <p:sp>
        <p:nvSpPr>
          <p:cNvPr id="15" name="Tarjeta 15"/>
          <p:cNvSpPr/>
          <p:nvPr/>
        </p:nvSpPr>
        <p:spPr>
          <a:xfrm>
            <a:off x="10204704" y="1783080"/>
            <a:ext cx="4425696" cy="2103120"/>
          </a:xfrm>
          <a:prstGeom prst="roundRect">
            <a:avLst>
              <a:gd name="adj" fmla="val 6956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6" name="Circulo 16"/>
          <p:cNvSpPr/>
          <p:nvPr/>
        </p:nvSpPr>
        <p:spPr>
          <a:xfrm>
            <a:off x="10433304" y="2011680"/>
            <a:ext cx="685800" cy="68580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7" name="Icono hospital 17" descr="hospita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97896" y="2176272"/>
            <a:ext cx="356616" cy="356616"/>
          </a:xfrm>
          <a:prstGeom prst="rect">
            <a:avLst/>
          </a:prstGeom>
        </p:spPr>
      </p:pic>
      <p:sp>
        <p:nvSpPr>
          <p:cNvPr id="18" name="Texto 18"/>
          <p:cNvSpPr txBox="1"/>
          <p:nvPr/>
        </p:nvSpPr>
        <p:spPr>
          <a:xfrm>
            <a:off x="11256264" y="201168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Sin datos locales</a:t>
            </a:r>
            <a:endParaRPr lang="es-CO" sz="1800" dirty="0"/>
          </a:p>
        </p:txBody>
      </p:sp>
      <p:sp>
        <p:nvSpPr>
          <p:cNvPr id="19" name="Texto 19"/>
          <p:cNvSpPr txBox="1"/>
          <p:nvPr/>
        </p:nvSpPr>
        <p:spPr>
          <a:xfrm>
            <a:off x="10433304" y="2788920"/>
            <a:ext cx="3977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 dirty="0">
                <a:solidFill>
                  <a:srgbClr val="2E2A33"/>
                </a:solidFill>
              </a:rPr>
              <a:t>No hay caracterización institucional en la Clínica General del Norte ni series publicadas en el Caribe colombiano</a:t>
            </a:r>
            <a:endParaRPr lang="es-CO" sz="1650" dirty="0"/>
          </a:p>
        </p:txBody>
      </p:sp>
      <p:sp>
        <p:nvSpPr>
          <p:cNvPr id="20" name="Pregunta 20"/>
          <p:cNvSpPr/>
          <p:nvPr/>
        </p:nvSpPr>
        <p:spPr>
          <a:xfrm>
            <a:off x="914400" y="4114800"/>
            <a:ext cx="13716000" cy="2011680"/>
          </a:xfrm>
          <a:prstGeom prst="roundRect">
            <a:avLst>
              <a:gd name="adj" fmla="val 7272"/>
            </a:avLst>
          </a:prstGeom>
          <a:solidFill>
            <a:srgbClr val="80006B"/>
          </a:solidFill>
          <a:ln>
            <a:noFill/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1" name="Circulo 21"/>
          <p:cNvSpPr/>
          <p:nvPr/>
        </p:nvSpPr>
        <p:spPr>
          <a:xfrm>
            <a:off x="1234440" y="45720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2" name="Icono question 22" descr="questi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0472" y="4828032"/>
            <a:ext cx="585216" cy="585216"/>
          </a:xfrm>
          <a:prstGeom prst="rect">
            <a:avLst/>
          </a:prstGeom>
        </p:spPr>
      </p:pic>
      <p:sp>
        <p:nvSpPr>
          <p:cNvPr id="23" name="Texto 23"/>
          <p:cNvSpPr txBox="1"/>
          <p:nvPr/>
        </p:nvSpPr>
        <p:spPr>
          <a:xfrm>
            <a:off x="2606040" y="4251960"/>
            <a:ext cx="1179576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1500" b="1" dirty="0">
                <a:solidFill>
                  <a:srgbClr val="FFB5A6"/>
                </a:solidFill>
              </a:rPr>
              <a:t>PREGUNTA DE INVESTIGACIÓN</a:t>
            </a:r>
            <a:endParaRPr lang="es-CO" sz="15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 dirty="0">
                <a:solidFill>
                  <a:srgbClr val="FFFFFF"/>
                </a:solidFill>
              </a:rPr>
              <a:t>En pacientes adultos Testigos de Jehová con rechazo transfusional documentado sometidos a cirugía cardiaca mayor en la Clínica General del Norte de Barranquilla entre 2020 y 2025, ¿cuál es la frecuencia de complicación mayor o muerte intrahospitalaria y cómo se distribuyen los desenlaces según el tipo de procedimiento?</a:t>
            </a:r>
            <a:endParaRPr lang="es-CO" sz="1900" dirty="0"/>
          </a:p>
        </p:txBody>
      </p:sp>
      <p:sp>
        <p:nvSpPr>
          <p:cNvPr id="24" name="Tarjeta 24"/>
          <p:cNvSpPr/>
          <p:nvPr/>
        </p:nvSpPr>
        <p:spPr>
          <a:xfrm>
            <a:off x="914400" y="6355080"/>
            <a:ext cx="676656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5" name="Numero 25"/>
          <p:cNvSpPr/>
          <p:nvPr/>
        </p:nvSpPr>
        <p:spPr>
          <a:xfrm>
            <a:off x="1188720" y="6583680"/>
            <a:ext cx="868680" cy="86868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80006B"/>
                </a:solidFill>
              </a:rPr>
              <a:t>H₀</a:t>
            </a:r>
            <a:endParaRPr lang="es-CO" sz="2400" dirty="0"/>
          </a:p>
        </p:txBody>
      </p:sp>
      <p:sp>
        <p:nvSpPr>
          <p:cNvPr id="26" name="Texto 26"/>
          <p:cNvSpPr txBox="1"/>
          <p:nvPr/>
        </p:nvSpPr>
        <p:spPr>
          <a:xfrm>
            <a:off x="2240280" y="6537960"/>
            <a:ext cx="525780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Hipótesis nula</a:t>
            </a:r>
            <a:endParaRPr lang="es-CO" sz="19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La proporción de pacientes con el desenlace primario compuesto (complicación mayor o muerte intrahospitalaria) es igual en revascularización coronaria, cirugía valvular y cirugía combinada.</a:t>
            </a:r>
            <a:endParaRPr lang="es-CO" sz="1600" dirty="0"/>
          </a:p>
        </p:txBody>
      </p:sp>
      <p:sp>
        <p:nvSpPr>
          <p:cNvPr id="27" name="Tarjeta 27"/>
          <p:cNvSpPr/>
          <p:nvPr/>
        </p:nvSpPr>
        <p:spPr>
          <a:xfrm>
            <a:off x="7863840" y="6355080"/>
            <a:ext cx="676656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8" name="Numero 28"/>
          <p:cNvSpPr/>
          <p:nvPr/>
        </p:nvSpPr>
        <p:spPr>
          <a:xfrm>
            <a:off x="8138160" y="6583680"/>
            <a:ext cx="868680" cy="868680"/>
          </a:xfrm>
          <a:prstGeom prst="ellipse">
            <a:avLst/>
          </a:prstGeom>
          <a:solidFill>
            <a:srgbClr val="EEDA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80006B"/>
                </a:solidFill>
              </a:rPr>
              <a:t>H₁</a:t>
            </a:r>
            <a:endParaRPr lang="es-CO" sz="2400" dirty="0"/>
          </a:p>
        </p:txBody>
      </p:sp>
      <p:sp>
        <p:nvSpPr>
          <p:cNvPr id="29" name="Texto 29"/>
          <p:cNvSpPr txBox="1"/>
          <p:nvPr/>
        </p:nvSpPr>
        <p:spPr>
          <a:xfrm>
            <a:off x="9189720" y="6537960"/>
            <a:ext cx="525780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Hipótesis alternativa</a:t>
            </a:r>
            <a:endParaRPr lang="es-CO" sz="19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rgbClr val="2E2A33"/>
                </a:solidFill>
              </a:rPr>
              <a:t>La proporción de pacientes con el desenlace primario compuesto difiere en al menos uno de los tres tipos de cirugía.</a:t>
            </a:r>
            <a:endParaRPr lang="es-CO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¿QUÉ DICE LA EVIDENCIA?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6675120" cy="6858000"/>
          </a:xfrm>
          <a:prstGeom prst="roundRect">
            <a:avLst>
              <a:gd name="adj" fmla="val 2191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88720" y="2011680"/>
            <a:ext cx="777240" cy="77724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scale 7" descr="scal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5258" y="2198218"/>
            <a:ext cx="404165" cy="404165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2148840" y="196596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80006B"/>
                </a:solidFill>
              </a:rPr>
              <a:t>Mortalidad temprana: sin diferencia estadísticamente significativa</a:t>
            </a:r>
            <a:endParaRPr lang="es-CO" sz="2000" dirty="0"/>
          </a:p>
        </p:txBody>
      </p:sp>
      <p:sp>
        <p:nvSpPr>
          <p:cNvPr id="9" name="Fila 9"/>
          <p:cNvSpPr/>
          <p:nvPr/>
        </p:nvSpPr>
        <p:spPr>
          <a:xfrm>
            <a:off x="1188720" y="3063240"/>
            <a:ext cx="61264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0" name="Texto 10"/>
          <p:cNvSpPr txBox="1"/>
          <p:nvPr/>
        </p:nvSpPr>
        <p:spPr>
          <a:xfrm>
            <a:off x="1371600" y="310896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2E2A33"/>
                </a:solidFill>
              </a:rPr>
              <a:t>Metaanálisis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780 vs. 1.182 pacientes</a:t>
            </a:r>
            <a:r>
              <a:rPr lang="es-CO" sz="1300" dirty="0">
                <a:solidFill>
                  <a:srgbClr val="6E6577"/>
                </a:solidFill>
              </a:rPr>
              <a:t xml:space="preserve"> (7)</a:t>
            </a:r>
            <a:endParaRPr lang="es-CO" sz="1300" dirty="0"/>
          </a:p>
        </p:txBody>
      </p:sp>
      <p:sp>
        <p:nvSpPr>
          <p:cNvPr id="11" name="Texto 11"/>
          <p:cNvSpPr txBox="1"/>
          <p:nvPr/>
        </p:nvSpPr>
        <p:spPr>
          <a:xfrm>
            <a:off x="4480560" y="310896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OR 0,91</a:t>
            </a:r>
            <a:endParaRPr lang="es-CO" sz="2200" dirty="0"/>
          </a:p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6E6577"/>
                </a:solidFill>
              </a:rPr>
              <a:t>IC 95 %: 0,55–1,52</a:t>
            </a:r>
            <a:endParaRPr lang="es-CO" sz="1300" dirty="0"/>
          </a:p>
        </p:txBody>
      </p:sp>
      <p:sp>
        <p:nvSpPr>
          <p:cNvPr id="12" name="Fila 12"/>
          <p:cNvSpPr/>
          <p:nvPr/>
        </p:nvSpPr>
        <p:spPr>
          <a:xfrm>
            <a:off x="1188720" y="4160520"/>
            <a:ext cx="61264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3" name="Texto 13"/>
          <p:cNvSpPr txBox="1"/>
          <p:nvPr/>
        </p:nvSpPr>
        <p:spPr>
          <a:xfrm>
            <a:off x="1371600" y="42062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2E2A33"/>
                </a:solidFill>
              </a:rPr>
              <a:t>Metaanálisis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950 vs. 1.352 pacientes</a:t>
            </a:r>
            <a:r>
              <a:rPr lang="es-CO" sz="1300" dirty="0">
                <a:solidFill>
                  <a:srgbClr val="6E6577"/>
                </a:solidFill>
              </a:rPr>
              <a:t xml:space="preserve"> (8)</a:t>
            </a:r>
            <a:endParaRPr lang="es-CO" sz="1300" dirty="0"/>
          </a:p>
        </p:txBody>
      </p:sp>
      <p:sp>
        <p:nvSpPr>
          <p:cNvPr id="14" name="Texto 14"/>
          <p:cNvSpPr txBox="1"/>
          <p:nvPr/>
        </p:nvSpPr>
        <p:spPr>
          <a:xfrm>
            <a:off x="4480560" y="420624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OR 1,13</a:t>
            </a:r>
            <a:endParaRPr lang="es-CO" sz="2200" dirty="0"/>
          </a:p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6E6577"/>
                </a:solidFill>
              </a:rPr>
              <a:t>IC 95 %: 0,74–1,73</a:t>
            </a:r>
            <a:endParaRPr lang="es-CO" sz="1300" dirty="0"/>
          </a:p>
        </p:txBody>
      </p:sp>
      <p:sp>
        <p:nvSpPr>
          <p:cNvPr id="15" name="Fila 15"/>
          <p:cNvSpPr/>
          <p:nvPr/>
        </p:nvSpPr>
        <p:spPr>
          <a:xfrm>
            <a:off x="1188720" y="5257800"/>
            <a:ext cx="61264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6" name="Texto 16"/>
          <p:cNvSpPr txBox="1"/>
          <p:nvPr/>
        </p:nvSpPr>
        <p:spPr>
          <a:xfrm>
            <a:off x="1371600" y="530352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2E2A33"/>
                </a:solidFill>
              </a:rPr>
              <a:t>Cohorte emparejada por propensión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322 vs. 322 pacientes</a:t>
            </a:r>
            <a:r>
              <a:rPr lang="es-CO" sz="1300" dirty="0">
                <a:solidFill>
                  <a:srgbClr val="6E6577"/>
                </a:solidFill>
              </a:rPr>
              <a:t xml:space="preserve"> (9)</a:t>
            </a:r>
            <a:endParaRPr lang="es-CO" sz="1300" dirty="0"/>
          </a:p>
        </p:txBody>
      </p:sp>
      <p:sp>
        <p:nvSpPr>
          <p:cNvPr id="17" name="Texto 17"/>
          <p:cNvSpPr txBox="1"/>
          <p:nvPr/>
        </p:nvSpPr>
        <p:spPr>
          <a:xfrm>
            <a:off x="4480560" y="530352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3,1 % vs. 4,3 %</a:t>
            </a:r>
            <a:endParaRPr lang="es-CO" sz="2200" dirty="0"/>
          </a:p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6E6577"/>
                </a:solidFill>
              </a:rPr>
              <a:t>mortalidad hospitalaria</a:t>
            </a:r>
            <a:endParaRPr lang="es-CO" sz="1300" dirty="0"/>
          </a:p>
        </p:txBody>
      </p:sp>
      <p:sp>
        <p:nvSpPr>
          <p:cNvPr id="18" name="Fila 18"/>
          <p:cNvSpPr/>
          <p:nvPr/>
        </p:nvSpPr>
        <p:spPr>
          <a:xfrm>
            <a:off x="1188720" y="6355080"/>
            <a:ext cx="61264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9" name="Texto 19"/>
          <p:cNvSpPr txBox="1"/>
          <p:nvPr/>
        </p:nvSpPr>
        <p:spPr>
          <a:xfrm>
            <a:off x="1371600" y="640080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2E2A33"/>
                </a:solidFill>
              </a:rPr>
              <a:t>Serie de centro especializado</a:t>
            </a:r>
            <a:endParaRPr lang="es-CO" sz="16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6E6577"/>
                </a:solidFill>
              </a:rPr>
              <a:t>329 procedimientos</a:t>
            </a:r>
            <a:r>
              <a:rPr lang="es-CO" sz="1300" dirty="0">
                <a:solidFill>
                  <a:srgbClr val="6E6577"/>
                </a:solidFill>
              </a:rPr>
              <a:t xml:space="preserve"> (10)</a:t>
            </a:r>
            <a:endParaRPr lang="es-CO" sz="1300" dirty="0"/>
          </a:p>
        </p:txBody>
      </p:sp>
      <p:sp>
        <p:nvSpPr>
          <p:cNvPr id="20" name="Texto 20"/>
          <p:cNvSpPr txBox="1"/>
          <p:nvPr/>
        </p:nvSpPr>
        <p:spPr>
          <a:xfrm>
            <a:off x="4480560" y="640080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0,6 %</a:t>
            </a:r>
            <a:endParaRPr lang="es-CO" sz="2200" dirty="0"/>
          </a:p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dirty="0">
                <a:solidFill>
                  <a:srgbClr val="6E6577"/>
                </a:solidFill>
              </a:rPr>
              <a:t>mortalidad</a:t>
            </a:r>
            <a:endParaRPr lang="es-CO" sz="1300" dirty="0"/>
          </a:p>
        </p:txBody>
      </p:sp>
      <p:pic>
        <p:nvPicPr>
          <p:cNvPr id="21" name="Icono warn 21" descr="war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" y="7571232"/>
            <a:ext cx="457200" cy="457200"/>
          </a:xfrm>
          <a:prstGeom prst="rect">
            <a:avLst/>
          </a:prstGeom>
        </p:spPr>
      </p:pic>
      <p:sp>
        <p:nvSpPr>
          <p:cNvPr id="22" name="Texto 22"/>
          <p:cNvSpPr txBox="1"/>
          <p:nvPr/>
        </p:nvSpPr>
        <p:spPr>
          <a:xfrm>
            <a:off x="1828800" y="7498080"/>
            <a:ext cx="5577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rgbClr val="2E2A33"/>
                </a:solidFill>
              </a:rPr>
              <a:t xml:space="preserve">Estudios observacionales, centros seleccionados y definiciones no uniformes: </a:t>
            </a:r>
            <a:r>
              <a:rPr lang="es-CO" sz="1400" b="1" dirty="0">
                <a:solidFill>
                  <a:srgbClr val="2E2A33"/>
                </a:solidFill>
              </a:rPr>
              <a:t>sin diferencia significativa no equivale a equivalencia</a:t>
            </a:r>
            <a:r>
              <a:rPr lang="es-CO" sz="1300" dirty="0">
                <a:solidFill>
                  <a:srgbClr val="6E6577"/>
                </a:solidFill>
              </a:rPr>
              <a:t xml:space="preserve"> (7,8,11).</a:t>
            </a:r>
            <a:endParaRPr lang="es-CO" sz="1300" dirty="0"/>
          </a:p>
        </p:txBody>
      </p:sp>
      <p:sp>
        <p:nvSpPr>
          <p:cNvPr id="23" name="Tarjeta 23"/>
          <p:cNvSpPr/>
          <p:nvPr/>
        </p:nvSpPr>
        <p:spPr>
          <a:xfrm>
            <a:off x="7955280" y="1783080"/>
            <a:ext cx="6675120" cy="6858000"/>
          </a:xfrm>
          <a:prstGeom prst="roundRect">
            <a:avLst>
              <a:gd name="adj" fmla="val 2191"/>
            </a:avLst>
          </a:prstGeom>
          <a:solidFill>
            <a:srgbClr val="FFEDE8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4" name="Circulo 24"/>
          <p:cNvSpPr/>
          <p:nvPr/>
        </p:nvSpPr>
        <p:spPr>
          <a:xfrm>
            <a:off x="8229600" y="2011680"/>
            <a:ext cx="777240" cy="77724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5" name="Icono heartcrack 25" descr="heartcrack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6138" y="2198218"/>
            <a:ext cx="404165" cy="404165"/>
          </a:xfrm>
          <a:prstGeom prst="rect">
            <a:avLst/>
          </a:prstGeom>
        </p:spPr>
      </p:pic>
      <p:sp>
        <p:nvSpPr>
          <p:cNvPr id="26" name="Texto 26"/>
          <p:cNvSpPr txBox="1"/>
          <p:nvPr/>
        </p:nvSpPr>
        <p:spPr>
          <a:xfrm>
            <a:off x="9189720" y="196596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rgbClr val="B8361C"/>
                </a:solidFill>
              </a:rPr>
              <a:t>Pero el riesgo no desaparece</a:t>
            </a:r>
            <a:endParaRPr lang="es-CO" sz="2200" dirty="0"/>
          </a:p>
        </p:txBody>
      </p:sp>
      <p:sp>
        <p:nvSpPr>
          <p:cNvPr id="27" name="Fila 27"/>
          <p:cNvSpPr/>
          <p:nvPr/>
        </p:nvSpPr>
        <p:spPr>
          <a:xfrm>
            <a:off x="8229600" y="3063240"/>
            <a:ext cx="61264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8" name="Texto 28"/>
          <p:cNvSpPr txBox="1"/>
          <p:nvPr/>
        </p:nvSpPr>
        <p:spPr>
          <a:xfrm>
            <a:off x="8458200" y="3154680"/>
            <a:ext cx="5715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Hematocrito posoperatorio &lt; 21 %</a:t>
            </a:r>
            <a:endParaRPr lang="es-CO" sz="19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Mayor mortalidad a 30 días, 90 días y 1 año en 48 pacientes operados con circulación extracorpórea</a:t>
            </a:r>
            <a:r>
              <a:rPr lang="es-CO" sz="1300" dirty="0">
                <a:solidFill>
                  <a:srgbClr val="6E6577"/>
                </a:solidFill>
              </a:rPr>
              <a:t xml:space="preserve"> (12)</a:t>
            </a:r>
            <a:endParaRPr lang="es-CO" sz="1300" dirty="0"/>
          </a:p>
        </p:txBody>
      </p:sp>
      <p:sp>
        <p:nvSpPr>
          <p:cNvPr id="29" name="Fila 29"/>
          <p:cNvSpPr/>
          <p:nvPr/>
        </p:nvSpPr>
        <p:spPr>
          <a:xfrm>
            <a:off x="8229600" y="4663440"/>
            <a:ext cx="61264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0" name="Texto 30"/>
          <p:cNvSpPr txBox="1"/>
          <p:nvPr/>
        </p:nvSpPr>
        <p:spPr>
          <a:xfrm>
            <a:off x="8458200" y="4754880"/>
            <a:ext cx="5715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900" b="1" dirty="0">
                <a:solidFill>
                  <a:srgbClr val="80006B"/>
                </a:solidFill>
              </a:rPr>
              <a:t>Hemoglobina mínima &lt; 7,1–8,0 g/dL</a:t>
            </a:r>
            <a:endParaRPr lang="es-CO" sz="19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dirty="0">
                <a:solidFill>
                  <a:srgbClr val="2E2A33"/>
                </a:solidFill>
              </a:rPr>
              <a:t>La mortalidad aumenta progresivamente por debajo de ese valor en quienes rechazan la transfusión</a:t>
            </a:r>
            <a:r>
              <a:rPr lang="es-CO" sz="1300" dirty="0">
                <a:solidFill>
                  <a:srgbClr val="6E6577"/>
                </a:solidFill>
              </a:rPr>
              <a:t xml:space="preserve"> (13)</a:t>
            </a:r>
            <a:endParaRPr lang="es-CO" sz="1300" dirty="0"/>
          </a:p>
        </p:txBody>
      </p:sp>
      <p:sp>
        <p:nvSpPr>
          <p:cNvPr id="31" name="Fila 31"/>
          <p:cNvSpPr/>
          <p:nvPr/>
        </p:nvSpPr>
        <p:spPr>
          <a:xfrm>
            <a:off x="8229600" y="6355080"/>
            <a:ext cx="6126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2" name="Texto 32"/>
          <p:cNvSpPr txBox="1"/>
          <p:nvPr/>
        </p:nvSpPr>
        <p:spPr>
          <a:xfrm>
            <a:off x="8458200" y="6464808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2E2A33"/>
                </a:solidFill>
              </a:rPr>
              <a:t>Mortalidad a 30 días según urgencia</a:t>
            </a:r>
            <a:r>
              <a:rPr lang="es-CO" sz="1300" dirty="0">
                <a:solidFill>
                  <a:srgbClr val="6E6577"/>
                </a:solidFill>
              </a:rPr>
              <a:t xml:space="preserve"> (cohorte japonesa, 14)</a:t>
            </a:r>
            <a:endParaRPr lang="es-CO" sz="1300" dirty="0"/>
          </a:p>
        </p:txBody>
      </p:sp>
      <p:sp>
        <p:nvSpPr>
          <p:cNvPr id="33" name="Texto 33"/>
          <p:cNvSpPr txBox="1"/>
          <p:nvPr/>
        </p:nvSpPr>
        <p:spPr>
          <a:xfrm>
            <a:off x="8458200" y="70866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2E2A33"/>
                </a:solidFill>
              </a:rPr>
              <a:t>Emergente</a:t>
            </a:r>
            <a:endParaRPr lang="es-CO" sz="1500" dirty="0"/>
          </a:p>
        </p:txBody>
      </p:sp>
      <p:sp>
        <p:nvSpPr>
          <p:cNvPr id="34" name="Barra 34"/>
          <p:cNvSpPr/>
          <p:nvPr/>
        </p:nvSpPr>
        <p:spPr>
          <a:xfrm>
            <a:off x="9829800" y="7132320"/>
            <a:ext cx="3566160" cy="384048"/>
          </a:xfrm>
          <a:prstGeom prst="rect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5" name="Texto 35"/>
          <p:cNvSpPr txBox="1"/>
          <p:nvPr/>
        </p:nvSpPr>
        <p:spPr>
          <a:xfrm>
            <a:off x="13505688" y="70866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FF5F3F"/>
                </a:solidFill>
              </a:rPr>
              <a:t>42,9 %</a:t>
            </a:r>
            <a:endParaRPr lang="es-CO" sz="1800" dirty="0"/>
          </a:p>
        </p:txBody>
      </p:sp>
      <p:sp>
        <p:nvSpPr>
          <p:cNvPr id="36" name="Texto 36"/>
          <p:cNvSpPr txBox="1"/>
          <p:nvPr/>
        </p:nvSpPr>
        <p:spPr>
          <a:xfrm>
            <a:off x="8458200" y="772668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2E2A33"/>
                </a:solidFill>
              </a:rPr>
              <a:t>Electiva</a:t>
            </a:r>
            <a:endParaRPr lang="es-CO" sz="1500" dirty="0"/>
          </a:p>
        </p:txBody>
      </p:sp>
      <p:sp>
        <p:nvSpPr>
          <p:cNvPr id="37" name="Barra 37"/>
          <p:cNvSpPr/>
          <p:nvPr/>
        </p:nvSpPr>
        <p:spPr>
          <a:xfrm>
            <a:off x="9829800" y="7772400"/>
            <a:ext cx="241069" cy="384048"/>
          </a:xfrm>
          <a:prstGeom prst="rect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38" name="Texto 38"/>
          <p:cNvSpPr txBox="1"/>
          <p:nvPr/>
        </p:nvSpPr>
        <p:spPr>
          <a:xfrm>
            <a:off x="10180597" y="7726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rgbClr val="80006B"/>
                </a:solidFill>
              </a:rPr>
              <a:t>2,9 %</a:t>
            </a:r>
            <a:endParaRPr lang="es-CO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78206E"/>
                </a:solidFill>
              </a:rPr>
              <a:t>PLANTEAMIENTO DEL PROBLEMA</a:t>
            </a:r>
          </a:p>
        </p:txBody>
      </p:sp>
      <p:pic>
        <p:nvPicPr>
          <p:cNvPr id="4" name="Logo Clínica General del Norte" descr="Logo Clínica General del Nor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44" y="9129252"/>
            <a:ext cx="1581150" cy="735473"/>
          </a:xfrm>
          <a:prstGeom prst="rect">
            <a:avLst/>
          </a:prstGeom>
        </p:spPr>
      </p:pic>
      <p:sp>
        <p:nvSpPr>
          <p:cNvPr id="5" name="Tarjeta 5"/>
          <p:cNvSpPr/>
          <p:nvPr/>
        </p:nvSpPr>
        <p:spPr>
          <a:xfrm>
            <a:off x="914400" y="1783080"/>
            <a:ext cx="8503920" cy="1600200"/>
          </a:xfrm>
          <a:prstGeom prst="roundRect">
            <a:avLst>
              <a:gd name="adj" fmla="val 9142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6" name="Circulo 6"/>
          <p:cNvSpPr/>
          <p:nvPr/>
        </p:nvSpPr>
        <p:spPr>
          <a:xfrm>
            <a:off x="1188720" y="2148840"/>
            <a:ext cx="868680" cy="868680"/>
          </a:xfrm>
          <a:prstGeom prst="ellipse">
            <a:avLst/>
          </a:prstGeom>
          <a:solidFill>
            <a:srgbClr val="80006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7" name="Icono heartpulse 7" descr="heartpuls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203" y="2357323"/>
            <a:ext cx="451714" cy="451714"/>
          </a:xfrm>
          <a:prstGeom prst="rect">
            <a:avLst/>
          </a:prstGeom>
        </p:spPr>
      </p:pic>
      <p:sp>
        <p:nvSpPr>
          <p:cNvPr id="8" name="Texto 8"/>
          <p:cNvSpPr txBox="1"/>
          <p:nvPr/>
        </p:nvSpPr>
        <p:spPr>
          <a:xfrm>
            <a:off x="2331720" y="1920240"/>
            <a:ext cx="6858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Cirugía cardiaca mayor</a:t>
            </a:r>
            <a:endParaRPr lang="es-CO" sz="22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Riesgo de hemorragia, hemodilución y alteraciones de la hemostasia, con anemia aguda, disfunción orgánica y muerte; modificado por la complejidad del procedimiento y la condición basal del paciente</a:t>
            </a:r>
            <a:r>
              <a:rPr lang="es-CO" sz="1400" dirty="0">
                <a:solidFill>
                  <a:srgbClr val="6E6577"/>
                </a:solidFill>
              </a:rPr>
              <a:t xml:space="preserve"> (1,2)</a:t>
            </a:r>
            <a:endParaRPr lang="es-CO" sz="1400" dirty="0"/>
          </a:p>
        </p:txBody>
      </p:sp>
      <p:sp>
        <p:nvSpPr>
          <p:cNvPr id="9" name="Tarjeta 9"/>
          <p:cNvSpPr/>
          <p:nvPr/>
        </p:nvSpPr>
        <p:spPr>
          <a:xfrm>
            <a:off x="914400" y="3611880"/>
            <a:ext cx="8503920" cy="2788920"/>
          </a:xfrm>
          <a:prstGeom prst="roundRect">
            <a:avLst>
              <a:gd name="adj" fmla="val 5245"/>
            </a:avLst>
          </a:prstGeom>
          <a:solidFill>
            <a:srgbClr val="F8EFF6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0" name="Circulo 10"/>
          <p:cNvSpPr/>
          <p:nvPr/>
        </p:nvSpPr>
        <p:spPr>
          <a:xfrm>
            <a:off x="1188720" y="3886200"/>
            <a:ext cx="868680" cy="86868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11" name="Icono dropslash 11" descr="dropslash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203" y="4094683"/>
            <a:ext cx="451714" cy="451714"/>
          </a:xfrm>
          <a:prstGeom prst="rect">
            <a:avLst/>
          </a:prstGeom>
        </p:spPr>
      </p:pic>
      <p:sp>
        <p:nvSpPr>
          <p:cNvPr id="12" name="Texto 12"/>
          <p:cNvSpPr txBox="1"/>
          <p:nvPr/>
        </p:nvSpPr>
        <p:spPr>
          <a:xfrm>
            <a:off x="2331720" y="379476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200" b="1" dirty="0">
                <a:solidFill>
                  <a:srgbClr val="80006B"/>
                </a:solidFill>
              </a:rPr>
              <a:t>Pacientes Testigos de Jehová</a:t>
            </a:r>
            <a:endParaRPr lang="es-CO" sz="2200" dirty="0"/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Rechazan la transfusión de glóbulos rojos, plasma y plaquetas: el equipo debe acordar antes las intervenciones aceptables para cada persona y planear el manejo de la sangre del paciente</a:t>
            </a:r>
            <a:r>
              <a:rPr lang="es-CO" sz="1400" dirty="0">
                <a:solidFill>
                  <a:srgbClr val="6E6577"/>
                </a:solidFill>
              </a:rPr>
              <a:t xml:space="preserve"> (3,4)</a:t>
            </a:r>
            <a:endParaRPr lang="es-CO" sz="1400" dirty="0"/>
          </a:p>
        </p:txBody>
      </p:sp>
      <p:sp>
        <p:nvSpPr>
          <p:cNvPr id="13" name="Forma 13"/>
          <p:cNvSpPr/>
          <p:nvPr/>
        </p:nvSpPr>
        <p:spPr>
          <a:xfrm>
            <a:off x="1188720" y="5440680"/>
            <a:ext cx="25146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Optimización preoperatoria de la hemoglobina</a:t>
            </a:r>
            <a:endParaRPr lang="es-CO" sz="1500" dirty="0"/>
          </a:p>
        </p:txBody>
      </p:sp>
      <p:sp>
        <p:nvSpPr>
          <p:cNvPr id="14" name="Forma 14"/>
          <p:cNvSpPr/>
          <p:nvPr/>
        </p:nvSpPr>
        <p:spPr>
          <a:xfrm>
            <a:off x="3886200" y="5440680"/>
            <a:ext cx="25146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Hemostasia intraoperatoria</a:t>
            </a:r>
            <a:endParaRPr lang="es-CO" sz="1500" dirty="0"/>
          </a:p>
        </p:txBody>
      </p:sp>
      <p:sp>
        <p:nvSpPr>
          <p:cNvPr id="15" name="Forma 15"/>
          <p:cNvSpPr/>
          <p:nvPr/>
        </p:nvSpPr>
        <p:spPr>
          <a:xfrm>
            <a:off x="6583680" y="5440680"/>
            <a:ext cx="25146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dirty="0">
                <a:solidFill>
                  <a:srgbClr val="80006B"/>
                </a:solidFill>
              </a:rPr>
              <a:t>Reducción de pérdidas posoperatorias</a:t>
            </a:r>
            <a:endParaRPr lang="es-CO" sz="1500" dirty="0"/>
          </a:p>
        </p:txBody>
      </p:sp>
      <p:sp>
        <p:nvSpPr>
          <p:cNvPr id="16" name="Tarjeta 16"/>
          <p:cNvSpPr/>
          <p:nvPr/>
        </p:nvSpPr>
        <p:spPr>
          <a:xfrm>
            <a:off x="9692640" y="1783080"/>
            <a:ext cx="4937760" cy="2194560"/>
          </a:xfrm>
          <a:prstGeom prst="roundRect">
            <a:avLst>
              <a:gd name="adj" fmla="val 6666"/>
            </a:avLst>
          </a:prstGeom>
          <a:solidFill>
            <a:srgbClr val="80006B"/>
          </a:solidFill>
          <a:ln>
            <a:noFill/>
          </a:ln>
          <a:effectLst>
            <a:outerShdw blurRad="190500" dist="50800" dir="5400000" algn="t" rotWithShape="0">
              <a:srgbClr val="80006B">
                <a:alpha val="14000"/>
              </a:srgbClr>
            </a:outerShdw>
          </a:effectLst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17" name="Texto 17"/>
          <p:cNvSpPr txBox="1"/>
          <p:nvPr/>
        </p:nvSpPr>
        <p:spPr>
          <a:xfrm>
            <a:off x="9966960" y="201168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400" b="1" dirty="0">
                <a:solidFill>
                  <a:srgbClr val="FFFFFF"/>
                </a:solidFill>
              </a:rPr>
              <a:t>9.205.326</a:t>
            </a:r>
            <a:endParaRPr lang="es-CO" sz="5400" dirty="0"/>
          </a:p>
        </p:txBody>
      </p:sp>
      <p:sp>
        <p:nvSpPr>
          <p:cNvPr id="18" name="Texto 18"/>
          <p:cNvSpPr txBox="1"/>
          <p:nvPr/>
        </p:nvSpPr>
        <p:spPr>
          <a:xfrm>
            <a:off x="9966960" y="2926080"/>
            <a:ext cx="4389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FFFFFF"/>
                </a:solidFill>
              </a:rPr>
              <a:t>Testigos de Jehová en el mundo (informe 2025)</a:t>
            </a:r>
            <a:r>
              <a:rPr lang="es-CO" sz="1400" dirty="0">
                <a:solidFill>
                  <a:srgbClr val="FFB5A6"/>
                </a:solidFill>
              </a:rPr>
              <a:t xml:space="preserve"> (5)</a:t>
            </a:r>
            <a:endParaRPr lang="es-CO" sz="1400" dirty="0"/>
          </a:p>
        </p:txBody>
      </p:sp>
      <p:sp>
        <p:nvSpPr>
          <p:cNvPr id="19" name="Tarjeta 19"/>
          <p:cNvSpPr/>
          <p:nvPr/>
        </p:nvSpPr>
        <p:spPr>
          <a:xfrm>
            <a:off x="9692640" y="4206240"/>
            <a:ext cx="4937760" cy="2194560"/>
          </a:xfrm>
          <a:prstGeom prst="roundRect">
            <a:avLst>
              <a:gd name="adj" fmla="val 6666"/>
            </a:avLst>
          </a:prstGeom>
          <a:solidFill>
            <a:srgbClr val="EEDAEB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0" name="Texto 20"/>
          <p:cNvSpPr txBox="1"/>
          <p:nvPr/>
        </p:nvSpPr>
        <p:spPr>
          <a:xfrm>
            <a:off x="9966960" y="443484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 b="1" dirty="0">
                <a:solidFill>
                  <a:srgbClr val="80006B"/>
                </a:solidFill>
              </a:rPr>
              <a:t>1 de cada 274</a:t>
            </a:r>
            <a:endParaRPr lang="es-CO" sz="4800" dirty="0"/>
          </a:p>
        </p:txBody>
      </p:sp>
      <p:sp>
        <p:nvSpPr>
          <p:cNvPr id="21" name="Texto 21"/>
          <p:cNvSpPr txBox="1"/>
          <p:nvPr/>
        </p:nvSpPr>
        <p:spPr>
          <a:xfrm>
            <a:off x="9966960" y="5349240"/>
            <a:ext cx="4389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solidFill>
                  <a:srgbClr val="2E2A33"/>
                </a:solidFill>
              </a:rPr>
              <a:t>habitantes en Colombia es Testigo de Jehová</a:t>
            </a:r>
            <a:r>
              <a:rPr lang="es-CO" sz="1400" dirty="0">
                <a:solidFill>
                  <a:srgbClr val="6E6577"/>
                </a:solidFill>
              </a:rPr>
              <a:t xml:space="preserve"> (6)</a:t>
            </a:r>
            <a:endParaRPr lang="es-CO" sz="1400" dirty="0"/>
          </a:p>
        </p:txBody>
      </p:sp>
      <p:sp>
        <p:nvSpPr>
          <p:cNvPr id="22" name="Banda 22"/>
          <p:cNvSpPr/>
          <p:nvPr/>
        </p:nvSpPr>
        <p:spPr>
          <a:xfrm>
            <a:off x="914400" y="6675120"/>
            <a:ext cx="1371600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9050">
            <a:solidFill>
              <a:srgbClr val="E2C3DD"/>
            </a:solidFill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sp>
        <p:nvSpPr>
          <p:cNvPr id="23" name="Circulo 23"/>
          <p:cNvSpPr/>
          <p:nvPr/>
        </p:nvSpPr>
        <p:spPr>
          <a:xfrm>
            <a:off x="1234440" y="7104888"/>
            <a:ext cx="914400" cy="914400"/>
          </a:xfrm>
          <a:prstGeom prst="ellipse">
            <a:avLst/>
          </a:prstGeom>
          <a:solidFill>
            <a:srgbClr val="FF5F3F"/>
          </a:solidFill>
          <a:ln>
            <a:noFill/>
          </a:ln>
        </p:spPr>
        <p:txBody>
          <a:bodyPr wrap="square" lIns="91440" tIns="54864" rIns="91440" bIns="54864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2E2A33"/>
                </a:solidFill>
              </a:rPr>
              <a:t/>
            </a:r>
            <a:endParaRPr lang="es-CO" sz="1200" dirty="0"/>
          </a:p>
        </p:txBody>
      </p:sp>
      <p:pic>
        <p:nvPicPr>
          <p:cNvPr id="24" name="Icono warn 24" descr="war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3896" y="7324344"/>
            <a:ext cx="475488" cy="475488"/>
          </a:xfrm>
          <a:prstGeom prst="rect">
            <a:avLst/>
          </a:prstGeom>
        </p:spPr>
      </p:pic>
      <p:sp>
        <p:nvSpPr>
          <p:cNvPr id="25" name="Texto 25"/>
          <p:cNvSpPr txBox="1"/>
          <p:nvPr/>
        </p:nvSpPr>
        <p:spPr>
          <a:xfrm>
            <a:off x="2468880" y="6766560"/>
            <a:ext cx="11887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dirty="0">
                <a:solidFill>
                  <a:srgbClr val="2E2A33"/>
                </a:solidFill>
              </a:rPr>
              <a:t xml:space="preserve">Una institución de referencia cardiovascular del Caribe colombiano atiende de manera recurrente a esta población, </a:t>
            </a:r>
            <a:r>
              <a:rPr lang="es-CO" sz="2100" b="1" dirty="0">
                <a:solidFill>
                  <a:srgbClr val="80006B"/>
                </a:solidFill>
              </a:rPr>
              <a:t>sin un registro que permita dimensionar sus resultados.</a:t>
            </a:r>
            <a:endParaRPr lang="es-CO" sz="2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6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BGORIGWIDTH" val="431,5"/>
  <p:tag name="TBGORIGHEIGHT" val="91,5"/>
  <p:tag name="TBGORIGTOP" val="487,2536"/>
  <p:tag name="TBGORIGLEFT" val="52,1707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BGORIGWIDTH" val="0"/>
  <p:tag name="TBGORIGHEIGHT" val="98,28567"/>
  <p:tag name="TBGORIGTOP" val="478,8572"/>
  <p:tag name="TBGORIGLEFT" val="527,170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Zentria">
      <a:dk1>
        <a:sysClr val="windowText" lastClr="000000"/>
      </a:dk1>
      <a:lt1>
        <a:sysClr val="window" lastClr="FFFFFF"/>
      </a:lt1>
      <a:dk2>
        <a:srgbClr val="80006B"/>
      </a:dk2>
      <a:lt2>
        <a:srgbClr val="FF5F3F"/>
      </a:lt2>
      <a:accent1>
        <a:srgbClr val="D6D6D6"/>
      </a:accent1>
      <a:accent2>
        <a:srgbClr val="A65C99"/>
      </a:accent2>
      <a:accent3>
        <a:srgbClr val="FFB5A6"/>
      </a:accent3>
      <a:accent4>
        <a:srgbClr val="00B094"/>
      </a:accent4>
      <a:accent5>
        <a:srgbClr val="45E3C9"/>
      </a:accent5>
      <a:accent6>
        <a:srgbClr val="FFF280"/>
      </a:accent6>
      <a:hlink>
        <a:srgbClr val="0563C1"/>
      </a:hlink>
      <a:folHlink>
        <a:srgbClr val="954F72"/>
      </a:folHlink>
    </a:clrScheme>
    <a:fontScheme name="Custom 1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Zentria">
      <a:dk1>
        <a:sysClr val="windowText" lastClr="000000"/>
      </a:dk1>
      <a:lt1>
        <a:sysClr val="window" lastClr="FFFFFF"/>
      </a:lt1>
      <a:dk2>
        <a:srgbClr val="80006B"/>
      </a:dk2>
      <a:lt2>
        <a:srgbClr val="FF5F3F"/>
      </a:lt2>
      <a:accent1>
        <a:srgbClr val="A65C99"/>
      </a:accent1>
      <a:accent2>
        <a:srgbClr val="FFB5A6"/>
      </a:accent2>
      <a:accent3>
        <a:srgbClr val="808080"/>
      </a:accent3>
      <a:accent4>
        <a:srgbClr val="969696"/>
      </a:accent4>
      <a:accent5>
        <a:srgbClr val="D6D6D6"/>
      </a:accent5>
      <a:accent6>
        <a:srgbClr val="FFF280"/>
      </a:accent6>
      <a:hlink>
        <a:srgbClr val="0563C1"/>
      </a:hlink>
      <a:folHlink>
        <a:srgbClr val="954F72"/>
      </a:folHlink>
    </a:clrScheme>
    <a:fontScheme name="Custom 1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d32239-f0c8-4501-8bc4-a99c0e536287">
      <Terms xmlns="http://schemas.microsoft.com/office/infopath/2007/PartnerControls"/>
    </lcf76f155ced4ddcb4097134ff3c332f>
    <TaxCatchAll xmlns="10a66771-d5ed-4597-8f74-5c510acc4bf2" xsi:nil="true"/>
    <SharedWithUsers xmlns="10a66771-d5ed-4597-8f74-5c510acc4bf2">
      <UserInfo>
        <DisplayName>JOSE ALBEIRO CASTAÑO URREA</DisplayName>
        <AccountId>25</AccountId>
        <AccountType/>
      </UserInfo>
      <UserInfo>
        <DisplayName>JAIME ANDRES CALLE AGUIRRE</DisplayName>
        <AccountId>65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17DD2D519E749B1BDB898E74F1337" ma:contentTypeVersion="15" ma:contentTypeDescription="Crear nuevo documento." ma:contentTypeScope="" ma:versionID="b91235ba2ea214baf46c519c596d80ad">
  <xsd:schema xmlns:xsd="http://www.w3.org/2001/XMLSchema" xmlns:xs="http://www.w3.org/2001/XMLSchema" xmlns:p="http://schemas.microsoft.com/office/2006/metadata/properties" xmlns:ns2="fcd32239-f0c8-4501-8bc4-a99c0e536287" xmlns:ns3="10a66771-d5ed-4597-8f74-5c510acc4bf2" targetNamespace="http://schemas.microsoft.com/office/2006/metadata/properties" ma:root="true" ma:fieldsID="3623dd275a52c14cf3827f5315615337" ns2:_="" ns3:_="">
    <xsd:import namespace="fcd32239-f0c8-4501-8bc4-a99c0e536287"/>
    <xsd:import namespace="10a66771-d5ed-4597-8f74-5c510acc4b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32239-f0c8-4501-8bc4-a99c0e5362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041b5d56-a357-47eb-babb-c8c74f6944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a66771-d5ed-4597-8f74-5c510acc4bf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44b72db-c451-4faa-a706-fedd6d032f68}" ma:internalName="TaxCatchAll" ma:showField="CatchAllData" ma:web="10a66771-d5ed-4597-8f74-5c510acc4b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7A51FC-7A1A-475C-AA42-19EB0EDFB525}">
  <ds:schemaRefs>
    <ds:schemaRef ds:uri="http://www.w3.org/XML/1998/namespace"/>
    <ds:schemaRef ds:uri="10a66771-d5ed-4597-8f74-5c510acc4bf2"/>
    <ds:schemaRef ds:uri="http://purl.org/dc/elements/1.1/"/>
    <ds:schemaRef ds:uri="fcd32239-f0c8-4501-8bc4-a99c0e536287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881FE62-B812-435C-A805-827FB228DDD8}">
  <ds:schemaRefs>
    <ds:schemaRef ds:uri="10a66771-d5ed-4597-8f74-5c510acc4bf2"/>
    <ds:schemaRef ds:uri="fcd32239-f0c8-4501-8bc4-a99c0e5362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2BF6ADB-7D0B-48E9-B7D7-09E041C4C3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3847</TotalTime>
  <Words>332</Words>
  <Application>Microsoft Office PowerPoint</Application>
  <PresentationFormat>Personalizado</PresentationFormat>
  <Paragraphs>34</Paragraphs>
  <Slides>15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DM Sans</vt:lpstr>
      <vt:lpstr>Office Theme</vt:lpstr>
      <vt:lpstr>3_Office Theme</vt:lpstr>
      <vt:lpstr>think-cell Slide</vt:lpstr>
      <vt:lpstr>Presentación de PowerPoint</vt:lpstr>
      <vt:lpstr>Distribución de las enfermedades autoinmunes y características de los pacientes atendidos en la consulta externa de la Clínica General del Norte, Barranquilla, 2023–2026.</vt:lpstr>
      <vt:lpstr>Presentación de PowerPoint</vt:lpstr>
      <vt:lpstr>Presentación de PowerPoint</vt:lpstr>
      <vt:lpstr>JUSTIFICACIÓN</vt:lpstr>
      <vt:lpstr>MARCO TEÓRICO</vt:lpstr>
      <vt:lpstr>MARCO TEÓRICO</vt:lpstr>
      <vt:lpstr>MARCO TEÓRICO</vt:lpstr>
      <vt:lpstr>OBJETIVOS</vt:lpstr>
      <vt:lpstr>METODOLOGÍA PARA ALCANZAR LOS OBJETIVOS</vt:lpstr>
      <vt:lpstr>METODOLOGÍA PARA ALCANZAR LOS OBJETIVOS</vt:lpstr>
      <vt:lpstr>PLAN DE ANÁLISIS Y COMPONENTE ÉTICO</vt:lpstr>
      <vt:lpstr>RESULTADOS Y PRODUCTOS ESPERADOS</vt:lpstr>
      <vt:lpstr>CRONOGRAMA Y PRESUPUESTO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Nicolás Londoño Torres</dc:creator>
  <cp:lastModifiedBy>erlinda rivera pertuz</cp:lastModifiedBy>
  <cp:revision>1042</cp:revision>
  <dcterms:created xsi:type="dcterms:W3CDTF">2022-10-05T14:24:52Z</dcterms:created>
  <dcterms:modified xsi:type="dcterms:W3CDTF">2026-09-24T04:00:23Z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0x010100B0717DD2D519E749B1BDB898E74F1337</vt:lpwstr>
  </property>
  <property fmtid="{D5CDD505-2E9C-101B-9397-08002B2CF9AE}" pid="3" name="MediaServiceImageTags">
    <vt:lpwstr/>
  </property>
</Properties>
</file>
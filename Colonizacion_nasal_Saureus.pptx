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adhesinas como ClfB se sintetizan con senal de exportacion y de anclaje. Sec las transloca por la membrana. La sortasa A reconoce el motivo LPXTG (X es cualquier aminoacido) y corta entre treonina y glicina, formando un intermediario covalente; el grupo amino del puente de pentaglicina del lipido II lo resuelve. Al incorporarse el precursor al peptidoglucano, la adhesina queda unida a la pared con su dominio de reconocimiento expuesto. Asi se conecta la anatomia de la pared con la colonizacion.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vestibulo nasal tiene epitelio escamoso queratinizado. ClfB reconoce regiones ricas en glicina y serina de proteinas de la envoltura cornificada, sobre todo loricrina. Sus dominios N2 y N3 forman un surco donde entra el ligando; una extension de N3 lo cubre y lo estabiliza por complementacion de hebra beta: dock, lock and latch. El resultado es una union que favorece la retencion pese a la descamacion epitelial. Los WTA interaccionan con el receptor SREC-I. ClfB tiene respaldo de colonizacion humana; la interaccion ClfB-loricrina se apoya en modelos animales y estudios bioquimicos.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hierro esta restringido por proteinas del huesped. Con hierro suficiente, Fur unido a hierro reprime los genes de adquisicion; al escasear, esa represion disminuye y se expresan los sistemas de captacion. S. aureus produce estafiloferrina A y B, sideroforos que capturan Fe3+; los complejos los reconocen Hts y Sir y se transportan al interior. En colonizacion nasal humana se observa expresion elevada de sistemas de restriccion de hierro, y la bacteria sintetiza aminoacidos escasos como metionina. La colonizacion implica actividad metabolica.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peptidos antimicrobianos cationicos son atraidos por superficies bacterianas anionicas. El sistema de dos componentes GraS-GraR responde a ciertos peptidos y modifica la expresion de dlt y mprF, aumentando la tolerancia. DltABCD D-alanila los acidos teicoicos (menos carga negativa); MprF forma y transloca lisil-fosfatidilglicerol (menos susceptibilidad a peptidos cationicos); OatA O-acetila el acido N-acetilmuramico y dificulta la hidrolisis por lisozima. Son mecanismos establecidos; su peso cuantitativo en la portacion asintomatica varia entre cepas.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circuito Agr: el AIP derivado de AgrD activa la histidina cinasa AgrC, que fosforila AgrA; este activa los promotores P2 y P3 y produce RNAIII, que regula factores en parte via Rot, conectando la senal poblacional con la virulencia. En portacion nasal se observa menor actividad de Agr/RNAIII y SaeRS junto con expresion de adhesinas y genes de mantenimiento de la envoltura; no implica ausencia de virulencia. WalKR regula el metabolismo de la pared y su diana sceD aparece expresada durante la colonizacion: la bacteria crece sin enfermedad clinica. La portacion resulta de adhesion especifica, adaptacion nutricional y tolerancia a defensas, condicionadas por la barrera epitelial y la microbiota; la activacion de Agr por si sola no explica el paso a infeccion.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· COLONIZACIÓN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«La bacteria construye sus puntos de anclaje»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Bhat AH, Nguyen MT, Das A, Ton-That H. Anchoring surface proteins to the bacterial cell wall by sortase enzymes: how it started and what we know now. Curr Opin Microbiol. 2021;60:73-9.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Schwermann N, Winstel V. Functional diversity of staphylococcal surface proteins at the host-microbe interface. Front Microbiol. 2023;14:1196957.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adhesina (p. ej. ClfB) se exporta por Sec; la sortasa A la corta en LPXTG y la une al peptidoglucano por el puente de pentaglicina del lípido II.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89204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4068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4068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9204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2940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7804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7804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2940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1540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6676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0412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65276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276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0412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4148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39012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39012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4148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57884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12748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12748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57884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31620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86484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86484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31620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705356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760220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60220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05356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879092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33956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33956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879092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052828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07692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07692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52828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26564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81428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81428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26564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00300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455164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55164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400300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74036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628900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28900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74036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747772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802636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802636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47772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921508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76372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976372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921508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095244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150108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150108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095244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68980" y="2514600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323844" y="2624328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323844" y="2935224"/>
            <a:ext cx="914" cy="237744"/>
          </a:xfrm>
          <a:prstGeom prst="line">
            <a:avLst/>
          </a:prstGeom>
          <a:noFill/>
          <a:ln w="19050">
            <a:solidFill>
              <a:srgbClr val="8C97B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68980" y="3172968"/>
            <a:ext cx="109728" cy="109728"/>
          </a:xfrm>
          <a:prstGeom prst="ellipse">
            <a:avLst/>
          </a:prstGeom>
          <a:solidFill>
            <a:srgbClr val="C6D0E8"/>
          </a:solidFill>
          <a:ln w="12700">
            <a:solidFill>
              <a:srgbClr val="8C97B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02920" y="20116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02920" y="2011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Sec: exporta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2011680" y="2240280"/>
            <a:ext cx="41148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2468880" y="2011680"/>
            <a:ext cx="1280160" cy="82296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468880" y="20116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 T–G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2331720" y="315468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2331720" y="31546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LPXTG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840480" y="2423160"/>
            <a:ext cx="50292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4389120" y="1920240"/>
            <a:ext cx="1828800" cy="1005840"/>
          </a:xfrm>
          <a:prstGeom prst="roundRect">
            <a:avLst>
              <a:gd name="adj" fmla="val 5455"/>
            </a:avLst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89120" y="19202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Puente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pentaglicina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(lípido II)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6263640" y="2423160"/>
            <a:ext cx="50292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6812280" y="1828800"/>
            <a:ext cx="1874520" cy="1188720"/>
          </a:xfrm>
          <a:prstGeom prst="roundRect">
            <a:avLst>
              <a:gd name="adj" fmla="val 4615"/>
            </a:avLst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12280" y="182880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Pared: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adhesina anclada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expuesta 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huésped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457200" y="3611880"/>
            <a:ext cx="2624328" cy="804672"/>
          </a:xfrm>
          <a:prstGeom prst="roundRect">
            <a:avLst>
              <a:gd name="adj" fmla="val 11364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566928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</a:t>
            </a:r>
            <a:endParaRPr lang="en-US" sz="1350" dirty="0"/>
          </a:p>
        </p:txBody>
      </p:sp>
      <p:sp>
        <p:nvSpPr>
          <p:cNvPr id="91" name="Text 89"/>
          <p:cNvSpPr txBox="1"/>
          <p:nvPr/>
        </p:nvSpPr>
        <p:spPr>
          <a:xfrm>
            <a:off x="566928" y="39502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Transloca la adhesina a través de la membrana</a:t>
            </a:r>
            <a:endParaRPr lang="en-US" sz="1050" dirty="0"/>
          </a:p>
        </p:txBody>
      </p:sp>
      <p:sp>
        <p:nvSpPr>
          <p:cNvPr id="92" name="Shape 90"/>
          <p:cNvSpPr/>
          <p:nvPr/>
        </p:nvSpPr>
        <p:spPr>
          <a:xfrm>
            <a:off x="3264408" y="3611880"/>
            <a:ext cx="2624328" cy="804672"/>
          </a:xfrm>
          <a:prstGeom prst="roundRect">
            <a:avLst>
              <a:gd name="adj" fmla="val 11364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374136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SrtA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3374136" y="39502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 LPXTG y forma un intermediario covalente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6071616" y="3611880"/>
            <a:ext cx="2624328" cy="804672"/>
          </a:xfrm>
          <a:prstGeom prst="roundRect">
            <a:avLst>
              <a:gd name="adj" fmla="val 11364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181344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Lípido II</a:t>
            </a:r>
            <a:endParaRPr lang="en-US" sz="1350" dirty="0"/>
          </a:p>
        </p:txBody>
      </p:sp>
      <p:sp>
        <p:nvSpPr>
          <p:cNvPr id="97" name="Text 95"/>
          <p:cNvSpPr txBox="1"/>
          <p:nvPr/>
        </p:nvSpPr>
        <p:spPr>
          <a:xfrm>
            <a:off x="6181344" y="3950208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pentaglicina resuelve el intermediario y la fija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· COLONIZACIÓN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«Adherirse exige reconocer al huésped»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Schwermann N, Winstel V. Functional diversity of staphylococcal surface proteins at the host-microbe interface. Front Microbiol. 2023;14:1196957.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Piewngam P, Otto M. Staphylococcus aureus colonisation and strategies for decolonisation. Lancet Microbe. 2024;5(6):e606-18.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ECEFF9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23444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12344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 del huésped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2344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856232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185623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ClfB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18562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Loricrina, citoqueratina 10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977640" y="18562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Adhesión al epitelio escamoso nasal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478024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247802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WTA (ác. teicoico)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24780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SREC-I / SCARF1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977640" y="24780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Adhesión a células del epitelio nasal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099816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09981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IsdA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099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Loricrina, involucrina, CK10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30998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Refuerza la adhesión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76732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A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WTA es un polímero de la pared; ClfB e IsdA son proteínas de superficie.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715000" y="11887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dock–lock–latch (ClfB)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715000" y="1600200"/>
            <a:ext cx="2971800" cy="749808"/>
          </a:xfrm>
          <a:prstGeom prst="roundRect">
            <a:avLst>
              <a:gd name="adj" fmla="val 12195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824728" y="16733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824728" y="19476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ligando entra en el surco N2–N3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715000" y="2423160"/>
            <a:ext cx="2971800" cy="749808"/>
          </a:xfrm>
          <a:prstGeom prst="roundRect">
            <a:avLst>
              <a:gd name="adj" fmla="val 12195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24728" y="2496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24728" y="2770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extensión de N3 lo cubre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715000" y="3246120"/>
            <a:ext cx="2971800" cy="749808"/>
          </a:xfrm>
          <a:prstGeom prst="roundRect">
            <a:avLst>
              <a:gd name="adj" fmla="val 12195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24728" y="3319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824728" y="3593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Complementación de hebra β: unión estable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715000" y="4114800"/>
            <a:ext cx="2971800" cy="301752"/>
          </a:xfrm>
          <a:prstGeom prst="roundRect">
            <a:avLst>
              <a:gd name="adj" fmla="val 3030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769864" y="4114800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Retiene la bacteria pese a la descamación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· COLONIZACIÓN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«Persistir exige superar la restricción nutricional»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Burian M, Wolz C, Yazdi AS. Transcriptional adaptation of staphylococci during colonization of the authentic human environment. Front Cell Infect Microbiol. 2022;12:1062329.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Schwermann N, Winstel V. Functional diversity of staphylococcal surface proteins at the host-microbe interface. Front Microbiol. 2023;14:1196957.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huésped esconde el hierro. Al escasear, Fur libera los genes de captación y la bacteria despliega sideróforos.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88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Hierro bajo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 deja de reprimir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240280"/>
            <a:ext cx="50292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063240" y="1828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63240" y="18288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Estafiloferrina A y 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 Fe3+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0" y="2240280"/>
            <a:ext cx="50292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035040" y="182880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18288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Hts y Sir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transportan al interior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24328" cy="914400"/>
          </a:xfrm>
          <a:prstGeom prst="roundRect">
            <a:avLst>
              <a:gd name="adj" fmla="val 10000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328416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de hierro: reprime cuando hay, libera cuando falta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64408" y="2926080"/>
            <a:ext cx="2624328" cy="914400"/>
          </a:xfrm>
          <a:prstGeom prst="roundRect">
            <a:avLst>
              <a:gd name="adj" fmla="val 10000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74136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Sideróforos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374136" y="3328416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Estafiloferrina A → Hts; estafiloferrina B → Sir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71616" y="2926080"/>
            <a:ext cx="2624328" cy="914400"/>
          </a:xfrm>
          <a:prstGeom prst="roundRect">
            <a:avLst>
              <a:gd name="adj" fmla="val 10000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81344" y="3017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Metabolismo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181344" y="3328416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sintetiza aminoacidos escasos (p. ej. metionina)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7764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064" y="3977640"/>
            <a:ext cx="8119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Colonizar es actividad metabólica, no solo permanecer adherida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· COLONIZACIÓN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«La envoltura se blinda ante las defensas locales»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Bleul L, Francois P, Wolz C. Two-component systems of S. aureus: signaling and sensing mechanisms. Genes (Basel). 2022;13(1):34.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Schwermann N, Winstel V. Functional diversity of staphylococcal surface proteins at the host-microbe interface. Front Microbiol. 2023;14:1196957.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ECEFF9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423160" y="123444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Modificación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3444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85623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8562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DltABCD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423160" y="18562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D-alanilación de ácidos teicoicos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856232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carga negativa de la envoltura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78024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47802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MprF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247802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Lisil-fosfatidilglicerol (y lo transloca)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478024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susceptibilidad a péptidos catiónicos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4F6FD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099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423160" y="30998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O-acetilación del ácido N-acetilmurámico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3099816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Resistencia a la lisozima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4023360" cy="658368"/>
          </a:xfrm>
          <a:prstGeom prst="roundRect">
            <a:avLst>
              <a:gd name="adj" fmla="val 13889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3749040"/>
            <a:ext cx="3913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GraS–GraR detecta péptidos y sube dlt y mprF: más tolerancia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63440" y="3749040"/>
            <a:ext cx="4023360" cy="658368"/>
          </a:xfrm>
          <a:prstGeom prst="roundRect">
            <a:avLst>
              <a:gd name="adj" fmla="val 13889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49040"/>
            <a:ext cx="3913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péptidos catiónicos buscan cargas aniónicas; Dlt y MprF las cambian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AUREUS · COLONIZACIÓN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«Colonizar implica regular crecimiento y toxicidad»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D7DC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Bleul L, Francois P, Wolz C. Two-component systems of S. aureus: signaling and sensing mechanisms. Genes (Basel). 2022;13(1):34.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Burian M, Wolz C, Yazdi AS. Transcriptional adaptation of staphylococci during colonization of the authentic human environment. Front Cell Infect Microbiol. 2022;12:1062329.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portación nasal predominan adhesión y mantenimiento de la envoltura; el circuito agr suele estar poco activo.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08760" y="2148840"/>
            <a:ext cx="41148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65960" y="18745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65960" y="1874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2148840"/>
            <a:ext cx="41148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57600" y="1874520"/>
            <a:ext cx="1371600" cy="548640"/>
          </a:xfrm>
          <a:prstGeom prst="roundRect">
            <a:avLst>
              <a:gd name="adj" fmla="val 10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7600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AgrA~P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74920" y="2148840"/>
            <a:ext cx="41148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532120" y="187452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32120" y="18745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P2/P3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32320" y="2148840"/>
            <a:ext cx="411480" cy="914"/>
          </a:xfrm>
          <a:prstGeom prst="line">
            <a:avLst/>
          </a:prstGeom>
          <a:noFill/>
          <a:ln w="31750">
            <a:solidFill>
              <a:srgbClr val="5159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89520" y="1874520"/>
            <a:ext cx="1097280" cy="548640"/>
          </a:xfrm>
          <a:prstGeom prst="roundRect">
            <a:avLst>
              <a:gd name="adj" fmla="val 10000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0" y="1874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RNAIII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9A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RNAIII regula factores (en parte vía Rot): conecta señal poblacional con virulencia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2971800"/>
            <a:ext cx="2624328" cy="914400"/>
          </a:xfrm>
          <a:prstGeom prst="roundRect">
            <a:avLst>
              <a:gd name="adj" fmla="val 10000"/>
            </a:avLst>
          </a:prstGeom>
          <a:solidFill>
            <a:srgbClr val="F4F6FD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portación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36499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Agr/RNAIII y SaeRS reducidos; no es ausencia de virulencia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64408" y="2971800"/>
            <a:ext cx="2624328" cy="914400"/>
          </a:xfrm>
          <a:prstGeom prst="roundRect">
            <a:avLst>
              <a:gd name="adj" fmla="val 10000"/>
            </a:avLst>
          </a:prstGeom>
          <a:solidFill>
            <a:srgbClr val="F4F6FD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74136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WalKR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3374136" y="336499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 la pared (diana sceD): crecer sin enfermar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71616" y="2971800"/>
            <a:ext cx="2624328" cy="914400"/>
          </a:xfrm>
          <a:prstGeom prst="roundRect">
            <a:avLst>
              <a:gd name="adj" fmla="val 10000"/>
            </a:avLst>
          </a:prstGeom>
          <a:solidFill>
            <a:srgbClr val="F4F6FD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81344" y="3063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181344" y="3364992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159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 por sí solo no explica el paso a infección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023360"/>
            <a:ext cx="8229600" cy="384048"/>
          </a:xfrm>
          <a:prstGeom prst="roundRect">
            <a:avLst>
              <a:gd name="adj" fmla="val 23810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" y="4023360"/>
            <a:ext cx="8119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portación = adhesión específica + adaptación nutricional + tolerancia a defensas, segun epitelio y microbiota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Cocos grampositivos (fondo blanco)</dc:title>
  <dc:subject>PptxGenJS Presentation</dc:subject>
  <dc:creator>Nestor Fabian Sanabria Duarte</dc:creator>
  <cp:lastModifiedBy>Nestor Fabian Sanabria Duarte</cp:lastModifiedBy>
  <cp:revision>1</cp:revision>
  <dcterms:created xsi:type="dcterms:W3CDTF">2026-10-13T03:07:19Z</dcterms:created>
  <dcterms:modified xsi:type="dcterms:W3CDTF">2026-10-13T03:07:19Z</dcterms:modified>
</cp:coreProperties>
</file>
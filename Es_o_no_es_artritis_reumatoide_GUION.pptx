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1" r:id="rId2"/>
    <p:sldId id="299" r:id="rId3"/>
    <p:sldId id="257" r:id="rId4"/>
    <p:sldId id="258" r:id="rId5"/>
    <p:sldId id="259" r:id="rId6"/>
    <p:sldId id="260" r:id="rId7"/>
    <p:sldId id="261" r:id="rId8"/>
    <p:sldId id="262" r:id="rId9"/>
    <p:sldId id="263" r:id="rId10"/>
    <p:sldId id="264" r:id="rId11"/>
    <p:sldId id="265" r:id="rId12"/>
    <p:sldId id="266" r:id="rId13"/>
    <p:sldId id="300" r:id="rId14"/>
    <p:sldId id="267" r:id="rId15"/>
    <p:sldId id="268" r:id="rId16"/>
    <p:sldId id="269" r:id="rId17"/>
    <p:sldId id="270" r:id="rId18"/>
    <p:sldId id="271" r:id="rId19"/>
    <p:sldId id="272" r:id="rId20"/>
    <p:sldId id="273" r:id="rId21"/>
    <p:sldId id="274" r:id="rId22"/>
    <p:sldId id="302" r:id="rId23"/>
    <p:sldId id="278" r:id="rId24"/>
    <p:sldId id="301"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79335"/>
  </p:normalViewPr>
  <p:slideViewPr>
    <p:cSldViewPr snapToGrid="0" snapToObjects="1">
      <p:cViewPr>
        <p:scale>
          <a:sx n="98" d="100"/>
          <a:sy n="98" d="100"/>
        </p:scale>
        <p:origin x="856" y="6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Anti-CCP</c:v>
                </c:pt>
              </c:strCache>
            </c:strRef>
          </c:tx>
          <c:spPr>
            <a:solidFill>
              <a:srgbClr val="4CC9F0">
                <a:alpha val="100000"/>
              </a:srgbClr>
            </a:solidFill>
            <a:effectLst/>
          </c:spPr>
          <c:invertIfNegative val="0"/>
          <c:dLbls>
            <c:numFmt formatCode="0&quot;%&quot;" sourceLinked="0"/>
            <c:spPr>
              <a:noFill/>
              <a:ln>
                <a:noFill/>
              </a:ln>
              <a:effectLst/>
            </c:spPr>
            <c:txPr>
              <a:bodyPr/>
              <a:lstStyle/>
              <a:p>
                <a:pPr>
                  <a:defRPr sz="1100" b="1" i="0" u="none" strike="noStrike">
                    <a:solidFill>
                      <a:srgbClr val="141821"/>
                    </a:solidFill>
                    <a:latin typeface="Arial"/>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Sensibilidad</c:v>
                </c:pt>
                <c:pt idx="1">
                  <c:v>Especificidad</c:v>
                </c:pt>
              </c:strCache>
            </c:strRef>
          </c:cat>
          <c:val>
            <c:numRef>
              <c:f>Sheet1!$B$2:$B$3</c:f>
              <c:numCache>
                <c:formatCode>General</c:formatCode>
                <c:ptCount val="2"/>
                <c:pt idx="0">
                  <c:v>67</c:v>
                </c:pt>
                <c:pt idx="1">
                  <c:v>95</c:v>
                </c:pt>
              </c:numCache>
            </c:numRef>
          </c:val>
          <c:extLst>
            <c:ext xmlns:c16="http://schemas.microsoft.com/office/drawing/2014/chart" uri="{C3380CC4-5D6E-409C-BE32-E72D297353CC}">
              <c16:uniqueId val="{00000000-9C21-AE41-855F-66B22B44454F}"/>
            </c:ext>
          </c:extLst>
        </c:ser>
        <c:ser>
          <c:idx val="1"/>
          <c:order val="1"/>
          <c:tx>
            <c:strRef>
              <c:f>Sheet1!$C$1</c:f>
              <c:strCache>
                <c:ptCount val="1"/>
                <c:pt idx="0">
                  <c:v>FR</c:v>
                </c:pt>
              </c:strCache>
            </c:strRef>
          </c:tx>
          <c:spPr>
            <a:solidFill>
              <a:srgbClr val="F2B43C">
                <a:alpha val="100000"/>
              </a:srgbClr>
            </a:solidFill>
            <a:effectLst/>
          </c:spPr>
          <c:invertIfNegative val="0"/>
          <c:dLbls>
            <c:numFmt formatCode="0&quot;%&quot;" sourceLinked="0"/>
            <c:spPr>
              <a:noFill/>
              <a:ln>
                <a:noFill/>
              </a:ln>
              <a:effectLst/>
            </c:spPr>
            <c:txPr>
              <a:bodyPr/>
              <a:lstStyle/>
              <a:p>
                <a:pPr>
                  <a:defRPr sz="1100" b="1" i="0" u="none" strike="noStrike">
                    <a:solidFill>
                      <a:srgbClr val="141821"/>
                    </a:solidFill>
                    <a:latin typeface="Arial"/>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Sensibilidad</c:v>
                </c:pt>
                <c:pt idx="1">
                  <c:v>Especificidad</c:v>
                </c:pt>
              </c:strCache>
            </c:strRef>
          </c:cat>
          <c:val>
            <c:numRef>
              <c:f>Sheet1!$C$2:$C$3</c:f>
              <c:numCache>
                <c:formatCode>General</c:formatCode>
                <c:ptCount val="2"/>
                <c:pt idx="0">
                  <c:v>69</c:v>
                </c:pt>
                <c:pt idx="1">
                  <c:v>85</c:v>
                </c:pt>
              </c:numCache>
            </c:numRef>
          </c:val>
          <c:extLst>
            <c:ext xmlns:c16="http://schemas.microsoft.com/office/drawing/2014/chart" uri="{C3380CC4-5D6E-409C-BE32-E72D297353CC}">
              <c16:uniqueId val="{00000001-9C21-AE41-855F-66B22B44454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1821"/>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C4CC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41821"/>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41821"/>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184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Propongo organizar el razonamiento en cinco pistas, que recorreremos en orden: el dolor, la mano, el examen físico, el laboratorio y la imagen. La idea central, y quiero que quede desde el inicio, es que ninguna de estas pistas, de forma aislada, confirma ni descarta el diagnóstico. La artritis reumatoide es un diagnóstico de patrón: integramos probabilidades. Un anti-CCP aislado, una radiografía o un dato suelto de la anamnesis valen poco fuera de contexto; es la convergencia de hallazgos la que decide. Con esa lógica bayesiana en mente, empecemos por qué nos importa distinguirlas.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¿Por qué insistir en la distinción? Porque cambia radicalmente la conducta. La artritis reumatoide es una enfermedad inflamatoria autoinmune con una ventana de oportunidad: el tratamiento precoz con FAME modifica la historia natural y previene el daño estructural irreversible. Retrasar la derivación significa perder esa ventana. En el extremo opuesto, sobrediagnosticar artritis reumatoide expone al paciente a inmunosupresión innecesaria. La artrosis es la enfermedad articular más frecuente, cerca de 595 millones de personas en el mundo según datos de 2020, con la rodilla como localización más afectada; no requiere inmunosupresión, pero tampoco es una enfermedad banal: hoy la entendemos como un proceso activo de toda la articulación. Distinguir bien evita, entonces, dos errores simétricos: el retraso terapéutico y el sobretratamiento.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Conviene empezar desmontando una dicotomía que aprendimos y que hoy resulta insuficiente: la reumatoide es inflamatoria y la artrosis es degenerativa. La artritis reumatoide es una enfermedad autoinmune inflamatoria sistémica cuya diana es la membrana sinovial, donde se forma el pannus. La artrosis es multifactorial, no autoinmune en sentido clásico, y su diana es la homeostasis de toda la articulación: cartílago, hueso subcondral, sinovial, ligamentos y músculo. Difieren también en epidemiología: la reumatoide predomina en mujeres, con un pico entre los 30 y 60 años pero posible a cualquier edad; la artrosis aumenta con la edad, aunque no es exclusiva del anciano. Y en el curso: la reumatoide tiende a ser persistente y de inicio variable; la artrosis, de progresión gradual. Con este marco, miremos la articulación por dentro.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Aquí está la base del diagnóstico diferencial, y la ilustración lo resume. En la artritis reumatoide, la respuesta autoinmune, con factor reumatoide y anticuerpos frente a péptidos citrulinados, genera una sinovitis proliferativa, el pannus, que invade y erosiona el hueso en los márgenes, justo donde la membrana sinovial contacta con el cartílago. Radiológicamente esto se traduce en erosiones marginales y pinzamiento uniforme del espacio, sin osteofitos. En la artrosis, en cambio, predomina la remodelación ósea: el cartílago se degrada, el hueso subcondral se esclerosa y forma osteofitos, y el pinzamiento es asimétrico, en las zonas de mayor carga. La regla práctica que quiero que recuerden: erosión marginal orienta a reumatoide; remodelación ósea, osteofitos y esclerosis, orienta a artrosis.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Primera pista: la semiología del dolor, que muchas veces orienta antes que cualquier prueba. El dolor inflamatorio de la artritis reumatoide es peor en reposo y de madrugada, mejora al desentumecer con el movimiento, y se acompaña de rigidez matutina prolongada, clásicamente mayor de 30 a 60 minutos, y de síntomas sistémicos como fatiga, febrícula o malestar. El dolor mecánico de la artrosis es el patrón inverso: empeora con el uso y al final del día, mejora con el reposo, la rigidez es breve, menor de 30 minutos y de arranque, y no hay síntomas generales. La duración de la rigidez matutina es uno de los datos más rentables de la anamnesis; conviene preguntarlo siempre de forma explícita y cuantificarlo.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Segunda pista, y quizá la más útil: el mapa topográfico de la mano. La artritis reumatoide compromete de forma simétrica las metacarpofalángicas, las interfalángicas proximales y las muñecas, y característicamente respeta las interfalángicas distales. La artrosis sigue el patrón opuesto: afecta las interfalángicas distales, con los nódulos de Heberden; las proximales, con los de Bouchard; y la base del pulgar, la rizartrosis o compromiso de la carpometacarpiana. El mensaje operativo: el compromiso de interfalángicas distales prácticamente no ocurre en la reumatoide; cuando lo vean, piensen en artrosis o en artritis psoriásica. La distribución, más que el número de articulaciones, es lo que delata la enfermedad.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Profundicemos en la mano, porque es un verdadero mapa diagnóstico. En la reumatoide el compromiso es de pequeñas articulaciones, metacarpofalángicas, interfalángicas proximales y muñecas, y también metatarsofalángicas del pie, con frecuencia de forma precoz; es simétrico y respeta las distales. Cuando la sinovitis se cronifica, deja deformidades reconocibles: la desviación cubital de los dedos, el cuello de cisne, la deformidad en ojal o boutonnière, y los nódulos reumatoides subcutáneos en zonas de presión. La artrosis, en cambio, deja nódulos duros y óseos: Heberden en las distales, Bouchard en las proximales, y la base del pulgar cuadrada de la rizartrosis, además de comprometer grandes articulaciones de carga y la columna. Las ilustraciones son esquemas originales que señalizan cada signo.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Un punto que no debemos perder: la artritis reumatoide es una enfermedad sistémica, no solo articular. Las manos son la vitrina, pero compromete grandes articulaciones, hombros, codos, rodillas y tobillos; los pies; y la columna cervical, donde la subluxación atloaxoidea C1-C2 tiene implicaciones prácticas, por ejemplo en el manejo de la vía aérea durante una intubación. Y va más allá del aparato locomotor: enfermedad pulmonar intersticial y nódulos pulmonares, nódulos reumatoides, y vasculitis reumatoide, además del aumento del riesgo cardiovascular y de la anemia de enfermedad crónica. Verla como enfermedad sistémica refuerza por qué el diagnóstico y el tratamiento tempranos importan mucho más allá del dolor de manos.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Tercera pista: el examen físico, lo que las manos nos dicen al tacto. La sinovitis de la artritis reumatoide se palpa blanda, esponjosa y fluctuante, a veces caliente y con rubor, y es dolorosa a la compresión; el squeeze test, la compresión transversal de metacarpofalángicas o metatarsofalángicas, es positivo y constituye un signo sencillo y muy útil de sinovitis. El aumento de volumen de la artrosis es, por el contrario, duro, como hueso, por osteofitos o nódulos; no es caliente y se acompaña de crepitación al movilizar. La regla del tacto: blando y caliente es inflamación; duro y frío es hueso. Calor, rubor y squeeze positivo apuntan a reumatoide; la crepitación es típica de artrosis.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Cuarta pista: el laboratorio, pedido con criterio. Ante la sospecha de artritis reumatoide solicito factor reumatoide, anti-CCP o ACPA, que es más específico, VSG y PCR como reactantes de actividad, hemograma, y radiografía de manos y pies como estudio basal. Igual de importante es cómo interpretarlo: un resultado negativo no descarta la enfermedad, porque hasta un tercio de las reumatoides son seronegativas; y un factor reumatoide positivo aislado puede verse en personas sanas, en infecciones o simplemente con la edad. Insisto en el concepto: la serología modifica la probabilidad pretest, no diagnostica por sí sola. Pedir autoanticuerpos de rutina en una artrosis típica solo genera falsos positivos que confunden.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Vale la pena cuantificar el rendimiento serológico. Al diagnóstico, entre el 40 y el 60 por ciento de los pacientes son seropositivos para factor reumatoide o ACPA; con tres o más años de enfermedad la seropositividad asciende a cerca del 80 por ciento, y un 12 por ciento de los inicialmente seronegativos se positiviza en tres años. Alrededor de un cuarto presenta reactantes elevados y anemia de enfermedad crónica. Pero el dato conceptualmente más interesante es que la autoinmunidad precede a la clínica: los ACPA pueden detectarse hasta catorce años antes, y el factor reumatoide unos diez años antes de los síntomas. Esta fase preclínica, la llamada pre-AR, es la base del interés actual por identificar y vigilar a los pacientes en riesgo antes de que la artritis se establezca.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Pongámosle números a la serología. En el metaanálisis de Nishimura, el anti-CCP tiene una sensibilidad cercana al 67 por ciento y una especificidad del 95 por ciento; el factor reumatoide, sensibilidad del 69 y especificidad del 85 por ciento. La lectura clave es en términos de razones de verosimilitud: la razón de verosimilitud positiva del anti-CCP es de aproximadamente 12,5, de modo que un resultado positivo eleva de forma sustancial la probabilidad de artritis reumatoide. Pero con una sensibilidad del 67 al 69 por ciento, un resultado negativo no permite descartarla. En la práctica: un anti-CCP positivo en un paciente con sinovitis compatible es casi diagnóstico; el negativo obliga a seguir razonando con la clínica.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Quinta pista: la imagen, donde ambas enfermedades muestran signos opuestos. La radiografía de la artritis reumatoide muestra erosiones marginales, osteopenia yuxtaarticular y pinzamiento uniforme del espacio; los osteofitos no son característicos de la reumatoide aislada. La artrosis muestra osteofitos, esclerosis subcondral y quistes, pinzamiento asimétrico y ausencia de erosiones, con la salvedad de la artrosis erosiva de manos, que puede dar erosiones centrales. Un punto importante para el diagnóstico precoz: la radiografía detecta el daño tarde. La ecografía, con la hipertrofia sinovial y la señal Doppler, y la resonancia, con sinovitis, osteítis y erosiones precoces, permiten confirmar una sinovitis dudosa y ver el daño antes que la radiografía convencional.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Con la clínica, el laboratorio y la imagen integrados, podemos apoyarnos en los criterios de clasificación ACR/EULAR de 2010. Puntúan cuatro dominios: el número y tipo de articulaciones comprometidas, de cero a cinco; la serología, de cero a tres; los reactantes de fase aguda, de cero a uno; y la duración de los síntomas, de cero a uno. Seis o más puntos de diez clasifican como artritis reumatoide. Ahora, una advertencia conceptual importante: estos son criterios de clasificación, pensados para estandarizar poblaciones de estudio, no un algoritmo diagnóstico. Exigen como entrada al menos una articulación con sinovitis clínica sin mejor explicación, y pueden no cumplirse en la enfermedad muy temprana. Clasificar no es diagnosticar: el juicio clínico sigue mandando.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¿Y antes de que la artritis se establezca? Aquí entra un concepto relativamente reciente y muy útil: la artralgia sospechosa de progresar a artritis reumatoide, definida por EULAR en 2017. Son siete parámetros clínicos, sencillos y sin laboratorio: síntomas de inicio reciente, menores de un año; localizados en metacarpofalángicas; rigidez matutina de sesenta minutos o más; síntomas más intensos a primera hora de la mañana; un familiar de primer grado con artritis reumatoide; dificultad para cerrar el puño; y squeeze test de metacarpofalángicas positivo. Con tres o más de los siete hablamos de artralgia sospechosa; el umbral prioriza la sensibilidad, con un área bajo la curva de 0,92. No sustituye el juicio del reumatólogo, pero ayuda a identificar a quién vigilar y derivar de forma temprana.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Dediquemos ahora la atención a la artrosis, porque conviene replantearla. Lejos del viejo concepto de desgaste pasivo por la edad, hoy la entendemos, siguiendo el primer de Nature Reviews Disease Primers de 2025, como una enfermedad activa y heterogénea de toda la articulación. Compromete el hueso, el cartílago, la sinovial, la grasa de Hoffa, los ligamentos y el músculo. Hay remodelación activa, con degradación del cartílago y neoformación ósea con osteofitos; hay inflamación, una sinovitis de bajo grado mediada por IL-1 y TNF; y hay un componente de dolor neurobiológico, con sensibilización mecánica y neuroplasticidad, que con frecuencia se inicia tras un traumatismo articular. Entenderla así cambia la conversación con el paciente y abre la puerta a las futuras terapias modificadoras.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Entonces, ¿cómo se diagnostica la artrosis? Fundamentalmente, de forma clínica. En un paciente de 45 años o más, con dolor relacionado con la actividad y rigidez matutina ausente o menor de 30 minutos, el diagnóstico es clínico y, según NICE, en el caso típico no hace falta radiografía. El examen aporta la crepitación, el aumento óseo y, en la cadera, el dolor a la rotación interna. Las pruebas complementarias se reservan: la imagen no es de rutina, la radiografía solo en presentaciones atípicas, y el laboratorio, que es normal, sirve únicamente para excluir causas inflamatorias. Dicho de otro modo, pedir estudios de más en una artrosis típica no añade valor y puede confundir.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Un matiz que el especialista debe manejar: la artrosis no es una sola enfermedad, sino un conjunto de fenotipos. La literatura describe, en rodilla, al menos seis: el de dolor crónico con sensibilización central y dolor desproporcionado; el inflamatorio, con sinovitis, derrame y brotes; el metabólico, asociado a obesidad y síndrome metabólico; el óseo-cartilaginoso, con alto remodelado subcondral; el mecánico, por malalineación y sobrecarga; y el de enfermedad mínima, de daño leve y progresión lenta. En la práctica se solapan, pero reconocer el fenotipo predominante orienta el pronóstico y, cada vez más, el tratamiento. Es el mismo cambio de paradigma que vivió la reumatoide: de una etiqueta única a una enfermedad estratificable.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Insisto en un punto que suele sorprender: la artrosis también se inflama; no es solo desgaste. Cursa con una sinovitis de bajo grado, mediada por IL-1 y TNF, con derrame y señal Doppler visible en ecografía y resonancia. Existe además la artrosis erosiva de manos, con erosiones centrales en interfalángicas distales y proximales y brotes dolorosos, que puede confundirse con una artritis inflamatoria. Y sobre una articulación artrósica pueden depositarse cristales, de pirofosfato cálcico o de urato, que añaden episodios de artritis aguda. La regla práctica: una artrosis que se inflama mucho, de forma desproporcionada, obliga a pensar en cristales o en una artritis reumatoide asociada.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 las dos enfermedades no son compartimentos estancos; se encadenan. Cuando la inflamación reumatoide persiste, deja una huella mecánica: la sinovitis crónica destruye el cartílago, genera erosiones y altera la biomecánica articular; el cartílago y el hueso dañados pierden su homeostasis y la articulación se remodela, desarrollando una artrosis secundaria. ¿Por qué importa clínicamente? Porque este paciente puede tener dolor mecánico por daño estructural a pesar de tener la actividad inflamatoria bien controlada. Y aquí está la perla terapéutica: ese dolor estructural no responde a más inmunosupresión. Antes de intensificar los FAME hay que demostrar que existe actividad inflamatoria real, por examen, reactantes o ecografía, y no asumir que todo dolor en un reumatoide es sinovitis.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r>
              <a:t>Permítanme condensar el mensaje en seis perlas. Primera: el patrón del dolor orienta y la exploración define la sospecha. Segunda: las manos son el mapa del diagnóstico. Tercera: la artrosis no es simplemente desgaste, ni la inflamación es exclusiva de la reumatoide. Cuarta: el anti-CCP modifica probabilidades, no establece diagnósticos. Quinta: la ausencia de erosiones no significa ausencia de artritis reumatoide, sobre todo en fases tempranas. Y sexta, la más importante por su impacto: diagnosticar temprano es aprovechar la ventana de oportunidad terapéutica. Si se llevan una sola idea de esta charla, que sea esa.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Buenas tardes. Agradezco al servicio y a todos los asistentes. El título plantea una pregunta que enfrentamos casi a diario en medicina interna y en reumatología: ante un paciente con dolor y tumefacción de manos, ¿estamos frente a una artritis reumatoide o ante una artrosis? La respuesta no es trivial, porque define la urgencia, el pronóstico y el tratamiento. En los próximos minutos propongo un abordaje estructurado, basado en el reconocimiento de patrones y en la mejor evidencia disponible, para separar la inflamación autoinmune del daño articular degenerativo. El objetivo no es memorizar listas, sino construir un razonamiento clínico que integre anamnesis, examen físico, laboratorio e imagen.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Una nota breve de transparencia académica antes de empezar. Los esquemas y recursos gráficos de esta presentación se apoyaron en una herramienta de inteligencia artificial, pero todo el contenido científico fue revisado, verificado y validado por los autores, que asumimos la responsabilidad final sobre su exactitud. Lo menciono porque la integridad y la trazabilidad de las fuentes son parte del rigor que le exigimos a cualquier material académico.</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Vuelvo a la pregunta inicial: ¿es o no es artritis reumatoide? La respuesta rara vez está en una sola prueba; está en el patrón, en la integración de la anamnesis, el examen físico, el laboratorio y la imagen. Distinguir a tiempo cambia el pronóstico del paciente. Muchas gracias por su atención; quedo atento a sus preguntas y comentarios.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8.png"/><Relationship Id="rId7" Type="http://schemas.openxmlformats.org/officeDocument/2006/relationships/image" Target="../media/image18.png"/><Relationship Id="rId8"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76AB7EA3-4086-E68C-C6F5-46934B3105C9}"/>
              </a:ext>
            </a:extLst>
          </p:cNvPr>
          <p:cNvPicPr>
            <a:picLocks noChangeAspect="1"/>
          </p:cNvPicPr>
          <p:nvPr/>
        </p:nvPicPr>
        <p:blipFill>
          <a:blip r:embed="rId2"/>
          <a:stretch>
            <a:fillRect/>
          </a:stretch>
        </p:blipFill>
        <p:spPr>
          <a:xfrm>
            <a:off x="0" y="0"/>
            <a:ext cx="9144000" cy="5143500"/>
          </a:xfrm>
          <a:prstGeom prst="rect">
            <a:avLst/>
          </a:prstGeom>
        </p:spPr>
      </p:pic>
      <p:sp>
        <p:nvSpPr>
          <p:cNvPr id="3" name="CuadroTexto 2">
            <a:extLst>
              <a:ext uri="{FF2B5EF4-FFF2-40B4-BE49-F238E27FC236}">
                <a16:creationId xmlns:a16="http://schemas.microsoft.com/office/drawing/2014/main" id="{BCA70FDB-98E3-248A-4D7A-CAAC083CE41A}"/>
              </a:ext>
            </a:extLst>
          </p:cNvPr>
          <p:cNvSpPr txBox="1"/>
          <p:nvPr/>
        </p:nvSpPr>
        <p:spPr>
          <a:xfrm>
            <a:off x="221357" y="289066"/>
            <a:ext cx="5359636" cy="1508105"/>
          </a:xfrm>
          <a:prstGeom prst="rect">
            <a:avLst/>
          </a:prstGeom>
          <a:noFill/>
        </p:spPr>
        <p:txBody>
          <a:bodyPr wrap="square" rtlCol="0">
            <a:spAutoFit/>
          </a:bodyPr>
          <a:lstStyle/>
          <a:p>
            <a:r>
              <a:rPr lang="es-CO" sz="3600" b="1" dirty="0">
                <a:solidFill>
                  <a:schemeClr val="bg1"/>
                </a:solidFill>
              </a:rPr>
              <a:t>¿Es o no es artritis reumatoide? </a:t>
            </a:r>
          </a:p>
          <a:p>
            <a:r>
              <a:rPr lang="es-CO" sz="2000" dirty="0">
                <a:solidFill>
                  <a:schemeClr val="bg1"/>
                </a:solidFill>
              </a:rPr>
              <a:t>Diagnostico diferencial con artrosis</a:t>
            </a:r>
          </a:p>
        </p:txBody>
      </p:sp>
      <p:sp>
        <p:nvSpPr>
          <p:cNvPr id="5" name="CuadroTexto 4">
            <a:extLst>
              <a:ext uri="{FF2B5EF4-FFF2-40B4-BE49-F238E27FC236}">
                <a16:creationId xmlns:a16="http://schemas.microsoft.com/office/drawing/2014/main" id="{65C81B2E-B42E-2DE6-EAE6-6E65ACA96A34}"/>
              </a:ext>
            </a:extLst>
          </p:cNvPr>
          <p:cNvSpPr txBox="1"/>
          <p:nvPr/>
        </p:nvSpPr>
        <p:spPr>
          <a:xfrm>
            <a:off x="147785" y="4054215"/>
            <a:ext cx="4635610" cy="800219"/>
          </a:xfrm>
          <a:prstGeom prst="rect">
            <a:avLst/>
          </a:prstGeom>
          <a:solidFill>
            <a:schemeClr val="tx1">
              <a:alpha val="37534"/>
            </a:schemeClr>
          </a:solidFill>
        </p:spPr>
        <p:txBody>
          <a:bodyPr wrap="square">
            <a:spAutoFit/>
          </a:bodyPr>
          <a:lstStyle/>
          <a:p>
            <a:r>
              <a:rPr lang="es-CO" sz="1800" dirty="0">
                <a:solidFill>
                  <a:schemeClr val="bg1"/>
                </a:solidFill>
              </a:rPr>
              <a:t>Nestor Fabian Sanabria Duarte</a:t>
            </a:r>
          </a:p>
          <a:p>
            <a:r>
              <a:rPr lang="es-CO" sz="1400" dirty="0">
                <a:solidFill>
                  <a:schemeClr val="bg1"/>
                </a:solidFill>
              </a:rPr>
              <a:t>Residente de tercer año · Especialización en medicina interna </a:t>
            </a:r>
          </a:p>
          <a:p>
            <a:r>
              <a:rPr lang="es-CO" sz="1400" dirty="0">
                <a:solidFill>
                  <a:schemeClr val="bg1"/>
                </a:solidFill>
              </a:rPr>
              <a:t>Universidad Libre de Colombia – Seccional Barranquilla</a:t>
            </a:r>
          </a:p>
        </p:txBody>
      </p:sp>
    </p:spTree>
    <p:extLst>
      <p:ext uri="{BB962C8B-B14F-4D97-AF65-F5344CB8AC3E}">
        <p14:creationId xmlns:p14="http://schemas.microsoft.com/office/powerpoint/2010/main" val="297503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B52A3-65D5-FC2A-4C73-42AB8A6384B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711E947-9361-79F4-F61E-3214463976F6}"/>
              </a:ext>
            </a:extLst>
          </p:cNvPr>
          <p:cNvSpPr/>
          <p:nvPr/>
        </p:nvSpPr>
        <p:spPr>
          <a:xfrm>
            <a:off x="-2988826" y="391188"/>
            <a:ext cx="15121652" cy="400110"/>
          </a:xfrm>
          <a:prstGeom prst="rect">
            <a:avLst/>
          </a:prstGeom>
        </p:spPr>
        <p:txBody>
          <a:bodyPr wrap="square">
            <a:spAutoFit/>
          </a:bodyPr>
          <a:lstStyle/>
          <a:p>
            <a:pPr algn="ctr"/>
            <a:r>
              <a:rPr lang="es-ES" sz="2000" b="1" dirty="0">
                <a:solidFill>
                  <a:srgbClr val="78206E"/>
                </a:solidFill>
              </a:rPr>
              <a:t>DECLARACIÓN DE USO DE INTELIGENCIA ARTIFICIAL</a:t>
            </a:r>
            <a:endParaRPr lang="es-CO" sz="2000" b="1" dirty="0">
              <a:solidFill>
                <a:srgbClr val="78206E"/>
              </a:solidFill>
            </a:endParaRPr>
          </a:p>
        </p:txBody>
      </p:sp>
      <p:sp>
        <p:nvSpPr>
          <p:cNvPr id="8" name="CuadroTexto 7">
            <a:extLst>
              <a:ext uri="{FF2B5EF4-FFF2-40B4-BE49-F238E27FC236}">
                <a16:creationId xmlns:a16="http://schemas.microsoft.com/office/drawing/2014/main" id="{8F7CCB83-5A7F-6044-0704-F4017AA25D4A}"/>
              </a:ext>
            </a:extLst>
          </p:cNvPr>
          <p:cNvSpPr txBox="1"/>
          <p:nvPr/>
        </p:nvSpPr>
        <p:spPr>
          <a:xfrm>
            <a:off x="788505" y="1426121"/>
            <a:ext cx="7566990" cy="646331"/>
          </a:xfrm>
          <a:prstGeom prst="rect">
            <a:avLst/>
          </a:prstGeom>
          <a:noFill/>
        </p:spPr>
        <p:txBody>
          <a:bodyPr wrap="square">
            <a:spAutoFit/>
          </a:bodyPr>
          <a:lstStyle/>
          <a:p>
            <a:pPr lvl="0" algn="just"/>
            <a:r>
              <a:rPr lang="es-CO" dirty="0">
                <a:solidFill>
                  <a:schemeClr val="tx1"/>
                </a:solidFill>
              </a:rPr>
              <a:t>Para la elaboración de esta presentación se utilizó </a:t>
            </a:r>
            <a:r>
              <a:rPr lang="es-CO" b="1" dirty="0">
                <a:solidFill>
                  <a:schemeClr val="tx1"/>
                </a:solidFill>
              </a:rPr>
              <a:t>Claude (</a:t>
            </a:r>
            <a:r>
              <a:rPr lang="es-CO" b="1" dirty="0" err="1">
                <a:solidFill>
                  <a:schemeClr val="tx1"/>
                </a:solidFill>
              </a:rPr>
              <a:t>Anthropic</a:t>
            </a:r>
            <a:r>
              <a:rPr lang="es-CO" b="1" dirty="0">
                <a:solidFill>
                  <a:schemeClr val="tx1"/>
                </a:solidFill>
              </a:rPr>
              <a:t>)</a:t>
            </a:r>
            <a:r>
              <a:rPr lang="es-CO" dirty="0">
                <a:solidFill>
                  <a:schemeClr val="tx1"/>
                </a:solidFill>
              </a:rPr>
              <a:t> nivel 3 como herramienta de apoyo para el </a:t>
            </a:r>
            <a:r>
              <a:rPr lang="es-CO" b="1" dirty="0">
                <a:solidFill>
                  <a:schemeClr val="tx1"/>
                </a:solidFill>
              </a:rPr>
              <a:t>diseño de esquemas y recursos gráficos.</a:t>
            </a:r>
            <a:endParaRPr lang="es-CO" dirty="0">
              <a:solidFill>
                <a:schemeClr val="tx1"/>
              </a:solidFill>
            </a:endParaRPr>
          </a:p>
        </p:txBody>
      </p:sp>
      <p:sp>
        <p:nvSpPr>
          <p:cNvPr id="10" name="CuadroTexto 9">
            <a:extLst>
              <a:ext uri="{FF2B5EF4-FFF2-40B4-BE49-F238E27FC236}">
                <a16:creationId xmlns:a16="http://schemas.microsoft.com/office/drawing/2014/main" id="{7BCCEAD7-DEB2-6EBB-9CC0-98F5BF6FD614}"/>
              </a:ext>
            </a:extLst>
          </p:cNvPr>
          <p:cNvSpPr txBox="1"/>
          <p:nvPr/>
        </p:nvSpPr>
        <p:spPr>
          <a:xfrm>
            <a:off x="788505" y="2707275"/>
            <a:ext cx="7566990" cy="1200329"/>
          </a:xfrm>
          <a:prstGeom prst="rect">
            <a:avLst/>
          </a:prstGeom>
          <a:noFill/>
        </p:spPr>
        <p:txBody>
          <a:bodyPr wrap="square">
            <a:spAutoFit/>
          </a:bodyPr>
          <a:lstStyle/>
          <a:p>
            <a:pPr lvl="0" algn="just"/>
            <a:r>
              <a:rPr lang="es-CO" b="0" dirty="0">
                <a:solidFill>
                  <a:schemeClr val="tx1"/>
                </a:solidFill>
              </a:rPr>
              <a:t>Todo el contenido generado con asistencia de inteligencia artificial fue revisado, verificado y supervisado por los autores, quienes realizaron los ajustes correspondientes y asumen la responsabilidad final sobre la precisión, pertinencia e integridad del contenido presentado.</a:t>
            </a:r>
          </a:p>
        </p:txBody>
      </p:sp>
    </p:spTree>
    <p:extLst>
      <p:ext uri="{BB962C8B-B14F-4D97-AF65-F5344CB8AC3E}">
        <p14:creationId xmlns:p14="http://schemas.microsoft.com/office/powerpoint/2010/main" val="2972844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6A4CCF"/>
                </a:solidFill>
                <a:latin typeface="Calibri" pitchFamily="34" charset="0"/>
                <a:ea typeface="Calibri" pitchFamily="34" charset="-122"/>
                <a:cs typeface="Calibri" pitchFamily="34" charset="-120"/>
              </a:rPr>
              <a:t>LA PREGUNTA</a:t>
            </a:r>
            <a:endParaRPr lang="en-US" sz="1400" dirty="0"/>
          </a:p>
        </p:txBody>
      </p:sp>
      <p:sp>
        <p:nvSpPr>
          <p:cNvPr id="3" name="Text 1"/>
          <p:cNvSpPr txBox="1"/>
          <p:nvPr/>
        </p:nvSpPr>
        <p:spPr>
          <a:xfrm>
            <a:off x="457200" y="77724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Cinco pistas para responderla</a:t>
            </a:r>
            <a:endParaRPr lang="en-US" sz="2900" dirty="0"/>
          </a:p>
        </p:txBody>
      </p:sp>
      <p:sp>
        <p:nvSpPr>
          <p:cNvPr id="6" name="Shape 4"/>
          <p:cNvSpPr/>
          <p:nvPr/>
        </p:nvSpPr>
        <p:spPr>
          <a:xfrm>
            <a:off x="384048" y="1691640"/>
            <a:ext cx="1572768" cy="2057400"/>
          </a:xfrm>
          <a:prstGeom prst="roundRect">
            <a:avLst>
              <a:gd name="adj" fmla="val 5814"/>
            </a:avLst>
          </a:prstGeom>
          <a:solidFill>
            <a:srgbClr val="F2546B">
              <a:alpha val="10000"/>
            </a:srgbClr>
          </a:solidFill>
          <a:ln w="19050">
            <a:solidFill>
              <a:srgbClr val="F2546B"/>
            </a:solidFill>
            <a:prstDash val="solid"/>
          </a:ln>
        </p:spPr>
        <p:txBody>
          <a:bodyPr/>
          <a:lstStyle/>
          <a:p>
            <a:endParaRPr lang="es-CO"/>
          </a:p>
        </p:txBody>
      </p:sp>
      <p:sp>
        <p:nvSpPr>
          <p:cNvPr id="7" name="Shape 5"/>
          <p:cNvSpPr/>
          <p:nvPr/>
        </p:nvSpPr>
        <p:spPr>
          <a:xfrm>
            <a:off x="896112" y="1901952"/>
            <a:ext cx="548640" cy="548640"/>
          </a:xfrm>
          <a:prstGeom prst="ellipse">
            <a:avLst/>
          </a:prstGeom>
          <a:solidFill>
            <a:srgbClr val="F2546B"/>
          </a:solidFill>
          <a:ln w="12700">
            <a:solidFill>
              <a:srgbClr val="F2546B"/>
            </a:solidFill>
            <a:prstDash val="solid"/>
          </a:ln>
        </p:spPr>
        <p:txBody>
          <a:bodyPr/>
          <a:lstStyle/>
          <a:p>
            <a:endParaRPr lang="es-CO"/>
          </a:p>
        </p:txBody>
      </p:sp>
      <p:pic>
        <p:nvPicPr>
          <p:cNvPr id="8" name="Image 0" descr="preencoded.png"/>
          <p:cNvPicPr>
            <a:picLocks noChangeAspect="1"/>
          </p:cNvPicPr>
          <p:nvPr/>
        </p:nvPicPr>
        <p:blipFill>
          <a:blip r:embed="rId3"/>
          <a:stretch>
            <a:fillRect/>
          </a:stretch>
        </p:blipFill>
        <p:spPr>
          <a:xfrm>
            <a:off x="1027786" y="2033626"/>
            <a:ext cx="285293" cy="285293"/>
          </a:xfrm>
          <a:prstGeom prst="rect">
            <a:avLst/>
          </a:prstGeom>
        </p:spPr>
      </p:pic>
      <p:sp>
        <p:nvSpPr>
          <p:cNvPr id="9" name="Text 6"/>
          <p:cNvSpPr txBox="1"/>
          <p:nvPr/>
        </p:nvSpPr>
        <p:spPr>
          <a:xfrm>
            <a:off x="384048" y="2542032"/>
            <a:ext cx="1572768" cy="274320"/>
          </a:xfrm>
          <a:prstGeom prst="rect">
            <a:avLst/>
          </a:prstGeom>
          <a:noFill/>
          <a:ln/>
        </p:spPr>
        <p:txBody>
          <a:bodyPr wrap="square" lIns="0" tIns="0" rIns="0" bIns="0" rtlCol="0" anchor="t"/>
          <a:lstStyle/>
          <a:p>
            <a:pPr marL="0" indent="0" algn="ctr">
              <a:buNone/>
            </a:pPr>
            <a:r>
              <a:rPr lang="en-US" sz="1500" b="1" dirty="0">
                <a:solidFill>
                  <a:srgbClr val="C81E43"/>
                </a:solidFill>
                <a:latin typeface="Calibri" pitchFamily="34" charset="0"/>
                <a:ea typeface="Calibri" pitchFamily="34" charset="-122"/>
                <a:cs typeface="Calibri" pitchFamily="34" charset="-120"/>
              </a:rPr>
              <a:t>01</a:t>
            </a:r>
            <a:endParaRPr lang="en-US" sz="1500" dirty="0"/>
          </a:p>
        </p:txBody>
      </p:sp>
      <p:sp>
        <p:nvSpPr>
          <p:cNvPr id="10" name="Text 7"/>
          <p:cNvSpPr txBox="1"/>
          <p:nvPr/>
        </p:nvSpPr>
        <p:spPr>
          <a:xfrm>
            <a:off x="356616" y="2852928"/>
            <a:ext cx="1627632" cy="640080"/>
          </a:xfrm>
          <a:prstGeom prst="rect">
            <a:avLst/>
          </a:prstGeom>
          <a:noFill/>
          <a:ln/>
        </p:spPr>
        <p:txBody>
          <a:bodyPr wrap="square" lIns="0" tIns="0" rIns="0" bIns="0" rtlCol="0" anchor="t"/>
          <a:lstStyle/>
          <a:p>
            <a:pPr marL="0" indent="0" algn="ctr">
              <a:buNone/>
            </a:pPr>
            <a:r>
              <a:rPr lang="en-US" sz="1500" b="1" dirty="0">
                <a:solidFill>
                  <a:srgbClr val="141821"/>
                </a:solidFill>
                <a:latin typeface="Calibri" pitchFamily="34" charset="0"/>
                <a:ea typeface="Calibri" pitchFamily="34" charset="-122"/>
                <a:cs typeface="Calibri" pitchFamily="34" charset="-120"/>
              </a:rPr>
              <a:t>El dolor</a:t>
            </a:r>
            <a:endParaRPr lang="en-US" sz="1500" dirty="0"/>
          </a:p>
        </p:txBody>
      </p:sp>
      <p:sp>
        <p:nvSpPr>
          <p:cNvPr id="11" name="Shape 8"/>
          <p:cNvSpPr/>
          <p:nvPr/>
        </p:nvSpPr>
        <p:spPr>
          <a:xfrm>
            <a:off x="2084832" y="1691640"/>
            <a:ext cx="1572768" cy="2057400"/>
          </a:xfrm>
          <a:prstGeom prst="roundRect">
            <a:avLst>
              <a:gd name="adj" fmla="val 5814"/>
            </a:avLst>
          </a:prstGeom>
          <a:solidFill>
            <a:srgbClr val="F2B43C">
              <a:alpha val="10000"/>
            </a:srgbClr>
          </a:solidFill>
          <a:ln w="19050">
            <a:solidFill>
              <a:srgbClr val="F2B43C"/>
            </a:solidFill>
            <a:prstDash val="solid"/>
          </a:ln>
        </p:spPr>
        <p:txBody>
          <a:bodyPr/>
          <a:lstStyle/>
          <a:p>
            <a:endParaRPr lang="es-CO"/>
          </a:p>
        </p:txBody>
      </p:sp>
      <p:sp>
        <p:nvSpPr>
          <p:cNvPr id="12" name="Shape 9"/>
          <p:cNvSpPr/>
          <p:nvPr/>
        </p:nvSpPr>
        <p:spPr>
          <a:xfrm>
            <a:off x="2596896" y="1901952"/>
            <a:ext cx="548640" cy="548640"/>
          </a:xfrm>
          <a:prstGeom prst="ellipse">
            <a:avLst/>
          </a:prstGeom>
          <a:solidFill>
            <a:srgbClr val="F2B43C"/>
          </a:solidFill>
          <a:ln w="12700">
            <a:solidFill>
              <a:srgbClr val="F2B43C"/>
            </a:solidFill>
            <a:prstDash val="solid"/>
          </a:ln>
        </p:spPr>
        <p:txBody>
          <a:bodyPr/>
          <a:lstStyle/>
          <a:p>
            <a:endParaRPr lang="es-CO"/>
          </a:p>
        </p:txBody>
      </p:sp>
      <p:pic>
        <p:nvPicPr>
          <p:cNvPr id="13" name="Image 1" descr="preencoded.png"/>
          <p:cNvPicPr>
            <a:picLocks noChangeAspect="1"/>
          </p:cNvPicPr>
          <p:nvPr/>
        </p:nvPicPr>
        <p:blipFill>
          <a:blip r:embed="rId4"/>
          <a:stretch>
            <a:fillRect/>
          </a:stretch>
        </p:blipFill>
        <p:spPr>
          <a:xfrm>
            <a:off x="2728570" y="2033626"/>
            <a:ext cx="285293" cy="285293"/>
          </a:xfrm>
          <a:prstGeom prst="rect">
            <a:avLst/>
          </a:prstGeom>
        </p:spPr>
      </p:pic>
      <p:sp>
        <p:nvSpPr>
          <p:cNvPr id="14" name="Text 10"/>
          <p:cNvSpPr txBox="1"/>
          <p:nvPr/>
        </p:nvSpPr>
        <p:spPr>
          <a:xfrm>
            <a:off x="2084832" y="2542032"/>
            <a:ext cx="1572768" cy="274320"/>
          </a:xfrm>
          <a:prstGeom prst="rect">
            <a:avLst/>
          </a:prstGeom>
          <a:noFill/>
          <a:ln/>
        </p:spPr>
        <p:txBody>
          <a:bodyPr wrap="square" lIns="0" tIns="0" rIns="0" bIns="0" rtlCol="0" anchor="t"/>
          <a:lstStyle/>
          <a:p>
            <a:pPr marL="0" indent="0" algn="ctr">
              <a:buNone/>
            </a:pPr>
            <a:r>
              <a:rPr lang="en-US" sz="1500" b="1" dirty="0">
                <a:solidFill>
                  <a:srgbClr val="A66A00"/>
                </a:solidFill>
                <a:latin typeface="Calibri" pitchFamily="34" charset="0"/>
                <a:ea typeface="Calibri" pitchFamily="34" charset="-122"/>
                <a:cs typeface="Calibri" pitchFamily="34" charset="-120"/>
              </a:rPr>
              <a:t>02</a:t>
            </a:r>
            <a:endParaRPr lang="en-US" sz="1500" dirty="0"/>
          </a:p>
        </p:txBody>
      </p:sp>
      <p:sp>
        <p:nvSpPr>
          <p:cNvPr id="15" name="Text 11"/>
          <p:cNvSpPr txBox="1"/>
          <p:nvPr/>
        </p:nvSpPr>
        <p:spPr>
          <a:xfrm>
            <a:off x="2057400" y="2852928"/>
            <a:ext cx="1627632" cy="640080"/>
          </a:xfrm>
          <a:prstGeom prst="rect">
            <a:avLst/>
          </a:prstGeom>
          <a:noFill/>
          <a:ln/>
        </p:spPr>
        <p:txBody>
          <a:bodyPr wrap="square" lIns="0" tIns="0" rIns="0" bIns="0" rtlCol="0" anchor="t"/>
          <a:lstStyle/>
          <a:p>
            <a:pPr marL="0" indent="0" algn="ctr">
              <a:buNone/>
            </a:pPr>
            <a:r>
              <a:rPr lang="en-US" sz="1500" b="1" dirty="0">
                <a:solidFill>
                  <a:srgbClr val="141821"/>
                </a:solidFill>
                <a:latin typeface="Calibri" pitchFamily="34" charset="0"/>
                <a:ea typeface="Calibri" pitchFamily="34" charset="-122"/>
                <a:cs typeface="Calibri" pitchFamily="34" charset="-120"/>
              </a:rPr>
              <a:t>La mano</a:t>
            </a:r>
            <a:endParaRPr lang="en-US" sz="1500" dirty="0"/>
          </a:p>
        </p:txBody>
      </p:sp>
      <p:sp>
        <p:nvSpPr>
          <p:cNvPr id="16" name="Shape 12"/>
          <p:cNvSpPr/>
          <p:nvPr/>
        </p:nvSpPr>
        <p:spPr>
          <a:xfrm>
            <a:off x="3785616" y="1691640"/>
            <a:ext cx="1572768" cy="2057400"/>
          </a:xfrm>
          <a:prstGeom prst="roundRect">
            <a:avLst>
              <a:gd name="adj" fmla="val 5814"/>
            </a:avLst>
          </a:prstGeom>
          <a:solidFill>
            <a:srgbClr val="2EC4B6">
              <a:alpha val="10000"/>
            </a:srgbClr>
          </a:solidFill>
          <a:ln w="19050">
            <a:solidFill>
              <a:srgbClr val="2EC4B6"/>
            </a:solidFill>
            <a:prstDash val="solid"/>
          </a:ln>
        </p:spPr>
        <p:txBody>
          <a:bodyPr/>
          <a:lstStyle/>
          <a:p>
            <a:endParaRPr lang="es-CO"/>
          </a:p>
        </p:txBody>
      </p:sp>
      <p:sp>
        <p:nvSpPr>
          <p:cNvPr id="17" name="Shape 13"/>
          <p:cNvSpPr/>
          <p:nvPr/>
        </p:nvSpPr>
        <p:spPr>
          <a:xfrm>
            <a:off x="4297680" y="1901952"/>
            <a:ext cx="548640" cy="548640"/>
          </a:xfrm>
          <a:prstGeom prst="ellipse">
            <a:avLst/>
          </a:prstGeom>
          <a:solidFill>
            <a:srgbClr val="2EC4B6"/>
          </a:solidFill>
          <a:ln w="12700">
            <a:solidFill>
              <a:srgbClr val="2EC4B6"/>
            </a:solidFill>
            <a:prstDash val="solid"/>
          </a:ln>
        </p:spPr>
        <p:txBody>
          <a:bodyPr/>
          <a:lstStyle/>
          <a:p>
            <a:endParaRPr lang="es-CO"/>
          </a:p>
        </p:txBody>
      </p:sp>
      <p:pic>
        <p:nvPicPr>
          <p:cNvPr id="18" name="Image 2" descr="preencoded.png"/>
          <p:cNvPicPr>
            <a:picLocks noChangeAspect="1"/>
          </p:cNvPicPr>
          <p:nvPr/>
        </p:nvPicPr>
        <p:blipFill>
          <a:blip r:embed="rId5"/>
          <a:stretch>
            <a:fillRect/>
          </a:stretch>
        </p:blipFill>
        <p:spPr>
          <a:xfrm>
            <a:off x="4429354" y="2033626"/>
            <a:ext cx="285293" cy="285293"/>
          </a:xfrm>
          <a:prstGeom prst="rect">
            <a:avLst/>
          </a:prstGeom>
        </p:spPr>
      </p:pic>
      <p:sp>
        <p:nvSpPr>
          <p:cNvPr id="19" name="Text 14"/>
          <p:cNvSpPr txBox="1"/>
          <p:nvPr/>
        </p:nvSpPr>
        <p:spPr>
          <a:xfrm>
            <a:off x="3785616" y="2542032"/>
            <a:ext cx="1572768" cy="274320"/>
          </a:xfrm>
          <a:prstGeom prst="rect">
            <a:avLst/>
          </a:prstGeom>
          <a:noFill/>
          <a:ln/>
        </p:spPr>
        <p:txBody>
          <a:bodyPr wrap="square" lIns="0" tIns="0" rIns="0" bIns="0" rtlCol="0" anchor="t"/>
          <a:lstStyle/>
          <a:p>
            <a:pPr marL="0" indent="0" algn="ctr">
              <a:buNone/>
            </a:pPr>
            <a:r>
              <a:rPr lang="en-US" sz="1500" b="1" dirty="0">
                <a:solidFill>
                  <a:srgbClr val="0C8368"/>
                </a:solidFill>
                <a:latin typeface="Calibri" pitchFamily="34" charset="0"/>
                <a:ea typeface="Calibri" pitchFamily="34" charset="-122"/>
                <a:cs typeface="Calibri" pitchFamily="34" charset="-120"/>
              </a:rPr>
              <a:t>03</a:t>
            </a:r>
            <a:endParaRPr lang="en-US" sz="1500" dirty="0"/>
          </a:p>
        </p:txBody>
      </p:sp>
      <p:sp>
        <p:nvSpPr>
          <p:cNvPr id="20" name="Text 15"/>
          <p:cNvSpPr txBox="1"/>
          <p:nvPr/>
        </p:nvSpPr>
        <p:spPr>
          <a:xfrm>
            <a:off x="3758184" y="2852928"/>
            <a:ext cx="1627632" cy="640080"/>
          </a:xfrm>
          <a:prstGeom prst="rect">
            <a:avLst/>
          </a:prstGeom>
          <a:noFill/>
          <a:ln/>
        </p:spPr>
        <p:txBody>
          <a:bodyPr wrap="square" lIns="0" tIns="0" rIns="0" bIns="0" rtlCol="0" anchor="t"/>
          <a:lstStyle/>
          <a:p>
            <a:pPr marL="0" indent="0" algn="ctr">
              <a:buNone/>
            </a:pPr>
            <a:r>
              <a:rPr lang="en-US" sz="1500" b="1" dirty="0">
                <a:solidFill>
                  <a:srgbClr val="141821"/>
                </a:solidFill>
                <a:latin typeface="Calibri" pitchFamily="34" charset="0"/>
                <a:ea typeface="Calibri" pitchFamily="34" charset="-122"/>
                <a:cs typeface="Calibri" pitchFamily="34" charset="-120"/>
              </a:rPr>
              <a:t>El examen</a:t>
            </a:r>
            <a:endParaRPr lang="en-US" sz="1500" dirty="0"/>
          </a:p>
        </p:txBody>
      </p:sp>
      <p:sp>
        <p:nvSpPr>
          <p:cNvPr id="21" name="Shape 16"/>
          <p:cNvSpPr/>
          <p:nvPr/>
        </p:nvSpPr>
        <p:spPr>
          <a:xfrm>
            <a:off x="5486400" y="1691640"/>
            <a:ext cx="1572768" cy="2057400"/>
          </a:xfrm>
          <a:prstGeom prst="roundRect">
            <a:avLst>
              <a:gd name="adj" fmla="val 5814"/>
            </a:avLst>
          </a:prstGeom>
          <a:solidFill>
            <a:srgbClr val="4CC9F0">
              <a:alpha val="10000"/>
            </a:srgbClr>
          </a:solidFill>
          <a:ln w="19050">
            <a:solidFill>
              <a:srgbClr val="4CC9F0"/>
            </a:solidFill>
            <a:prstDash val="solid"/>
          </a:ln>
        </p:spPr>
        <p:txBody>
          <a:bodyPr/>
          <a:lstStyle/>
          <a:p>
            <a:endParaRPr lang="es-CO"/>
          </a:p>
        </p:txBody>
      </p:sp>
      <p:sp>
        <p:nvSpPr>
          <p:cNvPr id="22" name="Shape 17"/>
          <p:cNvSpPr/>
          <p:nvPr/>
        </p:nvSpPr>
        <p:spPr>
          <a:xfrm>
            <a:off x="5998464" y="1901952"/>
            <a:ext cx="548640" cy="548640"/>
          </a:xfrm>
          <a:prstGeom prst="ellipse">
            <a:avLst/>
          </a:prstGeom>
          <a:solidFill>
            <a:srgbClr val="4CC9F0"/>
          </a:solidFill>
          <a:ln w="12700">
            <a:solidFill>
              <a:srgbClr val="4CC9F0"/>
            </a:solidFill>
            <a:prstDash val="solid"/>
          </a:ln>
        </p:spPr>
        <p:txBody>
          <a:bodyPr/>
          <a:lstStyle/>
          <a:p>
            <a:endParaRPr lang="es-CO"/>
          </a:p>
        </p:txBody>
      </p:sp>
      <p:pic>
        <p:nvPicPr>
          <p:cNvPr id="23" name="Image 3" descr="preencoded.png"/>
          <p:cNvPicPr>
            <a:picLocks noChangeAspect="1"/>
          </p:cNvPicPr>
          <p:nvPr/>
        </p:nvPicPr>
        <p:blipFill>
          <a:blip r:embed="rId6"/>
          <a:stretch>
            <a:fillRect/>
          </a:stretch>
        </p:blipFill>
        <p:spPr>
          <a:xfrm>
            <a:off x="6130138" y="2033626"/>
            <a:ext cx="285293" cy="285293"/>
          </a:xfrm>
          <a:prstGeom prst="rect">
            <a:avLst/>
          </a:prstGeom>
        </p:spPr>
      </p:pic>
      <p:sp>
        <p:nvSpPr>
          <p:cNvPr id="24" name="Text 18"/>
          <p:cNvSpPr txBox="1"/>
          <p:nvPr/>
        </p:nvSpPr>
        <p:spPr>
          <a:xfrm>
            <a:off x="5486400" y="2542032"/>
            <a:ext cx="1572768" cy="274320"/>
          </a:xfrm>
          <a:prstGeom prst="rect">
            <a:avLst/>
          </a:prstGeom>
          <a:noFill/>
          <a:ln/>
        </p:spPr>
        <p:txBody>
          <a:bodyPr wrap="square" lIns="0" tIns="0" rIns="0" bIns="0" rtlCol="0" anchor="t"/>
          <a:lstStyle/>
          <a:p>
            <a:pPr marL="0" indent="0" algn="ctr">
              <a:buNone/>
            </a:pPr>
            <a:r>
              <a:rPr lang="en-US" sz="1500" b="1" dirty="0">
                <a:solidFill>
                  <a:srgbClr val="0A6F98"/>
                </a:solidFill>
                <a:latin typeface="Calibri" pitchFamily="34" charset="0"/>
                <a:ea typeface="Calibri" pitchFamily="34" charset="-122"/>
                <a:cs typeface="Calibri" pitchFamily="34" charset="-120"/>
              </a:rPr>
              <a:t>04</a:t>
            </a:r>
            <a:endParaRPr lang="en-US" sz="1500" dirty="0"/>
          </a:p>
        </p:txBody>
      </p:sp>
      <p:sp>
        <p:nvSpPr>
          <p:cNvPr id="25" name="Text 19"/>
          <p:cNvSpPr txBox="1"/>
          <p:nvPr/>
        </p:nvSpPr>
        <p:spPr>
          <a:xfrm>
            <a:off x="5458968" y="2852928"/>
            <a:ext cx="1627632" cy="640080"/>
          </a:xfrm>
          <a:prstGeom prst="rect">
            <a:avLst/>
          </a:prstGeom>
          <a:noFill/>
          <a:ln/>
        </p:spPr>
        <p:txBody>
          <a:bodyPr wrap="square" lIns="0" tIns="0" rIns="0" bIns="0" rtlCol="0" anchor="t"/>
          <a:lstStyle/>
          <a:p>
            <a:pPr marL="0" indent="0" algn="ctr">
              <a:buNone/>
            </a:pPr>
            <a:r>
              <a:rPr lang="en-US" sz="1500" b="1" dirty="0">
                <a:solidFill>
                  <a:srgbClr val="141821"/>
                </a:solidFill>
                <a:latin typeface="Calibri" pitchFamily="34" charset="0"/>
                <a:ea typeface="Calibri" pitchFamily="34" charset="-122"/>
                <a:cs typeface="Calibri" pitchFamily="34" charset="-120"/>
              </a:rPr>
              <a:t>El laboratorio</a:t>
            </a:r>
            <a:endParaRPr lang="en-US" sz="1500" dirty="0"/>
          </a:p>
        </p:txBody>
      </p:sp>
      <p:sp>
        <p:nvSpPr>
          <p:cNvPr id="26" name="Shape 20"/>
          <p:cNvSpPr/>
          <p:nvPr/>
        </p:nvSpPr>
        <p:spPr>
          <a:xfrm>
            <a:off x="7187184" y="1691640"/>
            <a:ext cx="1572768" cy="2057400"/>
          </a:xfrm>
          <a:prstGeom prst="roundRect">
            <a:avLst>
              <a:gd name="adj" fmla="val 5814"/>
            </a:avLst>
          </a:prstGeom>
          <a:solidFill>
            <a:srgbClr val="A78BFA">
              <a:alpha val="10000"/>
            </a:srgbClr>
          </a:solidFill>
          <a:ln w="19050">
            <a:solidFill>
              <a:srgbClr val="A78BFA"/>
            </a:solidFill>
            <a:prstDash val="solid"/>
          </a:ln>
        </p:spPr>
        <p:txBody>
          <a:bodyPr/>
          <a:lstStyle/>
          <a:p>
            <a:endParaRPr lang="es-CO"/>
          </a:p>
        </p:txBody>
      </p:sp>
      <p:sp>
        <p:nvSpPr>
          <p:cNvPr id="27" name="Shape 21"/>
          <p:cNvSpPr/>
          <p:nvPr/>
        </p:nvSpPr>
        <p:spPr>
          <a:xfrm>
            <a:off x="7699248" y="1901952"/>
            <a:ext cx="548640" cy="548640"/>
          </a:xfrm>
          <a:prstGeom prst="ellipse">
            <a:avLst/>
          </a:prstGeom>
          <a:solidFill>
            <a:srgbClr val="A78BFA"/>
          </a:solidFill>
          <a:ln w="12700">
            <a:solidFill>
              <a:srgbClr val="A78BFA"/>
            </a:solidFill>
            <a:prstDash val="solid"/>
          </a:ln>
        </p:spPr>
        <p:txBody>
          <a:bodyPr/>
          <a:lstStyle/>
          <a:p>
            <a:endParaRPr lang="es-CO"/>
          </a:p>
        </p:txBody>
      </p:sp>
      <p:pic>
        <p:nvPicPr>
          <p:cNvPr id="28" name="Image 4" descr="preencoded.png"/>
          <p:cNvPicPr>
            <a:picLocks noChangeAspect="1"/>
          </p:cNvPicPr>
          <p:nvPr/>
        </p:nvPicPr>
        <p:blipFill>
          <a:blip r:embed="rId7"/>
          <a:stretch>
            <a:fillRect/>
          </a:stretch>
        </p:blipFill>
        <p:spPr>
          <a:xfrm>
            <a:off x="7830922" y="2033626"/>
            <a:ext cx="285293" cy="285293"/>
          </a:xfrm>
          <a:prstGeom prst="rect">
            <a:avLst/>
          </a:prstGeom>
        </p:spPr>
      </p:pic>
      <p:sp>
        <p:nvSpPr>
          <p:cNvPr id="29" name="Text 22"/>
          <p:cNvSpPr txBox="1"/>
          <p:nvPr/>
        </p:nvSpPr>
        <p:spPr>
          <a:xfrm>
            <a:off x="7187184" y="2542032"/>
            <a:ext cx="1572768" cy="274320"/>
          </a:xfrm>
          <a:prstGeom prst="rect">
            <a:avLst/>
          </a:prstGeom>
          <a:noFill/>
          <a:ln/>
        </p:spPr>
        <p:txBody>
          <a:bodyPr wrap="square" lIns="0" tIns="0" rIns="0" bIns="0" rtlCol="0" anchor="t"/>
          <a:lstStyle/>
          <a:p>
            <a:pPr marL="0" indent="0" algn="ctr">
              <a:buNone/>
            </a:pPr>
            <a:r>
              <a:rPr lang="en-US" sz="1500" b="1" dirty="0">
                <a:solidFill>
                  <a:srgbClr val="6A4CCF"/>
                </a:solidFill>
                <a:latin typeface="Calibri" pitchFamily="34" charset="0"/>
                <a:ea typeface="Calibri" pitchFamily="34" charset="-122"/>
                <a:cs typeface="Calibri" pitchFamily="34" charset="-120"/>
              </a:rPr>
              <a:t>05</a:t>
            </a:r>
            <a:endParaRPr lang="en-US" sz="1500" dirty="0"/>
          </a:p>
        </p:txBody>
      </p:sp>
      <p:sp>
        <p:nvSpPr>
          <p:cNvPr id="30" name="Text 23"/>
          <p:cNvSpPr txBox="1"/>
          <p:nvPr/>
        </p:nvSpPr>
        <p:spPr>
          <a:xfrm>
            <a:off x="7159752" y="2852928"/>
            <a:ext cx="1627632" cy="640080"/>
          </a:xfrm>
          <a:prstGeom prst="rect">
            <a:avLst/>
          </a:prstGeom>
          <a:noFill/>
          <a:ln/>
        </p:spPr>
        <p:txBody>
          <a:bodyPr wrap="square" lIns="0" tIns="0" rIns="0" bIns="0" rtlCol="0" anchor="t"/>
          <a:lstStyle/>
          <a:p>
            <a:pPr marL="0" indent="0" algn="ctr">
              <a:buNone/>
            </a:pPr>
            <a:r>
              <a:rPr lang="en-US" sz="1500" b="1" dirty="0">
                <a:solidFill>
                  <a:srgbClr val="141821"/>
                </a:solidFill>
                <a:latin typeface="Calibri" pitchFamily="34" charset="0"/>
                <a:ea typeface="Calibri" pitchFamily="34" charset="-122"/>
                <a:cs typeface="Calibri" pitchFamily="34" charset="-120"/>
              </a:rPr>
              <a:t>La imagen</a:t>
            </a:r>
            <a:endParaRPr lang="en-US" sz="1500" dirty="0"/>
          </a:p>
        </p:txBody>
      </p:sp>
      <p:sp>
        <p:nvSpPr>
          <p:cNvPr id="31" name="Shape 24"/>
          <p:cNvSpPr/>
          <p:nvPr/>
        </p:nvSpPr>
        <p:spPr>
          <a:xfrm>
            <a:off x="384048" y="3931920"/>
            <a:ext cx="8375904" cy="502920"/>
          </a:xfrm>
          <a:prstGeom prst="roundRect">
            <a:avLst>
              <a:gd name="adj" fmla="val 18182"/>
            </a:avLst>
          </a:prstGeom>
          <a:solidFill>
            <a:srgbClr val="A78BFA">
              <a:alpha val="10000"/>
            </a:srgbClr>
          </a:solidFill>
          <a:ln w="19050">
            <a:solidFill>
              <a:srgbClr val="A78BFA"/>
            </a:solidFill>
            <a:prstDash val="solid"/>
          </a:ln>
        </p:spPr>
        <p:txBody>
          <a:bodyPr/>
          <a:lstStyle/>
          <a:p>
            <a:endParaRPr lang="es-CO"/>
          </a:p>
        </p:txBody>
      </p:sp>
      <p:sp>
        <p:nvSpPr>
          <p:cNvPr id="32" name="Text 25"/>
          <p:cNvSpPr txBox="1"/>
          <p:nvPr/>
        </p:nvSpPr>
        <p:spPr>
          <a:xfrm>
            <a:off x="438912" y="3931920"/>
            <a:ext cx="8266176" cy="502920"/>
          </a:xfrm>
          <a:prstGeom prst="rect">
            <a:avLst/>
          </a:prstGeom>
          <a:noFill/>
          <a:ln/>
        </p:spPr>
        <p:txBody>
          <a:bodyPr wrap="square" lIns="0" tIns="0" rIns="0" bIns="0" rtlCol="0" anchor="ctr"/>
          <a:lstStyle/>
          <a:p>
            <a:pPr marL="0" indent="0" algn="ctr">
              <a:buNone/>
            </a:pPr>
            <a:r>
              <a:rPr lang="en-US" sz="1400" b="1" dirty="0">
                <a:solidFill>
                  <a:srgbClr val="141821"/>
                </a:solidFill>
                <a:latin typeface="Calibri" pitchFamily="34" charset="0"/>
                <a:ea typeface="Calibri" pitchFamily="34" charset="-122"/>
                <a:cs typeface="Calibri" pitchFamily="34" charset="-120"/>
              </a:rPr>
              <a:t>La respuesta casi nunca está en una sola prueba: es el patrón el que decide</a:t>
            </a:r>
            <a:endParaRPr lang="en-US" sz="1400" dirty="0"/>
          </a:p>
        </p:txBody>
      </p:sp>
      <p:sp>
        <p:nvSpPr>
          <p:cNvPr id="33"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6A4CCF"/>
                </a:solidFill>
                <a:latin typeface="Calibri" pitchFamily="34" charset="0"/>
                <a:ea typeface="Calibri" pitchFamily="34" charset="-122"/>
                <a:cs typeface="Calibri" pitchFamily="34" charset="-120"/>
              </a:rPr>
              <a:t>POR QUÉ IMPORTA</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No es lo mismo: cambia la urgencia y el tratamiento</a:t>
            </a:r>
            <a:endParaRPr lang="en-US" sz="29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4. Combe B, Landewe R, Daien CI, Hua C, Aletaha D, Alvaro-Gracia JM, et al. 2016 update of the EULAR recommendations for the management of early arthritis. Ann Rheum Dis. 2017;76(6):948-59.</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8. Tang S, Zhang C, Oo WM, Fu K, Risberg MA, Bierma-Zeinstra SM, et al. Osteoarthritis. Nat Rev Dis Primers. 2025;11(1):10.</a:t>
            </a:r>
            <a:endParaRPr lang="en-US" sz="900" dirty="0"/>
          </a:p>
        </p:txBody>
      </p:sp>
      <p:sp>
        <p:nvSpPr>
          <p:cNvPr id="7" name="Shape 5"/>
          <p:cNvSpPr/>
          <p:nvPr/>
        </p:nvSpPr>
        <p:spPr>
          <a:xfrm>
            <a:off x="457200" y="1280160"/>
            <a:ext cx="4023360" cy="2788920"/>
          </a:xfrm>
          <a:prstGeom prst="roundRect">
            <a:avLst>
              <a:gd name="adj" fmla="val 3279"/>
            </a:avLst>
          </a:prstGeom>
          <a:solidFill>
            <a:srgbClr val="FFFFFF"/>
          </a:solidFill>
          <a:ln w="19050">
            <a:solidFill>
              <a:srgbClr val="F2546B"/>
            </a:solidFill>
            <a:prstDash val="solid"/>
          </a:ln>
        </p:spPr>
        <p:txBody>
          <a:bodyPr/>
          <a:lstStyle/>
          <a:p>
            <a:endParaRPr lang="es-CO"/>
          </a:p>
        </p:txBody>
      </p:sp>
      <p:sp>
        <p:nvSpPr>
          <p:cNvPr id="8" name="Shape 6"/>
          <p:cNvSpPr/>
          <p:nvPr/>
        </p:nvSpPr>
        <p:spPr>
          <a:xfrm>
            <a:off x="640080" y="1463040"/>
            <a:ext cx="621792" cy="621792"/>
          </a:xfrm>
          <a:prstGeom prst="ellipse">
            <a:avLst/>
          </a:prstGeom>
          <a:solidFill>
            <a:srgbClr val="F2546B"/>
          </a:solidFill>
          <a:ln w="12700">
            <a:solidFill>
              <a:srgbClr val="F2546B"/>
            </a:solidFill>
            <a:prstDash val="solid"/>
          </a:ln>
        </p:spPr>
        <p:txBody>
          <a:bodyPr/>
          <a:lstStyle/>
          <a:p>
            <a:endParaRPr lang="es-CO"/>
          </a:p>
        </p:txBody>
      </p:sp>
      <p:pic>
        <p:nvPicPr>
          <p:cNvPr id="9" name="Image 0" descr="preencoded.png"/>
          <p:cNvPicPr>
            <a:picLocks noChangeAspect="1"/>
          </p:cNvPicPr>
          <p:nvPr/>
        </p:nvPicPr>
        <p:blipFill>
          <a:blip r:embed="rId3"/>
          <a:stretch>
            <a:fillRect/>
          </a:stretch>
        </p:blipFill>
        <p:spPr>
          <a:xfrm>
            <a:off x="789310" y="1612270"/>
            <a:ext cx="323332" cy="323332"/>
          </a:xfrm>
          <a:prstGeom prst="rect">
            <a:avLst/>
          </a:prstGeom>
        </p:spPr>
      </p:pic>
      <p:sp>
        <p:nvSpPr>
          <p:cNvPr id="10" name="Text 7"/>
          <p:cNvSpPr txBox="1"/>
          <p:nvPr/>
        </p:nvSpPr>
        <p:spPr>
          <a:xfrm>
            <a:off x="1353312" y="1517904"/>
            <a:ext cx="3017520" cy="457200"/>
          </a:xfrm>
          <a:prstGeom prst="rect">
            <a:avLst/>
          </a:prstGeom>
          <a:noFill/>
          <a:ln/>
        </p:spPr>
        <p:txBody>
          <a:bodyPr wrap="square" lIns="0" tIns="0" rIns="0" bIns="0" rtlCol="0" anchor="ctr"/>
          <a:lstStyle/>
          <a:p>
            <a:pPr marL="0" indent="0">
              <a:buNone/>
            </a:pPr>
            <a:r>
              <a:rPr lang="en-US" sz="1800" b="1" dirty="0">
                <a:solidFill>
                  <a:srgbClr val="C81E43"/>
                </a:solidFill>
                <a:latin typeface="Calibri" pitchFamily="34" charset="0"/>
                <a:ea typeface="Calibri" pitchFamily="34" charset="-122"/>
                <a:cs typeface="Calibri" pitchFamily="34" charset="-120"/>
              </a:rPr>
              <a:t>Artritis reumatoide</a:t>
            </a:r>
            <a:endParaRPr lang="en-US" sz="1800" dirty="0"/>
          </a:p>
        </p:txBody>
      </p:sp>
      <p:sp>
        <p:nvSpPr>
          <p:cNvPr id="11" name="Text 8"/>
          <p:cNvSpPr txBox="1"/>
          <p:nvPr/>
        </p:nvSpPr>
        <p:spPr>
          <a:xfrm>
            <a:off x="685800" y="2194560"/>
            <a:ext cx="3611880" cy="18288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41821"/>
                </a:solidFill>
                <a:latin typeface="Calibri" pitchFamily="34" charset="0"/>
                <a:ea typeface="Calibri" pitchFamily="34" charset="-122"/>
                <a:cs typeface="Calibri" pitchFamily="34" charset="-120"/>
              </a:rPr>
              <a:t>Inflamatoria y autoinmune</a:t>
            </a:r>
            <a:r>
              <a:rPr lang="en-US" sz="1450" b="1" dirty="0">
                <a:solidFill>
                  <a:srgbClr val="C00000"/>
                </a:solidFill>
                <a:latin typeface="Calibri" pitchFamily="34" charset="0"/>
                <a:ea typeface="Calibri" pitchFamily="34" charset="-122"/>
                <a:cs typeface="Calibri" pitchFamily="34" charset="-120"/>
              </a:rPr>
              <a:t>: hay ventana de oportunidad.</a:t>
            </a:r>
            <a:endParaRPr lang="en-US" sz="1450" b="1" dirty="0">
              <a:solidFill>
                <a:srgbClr val="C00000"/>
              </a:solidFill>
            </a:endParaRPr>
          </a:p>
          <a:p>
            <a:pPr marL="342900" indent="-342900">
              <a:spcAft>
                <a:spcPts val="800"/>
              </a:spcAft>
              <a:buSzPct val="100000"/>
              <a:buChar char="•"/>
            </a:pPr>
            <a:r>
              <a:rPr lang="en-US" sz="1450" dirty="0">
                <a:solidFill>
                  <a:srgbClr val="141821"/>
                </a:solidFill>
                <a:latin typeface="Calibri" pitchFamily="34" charset="0"/>
                <a:ea typeface="Calibri" pitchFamily="34" charset="-122"/>
                <a:cs typeface="Calibri" pitchFamily="34" charset="-120"/>
              </a:rPr>
              <a:t>Sin tratamiento pronto erosiona y deforma de forma </a:t>
            </a:r>
            <a:r>
              <a:rPr lang="en-US" sz="1450" b="1" dirty="0">
                <a:solidFill>
                  <a:srgbClr val="C00000"/>
                </a:solidFill>
                <a:latin typeface="Calibri" pitchFamily="34" charset="0"/>
                <a:ea typeface="Calibri" pitchFamily="34" charset="-122"/>
                <a:cs typeface="Calibri" pitchFamily="34" charset="-120"/>
              </a:rPr>
              <a:t>irreversible</a:t>
            </a:r>
            <a:r>
              <a:rPr lang="en-US" sz="1450" dirty="0">
                <a:solidFill>
                  <a:srgbClr val="141821"/>
                </a:solidFill>
                <a:latin typeface="Calibri" pitchFamily="34" charset="0"/>
                <a:ea typeface="Calibri" pitchFamily="34" charset="-122"/>
                <a:cs typeface="Calibri" pitchFamily="34" charset="-120"/>
              </a:rPr>
              <a:t>.</a:t>
            </a:r>
            <a:endParaRPr lang="en-US" sz="1450" dirty="0"/>
          </a:p>
          <a:p>
            <a:pPr marL="342900" indent="-342900">
              <a:spcAft>
                <a:spcPts val="800"/>
              </a:spcAft>
              <a:buSzPct val="100000"/>
              <a:buChar char="•"/>
            </a:pPr>
            <a:r>
              <a:rPr lang="en-US" sz="1450" dirty="0">
                <a:solidFill>
                  <a:srgbClr val="141821"/>
                </a:solidFill>
                <a:latin typeface="Calibri" pitchFamily="34" charset="0"/>
                <a:ea typeface="Calibri" pitchFamily="34" charset="-122"/>
                <a:cs typeface="Calibri" pitchFamily="34" charset="-120"/>
              </a:rPr>
              <a:t>Derivar temprano a reumatología cambia el pronóstico.</a:t>
            </a:r>
            <a:endParaRPr lang="en-US" sz="1450" dirty="0"/>
          </a:p>
        </p:txBody>
      </p:sp>
      <p:sp>
        <p:nvSpPr>
          <p:cNvPr id="12" name="Shape 9"/>
          <p:cNvSpPr/>
          <p:nvPr/>
        </p:nvSpPr>
        <p:spPr>
          <a:xfrm>
            <a:off x="4663440" y="1280160"/>
            <a:ext cx="4023360" cy="2788920"/>
          </a:xfrm>
          <a:prstGeom prst="roundRect">
            <a:avLst>
              <a:gd name="adj" fmla="val 3279"/>
            </a:avLst>
          </a:prstGeom>
          <a:solidFill>
            <a:srgbClr val="FFFFFF"/>
          </a:solidFill>
          <a:ln w="19050">
            <a:solidFill>
              <a:srgbClr val="F2B43C"/>
            </a:solidFill>
            <a:prstDash val="solid"/>
          </a:ln>
        </p:spPr>
        <p:txBody>
          <a:bodyPr/>
          <a:lstStyle/>
          <a:p>
            <a:endParaRPr lang="es-CO"/>
          </a:p>
        </p:txBody>
      </p:sp>
      <p:sp>
        <p:nvSpPr>
          <p:cNvPr id="13" name="Shape 10"/>
          <p:cNvSpPr/>
          <p:nvPr/>
        </p:nvSpPr>
        <p:spPr>
          <a:xfrm>
            <a:off x="4846320" y="1463040"/>
            <a:ext cx="621792" cy="621792"/>
          </a:xfrm>
          <a:prstGeom prst="ellipse">
            <a:avLst/>
          </a:prstGeom>
          <a:solidFill>
            <a:srgbClr val="F2B43C"/>
          </a:solidFill>
          <a:ln w="12700">
            <a:solidFill>
              <a:srgbClr val="F2B43C"/>
            </a:solidFill>
            <a:prstDash val="solid"/>
          </a:ln>
        </p:spPr>
        <p:txBody>
          <a:bodyPr/>
          <a:lstStyle/>
          <a:p>
            <a:endParaRPr lang="es-CO"/>
          </a:p>
        </p:txBody>
      </p:sp>
      <p:pic>
        <p:nvPicPr>
          <p:cNvPr id="14" name="Image 1" descr="preencoded.png"/>
          <p:cNvPicPr>
            <a:picLocks noChangeAspect="1"/>
          </p:cNvPicPr>
          <p:nvPr/>
        </p:nvPicPr>
        <p:blipFill>
          <a:blip r:embed="rId4"/>
          <a:stretch>
            <a:fillRect/>
          </a:stretch>
        </p:blipFill>
        <p:spPr>
          <a:xfrm>
            <a:off x="4995550" y="1612270"/>
            <a:ext cx="323332" cy="323332"/>
          </a:xfrm>
          <a:prstGeom prst="rect">
            <a:avLst/>
          </a:prstGeom>
        </p:spPr>
      </p:pic>
      <p:sp>
        <p:nvSpPr>
          <p:cNvPr id="15" name="Text 11"/>
          <p:cNvSpPr txBox="1"/>
          <p:nvPr/>
        </p:nvSpPr>
        <p:spPr>
          <a:xfrm>
            <a:off x="5559552" y="1517904"/>
            <a:ext cx="3017520" cy="457200"/>
          </a:xfrm>
          <a:prstGeom prst="rect">
            <a:avLst/>
          </a:prstGeom>
          <a:noFill/>
          <a:ln/>
        </p:spPr>
        <p:txBody>
          <a:bodyPr wrap="square" lIns="0" tIns="0" rIns="0" bIns="0" rtlCol="0" anchor="ctr"/>
          <a:lstStyle/>
          <a:p>
            <a:pPr marL="0" indent="0">
              <a:buNone/>
            </a:pPr>
            <a:r>
              <a:rPr lang="en-US" sz="1800" b="1" dirty="0">
                <a:solidFill>
                  <a:srgbClr val="A66A00"/>
                </a:solidFill>
                <a:latin typeface="Calibri" pitchFamily="34" charset="0"/>
                <a:ea typeface="Calibri" pitchFamily="34" charset="-122"/>
                <a:cs typeface="Calibri" pitchFamily="34" charset="-120"/>
              </a:rPr>
              <a:t>Artrosis</a:t>
            </a:r>
            <a:endParaRPr lang="en-US" sz="1800" dirty="0"/>
          </a:p>
        </p:txBody>
      </p:sp>
      <p:sp>
        <p:nvSpPr>
          <p:cNvPr id="16" name="Text 12"/>
          <p:cNvSpPr txBox="1"/>
          <p:nvPr/>
        </p:nvSpPr>
        <p:spPr>
          <a:xfrm>
            <a:off x="4892040" y="2194560"/>
            <a:ext cx="3611880" cy="18288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41821"/>
                </a:solidFill>
                <a:latin typeface="Calibri" pitchFamily="34" charset="0"/>
                <a:ea typeface="Calibri" pitchFamily="34" charset="-122"/>
                <a:cs typeface="Calibri" pitchFamily="34" charset="-120"/>
              </a:rPr>
              <a:t>Enfermedad </a:t>
            </a:r>
            <a:r>
              <a:rPr lang="en-US" sz="1450" b="1" dirty="0">
                <a:solidFill>
                  <a:srgbClr val="141821"/>
                </a:solidFill>
                <a:latin typeface="Calibri" pitchFamily="34" charset="0"/>
                <a:ea typeface="Calibri" pitchFamily="34" charset="-122"/>
                <a:cs typeface="Calibri" pitchFamily="34" charset="-120"/>
              </a:rPr>
              <a:t>activa</a:t>
            </a:r>
            <a:r>
              <a:rPr lang="en-US" sz="1450" dirty="0">
                <a:solidFill>
                  <a:srgbClr val="141821"/>
                </a:solidFill>
                <a:latin typeface="Calibri" pitchFamily="34" charset="0"/>
                <a:ea typeface="Calibri" pitchFamily="34" charset="-122"/>
                <a:cs typeface="Calibri" pitchFamily="34" charset="-120"/>
              </a:rPr>
              <a:t> de toda la articulación, la más frecuente (no simple “desgaste”).</a:t>
            </a:r>
            <a:endParaRPr lang="en-US" sz="1450" dirty="0"/>
          </a:p>
          <a:p>
            <a:pPr marL="342900" indent="-342900">
              <a:spcAft>
                <a:spcPts val="800"/>
              </a:spcAft>
              <a:buSzPct val="100000"/>
              <a:buChar char="•"/>
            </a:pPr>
            <a:r>
              <a:rPr lang="en-US" sz="1450" dirty="0">
                <a:solidFill>
                  <a:srgbClr val="141821"/>
                </a:solidFill>
                <a:latin typeface="Calibri" pitchFamily="34" charset="0"/>
                <a:ea typeface="Calibri" pitchFamily="34" charset="-122"/>
                <a:cs typeface="Calibri" pitchFamily="34" charset="-120"/>
              </a:rPr>
              <a:t>No es autoinmune: no requiere inmunosupresión.</a:t>
            </a:r>
            <a:endParaRPr lang="en-US" sz="1450" dirty="0"/>
          </a:p>
          <a:p>
            <a:pPr marL="342900" indent="-342900">
              <a:spcAft>
                <a:spcPts val="800"/>
              </a:spcAft>
              <a:buSzPct val="100000"/>
              <a:buChar char="•"/>
            </a:pPr>
            <a:r>
              <a:rPr lang="en-US" sz="1450" dirty="0">
                <a:solidFill>
                  <a:srgbClr val="141821"/>
                </a:solidFill>
                <a:latin typeface="Calibri" pitchFamily="34" charset="0"/>
                <a:ea typeface="Calibri" pitchFamily="34" charset="-122"/>
                <a:cs typeface="Calibri" pitchFamily="34" charset="-120"/>
              </a:rPr>
              <a:t>Sobrediagnosticar AR expone a tratamientos innecesarios.</a:t>
            </a:r>
            <a:endParaRPr lang="en-US" sz="1450" dirty="0"/>
          </a:p>
        </p:txBody>
      </p:sp>
      <p:sp>
        <p:nvSpPr>
          <p:cNvPr id="17" name="Shape 13"/>
          <p:cNvSpPr/>
          <p:nvPr/>
        </p:nvSpPr>
        <p:spPr>
          <a:xfrm>
            <a:off x="457200" y="4133088"/>
            <a:ext cx="8229600" cy="329184"/>
          </a:xfrm>
          <a:prstGeom prst="roundRect">
            <a:avLst>
              <a:gd name="adj" fmla="val 27778"/>
            </a:avLst>
          </a:prstGeom>
          <a:solidFill>
            <a:srgbClr val="A78BFA">
              <a:alpha val="10000"/>
            </a:srgbClr>
          </a:solidFill>
          <a:ln w="19050">
            <a:solidFill>
              <a:srgbClr val="A78BFA"/>
            </a:solidFill>
            <a:prstDash val="solid"/>
          </a:ln>
        </p:spPr>
        <p:txBody>
          <a:bodyPr/>
          <a:lstStyle/>
          <a:p>
            <a:endParaRPr lang="es-CO"/>
          </a:p>
        </p:txBody>
      </p:sp>
      <p:sp>
        <p:nvSpPr>
          <p:cNvPr id="18" name="Text 14"/>
          <p:cNvSpPr txBox="1"/>
          <p:nvPr/>
        </p:nvSpPr>
        <p:spPr>
          <a:xfrm>
            <a:off x="512064" y="4133088"/>
            <a:ext cx="8119872" cy="329184"/>
          </a:xfrm>
          <a:prstGeom prst="rect">
            <a:avLst/>
          </a:prstGeom>
          <a:noFill/>
          <a:ln/>
        </p:spPr>
        <p:txBody>
          <a:bodyPr wrap="square" lIns="0" tIns="0" rIns="0" bIns="0" rtlCol="0" anchor="ctr"/>
          <a:lstStyle/>
          <a:p>
            <a:pPr marL="0" indent="0" algn="ctr">
              <a:buNone/>
            </a:pPr>
            <a:r>
              <a:rPr lang="en-US" sz="1150" b="1" dirty="0">
                <a:solidFill>
                  <a:srgbClr val="141821"/>
                </a:solidFill>
                <a:latin typeface="Calibri" pitchFamily="34" charset="0"/>
                <a:ea typeface="Calibri" pitchFamily="34" charset="-122"/>
                <a:cs typeface="Calibri" pitchFamily="34" charset="-120"/>
              </a:rPr>
              <a:t>AR ≈ 0,5–1 % de adultos · Artrosis ≈ 595 millones de personas (7,6 % mundial, 2020); la rodilla, la más afectada</a:t>
            </a:r>
            <a:endParaRPr lang="en-US" sz="1150" dirty="0"/>
          </a:p>
        </p:txBody>
      </p:sp>
      <p:sp>
        <p:nvSpPr>
          <p:cNvPr id="25"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6A4CCF"/>
                </a:solidFill>
                <a:latin typeface="Calibri" pitchFamily="34" charset="0"/>
                <a:ea typeface="Calibri" pitchFamily="34" charset="-122"/>
                <a:cs typeface="Calibri" pitchFamily="34" charset="-120"/>
              </a:rPr>
              <a:t>MARCO</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Dos enfermedades distintas de raíz</a:t>
            </a:r>
            <a:endParaRPr lang="en-US" sz="2900" dirty="0"/>
          </a:p>
        </p:txBody>
      </p:sp>
      <p:sp>
        <p:nvSpPr>
          <p:cNvPr id="4" name="Shape 2"/>
          <p:cNvSpPr/>
          <p:nvPr/>
        </p:nvSpPr>
        <p:spPr>
          <a:xfrm>
            <a:off x="457200" y="4315968"/>
            <a:ext cx="7589520" cy="0"/>
          </a:xfrm>
          <a:prstGeom prst="line">
            <a:avLst/>
          </a:prstGeom>
          <a:noFill/>
          <a:ln w="9525">
            <a:solidFill>
              <a:srgbClr val="C4CCE0"/>
            </a:solidFill>
            <a:prstDash val="solid"/>
          </a:ln>
        </p:spPr>
        <p:txBody>
          <a:bodyPr/>
          <a:lstStyle/>
          <a:p>
            <a:endParaRPr lang="es-CO" sz="200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1. Smolen JS, Aletaha D, Barton A, Burmester GR, Emery P, Firestein GS, et al. Rheumatoid arthritis. Nat Rev Dis Primers. 2018;4:18001.</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7. Hunter DJ, Bierma-Zeinstra S. Osteoarthritis. Lancet. 2019;393(10182):1745-59.</a:t>
            </a:r>
            <a:endParaRPr lang="en-US" sz="900" dirty="0"/>
          </a:p>
        </p:txBody>
      </p:sp>
      <p:sp>
        <p:nvSpPr>
          <p:cNvPr id="7" name="Shape 5"/>
          <p:cNvSpPr/>
          <p:nvPr/>
        </p:nvSpPr>
        <p:spPr>
          <a:xfrm>
            <a:off x="457200" y="1115568"/>
            <a:ext cx="8229600" cy="457200"/>
          </a:xfrm>
          <a:prstGeom prst="roundRect">
            <a:avLst>
              <a:gd name="adj" fmla="val 20000"/>
            </a:avLst>
          </a:prstGeom>
          <a:solidFill>
            <a:srgbClr val="FFFFFF"/>
          </a:solidFill>
          <a:ln w="12700">
            <a:noFill/>
            <a:prstDash val="solid"/>
          </a:ln>
        </p:spPr>
        <p:txBody>
          <a:bodyPr/>
          <a:lstStyle/>
          <a:p>
            <a:pPr algn="ctr"/>
            <a:endParaRPr lang="es-CO" sz="2000" dirty="0"/>
          </a:p>
        </p:txBody>
      </p:sp>
      <p:sp>
        <p:nvSpPr>
          <p:cNvPr id="9" name="Text 7"/>
          <p:cNvSpPr txBox="1"/>
          <p:nvPr/>
        </p:nvSpPr>
        <p:spPr>
          <a:xfrm>
            <a:off x="2743200" y="1115568"/>
            <a:ext cx="2926080" cy="457200"/>
          </a:xfrm>
          <a:prstGeom prst="rect">
            <a:avLst/>
          </a:prstGeom>
          <a:noFill/>
          <a:ln/>
        </p:spPr>
        <p:txBody>
          <a:bodyPr wrap="square" lIns="0" tIns="0" rIns="0" bIns="0" rtlCol="0" anchor="ctr"/>
          <a:lstStyle/>
          <a:p>
            <a:pPr marL="0" indent="0">
              <a:buNone/>
            </a:pPr>
            <a:r>
              <a:rPr lang="en-US" b="1" dirty="0">
                <a:solidFill>
                  <a:srgbClr val="C81E43"/>
                </a:solidFill>
                <a:latin typeface="Calibri" pitchFamily="34" charset="0"/>
                <a:ea typeface="Calibri" pitchFamily="34" charset="-122"/>
                <a:cs typeface="Calibri" pitchFamily="34" charset="-120"/>
              </a:rPr>
              <a:t>Artritis reumatoide</a:t>
            </a:r>
            <a:endParaRPr lang="en-US" dirty="0"/>
          </a:p>
        </p:txBody>
      </p:sp>
      <p:sp>
        <p:nvSpPr>
          <p:cNvPr id="10" name="Text 8"/>
          <p:cNvSpPr txBox="1"/>
          <p:nvPr/>
        </p:nvSpPr>
        <p:spPr>
          <a:xfrm>
            <a:off x="5486400" y="1139556"/>
            <a:ext cx="2834640" cy="457200"/>
          </a:xfrm>
          <a:prstGeom prst="rect">
            <a:avLst/>
          </a:prstGeom>
          <a:noFill/>
          <a:ln/>
        </p:spPr>
        <p:txBody>
          <a:bodyPr wrap="square" lIns="0" tIns="0" rIns="0" bIns="0" rtlCol="0" anchor="ctr"/>
          <a:lstStyle/>
          <a:p>
            <a:pPr marL="0" indent="0" algn="ctr">
              <a:buNone/>
            </a:pPr>
            <a:r>
              <a:rPr lang="en-US" b="1" dirty="0">
                <a:solidFill>
                  <a:srgbClr val="002060"/>
                </a:solidFill>
                <a:latin typeface="Calibri" pitchFamily="34" charset="0"/>
                <a:ea typeface="Calibri" pitchFamily="34" charset="-122"/>
                <a:cs typeface="Calibri" pitchFamily="34" charset="-120"/>
              </a:rPr>
              <a:t>Artrosis</a:t>
            </a:r>
            <a:endParaRPr lang="en-US" dirty="0">
              <a:solidFill>
                <a:srgbClr val="002060"/>
              </a:solidFill>
            </a:endParaRPr>
          </a:p>
        </p:txBody>
      </p:sp>
      <p:sp>
        <p:nvSpPr>
          <p:cNvPr id="11" name="Shape 9"/>
          <p:cNvSpPr/>
          <p:nvPr/>
        </p:nvSpPr>
        <p:spPr>
          <a:xfrm>
            <a:off x="457200" y="1627632"/>
            <a:ext cx="8229600" cy="530352"/>
          </a:xfrm>
          <a:prstGeom prst="roundRect">
            <a:avLst>
              <a:gd name="adj" fmla="val 17241"/>
            </a:avLst>
          </a:prstGeom>
          <a:solidFill>
            <a:srgbClr val="FFFFFF"/>
          </a:solidFill>
          <a:ln w="3175">
            <a:solidFill>
              <a:schemeClr val="tx1"/>
            </a:solidFill>
            <a:prstDash val="solid"/>
          </a:ln>
        </p:spPr>
        <p:txBody>
          <a:bodyPr/>
          <a:lstStyle/>
          <a:p>
            <a:pPr algn="ctr"/>
            <a:endParaRPr lang="es-CO" sz="2000"/>
          </a:p>
        </p:txBody>
      </p:sp>
      <p:sp>
        <p:nvSpPr>
          <p:cNvPr id="12" name="Text 10"/>
          <p:cNvSpPr txBox="1"/>
          <p:nvPr/>
        </p:nvSpPr>
        <p:spPr>
          <a:xfrm>
            <a:off x="594360" y="1627632"/>
            <a:ext cx="2103120" cy="530352"/>
          </a:xfrm>
          <a:prstGeom prst="rect">
            <a:avLst/>
          </a:prstGeom>
          <a:noFill/>
          <a:ln/>
        </p:spPr>
        <p:txBody>
          <a:bodyPr wrap="square" lIns="0" tIns="0" rIns="0" bIns="0" rtlCol="0" anchor="ctr"/>
          <a:lstStyle/>
          <a:p>
            <a:pPr marL="0" indent="0">
              <a:buNone/>
            </a:pPr>
            <a:r>
              <a:rPr lang="en-US" sz="1400" b="1" dirty="0">
                <a:solidFill>
                  <a:srgbClr val="141821"/>
                </a:solidFill>
                <a:latin typeface="Calibri" pitchFamily="34" charset="0"/>
                <a:ea typeface="Calibri" pitchFamily="34" charset="-122"/>
                <a:cs typeface="Calibri" pitchFamily="34" charset="-120"/>
              </a:rPr>
              <a:t>Naturaleza</a:t>
            </a:r>
            <a:endParaRPr lang="en-US" sz="1400" dirty="0"/>
          </a:p>
        </p:txBody>
      </p:sp>
      <p:sp>
        <p:nvSpPr>
          <p:cNvPr id="13" name="Text 11"/>
          <p:cNvSpPr txBox="1"/>
          <p:nvPr/>
        </p:nvSpPr>
        <p:spPr>
          <a:xfrm>
            <a:off x="2743200" y="1627632"/>
            <a:ext cx="2926080" cy="530352"/>
          </a:xfrm>
          <a:prstGeom prst="rect">
            <a:avLst/>
          </a:prstGeom>
          <a:noFill/>
          <a:ln/>
        </p:spPr>
        <p:txBody>
          <a:bodyPr wrap="square" lIns="0" tIns="0" rIns="0" bIns="0" rtlCol="0" anchor="ctr"/>
          <a:lstStyle/>
          <a:p>
            <a:pPr marL="0" indent="0">
              <a:buNone/>
            </a:pPr>
            <a:r>
              <a:rPr lang="en-US" sz="1400" b="1" dirty="0">
                <a:solidFill>
                  <a:srgbClr val="C00000"/>
                </a:solidFill>
                <a:latin typeface="Calibri" pitchFamily="34" charset="0"/>
                <a:ea typeface="Calibri" pitchFamily="34" charset="-122"/>
                <a:cs typeface="Calibri" pitchFamily="34" charset="-120"/>
              </a:rPr>
              <a:t>Autoinmune inflamatoria sistémica</a:t>
            </a:r>
            <a:endParaRPr lang="en-US" sz="1400" b="1" dirty="0">
              <a:solidFill>
                <a:srgbClr val="C00000"/>
              </a:solidFill>
            </a:endParaRPr>
          </a:p>
        </p:txBody>
      </p:sp>
      <p:sp>
        <p:nvSpPr>
          <p:cNvPr id="14" name="Text 12"/>
          <p:cNvSpPr txBox="1"/>
          <p:nvPr/>
        </p:nvSpPr>
        <p:spPr>
          <a:xfrm>
            <a:off x="5760720" y="1627632"/>
            <a:ext cx="2834640" cy="530352"/>
          </a:xfrm>
          <a:prstGeom prst="rect">
            <a:avLst/>
          </a:prstGeom>
          <a:noFill/>
          <a:ln/>
        </p:spPr>
        <p:txBody>
          <a:bodyPr wrap="square" lIns="0" tIns="0" rIns="0" bIns="0" rtlCol="0" anchor="ctr"/>
          <a:lstStyle/>
          <a:p>
            <a:r>
              <a:rPr lang="es-CO" sz="1400" b="1" dirty="0">
                <a:solidFill>
                  <a:srgbClr val="C00000"/>
                </a:solidFill>
              </a:rPr>
              <a:t>Multifactorial</a:t>
            </a:r>
            <a:r>
              <a:rPr lang="es-CO" sz="1400" dirty="0"/>
              <a:t>, no autoinmune clásica</a:t>
            </a:r>
            <a:endParaRPr lang="en-US" sz="1400" b="1" dirty="0"/>
          </a:p>
        </p:txBody>
      </p:sp>
      <p:sp>
        <p:nvSpPr>
          <p:cNvPr id="15" name="Shape 13"/>
          <p:cNvSpPr/>
          <p:nvPr/>
        </p:nvSpPr>
        <p:spPr>
          <a:xfrm>
            <a:off x="457200" y="2194560"/>
            <a:ext cx="8229600" cy="530352"/>
          </a:xfrm>
          <a:prstGeom prst="roundRect">
            <a:avLst>
              <a:gd name="adj" fmla="val 17241"/>
            </a:avLst>
          </a:prstGeom>
          <a:solidFill>
            <a:srgbClr val="FFFFFF"/>
          </a:solidFill>
          <a:ln w="3175">
            <a:solidFill>
              <a:schemeClr val="tx1"/>
            </a:solidFill>
            <a:prstDash val="solid"/>
          </a:ln>
        </p:spPr>
        <p:txBody>
          <a:bodyPr/>
          <a:lstStyle/>
          <a:p>
            <a:pPr algn="ctr"/>
            <a:endParaRPr lang="es-CO" sz="2000"/>
          </a:p>
        </p:txBody>
      </p:sp>
      <p:sp>
        <p:nvSpPr>
          <p:cNvPr id="16" name="Text 14"/>
          <p:cNvSpPr txBox="1"/>
          <p:nvPr/>
        </p:nvSpPr>
        <p:spPr>
          <a:xfrm>
            <a:off x="594360" y="2194560"/>
            <a:ext cx="2103120" cy="530352"/>
          </a:xfrm>
          <a:prstGeom prst="rect">
            <a:avLst/>
          </a:prstGeom>
          <a:noFill/>
          <a:ln/>
        </p:spPr>
        <p:txBody>
          <a:bodyPr wrap="square" lIns="0" tIns="0" rIns="0" bIns="0" rtlCol="0" anchor="ctr"/>
          <a:lstStyle/>
          <a:p>
            <a:pPr marL="0" indent="0">
              <a:buNone/>
            </a:pPr>
            <a:r>
              <a:rPr lang="en-US" sz="1400" b="1" dirty="0">
                <a:solidFill>
                  <a:srgbClr val="141821"/>
                </a:solidFill>
                <a:latin typeface="Calibri" pitchFamily="34" charset="0"/>
                <a:ea typeface="Calibri" pitchFamily="34" charset="-122"/>
                <a:cs typeface="Calibri" pitchFamily="34" charset="-120"/>
              </a:rPr>
              <a:t>Diana</a:t>
            </a:r>
            <a:endParaRPr lang="en-US" sz="1400" dirty="0"/>
          </a:p>
        </p:txBody>
      </p:sp>
      <p:sp>
        <p:nvSpPr>
          <p:cNvPr id="17" name="Text 15"/>
          <p:cNvSpPr txBox="1"/>
          <p:nvPr/>
        </p:nvSpPr>
        <p:spPr>
          <a:xfrm>
            <a:off x="2743200" y="2194560"/>
            <a:ext cx="2926080" cy="530352"/>
          </a:xfrm>
          <a:prstGeom prst="rect">
            <a:avLst/>
          </a:prstGeom>
          <a:noFill/>
          <a:ln/>
        </p:spPr>
        <p:txBody>
          <a:bodyPr wrap="square" lIns="0" tIns="0" rIns="0" bIns="0" rtlCol="0" anchor="ctr"/>
          <a:lstStyle/>
          <a:p>
            <a:pPr marL="0" indent="0">
              <a:buNone/>
            </a:pPr>
            <a:r>
              <a:rPr lang="en-US" sz="1400" dirty="0">
                <a:solidFill>
                  <a:srgbClr val="141821"/>
                </a:solidFill>
                <a:latin typeface="Calibri" pitchFamily="34" charset="0"/>
                <a:ea typeface="Calibri" pitchFamily="34" charset="-122"/>
                <a:cs typeface="Calibri" pitchFamily="34" charset="-120"/>
              </a:rPr>
              <a:t>Membrana sinovial (sinovitis, pannus)</a:t>
            </a:r>
            <a:endParaRPr lang="en-US" sz="1400" dirty="0"/>
          </a:p>
        </p:txBody>
      </p:sp>
      <p:sp>
        <p:nvSpPr>
          <p:cNvPr id="18" name="Text 16"/>
          <p:cNvSpPr txBox="1"/>
          <p:nvPr/>
        </p:nvSpPr>
        <p:spPr>
          <a:xfrm>
            <a:off x="5760720" y="2194560"/>
            <a:ext cx="2834640" cy="530352"/>
          </a:xfrm>
          <a:prstGeom prst="rect">
            <a:avLst/>
          </a:prstGeom>
          <a:noFill/>
          <a:ln/>
        </p:spPr>
        <p:txBody>
          <a:bodyPr wrap="square" lIns="0" tIns="0" rIns="0" bIns="0" rtlCol="0" anchor="ctr"/>
          <a:lstStyle/>
          <a:p>
            <a:r>
              <a:rPr lang="es-CO" sz="1400" dirty="0"/>
              <a:t>Alteración de la homeostasis de toda la articulación</a:t>
            </a:r>
            <a:endParaRPr lang="en-US" sz="1400" dirty="0"/>
          </a:p>
        </p:txBody>
      </p:sp>
      <p:sp>
        <p:nvSpPr>
          <p:cNvPr id="19" name="Shape 17"/>
          <p:cNvSpPr/>
          <p:nvPr/>
        </p:nvSpPr>
        <p:spPr>
          <a:xfrm>
            <a:off x="457200" y="2761488"/>
            <a:ext cx="8229600" cy="530352"/>
          </a:xfrm>
          <a:prstGeom prst="roundRect">
            <a:avLst>
              <a:gd name="adj" fmla="val 17241"/>
            </a:avLst>
          </a:prstGeom>
          <a:solidFill>
            <a:srgbClr val="FFFFFF"/>
          </a:solidFill>
          <a:ln w="3175">
            <a:solidFill>
              <a:schemeClr val="tx1"/>
            </a:solidFill>
            <a:prstDash val="solid"/>
          </a:ln>
        </p:spPr>
        <p:txBody>
          <a:bodyPr/>
          <a:lstStyle/>
          <a:p>
            <a:pPr algn="ctr"/>
            <a:endParaRPr lang="es-CO" sz="2000"/>
          </a:p>
        </p:txBody>
      </p:sp>
      <p:sp>
        <p:nvSpPr>
          <p:cNvPr id="20" name="Text 18"/>
          <p:cNvSpPr txBox="1"/>
          <p:nvPr/>
        </p:nvSpPr>
        <p:spPr>
          <a:xfrm>
            <a:off x="594360" y="2761488"/>
            <a:ext cx="2103120" cy="530352"/>
          </a:xfrm>
          <a:prstGeom prst="rect">
            <a:avLst/>
          </a:prstGeom>
          <a:noFill/>
          <a:ln/>
        </p:spPr>
        <p:txBody>
          <a:bodyPr wrap="square" lIns="0" tIns="0" rIns="0" bIns="0" rtlCol="0" anchor="ctr"/>
          <a:lstStyle/>
          <a:p>
            <a:pPr marL="0" indent="0">
              <a:buNone/>
            </a:pPr>
            <a:r>
              <a:rPr lang="en-US" sz="1400" b="1" dirty="0">
                <a:solidFill>
                  <a:srgbClr val="141821"/>
                </a:solidFill>
                <a:latin typeface="Calibri" pitchFamily="34" charset="0"/>
                <a:ea typeface="Calibri" pitchFamily="34" charset="-122"/>
                <a:cs typeface="Calibri" pitchFamily="34" charset="-120"/>
              </a:rPr>
              <a:t>Edad típica</a:t>
            </a:r>
            <a:endParaRPr lang="en-US" sz="1400" dirty="0"/>
          </a:p>
        </p:txBody>
      </p:sp>
      <p:sp>
        <p:nvSpPr>
          <p:cNvPr id="21" name="Text 19"/>
          <p:cNvSpPr txBox="1"/>
          <p:nvPr/>
        </p:nvSpPr>
        <p:spPr>
          <a:xfrm>
            <a:off x="2743200" y="2761488"/>
            <a:ext cx="2926080" cy="530352"/>
          </a:xfrm>
          <a:prstGeom prst="rect">
            <a:avLst/>
          </a:prstGeom>
          <a:noFill/>
          <a:ln/>
        </p:spPr>
        <p:txBody>
          <a:bodyPr wrap="square" lIns="0" tIns="0" rIns="0" bIns="0" rtlCol="0" anchor="ctr"/>
          <a:lstStyle/>
          <a:p>
            <a:pPr marL="0" indent="0">
              <a:buNone/>
            </a:pPr>
            <a:r>
              <a:rPr lang="en-US" sz="1400" dirty="0">
                <a:solidFill>
                  <a:srgbClr val="141821"/>
                </a:solidFill>
                <a:latin typeface="Calibri" pitchFamily="34" charset="0"/>
                <a:ea typeface="Calibri" pitchFamily="34" charset="-122"/>
                <a:cs typeface="Calibri" pitchFamily="34" charset="-120"/>
              </a:rPr>
              <a:t>30–60 años; a cualquier edad</a:t>
            </a:r>
            <a:endParaRPr lang="en-US" sz="1400" dirty="0"/>
          </a:p>
        </p:txBody>
      </p:sp>
      <p:sp>
        <p:nvSpPr>
          <p:cNvPr id="22" name="Text 20"/>
          <p:cNvSpPr txBox="1"/>
          <p:nvPr/>
        </p:nvSpPr>
        <p:spPr>
          <a:xfrm>
            <a:off x="5760720" y="2761488"/>
            <a:ext cx="2834640" cy="530352"/>
          </a:xfrm>
          <a:prstGeom prst="rect">
            <a:avLst/>
          </a:prstGeom>
          <a:noFill/>
          <a:ln/>
        </p:spPr>
        <p:txBody>
          <a:bodyPr wrap="square" lIns="0" tIns="0" rIns="0" bIns="0" rtlCol="0" anchor="ctr"/>
          <a:lstStyle/>
          <a:p>
            <a:r>
              <a:rPr lang="en-US" sz="1400" dirty="0">
                <a:solidFill>
                  <a:srgbClr val="141821"/>
                </a:solidFill>
                <a:latin typeface="Calibri" pitchFamily="34" charset="0"/>
                <a:ea typeface="Calibri" pitchFamily="34" charset="-122"/>
                <a:cs typeface="Calibri" pitchFamily="34" charset="-120"/>
              </a:rPr>
              <a:t>Sube con la edad; </a:t>
            </a:r>
            <a:r>
              <a:rPr lang="es-CO" sz="1400" dirty="0"/>
              <a:t>posible en jóvenes</a:t>
            </a:r>
            <a:endParaRPr lang="en-US" sz="1400" dirty="0"/>
          </a:p>
        </p:txBody>
      </p:sp>
      <p:sp>
        <p:nvSpPr>
          <p:cNvPr id="23" name="Shape 21"/>
          <p:cNvSpPr/>
          <p:nvPr/>
        </p:nvSpPr>
        <p:spPr>
          <a:xfrm>
            <a:off x="457200" y="3328416"/>
            <a:ext cx="8229600" cy="530352"/>
          </a:xfrm>
          <a:prstGeom prst="roundRect">
            <a:avLst>
              <a:gd name="adj" fmla="val 17241"/>
            </a:avLst>
          </a:prstGeom>
          <a:solidFill>
            <a:srgbClr val="FFFFFF"/>
          </a:solidFill>
          <a:ln w="3175">
            <a:solidFill>
              <a:schemeClr val="tx1"/>
            </a:solidFill>
            <a:prstDash val="solid"/>
          </a:ln>
        </p:spPr>
        <p:txBody>
          <a:bodyPr/>
          <a:lstStyle/>
          <a:p>
            <a:pPr algn="ctr"/>
            <a:endParaRPr lang="es-CO" sz="2000"/>
          </a:p>
        </p:txBody>
      </p:sp>
      <p:sp>
        <p:nvSpPr>
          <p:cNvPr id="24" name="Text 22"/>
          <p:cNvSpPr txBox="1"/>
          <p:nvPr/>
        </p:nvSpPr>
        <p:spPr>
          <a:xfrm>
            <a:off x="594360" y="3328416"/>
            <a:ext cx="2103120" cy="530352"/>
          </a:xfrm>
          <a:prstGeom prst="rect">
            <a:avLst/>
          </a:prstGeom>
          <a:noFill/>
          <a:ln/>
        </p:spPr>
        <p:txBody>
          <a:bodyPr wrap="square" lIns="0" tIns="0" rIns="0" bIns="0" rtlCol="0" anchor="ctr"/>
          <a:lstStyle/>
          <a:p>
            <a:pPr marL="0" indent="0">
              <a:buNone/>
            </a:pPr>
            <a:r>
              <a:rPr lang="en-US" sz="1400" b="1" dirty="0">
                <a:solidFill>
                  <a:srgbClr val="141821"/>
                </a:solidFill>
                <a:latin typeface="Calibri" pitchFamily="34" charset="0"/>
                <a:ea typeface="Calibri" pitchFamily="34" charset="-122"/>
                <a:cs typeface="Calibri" pitchFamily="34" charset="-120"/>
              </a:rPr>
              <a:t>Sexo</a:t>
            </a:r>
            <a:endParaRPr lang="en-US" sz="1400" dirty="0"/>
          </a:p>
        </p:txBody>
      </p:sp>
      <p:sp>
        <p:nvSpPr>
          <p:cNvPr id="25" name="Text 23"/>
          <p:cNvSpPr txBox="1"/>
          <p:nvPr/>
        </p:nvSpPr>
        <p:spPr>
          <a:xfrm>
            <a:off x="2743200" y="3328416"/>
            <a:ext cx="2926080" cy="530352"/>
          </a:xfrm>
          <a:prstGeom prst="rect">
            <a:avLst/>
          </a:prstGeom>
          <a:noFill/>
          <a:ln/>
        </p:spPr>
        <p:txBody>
          <a:bodyPr wrap="square" lIns="0" tIns="0" rIns="0" bIns="0" rtlCol="0" anchor="ctr"/>
          <a:lstStyle/>
          <a:p>
            <a:pPr marL="0" indent="0">
              <a:buNone/>
            </a:pPr>
            <a:r>
              <a:rPr lang="en-US" sz="1400" dirty="0">
                <a:solidFill>
                  <a:srgbClr val="141821"/>
                </a:solidFill>
                <a:latin typeface="Calibri" pitchFamily="34" charset="0"/>
                <a:ea typeface="Calibri" pitchFamily="34" charset="-122"/>
                <a:cs typeface="Calibri" pitchFamily="34" charset="-120"/>
              </a:rPr>
              <a:t>Mujer 2–3 : 1</a:t>
            </a:r>
            <a:endParaRPr lang="en-US" sz="1400" dirty="0"/>
          </a:p>
        </p:txBody>
      </p:sp>
      <p:sp>
        <p:nvSpPr>
          <p:cNvPr id="26" name="Text 24"/>
          <p:cNvSpPr txBox="1"/>
          <p:nvPr/>
        </p:nvSpPr>
        <p:spPr>
          <a:xfrm>
            <a:off x="5760720" y="3328416"/>
            <a:ext cx="2834640" cy="530352"/>
          </a:xfrm>
          <a:prstGeom prst="rect">
            <a:avLst/>
          </a:prstGeom>
          <a:noFill/>
          <a:ln/>
        </p:spPr>
        <p:txBody>
          <a:bodyPr wrap="square" lIns="0" tIns="0" rIns="0" bIns="0" rtlCol="0" anchor="ctr"/>
          <a:lstStyle/>
          <a:p>
            <a:pPr marL="0" indent="0">
              <a:buNone/>
            </a:pPr>
            <a:r>
              <a:rPr lang="en-US" sz="1400" dirty="0">
                <a:solidFill>
                  <a:srgbClr val="141821"/>
                </a:solidFill>
                <a:latin typeface="Calibri" pitchFamily="34" charset="0"/>
                <a:ea typeface="Calibri" pitchFamily="34" charset="-122"/>
                <a:cs typeface="Calibri" pitchFamily="34" charset="-120"/>
              </a:rPr>
              <a:t>Mujer (manos y rodilla)</a:t>
            </a:r>
            <a:endParaRPr lang="en-US" sz="1400" dirty="0"/>
          </a:p>
        </p:txBody>
      </p:sp>
      <p:sp>
        <p:nvSpPr>
          <p:cNvPr id="27" name="Shape 25"/>
          <p:cNvSpPr/>
          <p:nvPr/>
        </p:nvSpPr>
        <p:spPr>
          <a:xfrm>
            <a:off x="457200" y="3895344"/>
            <a:ext cx="8229600" cy="530352"/>
          </a:xfrm>
          <a:prstGeom prst="roundRect">
            <a:avLst>
              <a:gd name="adj" fmla="val 17241"/>
            </a:avLst>
          </a:prstGeom>
          <a:solidFill>
            <a:srgbClr val="FFFFFF"/>
          </a:solidFill>
          <a:ln w="3175">
            <a:solidFill>
              <a:schemeClr val="tx1"/>
            </a:solidFill>
            <a:prstDash val="solid"/>
          </a:ln>
        </p:spPr>
        <p:txBody>
          <a:bodyPr/>
          <a:lstStyle/>
          <a:p>
            <a:pPr algn="ctr"/>
            <a:endParaRPr lang="es-CO" sz="2000"/>
          </a:p>
        </p:txBody>
      </p:sp>
      <p:sp>
        <p:nvSpPr>
          <p:cNvPr id="28" name="Text 26"/>
          <p:cNvSpPr txBox="1"/>
          <p:nvPr/>
        </p:nvSpPr>
        <p:spPr>
          <a:xfrm>
            <a:off x="594360" y="3895344"/>
            <a:ext cx="2103120" cy="530352"/>
          </a:xfrm>
          <a:prstGeom prst="rect">
            <a:avLst/>
          </a:prstGeom>
          <a:noFill/>
          <a:ln/>
        </p:spPr>
        <p:txBody>
          <a:bodyPr wrap="square" lIns="0" tIns="0" rIns="0" bIns="0" rtlCol="0" anchor="ctr"/>
          <a:lstStyle/>
          <a:p>
            <a:pPr marL="0" indent="0">
              <a:buNone/>
            </a:pPr>
            <a:r>
              <a:rPr lang="en-US" sz="1400" b="1" dirty="0">
                <a:solidFill>
                  <a:srgbClr val="141821"/>
                </a:solidFill>
                <a:latin typeface="Calibri" pitchFamily="34" charset="0"/>
                <a:ea typeface="Calibri" pitchFamily="34" charset="-122"/>
                <a:cs typeface="Calibri" pitchFamily="34" charset="-120"/>
              </a:rPr>
              <a:t>Curso</a:t>
            </a:r>
            <a:endParaRPr lang="en-US" sz="1400" dirty="0"/>
          </a:p>
        </p:txBody>
      </p:sp>
      <p:sp>
        <p:nvSpPr>
          <p:cNvPr id="29" name="Text 27"/>
          <p:cNvSpPr txBox="1"/>
          <p:nvPr/>
        </p:nvSpPr>
        <p:spPr>
          <a:xfrm>
            <a:off x="2743200" y="3895344"/>
            <a:ext cx="2926080" cy="530352"/>
          </a:xfrm>
          <a:prstGeom prst="rect">
            <a:avLst/>
          </a:prstGeom>
          <a:noFill/>
          <a:ln/>
        </p:spPr>
        <p:txBody>
          <a:bodyPr wrap="square" lIns="0" tIns="0" rIns="0" bIns="0" rtlCol="0" anchor="ctr"/>
          <a:lstStyle/>
          <a:p>
            <a:r>
              <a:rPr lang="es-CO" sz="1400" dirty="0"/>
              <a:t>Persistente; inicio variable</a:t>
            </a:r>
            <a:endParaRPr lang="en-US" sz="1400" dirty="0"/>
          </a:p>
        </p:txBody>
      </p:sp>
      <p:sp>
        <p:nvSpPr>
          <p:cNvPr id="30" name="Text 28"/>
          <p:cNvSpPr txBox="1"/>
          <p:nvPr/>
        </p:nvSpPr>
        <p:spPr>
          <a:xfrm>
            <a:off x="5760720" y="3895344"/>
            <a:ext cx="2834640" cy="530352"/>
          </a:xfrm>
          <a:prstGeom prst="rect">
            <a:avLst/>
          </a:prstGeom>
          <a:noFill/>
          <a:ln/>
        </p:spPr>
        <p:txBody>
          <a:bodyPr wrap="square" lIns="0" tIns="0" rIns="0" bIns="0" rtlCol="0" anchor="ctr"/>
          <a:lstStyle/>
          <a:p>
            <a:r>
              <a:rPr lang="es-CO" sz="1400" dirty="0"/>
              <a:t>Generalmente gradual</a:t>
            </a:r>
            <a:endParaRPr lang="en-US" sz="1400" dirty="0"/>
          </a:p>
        </p:txBody>
      </p:sp>
      <p:sp>
        <p:nvSpPr>
          <p:cNvPr id="31"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0C8368"/>
                </a:solidFill>
                <a:latin typeface="Calibri" pitchFamily="34" charset="0"/>
                <a:ea typeface="Calibri" pitchFamily="34" charset="-122"/>
                <a:cs typeface="Calibri" pitchFamily="34" charset="-120"/>
              </a:rPr>
              <a:t>FISIOPATOLOGÍA</a:t>
            </a:r>
            <a:endParaRPr lang="en-US" sz="1400" dirty="0"/>
          </a:p>
        </p:txBody>
      </p:sp>
      <p:sp>
        <p:nvSpPr>
          <p:cNvPr id="3" name="Text 1"/>
          <p:cNvSpPr txBox="1"/>
          <p:nvPr/>
        </p:nvSpPr>
        <p:spPr>
          <a:xfrm>
            <a:off x="457200" y="512539"/>
            <a:ext cx="8603673" cy="658368"/>
          </a:xfrm>
          <a:prstGeom prst="rect">
            <a:avLst/>
          </a:prstGeom>
          <a:noFill/>
          <a:ln/>
        </p:spPr>
        <p:txBody>
          <a:bodyPr wrap="square" lIns="0" tIns="0" rIns="0" bIns="0" rtlCol="0" anchor="ctr"/>
          <a:lstStyle/>
          <a:p>
            <a:pPr marL="0" indent="0">
              <a:buNone/>
            </a:pPr>
            <a:r>
              <a:rPr lang="en-US" sz="2800" b="1" dirty="0">
                <a:solidFill>
                  <a:srgbClr val="141821"/>
                </a:solidFill>
                <a:latin typeface="Calibri" pitchFamily="34" charset="0"/>
                <a:ea typeface="Calibri" pitchFamily="34" charset="-122"/>
                <a:cs typeface="Calibri" pitchFamily="34" charset="-120"/>
              </a:rPr>
              <a:t>La articulación por dentro: sinovitis frente a remodelación</a:t>
            </a:r>
            <a:endParaRPr lang="en-US" sz="28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1. Smolen JS, Aletaha D, Barton A, Burmester GR, Emery P, Firestein GS, et al. Rheumatoid arthritis. Nat Rev Dis Primers. 2018;4:18001.</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8. Tang S, Zhang C, Oo WM, Fu K, Risberg MA, Bierma-Zeinstra SM, et al. Osteoarthritis. Nat Rev Dis Primers. 2025;11(1):10.</a:t>
            </a:r>
            <a:endParaRPr lang="en-US" sz="900" dirty="0"/>
          </a:p>
        </p:txBody>
      </p:sp>
      <p:sp>
        <p:nvSpPr>
          <p:cNvPr id="7" name="Shape 5"/>
          <p:cNvSpPr/>
          <p:nvPr/>
        </p:nvSpPr>
        <p:spPr>
          <a:xfrm>
            <a:off x="457200" y="1280160"/>
            <a:ext cx="4023360" cy="2743200"/>
          </a:xfrm>
          <a:prstGeom prst="roundRect">
            <a:avLst>
              <a:gd name="adj" fmla="val 3333"/>
            </a:avLst>
          </a:prstGeom>
          <a:solidFill>
            <a:srgbClr val="FFFFFF"/>
          </a:solidFill>
          <a:ln w="19050">
            <a:solidFill>
              <a:srgbClr val="F2546B"/>
            </a:solidFill>
            <a:prstDash val="solid"/>
          </a:ln>
        </p:spPr>
        <p:txBody>
          <a:bodyPr/>
          <a:lstStyle/>
          <a:p>
            <a:endParaRPr lang="es-CO"/>
          </a:p>
        </p:txBody>
      </p:sp>
      <p:sp>
        <p:nvSpPr>
          <p:cNvPr id="8" name="Text 6"/>
          <p:cNvSpPr txBox="1"/>
          <p:nvPr/>
        </p:nvSpPr>
        <p:spPr>
          <a:xfrm>
            <a:off x="640080" y="1371600"/>
            <a:ext cx="3657600" cy="320040"/>
          </a:xfrm>
          <a:prstGeom prst="rect">
            <a:avLst/>
          </a:prstGeom>
          <a:noFill/>
          <a:ln/>
        </p:spPr>
        <p:txBody>
          <a:bodyPr wrap="square" lIns="0" tIns="0" rIns="0" bIns="0" rtlCol="0" anchor="t"/>
          <a:lstStyle/>
          <a:p>
            <a:pPr marL="0" indent="0">
              <a:buNone/>
            </a:pPr>
            <a:r>
              <a:rPr lang="en-US" sz="1600" b="1" dirty="0">
                <a:solidFill>
                  <a:srgbClr val="C81E43"/>
                </a:solidFill>
                <a:latin typeface="Calibri" pitchFamily="34" charset="0"/>
                <a:ea typeface="Calibri" pitchFamily="34" charset="-122"/>
                <a:cs typeface="Calibri" pitchFamily="34" charset="-120"/>
              </a:rPr>
              <a:t>Artritis reumatoide</a:t>
            </a:r>
            <a:endParaRPr lang="en-US" sz="1600" dirty="0"/>
          </a:p>
        </p:txBody>
      </p:sp>
      <p:sp>
        <p:nvSpPr>
          <p:cNvPr id="9" name="Shape 7"/>
          <p:cNvSpPr/>
          <p:nvPr/>
        </p:nvSpPr>
        <p:spPr>
          <a:xfrm>
            <a:off x="1463040" y="1828800"/>
            <a:ext cx="2011680" cy="502920"/>
          </a:xfrm>
          <a:prstGeom prst="roundRect">
            <a:avLst>
              <a:gd name="adj" fmla="val 18182"/>
            </a:avLst>
          </a:prstGeom>
          <a:solidFill>
            <a:srgbClr val="E8ECF7"/>
          </a:solidFill>
          <a:ln w="12700">
            <a:solidFill>
              <a:srgbClr val="B9C2DE"/>
            </a:solidFill>
            <a:prstDash val="solid"/>
          </a:ln>
        </p:spPr>
        <p:txBody>
          <a:bodyPr/>
          <a:lstStyle/>
          <a:p>
            <a:endParaRPr lang="es-CO"/>
          </a:p>
        </p:txBody>
      </p:sp>
      <p:sp>
        <p:nvSpPr>
          <p:cNvPr id="10" name="Shape 8"/>
          <p:cNvSpPr/>
          <p:nvPr/>
        </p:nvSpPr>
        <p:spPr>
          <a:xfrm>
            <a:off x="1463040" y="2926080"/>
            <a:ext cx="2011680" cy="502920"/>
          </a:xfrm>
          <a:prstGeom prst="roundRect">
            <a:avLst>
              <a:gd name="adj" fmla="val 18182"/>
            </a:avLst>
          </a:prstGeom>
          <a:solidFill>
            <a:srgbClr val="E8ECF7"/>
          </a:solidFill>
          <a:ln w="12700">
            <a:solidFill>
              <a:srgbClr val="B9C2DE"/>
            </a:solidFill>
            <a:prstDash val="solid"/>
          </a:ln>
        </p:spPr>
        <p:txBody>
          <a:bodyPr/>
          <a:lstStyle/>
          <a:p>
            <a:endParaRPr lang="es-CO"/>
          </a:p>
        </p:txBody>
      </p:sp>
      <p:sp>
        <p:nvSpPr>
          <p:cNvPr id="11" name="Shape 9"/>
          <p:cNvSpPr/>
          <p:nvPr/>
        </p:nvSpPr>
        <p:spPr>
          <a:xfrm>
            <a:off x="1554480" y="2395728"/>
            <a:ext cx="1828800" cy="457200"/>
          </a:xfrm>
          <a:prstGeom prst="roundRect">
            <a:avLst>
              <a:gd name="adj" fmla="val 16000"/>
            </a:avLst>
          </a:prstGeom>
          <a:solidFill>
            <a:srgbClr val="F2546B">
              <a:alpha val="55000"/>
            </a:srgbClr>
          </a:solidFill>
          <a:ln w="12700">
            <a:solidFill>
              <a:srgbClr val="F2546B"/>
            </a:solidFill>
            <a:prstDash val="solid"/>
          </a:ln>
        </p:spPr>
        <p:txBody>
          <a:bodyPr/>
          <a:lstStyle/>
          <a:p>
            <a:endParaRPr lang="es-CO"/>
          </a:p>
        </p:txBody>
      </p:sp>
      <p:sp>
        <p:nvSpPr>
          <p:cNvPr id="12" name="Shape 10"/>
          <p:cNvSpPr/>
          <p:nvPr/>
        </p:nvSpPr>
        <p:spPr>
          <a:xfrm>
            <a:off x="1508760" y="2240280"/>
            <a:ext cx="182880" cy="182880"/>
          </a:xfrm>
          <a:prstGeom prst="ellipse">
            <a:avLst/>
          </a:prstGeom>
          <a:solidFill>
            <a:srgbClr val="FFFFFF"/>
          </a:solidFill>
          <a:ln w="15875">
            <a:solidFill>
              <a:srgbClr val="F2546B"/>
            </a:solidFill>
            <a:prstDash val="solid"/>
          </a:ln>
        </p:spPr>
        <p:txBody>
          <a:bodyPr/>
          <a:lstStyle/>
          <a:p>
            <a:endParaRPr lang="es-CO"/>
          </a:p>
        </p:txBody>
      </p:sp>
      <p:sp>
        <p:nvSpPr>
          <p:cNvPr id="13" name="Shape 11"/>
          <p:cNvSpPr/>
          <p:nvPr/>
        </p:nvSpPr>
        <p:spPr>
          <a:xfrm>
            <a:off x="3246120" y="2971800"/>
            <a:ext cx="182880" cy="182880"/>
          </a:xfrm>
          <a:prstGeom prst="ellipse">
            <a:avLst/>
          </a:prstGeom>
          <a:solidFill>
            <a:srgbClr val="FFFFFF"/>
          </a:solidFill>
          <a:ln w="15875">
            <a:solidFill>
              <a:srgbClr val="F2546B"/>
            </a:solidFill>
            <a:prstDash val="solid"/>
          </a:ln>
        </p:spPr>
        <p:txBody>
          <a:bodyPr/>
          <a:lstStyle/>
          <a:p>
            <a:endParaRPr lang="es-CO"/>
          </a:p>
        </p:txBody>
      </p:sp>
      <p:sp>
        <p:nvSpPr>
          <p:cNvPr id="14" name="Text 12"/>
          <p:cNvSpPr txBox="1"/>
          <p:nvPr/>
        </p:nvSpPr>
        <p:spPr>
          <a:xfrm>
            <a:off x="640080" y="3566160"/>
            <a:ext cx="3749040" cy="411480"/>
          </a:xfrm>
          <a:prstGeom prst="rect">
            <a:avLst/>
          </a:prstGeom>
          <a:noFill/>
          <a:ln/>
        </p:spPr>
        <p:txBody>
          <a:bodyPr wrap="square" lIns="0" tIns="0" rIns="0" bIns="0" rtlCol="0" anchor="t"/>
          <a:lstStyle/>
          <a:p>
            <a:pPr marL="0" indent="0" algn="ctr">
              <a:buNone/>
            </a:pPr>
            <a:r>
              <a:rPr lang="en-US" sz="1400" b="1" dirty="0">
                <a:solidFill>
                  <a:srgbClr val="C81E43"/>
                </a:solidFill>
                <a:latin typeface="Calibri" pitchFamily="34" charset="0"/>
                <a:ea typeface="Calibri" pitchFamily="34" charset="-122"/>
                <a:cs typeface="Calibri" pitchFamily="34" charset="-120"/>
              </a:rPr>
              <a:t>Pannus</a:t>
            </a:r>
            <a:r>
              <a:rPr lang="en-US" sz="1400" dirty="0">
                <a:solidFill>
                  <a:srgbClr val="141821"/>
                </a:solidFill>
                <a:latin typeface="Calibri" pitchFamily="34" charset="0"/>
                <a:ea typeface="Calibri" pitchFamily="34" charset="-122"/>
                <a:cs typeface="Calibri" pitchFamily="34" charset="-120"/>
              </a:rPr>
              <a:t> sinovial + erosiones · pinzamiento uniforme</a:t>
            </a:r>
            <a:endParaRPr lang="en-US" sz="1400" dirty="0"/>
          </a:p>
        </p:txBody>
      </p:sp>
      <p:sp>
        <p:nvSpPr>
          <p:cNvPr id="15" name="Shape 13"/>
          <p:cNvSpPr/>
          <p:nvPr/>
        </p:nvSpPr>
        <p:spPr>
          <a:xfrm>
            <a:off x="4663440" y="1280160"/>
            <a:ext cx="4023360" cy="2743200"/>
          </a:xfrm>
          <a:prstGeom prst="roundRect">
            <a:avLst>
              <a:gd name="adj" fmla="val 3333"/>
            </a:avLst>
          </a:prstGeom>
          <a:solidFill>
            <a:srgbClr val="FFFFFF"/>
          </a:solidFill>
          <a:ln w="19050">
            <a:solidFill>
              <a:srgbClr val="F2B43C"/>
            </a:solidFill>
            <a:prstDash val="solid"/>
          </a:ln>
        </p:spPr>
        <p:txBody>
          <a:bodyPr/>
          <a:lstStyle/>
          <a:p>
            <a:endParaRPr lang="es-CO"/>
          </a:p>
        </p:txBody>
      </p:sp>
      <p:sp>
        <p:nvSpPr>
          <p:cNvPr id="16" name="Text 14"/>
          <p:cNvSpPr txBox="1"/>
          <p:nvPr/>
        </p:nvSpPr>
        <p:spPr>
          <a:xfrm>
            <a:off x="4846320" y="1371600"/>
            <a:ext cx="3657600" cy="320040"/>
          </a:xfrm>
          <a:prstGeom prst="rect">
            <a:avLst/>
          </a:prstGeom>
          <a:noFill/>
          <a:ln/>
        </p:spPr>
        <p:txBody>
          <a:bodyPr wrap="square" lIns="0" tIns="0" rIns="0" bIns="0" rtlCol="0" anchor="t"/>
          <a:lstStyle/>
          <a:p>
            <a:pPr marL="0" indent="0">
              <a:buNone/>
            </a:pPr>
            <a:r>
              <a:rPr lang="en-US" sz="1600" b="1" dirty="0">
                <a:solidFill>
                  <a:srgbClr val="A66A00"/>
                </a:solidFill>
                <a:latin typeface="Calibri" pitchFamily="34" charset="0"/>
                <a:ea typeface="Calibri" pitchFamily="34" charset="-122"/>
                <a:cs typeface="Calibri" pitchFamily="34" charset="-120"/>
              </a:rPr>
              <a:t>Artrosis</a:t>
            </a:r>
            <a:endParaRPr lang="en-US" sz="1600" dirty="0"/>
          </a:p>
        </p:txBody>
      </p:sp>
      <p:sp>
        <p:nvSpPr>
          <p:cNvPr id="17" name="Shape 15"/>
          <p:cNvSpPr/>
          <p:nvPr/>
        </p:nvSpPr>
        <p:spPr>
          <a:xfrm>
            <a:off x="5669280" y="1828800"/>
            <a:ext cx="2011680" cy="502920"/>
          </a:xfrm>
          <a:prstGeom prst="roundRect">
            <a:avLst>
              <a:gd name="adj" fmla="val 18182"/>
            </a:avLst>
          </a:prstGeom>
          <a:solidFill>
            <a:srgbClr val="E8ECF7"/>
          </a:solidFill>
          <a:ln w="12700">
            <a:solidFill>
              <a:srgbClr val="B9C2DE"/>
            </a:solidFill>
            <a:prstDash val="solid"/>
          </a:ln>
        </p:spPr>
        <p:txBody>
          <a:bodyPr/>
          <a:lstStyle/>
          <a:p>
            <a:endParaRPr lang="es-CO"/>
          </a:p>
        </p:txBody>
      </p:sp>
      <p:sp>
        <p:nvSpPr>
          <p:cNvPr id="18" name="Shape 16"/>
          <p:cNvSpPr/>
          <p:nvPr/>
        </p:nvSpPr>
        <p:spPr>
          <a:xfrm>
            <a:off x="5669280" y="2971800"/>
            <a:ext cx="2011680" cy="502920"/>
          </a:xfrm>
          <a:prstGeom prst="roundRect">
            <a:avLst>
              <a:gd name="adj" fmla="val 18182"/>
            </a:avLst>
          </a:prstGeom>
          <a:solidFill>
            <a:srgbClr val="E8ECF7"/>
          </a:solidFill>
          <a:ln w="12700">
            <a:solidFill>
              <a:srgbClr val="B9C2DE"/>
            </a:solidFill>
            <a:prstDash val="solid"/>
          </a:ln>
        </p:spPr>
        <p:txBody>
          <a:bodyPr/>
          <a:lstStyle/>
          <a:p>
            <a:endParaRPr lang="es-CO"/>
          </a:p>
        </p:txBody>
      </p:sp>
      <p:sp>
        <p:nvSpPr>
          <p:cNvPr id="19" name="Shape 17"/>
          <p:cNvSpPr/>
          <p:nvPr/>
        </p:nvSpPr>
        <p:spPr>
          <a:xfrm>
            <a:off x="5760720" y="2944368"/>
            <a:ext cx="1828800" cy="0"/>
          </a:xfrm>
          <a:prstGeom prst="line">
            <a:avLst/>
          </a:prstGeom>
          <a:noFill/>
          <a:ln w="38100">
            <a:solidFill>
              <a:srgbClr val="F2B43C"/>
            </a:solidFill>
            <a:prstDash val="solid"/>
          </a:ln>
        </p:spPr>
        <p:txBody>
          <a:bodyPr/>
          <a:lstStyle/>
          <a:p>
            <a:endParaRPr lang="es-CO"/>
          </a:p>
        </p:txBody>
      </p:sp>
      <p:sp>
        <p:nvSpPr>
          <p:cNvPr id="20" name="Shape 18"/>
          <p:cNvSpPr/>
          <p:nvPr/>
        </p:nvSpPr>
        <p:spPr>
          <a:xfrm>
            <a:off x="5559552" y="2670048"/>
            <a:ext cx="237744" cy="237744"/>
          </a:xfrm>
          <a:prstGeom prst="ellipse">
            <a:avLst/>
          </a:prstGeom>
          <a:solidFill>
            <a:srgbClr val="F2B43C"/>
          </a:solidFill>
          <a:ln w="12700">
            <a:solidFill>
              <a:srgbClr val="F2B43C"/>
            </a:solidFill>
            <a:prstDash val="solid"/>
          </a:ln>
        </p:spPr>
        <p:txBody>
          <a:bodyPr/>
          <a:lstStyle/>
          <a:p>
            <a:endParaRPr lang="es-CO"/>
          </a:p>
        </p:txBody>
      </p:sp>
      <p:sp>
        <p:nvSpPr>
          <p:cNvPr id="21" name="Shape 19"/>
          <p:cNvSpPr/>
          <p:nvPr/>
        </p:nvSpPr>
        <p:spPr>
          <a:xfrm>
            <a:off x="7644384" y="2670048"/>
            <a:ext cx="237744" cy="237744"/>
          </a:xfrm>
          <a:prstGeom prst="ellipse">
            <a:avLst/>
          </a:prstGeom>
          <a:solidFill>
            <a:srgbClr val="F2B43C"/>
          </a:solidFill>
          <a:ln w="12700">
            <a:solidFill>
              <a:srgbClr val="F2B43C"/>
            </a:solidFill>
            <a:prstDash val="solid"/>
          </a:ln>
        </p:spPr>
        <p:txBody>
          <a:bodyPr/>
          <a:lstStyle/>
          <a:p>
            <a:endParaRPr lang="es-CO"/>
          </a:p>
        </p:txBody>
      </p:sp>
      <p:sp>
        <p:nvSpPr>
          <p:cNvPr id="22" name="Text 20"/>
          <p:cNvSpPr txBox="1"/>
          <p:nvPr/>
        </p:nvSpPr>
        <p:spPr>
          <a:xfrm>
            <a:off x="4846320" y="3566160"/>
            <a:ext cx="3749040" cy="411480"/>
          </a:xfrm>
          <a:prstGeom prst="rect">
            <a:avLst/>
          </a:prstGeom>
          <a:noFill/>
          <a:ln/>
        </p:spPr>
        <p:txBody>
          <a:bodyPr wrap="square" lIns="0" tIns="0" rIns="0" bIns="0" rtlCol="0" anchor="t"/>
          <a:lstStyle/>
          <a:p>
            <a:pPr marL="0" indent="0" algn="ctr">
              <a:buNone/>
            </a:pPr>
            <a:r>
              <a:rPr lang="en-US" sz="1400" b="1" dirty="0">
                <a:solidFill>
                  <a:srgbClr val="A66A00"/>
                </a:solidFill>
                <a:latin typeface="Calibri" pitchFamily="34" charset="0"/>
                <a:ea typeface="Calibri" pitchFamily="34" charset="-122"/>
                <a:cs typeface="Calibri" pitchFamily="34" charset="-120"/>
              </a:rPr>
              <a:t>Osteofitos</a:t>
            </a:r>
            <a:r>
              <a:rPr lang="en-US" sz="1400" dirty="0">
                <a:solidFill>
                  <a:srgbClr val="141821"/>
                </a:solidFill>
                <a:latin typeface="Calibri" pitchFamily="34" charset="0"/>
                <a:ea typeface="Calibri" pitchFamily="34" charset="-122"/>
                <a:cs typeface="Calibri" pitchFamily="34" charset="-120"/>
              </a:rPr>
              <a:t> + esclerosis · pinzamiento asimétrico</a:t>
            </a:r>
            <a:endParaRPr lang="en-US" sz="1400" dirty="0"/>
          </a:p>
        </p:txBody>
      </p:sp>
      <p:sp>
        <p:nvSpPr>
          <p:cNvPr id="23" name="Shape 21"/>
          <p:cNvSpPr/>
          <p:nvPr/>
        </p:nvSpPr>
        <p:spPr>
          <a:xfrm>
            <a:off x="457200" y="4114800"/>
            <a:ext cx="8229600" cy="347472"/>
          </a:xfrm>
          <a:prstGeom prst="roundRect">
            <a:avLst>
              <a:gd name="adj" fmla="val 26316"/>
            </a:avLst>
          </a:prstGeom>
          <a:solidFill>
            <a:srgbClr val="A78BFA">
              <a:alpha val="10000"/>
            </a:srgbClr>
          </a:solidFill>
          <a:ln w="19050">
            <a:solidFill>
              <a:srgbClr val="A78BFA"/>
            </a:solidFill>
            <a:prstDash val="solid"/>
          </a:ln>
        </p:spPr>
        <p:txBody>
          <a:bodyPr/>
          <a:lstStyle/>
          <a:p>
            <a:endParaRPr lang="es-CO"/>
          </a:p>
        </p:txBody>
      </p:sp>
      <p:sp>
        <p:nvSpPr>
          <p:cNvPr id="24" name="Text 22"/>
          <p:cNvSpPr txBox="1"/>
          <p:nvPr/>
        </p:nvSpPr>
        <p:spPr>
          <a:xfrm>
            <a:off x="512064" y="4114800"/>
            <a:ext cx="8119872" cy="347472"/>
          </a:xfrm>
          <a:prstGeom prst="rect">
            <a:avLst/>
          </a:prstGeom>
          <a:noFill/>
          <a:ln/>
        </p:spPr>
        <p:txBody>
          <a:bodyPr wrap="square" lIns="0" tIns="0" rIns="0" bIns="0" rtlCol="0" anchor="ctr"/>
          <a:lstStyle/>
          <a:p>
            <a:pPr marL="0" indent="0" algn="ctr">
              <a:buNone/>
            </a:pPr>
            <a:r>
              <a:rPr lang="en-US" sz="1400" b="1" dirty="0" err="1">
                <a:solidFill>
                  <a:srgbClr val="141821"/>
                </a:solidFill>
                <a:latin typeface="Calibri" pitchFamily="34" charset="0"/>
                <a:ea typeface="Calibri" pitchFamily="34" charset="-122"/>
                <a:cs typeface="Calibri" pitchFamily="34" charset="-120"/>
              </a:rPr>
              <a:t>Erosión</a:t>
            </a:r>
            <a:r>
              <a:rPr lang="en-US" sz="1400" b="1" dirty="0">
                <a:solidFill>
                  <a:srgbClr val="141821"/>
                </a:solidFill>
                <a:latin typeface="Calibri" pitchFamily="34" charset="0"/>
                <a:ea typeface="Calibri" pitchFamily="34" charset="-122"/>
                <a:cs typeface="Calibri" pitchFamily="34" charset="-120"/>
              </a:rPr>
              <a:t> marginal = AR · remodelación ósea (osteofitos, esclerosis) = artrosis</a:t>
            </a:r>
            <a:endParaRPr lang="en-US" sz="1400" dirty="0"/>
          </a:p>
        </p:txBody>
      </p:sp>
      <p:sp>
        <p:nvSpPr>
          <p:cNvPr id="25"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C81E43"/>
                </a:solidFill>
                <a:latin typeface="Calibri" pitchFamily="34" charset="0"/>
                <a:ea typeface="Calibri" pitchFamily="34" charset="-122"/>
                <a:cs typeface="Calibri" pitchFamily="34" charset="-120"/>
              </a:rPr>
              <a:t>PISTA 1 · EL DOLOR</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Dolor inflamatorio frente a dolor mecánico</a:t>
            </a:r>
            <a:endParaRPr lang="en-US" sz="29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4. Combe B, Landewe R, Daien CI, Hua C, Aletaha D, Alvaro-Gracia JM, et al. 2016 update of the EULAR recommendations for the management of early arthritis. Ann Rheum Dis. 2017;76(6):948-59.</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6. Katz JN, Arant KR, Loeser RF. Diagnosis and treatment of hip and knee osteoarthritis: a review. JAMA. 2021;325(6):568-78.</a:t>
            </a:r>
            <a:endParaRPr lang="en-US" sz="900" dirty="0"/>
          </a:p>
        </p:txBody>
      </p:sp>
      <p:sp>
        <p:nvSpPr>
          <p:cNvPr id="9" name="Text 7"/>
          <p:cNvSpPr txBox="1"/>
          <p:nvPr/>
        </p:nvSpPr>
        <p:spPr>
          <a:xfrm>
            <a:off x="2697480" y="1234440"/>
            <a:ext cx="2834640" cy="438912"/>
          </a:xfrm>
          <a:prstGeom prst="rect">
            <a:avLst/>
          </a:prstGeom>
          <a:noFill/>
          <a:ln/>
        </p:spPr>
        <p:txBody>
          <a:bodyPr wrap="square" lIns="0" tIns="0" rIns="0" bIns="0" rtlCol="0" anchor="ctr"/>
          <a:lstStyle/>
          <a:p>
            <a:pPr marL="0" indent="0" algn="ctr">
              <a:buNone/>
            </a:pPr>
            <a:r>
              <a:rPr lang="en-US" b="1" dirty="0">
                <a:solidFill>
                  <a:srgbClr val="C81E43"/>
                </a:solidFill>
                <a:latin typeface="Calibri" pitchFamily="34" charset="0"/>
                <a:ea typeface="Calibri" pitchFamily="34" charset="-122"/>
                <a:cs typeface="Calibri" pitchFamily="34" charset="-120"/>
              </a:rPr>
              <a:t>Inflamatorio (AR)</a:t>
            </a:r>
            <a:endParaRPr lang="en-US" dirty="0"/>
          </a:p>
        </p:txBody>
      </p:sp>
      <p:sp>
        <p:nvSpPr>
          <p:cNvPr id="10" name="Text 8"/>
          <p:cNvSpPr txBox="1"/>
          <p:nvPr/>
        </p:nvSpPr>
        <p:spPr>
          <a:xfrm>
            <a:off x="5577840" y="1234440"/>
            <a:ext cx="2743200" cy="438912"/>
          </a:xfrm>
          <a:prstGeom prst="rect">
            <a:avLst/>
          </a:prstGeom>
          <a:noFill/>
          <a:ln/>
        </p:spPr>
        <p:txBody>
          <a:bodyPr wrap="square" lIns="0" tIns="0" rIns="0" bIns="0" rtlCol="0" anchor="ctr"/>
          <a:lstStyle/>
          <a:p>
            <a:pPr marL="0" indent="0" algn="ctr">
              <a:buNone/>
            </a:pPr>
            <a:r>
              <a:rPr lang="en-US" b="1" dirty="0">
                <a:solidFill>
                  <a:srgbClr val="002060"/>
                </a:solidFill>
                <a:latin typeface="Calibri" pitchFamily="34" charset="0"/>
                <a:ea typeface="Calibri" pitchFamily="34" charset="-122"/>
                <a:cs typeface="Calibri" pitchFamily="34" charset="-120"/>
              </a:rPr>
              <a:t>Mecánico (artrosis)</a:t>
            </a:r>
            <a:endParaRPr lang="en-US" dirty="0">
              <a:solidFill>
                <a:srgbClr val="002060"/>
              </a:solidFill>
            </a:endParaRPr>
          </a:p>
        </p:txBody>
      </p:sp>
      <p:sp>
        <p:nvSpPr>
          <p:cNvPr id="11" name="Shape 9"/>
          <p:cNvSpPr/>
          <p:nvPr/>
        </p:nvSpPr>
        <p:spPr>
          <a:xfrm>
            <a:off x="457200" y="1865376"/>
            <a:ext cx="8229600" cy="566928"/>
          </a:xfrm>
          <a:prstGeom prst="roundRect">
            <a:avLst>
              <a:gd name="adj" fmla="val 16129"/>
            </a:avLst>
          </a:prstGeom>
          <a:solidFill>
            <a:srgbClr val="FFFFFF"/>
          </a:solidFill>
          <a:ln w="3175">
            <a:solidFill>
              <a:schemeClr val="tx1"/>
            </a:solidFill>
            <a:prstDash val="solid"/>
          </a:ln>
        </p:spPr>
        <p:txBody>
          <a:bodyPr/>
          <a:lstStyle/>
          <a:p>
            <a:pPr algn="ctr"/>
            <a:endParaRPr lang="es-CO" sz="2400" dirty="0"/>
          </a:p>
        </p:txBody>
      </p:sp>
      <p:sp>
        <p:nvSpPr>
          <p:cNvPr id="12" name="Text 10"/>
          <p:cNvSpPr txBox="1"/>
          <p:nvPr/>
        </p:nvSpPr>
        <p:spPr>
          <a:xfrm>
            <a:off x="594360" y="1865376"/>
            <a:ext cx="2286000" cy="566928"/>
          </a:xfrm>
          <a:prstGeom prst="rect">
            <a:avLst/>
          </a:prstGeom>
          <a:noFill/>
          <a:ln/>
        </p:spPr>
        <p:txBody>
          <a:bodyPr wrap="square" lIns="0" tIns="0" rIns="0" bIns="0" rtlCol="0" anchor="ctr"/>
          <a:lstStyle/>
          <a:p>
            <a:pPr marL="0" indent="0">
              <a:buNone/>
            </a:pPr>
            <a:r>
              <a:rPr lang="en-US" sz="1600" b="1" dirty="0">
                <a:solidFill>
                  <a:srgbClr val="141821"/>
                </a:solidFill>
                <a:latin typeface="Calibri" pitchFamily="34" charset="0"/>
                <a:ea typeface="Calibri" pitchFamily="34" charset="-122"/>
                <a:cs typeface="Calibri" pitchFamily="34" charset="-120"/>
              </a:rPr>
              <a:t>Horario</a:t>
            </a:r>
            <a:endParaRPr lang="en-US" sz="1600" dirty="0"/>
          </a:p>
        </p:txBody>
      </p:sp>
      <p:sp>
        <p:nvSpPr>
          <p:cNvPr id="13" name="Text 11"/>
          <p:cNvSpPr txBox="1"/>
          <p:nvPr/>
        </p:nvSpPr>
        <p:spPr>
          <a:xfrm>
            <a:off x="2926080" y="1865376"/>
            <a:ext cx="2834640" cy="566928"/>
          </a:xfrm>
          <a:prstGeom prst="rect">
            <a:avLst/>
          </a:prstGeom>
          <a:noFill/>
          <a:ln/>
        </p:spPr>
        <p:txBody>
          <a:bodyPr wrap="square" lIns="0" tIns="0" rIns="0" bIns="0" rtlCol="0" anchor="ctr"/>
          <a:lstStyle/>
          <a:p>
            <a:pPr marL="0" indent="0">
              <a:buNone/>
            </a:pPr>
            <a:r>
              <a:rPr lang="en-US" sz="1600" dirty="0">
                <a:solidFill>
                  <a:srgbClr val="141821"/>
                </a:solidFill>
                <a:latin typeface="Calibri" pitchFamily="34" charset="0"/>
                <a:ea typeface="Calibri" pitchFamily="34" charset="-122"/>
                <a:cs typeface="Calibri" pitchFamily="34" charset="-120"/>
              </a:rPr>
              <a:t>Peor en reposo y de madrugada</a:t>
            </a:r>
            <a:endParaRPr lang="en-US" sz="1600" dirty="0"/>
          </a:p>
        </p:txBody>
      </p:sp>
      <p:sp>
        <p:nvSpPr>
          <p:cNvPr id="14" name="Text 12"/>
          <p:cNvSpPr txBox="1"/>
          <p:nvPr/>
        </p:nvSpPr>
        <p:spPr>
          <a:xfrm>
            <a:off x="5806440" y="1865376"/>
            <a:ext cx="2743200" cy="566928"/>
          </a:xfrm>
          <a:prstGeom prst="rect">
            <a:avLst/>
          </a:prstGeom>
          <a:noFill/>
          <a:ln/>
        </p:spPr>
        <p:txBody>
          <a:bodyPr wrap="square" lIns="0" tIns="0" rIns="0" bIns="0" rtlCol="0" anchor="ctr"/>
          <a:lstStyle/>
          <a:p>
            <a:pPr marL="0" indent="0">
              <a:buNone/>
            </a:pPr>
            <a:r>
              <a:rPr lang="en-US" sz="1600" dirty="0">
                <a:solidFill>
                  <a:srgbClr val="141821"/>
                </a:solidFill>
                <a:latin typeface="Calibri" pitchFamily="34" charset="0"/>
                <a:ea typeface="Calibri" pitchFamily="34" charset="-122"/>
                <a:cs typeface="Calibri" pitchFamily="34" charset="-120"/>
              </a:rPr>
              <a:t>Peor con el uso y al final del día</a:t>
            </a:r>
            <a:endParaRPr lang="en-US" sz="1600" dirty="0"/>
          </a:p>
        </p:txBody>
      </p:sp>
      <p:sp>
        <p:nvSpPr>
          <p:cNvPr id="15" name="Shape 13"/>
          <p:cNvSpPr/>
          <p:nvPr/>
        </p:nvSpPr>
        <p:spPr>
          <a:xfrm>
            <a:off x="457200" y="2487168"/>
            <a:ext cx="8229600" cy="566928"/>
          </a:xfrm>
          <a:prstGeom prst="roundRect">
            <a:avLst>
              <a:gd name="adj" fmla="val 16129"/>
            </a:avLst>
          </a:prstGeom>
          <a:solidFill>
            <a:srgbClr val="FFFFFF"/>
          </a:solidFill>
          <a:ln w="3175">
            <a:solidFill>
              <a:schemeClr val="tx1"/>
            </a:solidFill>
            <a:prstDash val="solid"/>
          </a:ln>
        </p:spPr>
        <p:txBody>
          <a:bodyPr/>
          <a:lstStyle/>
          <a:p>
            <a:pPr algn="ctr"/>
            <a:endParaRPr lang="es-CO" sz="2400" dirty="0"/>
          </a:p>
        </p:txBody>
      </p:sp>
      <p:sp>
        <p:nvSpPr>
          <p:cNvPr id="16" name="Text 14"/>
          <p:cNvSpPr txBox="1"/>
          <p:nvPr/>
        </p:nvSpPr>
        <p:spPr>
          <a:xfrm>
            <a:off x="594360" y="2487168"/>
            <a:ext cx="2286000" cy="566928"/>
          </a:xfrm>
          <a:prstGeom prst="rect">
            <a:avLst/>
          </a:prstGeom>
          <a:noFill/>
          <a:ln/>
        </p:spPr>
        <p:txBody>
          <a:bodyPr wrap="square" lIns="0" tIns="0" rIns="0" bIns="0" rtlCol="0" anchor="ctr"/>
          <a:lstStyle/>
          <a:p>
            <a:pPr marL="0" indent="0">
              <a:buNone/>
            </a:pPr>
            <a:r>
              <a:rPr lang="en-US" sz="1600" b="1" dirty="0">
                <a:solidFill>
                  <a:srgbClr val="141821"/>
                </a:solidFill>
                <a:latin typeface="Calibri" pitchFamily="34" charset="0"/>
                <a:ea typeface="Calibri" pitchFamily="34" charset="-122"/>
                <a:cs typeface="Calibri" pitchFamily="34" charset="-120"/>
              </a:rPr>
              <a:t>Con el movimiento</a:t>
            </a:r>
            <a:endParaRPr lang="en-US" sz="1600" dirty="0"/>
          </a:p>
        </p:txBody>
      </p:sp>
      <p:sp>
        <p:nvSpPr>
          <p:cNvPr id="17" name="Text 15"/>
          <p:cNvSpPr txBox="1"/>
          <p:nvPr/>
        </p:nvSpPr>
        <p:spPr>
          <a:xfrm>
            <a:off x="2926080" y="2487168"/>
            <a:ext cx="2834640" cy="566928"/>
          </a:xfrm>
          <a:prstGeom prst="rect">
            <a:avLst/>
          </a:prstGeom>
          <a:noFill/>
          <a:ln/>
        </p:spPr>
        <p:txBody>
          <a:bodyPr wrap="square" lIns="0" tIns="0" rIns="0" bIns="0" rtlCol="0" anchor="ctr"/>
          <a:lstStyle/>
          <a:p>
            <a:pPr marL="0" indent="0">
              <a:buNone/>
            </a:pPr>
            <a:r>
              <a:rPr lang="en-US" sz="1600" dirty="0">
                <a:solidFill>
                  <a:srgbClr val="141821"/>
                </a:solidFill>
                <a:latin typeface="Calibri" pitchFamily="34" charset="0"/>
                <a:ea typeface="Calibri" pitchFamily="34" charset="-122"/>
                <a:cs typeface="Calibri" pitchFamily="34" charset="-120"/>
              </a:rPr>
              <a:t>Mejora al “desentumecer”</a:t>
            </a:r>
            <a:endParaRPr lang="en-US" sz="1600" dirty="0"/>
          </a:p>
        </p:txBody>
      </p:sp>
      <p:sp>
        <p:nvSpPr>
          <p:cNvPr id="18" name="Text 16"/>
          <p:cNvSpPr txBox="1"/>
          <p:nvPr/>
        </p:nvSpPr>
        <p:spPr>
          <a:xfrm>
            <a:off x="5806440" y="2487168"/>
            <a:ext cx="2743200" cy="566928"/>
          </a:xfrm>
          <a:prstGeom prst="rect">
            <a:avLst/>
          </a:prstGeom>
          <a:noFill/>
          <a:ln/>
        </p:spPr>
        <p:txBody>
          <a:bodyPr wrap="square" lIns="0" tIns="0" rIns="0" bIns="0" rtlCol="0" anchor="ctr"/>
          <a:lstStyle/>
          <a:p>
            <a:pPr marL="0" indent="0">
              <a:buNone/>
            </a:pPr>
            <a:r>
              <a:rPr lang="en-US" sz="1600" dirty="0">
                <a:solidFill>
                  <a:srgbClr val="141821"/>
                </a:solidFill>
                <a:latin typeface="Calibri" pitchFamily="34" charset="0"/>
                <a:ea typeface="Calibri" pitchFamily="34" charset="-122"/>
                <a:cs typeface="Calibri" pitchFamily="34" charset="-120"/>
              </a:rPr>
              <a:t>Empeora; mejora con el reposo</a:t>
            </a:r>
            <a:endParaRPr lang="en-US" sz="1600" dirty="0"/>
          </a:p>
        </p:txBody>
      </p:sp>
      <p:sp>
        <p:nvSpPr>
          <p:cNvPr id="19" name="Shape 17"/>
          <p:cNvSpPr/>
          <p:nvPr/>
        </p:nvSpPr>
        <p:spPr>
          <a:xfrm>
            <a:off x="457200" y="3108960"/>
            <a:ext cx="8229600" cy="566928"/>
          </a:xfrm>
          <a:prstGeom prst="roundRect">
            <a:avLst>
              <a:gd name="adj" fmla="val 16129"/>
            </a:avLst>
          </a:prstGeom>
          <a:solidFill>
            <a:srgbClr val="FFFFFF"/>
          </a:solidFill>
          <a:ln w="3175">
            <a:solidFill>
              <a:schemeClr val="tx1"/>
            </a:solidFill>
            <a:prstDash val="solid"/>
          </a:ln>
        </p:spPr>
        <p:txBody>
          <a:bodyPr/>
          <a:lstStyle/>
          <a:p>
            <a:pPr algn="ctr"/>
            <a:endParaRPr lang="es-CO" sz="2400"/>
          </a:p>
        </p:txBody>
      </p:sp>
      <p:sp>
        <p:nvSpPr>
          <p:cNvPr id="20" name="Text 18"/>
          <p:cNvSpPr txBox="1"/>
          <p:nvPr/>
        </p:nvSpPr>
        <p:spPr>
          <a:xfrm>
            <a:off x="594360" y="3108960"/>
            <a:ext cx="2286000" cy="566928"/>
          </a:xfrm>
          <a:prstGeom prst="rect">
            <a:avLst/>
          </a:prstGeom>
          <a:noFill/>
          <a:ln/>
        </p:spPr>
        <p:txBody>
          <a:bodyPr wrap="square" lIns="0" tIns="0" rIns="0" bIns="0" rtlCol="0" anchor="ctr"/>
          <a:lstStyle/>
          <a:p>
            <a:pPr marL="0" indent="0">
              <a:buNone/>
            </a:pPr>
            <a:r>
              <a:rPr lang="en-US" sz="1600" b="1" dirty="0">
                <a:solidFill>
                  <a:srgbClr val="141821"/>
                </a:solidFill>
                <a:latin typeface="Calibri" pitchFamily="34" charset="0"/>
                <a:ea typeface="Calibri" pitchFamily="34" charset="-122"/>
                <a:cs typeface="Calibri" pitchFamily="34" charset="-120"/>
              </a:rPr>
              <a:t>Rigidez matutina</a:t>
            </a:r>
            <a:endParaRPr lang="en-US" sz="1600" dirty="0"/>
          </a:p>
        </p:txBody>
      </p:sp>
      <p:sp>
        <p:nvSpPr>
          <p:cNvPr id="21" name="Text 19"/>
          <p:cNvSpPr txBox="1"/>
          <p:nvPr/>
        </p:nvSpPr>
        <p:spPr>
          <a:xfrm>
            <a:off x="2926080" y="3108960"/>
            <a:ext cx="2834640" cy="566928"/>
          </a:xfrm>
          <a:prstGeom prst="rect">
            <a:avLst/>
          </a:prstGeom>
          <a:noFill/>
          <a:ln/>
        </p:spPr>
        <p:txBody>
          <a:bodyPr wrap="square" lIns="0" tIns="0" rIns="0" bIns="0" rtlCol="0" anchor="ctr"/>
          <a:lstStyle/>
          <a:p>
            <a:pPr marL="0" indent="0">
              <a:buNone/>
            </a:pPr>
            <a:r>
              <a:rPr lang="en-US" sz="1600" b="1" dirty="0">
                <a:solidFill>
                  <a:srgbClr val="C00000"/>
                </a:solidFill>
                <a:latin typeface="Calibri" pitchFamily="34" charset="0"/>
                <a:ea typeface="Calibri" pitchFamily="34" charset="-122"/>
                <a:cs typeface="Calibri" pitchFamily="34" charset="-120"/>
              </a:rPr>
              <a:t>&gt; 30–60 min</a:t>
            </a:r>
            <a:endParaRPr lang="en-US" sz="1600" b="1" dirty="0">
              <a:solidFill>
                <a:srgbClr val="C00000"/>
              </a:solidFill>
            </a:endParaRPr>
          </a:p>
        </p:txBody>
      </p:sp>
      <p:sp>
        <p:nvSpPr>
          <p:cNvPr id="22" name="Text 20"/>
          <p:cNvSpPr txBox="1"/>
          <p:nvPr/>
        </p:nvSpPr>
        <p:spPr>
          <a:xfrm>
            <a:off x="5806440" y="3108960"/>
            <a:ext cx="2743200" cy="566928"/>
          </a:xfrm>
          <a:prstGeom prst="rect">
            <a:avLst/>
          </a:prstGeom>
          <a:noFill/>
          <a:ln/>
        </p:spPr>
        <p:txBody>
          <a:bodyPr wrap="square" lIns="0" tIns="0" rIns="0" bIns="0" rtlCol="0" anchor="ctr"/>
          <a:lstStyle/>
          <a:p>
            <a:pPr marL="0" indent="0">
              <a:buNone/>
            </a:pPr>
            <a:r>
              <a:rPr lang="en-US" sz="1600" dirty="0">
                <a:solidFill>
                  <a:srgbClr val="141821"/>
                </a:solidFill>
                <a:latin typeface="Calibri" pitchFamily="34" charset="0"/>
                <a:ea typeface="Calibri" pitchFamily="34" charset="-122"/>
                <a:cs typeface="Calibri" pitchFamily="34" charset="-120"/>
              </a:rPr>
              <a:t>&lt; 30 min</a:t>
            </a:r>
            <a:endParaRPr lang="en-US" sz="1600" dirty="0"/>
          </a:p>
        </p:txBody>
      </p:sp>
      <p:sp>
        <p:nvSpPr>
          <p:cNvPr id="23" name="Shape 21"/>
          <p:cNvSpPr/>
          <p:nvPr/>
        </p:nvSpPr>
        <p:spPr>
          <a:xfrm>
            <a:off x="457200" y="3730752"/>
            <a:ext cx="8229600" cy="566928"/>
          </a:xfrm>
          <a:prstGeom prst="roundRect">
            <a:avLst>
              <a:gd name="adj" fmla="val 16129"/>
            </a:avLst>
          </a:prstGeom>
          <a:solidFill>
            <a:srgbClr val="FFFFFF"/>
          </a:solidFill>
          <a:ln w="3175">
            <a:solidFill>
              <a:schemeClr val="tx1"/>
            </a:solidFill>
            <a:prstDash val="solid"/>
          </a:ln>
        </p:spPr>
        <p:txBody>
          <a:bodyPr/>
          <a:lstStyle/>
          <a:p>
            <a:pPr algn="ctr"/>
            <a:endParaRPr lang="es-CO" sz="2400" dirty="0"/>
          </a:p>
        </p:txBody>
      </p:sp>
      <p:sp>
        <p:nvSpPr>
          <p:cNvPr id="24" name="Text 22"/>
          <p:cNvSpPr txBox="1"/>
          <p:nvPr/>
        </p:nvSpPr>
        <p:spPr>
          <a:xfrm>
            <a:off x="594360" y="3730752"/>
            <a:ext cx="2286000" cy="566928"/>
          </a:xfrm>
          <a:prstGeom prst="rect">
            <a:avLst/>
          </a:prstGeom>
          <a:noFill/>
          <a:ln/>
        </p:spPr>
        <p:txBody>
          <a:bodyPr wrap="square" lIns="0" tIns="0" rIns="0" bIns="0" rtlCol="0" anchor="ctr"/>
          <a:lstStyle/>
          <a:p>
            <a:pPr marL="0" indent="0">
              <a:buNone/>
            </a:pPr>
            <a:r>
              <a:rPr lang="en-US" sz="1600" b="1" dirty="0">
                <a:solidFill>
                  <a:srgbClr val="141821"/>
                </a:solidFill>
                <a:latin typeface="Calibri" pitchFamily="34" charset="0"/>
                <a:ea typeface="Calibri" pitchFamily="34" charset="-122"/>
                <a:cs typeface="Calibri" pitchFamily="34" charset="-120"/>
              </a:rPr>
              <a:t>Síntomas generales</a:t>
            </a:r>
            <a:endParaRPr lang="en-US" sz="1600" dirty="0"/>
          </a:p>
        </p:txBody>
      </p:sp>
      <p:sp>
        <p:nvSpPr>
          <p:cNvPr id="25" name="Text 23"/>
          <p:cNvSpPr txBox="1"/>
          <p:nvPr/>
        </p:nvSpPr>
        <p:spPr>
          <a:xfrm>
            <a:off x="2926080" y="3730752"/>
            <a:ext cx="2834640" cy="566928"/>
          </a:xfrm>
          <a:prstGeom prst="rect">
            <a:avLst/>
          </a:prstGeom>
          <a:noFill/>
          <a:ln/>
        </p:spPr>
        <p:txBody>
          <a:bodyPr wrap="square" lIns="0" tIns="0" rIns="0" bIns="0" rtlCol="0" anchor="ctr"/>
          <a:lstStyle/>
          <a:p>
            <a:pPr marL="0" indent="0">
              <a:buNone/>
            </a:pPr>
            <a:r>
              <a:rPr lang="en-US" sz="1600" dirty="0">
                <a:solidFill>
                  <a:srgbClr val="141821"/>
                </a:solidFill>
                <a:latin typeface="Calibri" pitchFamily="34" charset="0"/>
                <a:ea typeface="Calibri" pitchFamily="34" charset="-122"/>
                <a:cs typeface="Calibri" pitchFamily="34" charset="-120"/>
              </a:rPr>
              <a:t>Fatiga, febrícula, malestar</a:t>
            </a:r>
            <a:endParaRPr lang="en-US" sz="1600" dirty="0"/>
          </a:p>
        </p:txBody>
      </p:sp>
      <p:sp>
        <p:nvSpPr>
          <p:cNvPr id="26" name="Text 24"/>
          <p:cNvSpPr txBox="1"/>
          <p:nvPr/>
        </p:nvSpPr>
        <p:spPr>
          <a:xfrm>
            <a:off x="5806440" y="3730752"/>
            <a:ext cx="2743200" cy="566928"/>
          </a:xfrm>
          <a:prstGeom prst="rect">
            <a:avLst/>
          </a:prstGeom>
          <a:noFill/>
          <a:ln/>
        </p:spPr>
        <p:txBody>
          <a:bodyPr wrap="square" lIns="0" tIns="0" rIns="0" bIns="0" rtlCol="0" anchor="ctr"/>
          <a:lstStyle/>
          <a:p>
            <a:pPr marL="0" indent="0">
              <a:buNone/>
            </a:pPr>
            <a:r>
              <a:rPr lang="en-US" sz="1600" dirty="0">
                <a:solidFill>
                  <a:srgbClr val="141821"/>
                </a:solidFill>
                <a:latin typeface="Calibri" pitchFamily="34" charset="0"/>
                <a:ea typeface="Calibri" pitchFamily="34" charset="-122"/>
                <a:cs typeface="Calibri" pitchFamily="34" charset="-120"/>
              </a:rPr>
              <a:t>Ausentes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A66A00"/>
                </a:solidFill>
                <a:latin typeface="Calibri" pitchFamily="34" charset="0"/>
                <a:ea typeface="Calibri" pitchFamily="34" charset="-122"/>
                <a:cs typeface="Calibri" pitchFamily="34" charset="-120"/>
              </a:rPr>
              <a:t>PISTA 2 · LA MANO</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El mapa de la mano: el patrón que delata</a:t>
            </a:r>
            <a:endParaRPr lang="en-US" sz="29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5. Ezzati F, Pezeshk P. Radiographic findings of inflammatory arthritis and mimics in the hands. Diagnostics (Basel). 2022;12(9):2134.</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4. Combe B, Landewe R, Daien CI, Hua C, Aletaha D, Alvaro-Gracia JM, et al. 2016 update of the EULAR recommendations for the management of early arthritis. Ann Rheum Dis. 2017;76(6):948-59.</a:t>
            </a:r>
            <a:endParaRPr lang="en-US" sz="900" dirty="0"/>
          </a:p>
        </p:txBody>
      </p:sp>
      <p:sp>
        <p:nvSpPr>
          <p:cNvPr id="6" name="Shape 4"/>
          <p:cNvSpPr/>
          <p:nvPr/>
        </p:nvSpPr>
        <p:spPr>
          <a:xfrm>
            <a:off x="8247888" y="4535424"/>
            <a:ext cx="420624" cy="420624"/>
          </a:xfrm>
          <a:prstGeom prst="ellipse">
            <a:avLst/>
          </a:prstGeom>
          <a:solidFill>
            <a:srgbClr val="0A0E1F"/>
          </a:solidFill>
          <a:ln w="15875">
            <a:solidFill>
              <a:srgbClr val="3A4165"/>
            </a:solidFill>
            <a:prstDash val="solid"/>
          </a:ln>
        </p:spPr>
        <p:txBody>
          <a:bodyPr/>
          <a:lstStyle/>
          <a:p>
            <a:endParaRPr lang="es-CO"/>
          </a:p>
        </p:txBody>
      </p:sp>
      <p:sp>
        <p:nvSpPr>
          <p:cNvPr id="7" name="Shape 5"/>
          <p:cNvSpPr/>
          <p:nvPr/>
        </p:nvSpPr>
        <p:spPr>
          <a:xfrm>
            <a:off x="1005840" y="2606040"/>
            <a:ext cx="1463040" cy="1234440"/>
          </a:xfrm>
          <a:prstGeom prst="roundRect">
            <a:avLst>
              <a:gd name="adj" fmla="val 18519"/>
            </a:avLst>
          </a:prstGeom>
          <a:solidFill>
            <a:srgbClr val="EEF1FA"/>
          </a:solidFill>
          <a:ln w="12700">
            <a:solidFill>
              <a:srgbClr val="B9C2DE"/>
            </a:solidFill>
            <a:prstDash val="solid"/>
          </a:ln>
        </p:spPr>
        <p:txBody>
          <a:bodyPr/>
          <a:lstStyle/>
          <a:p>
            <a:endParaRPr lang="es-CO"/>
          </a:p>
        </p:txBody>
      </p:sp>
      <p:sp>
        <p:nvSpPr>
          <p:cNvPr id="8" name="Shape 6"/>
          <p:cNvSpPr/>
          <p:nvPr/>
        </p:nvSpPr>
        <p:spPr>
          <a:xfrm>
            <a:off x="1060704" y="1463040"/>
            <a:ext cx="292608" cy="1417320"/>
          </a:xfrm>
          <a:prstGeom prst="roundRect">
            <a:avLst>
              <a:gd name="adj" fmla="val 46875"/>
            </a:avLst>
          </a:prstGeom>
          <a:solidFill>
            <a:srgbClr val="EEF1FA"/>
          </a:solidFill>
          <a:ln w="12700">
            <a:solidFill>
              <a:srgbClr val="B9C2DE"/>
            </a:solidFill>
            <a:prstDash val="solid"/>
          </a:ln>
        </p:spPr>
        <p:txBody>
          <a:bodyPr/>
          <a:lstStyle/>
          <a:p>
            <a:endParaRPr lang="es-CO"/>
          </a:p>
        </p:txBody>
      </p:sp>
      <p:sp>
        <p:nvSpPr>
          <p:cNvPr id="9" name="Shape 7"/>
          <p:cNvSpPr/>
          <p:nvPr/>
        </p:nvSpPr>
        <p:spPr>
          <a:xfrm>
            <a:off x="1097280" y="2532888"/>
            <a:ext cx="219456" cy="219456"/>
          </a:xfrm>
          <a:prstGeom prst="ellipse">
            <a:avLst/>
          </a:prstGeom>
          <a:solidFill>
            <a:srgbClr val="F2546B"/>
          </a:solidFill>
          <a:ln w="9525">
            <a:solidFill>
              <a:srgbClr val="B9C2DE"/>
            </a:solidFill>
            <a:prstDash val="solid"/>
          </a:ln>
        </p:spPr>
        <p:txBody>
          <a:bodyPr/>
          <a:lstStyle/>
          <a:p>
            <a:endParaRPr lang="es-CO"/>
          </a:p>
        </p:txBody>
      </p:sp>
      <p:sp>
        <p:nvSpPr>
          <p:cNvPr id="10" name="Shape 8"/>
          <p:cNvSpPr/>
          <p:nvPr/>
        </p:nvSpPr>
        <p:spPr>
          <a:xfrm>
            <a:off x="1097280" y="2016252"/>
            <a:ext cx="219456" cy="219456"/>
          </a:xfrm>
          <a:prstGeom prst="ellipse">
            <a:avLst/>
          </a:prstGeom>
          <a:solidFill>
            <a:srgbClr val="F2546B"/>
          </a:solidFill>
          <a:ln w="9525">
            <a:solidFill>
              <a:srgbClr val="B9C2DE"/>
            </a:solidFill>
            <a:prstDash val="solid"/>
          </a:ln>
        </p:spPr>
        <p:txBody>
          <a:bodyPr/>
          <a:lstStyle/>
          <a:p>
            <a:endParaRPr lang="es-CO"/>
          </a:p>
        </p:txBody>
      </p:sp>
      <p:sp>
        <p:nvSpPr>
          <p:cNvPr id="11" name="Shape 9"/>
          <p:cNvSpPr/>
          <p:nvPr/>
        </p:nvSpPr>
        <p:spPr>
          <a:xfrm>
            <a:off x="1097280" y="1627632"/>
            <a:ext cx="219456" cy="219456"/>
          </a:xfrm>
          <a:prstGeom prst="ellipse">
            <a:avLst/>
          </a:prstGeom>
          <a:solidFill>
            <a:srgbClr val="CFD6EA"/>
          </a:solidFill>
          <a:ln w="9525">
            <a:solidFill>
              <a:srgbClr val="B9C2DE"/>
            </a:solidFill>
            <a:prstDash val="solid"/>
          </a:ln>
        </p:spPr>
        <p:txBody>
          <a:bodyPr/>
          <a:lstStyle/>
          <a:p>
            <a:endParaRPr lang="es-CO"/>
          </a:p>
        </p:txBody>
      </p:sp>
      <p:sp>
        <p:nvSpPr>
          <p:cNvPr id="12" name="Shape 10"/>
          <p:cNvSpPr/>
          <p:nvPr/>
        </p:nvSpPr>
        <p:spPr>
          <a:xfrm>
            <a:off x="1417320" y="1307592"/>
            <a:ext cx="292608" cy="1572768"/>
          </a:xfrm>
          <a:prstGeom prst="roundRect">
            <a:avLst>
              <a:gd name="adj" fmla="val 46875"/>
            </a:avLst>
          </a:prstGeom>
          <a:solidFill>
            <a:srgbClr val="EEF1FA"/>
          </a:solidFill>
          <a:ln w="12700">
            <a:solidFill>
              <a:srgbClr val="B9C2DE"/>
            </a:solidFill>
            <a:prstDash val="solid"/>
          </a:ln>
        </p:spPr>
        <p:txBody>
          <a:bodyPr/>
          <a:lstStyle/>
          <a:p>
            <a:endParaRPr lang="es-CO"/>
          </a:p>
        </p:txBody>
      </p:sp>
      <p:sp>
        <p:nvSpPr>
          <p:cNvPr id="13" name="Shape 11"/>
          <p:cNvSpPr/>
          <p:nvPr/>
        </p:nvSpPr>
        <p:spPr>
          <a:xfrm>
            <a:off x="1453896" y="2532888"/>
            <a:ext cx="219456" cy="219456"/>
          </a:xfrm>
          <a:prstGeom prst="ellipse">
            <a:avLst/>
          </a:prstGeom>
          <a:solidFill>
            <a:srgbClr val="F2546B"/>
          </a:solidFill>
          <a:ln w="9525">
            <a:solidFill>
              <a:srgbClr val="B9C2DE"/>
            </a:solidFill>
            <a:prstDash val="solid"/>
          </a:ln>
        </p:spPr>
        <p:txBody>
          <a:bodyPr/>
          <a:lstStyle/>
          <a:p>
            <a:endParaRPr lang="es-CO"/>
          </a:p>
        </p:txBody>
      </p:sp>
      <p:sp>
        <p:nvSpPr>
          <p:cNvPr id="14" name="Shape 12"/>
          <p:cNvSpPr/>
          <p:nvPr/>
        </p:nvSpPr>
        <p:spPr>
          <a:xfrm>
            <a:off x="1453896" y="1950964"/>
            <a:ext cx="219456" cy="219456"/>
          </a:xfrm>
          <a:prstGeom prst="ellipse">
            <a:avLst/>
          </a:prstGeom>
          <a:solidFill>
            <a:srgbClr val="F2546B"/>
          </a:solidFill>
          <a:ln w="9525">
            <a:solidFill>
              <a:srgbClr val="B9C2DE"/>
            </a:solidFill>
            <a:prstDash val="solid"/>
          </a:ln>
        </p:spPr>
        <p:txBody>
          <a:bodyPr/>
          <a:lstStyle/>
          <a:p>
            <a:endParaRPr lang="es-CO"/>
          </a:p>
        </p:txBody>
      </p:sp>
      <p:sp>
        <p:nvSpPr>
          <p:cNvPr id="15" name="Shape 13"/>
          <p:cNvSpPr/>
          <p:nvPr/>
        </p:nvSpPr>
        <p:spPr>
          <a:xfrm>
            <a:off x="1453896" y="1509492"/>
            <a:ext cx="219456" cy="219456"/>
          </a:xfrm>
          <a:prstGeom prst="ellipse">
            <a:avLst/>
          </a:prstGeom>
          <a:solidFill>
            <a:srgbClr val="CFD6EA"/>
          </a:solidFill>
          <a:ln w="9525">
            <a:solidFill>
              <a:srgbClr val="B9C2DE"/>
            </a:solidFill>
            <a:prstDash val="solid"/>
          </a:ln>
        </p:spPr>
        <p:txBody>
          <a:bodyPr/>
          <a:lstStyle/>
          <a:p>
            <a:endParaRPr lang="es-CO"/>
          </a:p>
        </p:txBody>
      </p:sp>
      <p:sp>
        <p:nvSpPr>
          <p:cNvPr id="16" name="Shape 14"/>
          <p:cNvSpPr/>
          <p:nvPr/>
        </p:nvSpPr>
        <p:spPr>
          <a:xfrm>
            <a:off x="1773936" y="1399032"/>
            <a:ext cx="292608" cy="1481328"/>
          </a:xfrm>
          <a:prstGeom prst="roundRect">
            <a:avLst>
              <a:gd name="adj" fmla="val 46875"/>
            </a:avLst>
          </a:prstGeom>
          <a:solidFill>
            <a:srgbClr val="EEF1FA"/>
          </a:solidFill>
          <a:ln w="12700">
            <a:solidFill>
              <a:srgbClr val="B9C2DE"/>
            </a:solidFill>
            <a:prstDash val="solid"/>
          </a:ln>
        </p:spPr>
        <p:txBody>
          <a:bodyPr/>
          <a:lstStyle/>
          <a:p>
            <a:endParaRPr lang="es-CO"/>
          </a:p>
        </p:txBody>
      </p:sp>
      <p:sp>
        <p:nvSpPr>
          <p:cNvPr id="17" name="Shape 15"/>
          <p:cNvSpPr/>
          <p:nvPr/>
        </p:nvSpPr>
        <p:spPr>
          <a:xfrm>
            <a:off x="1810512" y="2532888"/>
            <a:ext cx="219456" cy="219456"/>
          </a:xfrm>
          <a:prstGeom prst="ellipse">
            <a:avLst/>
          </a:prstGeom>
          <a:solidFill>
            <a:srgbClr val="F2546B"/>
          </a:solidFill>
          <a:ln w="9525">
            <a:solidFill>
              <a:srgbClr val="B9C2DE"/>
            </a:solidFill>
            <a:prstDash val="solid"/>
          </a:ln>
        </p:spPr>
        <p:txBody>
          <a:bodyPr/>
          <a:lstStyle/>
          <a:p>
            <a:endParaRPr lang="es-CO"/>
          </a:p>
        </p:txBody>
      </p:sp>
      <p:sp>
        <p:nvSpPr>
          <p:cNvPr id="18" name="Shape 16"/>
          <p:cNvSpPr/>
          <p:nvPr/>
        </p:nvSpPr>
        <p:spPr>
          <a:xfrm>
            <a:off x="1810512" y="1989369"/>
            <a:ext cx="219456" cy="219456"/>
          </a:xfrm>
          <a:prstGeom prst="ellipse">
            <a:avLst/>
          </a:prstGeom>
          <a:solidFill>
            <a:srgbClr val="F2546B"/>
          </a:solidFill>
          <a:ln w="9525">
            <a:solidFill>
              <a:srgbClr val="B9C2DE"/>
            </a:solidFill>
            <a:prstDash val="solid"/>
          </a:ln>
        </p:spPr>
        <p:txBody>
          <a:bodyPr/>
          <a:lstStyle/>
          <a:p>
            <a:endParaRPr lang="es-CO"/>
          </a:p>
        </p:txBody>
      </p:sp>
      <p:sp>
        <p:nvSpPr>
          <p:cNvPr id="19" name="Shape 17"/>
          <p:cNvSpPr/>
          <p:nvPr/>
        </p:nvSpPr>
        <p:spPr>
          <a:xfrm>
            <a:off x="1810512" y="1578986"/>
            <a:ext cx="219456" cy="219456"/>
          </a:xfrm>
          <a:prstGeom prst="ellipse">
            <a:avLst/>
          </a:prstGeom>
          <a:solidFill>
            <a:srgbClr val="CFD6EA"/>
          </a:solidFill>
          <a:ln w="9525">
            <a:solidFill>
              <a:srgbClr val="B9C2DE"/>
            </a:solidFill>
            <a:prstDash val="solid"/>
          </a:ln>
        </p:spPr>
        <p:txBody>
          <a:bodyPr/>
          <a:lstStyle/>
          <a:p>
            <a:endParaRPr lang="es-CO"/>
          </a:p>
        </p:txBody>
      </p:sp>
      <p:sp>
        <p:nvSpPr>
          <p:cNvPr id="20" name="Shape 18"/>
          <p:cNvSpPr/>
          <p:nvPr/>
        </p:nvSpPr>
        <p:spPr>
          <a:xfrm>
            <a:off x="2130552" y="1645920"/>
            <a:ext cx="292608" cy="1234440"/>
          </a:xfrm>
          <a:prstGeom prst="roundRect">
            <a:avLst>
              <a:gd name="adj" fmla="val 46875"/>
            </a:avLst>
          </a:prstGeom>
          <a:solidFill>
            <a:srgbClr val="EEF1FA"/>
          </a:solidFill>
          <a:ln w="12700">
            <a:solidFill>
              <a:srgbClr val="B9C2DE"/>
            </a:solidFill>
            <a:prstDash val="solid"/>
          </a:ln>
        </p:spPr>
        <p:txBody>
          <a:bodyPr/>
          <a:lstStyle/>
          <a:p>
            <a:endParaRPr lang="es-CO"/>
          </a:p>
        </p:txBody>
      </p:sp>
      <p:sp>
        <p:nvSpPr>
          <p:cNvPr id="21" name="Shape 19"/>
          <p:cNvSpPr/>
          <p:nvPr/>
        </p:nvSpPr>
        <p:spPr>
          <a:xfrm>
            <a:off x="2167128" y="2532888"/>
            <a:ext cx="219456" cy="219456"/>
          </a:xfrm>
          <a:prstGeom prst="ellipse">
            <a:avLst/>
          </a:prstGeom>
          <a:solidFill>
            <a:srgbClr val="F2546B"/>
          </a:solidFill>
          <a:ln w="9525">
            <a:solidFill>
              <a:srgbClr val="B9C2DE"/>
            </a:solidFill>
            <a:prstDash val="solid"/>
          </a:ln>
        </p:spPr>
        <p:txBody>
          <a:bodyPr/>
          <a:lstStyle/>
          <a:p>
            <a:endParaRPr lang="es-CO"/>
          </a:p>
        </p:txBody>
      </p:sp>
      <p:sp>
        <p:nvSpPr>
          <p:cNvPr id="22" name="Shape 20"/>
          <p:cNvSpPr/>
          <p:nvPr/>
        </p:nvSpPr>
        <p:spPr>
          <a:xfrm>
            <a:off x="2167128" y="2093062"/>
            <a:ext cx="219456" cy="219456"/>
          </a:xfrm>
          <a:prstGeom prst="ellipse">
            <a:avLst/>
          </a:prstGeom>
          <a:solidFill>
            <a:srgbClr val="F2546B"/>
          </a:solidFill>
          <a:ln w="9525">
            <a:solidFill>
              <a:srgbClr val="B9C2DE"/>
            </a:solidFill>
            <a:prstDash val="solid"/>
          </a:ln>
        </p:spPr>
        <p:txBody>
          <a:bodyPr/>
          <a:lstStyle/>
          <a:p>
            <a:endParaRPr lang="es-CO"/>
          </a:p>
        </p:txBody>
      </p:sp>
      <p:sp>
        <p:nvSpPr>
          <p:cNvPr id="23" name="Shape 21"/>
          <p:cNvSpPr/>
          <p:nvPr/>
        </p:nvSpPr>
        <p:spPr>
          <a:xfrm>
            <a:off x="2167128" y="1766621"/>
            <a:ext cx="219456" cy="219456"/>
          </a:xfrm>
          <a:prstGeom prst="ellipse">
            <a:avLst/>
          </a:prstGeom>
          <a:solidFill>
            <a:srgbClr val="CFD6EA"/>
          </a:solidFill>
          <a:ln w="9525">
            <a:solidFill>
              <a:srgbClr val="B9C2DE"/>
            </a:solidFill>
            <a:prstDash val="solid"/>
          </a:ln>
        </p:spPr>
        <p:txBody>
          <a:bodyPr/>
          <a:lstStyle/>
          <a:p>
            <a:endParaRPr lang="es-CO"/>
          </a:p>
        </p:txBody>
      </p:sp>
      <p:sp>
        <p:nvSpPr>
          <p:cNvPr id="24" name="Shape 22"/>
          <p:cNvSpPr/>
          <p:nvPr/>
        </p:nvSpPr>
        <p:spPr>
          <a:xfrm>
            <a:off x="621792" y="2651760"/>
            <a:ext cx="310896" cy="1143000"/>
          </a:xfrm>
          <a:prstGeom prst="roundRect">
            <a:avLst>
              <a:gd name="adj" fmla="val 44118"/>
            </a:avLst>
          </a:prstGeom>
          <a:solidFill>
            <a:srgbClr val="EEF1FA"/>
          </a:solidFill>
          <a:ln w="12700">
            <a:solidFill>
              <a:srgbClr val="B9C2DE"/>
            </a:solidFill>
            <a:prstDash val="solid"/>
          </a:ln>
        </p:spPr>
        <p:txBody>
          <a:bodyPr/>
          <a:lstStyle/>
          <a:p>
            <a:endParaRPr lang="es-CO"/>
          </a:p>
        </p:txBody>
      </p:sp>
      <p:sp>
        <p:nvSpPr>
          <p:cNvPr id="25" name="Shape 23"/>
          <p:cNvSpPr/>
          <p:nvPr/>
        </p:nvSpPr>
        <p:spPr>
          <a:xfrm>
            <a:off x="667512" y="2770632"/>
            <a:ext cx="219456" cy="219456"/>
          </a:xfrm>
          <a:prstGeom prst="ellipse">
            <a:avLst/>
          </a:prstGeom>
          <a:solidFill>
            <a:srgbClr val="CFD6EA"/>
          </a:solidFill>
          <a:ln w="9525">
            <a:solidFill>
              <a:srgbClr val="B9C2DE"/>
            </a:solidFill>
            <a:prstDash val="solid"/>
          </a:ln>
        </p:spPr>
        <p:txBody>
          <a:bodyPr/>
          <a:lstStyle/>
          <a:p>
            <a:endParaRPr lang="es-CO"/>
          </a:p>
        </p:txBody>
      </p:sp>
      <p:sp>
        <p:nvSpPr>
          <p:cNvPr id="26" name="Shape 24"/>
          <p:cNvSpPr/>
          <p:nvPr/>
        </p:nvSpPr>
        <p:spPr>
          <a:xfrm>
            <a:off x="667512" y="3108960"/>
            <a:ext cx="219456" cy="219456"/>
          </a:xfrm>
          <a:prstGeom prst="ellipse">
            <a:avLst/>
          </a:prstGeom>
          <a:solidFill>
            <a:srgbClr val="F2546B"/>
          </a:solidFill>
          <a:ln w="9525">
            <a:solidFill>
              <a:srgbClr val="B9C2DE"/>
            </a:solidFill>
            <a:prstDash val="solid"/>
          </a:ln>
        </p:spPr>
        <p:txBody>
          <a:bodyPr/>
          <a:lstStyle/>
          <a:p>
            <a:endParaRPr lang="es-CO"/>
          </a:p>
        </p:txBody>
      </p:sp>
      <p:sp>
        <p:nvSpPr>
          <p:cNvPr id="27" name="Shape 25"/>
          <p:cNvSpPr/>
          <p:nvPr/>
        </p:nvSpPr>
        <p:spPr>
          <a:xfrm>
            <a:off x="667512" y="3502152"/>
            <a:ext cx="219456" cy="219456"/>
          </a:xfrm>
          <a:prstGeom prst="ellipse">
            <a:avLst/>
          </a:prstGeom>
          <a:solidFill>
            <a:srgbClr val="CFD6EA"/>
          </a:solidFill>
          <a:ln w="9525">
            <a:solidFill>
              <a:srgbClr val="B9C2DE"/>
            </a:solidFill>
            <a:prstDash val="solid"/>
          </a:ln>
        </p:spPr>
        <p:txBody>
          <a:bodyPr/>
          <a:lstStyle/>
          <a:p>
            <a:endParaRPr lang="es-CO"/>
          </a:p>
        </p:txBody>
      </p:sp>
      <p:sp>
        <p:nvSpPr>
          <p:cNvPr id="28" name="Shape 26"/>
          <p:cNvSpPr/>
          <p:nvPr/>
        </p:nvSpPr>
        <p:spPr>
          <a:xfrm>
            <a:off x="1234440" y="3794760"/>
            <a:ext cx="1005840" cy="411480"/>
          </a:xfrm>
          <a:prstGeom prst="roundRect">
            <a:avLst>
              <a:gd name="adj" fmla="val 22222"/>
            </a:avLst>
          </a:prstGeom>
          <a:solidFill>
            <a:srgbClr val="EEF1FA"/>
          </a:solidFill>
          <a:ln w="12700">
            <a:solidFill>
              <a:srgbClr val="B9C2DE"/>
            </a:solidFill>
            <a:prstDash val="solid"/>
          </a:ln>
        </p:spPr>
        <p:txBody>
          <a:bodyPr/>
          <a:lstStyle/>
          <a:p>
            <a:endParaRPr lang="es-CO"/>
          </a:p>
        </p:txBody>
      </p:sp>
      <p:sp>
        <p:nvSpPr>
          <p:cNvPr id="29" name="Shape 27"/>
          <p:cNvSpPr/>
          <p:nvPr/>
        </p:nvSpPr>
        <p:spPr>
          <a:xfrm>
            <a:off x="1307592" y="3886200"/>
            <a:ext cx="219456" cy="219456"/>
          </a:xfrm>
          <a:prstGeom prst="ellipse">
            <a:avLst/>
          </a:prstGeom>
          <a:solidFill>
            <a:srgbClr val="F2546B"/>
          </a:solidFill>
          <a:ln w="9525">
            <a:solidFill>
              <a:srgbClr val="B9C2DE"/>
            </a:solidFill>
            <a:prstDash val="solid"/>
          </a:ln>
        </p:spPr>
        <p:txBody>
          <a:bodyPr/>
          <a:lstStyle/>
          <a:p>
            <a:endParaRPr lang="es-CO"/>
          </a:p>
        </p:txBody>
      </p:sp>
      <p:sp>
        <p:nvSpPr>
          <p:cNvPr id="30" name="Shape 28"/>
          <p:cNvSpPr/>
          <p:nvPr/>
        </p:nvSpPr>
        <p:spPr>
          <a:xfrm>
            <a:off x="1627632" y="3886200"/>
            <a:ext cx="219456" cy="219456"/>
          </a:xfrm>
          <a:prstGeom prst="ellipse">
            <a:avLst/>
          </a:prstGeom>
          <a:solidFill>
            <a:srgbClr val="F2546B"/>
          </a:solidFill>
          <a:ln w="9525">
            <a:solidFill>
              <a:srgbClr val="B9C2DE"/>
            </a:solidFill>
            <a:prstDash val="solid"/>
          </a:ln>
        </p:spPr>
        <p:txBody>
          <a:bodyPr/>
          <a:lstStyle/>
          <a:p>
            <a:endParaRPr lang="es-CO"/>
          </a:p>
        </p:txBody>
      </p:sp>
      <p:sp>
        <p:nvSpPr>
          <p:cNvPr id="31" name="Shape 29"/>
          <p:cNvSpPr/>
          <p:nvPr/>
        </p:nvSpPr>
        <p:spPr>
          <a:xfrm>
            <a:off x="1947672" y="3886200"/>
            <a:ext cx="219456" cy="219456"/>
          </a:xfrm>
          <a:prstGeom prst="ellipse">
            <a:avLst/>
          </a:prstGeom>
          <a:solidFill>
            <a:srgbClr val="F2546B"/>
          </a:solidFill>
          <a:ln w="9525">
            <a:solidFill>
              <a:srgbClr val="B9C2DE"/>
            </a:solidFill>
            <a:prstDash val="solid"/>
          </a:ln>
        </p:spPr>
        <p:txBody>
          <a:bodyPr/>
          <a:lstStyle/>
          <a:p>
            <a:endParaRPr lang="es-CO"/>
          </a:p>
        </p:txBody>
      </p:sp>
      <p:sp>
        <p:nvSpPr>
          <p:cNvPr id="32" name="Text 30"/>
          <p:cNvSpPr txBox="1"/>
          <p:nvPr/>
        </p:nvSpPr>
        <p:spPr>
          <a:xfrm>
            <a:off x="457200" y="4206240"/>
            <a:ext cx="2651760" cy="320040"/>
          </a:xfrm>
          <a:prstGeom prst="rect">
            <a:avLst/>
          </a:prstGeom>
          <a:noFill/>
          <a:ln/>
        </p:spPr>
        <p:txBody>
          <a:bodyPr wrap="square" lIns="0" tIns="0" rIns="0" bIns="0" rtlCol="0" anchor="t"/>
          <a:lstStyle/>
          <a:p>
            <a:pPr marL="0" indent="0" algn="ctr">
              <a:buNone/>
            </a:pPr>
            <a:r>
              <a:rPr lang="en-US" sz="1500" b="1" dirty="0">
                <a:solidFill>
                  <a:srgbClr val="C81E43"/>
                </a:solidFill>
                <a:latin typeface="Calibri" pitchFamily="34" charset="0"/>
                <a:ea typeface="Calibri" pitchFamily="34" charset="-122"/>
                <a:cs typeface="Calibri" pitchFamily="34" charset="-120"/>
              </a:rPr>
              <a:t>Artritis reumatoide</a:t>
            </a:r>
            <a:endParaRPr lang="en-US" sz="1500" dirty="0"/>
          </a:p>
        </p:txBody>
      </p:sp>
      <p:sp>
        <p:nvSpPr>
          <p:cNvPr id="33" name="Shape 31"/>
          <p:cNvSpPr/>
          <p:nvPr/>
        </p:nvSpPr>
        <p:spPr>
          <a:xfrm>
            <a:off x="3657600" y="2606040"/>
            <a:ext cx="1463040" cy="1234440"/>
          </a:xfrm>
          <a:prstGeom prst="roundRect">
            <a:avLst>
              <a:gd name="adj" fmla="val 18519"/>
            </a:avLst>
          </a:prstGeom>
          <a:solidFill>
            <a:srgbClr val="EEF1FA"/>
          </a:solidFill>
          <a:ln w="12700">
            <a:solidFill>
              <a:srgbClr val="B9C2DE"/>
            </a:solidFill>
            <a:prstDash val="solid"/>
          </a:ln>
        </p:spPr>
        <p:txBody>
          <a:bodyPr/>
          <a:lstStyle/>
          <a:p>
            <a:endParaRPr lang="es-CO"/>
          </a:p>
        </p:txBody>
      </p:sp>
      <p:sp>
        <p:nvSpPr>
          <p:cNvPr id="34" name="Shape 32"/>
          <p:cNvSpPr/>
          <p:nvPr/>
        </p:nvSpPr>
        <p:spPr>
          <a:xfrm>
            <a:off x="3712464" y="1463040"/>
            <a:ext cx="292608" cy="1417320"/>
          </a:xfrm>
          <a:prstGeom prst="roundRect">
            <a:avLst>
              <a:gd name="adj" fmla="val 46875"/>
            </a:avLst>
          </a:prstGeom>
          <a:solidFill>
            <a:srgbClr val="EEF1FA"/>
          </a:solidFill>
          <a:ln w="12700">
            <a:solidFill>
              <a:srgbClr val="B9C2DE"/>
            </a:solidFill>
            <a:prstDash val="solid"/>
          </a:ln>
        </p:spPr>
        <p:txBody>
          <a:bodyPr/>
          <a:lstStyle/>
          <a:p>
            <a:endParaRPr lang="es-CO"/>
          </a:p>
        </p:txBody>
      </p:sp>
      <p:sp>
        <p:nvSpPr>
          <p:cNvPr id="35" name="Shape 33"/>
          <p:cNvSpPr/>
          <p:nvPr/>
        </p:nvSpPr>
        <p:spPr>
          <a:xfrm>
            <a:off x="3749040" y="2532888"/>
            <a:ext cx="219456" cy="219456"/>
          </a:xfrm>
          <a:prstGeom prst="ellipse">
            <a:avLst/>
          </a:prstGeom>
          <a:solidFill>
            <a:srgbClr val="CFD6EA"/>
          </a:solidFill>
          <a:ln w="9525">
            <a:solidFill>
              <a:srgbClr val="B9C2DE"/>
            </a:solidFill>
            <a:prstDash val="solid"/>
          </a:ln>
        </p:spPr>
        <p:txBody>
          <a:bodyPr/>
          <a:lstStyle/>
          <a:p>
            <a:endParaRPr lang="es-CO"/>
          </a:p>
        </p:txBody>
      </p:sp>
      <p:sp>
        <p:nvSpPr>
          <p:cNvPr id="36" name="Shape 34"/>
          <p:cNvSpPr/>
          <p:nvPr/>
        </p:nvSpPr>
        <p:spPr>
          <a:xfrm>
            <a:off x="3749040" y="2016252"/>
            <a:ext cx="219456" cy="219456"/>
          </a:xfrm>
          <a:prstGeom prst="ellipse">
            <a:avLst/>
          </a:prstGeom>
          <a:solidFill>
            <a:srgbClr val="F2B43C"/>
          </a:solidFill>
          <a:ln w="9525">
            <a:solidFill>
              <a:srgbClr val="B9C2DE"/>
            </a:solidFill>
            <a:prstDash val="solid"/>
          </a:ln>
        </p:spPr>
        <p:txBody>
          <a:bodyPr/>
          <a:lstStyle/>
          <a:p>
            <a:endParaRPr lang="es-CO"/>
          </a:p>
        </p:txBody>
      </p:sp>
      <p:sp>
        <p:nvSpPr>
          <p:cNvPr id="37" name="Shape 35"/>
          <p:cNvSpPr/>
          <p:nvPr/>
        </p:nvSpPr>
        <p:spPr>
          <a:xfrm>
            <a:off x="3749040" y="1627632"/>
            <a:ext cx="219456" cy="219456"/>
          </a:xfrm>
          <a:prstGeom prst="ellipse">
            <a:avLst/>
          </a:prstGeom>
          <a:solidFill>
            <a:srgbClr val="F2B43C"/>
          </a:solidFill>
          <a:ln w="9525">
            <a:solidFill>
              <a:srgbClr val="B9C2DE"/>
            </a:solidFill>
            <a:prstDash val="solid"/>
          </a:ln>
        </p:spPr>
        <p:txBody>
          <a:bodyPr/>
          <a:lstStyle/>
          <a:p>
            <a:endParaRPr lang="es-CO"/>
          </a:p>
        </p:txBody>
      </p:sp>
      <p:sp>
        <p:nvSpPr>
          <p:cNvPr id="38" name="Shape 36"/>
          <p:cNvSpPr/>
          <p:nvPr/>
        </p:nvSpPr>
        <p:spPr>
          <a:xfrm>
            <a:off x="4069080" y="1307592"/>
            <a:ext cx="292608" cy="1572768"/>
          </a:xfrm>
          <a:prstGeom prst="roundRect">
            <a:avLst>
              <a:gd name="adj" fmla="val 46875"/>
            </a:avLst>
          </a:prstGeom>
          <a:solidFill>
            <a:srgbClr val="EEF1FA"/>
          </a:solidFill>
          <a:ln w="12700">
            <a:solidFill>
              <a:srgbClr val="B9C2DE"/>
            </a:solidFill>
            <a:prstDash val="solid"/>
          </a:ln>
        </p:spPr>
        <p:txBody>
          <a:bodyPr/>
          <a:lstStyle/>
          <a:p>
            <a:endParaRPr lang="es-CO"/>
          </a:p>
        </p:txBody>
      </p:sp>
      <p:sp>
        <p:nvSpPr>
          <p:cNvPr id="39" name="Shape 37"/>
          <p:cNvSpPr/>
          <p:nvPr/>
        </p:nvSpPr>
        <p:spPr>
          <a:xfrm>
            <a:off x="4105656" y="2532888"/>
            <a:ext cx="219456" cy="219456"/>
          </a:xfrm>
          <a:prstGeom prst="ellipse">
            <a:avLst/>
          </a:prstGeom>
          <a:solidFill>
            <a:srgbClr val="CFD6EA"/>
          </a:solidFill>
          <a:ln w="9525">
            <a:solidFill>
              <a:srgbClr val="B9C2DE"/>
            </a:solidFill>
            <a:prstDash val="solid"/>
          </a:ln>
        </p:spPr>
        <p:txBody>
          <a:bodyPr/>
          <a:lstStyle/>
          <a:p>
            <a:endParaRPr lang="es-CO"/>
          </a:p>
        </p:txBody>
      </p:sp>
      <p:sp>
        <p:nvSpPr>
          <p:cNvPr id="40" name="Shape 38"/>
          <p:cNvSpPr/>
          <p:nvPr/>
        </p:nvSpPr>
        <p:spPr>
          <a:xfrm>
            <a:off x="4105656" y="1950964"/>
            <a:ext cx="219456" cy="219456"/>
          </a:xfrm>
          <a:prstGeom prst="ellipse">
            <a:avLst/>
          </a:prstGeom>
          <a:solidFill>
            <a:srgbClr val="F2B43C"/>
          </a:solidFill>
          <a:ln w="9525">
            <a:solidFill>
              <a:srgbClr val="B9C2DE"/>
            </a:solidFill>
            <a:prstDash val="solid"/>
          </a:ln>
        </p:spPr>
        <p:txBody>
          <a:bodyPr/>
          <a:lstStyle/>
          <a:p>
            <a:endParaRPr lang="es-CO"/>
          </a:p>
        </p:txBody>
      </p:sp>
      <p:sp>
        <p:nvSpPr>
          <p:cNvPr id="41" name="Shape 39"/>
          <p:cNvSpPr/>
          <p:nvPr/>
        </p:nvSpPr>
        <p:spPr>
          <a:xfrm>
            <a:off x="4105656" y="1509492"/>
            <a:ext cx="219456" cy="219456"/>
          </a:xfrm>
          <a:prstGeom prst="ellipse">
            <a:avLst/>
          </a:prstGeom>
          <a:solidFill>
            <a:srgbClr val="F2B43C"/>
          </a:solidFill>
          <a:ln w="9525">
            <a:solidFill>
              <a:srgbClr val="B9C2DE"/>
            </a:solidFill>
            <a:prstDash val="solid"/>
          </a:ln>
        </p:spPr>
        <p:txBody>
          <a:bodyPr/>
          <a:lstStyle/>
          <a:p>
            <a:endParaRPr lang="es-CO"/>
          </a:p>
        </p:txBody>
      </p:sp>
      <p:sp>
        <p:nvSpPr>
          <p:cNvPr id="42" name="Shape 40"/>
          <p:cNvSpPr/>
          <p:nvPr/>
        </p:nvSpPr>
        <p:spPr>
          <a:xfrm>
            <a:off x="4425696" y="1399032"/>
            <a:ext cx="292608" cy="1481328"/>
          </a:xfrm>
          <a:prstGeom prst="roundRect">
            <a:avLst>
              <a:gd name="adj" fmla="val 46875"/>
            </a:avLst>
          </a:prstGeom>
          <a:solidFill>
            <a:srgbClr val="EEF1FA"/>
          </a:solidFill>
          <a:ln w="12700">
            <a:solidFill>
              <a:srgbClr val="B9C2DE"/>
            </a:solidFill>
            <a:prstDash val="solid"/>
          </a:ln>
        </p:spPr>
        <p:txBody>
          <a:bodyPr/>
          <a:lstStyle/>
          <a:p>
            <a:endParaRPr lang="es-CO"/>
          </a:p>
        </p:txBody>
      </p:sp>
      <p:sp>
        <p:nvSpPr>
          <p:cNvPr id="43" name="Shape 41"/>
          <p:cNvSpPr/>
          <p:nvPr/>
        </p:nvSpPr>
        <p:spPr>
          <a:xfrm>
            <a:off x="4462272" y="2532888"/>
            <a:ext cx="219456" cy="219456"/>
          </a:xfrm>
          <a:prstGeom prst="ellipse">
            <a:avLst/>
          </a:prstGeom>
          <a:solidFill>
            <a:srgbClr val="CFD6EA"/>
          </a:solidFill>
          <a:ln w="9525">
            <a:solidFill>
              <a:srgbClr val="B9C2DE"/>
            </a:solidFill>
            <a:prstDash val="solid"/>
          </a:ln>
        </p:spPr>
        <p:txBody>
          <a:bodyPr/>
          <a:lstStyle/>
          <a:p>
            <a:endParaRPr lang="es-CO"/>
          </a:p>
        </p:txBody>
      </p:sp>
      <p:sp>
        <p:nvSpPr>
          <p:cNvPr id="44" name="Shape 42"/>
          <p:cNvSpPr/>
          <p:nvPr/>
        </p:nvSpPr>
        <p:spPr>
          <a:xfrm>
            <a:off x="4462272" y="1989369"/>
            <a:ext cx="219456" cy="219456"/>
          </a:xfrm>
          <a:prstGeom prst="ellipse">
            <a:avLst/>
          </a:prstGeom>
          <a:solidFill>
            <a:srgbClr val="F2B43C"/>
          </a:solidFill>
          <a:ln w="9525">
            <a:solidFill>
              <a:srgbClr val="B9C2DE"/>
            </a:solidFill>
            <a:prstDash val="solid"/>
          </a:ln>
        </p:spPr>
        <p:txBody>
          <a:bodyPr/>
          <a:lstStyle/>
          <a:p>
            <a:endParaRPr lang="es-CO"/>
          </a:p>
        </p:txBody>
      </p:sp>
      <p:sp>
        <p:nvSpPr>
          <p:cNvPr id="45" name="Shape 43"/>
          <p:cNvSpPr/>
          <p:nvPr/>
        </p:nvSpPr>
        <p:spPr>
          <a:xfrm>
            <a:off x="4462272" y="1578986"/>
            <a:ext cx="219456" cy="219456"/>
          </a:xfrm>
          <a:prstGeom prst="ellipse">
            <a:avLst/>
          </a:prstGeom>
          <a:solidFill>
            <a:srgbClr val="F2B43C"/>
          </a:solidFill>
          <a:ln w="9525">
            <a:solidFill>
              <a:srgbClr val="B9C2DE"/>
            </a:solidFill>
            <a:prstDash val="solid"/>
          </a:ln>
        </p:spPr>
        <p:txBody>
          <a:bodyPr/>
          <a:lstStyle/>
          <a:p>
            <a:endParaRPr lang="es-CO"/>
          </a:p>
        </p:txBody>
      </p:sp>
      <p:sp>
        <p:nvSpPr>
          <p:cNvPr id="46" name="Shape 44"/>
          <p:cNvSpPr/>
          <p:nvPr/>
        </p:nvSpPr>
        <p:spPr>
          <a:xfrm>
            <a:off x="4782312" y="1645920"/>
            <a:ext cx="292608" cy="1234440"/>
          </a:xfrm>
          <a:prstGeom prst="roundRect">
            <a:avLst>
              <a:gd name="adj" fmla="val 46875"/>
            </a:avLst>
          </a:prstGeom>
          <a:solidFill>
            <a:srgbClr val="EEF1FA"/>
          </a:solidFill>
          <a:ln w="12700">
            <a:solidFill>
              <a:srgbClr val="B9C2DE"/>
            </a:solidFill>
            <a:prstDash val="solid"/>
          </a:ln>
        </p:spPr>
        <p:txBody>
          <a:bodyPr/>
          <a:lstStyle/>
          <a:p>
            <a:endParaRPr lang="es-CO"/>
          </a:p>
        </p:txBody>
      </p:sp>
      <p:sp>
        <p:nvSpPr>
          <p:cNvPr id="47" name="Shape 45"/>
          <p:cNvSpPr/>
          <p:nvPr/>
        </p:nvSpPr>
        <p:spPr>
          <a:xfrm>
            <a:off x="4818888" y="2532888"/>
            <a:ext cx="219456" cy="219456"/>
          </a:xfrm>
          <a:prstGeom prst="ellipse">
            <a:avLst/>
          </a:prstGeom>
          <a:solidFill>
            <a:srgbClr val="CFD6EA"/>
          </a:solidFill>
          <a:ln w="9525">
            <a:solidFill>
              <a:srgbClr val="B9C2DE"/>
            </a:solidFill>
            <a:prstDash val="solid"/>
          </a:ln>
        </p:spPr>
        <p:txBody>
          <a:bodyPr/>
          <a:lstStyle/>
          <a:p>
            <a:endParaRPr lang="es-CO"/>
          </a:p>
        </p:txBody>
      </p:sp>
      <p:sp>
        <p:nvSpPr>
          <p:cNvPr id="48" name="Shape 46"/>
          <p:cNvSpPr/>
          <p:nvPr/>
        </p:nvSpPr>
        <p:spPr>
          <a:xfrm>
            <a:off x="4818888" y="2093062"/>
            <a:ext cx="219456" cy="219456"/>
          </a:xfrm>
          <a:prstGeom prst="ellipse">
            <a:avLst/>
          </a:prstGeom>
          <a:solidFill>
            <a:srgbClr val="F2B43C"/>
          </a:solidFill>
          <a:ln w="9525">
            <a:solidFill>
              <a:srgbClr val="B9C2DE"/>
            </a:solidFill>
            <a:prstDash val="solid"/>
          </a:ln>
        </p:spPr>
        <p:txBody>
          <a:bodyPr/>
          <a:lstStyle/>
          <a:p>
            <a:endParaRPr lang="es-CO"/>
          </a:p>
        </p:txBody>
      </p:sp>
      <p:sp>
        <p:nvSpPr>
          <p:cNvPr id="49" name="Shape 47"/>
          <p:cNvSpPr/>
          <p:nvPr/>
        </p:nvSpPr>
        <p:spPr>
          <a:xfrm>
            <a:off x="4818888" y="1766621"/>
            <a:ext cx="219456" cy="219456"/>
          </a:xfrm>
          <a:prstGeom prst="ellipse">
            <a:avLst/>
          </a:prstGeom>
          <a:solidFill>
            <a:srgbClr val="F2B43C"/>
          </a:solidFill>
          <a:ln w="9525">
            <a:solidFill>
              <a:srgbClr val="B9C2DE"/>
            </a:solidFill>
            <a:prstDash val="solid"/>
          </a:ln>
        </p:spPr>
        <p:txBody>
          <a:bodyPr/>
          <a:lstStyle/>
          <a:p>
            <a:endParaRPr lang="es-CO"/>
          </a:p>
        </p:txBody>
      </p:sp>
      <p:sp>
        <p:nvSpPr>
          <p:cNvPr id="50" name="Shape 48"/>
          <p:cNvSpPr/>
          <p:nvPr/>
        </p:nvSpPr>
        <p:spPr>
          <a:xfrm>
            <a:off x="3273552" y="2651760"/>
            <a:ext cx="310896" cy="1143000"/>
          </a:xfrm>
          <a:prstGeom prst="roundRect">
            <a:avLst>
              <a:gd name="adj" fmla="val 44118"/>
            </a:avLst>
          </a:prstGeom>
          <a:solidFill>
            <a:srgbClr val="EEF1FA"/>
          </a:solidFill>
          <a:ln w="12700">
            <a:solidFill>
              <a:srgbClr val="B9C2DE"/>
            </a:solidFill>
            <a:prstDash val="solid"/>
          </a:ln>
        </p:spPr>
        <p:txBody>
          <a:bodyPr/>
          <a:lstStyle/>
          <a:p>
            <a:endParaRPr lang="es-CO"/>
          </a:p>
        </p:txBody>
      </p:sp>
      <p:sp>
        <p:nvSpPr>
          <p:cNvPr id="51" name="Shape 49"/>
          <p:cNvSpPr/>
          <p:nvPr/>
        </p:nvSpPr>
        <p:spPr>
          <a:xfrm>
            <a:off x="3319272" y="2770632"/>
            <a:ext cx="219456" cy="219456"/>
          </a:xfrm>
          <a:prstGeom prst="ellipse">
            <a:avLst/>
          </a:prstGeom>
          <a:solidFill>
            <a:srgbClr val="F2B43C"/>
          </a:solidFill>
          <a:ln w="9525">
            <a:solidFill>
              <a:srgbClr val="B9C2DE"/>
            </a:solidFill>
            <a:prstDash val="solid"/>
          </a:ln>
        </p:spPr>
        <p:txBody>
          <a:bodyPr/>
          <a:lstStyle/>
          <a:p>
            <a:endParaRPr lang="es-CO"/>
          </a:p>
        </p:txBody>
      </p:sp>
      <p:sp>
        <p:nvSpPr>
          <p:cNvPr id="52" name="Shape 50"/>
          <p:cNvSpPr/>
          <p:nvPr/>
        </p:nvSpPr>
        <p:spPr>
          <a:xfrm>
            <a:off x="3319272" y="3108960"/>
            <a:ext cx="219456" cy="219456"/>
          </a:xfrm>
          <a:prstGeom prst="ellipse">
            <a:avLst/>
          </a:prstGeom>
          <a:solidFill>
            <a:srgbClr val="CFD6EA"/>
          </a:solidFill>
          <a:ln w="9525">
            <a:solidFill>
              <a:srgbClr val="B9C2DE"/>
            </a:solidFill>
            <a:prstDash val="solid"/>
          </a:ln>
        </p:spPr>
        <p:txBody>
          <a:bodyPr/>
          <a:lstStyle/>
          <a:p>
            <a:endParaRPr lang="es-CO"/>
          </a:p>
        </p:txBody>
      </p:sp>
      <p:sp>
        <p:nvSpPr>
          <p:cNvPr id="53" name="Shape 51"/>
          <p:cNvSpPr/>
          <p:nvPr/>
        </p:nvSpPr>
        <p:spPr>
          <a:xfrm>
            <a:off x="3319272" y="3502152"/>
            <a:ext cx="219456" cy="219456"/>
          </a:xfrm>
          <a:prstGeom prst="ellipse">
            <a:avLst/>
          </a:prstGeom>
          <a:solidFill>
            <a:srgbClr val="F2B43C"/>
          </a:solidFill>
          <a:ln w="9525">
            <a:solidFill>
              <a:srgbClr val="B9C2DE"/>
            </a:solidFill>
            <a:prstDash val="solid"/>
          </a:ln>
        </p:spPr>
        <p:txBody>
          <a:bodyPr/>
          <a:lstStyle/>
          <a:p>
            <a:endParaRPr lang="es-CO"/>
          </a:p>
        </p:txBody>
      </p:sp>
      <p:sp>
        <p:nvSpPr>
          <p:cNvPr id="54" name="Shape 52"/>
          <p:cNvSpPr/>
          <p:nvPr/>
        </p:nvSpPr>
        <p:spPr>
          <a:xfrm>
            <a:off x="3886200" y="3794760"/>
            <a:ext cx="1005840" cy="411480"/>
          </a:xfrm>
          <a:prstGeom prst="roundRect">
            <a:avLst>
              <a:gd name="adj" fmla="val 22222"/>
            </a:avLst>
          </a:prstGeom>
          <a:solidFill>
            <a:srgbClr val="EEF1FA"/>
          </a:solidFill>
          <a:ln w="12700">
            <a:solidFill>
              <a:srgbClr val="B9C2DE"/>
            </a:solidFill>
            <a:prstDash val="solid"/>
          </a:ln>
        </p:spPr>
        <p:txBody>
          <a:bodyPr/>
          <a:lstStyle/>
          <a:p>
            <a:endParaRPr lang="es-CO"/>
          </a:p>
        </p:txBody>
      </p:sp>
      <p:sp>
        <p:nvSpPr>
          <p:cNvPr id="55" name="Shape 53"/>
          <p:cNvSpPr/>
          <p:nvPr/>
        </p:nvSpPr>
        <p:spPr>
          <a:xfrm>
            <a:off x="3959352" y="3886200"/>
            <a:ext cx="219456" cy="219456"/>
          </a:xfrm>
          <a:prstGeom prst="ellipse">
            <a:avLst/>
          </a:prstGeom>
          <a:solidFill>
            <a:srgbClr val="CFD6EA"/>
          </a:solidFill>
          <a:ln w="9525">
            <a:solidFill>
              <a:srgbClr val="B9C2DE"/>
            </a:solidFill>
            <a:prstDash val="solid"/>
          </a:ln>
        </p:spPr>
        <p:txBody>
          <a:bodyPr/>
          <a:lstStyle/>
          <a:p>
            <a:endParaRPr lang="es-CO"/>
          </a:p>
        </p:txBody>
      </p:sp>
      <p:sp>
        <p:nvSpPr>
          <p:cNvPr id="56" name="Shape 54"/>
          <p:cNvSpPr/>
          <p:nvPr/>
        </p:nvSpPr>
        <p:spPr>
          <a:xfrm>
            <a:off x="4279392" y="3886200"/>
            <a:ext cx="219456" cy="219456"/>
          </a:xfrm>
          <a:prstGeom prst="ellipse">
            <a:avLst/>
          </a:prstGeom>
          <a:solidFill>
            <a:srgbClr val="CFD6EA"/>
          </a:solidFill>
          <a:ln w="9525">
            <a:solidFill>
              <a:srgbClr val="B9C2DE"/>
            </a:solidFill>
            <a:prstDash val="solid"/>
          </a:ln>
        </p:spPr>
        <p:txBody>
          <a:bodyPr/>
          <a:lstStyle/>
          <a:p>
            <a:endParaRPr lang="es-CO"/>
          </a:p>
        </p:txBody>
      </p:sp>
      <p:sp>
        <p:nvSpPr>
          <p:cNvPr id="57" name="Shape 55"/>
          <p:cNvSpPr/>
          <p:nvPr/>
        </p:nvSpPr>
        <p:spPr>
          <a:xfrm>
            <a:off x="4599432" y="3886200"/>
            <a:ext cx="219456" cy="219456"/>
          </a:xfrm>
          <a:prstGeom prst="ellipse">
            <a:avLst/>
          </a:prstGeom>
          <a:solidFill>
            <a:srgbClr val="CFD6EA"/>
          </a:solidFill>
          <a:ln w="9525">
            <a:solidFill>
              <a:srgbClr val="B9C2DE"/>
            </a:solidFill>
            <a:prstDash val="solid"/>
          </a:ln>
        </p:spPr>
        <p:txBody>
          <a:bodyPr/>
          <a:lstStyle/>
          <a:p>
            <a:endParaRPr lang="es-CO"/>
          </a:p>
        </p:txBody>
      </p:sp>
      <p:sp>
        <p:nvSpPr>
          <p:cNvPr id="58" name="Text 56"/>
          <p:cNvSpPr txBox="1"/>
          <p:nvPr/>
        </p:nvSpPr>
        <p:spPr>
          <a:xfrm>
            <a:off x="3108960" y="4206240"/>
            <a:ext cx="2651760" cy="320040"/>
          </a:xfrm>
          <a:prstGeom prst="rect">
            <a:avLst/>
          </a:prstGeom>
          <a:noFill/>
          <a:ln/>
        </p:spPr>
        <p:txBody>
          <a:bodyPr wrap="square" lIns="0" tIns="0" rIns="0" bIns="0" rtlCol="0" anchor="t"/>
          <a:lstStyle/>
          <a:p>
            <a:pPr marL="0" indent="0" algn="ctr">
              <a:buNone/>
            </a:pPr>
            <a:r>
              <a:rPr lang="en-US" sz="1500" b="1" dirty="0">
                <a:solidFill>
                  <a:srgbClr val="002060"/>
                </a:solidFill>
                <a:latin typeface="Calibri" pitchFamily="34" charset="0"/>
                <a:ea typeface="Calibri" pitchFamily="34" charset="-122"/>
                <a:cs typeface="Calibri" pitchFamily="34" charset="-120"/>
              </a:rPr>
              <a:t>Artrosis</a:t>
            </a:r>
            <a:endParaRPr lang="en-US" sz="1500" dirty="0">
              <a:solidFill>
                <a:srgbClr val="002060"/>
              </a:solidFill>
            </a:endParaRPr>
          </a:p>
        </p:txBody>
      </p:sp>
      <p:sp>
        <p:nvSpPr>
          <p:cNvPr id="59" name="Shape 57"/>
          <p:cNvSpPr/>
          <p:nvPr/>
        </p:nvSpPr>
        <p:spPr>
          <a:xfrm>
            <a:off x="5943600" y="1325880"/>
            <a:ext cx="2743200" cy="2036974"/>
          </a:xfrm>
          <a:prstGeom prst="roundRect">
            <a:avLst>
              <a:gd name="adj" fmla="val 3333"/>
            </a:avLst>
          </a:prstGeom>
          <a:solidFill>
            <a:srgbClr val="FFFFFF"/>
          </a:solidFill>
          <a:ln w="19050">
            <a:solidFill>
              <a:srgbClr val="C4CCE0"/>
            </a:solidFill>
            <a:prstDash val="solid"/>
          </a:ln>
        </p:spPr>
        <p:txBody>
          <a:bodyPr/>
          <a:lstStyle/>
          <a:p>
            <a:endParaRPr lang="es-CO"/>
          </a:p>
        </p:txBody>
      </p:sp>
      <p:sp>
        <p:nvSpPr>
          <p:cNvPr id="60" name="Shape 58"/>
          <p:cNvSpPr/>
          <p:nvPr/>
        </p:nvSpPr>
        <p:spPr>
          <a:xfrm>
            <a:off x="6126480" y="1536192"/>
            <a:ext cx="237744" cy="237744"/>
          </a:xfrm>
          <a:prstGeom prst="ellipse">
            <a:avLst/>
          </a:prstGeom>
          <a:solidFill>
            <a:srgbClr val="F2546B"/>
          </a:solidFill>
          <a:ln w="12700">
            <a:solidFill>
              <a:srgbClr val="F2546B"/>
            </a:solidFill>
            <a:prstDash val="solid"/>
          </a:ln>
        </p:spPr>
        <p:txBody>
          <a:bodyPr/>
          <a:lstStyle/>
          <a:p>
            <a:endParaRPr lang="es-CO"/>
          </a:p>
        </p:txBody>
      </p:sp>
      <p:sp>
        <p:nvSpPr>
          <p:cNvPr id="61" name="Text 59"/>
          <p:cNvSpPr txBox="1"/>
          <p:nvPr/>
        </p:nvSpPr>
        <p:spPr>
          <a:xfrm>
            <a:off x="6373368" y="1493764"/>
            <a:ext cx="2148840" cy="457200"/>
          </a:xfrm>
          <a:prstGeom prst="rect">
            <a:avLst/>
          </a:prstGeom>
          <a:noFill/>
          <a:ln/>
        </p:spPr>
        <p:txBody>
          <a:bodyPr wrap="square" lIns="0" tIns="0" rIns="0" bIns="0" rtlCol="0" anchor="ctr"/>
          <a:lstStyle/>
          <a:p>
            <a:pPr marL="0" indent="0" algn="ctr">
              <a:buNone/>
            </a:pPr>
            <a:r>
              <a:rPr lang="en-US" sz="1400" dirty="0">
                <a:solidFill>
                  <a:srgbClr val="141821"/>
                </a:solidFill>
                <a:latin typeface="Calibri" pitchFamily="34" charset="0"/>
                <a:ea typeface="Calibri" pitchFamily="34" charset="-122"/>
                <a:cs typeface="Calibri" pitchFamily="34" charset="-120"/>
              </a:rPr>
              <a:t>AR: MCF, IFP y muñecas (simétrico)</a:t>
            </a:r>
            <a:endParaRPr lang="en-US" sz="1400" dirty="0"/>
          </a:p>
        </p:txBody>
      </p:sp>
      <p:sp>
        <p:nvSpPr>
          <p:cNvPr id="62" name="Shape 60"/>
          <p:cNvSpPr/>
          <p:nvPr/>
        </p:nvSpPr>
        <p:spPr>
          <a:xfrm>
            <a:off x="6126480" y="2194560"/>
            <a:ext cx="237744" cy="237744"/>
          </a:xfrm>
          <a:prstGeom prst="ellipse">
            <a:avLst/>
          </a:prstGeom>
          <a:solidFill>
            <a:srgbClr val="F2B43C"/>
          </a:solidFill>
          <a:ln w="12700">
            <a:solidFill>
              <a:srgbClr val="F2B43C"/>
            </a:solidFill>
            <a:prstDash val="solid"/>
          </a:ln>
        </p:spPr>
        <p:txBody>
          <a:bodyPr/>
          <a:lstStyle/>
          <a:p>
            <a:endParaRPr lang="es-CO"/>
          </a:p>
        </p:txBody>
      </p:sp>
      <p:sp>
        <p:nvSpPr>
          <p:cNvPr id="63" name="Text 61"/>
          <p:cNvSpPr txBox="1"/>
          <p:nvPr/>
        </p:nvSpPr>
        <p:spPr>
          <a:xfrm>
            <a:off x="6373368" y="2115556"/>
            <a:ext cx="2148840" cy="548640"/>
          </a:xfrm>
          <a:prstGeom prst="rect">
            <a:avLst/>
          </a:prstGeom>
          <a:noFill/>
          <a:ln/>
        </p:spPr>
        <p:txBody>
          <a:bodyPr wrap="square" lIns="0" tIns="0" rIns="0" bIns="0" rtlCol="0" anchor="ctr"/>
          <a:lstStyle/>
          <a:p>
            <a:pPr marL="0" indent="0" algn="ctr">
              <a:buNone/>
            </a:pPr>
            <a:r>
              <a:rPr lang="en-US" sz="1400" dirty="0">
                <a:solidFill>
                  <a:srgbClr val="141821"/>
                </a:solidFill>
                <a:latin typeface="Calibri" pitchFamily="34" charset="0"/>
                <a:ea typeface="Calibri" pitchFamily="34" charset="-122"/>
                <a:cs typeface="Calibri" pitchFamily="34" charset="-120"/>
              </a:rPr>
              <a:t>Artrosis: IFD, IFP y base del pulgar (CMC1)</a:t>
            </a:r>
            <a:endParaRPr lang="en-US" sz="1400" dirty="0"/>
          </a:p>
        </p:txBody>
      </p:sp>
      <p:sp>
        <p:nvSpPr>
          <p:cNvPr id="64" name="Shape 62"/>
          <p:cNvSpPr/>
          <p:nvPr/>
        </p:nvSpPr>
        <p:spPr>
          <a:xfrm>
            <a:off x="6126480" y="2926080"/>
            <a:ext cx="237744" cy="237744"/>
          </a:xfrm>
          <a:prstGeom prst="ellipse">
            <a:avLst/>
          </a:prstGeom>
          <a:solidFill>
            <a:srgbClr val="CFD6EA"/>
          </a:solidFill>
          <a:ln w="12700">
            <a:solidFill>
              <a:srgbClr val="B9C2DE"/>
            </a:solidFill>
            <a:prstDash val="solid"/>
          </a:ln>
        </p:spPr>
        <p:txBody>
          <a:bodyPr/>
          <a:lstStyle/>
          <a:p>
            <a:endParaRPr lang="es-CO"/>
          </a:p>
        </p:txBody>
      </p:sp>
      <p:sp>
        <p:nvSpPr>
          <p:cNvPr id="65" name="Text 63"/>
          <p:cNvSpPr txBox="1"/>
          <p:nvPr/>
        </p:nvSpPr>
        <p:spPr>
          <a:xfrm>
            <a:off x="6373368" y="2883652"/>
            <a:ext cx="2148840" cy="457200"/>
          </a:xfrm>
          <a:prstGeom prst="rect">
            <a:avLst/>
          </a:prstGeom>
          <a:noFill/>
          <a:ln/>
        </p:spPr>
        <p:txBody>
          <a:bodyPr wrap="square" lIns="0" tIns="0" rIns="0" bIns="0" rtlCol="0" anchor="ctr"/>
          <a:lstStyle/>
          <a:p>
            <a:pPr marL="0" indent="0" algn="ctr">
              <a:buNone/>
            </a:pPr>
            <a:r>
              <a:rPr lang="en-US" sz="1400" dirty="0">
                <a:solidFill>
                  <a:srgbClr val="141821"/>
                </a:solidFill>
                <a:latin typeface="Calibri" pitchFamily="34" charset="0"/>
                <a:ea typeface="Calibri" pitchFamily="34" charset="-122"/>
                <a:cs typeface="Calibri" pitchFamily="34" charset="-120"/>
              </a:rPr>
              <a:t>Habitualmente respetada</a:t>
            </a:r>
            <a:endParaRPr lang="en-US" sz="1400" dirty="0"/>
          </a:p>
        </p:txBody>
      </p:sp>
      <p:sp>
        <p:nvSpPr>
          <p:cNvPr id="66" name="Text 64"/>
          <p:cNvSpPr txBox="1"/>
          <p:nvPr/>
        </p:nvSpPr>
        <p:spPr>
          <a:xfrm>
            <a:off x="6126480" y="3682894"/>
            <a:ext cx="2377440" cy="594360"/>
          </a:xfrm>
          <a:prstGeom prst="rect">
            <a:avLst/>
          </a:prstGeom>
          <a:noFill/>
          <a:ln/>
        </p:spPr>
        <p:txBody>
          <a:bodyPr wrap="square" lIns="0" tIns="0" rIns="0" bIns="0" rtlCol="0" anchor="t"/>
          <a:lstStyle/>
          <a:p>
            <a:pPr marL="0" indent="0">
              <a:buNone/>
            </a:pPr>
            <a:r>
              <a:rPr lang="en-US" sz="1400" b="1" i="1" dirty="0">
                <a:solidFill>
                  <a:srgbClr val="C00000"/>
                </a:solidFill>
                <a:latin typeface="Calibri" pitchFamily="34" charset="0"/>
                <a:ea typeface="Calibri" pitchFamily="34" charset="-122"/>
                <a:cs typeface="Calibri" pitchFamily="34" charset="-120"/>
              </a:rPr>
              <a:t>La IFD casi nunca se afecta en AR: su compromiso apunta a artrosis (o psoriásica).</a:t>
            </a:r>
            <a:endParaRPr lang="en-US" sz="1400" b="1" dirty="0">
              <a:solidFill>
                <a:srgbClr val="C00000"/>
              </a:solidFill>
            </a:endParaRPr>
          </a:p>
        </p:txBody>
      </p:sp>
      <p:sp>
        <p:nvSpPr>
          <p:cNvPr id="67"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A66A00"/>
                </a:solidFill>
                <a:latin typeface="Calibri" pitchFamily="34" charset="0"/>
                <a:ea typeface="Calibri" pitchFamily="34" charset="-122"/>
                <a:cs typeface="Calibri" pitchFamily="34" charset="-120"/>
              </a:rPr>
              <a:t>PISTA 2 · LA MANO</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400" b="1" dirty="0">
                <a:solidFill>
                  <a:srgbClr val="141821"/>
                </a:solidFill>
                <a:latin typeface="Calibri" pitchFamily="34" charset="0"/>
                <a:ea typeface="Calibri" pitchFamily="34" charset="-122"/>
                <a:cs typeface="Calibri" pitchFamily="34" charset="-120"/>
              </a:rPr>
              <a:t>La mano </a:t>
            </a:r>
            <a:r>
              <a:rPr lang="en-US" sz="2400" b="1" dirty="0" err="1">
                <a:solidFill>
                  <a:srgbClr val="141821"/>
                </a:solidFill>
                <a:latin typeface="Calibri" pitchFamily="34" charset="0"/>
                <a:ea typeface="Calibri" pitchFamily="34" charset="-122"/>
                <a:cs typeface="Calibri" pitchFamily="34" charset="-120"/>
              </a:rPr>
              <a:t>revela</a:t>
            </a:r>
            <a:r>
              <a:rPr lang="en-US" sz="2400" b="1" dirty="0">
                <a:solidFill>
                  <a:srgbClr val="141821"/>
                </a:solidFill>
                <a:latin typeface="Calibri" pitchFamily="34" charset="0"/>
                <a:ea typeface="Calibri" pitchFamily="34" charset="-122"/>
                <a:cs typeface="Calibri" pitchFamily="34" charset="-120"/>
              </a:rPr>
              <a:t> el </a:t>
            </a:r>
            <a:r>
              <a:rPr lang="en-US" sz="2400" b="1" dirty="0" err="1">
                <a:solidFill>
                  <a:srgbClr val="141821"/>
                </a:solidFill>
                <a:latin typeface="Calibri" pitchFamily="34" charset="0"/>
                <a:ea typeface="Calibri" pitchFamily="34" charset="-122"/>
                <a:cs typeface="Calibri" pitchFamily="34" charset="-120"/>
              </a:rPr>
              <a:t>diagnóstico</a:t>
            </a:r>
            <a:r>
              <a:rPr lang="en-US" sz="2400" b="1" dirty="0">
                <a:solidFill>
                  <a:srgbClr val="141821"/>
                </a:solidFill>
                <a:latin typeface="Calibri" pitchFamily="34" charset="0"/>
                <a:ea typeface="Calibri" pitchFamily="34" charset="-122"/>
                <a:cs typeface="Calibri" pitchFamily="34" charset="-120"/>
              </a:rPr>
              <a:t>: </a:t>
            </a:r>
            <a:r>
              <a:rPr lang="en-US" sz="2400" b="1" dirty="0" err="1">
                <a:solidFill>
                  <a:srgbClr val="141821"/>
                </a:solidFill>
                <a:latin typeface="Calibri" pitchFamily="34" charset="0"/>
                <a:ea typeface="Calibri" pitchFamily="34" charset="-122"/>
                <a:cs typeface="Calibri" pitchFamily="34" charset="-120"/>
              </a:rPr>
              <a:t>distribución</a:t>
            </a:r>
            <a:r>
              <a:rPr lang="en-US" sz="2400" b="1" dirty="0">
                <a:solidFill>
                  <a:srgbClr val="141821"/>
                </a:solidFill>
                <a:latin typeface="Calibri" pitchFamily="34" charset="0"/>
                <a:ea typeface="Calibri" pitchFamily="34" charset="-122"/>
                <a:cs typeface="Calibri" pitchFamily="34" charset="-120"/>
              </a:rPr>
              <a:t> y </a:t>
            </a:r>
            <a:r>
              <a:rPr lang="en-US" sz="2400" b="1" dirty="0" err="1">
                <a:solidFill>
                  <a:srgbClr val="141821"/>
                </a:solidFill>
                <a:latin typeface="Calibri" pitchFamily="34" charset="0"/>
                <a:ea typeface="Calibri" pitchFamily="34" charset="-122"/>
                <a:cs typeface="Calibri" pitchFamily="34" charset="-120"/>
              </a:rPr>
              <a:t>deformidades</a:t>
            </a:r>
            <a:endParaRPr lang="en-US" sz="24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1. Smolen JS, Aletaha D, Barton A, Burmester GR, Emery P, Firestein GS, et al. Rheumatoid arthritis. Nat Rev Dis Primers. 2018;4:18001.</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7. Hunter DJ, Bierma-Zeinstra S. Osteoarthritis. Lancet. 2019;393(10182):1745-59.</a:t>
            </a:r>
            <a:endParaRPr lang="en-US" sz="900" dirty="0"/>
          </a:p>
        </p:txBody>
      </p:sp>
      <p:sp>
        <p:nvSpPr>
          <p:cNvPr id="7" name="Shape 5"/>
          <p:cNvSpPr/>
          <p:nvPr/>
        </p:nvSpPr>
        <p:spPr>
          <a:xfrm>
            <a:off x="457200" y="1280160"/>
            <a:ext cx="4023360" cy="3017520"/>
          </a:xfrm>
          <a:prstGeom prst="roundRect">
            <a:avLst>
              <a:gd name="adj" fmla="val 3030"/>
            </a:avLst>
          </a:prstGeom>
          <a:solidFill>
            <a:srgbClr val="FFFFFF"/>
          </a:solidFill>
          <a:ln w="19050">
            <a:solidFill>
              <a:srgbClr val="F2546B"/>
            </a:solidFill>
            <a:prstDash val="solid"/>
          </a:ln>
        </p:spPr>
        <p:txBody>
          <a:bodyPr/>
          <a:lstStyle/>
          <a:p>
            <a:endParaRPr lang="es-CO"/>
          </a:p>
        </p:txBody>
      </p:sp>
      <p:sp>
        <p:nvSpPr>
          <p:cNvPr id="8" name="Text 6"/>
          <p:cNvSpPr txBox="1"/>
          <p:nvPr/>
        </p:nvSpPr>
        <p:spPr>
          <a:xfrm>
            <a:off x="640080" y="1371600"/>
            <a:ext cx="3657600" cy="365760"/>
          </a:xfrm>
          <a:prstGeom prst="rect">
            <a:avLst/>
          </a:prstGeom>
          <a:noFill/>
          <a:ln/>
        </p:spPr>
        <p:txBody>
          <a:bodyPr wrap="square" lIns="0" tIns="0" rIns="0" bIns="0" rtlCol="0" anchor="t"/>
          <a:lstStyle/>
          <a:p>
            <a:pPr marL="0" indent="0">
              <a:buNone/>
            </a:pPr>
            <a:r>
              <a:rPr lang="en-US" sz="1650" b="1" dirty="0">
                <a:solidFill>
                  <a:srgbClr val="C81E43"/>
                </a:solidFill>
                <a:latin typeface="Calibri" pitchFamily="34" charset="0"/>
                <a:ea typeface="Calibri" pitchFamily="34" charset="-122"/>
                <a:cs typeface="Calibri" pitchFamily="34" charset="-120"/>
              </a:rPr>
              <a:t>Artritis reumatoide</a:t>
            </a:r>
            <a:endParaRPr lang="en-US" sz="1650" dirty="0"/>
          </a:p>
        </p:txBody>
      </p:sp>
      <p:sp>
        <p:nvSpPr>
          <p:cNvPr id="9" name="Text 7"/>
          <p:cNvSpPr txBox="1"/>
          <p:nvPr/>
        </p:nvSpPr>
        <p:spPr>
          <a:xfrm>
            <a:off x="685800" y="1828800"/>
            <a:ext cx="3611880" cy="237744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Dónde: MCF, IFP, muñecas y MTF del pie.</a:t>
            </a:r>
            <a:endParaRPr lang="en-US" sz="1600" dirty="0"/>
          </a:p>
          <a:p>
            <a:pPr marL="342900" indent="-342900">
              <a:spcAft>
                <a:spcPts val="700"/>
              </a:spcAft>
              <a:buSzPct val="100000"/>
              <a:buChar char="•"/>
            </a:pPr>
            <a:r>
              <a:rPr lang="en-US" sz="1600" b="1" dirty="0">
                <a:solidFill>
                  <a:srgbClr val="141821"/>
                </a:solidFill>
                <a:latin typeface="Calibri" pitchFamily="34" charset="0"/>
                <a:ea typeface="Calibri" pitchFamily="34" charset="-122"/>
                <a:cs typeface="Calibri" pitchFamily="34" charset="-120"/>
              </a:rPr>
              <a:t>Simétrica y poliarticular</a:t>
            </a:r>
            <a:r>
              <a:rPr lang="en-US" sz="1600" dirty="0">
                <a:solidFill>
                  <a:srgbClr val="141821"/>
                </a:solidFill>
                <a:latin typeface="Calibri" pitchFamily="34" charset="0"/>
                <a:ea typeface="Calibri" pitchFamily="34" charset="-122"/>
                <a:cs typeface="Calibri" pitchFamily="34" charset="-120"/>
              </a:rPr>
              <a:t>; respeta IFD.</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Deja: desviación cubital, cuello de cisne, </a:t>
            </a:r>
            <a:r>
              <a:rPr lang="es-CO" sz="1600" dirty="0"/>
              <a:t>deformidad en ojal</a:t>
            </a:r>
            <a:r>
              <a:rPr lang="en-US" sz="1600" dirty="0">
                <a:solidFill>
                  <a:srgbClr val="141821"/>
                </a:solidFill>
                <a:latin typeface="Calibri" pitchFamily="34" charset="0"/>
                <a:ea typeface="Calibri" pitchFamily="34" charset="-122"/>
                <a:cs typeface="Calibri" pitchFamily="34" charset="-120"/>
              </a:rPr>
              <a:t>.</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Nódulos reumatoides subcutáneos en zonas de presión.</a:t>
            </a:r>
            <a:endParaRPr lang="en-US" sz="1600" dirty="0"/>
          </a:p>
        </p:txBody>
      </p:sp>
      <p:sp>
        <p:nvSpPr>
          <p:cNvPr id="10" name="Shape 8"/>
          <p:cNvSpPr/>
          <p:nvPr/>
        </p:nvSpPr>
        <p:spPr>
          <a:xfrm>
            <a:off x="4663440" y="1280160"/>
            <a:ext cx="4023360" cy="3017520"/>
          </a:xfrm>
          <a:prstGeom prst="roundRect">
            <a:avLst>
              <a:gd name="adj" fmla="val 3030"/>
            </a:avLst>
          </a:prstGeom>
          <a:solidFill>
            <a:srgbClr val="FFFFFF"/>
          </a:solidFill>
          <a:ln w="19050">
            <a:solidFill>
              <a:srgbClr val="002060"/>
            </a:solidFill>
            <a:prstDash val="solid"/>
          </a:ln>
        </p:spPr>
        <p:txBody>
          <a:bodyPr/>
          <a:lstStyle/>
          <a:p>
            <a:endParaRPr lang="es-CO"/>
          </a:p>
        </p:txBody>
      </p:sp>
      <p:sp>
        <p:nvSpPr>
          <p:cNvPr id="11" name="Text 9"/>
          <p:cNvSpPr txBox="1"/>
          <p:nvPr/>
        </p:nvSpPr>
        <p:spPr>
          <a:xfrm>
            <a:off x="4846320" y="1371600"/>
            <a:ext cx="3657600" cy="365760"/>
          </a:xfrm>
          <a:prstGeom prst="rect">
            <a:avLst/>
          </a:prstGeom>
          <a:noFill/>
          <a:ln/>
        </p:spPr>
        <p:txBody>
          <a:bodyPr wrap="square" lIns="0" tIns="0" rIns="0" bIns="0" rtlCol="0" anchor="t"/>
          <a:lstStyle/>
          <a:p>
            <a:pPr marL="0" indent="0">
              <a:buNone/>
            </a:pPr>
            <a:r>
              <a:rPr lang="en-US" sz="1650" b="1" dirty="0">
                <a:solidFill>
                  <a:srgbClr val="002060"/>
                </a:solidFill>
                <a:latin typeface="Calibri" pitchFamily="34" charset="0"/>
                <a:ea typeface="Calibri" pitchFamily="34" charset="-122"/>
                <a:cs typeface="Calibri" pitchFamily="34" charset="-120"/>
              </a:rPr>
              <a:t>Artrosis</a:t>
            </a:r>
            <a:endParaRPr lang="en-US" sz="1650" dirty="0">
              <a:solidFill>
                <a:srgbClr val="002060"/>
              </a:solidFill>
            </a:endParaRPr>
          </a:p>
        </p:txBody>
      </p:sp>
      <p:sp>
        <p:nvSpPr>
          <p:cNvPr id="12" name="Text 10"/>
          <p:cNvSpPr txBox="1"/>
          <p:nvPr/>
        </p:nvSpPr>
        <p:spPr>
          <a:xfrm>
            <a:off x="4892040" y="1828800"/>
            <a:ext cx="3611880" cy="237744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Dónde: IFD, IFP y base del pulgar en manos.</a:t>
            </a:r>
            <a:endParaRPr lang="en-US" sz="1600" dirty="0"/>
          </a:p>
          <a:p>
            <a:pPr marL="342900" indent="-342900">
              <a:spcAft>
                <a:spcPts val="700"/>
              </a:spcAft>
              <a:buSzPct val="100000"/>
              <a:buChar char="•"/>
            </a:pPr>
            <a:r>
              <a:rPr lang="en-US" sz="1600" b="1" dirty="0">
                <a:solidFill>
                  <a:srgbClr val="C00000"/>
                </a:solidFill>
                <a:latin typeface="Calibri" pitchFamily="34" charset="0"/>
                <a:ea typeface="Calibri" pitchFamily="34" charset="-122"/>
                <a:cs typeface="Calibri" pitchFamily="34" charset="-120"/>
              </a:rPr>
              <a:t>Grandes de carga</a:t>
            </a:r>
            <a:r>
              <a:rPr lang="en-US" sz="1600" dirty="0">
                <a:solidFill>
                  <a:srgbClr val="141821"/>
                </a:solidFill>
                <a:latin typeface="Calibri" pitchFamily="34" charset="0"/>
                <a:ea typeface="Calibri" pitchFamily="34" charset="-122"/>
                <a:cs typeface="Calibri" pitchFamily="34" charset="-120"/>
              </a:rPr>
              <a:t>: rodilla y cadera; columna.</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Deja: nódulos de Heberden (IFD) y Bouchard (IFP).</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Rizartrosis: base del pulgar “cuadrada”.</a:t>
            </a:r>
            <a:endParaRPr lang="en-US" sz="1600" dirty="0"/>
          </a:p>
        </p:txBody>
      </p:sp>
      <p:sp>
        <p:nvSpPr>
          <p:cNvPr id="25"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C81E43"/>
                </a:solidFill>
                <a:latin typeface="Calibri" pitchFamily="34" charset="0"/>
                <a:ea typeface="Calibri" pitchFamily="34" charset="-122"/>
                <a:cs typeface="Calibri" pitchFamily="34" charset="-120"/>
              </a:rPr>
              <a:t>LA AR NO ES SOLO MANOS</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Una enfermedad sistémica, no solo articular</a:t>
            </a:r>
            <a:endParaRPr lang="en-US" sz="29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1. Smolen JS, Aletaha D, Barton A, Burmester GR, Emery P, Firestein GS, et al. Rheumatoid arthritis. Nat Rev Dis Primers. 2018;4:18001.</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4. Combe B, Landewe R, Daien CI, Hua C, Aletaha D, Alvaro-Gracia JM, et al. 2016 update of the EULAR recommendations for the management of early arthritis. Ann Rheum Dis. 2017;76(6):948-59.</a:t>
            </a:r>
            <a:endParaRPr lang="en-US" sz="900" dirty="0"/>
          </a:p>
        </p:txBody>
      </p:sp>
      <p:sp>
        <p:nvSpPr>
          <p:cNvPr id="7" name="Text 5"/>
          <p:cNvSpPr txBox="1"/>
          <p:nvPr/>
        </p:nvSpPr>
        <p:spPr>
          <a:xfrm>
            <a:off x="457200" y="1152144"/>
            <a:ext cx="8229600" cy="365760"/>
          </a:xfrm>
          <a:prstGeom prst="rect">
            <a:avLst/>
          </a:prstGeom>
          <a:noFill/>
          <a:ln/>
        </p:spPr>
        <p:txBody>
          <a:bodyPr wrap="square" lIns="0" tIns="0" rIns="0" bIns="0" rtlCol="0" anchor="t"/>
          <a:lstStyle/>
          <a:p>
            <a:pPr marL="0" indent="0">
              <a:buNone/>
            </a:pPr>
            <a:r>
              <a:rPr lang="en-US" sz="1600" dirty="0">
                <a:solidFill>
                  <a:srgbClr val="141821"/>
                </a:solidFill>
                <a:latin typeface="Calibri" pitchFamily="34" charset="0"/>
                <a:ea typeface="Calibri" pitchFamily="34" charset="-122"/>
                <a:cs typeface="Calibri" pitchFamily="34" charset="-120"/>
              </a:rPr>
              <a:t>Las manos son la vitrina, pero la AR afecta muchas articulaciones y otros órganos.</a:t>
            </a:r>
            <a:endParaRPr lang="en-US" sz="1600" dirty="0"/>
          </a:p>
        </p:txBody>
      </p:sp>
      <p:sp>
        <p:nvSpPr>
          <p:cNvPr id="8" name="Shape 6"/>
          <p:cNvSpPr/>
          <p:nvPr/>
        </p:nvSpPr>
        <p:spPr>
          <a:xfrm>
            <a:off x="457200" y="1572768"/>
            <a:ext cx="4023360" cy="2788920"/>
          </a:xfrm>
          <a:prstGeom prst="roundRect">
            <a:avLst>
              <a:gd name="adj" fmla="val 3279"/>
            </a:avLst>
          </a:prstGeom>
          <a:solidFill>
            <a:srgbClr val="FFFFFF"/>
          </a:solidFill>
          <a:ln w="19050">
            <a:solidFill>
              <a:srgbClr val="F2546B"/>
            </a:solidFill>
            <a:prstDash val="solid"/>
          </a:ln>
        </p:spPr>
        <p:txBody>
          <a:bodyPr/>
          <a:lstStyle/>
          <a:p>
            <a:endParaRPr lang="es-CO"/>
          </a:p>
        </p:txBody>
      </p:sp>
      <p:sp>
        <p:nvSpPr>
          <p:cNvPr id="9" name="Text 7"/>
          <p:cNvSpPr txBox="1"/>
          <p:nvPr/>
        </p:nvSpPr>
        <p:spPr>
          <a:xfrm>
            <a:off x="640080" y="1664208"/>
            <a:ext cx="3657600" cy="365760"/>
          </a:xfrm>
          <a:prstGeom prst="rect">
            <a:avLst/>
          </a:prstGeom>
          <a:noFill/>
          <a:ln/>
        </p:spPr>
        <p:txBody>
          <a:bodyPr wrap="square" lIns="0" tIns="0" rIns="0" bIns="0" rtlCol="0" anchor="t"/>
          <a:lstStyle/>
          <a:p>
            <a:pPr marL="0" indent="0">
              <a:buNone/>
            </a:pPr>
            <a:r>
              <a:rPr lang="en-US" sz="1650" b="1" dirty="0">
                <a:solidFill>
                  <a:srgbClr val="C81E43"/>
                </a:solidFill>
                <a:latin typeface="Calibri" pitchFamily="34" charset="0"/>
                <a:ea typeface="Calibri" pitchFamily="34" charset="-122"/>
                <a:cs typeface="Calibri" pitchFamily="34" charset="-120"/>
              </a:rPr>
              <a:t>Más articulaciones</a:t>
            </a:r>
            <a:endParaRPr lang="en-US" sz="1650" dirty="0"/>
          </a:p>
        </p:txBody>
      </p:sp>
      <p:sp>
        <p:nvSpPr>
          <p:cNvPr id="10" name="Text 8"/>
          <p:cNvSpPr txBox="1"/>
          <p:nvPr/>
        </p:nvSpPr>
        <p:spPr>
          <a:xfrm>
            <a:off x="685800" y="2121408"/>
            <a:ext cx="3611880" cy="2194560"/>
          </a:xfrm>
          <a:prstGeom prst="rect">
            <a:avLst/>
          </a:prstGeom>
          <a:noFill/>
          <a:ln/>
        </p:spPr>
        <p:txBody>
          <a:bodyPr wrap="square" lIns="0" tIns="0" rIns="0" bIns="0" rtlCol="0" anchor="t"/>
          <a:lstStyle/>
          <a:p>
            <a:pPr marL="342900" indent="-342900">
              <a:spcAft>
                <a:spcPts val="700"/>
              </a:spcAft>
              <a:buSzPct val="100000"/>
              <a:buChar char="•"/>
            </a:pPr>
            <a:r>
              <a:rPr lang="en-US" sz="1600" b="1" dirty="0">
                <a:solidFill>
                  <a:srgbClr val="C00000"/>
                </a:solidFill>
                <a:latin typeface="Calibri" pitchFamily="34" charset="0"/>
                <a:ea typeface="Calibri" pitchFamily="34" charset="-122"/>
                <a:cs typeface="Calibri" pitchFamily="34" charset="-120"/>
              </a:rPr>
              <a:t>Grandes</a:t>
            </a:r>
            <a:r>
              <a:rPr lang="en-US" sz="1600" dirty="0">
                <a:solidFill>
                  <a:srgbClr val="141821"/>
                </a:solidFill>
                <a:latin typeface="Calibri" pitchFamily="34" charset="0"/>
                <a:ea typeface="Calibri" pitchFamily="34" charset="-122"/>
                <a:cs typeface="Calibri" pitchFamily="34" charset="-120"/>
              </a:rPr>
              <a:t>: hombros, codos, rodillas y tobillos.</a:t>
            </a:r>
            <a:endParaRPr lang="en-US" sz="1600" dirty="0"/>
          </a:p>
          <a:p>
            <a:pPr marL="342900" indent="-342900">
              <a:spcAft>
                <a:spcPts val="700"/>
              </a:spcAft>
              <a:buSzPct val="100000"/>
              <a:buChar char="•"/>
            </a:pPr>
            <a:r>
              <a:rPr lang="en-US" sz="1600" b="1" dirty="0">
                <a:solidFill>
                  <a:srgbClr val="C00000"/>
                </a:solidFill>
                <a:latin typeface="Calibri" pitchFamily="34" charset="0"/>
                <a:ea typeface="Calibri" pitchFamily="34" charset="-122"/>
                <a:cs typeface="Calibri" pitchFamily="34" charset="-120"/>
              </a:rPr>
              <a:t>Pies</a:t>
            </a:r>
            <a:r>
              <a:rPr lang="en-US" sz="1600" dirty="0">
                <a:solidFill>
                  <a:srgbClr val="141821"/>
                </a:solidFill>
                <a:latin typeface="Calibri" pitchFamily="34" charset="0"/>
                <a:ea typeface="Calibri" pitchFamily="34" charset="-122"/>
                <a:cs typeface="Calibri" pitchFamily="34" charset="-120"/>
              </a:rPr>
              <a:t>: metatarsofalángicas (MTF), a menudo precoz.</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Columna cervical (C1–C2): subluxación atloaxoidea.</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Respeta la columna dorsolumbar.</a:t>
            </a:r>
            <a:endParaRPr lang="en-US" sz="1600" dirty="0"/>
          </a:p>
        </p:txBody>
      </p:sp>
      <p:sp>
        <p:nvSpPr>
          <p:cNvPr id="12" name="Text 10"/>
          <p:cNvSpPr txBox="1"/>
          <p:nvPr/>
        </p:nvSpPr>
        <p:spPr>
          <a:xfrm>
            <a:off x="4846320" y="1664208"/>
            <a:ext cx="3657600" cy="365760"/>
          </a:xfrm>
          <a:prstGeom prst="rect">
            <a:avLst/>
          </a:prstGeom>
          <a:noFill/>
          <a:ln/>
        </p:spPr>
        <p:txBody>
          <a:bodyPr wrap="square" lIns="0" tIns="0" rIns="0" bIns="0" rtlCol="0" anchor="t"/>
          <a:lstStyle/>
          <a:p>
            <a:pPr marL="0" indent="0">
              <a:buNone/>
            </a:pPr>
            <a:r>
              <a:rPr lang="en-US" sz="1650" b="1" dirty="0">
                <a:latin typeface="Calibri" pitchFamily="34" charset="0"/>
                <a:ea typeface="Calibri" pitchFamily="34" charset="-122"/>
                <a:cs typeface="Calibri" pitchFamily="34" charset="-120"/>
              </a:rPr>
              <a:t>Más allá de la articulación</a:t>
            </a:r>
            <a:endParaRPr lang="en-US" sz="1650" dirty="0"/>
          </a:p>
        </p:txBody>
      </p:sp>
      <p:sp>
        <p:nvSpPr>
          <p:cNvPr id="13" name="Shape 11"/>
          <p:cNvSpPr/>
          <p:nvPr/>
        </p:nvSpPr>
        <p:spPr>
          <a:xfrm>
            <a:off x="4846320" y="2139696"/>
            <a:ext cx="3785616" cy="621792"/>
          </a:xfrm>
          <a:prstGeom prst="roundRect">
            <a:avLst>
              <a:gd name="adj" fmla="val 14706"/>
            </a:avLst>
          </a:prstGeom>
          <a:solidFill>
            <a:srgbClr val="2EC4B6">
              <a:alpha val="10000"/>
            </a:srgbClr>
          </a:solidFill>
          <a:ln w="19050">
            <a:solidFill>
              <a:srgbClr val="2EC4B6"/>
            </a:solidFill>
            <a:prstDash val="solid"/>
          </a:ln>
        </p:spPr>
        <p:txBody>
          <a:bodyPr/>
          <a:lstStyle/>
          <a:p>
            <a:endParaRPr lang="es-CO"/>
          </a:p>
        </p:txBody>
      </p:sp>
      <p:sp>
        <p:nvSpPr>
          <p:cNvPr id="14" name="Shape 12"/>
          <p:cNvSpPr/>
          <p:nvPr/>
        </p:nvSpPr>
        <p:spPr>
          <a:xfrm>
            <a:off x="4937760" y="2276856"/>
            <a:ext cx="347472" cy="347472"/>
          </a:xfrm>
          <a:prstGeom prst="ellipse">
            <a:avLst/>
          </a:prstGeom>
          <a:solidFill>
            <a:srgbClr val="2EC4B6"/>
          </a:solidFill>
          <a:ln w="12700">
            <a:solidFill>
              <a:srgbClr val="2EC4B6"/>
            </a:solidFill>
            <a:prstDash val="solid"/>
          </a:ln>
        </p:spPr>
        <p:txBody>
          <a:bodyPr/>
          <a:lstStyle/>
          <a:p>
            <a:endParaRPr lang="es-CO"/>
          </a:p>
        </p:txBody>
      </p:sp>
      <p:pic>
        <p:nvPicPr>
          <p:cNvPr id="15" name="Image 0" descr="preencoded.png"/>
          <p:cNvPicPr>
            <a:picLocks noChangeAspect="1"/>
          </p:cNvPicPr>
          <p:nvPr/>
        </p:nvPicPr>
        <p:blipFill>
          <a:blip r:embed="rId3"/>
          <a:stretch>
            <a:fillRect/>
          </a:stretch>
        </p:blipFill>
        <p:spPr>
          <a:xfrm>
            <a:off x="5021153" y="2360249"/>
            <a:ext cx="180685" cy="180685"/>
          </a:xfrm>
          <a:prstGeom prst="rect">
            <a:avLst/>
          </a:prstGeom>
        </p:spPr>
      </p:pic>
      <p:sp>
        <p:nvSpPr>
          <p:cNvPr id="16" name="Text 13"/>
          <p:cNvSpPr txBox="1"/>
          <p:nvPr/>
        </p:nvSpPr>
        <p:spPr>
          <a:xfrm>
            <a:off x="5358384" y="2139696"/>
            <a:ext cx="2889504" cy="621792"/>
          </a:xfrm>
          <a:prstGeom prst="rect">
            <a:avLst/>
          </a:prstGeom>
          <a:noFill/>
          <a:ln/>
        </p:spPr>
        <p:txBody>
          <a:bodyPr wrap="square" lIns="0" tIns="0" rIns="0" bIns="0" rtlCol="0" anchor="ctr"/>
          <a:lstStyle/>
          <a:p>
            <a:pPr marL="0" indent="0">
              <a:buNone/>
            </a:pPr>
            <a:r>
              <a:rPr lang="en-US" sz="1600" b="1" dirty="0">
                <a:solidFill>
                  <a:srgbClr val="141821"/>
                </a:solidFill>
                <a:latin typeface="Calibri" pitchFamily="34" charset="0"/>
                <a:ea typeface="Calibri" pitchFamily="34" charset="-122"/>
                <a:cs typeface="Calibri" pitchFamily="34" charset="-120"/>
              </a:rPr>
              <a:t>Pulmón: EPID y nódulos</a:t>
            </a:r>
            <a:endParaRPr lang="en-US" sz="1600" dirty="0"/>
          </a:p>
        </p:txBody>
      </p:sp>
      <p:sp>
        <p:nvSpPr>
          <p:cNvPr id="25" name="Shape 20"/>
          <p:cNvSpPr/>
          <p:nvPr/>
        </p:nvSpPr>
        <p:spPr>
          <a:xfrm>
            <a:off x="4846320" y="2852928"/>
            <a:ext cx="3785616" cy="621792"/>
          </a:xfrm>
          <a:prstGeom prst="roundRect">
            <a:avLst>
              <a:gd name="adj" fmla="val 14706"/>
            </a:avLst>
          </a:prstGeom>
          <a:solidFill>
            <a:srgbClr val="F2B43C">
              <a:alpha val="10000"/>
            </a:srgbClr>
          </a:solidFill>
          <a:ln w="19050">
            <a:solidFill>
              <a:srgbClr val="F2B43C"/>
            </a:solidFill>
            <a:prstDash val="solid"/>
          </a:ln>
        </p:spPr>
        <p:txBody>
          <a:bodyPr/>
          <a:lstStyle/>
          <a:p>
            <a:pPr algn="ctr"/>
            <a:endParaRPr lang="es-CO" dirty="0"/>
          </a:p>
        </p:txBody>
      </p:sp>
      <p:sp>
        <p:nvSpPr>
          <p:cNvPr id="26" name="Shape 21"/>
          <p:cNvSpPr/>
          <p:nvPr/>
        </p:nvSpPr>
        <p:spPr>
          <a:xfrm>
            <a:off x="4937760" y="2999232"/>
            <a:ext cx="347472" cy="347472"/>
          </a:xfrm>
          <a:prstGeom prst="ellipse">
            <a:avLst/>
          </a:prstGeom>
          <a:solidFill>
            <a:srgbClr val="F2B43C"/>
          </a:solidFill>
          <a:ln w="12700">
            <a:solidFill>
              <a:srgbClr val="F2B43C"/>
            </a:solidFill>
            <a:prstDash val="solid"/>
          </a:ln>
        </p:spPr>
        <p:txBody>
          <a:bodyPr/>
          <a:lstStyle/>
          <a:p>
            <a:pPr algn="ctr"/>
            <a:endParaRPr lang="es-CO"/>
          </a:p>
        </p:txBody>
      </p:sp>
      <p:pic>
        <p:nvPicPr>
          <p:cNvPr id="27" name="Image 3" descr="preencoded.png"/>
          <p:cNvPicPr>
            <a:picLocks noChangeAspect="1"/>
          </p:cNvPicPr>
          <p:nvPr/>
        </p:nvPicPr>
        <p:blipFill>
          <a:blip r:embed="rId4"/>
          <a:stretch>
            <a:fillRect/>
          </a:stretch>
        </p:blipFill>
        <p:spPr>
          <a:xfrm>
            <a:off x="5021153" y="3082625"/>
            <a:ext cx="180685" cy="180685"/>
          </a:xfrm>
          <a:prstGeom prst="rect">
            <a:avLst/>
          </a:prstGeom>
        </p:spPr>
      </p:pic>
      <p:sp>
        <p:nvSpPr>
          <p:cNvPr id="28" name="Text 22"/>
          <p:cNvSpPr txBox="1"/>
          <p:nvPr/>
        </p:nvSpPr>
        <p:spPr>
          <a:xfrm>
            <a:off x="5468112" y="2852928"/>
            <a:ext cx="2304288" cy="621792"/>
          </a:xfrm>
          <a:prstGeom prst="rect">
            <a:avLst/>
          </a:prstGeom>
          <a:noFill/>
          <a:ln/>
        </p:spPr>
        <p:txBody>
          <a:bodyPr wrap="square" lIns="0" tIns="0" rIns="0" bIns="0" rtlCol="0" anchor="ctr"/>
          <a:lstStyle/>
          <a:p>
            <a:pPr marL="0" indent="0">
              <a:buNone/>
            </a:pPr>
            <a:r>
              <a:rPr lang="en-US" sz="1600" b="1" dirty="0">
                <a:solidFill>
                  <a:srgbClr val="141821"/>
                </a:solidFill>
                <a:latin typeface="Calibri" pitchFamily="34" charset="0"/>
                <a:ea typeface="Calibri" pitchFamily="34" charset="-122"/>
                <a:cs typeface="Calibri" pitchFamily="34" charset="-120"/>
              </a:rPr>
              <a:t>Nódulos reumatoides</a:t>
            </a:r>
            <a:endParaRPr lang="en-US" sz="1600" dirty="0"/>
          </a:p>
        </p:txBody>
      </p:sp>
      <p:sp>
        <p:nvSpPr>
          <p:cNvPr id="33" name="Shape 26"/>
          <p:cNvSpPr/>
          <p:nvPr/>
        </p:nvSpPr>
        <p:spPr>
          <a:xfrm>
            <a:off x="4846320" y="3566160"/>
            <a:ext cx="3785616" cy="621792"/>
          </a:xfrm>
          <a:prstGeom prst="roundRect">
            <a:avLst>
              <a:gd name="adj" fmla="val 14706"/>
            </a:avLst>
          </a:prstGeom>
          <a:solidFill>
            <a:srgbClr val="F2546B">
              <a:alpha val="10000"/>
            </a:srgbClr>
          </a:solidFill>
          <a:ln w="19050">
            <a:solidFill>
              <a:srgbClr val="F2546B"/>
            </a:solidFill>
            <a:prstDash val="solid"/>
          </a:ln>
        </p:spPr>
        <p:txBody>
          <a:bodyPr/>
          <a:lstStyle/>
          <a:p>
            <a:endParaRPr lang="es-CO"/>
          </a:p>
        </p:txBody>
      </p:sp>
      <p:sp>
        <p:nvSpPr>
          <p:cNvPr id="34" name="Shape 27"/>
          <p:cNvSpPr/>
          <p:nvPr/>
        </p:nvSpPr>
        <p:spPr>
          <a:xfrm>
            <a:off x="4937760" y="3720511"/>
            <a:ext cx="347472" cy="347472"/>
          </a:xfrm>
          <a:prstGeom prst="ellipse">
            <a:avLst/>
          </a:prstGeom>
          <a:solidFill>
            <a:srgbClr val="F2546B"/>
          </a:solidFill>
          <a:ln w="12700">
            <a:solidFill>
              <a:srgbClr val="F2546B"/>
            </a:solidFill>
            <a:prstDash val="solid"/>
          </a:ln>
        </p:spPr>
        <p:txBody>
          <a:bodyPr/>
          <a:lstStyle/>
          <a:p>
            <a:pPr algn="ctr"/>
            <a:endParaRPr lang="es-CO" dirty="0"/>
          </a:p>
        </p:txBody>
      </p:sp>
      <p:pic>
        <p:nvPicPr>
          <p:cNvPr id="35" name="Image 5" descr="preencoded.png"/>
          <p:cNvPicPr>
            <a:picLocks noChangeAspect="1"/>
          </p:cNvPicPr>
          <p:nvPr/>
        </p:nvPicPr>
        <p:blipFill>
          <a:blip r:embed="rId5"/>
          <a:stretch>
            <a:fillRect/>
          </a:stretch>
        </p:blipFill>
        <p:spPr>
          <a:xfrm>
            <a:off x="5021153" y="3803904"/>
            <a:ext cx="180685" cy="180685"/>
          </a:xfrm>
          <a:prstGeom prst="rect">
            <a:avLst/>
          </a:prstGeom>
        </p:spPr>
      </p:pic>
      <p:sp>
        <p:nvSpPr>
          <p:cNvPr id="36" name="Text 28"/>
          <p:cNvSpPr txBox="1"/>
          <p:nvPr/>
        </p:nvSpPr>
        <p:spPr>
          <a:xfrm>
            <a:off x="5376672" y="3566160"/>
            <a:ext cx="1860928" cy="621792"/>
          </a:xfrm>
          <a:prstGeom prst="rect">
            <a:avLst/>
          </a:prstGeom>
          <a:noFill/>
          <a:ln/>
        </p:spPr>
        <p:txBody>
          <a:bodyPr wrap="square" lIns="0" tIns="0" rIns="0" bIns="0" rtlCol="0" anchor="ctr"/>
          <a:lstStyle/>
          <a:p>
            <a:pPr marL="0" indent="0">
              <a:buNone/>
            </a:pPr>
            <a:r>
              <a:rPr lang="en-US" sz="1600" b="1" dirty="0">
                <a:solidFill>
                  <a:srgbClr val="141821"/>
                </a:solidFill>
                <a:latin typeface="Calibri" pitchFamily="34" charset="0"/>
                <a:ea typeface="Calibri" pitchFamily="34" charset="-122"/>
                <a:cs typeface="Calibri" pitchFamily="34" charset="-120"/>
              </a:rPr>
              <a:t>Vasculitis reumatoide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0C8368"/>
                </a:solidFill>
                <a:latin typeface="Calibri" pitchFamily="34" charset="0"/>
                <a:ea typeface="Calibri" pitchFamily="34" charset="-122"/>
                <a:cs typeface="Calibri" pitchFamily="34" charset="-120"/>
              </a:rPr>
              <a:t>PISTA 3 · EL EXAMEN</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Lo que dicen las manos al tacto</a:t>
            </a:r>
            <a:endParaRPr lang="en-US" sz="29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4. Combe B, Landewe R, Daien CI, Hua C, Aletaha D, Alvaro-Gracia JM, et al. 2016 update of the EULAR recommendations for the management of early arthritis. Ann Rheum Dis. 2017;76(6):948-59.</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6. Katz JN, Arant KR, Loeser RF. Diagnosis and treatment of hip and knee osteoarthritis: a review. JAMA. 2021;325(6):568-78.</a:t>
            </a:r>
            <a:endParaRPr lang="en-US" sz="900" dirty="0"/>
          </a:p>
        </p:txBody>
      </p:sp>
      <p:sp>
        <p:nvSpPr>
          <p:cNvPr id="7" name="Shape 5"/>
          <p:cNvSpPr/>
          <p:nvPr/>
        </p:nvSpPr>
        <p:spPr>
          <a:xfrm>
            <a:off x="457200" y="1280160"/>
            <a:ext cx="4023360" cy="2286000"/>
          </a:xfrm>
          <a:prstGeom prst="roundRect">
            <a:avLst>
              <a:gd name="adj" fmla="val 4000"/>
            </a:avLst>
          </a:prstGeom>
          <a:solidFill>
            <a:srgbClr val="FFFFFF"/>
          </a:solidFill>
          <a:ln w="19050">
            <a:solidFill>
              <a:srgbClr val="F2546B"/>
            </a:solidFill>
            <a:prstDash val="solid"/>
          </a:ln>
        </p:spPr>
        <p:txBody>
          <a:bodyPr/>
          <a:lstStyle/>
          <a:p>
            <a:endParaRPr lang="es-CO"/>
          </a:p>
        </p:txBody>
      </p:sp>
      <p:sp>
        <p:nvSpPr>
          <p:cNvPr id="8" name="Shape 6"/>
          <p:cNvSpPr/>
          <p:nvPr/>
        </p:nvSpPr>
        <p:spPr>
          <a:xfrm>
            <a:off x="658368" y="1481328"/>
            <a:ext cx="566928" cy="566928"/>
          </a:xfrm>
          <a:prstGeom prst="ellipse">
            <a:avLst/>
          </a:prstGeom>
          <a:solidFill>
            <a:srgbClr val="F2546B"/>
          </a:solidFill>
          <a:ln w="12700">
            <a:solidFill>
              <a:srgbClr val="F2546B"/>
            </a:solidFill>
            <a:prstDash val="solid"/>
          </a:ln>
        </p:spPr>
        <p:txBody>
          <a:bodyPr/>
          <a:lstStyle/>
          <a:p>
            <a:endParaRPr lang="es-CO"/>
          </a:p>
        </p:txBody>
      </p:sp>
      <p:pic>
        <p:nvPicPr>
          <p:cNvPr id="9" name="Image 0" descr="preencoded.png"/>
          <p:cNvPicPr>
            <a:picLocks noChangeAspect="1"/>
          </p:cNvPicPr>
          <p:nvPr/>
        </p:nvPicPr>
        <p:blipFill>
          <a:blip r:embed="rId3"/>
          <a:stretch>
            <a:fillRect/>
          </a:stretch>
        </p:blipFill>
        <p:spPr>
          <a:xfrm>
            <a:off x="794431" y="1617391"/>
            <a:ext cx="294803" cy="294803"/>
          </a:xfrm>
          <a:prstGeom prst="rect">
            <a:avLst/>
          </a:prstGeom>
        </p:spPr>
      </p:pic>
      <p:sp>
        <p:nvSpPr>
          <p:cNvPr id="10" name="Text 7"/>
          <p:cNvSpPr txBox="1"/>
          <p:nvPr/>
        </p:nvSpPr>
        <p:spPr>
          <a:xfrm>
            <a:off x="1353312" y="1536192"/>
            <a:ext cx="2926080" cy="457200"/>
          </a:xfrm>
          <a:prstGeom prst="rect">
            <a:avLst/>
          </a:prstGeom>
          <a:noFill/>
          <a:ln/>
        </p:spPr>
        <p:txBody>
          <a:bodyPr wrap="square" lIns="0" tIns="0" rIns="0" bIns="0" rtlCol="0" anchor="ctr"/>
          <a:lstStyle/>
          <a:p>
            <a:pPr marL="0" indent="0">
              <a:buNone/>
            </a:pPr>
            <a:r>
              <a:rPr lang="en-US" sz="1700" b="1" dirty="0">
                <a:solidFill>
                  <a:srgbClr val="C81E43"/>
                </a:solidFill>
                <a:latin typeface="Calibri" pitchFamily="34" charset="0"/>
                <a:ea typeface="Calibri" pitchFamily="34" charset="-122"/>
                <a:cs typeface="Calibri" pitchFamily="34" charset="-120"/>
              </a:rPr>
              <a:t>Blanda (sinovitis)</a:t>
            </a:r>
            <a:endParaRPr lang="en-US" sz="1700" dirty="0"/>
          </a:p>
        </p:txBody>
      </p:sp>
      <p:sp>
        <p:nvSpPr>
          <p:cNvPr id="11" name="Text 8"/>
          <p:cNvSpPr txBox="1"/>
          <p:nvPr/>
        </p:nvSpPr>
        <p:spPr>
          <a:xfrm>
            <a:off x="685800" y="2212848"/>
            <a:ext cx="3611880" cy="1280160"/>
          </a:xfrm>
          <a:prstGeom prst="rect">
            <a:avLst/>
          </a:prstGeom>
          <a:noFill/>
          <a:ln/>
        </p:spPr>
        <p:txBody>
          <a:bodyPr wrap="square" lIns="0" tIns="0" rIns="0" bIns="0" rtlCol="0" anchor="t"/>
          <a:lstStyle/>
          <a:p>
            <a:pPr marL="342900" indent="-342900">
              <a:spcAft>
                <a:spcPts val="700"/>
              </a:spcAft>
              <a:buSzPct val="100000"/>
              <a:buChar char="•"/>
            </a:pPr>
            <a:r>
              <a:rPr lang="en-US" sz="1600" b="1" dirty="0">
                <a:solidFill>
                  <a:srgbClr val="C00000"/>
                </a:solidFill>
                <a:latin typeface="Calibri" pitchFamily="34" charset="0"/>
                <a:ea typeface="Calibri" pitchFamily="34" charset="-122"/>
                <a:cs typeface="Calibri" pitchFamily="34" charset="-120"/>
              </a:rPr>
              <a:t>Esponjosa y fluctuante</a:t>
            </a:r>
            <a:r>
              <a:rPr lang="en-US" sz="1600" dirty="0">
                <a:solidFill>
                  <a:srgbClr val="141821"/>
                </a:solidFill>
                <a:latin typeface="Calibri" pitchFamily="34" charset="0"/>
                <a:ea typeface="Calibri" pitchFamily="34" charset="-122"/>
                <a:cs typeface="Calibri" pitchFamily="34" charset="-120"/>
              </a:rPr>
              <a:t>; caliente, a veces roja.</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Dolor a la compresión; squeeze test MCF/MTF positivo.</a:t>
            </a:r>
            <a:endParaRPr lang="en-US" sz="1600" dirty="0"/>
          </a:p>
        </p:txBody>
      </p:sp>
      <p:sp>
        <p:nvSpPr>
          <p:cNvPr id="12" name="Shape 9"/>
          <p:cNvSpPr/>
          <p:nvPr/>
        </p:nvSpPr>
        <p:spPr>
          <a:xfrm>
            <a:off x="4663440" y="1280160"/>
            <a:ext cx="4023360" cy="2286000"/>
          </a:xfrm>
          <a:prstGeom prst="roundRect">
            <a:avLst>
              <a:gd name="adj" fmla="val 4000"/>
            </a:avLst>
          </a:prstGeom>
          <a:solidFill>
            <a:srgbClr val="FFFFFF"/>
          </a:solidFill>
          <a:ln w="19050">
            <a:solidFill>
              <a:srgbClr val="002060"/>
            </a:solidFill>
            <a:prstDash val="solid"/>
          </a:ln>
        </p:spPr>
        <p:txBody>
          <a:bodyPr/>
          <a:lstStyle/>
          <a:p>
            <a:endParaRPr lang="es-CO">
              <a:solidFill>
                <a:srgbClr val="002060"/>
              </a:solidFill>
            </a:endParaRPr>
          </a:p>
        </p:txBody>
      </p:sp>
      <p:sp>
        <p:nvSpPr>
          <p:cNvPr id="13" name="Shape 10"/>
          <p:cNvSpPr/>
          <p:nvPr/>
        </p:nvSpPr>
        <p:spPr>
          <a:xfrm>
            <a:off x="4864608" y="1481328"/>
            <a:ext cx="566928" cy="566928"/>
          </a:xfrm>
          <a:prstGeom prst="ellipse">
            <a:avLst/>
          </a:prstGeom>
          <a:solidFill>
            <a:srgbClr val="F2B43C"/>
          </a:solidFill>
          <a:ln w="12700">
            <a:solidFill>
              <a:srgbClr val="F2B43C"/>
            </a:solidFill>
            <a:prstDash val="solid"/>
          </a:ln>
        </p:spPr>
        <p:txBody>
          <a:bodyPr/>
          <a:lstStyle/>
          <a:p>
            <a:endParaRPr lang="es-CO"/>
          </a:p>
        </p:txBody>
      </p:sp>
      <p:pic>
        <p:nvPicPr>
          <p:cNvPr id="14" name="Image 1" descr="preencoded.png"/>
          <p:cNvPicPr>
            <a:picLocks noChangeAspect="1"/>
          </p:cNvPicPr>
          <p:nvPr/>
        </p:nvPicPr>
        <p:blipFill>
          <a:blip r:embed="rId4"/>
          <a:stretch>
            <a:fillRect/>
          </a:stretch>
        </p:blipFill>
        <p:spPr>
          <a:xfrm>
            <a:off x="5000671" y="1617391"/>
            <a:ext cx="294803" cy="294803"/>
          </a:xfrm>
          <a:prstGeom prst="rect">
            <a:avLst/>
          </a:prstGeom>
        </p:spPr>
      </p:pic>
      <p:sp>
        <p:nvSpPr>
          <p:cNvPr id="15" name="Text 11"/>
          <p:cNvSpPr txBox="1"/>
          <p:nvPr/>
        </p:nvSpPr>
        <p:spPr>
          <a:xfrm>
            <a:off x="5559552" y="1536192"/>
            <a:ext cx="2926080" cy="457200"/>
          </a:xfrm>
          <a:prstGeom prst="rect">
            <a:avLst/>
          </a:prstGeom>
          <a:noFill/>
          <a:ln/>
        </p:spPr>
        <p:txBody>
          <a:bodyPr wrap="square" lIns="0" tIns="0" rIns="0" bIns="0" rtlCol="0" anchor="ctr"/>
          <a:lstStyle/>
          <a:p>
            <a:pPr marL="0" indent="0">
              <a:buNone/>
            </a:pPr>
            <a:r>
              <a:rPr lang="en-US" sz="1700" b="1" dirty="0">
                <a:solidFill>
                  <a:srgbClr val="002060"/>
                </a:solidFill>
                <a:latin typeface="Calibri" pitchFamily="34" charset="0"/>
                <a:ea typeface="Calibri" pitchFamily="34" charset="-122"/>
                <a:cs typeface="Calibri" pitchFamily="34" charset="-120"/>
              </a:rPr>
              <a:t>Dura (ósea)</a:t>
            </a:r>
            <a:endParaRPr lang="en-US" sz="1700" dirty="0">
              <a:solidFill>
                <a:srgbClr val="002060"/>
              </a:solidFill>
            </a:endParaRPr>
          </a:p>
        </p:txBody>
      </p:sp>
      <p:sp>
        <p:nvSpPr>
          <p:cNvPr id="16" name="Text 12"/>
          <p:cNvSpPr txBox="1"/>
          <p:nvPr/>
        </p:nvSpPr>
        <p:spPr>
          <a:xfrm>
            <a:off x="4892040" y="2212848"/>
            <a:ext cx="3611880" cy="1280160"/>
          </a:xfrm>
          <a:prstGeom prst="rect">
            <a:avLst/>
          </a:prstGeom>
          <a:noFill/>
          <a:ln/>
        </p:spPr>
        <p:txBody>
          <a:bodyPr wrap="square" lIns="0" tIns="0" rIns="0" bIns="0" rtlCol="0" anchor="t"/>
          <a:lstStyle/>
          <a:p>
            <a:pPr marL="342900" indent="-342900">
              <a:spcAft>
                <a:spcPts val="700"/>
              </a:spcAft>
              <a:buSzPct val="100000"/>
              <a:buChar char="•"/>
            </a:pPr>
            <a:r>
              <a:rPr lang="en-US" sz="1600" b="1" dirty="0">
                <a:solidFill>
                  <a:srgbClr val="141821"/>
                </a:solidFill>
                <a:latin typeface="Calibri" pitchFamily="34" charset="0"/>
                <a:ea typeface="Calibri" pitchFamily="34" charset="-122"/>
                <a:cs typeface="Calibri" pitchFamily="34" charset="-120"/>
              </a:rPr>
              <a:t>Aumento óseo “como hueso”</a:t>
            </a:r>
            <a:r>
              <a:rPr lang="en-US" sz="1600" dirty="0">
                <a:solidFill>
                  <a:srgbClr val="141821"/>
                </a:solidFill>
                <a:latin typeface="Calibri" pitchFamily="34" charset="0"/>
                <a:ea typeface="Calibri" pitchFamily="34" charset="-122"/>
                <a:cs typeface="Calibri" pitchFamily="34" charset="-120"/>
              </a:rPr>
              <a:t> </a:t>
            </a:r>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No caliente; crepitación al movilizar.</a:t>
            </a:r>
            <a:endParaRPr lang="en-US" sz="1600" dirty="0"/>
          </a:p>
        </p:txBody>
      </p:sp>
      <p:sp>
        <p:nvSpPr>
          <p:cNvPr id="17" name="Shape 13"/>
          <p:cNvSpPr/>
          <p:nvPr/>
        </p:nvSpPr>
        <p:spPr>
          <a:xfrm>
            <a:off x="457200" y="3703320"/>
            <a:ext cx="2624328" cy="749808"/>
          </a:xfrm>
          <a:prstGeom prst="roundRect">
            <a:avLst>
              <a:gd name="adj" fmla="val 12195"/>
            </a:avLst>
          </a:prstGeom>
          <a:solidFill>
            <a:srgbClr val="F2546B">
              <a:alpha val="10000"/>
            </a:srgbClr>
          </a:solidFill>
          <a:ln w="19050">
            <a:solidFill>
              <a:srgbClr val="F2546B"/>
            </a:solidFill>
            <a:prstDash val="solid"/>
          </a:ln>
        </p:spPr>
        <p:txBody>
          <a:bodyPr/>
          <a:lstStyle/>
          <a:p>
            <a:endParaRPr lang="es-CO"/>
          </a:p>
        </p:txBody>
      </p:sp>
      <p:sp>
        <p:nvSpPr>
          <p:cNvPr id="18" name="Text 14"/>
          <p:cNvSpPr txBox="1"/>
          <p:nvPr/>
        </p:nvSpPr>
        <p:spPr>
          <a:xfrm>
            <a:off x="457200" y="3767328"/>
            <a:ext cx="2624328" cy="365760"/>
          </a:xfrm>
          <a:prstGeom prst="rect">
            <a:avLst/>
          </a:prstGeom>
          <a:noFill/>
          <a:ln/>
        </p:spPr>
        <p:txBody>
          <a:bodyPr wrap="square" lIns="0" tIns="0" rIns="0" bIns="0" rtlCol="0" anchor="t"/>
          <a:lstStyle/>
          <a:p>
            <a:pPr marL="0" indent="0" algn="ctr">
              <a:buNone/>
            </a:pPr>
            <a:r>
              <a:rPr lang="en-US" sz="1350" b="1" dirty="0">
                <a:solidFill>
                  <a:srgbClr val="C81E43"/>
                </a:solidFill>
                <a:latin typeface="Calibri" pitchFamily="34" charset="0"/>
                <a:ea typeface="Calibri" pitchFamily="34" charset="-122"/>
                <a:cs typeface="Calibri" pitchFamily="34" charset="-120"/>
              </a:rPr>
              <a:t>Calor y rubor</a:t>
            </a:r>
            <a:endParaRPr lang="en-US" sz="1350" dirty="0"/>
          </a:p>
        </p:txBody>
      </p:sp>
      <p:sp>
        <p:nvSpPr>
          <p:cNvPr id="19" name="Text 15"/>
          <p:cNvSpPr txBox="1"/>
          <p:nvPr/>
        </p:nvSpPr>
        <p:spPr>
          <a:xfrm>
            <a:off x="457200" y="4114800"/>
            <a:ext cx="2624328" cy="292608"/>
          </a:xfrm>
          <a:prstGeom prst="rect">
            <a:avLst/>
          </a:prstGeom>
          <a:noFill/>
          <a:ln/>
        </p:spPr>
        <p:txBody>
          <a:bodyPr wrap="square" lIns="0" tIns="0" rIns="0" bIns="0" rtlCol="0" anchor="t"/>
          <a:lstStyle/>
          <a:p>
            <a:pPr marL="0" indent="0" algn="ctr">
              <a:buNone/>
            </a:pPr>
            <a:r>
              <a:rPr lang="en-US" sz="1400" dirty="0">
                <a:solidFill>
                  <a:srgbClr val="141821"/>
                </a:solidFill>
                <a:latin typeface="Calibri" pitchFamily="34" charset="0"/>
                <a:ea typeface="Calibri" pitchFamily="34" charset="-122"/>
                <a:cs typeface="Calibri" pitchFamily="34" charset="-120"/>
              </a:rPr>
              <a:t> AR</a:t>
            </a:r>
            <a:endParaRPr lang="en-US" sz="1400" dirty="0"/>
          </a:p>
        </p:txBody>
      </p:sp>
      <p:sp>
        <p:nvSpPr>
          <p:cNvPr id="20" name="Shape 16"/>
          <p:cNvSpPr/>
          <p:nvPr/>
        </p:nvSpPr>
        <p:spPr>
          <a:xfrm>
            <a:off x="3264408" y="3703320"/>
            <a:ext cx="2624328" cy="749808"/>
          </a:xfrm>
          <a:prstGeom prst="roundRect">
            <a:avLst>
              <a:gd name="adj" fmla="val 12195"/>
            </a:avLst>
          </a:prstGeom>
          <a:solidFill>
            <a:srgbClr val="F2B43C">
              <a:alpha val="10000"/>
            </a:srgbClr>
          </a:solidFill>
          <a:ln w="19050">
            <a:solidFill>
              <a:srgbClr val="F2B43C"/>
            </a:solidFill>
            <a:prstDash val="solid"/>
          </a:ln>
        </p:spPr>
        <p:txBody>
          <a:bodyPr/>
          <a:lstStyle/>
          <a:p>
            <a:endParaRPr lang="es-CO"/>
          </a:p>
        </p:txBody>
      </p:sp>
      <p:sp>
        <p:nvSpPr>
          <p:cNvPr id="21" name="Text 17"/>
          <p:cNvSpPr txBox="1"/>
          <p:nvPr/>
        </p:nvSpPr>
        <p:spPr>
          <a:xfrm>
            <a:off x="3264408" y="3767328"/>
            <a:ext cx="2624328" cy="365760"/>
          </a:xfrm>
          <a:prstGeom prst="rect">
            <a:avLst/>
          </a:prstGeom>
          <a:noFill/>
          <a:ln/>
        </p:spPr>
        <p:txBody>
          <a:bodyPr wrap="square" lIns="0" tIns="0" rIns="0" bIns="0" rtlCol="0" anchor="t"/>
          <a:lstStyle/>
          <a:p>
            <a:pPr marL="0" indent="0" algn="ctr">
              <a:buNone/>
            </a:pPr>
            <a:r>
              <a:rPr lang="en-US" sz="1350" b="1" dirty="0">
                <a:solidFill>
                  <a:srgbClr val="A66A00"/>
                </a:solidFill>
                <a:latin typeface="Calibri" pitchFamily="34" charset="0"/>
                <a:ea typeface="Calibri" pitchFamily="34" charset="-122"/>
                <a:cs typeface="Calibri" pitchFamily="34" charset="-120"/>
              </a:rPr>
              <a:t>Crepitación</a:t>
            </a:r>
            <a:endParaRPr lang="en-US" sz="1350" dirty="0"/>
          </a:p>
        </p:txBody>
      </p:sp>
      <p:sp>
        <p:nvSpPr>
          <p:cNvPr id="22" name="Text 18"/>
          <p:cNvSpPr txBox="1"/>
          <p:nvPr/>
        </p:nvSpPr>
        <p:spPr>
          <a:xfrm>
            <a:off x="3264408" y="4114800"/>
            <a:ext cx="2624328" cy="292608"/>
          </a:xfrm>
          <a:prstGeom prst="rect">
            <a:avLst/>
          </a:prstGeom>
          <a:noFill/>
          <a:ln/>
        </p:spPr>
        <p:txBody>
          <a:bodyPr wrap="square" lIns="0" tIns="0" rIns="0" bIns="0" rtlCol="0" anchor="t"/>
          <a:lstStyle/>
          <a:p>
            <a:pPr marL="0" indent="0" algn="ctr">
              <a:buNone/>
            </a:pPr>
            <a:r>
              <a:rPr lang="en-US" sz="1400" dirty="0" err="1">
                <a:solidFill>
                  <a:srgbClr val="141821"/>
                </a:solidFill>
                <a:latin typeface="Calibri" pitchFamily="34" charset="0"/>
                <a:ea typeface="Calibri" pitchFamily="34" charset="-122"/>
                <a:cs typeface="Calibri" pitchFamily="34" charset="-120"/>
              </a:rPr>
              <a:t>Artrosis</a:t>
            </a:r>
            <a:endParaRPr lang="en-US" sz="1200" dirty="0"/>
          </a:p>
        </p:txBody>
      </p:sp>
      <p:sp>
        <p:nvSpPr>
          <p:cNvPr id="23" name="Shape 19"/>
          <p:cNvSpPr/>
          <p:nvPr/>
        </p:nvSpPr>
        <p:spPr>
          <a:xfrm>
            <a:off x="6071616" y="3703320"/>
            <a:ext cx="2624328" cy="749808"/>
          </a:xfrm>
          <a:prstGeom prst="roundRect">
            <a:avLst>
              <a:gd name="adj" fmla="val 12195"/>
            </a:avLst>
          </a:prstGeom>
          <a:solidFill>
            <a:srgbClr val="F2546B">
              <a:alpha val="10000"/>
            </a:srgbClr>
          </a:solidFill>
          <a:ln w="19050">
            <a:solidFill>
              <a:srgbClr val="F2546B"/>
            </a:solidFill>
            <a:prstDash val="solid"/>
          </a:ln>
        </p:spPr>
        <p:txBody>
          <a:bodyPr/>
          <a:lstStyle/>
          <a:p>
            <a:endParaRPr lang="es-CO"/>
          </a:p>
        </p:txBody>
      </p:sp>
      <p:sp>
        <p:nvSpPr>
          <p:cNvPr id="24" name="Text 20"/>
          <p:cNvSpPr txBox="1"/>
          <p:nvPr/>
        </p:nvSpPr>
        <p:spPr>
          <a:xfrm>
            <a:off x="6071616" y="3767328"/>
            <a:ext cx="2624328" cy="365760"/>
          </a:xfrm>
          <a:prstGeom prst="rect">
            <a:avLst/>
          </a:prstGeom>
          <a:noFill/>
          <a:ln/>
        </p:spPr>
        <p:txBody>
          <a:bodyPr wrap="square" lIns="0" tIns="0" rIns="0" bIns="0" rtlCol="0" anchor="t"/>
          <a:lstStyle/>
          <a:p>
            <a:pPr marL="0" indent="0" algn="ctr">
              <a:buNone/>
            </a:pPr>
            <a:r>
              <a:rPr lang="en-US" sz="1350" b="1" dirty="0">
                <a:solidFill>
                  <a:srgbClr val="C81E43"/>
                </a:solidFill>
                <a:latin typeface="Calibri" pitchFamily="34" charset="0"/>
                <a:ea typeface="Calibri" pitchFamily="34" charset="-122"/>
                <a:cs typeface="Calibri" pitchFamily="34" charset="-120"/>
              </a:rPr>
              <a:t>Squeeze + MCF/MTF</a:t>
            </a:r>
            <a:endParaRPr lang="en-US" sz="1350" dirty="0"/>
          </a:p>
        </p:txBody>
      </p:sp>
      <p:sp>
        <p:nvSpPr>
          <p:cNvPr id="25" name="Text 21"/>
          <p:cNvSpPr txBox="1"/>
          <p:nvPr/>
        </p:nvSpPr>
        <p:spPr>
          <a:xfrm>
            <a:off x="6071616" y="4114800"/>
            <a:ext cx="2624328" cy="292608"/>
          </a:xfrm>
          <a:prstGeom prst="rect">
            <a:avLst/>
          </a:prstGeom>
          <a:noFill/>
          <a:ln/>
        </p:spPr>
        <p:txBody>
          <a:bodyPr wrap="square" lIns="0" tIns="0" rIns="0" bIns="0" rtlCol="0" anchor="t"/>
          <a:lstStyle/>
          <a:p>
            <a:pPr marL="0" indent="0" algn="ctr">
              <a:buNone/>
            </a:pPr>
            <a:r>
              <a:rPr lang="en-US" sz="1400" dirty="0">
                <a:solidFill>
                  <a:srgbClr val="141821"/>
                </a:solidFill>
                <a:latin typeface="Calibri" pitchFamily="34" charset="0"/>
                <a:ea typeface="Calibri" pitchFamily="34" charset="-122"/>
                <a:cs typeface="Calibri" pitchFamily="34" charset="-120"/>
              </a:rPr>
              <a:t>AR</a:t>
            </a:r>
            <a:endParaRPr lang="en-US" sz="1200" dirty="0"/>
          </a:p>
        </p:txBody>
      </p:sp>
      <p:sp>
        <p:nvSpPr>
          <p:cNvPr id="26"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0A6F98"/>
                </a:solidFill>
                <a:latin typeface="Calibri" pitchFamily="34" charset="0"/>
                <a:ea typeface="Calibri" pitchFamily="34" charset="-122"/>
                <a:cs typeface="Calibri" pitchFamily="34" charset="-120"/>
              </a:rPr>
              <a:t>PISTA 4 · EL LABORATORIO</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Qué pedir y cómo interpretarlo</a:t>
            </a:r>
            <a:endParaRPr lang="en-US" sz="29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3. Nishimura K, Sugiyama D, Kogata Y, Tsuji G, Nakazawa T, Kawano S, et al. Meta-analysis: diagnostic accuracy of anti-cyclic citrullinated peptide antibody and rheumatoid factor for rheumatoid arthritis. Ann Intern Med. 2007;146(11):797-808.</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6. Katz JN, Arant KR, Loeser RF. Diagnosis and treatment of hip and knee osteoarthritis: a review. JAMA. 2021;325(6):568-78.</a:t>
            </a:r>
            <a:endParaRPr lang="en-US" sz="900" dirty="0"/>
          </a:p>
        </p:txBody>
      </p:sp>
      <p:sp>
        <p:nvSpPr>
          <p:cNvPr id="7" name="Shape 5"/>
          <p:cNvSpPr/>
          <p:nvPr/>
        </p:nvSpPr>
        <p:spPr>
          <a:xfrm>
            <a:off x="457200" y="1280160"/>
            <a:ext cx="4023360" cy="3017520"/>
          </a:xfrm>
          <a:prstGeom prst="roundRect">
            <a:avLst>
              <a:gd name="adj" fmla="val 3030"/>
            </a:avLst>
          </a:prstGeom>
          <a:solidFill>
            <a:srgbClr val="FFFFFF"/>
          </a:solidFill>
          <a:ln w="19050">
            <a:solidFill>
              <a:srgbClr val="F2546B"/>
            </a:solidFill>
            <a:prstDash val="solid"/>
          </a:ln>
        </p:spPr>
        <p:txBody>
          <a:bodyPr/>
          <a:lstStyle/>
          <a:p>
            <a:endParaRPr lang="es-CO"/>
          </a:p>
        </p:txBody>
      </p:sp>
      <p:sp>
        <p:nvSpPr>
          <p:cNvPr id="8" name="Text 6"/>
          <p:cNvSpPr txBox="1"/>
          <p:nvPr/>
        </p:nvSpPr>
        <p:spPr>
          <a:xfrm>
            <a:off x="640080" y="1371600"/>
            <a:ext cx="3657600" cy="365760"/>
          </a:xfrm>
          <a:prstGeom prst="rect">
            <a:avLst/>
          </a:prstGeom>
          <a:noFill/>
          <a:ln/>
        </p:spPr>
        <p:txBody>
          <a:bodyPr wrap="square" lIns="0" tIns="0" rIns="0" bIns="0" rtlCol="0" anchor="t"/>
          <a:lstStyle/>
          <a:p>
            <a:pPr marL="0" indent="0">
              <a:buNone/>
            </a:pPr>
            <a:r>
              <a:rPr lang="en-US" sz="1650" b="1" dirty="0">
                <a:solidFill>
                  <a:srgbClr val="C81E43"/>
                </a:solidFill>
                <a:latin typeface="Calibri" pitchFamily="34" charset="0"/>
                <a:ea typeface="Calibri" pitchFamily="34" charset="-122"/>
                <a:cs typeface="Calibri" pitchFamily="34" charset="-120"/>
              </a:rPr>
              <a:t>Qué pedir si sospechas AR</a:t>
            </a:r>
            <a:endParaRPr lang="en-US" sz="1650" dirty="0"/>
          </a:p>
        </p:txBody>
      </p:sp>
      <p:sp>
        <p:nvSpPr>
          <p:cNvPr id="9" name="Text 7"/>
          <p:cNvSpPr txBox="1"/>
          <p:nvPr/>
        </p:nvSpPr>
        <p:spPr>
          <a:xfrm>
            <a:off x="685800" y="1828800"/>
            <a:ext cx="3611880" cy="2377440"/>
          </a:xfrm>
          <a:prstGeom prst="rect">
            <a:avLst/>
          </a:prstGeom>
          <a:noFill/>
          <a:ln/>
        </p:spPr>
        <p:txBody>
          <a:bodyPr wrap="square" lIns="0" tIns="0" rIns="0" bIns="0" rtlCol="0" anchor="t"/>
          <a:lstStyle/>
          <a:p>
            <a:pPr marL="342900" indent="-342900">
              <a:spcAft>
                <a:spcPts val="700"/>
              </a:spcAft>
              <a:buSzPct val="100000"/>
              <a:buChar char="•"/>
            </a:pPr>
            <a:r>
              <a:rPr lang="en-US" dirty="0">
                <a:solidFill>
                  <a:srgbClr val="141821"/>
                </a:solidFill>
                <a:latin typeface="Calibri" pitchFamily="34" charset="0"/>
                <a:ea typeface="Calibri" pitchFamily="34" charset="-122"/>
                <a:cs typeface="Calibri" pitchFamily="34" charset="-120"/>
              </a:rPr>
              <a:t>Factor reumatoide (FR).</a:t>
            </a:r>
            <a:endParaRPr lang="en-US" dirty="0"/>
          </a:p>
          <a:p>
            <a:pPr marL="342900" indent="-342900">
              <a:spcAft>
                <a:spcPts val="700"/>
              </a:spcAft>
              <a:buSzPct val="100000"/>
              <a:buChar char="•"/>
            </a:pPr>
            <a:r>
              <a:rPr lang="en-US" dirty="0">
                <a:solidFill>
                  <a:srgbClr val="141821"/>
                </a:solidFill>
                <a:latin typeface="Calibri" pitchFamily="34" charset="0"/>
                <a:ea typeface="Calibri" pitchFamily="34" charset="-122"/>
                <a:cs typeface="Calibri" pitchFamily="34" charset="-120"/>
              </a:rPr>
              <a:t>Anti-CCP / ACPA (más específico).</a:t>
            </a:r>
            <a:endParaRPr lang="en-US" dirty="0"/>
          </a:p>
          <a:p>
            <a:pPr marL="342900" indent="-342900">
              <a:spcAft>
                <a:spcPts val="700"/>
              </a:spcAft>
              <a:buSzPct val="100000"/>
              <a:buChar char="•"/>
            </a:pPr>
            <a:r>
              <a:rPr lang="en-US" dirty="0">
                <a:solidFill>
                  <a:srgbClr val="141821"/>
                </a:solidFill>
                <a:latin typeface="Calibri" pitchFamily="34" charset="0"/>
                <a:ea typeface="Calibri" pitchFamily="34" charset="-122"/>
                <a:cs typeface="Calibri" pitchFamily="34" charset="-120"/>
              </a:rPr>
              <a:t>VSG y PCR (actividad </a:t>
            </a:r>
            <a:r>
              <a:rPr lang="en-US" dirty="0" err="1">
                <a:solidFill>
                  <a:srgbClr val="141821"/>
                </a:solidFill>
                <a:latin typeface="Calibri" pitchFamily="34" charset="0"/>
                <a:ea typeface="Calibri" pitchFamily="34" charset="-122"/>
                <a:cs typeface="Calibri" pitchFamily="34" charset="-120"/>
              </a:rPr>
              <a:t>inflamatoria</a:t>
            </a:r>
            <a:r>
              <a:rPr lang="en-US" dirty="0">
                <a:solidFill>
                  <a:srgbClr val="141821"/>
                </a:solidFill>
                <a:latin typeface="Calibri" pitchFamily="34" charset="0"/>
                <a:ea typeface="Calibri" pitchFamily="34" charset="-122"/>
                <a:cs typeface="Calibri" pitchFamily="34" charset="-120"/>
              </a:rPr>
              <a:t>).</a:t>
            </a:r>
          </a:p>
          <a:p>
            <a:pPr marL="342900" indent="-342900">
              <a:spcAft>
                <a:spcPts val="700"/>
              </a:spcAft>
              <a:buSzPct val="100000"/>
              <a:buChar char="•"/>
            </a:pPr>
            <a:r>
              <a:rPr lang="en-US" dirty="0" err="1">
                <a:solidFill>
                  <a:srgbClr val="141821"/>
                </a:solidFill>
                <a:latin typeface="Calibri" pitchFamily="34" charset="0"/>
                <a:ea typeface="Calibri" pitchFamily="34" charset="-122"/>
                <a:cs typeface="Calibri" pitchFamily="34" charset="-120"/>
              </a:rPr>
              <a:t>Hemograma</a:t>
            </a:r>
            <a:endParaRPr lang="en-US" dirty="0">
              <a:solidFill>
                <a:srgbClr val="141821"/>
              </a:solidFill>
              <a:latin typeface="Calibri" pitchFamily="34" charset="0"/>
              <a:ea typeface="Calibri" pitchFamily="34" charset="-122"/>
              <a:cs typeface="Calibri" pitchFamily="34" charset="-120"/>
            </a:endParaRPr>
          </a:p>
          <a:p>
            <a:pPr marL="342900" indent="-342900">
              <a:spcAft>
                <a:spcPts val="700"/>
              </a:spcAft>
              <a:buSzPct val="100000"/>
              <a:buFontTx/>
              <a:buChar char="•"/>
            </a:pPr>
            <a:r>
              <a:rPr lang="en-US" dirty="0" err="1">
                <a:solidFill>
                  <a:srgbClr val="15193A"/>
                </a:solidFill>
                <a:latin typeface="Calibri" pitchFamily="34" charset="0"/>
                <a:ea typeface="Calibri" pitchFamily="34" charset="-122"/>
                <a:cs typeface="Calibri" pitchFamily="34" charset="-120"/>
              </a:rPr>
              <a:t>Radiografía</a:t>
            </a:r>
            <a:r>
              <a:rPr lang="en-US" dirty="0">
                <a:solidFill>
                  <a:srgbClr val="15193A"/>
                </a:solidFill>
                <a:latin typeface="Calibri" pitchFamily="34" charset="0"/>
                <a:ea typeface="Calibri" pitchFamily="34" charset="-122"/>
                <a:cs typeface="Calibri" pitchFamily="34" charset="-120"/>
              </a:rPr>
              <a:t> de manos y pies</a:t>
            </a:r>
            <a:endParaRPr lang="en-US" dirty="0"/>
          </a:p>
          <a:p>
            <a:pPr marL="342900" indent="-342900">
              <a:spcAft>
                <a:spcPts val="700"/>
              </a:spcAft>
              <a:buSzPct val="100000"/>
              <a:buChar char="•"/>
            </a:pPr>
            <a:endParaRPr lang="en-US" dirty="0"/>
          </a:p>
        </p:txBody>
      </p:sp>
      <p:sp>
        <p:nvSpPr>
          <p:cNvPr id="10" name="Shape 8"/>
          <p:cNvSpPr/>
          <p:nvPr/>
        </p:nvSpPr>
        <p:spPr>
          <a:xfrm>
            <a:off x="4663440" y="1280160"/>
            <a:ext cx="4023360" cy="3017520"/>
          </a:xfrm>
          <a:prstGeom prst="roundRect">
            <a:avLst>
              <a:gd name="adj" fmla="val 3030"/>
            </a:avLst>
          </a:prstGeom>
          <a:solidFill>
            <a:srgbClr val="FFFFFF"/>
          </a:solidFill>
          <a:ln w="19050">
            <a:solidFill>
              <a:schemeClr val="tx1"/>
            </a:solidFill>
            <a:prstDash val="solid"/>
          </a:ln>
        </p:spPr>
        <p:txBody>
          <a:bodyPr/>
          <a:lstStyle/>
          <a:p>
            <a:endParaRPr lang="es-CO"/>
          </a:p>
        </p:txBody>
      </p:sp>
      <p:sp>
        <p:nvSpPr>
          <p:cNvPr id="11" name="Text 9"/>
          <p:cNvSpPr txBox="1"/>
          <p:nvPr/>
        </p:nvSpPr>
        <p:spPr>
          <a:xfrm>
            <a:off x="4846320" y="1371600"/>
            <a:ext cx="3657600" cy="365760"/>
          </a:xfrm>
          <a:prstGeom prst="rect">
            <a:avLst/>
          </a:prstGeom>
          <a:noFill/>
          <a:ln/>
        </p:spPr>
        <p:txBody>
          <a:bodyPr wrap="square" lIns="0" tIns="0" rIns="0" bIns="0" rtlCol="0" anchor="t"/>
          <a:lstStyle/>
          <a:p>
            <a:pPr marL="0" indent="0">
              <a:buNone/>
            </a:pPr>
            <a:r>
              <a:rPr lang="en-US" sz="1650" b="1" dirty="0">
                <a:latin typeface="Calibri" pitchFamily="34" charset="0"/>
                <a:ea typeface="Calibri" pitchFamily="34" charset="-122"/>
                <a:cs typeface="Calibri" pitchFamily="34" charset="-120"/>
              </a:rPr>
              <a:t>Cómo interpretarlo</a:t>
            </a:r>
            <a:endParaRPr lang="en-US" sz="1650" b="1" dirty="0"/>
          </a:p>
        </p:txBody>
      </p:sp>
      <p:sp>
        <p:nvSpPr>
          <p:cNvPr id="12" name="Text 10"/>
          <p:cNvSpPr txBox="1"/>
          <p:nvPr/>
        </p:nvSpPr>
        <p:spPr>
          <a:xfrm>
            <a:off x="4892040" y="1828800"/>
            <a:ext cx="3611880" cy="2377440"/>
          </a:xfrm>
          <a:prstGeom prst="rect">
            <a:avLst/>
          </a:prstGeom>
          <a:noFill/>
          <a:ln/>
        </p:spPr>
        <p:txBody>
          <a:bodyPr wrap="square" lIns="0" tIns="0" rIns="0" bIns="0" rtlCol="0" anchor="t"/>
          <a:lstStyle/>
          <a:p>
            <a:pPr marL="342900" indent="-342900">
              <a:spcAft>
                <a:spcPts val="700"/>
              </a:spcAft>
              <a:buSzPct val="100000"/>
              <a:buChar char="•"/>
            </a:pPr>
            <a:r>
              <a:rPr lang="en-US" b="1" dirty="0">
                <a:solidFill>
                  <a:srgbClr val="C00000"/>
                </a:solidFill>
                <a:latin typeface="Calibri" pitchFamily="34" charset="0"/>
                <a:ea typeface="Calibri" pitchFamily="34" charset="-122"/>
                <a:cs typeface="Calibri" pitchFamily="34" charset="-120"/>
              </a:rPr>
              <a:t>Un negativo no descarta</a:t>
            </a:r>
            <a:r>
              <a:rPr lang="en-US" dirty="0">
                <a:solidFill>
                  <a:srgbClr val="141821"/>
                </a:solidFill>
                <a:latin typeface="Calibri" pitchFamily="34" charset="0"/>
                <a:ea typeface="Calibri" pitchFamily="34" charset="-122"/>
                <a:cs typeface="Calibri" pitchFamily="34" charset="-120"/>
              </a:rPr>
              <a:t>: hasta un tercio son seronegativas.</a:t>
            </a:r>
            <a:endParaRPr lang="en-US" dirty="0"/>
          </a:p>
          <a:p>
            <a:pPr marL="342900" indent="-342900">
              <a:spcAft>
                <a:spcPts val="700"/>
              </a:spcAft>
              <a:buSzPct val="100000"/>
              <a:buChar char="•"/>
            </a:pPr>
            <a:r>
              <a:rPr lang="en-US" b="1" dirty="0">
                <a:latin typeface="Calibri" pitchFamily="34" charset="0"/>
                <a:ea typeface="Calibri" pitchFamily="34" charset="-122"/>
                <a:cs typeface="Calibri" pitchFamily="34" charset="-120"/>
              </a:rPr>
              <a:t>FR+ aislado puede verse en sanos, infecciones o con la edad.</a:t>
            </a:r>
            <a:endParaRPr lang="en-US" b="1" dirty="0"/>
          </a:p>
          <a:p>
            <a:pPr marL="342900" indent="-342900">
              <a:spcAft>
                <a:spcPts val="700"/>
              </a:spcAft>
              <a:buSzPct val="100000"/>
              <a:buChar char="•"/>
            </a:pPr>
            <a:r>
              <a:rPr lang="en-US" dirty="0">
                <a:solidFill>
                  <a:srgbClr val="141821"/>
                </a:solidFill>
                <a:latin typeface="Calibri" pitchFamily="34" charset="0"/>
                <a:ea typeface="Calibri" pitchFamily="34" charset="-122"/>
                <a:cs typeface="Calibri" pitchFamily="34" charset="-120"/>
              </a:rPr>
              <a:t>La serología modifica la probabilidad, </a:t>
            </a:r>
            <a:r>
              <a:rPr lang="en-US" b="1" dirty="0">
                <a:solidFill>
                  <a:srgbClr val="C00000"/>
                </a:solidFill>
                <a:latin typeface="Calibri" pitchFamily="34" charset="0"/>
                <a:ea typeface="Calibri" pitchFamily="34" charset="-122"/>
                <a:cs typeface="Calibri" pitchFamily="34" charset="-120"/>
              </a:rPr>
              <a:t>no diagnostica sola.</a:t>
            </a:r>
            <a:endParaRPr lang="en-US" b="1" dirty="0">
              <a:solidFill>
                <a:srgbClr val="C00000"/>
              </a:solidFill>
            </a:endParaRPr>
          </a:p>
        </p:txBody>
      </p:sp>
      <p:sp>
        <p:nvSpPr>
          <p:cNvPr id="14" name="Text 12"/>
          <p:cNvSpPr txBox="1"/>
          <p:nvPr/>
        </p:nvSpPr>
        <p:spPr>
          <a:xfrm>
            <a:off x="512064" y="4370832"/>
            <a:ext cx="8119872" cy="914"/>
          </a:xfrm>
          <a:prstGeom prst="rect">
            <a:avLst/>
          </a:prstGeom>
          <a:noFill/>
          <a:ln/>
        </p:spPr>
        <p:txBody>
          <a:bodyPr wrap="square" lIns="0" tIns="0" rIns="0" bIns="0" rtlCol="0" anchor="ctr"/>
          <a:lstStyle/>
          <a:p>
            <a:pPr marL="0" indent="0" algn="ctr">
              <a:buNone/>
            </a:pPr>
            <a:endParaRPr lang="en-US" sz="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7315200" cy="228600"/>
          </a:xfrm>
          <a:prstGeom prst="rect">
            <a:avLst/>
          </a:prstGeom>
          <a:noFill/>
          <a:ln/>
        </p:spPr>
        <p:txBody>
          <a:bodyPr wrap="square" lIns="0" tIns="0" rIns="0" bIns="0" rtlCol="0" anchor="t"/>
          <a:lstStyle/>
          <a:p>
            <a:pPr marL="0" indent="0">
              <a:buNone/>
            </a:pPr>
            <a:r>
              <a:rPr lang="en-US" sz="1100" b="1" kern="0" spc="300" dirty="0">
                <a:solidFill>
                  <a:srgbClr val="D9472F"/>
                </a:solidFill>
                <a:latin typeface="Calibri" pitchFamily="34" charset="0"/>
                <a:ea typeface="Calibri" pitchFamily="34" charset="-122"/>
                <a:cs typeface="Calibri" pitchFamily="34" charset="-120"/>
              </a:rPr>
              <a:t>EVALUACIÓN DE LABORATORIO</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600" b="1" dirty="0">
                <a:solidFill>
                  <a:srgbClr val="2A1433"/>
                </a:solidFill>
                <a:latin typeface="Cambria" pitchFamily="34" charset="0"/>
                <a:ea typeface="Cambria" pitchFamily="34" charset="-122"/>
                <a:cs typeface="Cambria" pitchFamily="34" charset="-120"/>
              </a:rPr>
              <a:t>Autoanticuerpos y reactantes de fase aguda</a:t>
            </a:r>
            <a:endParaRPr lang="en-US" sz="2600" dirty="0"/>
          </a:p>
        </p:txBody>
      </p:sp>
      <p:sp>
        <p:nvSpPr>
          <p:cNvPr id="4" name="Text 2"/>
          <p:cNvSpPr txBox="1"/>
          <p:nvPr/>
        </p:nvSpPr>
        <p:spPr>
          <a:xfrm>
            <a:off x="457200" y="4846320"/>
            <a:ext cx="6400800" cy="182880"/>
          </a:xfrm>
          <a:prstGeom prst="rect">
            <a:avLst/>
          </a:prstGeom>
          <a:noFill/>
          <a:ln/>
        </p:spPr>
        <p:txBody>
          <a:bodyPr wrap="square" lIns="0" tIns="0" rIns="0" bIns="0" rtlCol="0" anchor="t"/>
          <a:lstStyle/>
          <a:p>
            <a:pPr marL="0" indent="0">
              <a:buNone/>
            </a:pPr>
            <a:r>
              <a:rPr lang="en-US" sz="900" dirty="0">
                <a:latin typeface="Calibri" pitchFamily="34" charset="0"/>
                <a:ea typeface="Calibri" pitchFamily="34" charset="-122"/>
                <a:cs typeface="Calibri" pitchFamily="34" charset="-120"/>
              </a:rPr>
              <a:t>Smolen JS, et al. Rheumatoid Arthritis in Adults: A Review. JAMA. 2026</a:t>
            </a:r>
            <a:endParaRPr lang="en-US" sz="900" dirty="0"/>
          </a:p>
        </p:txBody>
      </p:sp>
      <p:sp>
        <p:nvSpPr>
          <p:cNvPr id="5" name="Text 3"/>
          <p:cNvSpPr txBox="1"/>
          <p:nvPr/>
        </p:nvSpPr>
        <p:spPr>
          <a:xfrm>
            <a:off x="457200" y="1234440"/>
            <a:ext cx="1920240" cy="566928"/>
          </a:xfrm>
          <a:prstGeom prst="rect">
            <a:avLst/>
          </a:prstGeom>
          <a:noFill/>
          <a:ln/>
        </p:spPr>
        <p:txBody>
          <a:bodyPr wrap="square" lIns="0" tIns="0" rIns="0" bIns="0" rtlCol="0" anchor="b"/>
          <a:lstStyle/>
          <a:p>
            <a:pPr marL="0" indent="0">
              <a:buNone/>
            </a:pPr>
            <a:r>
              <a:rPr lang="en-US" sz="3000" b="1" dirty="0">
                <a:solidFill>
                  <a:srgbClr val="7A1F45"/>
                </a:solidFill>
                <a:latin typeface="Cambria" pitchFamily="34" charset="0"/>
                <a:ea typeface="Cambria" pitchFamily="34" charset="-122"/>
                <a:cs typeface="Cambria" pitchFamily="34" charset="-120"/>
              </a:rPr>
              <a:t>40–60 %</a:t>
            </a:r>
            <a:endParaRPr lang="en-US" sz="3000" dirty="0"/>
          </a:p>
        </p:txBody>
      </p:sp>
      <p:sp>
        <p:nvSpPr>
          <p:cNvPr id="6" name="Text 4"/>
          <p:cNvSpPr txBox="1"/>
          <p:nvPr/>
        </p:nvSpPr>
        <p:spPr>
          <a:xfrm>
            <a:off x="322730" y="1847087"/>
            <a:ext cx="1920240" cy="502920"/>
          </a:xfrm>
          <a:prstGeom prst="rect">
            <a:avLst/>
          </a:prstGeom>
          <a:noFill/>
          <a:ln/>
        </p:spPr>
        <p:txBody>
          <a:bodyPr wrap="square" lIns="0" tIns="0" rIns="0" bIns="0" rtlCol="0" anchor="t"/>
          <a:lstStyle/>
          <a:p>
            <a:pPr marL="0" indent="0" algn="ctr">
              <a:buNone/>
            </a:pPr>
            <a:r>
              <a:rPr lang="en-US" sz="1200" dirty="0">
                <a:latin typeface="Calibri" pitchFamily="34" charset="0"/>
                <a:ea typeface="Calibri" pitchFamily="34" charset="-122"/>
                <a:cs typeface="Calibri" pitchFamily="34" charset="-120"/>
              </a:rPr>
              <a:t>seropositivos (FR y/o ACPA) al diagnóstico</a:t>
            </a:r>
            <a:endParaRPr lang="en-US" sz="1200" dirty="0"/>
          </a:p>
        </p:txBody>
      </p:sp>
      <p:sp>
        <p:nvSpPr>
          <p:cNvPr id="7" name="Text 5"/>
          <p:cNvSpPr txBox="1"/>
          <p:nvPr/>
        </p:nvSpPr>
        <p:spPr>
          <a:xfrm>
            <a:off x="2514600" y="1234440"/>
            <a:ext cx="1920240" cy="566928"/>
          </a:xfrm>
          <a:prstGeom prst="rect">
            <a:avLst/>
          </a:prstGeom>
          <a:noFill/>
          <a:ln/>
        </p:spPr>
        <p:txBody>
          <a:bodyPr wrap="square" lIns="0" tIns="0" rIns="0" bIns="0" rtlCol="0" anchor="b"/>
          <a:lstStyle/>
          <a:p>
            <a:pPr marL="0" indent="0">
              <a:buNone/>
            </a:pPr>
            <a:r>
              <a:rPr lang="en-US" sz="3000" b="1" dirty="0">
                <a:solidFill>
                  <a:srgbClr val="7A1F45"/>
                </a:solidFill>
                <a:latin typeface="Cambria" pitchFamily="34" charset="0"/>
                <a:ea typeface="Cambria" pitchFamily="34" charset="-122"/>
                <a:cs typeface="Cambria" pitchFamily="34" charset="-120"/>
              </a:rPr>
              <a:t>~80 %</a:t>
            </a:r>
            <a:endParaRPr lang="en-US" sz="3000" dirty="0"/>
          </a:p>
        </p:txBody>
      </p:sp>
      <p:sp>
        <p:nvSpPr>
          <p:cNvPr id="8" name="Text 6"/>
          <p:cNvSpPr txBox="1"/>
          <p:nvPr/>
        </p:nvSpPr>
        <p:spPr>
          <a:xfrm>
            <a:off x="2380130" y="1847087"/>
            <a:ext cx="1920240" cy="502920"/>
          </a:xfrm>
          <a:prstGeom prst="rect">
            <a:avLst/>
          </a:prstGeom>
          <a:noFill/>
          <a:ln/>
        </p:spPr>
        <p:txBody>
          <a:bodyPr wrap="square" lIns="0" tIns="0" rIns="0" bIns="0" rtlCol="0" anchor="t"/>
          <a:lstStyle/>
          <a:p>
            <a:pPr marL="0" indent="0" algn="ctr">
              <a:buNone/>
            </a:pPr>
            <a:r>
              <a:rPr lang="en-US" sz="1200" dirty="0">
                <a:latin typeface="Calibri" pitchFamily="34" charset="0"/>
                <a:ea typeface="Calibri" pitchFamily="34" charset="-122"/>
                <a:cs typeface="Calibri" pitchFamily="34" charset="-120"/>
              </a:rPr>
              <a:t>seropositivos con ≥ 3 años de enfermedad</a:t>
            </a:r>
            <a:endParaRPr lang="en-US" sz="1200" dirty="0"/>
          </a:p>
        </p:txBody>
      </p:sp>
      <p:sp>
        <p:nvSpPr>
          <p:cNvPr id="9" name="Text 7"/>
          <p:cNvSpPr txBox="1"/>
          <p:nvPr/>
        </p:nvSpPr>
        <p:spPr>
          <a:xfrm>
            <a:off x="4572000" y="1234440"/>
            <a:ext cx="1920240" cy="566928"/>
          </a:xfrm>
          <a:prstGeom prst="rect">
            <a:avLst/>
          </a:prstGeom>
          <a:noFill/>
          <a:ln/>
        </p:spPr>
        <p:txBody>
          <a:bodyPr wrap="square" lIns="0" tIns="0" rIns="0" bIns="0" rtlCol="0" anchor="b"/>
          <a:lstStyle/>
          <a:p>
            <a:pPr marL="0" indent="0">
              <a:buNone/>
            </a:pPr>
            <a:r>
              <a:rPr lang="en-US" sz="3000" b="1" dirty="0">
                <a:solidFill>
                  <a:srgbClr val="D9472F"/>
                </a:solidFill>
                <a:latin typeface="Cambria" pitchFamily="34" charset="0"/>
                <a:ea typeface="Cambria" pitchFamily="34" charset="-122"/>
                <a:cs typeface="Cambria" pitchFamily="34" charset="-120"/>
              </a:rPr>
              <a:t>12 %</a:t>
            </a:r>
            <a:endParaRPr lang="en-US" sz="3000" dirty="0"/>
          </a:p>
        </p:txBody>
      </p:sp>
      <p:sp>
        <p:nvSpPr>
          <p:cNvPr id="10" name="Text 8"/>
          <p:cNvSpPr txBox="1"/>
          <p:nvPr/>
        </p:nvSpPr>
        <p:spPr>
          <a:xfrm>
            <a:off x="4437530" y="1847087"/>
            <a:ext cx="1920240" cy="502920"/>
          </a:xfrm>
          <a:prstGeom prst="rect">
            <a:avLst/>
          </a:prstGeom>
          <a:noFill/>
          <a:ln/>
        </p:spPr>
        <p:txBody>
          <a:bodyPr wrap="square" lIns="0" tIns="0" rIns="0" bIns="0" rtlCol="0" anchor="t"/>
          <a:lstStyle/>
          <a:p>
            <a:pPr marL="0" indent="0" algn="ctr">
              <a:buNone/>
            </a:pPr>
            <a:r>
              <a:rPr lang="en-US" sz="1200" dirty="0">
                <a:latin typeface="Calibri" pitchFamily="34" charset="0"/>
                <a:ea typeface="Calibri" pitchFamily="34" charset="-122"/>
                <a:cs typeface="Calibri" pitchFamily="34" charset="-120"/>
              </a:rPr>
              <a:t>de seronegativos se vuelven seropositivos en 3 </a:t>
            </a:r>
            <a:r>
              <a:rPr lang="en-US" sz="1200" dirty="0" err="1">
                <a:latin typeface="Calibri" pitchFamily="34" charset="0"/>
                <a:ea typeface="Calibri" pitchFamily="34" charset="-122"/>
                <a:cs typeface="Calibri" pitchFamily="34" charset="-120"/>
              </a:rPr>
              <a:t>años</a:t>
            </a:r>
            <a:endParaRPr lang="en-US" sz="1200" dirty="0"/>
          </a:p>
        </p:txBody>
      </p:sp>
      <p:sp>
        <p:nvSpPr>
          <p:cNvPr id="11" name="Text 9"/>
          <p:cNvSpPr txBox="1"/>
          <p:nvPr/>
        </p:nvSpPr>
        <p:spPr>
          <a:xfrm>
            <a:off x="6629400" y="1234440"/>
            <a:ext cx="2057400" cy="566928"/>
          </a:xfrm>
          <a:prstGeom prst="rect">
            <a:avLst/>
          </a:prstGeom>
          <a:noFill/>
          <a:ln/>
        </p:spPr>
        <p:txBody>
          <a:bodyPr wrap="square" lIns="0" tIns="0" rIns="0" bIns="0" rtlCol="0" anchor="b"/>
          <a:lstStyle/>
          <a:p>
            <a:pPr marL="0" indent="0">
              <a:buNone/>
            </a:pPr>
            <a:r>
              <a:rPr lang="en-US" sz="3000" b="1" dirty="0">
                <a:solidFill>
                  <a:srgbClr val="D9472F"/>
                </a:solidFill>
                <a:latin typeface="Cambria" pitchFamily="34" charset="0"/>
                <a:ea typeface="Cambria" pitchFamily="34" charset="-122"/>
                <a:cs typeface="Cambria" pitchFamily="34" charset="-120"/>
              </a:rPr>
              <a:t>25 %</a:t>
            </a:r>
            <a:endParaRPr lang="en-US" sz="3000" dirty="0"/>
          </a:p>
        </p:txBody>
      </p:sp>
      <p:sp>
        <p:nvSpPr>
          <p:cNvPr id="12" name="Text 10"/>
          <p:cNvSpPr txBox="1"/>
          <p:nvPr/>
        </p:nvSpPr>
        <p:spPr>
          <a:xfrm>
            <a:off x="6494930" y="1847087"/>
            <a:ext cx="2057400" cy="502920"/>
          </a:xfrm>
          <a:prstGeom prst="rect">
            <a:avLst/>
          </a:prstGeom>
          <a:noFill/>
          <a:ln/>
        </p:spPr>
        <p:txBody>
          <a:bodyPr wrap="square" lIns="0" tIns="0" rIns="0" bIns="0" rtlCol="0" anchor="t"/>
          <a:lstStyle/>
          <a:p>
            <a:pPr marL="0" indent="0" algn="ctr">
              <a:buNone/>
            </a:pPr>
            <a:r>
              <a:rPr lang="en-US" sz="1200" dirty="0">
                <a:latin typeface="Calibri" pitchFamily="34" charset="0"/>
                <a:ea typeface="Calibri" pitchFamily="34" charset="-122"/>
                <a:cs typeface="Calibri" pitchFamily="34" charset="-120"/>
              </a:rPr>
              <a:t>con PCR/VSG elevadas y anemia de </a:t>
            </a:r>
            <a:r>
              <a:rPr lang="en-US" sz="1200" dirty="0" err="1">
                <a:latin typeface="Calibri" pitchFamily="34" charset="0"/>
                <a:ea typeface="Calibri" pitchFamily="34" charset="-122"/>
                <a:cs typeface="Calibri" pitchFamily="34" charset="-120"/>
              </a:rPr>
              <a:t>enfermedad</a:t>
            </a:r>
            <a:r>
              <a:rPr lang="en-US" sz="1200" dirty="0">
                <a:latin typeface="Calibri" pitchFamily="34" charset="0"/>
                <a:ea typeface="Calibri" pitchFamily="34" charset="-122"/>
                <a:cs typeface="Calibri" pitchFamily="34" charset="-120"/>
              </a:rPr>
              <a:t> </a:t>
            </a:r>
            <a:r>
              <a:rPr lang="en-US" sz="1200" dirty="0" err="1">
                <a:latin typeface="Calibri" pitchFamily="34" charset="0"/>
                <a:ea typeface="Calibri" pitchFamily="34" charset="-122"/>
                <a:cs typeface="Calibri" pitchFamily="34" charset="-120"/>
              </a:rPr>
              <a:t>crónica</a:t>
            </a:r>
            <a:endParaRPr lang="en-US" sz="1200" dirty="0"/>
          </a:p>
        </p:txBody>
      </p:sp>
      <p:sp>
        <p:nvSpPr>
          <p:cNvPr id="13" name="Text 11"/>
          <p:cNvSpPr txBox="1"/>
          <p:nvPr/>
        </p:nvSpPr>
        <p:spPr>
          <a:xfrm>
            <a:off x="457200" y="2606040"/>
            <a:ext cx="8229600" cy="320040"/>
          </a:xfrm>
          <a:prstGeom prst="rect">
            <a:avLst/>
          </a:prstGeom>
          <a:noFill/>
          <a:ln/>
        </p:spPr>
        <p:txBody>
          <a:bodyPr wrap="square" lIns="0" tIns="0" rIns="0" bIns="0" rtlCol="0" anchor="t"/>
          <a:lstStyle/>
          <a:p>
            <a:pPr marL="0" indent="0">
              <a:buNone/>
            </a:pPr>
            <a:r>
              <a:rPr lang="en-US" sz="1500" b="1" dirty="0">
                <a:solidFill>
                  <a:srgbClr val="2A1433"/>
                </a:solidFill>
                <a:latin typeface="Cambria" pitchFamily="34" charset="0"/>
                <a:ea typeface="Cambria" pitchFamily="34" charset="-122"/>
                <a:cs typeface="Cambria" pitchFamily="34" charset="-120"/>
              </a:rPr>
              <a:t>Los autoanticuerpos preceden a la clínica (pre-AR)</a:t>
            </a:r>
            <a:endParaRPr lang="en-US" sz="1500" dirty="0"/>
          </a:p>
        </p:txBody>
      </p:sp>
      <p:sp>
        <p:nvSpPr>
          <p:cNvPr id="14" name="Shape 12"/>
          <p:cNvSpPr/>
          <p:nvPr/>
        </p:nvSpPr>
        <p:spPr>
          <a:xfrm>
            <a:off x="731520" y="3749040"/>
            <a:ext cx="7680960" cy="0"/>
          </a:xfrm>
          <a:prstGeom prst="line">
            <a:avLst/>
          </a:prstGeom>
          <a:noFill/>
          <a:ln w="38100">
            <a:solidFill>
              <a:srgbClr val="D9CCD2"/>
            </a:solidFill>
            <a:prstDash val="solid"/>
          </a:ln>
        </p:spPr>
        <p:txBody>
          <a:bodyPr/>
          <a:lstStyle/>
          <a:p>
            <a:endParaRPr lang="es-CO"/>
          </a:p>
        </p:txBody>
      </p:sp>
      <p:sp>
        <p:nvSpPr>
          <p:cNvPr id="15" name="Shape 13"/>
          <p:cNvSpPr/>
          <p:nvPr/>
        </p:nvSpPr>
        <p:spPr>
          <a:xfrm>
            <a:off x="603504" y="3621024"/>
            <a:ext cx="256032" cy="256032"/>
          </a:xfrm>
          <a:prstGeom prst="ellipse">
            <a:avLst/>
          </a:prstGeom>
          <a:solidFill>
            <a:srgbClr val="7A1F45"/>
          </a:solidFill>
          <a:ln w="25400">
            <a:solidFill>
              <a:srgbClr val="FFFFFF"/>
            </a:solidFill>
            <a:prstDash val="solid"/>
          </a:ln>
        </p:spPr>
        <p:txBody>
          <a:bodyPr/>
          <a:lstStyle/>
          <a:p>
            <a:endParaRPr lang="es-CO"/>
          </a:p>
        </p:txBody>
      </p:sp>
      <p:sp>
        <p:nvSpPr>
          <p:cNvPr id="16" name="Text 14"/>
          <p:cNvSpPr txBox="1"/>
          <p:nvPr/>
        </p:nvSpPr>
        <p:spPr>
          <a:xfrm>
            <a:off x="-182880" y="3108960"/>
            <a:ext cx="1828800" cy="457200"/>
          </a:xfrm>
          <a:prstGeom prst="rect">
            <a:avLst/>
          </a:prstGeom>
          <a:noFill/>
          <a:ln/>
        </p:spPr>
        <p:txBody>
          <a:bodyPr wrap="square" lIns="0" tIns="0" rIns="0" bIns="0" rtlCol="0" anchor="b"/>
          <a:lstStyle/>
          <a:p>
            <a:pPr marL="0" indent="0" algn="ctr">
              <a:buNone/>
            </a:pPr>
            <a:r>
              <a:rPr lang="en-US" sz="1600" b="1" dirty="0">
                <a:solidFill>
                  <a:srgbClr val="7A1F45"/>
                </a:solidFill>
                <a:latin typeface="Cambria" pitchFamily="34" charset="0"/>
                <a:ea typeface="Cambria" pitchFamily="34" charset="-122"/>
                <a:cs typeface="Cambria" pitchFamily="34" charset="-120"/>
              </a:rPr>
              <a:t>−14 años</a:t>
            </a:r>
            <a:endParaRPr lang="en-US" sz="1600" dirty="0"/>
          </a:p>
        </p:txBody>
      </p:sp>
      <p:sp>
        <p:nvSpPr>
          <p:cNvPr id="17" name="Text 15"/>
          <p:cNvSpPr txBox="1"/>
          <p:nvPr/>
        </p:nvSpPr>
        <p:spPr>
          <a:xfrm>
            <a:off x="-54864" y="3993775"/>
            <a:ext cx="1828800" cy="457200"/>
          </a:xfrm>
          <a:prstGeom prst="rect">
            <a:avLst/>
          </a:prstGeom>
          <a:noFill/>
          <a:ln/>
        </p:spPr>
        <p:txBody>
          <a:bodyPr wrap="square" lIns="0" tIns="0" rIns="0" bIns="0" rtlCol="0" anchor="t"/>
          <a:lstStyle/>
          <a:p>
            <a:pPr marL="0" indent="0" algn="ctr">
              <a:buNone/>
            </a:pPr>
            <a:r>
              <a:rPr lang="en-US" sz="1150" dirty="0">
                <a:solidFill>
                  <a:srgbClr val="2B2330"/>
                </a:solidFill>
                <a:latin typeface="Calibri" pitchFamily="34" charset="0"/>
                <a:ea typeface="Calibri" pitchFamily="34" charset="-122"/>
                <a:cs typeface="Calibri" pitchFamily="34" charset="-120"/>
              </a:rPr>
              <a:t>Pueden detectarse ACPA</a:t>
            </a:r>
            <a:endParaRPr lang="en-US" sz="1150" dirty="0"/>
          </a:p>
        </p:txBody>
      </p:sp>
      <p:sp>
        <p:nvSpPr>
          <p:cNvPr id="18" name="Shape 16"/>
          <p:cNvSpPr/>
          <p:nvPr/>
        </p:nvSpPr>
        <p:spPr>
          <a:xfrm>
            <a:off x="3346704" y="3621024"/>
            <a:ext cx="256032" cy="256032"/>
          </a:xfrm>
          <a:prstGeom prst="ellipse">
            <a:avLst/>
          </a:prstGeom>
          <a:solidFill>
            <a:srgbClr val="7A1F45"/>
          </a:solidFill>
          <a:ln w="25400">
            <a:solidFill>
              <a:srgbClr val="FFFFFF"/>
            </a:solidFill>
            <a:prstDash val="solid"/>
          </a:ln>
        </p:spPr>
        <p:txBody>
          <a:bodyPr/>
          <a:lstStyle/>
          <a:p>
            <a:endParaRPr lang="es-CO"/>
          </a:p>
        </p:txBody>
      </p:sp>
      <p:sp>
        <p:nvSpPr>
          <p:cNvPr id="19" name="Text 17"/>
          <p:cNvSpPr txBox="1"/>
          <p:nvPr/>
        </p:nvSpPr>
        <p:spPr>
          <a:xfrm>
            <a:off x="2560320" y="3108960"/>
            <a:ext cx="1828800" cy="457200"/>
          </a:xfrm>
          <a:prstGeom prst="rect">
            <a:avLst/>
          </a:prstGeom>
          <a:noFill/>
          <a:ln/>
        </p:spPr>
        <p:txBody>
          <a:bodyPr wrap="square" lIns="0" tIns="0" rIns="0" bIns="0" rtlCol="0" anchor="b"/>
          <a:lstStyle/>
          <a:p>
            <a:pPr marL="0" indent="0" algn="ctr">
              <a:buNone/>
            </a:pPr>
            <a:r>
              <a:rPr lang="en-US" sz="1600" b="1" dirty="0">
                <a:solidFill>
                  <a:srgbClr val="7A1F45"/>
                </a:solidFill>
                <a:latin typeface="Cambria" pitchFamily="34" charset="0"/>
                <a:ea typeface="Cambria" pitchFamily="34" charset="-122"/>
                <a:cs typeface="Cambria" pitchFamily="34" charset="-120"/>
              </a:rPr>
              <a:t>−10 años</a:t>
            </a:r>
            <a:endParaRPr lang="en-US" sz="1600" dirty="0"/>
          </a:p>
        </p:txBody>
      </p:sp>
      <p:sp>
        <p:nvSpPr>
          <p:cNvPr id="20" name="Text 18"/>
          <p:cNvSpPr txBox="1"/>
          <p:nvPr/>
        </p:nvSpPr>
        <p:spPr>
          <a:xfrm>
            <a:off x="2560320" y="3977640"/>
            <a:ext cx="1828800" cy="457200"/>
          </a:xfrm>
          <a:prstGeom prst="rect">
            <a:avLst/>
          </a:prstGeom>
          <a:noFill/>
          <a:ln/>
        </p:spPr>
        <p:txBody>
          <a:bodyPr wrap="square" lIns="0" tIns="0" rIns="0" bIns="0" rtlCol="0" anchor="t"/>
          <a:lstStyle/>
          <a:p>
            <a:pPr marL="0" indent="0" algn="ctr">
              <a:buNone/>
            </a:pPr>
            <a:r>
              <a:rPr lang="en-US" sz="1150" dirty="0">
                <a:solidFill>
                  <a:srgbClr val="2B2330"/>
                </a:solidFill>
                <a:latin typeface="Calibri" pitchFamily="34" charset="0"/>
                <a:ea typeface="Calibri" pitchFamily="34" charset="-122"/>
                <a:cs typeface="Calibri" pitchFamily="34" charset="-120"/>
              </a:rPr>
              <a:t>Puede aparecer el factor reumatoide</a:t>
            </a:r>
            <a:endParaRPr lang="en-US" sz="1150" dirty="0"/>
          </a:p>
        </p:txBody>
      </p:sp>
      <p:sp>
        <p:nvSpPr>
          <p:cNvPr id="21" name="Shape 19"/>
          <p:cNvSpPr/>
          <p:nvPr/>
        </p:nvSpPr>
        <p:spPr>
          <a:xfrm>
            <a:off x="8010144" y="3621024"/>
            <a:ext cx="256032" cy="256032"/>
          </a:xfrm>
          <a:prstGeom prst="ellipse">
            <a:avLst/>
          </a:prstGeom>
          <a:solidFill>
            <a:srgbClr val="D9472F"/>
          </a:solidFill>
          <a:ln w="25400">
            <a:solidFill>
              <a:srgbClr val="FFFFFF"/>
            </a:solidFill>
            <a:prstDash val="solid"/>
          </a:ln>
        </p:spPr>
        <p:txBody>
          <a:bodyPr/>
          <a:lstStyle/>
          <a:p>
            <a:endParaRPr lang="es-CO"/>
          </a:p>
        </p:txBody>
      </p:sp>
      <p:sp>
        <p:nvSpPr>
          <p:cNvPr id="22" name="Text 20"/>
          <p:cNvSpPr txBox="1"/>
          <p:nvPr/>
        </p:nvSpPr>
        <p:spPr>
          <a:xfrm>
            <a:off x="7223760" y="3108960"/>
            <a:ext cx="1828800" cy="457200"/>
          </a:xfrm>
          <a:prstGeom prst="rect">
            <a:avLst/>
          </a:prstGeom>
          <a:noFill/>
          <a:ln/>
        </p:spPr>
        <p:txBody>
          <a:bodyPr wrap="square" lIns="0" tIns="0" rIns="0" bIns="0" rtlCol="0" anchor="b"/>
          <a:lstStyle/>
          <a:p>
            <a:pPr marL="0" indent="0" algn="ctr">
              <a:buNone/>
            </a:pPr>
            <a:r>
              <a:rPr lang="en-US" sz="1600" b="1" dirty="0">
                <a:solidFill>
                  <a:srgbClr val="D9472F"/>
                </a:solidFill>
                <a:latin typeface="Cambria" pitchFamily="34" charset="0"/>
                <a:ea typeface="Cambria" pitchFamily="34" charset="-122"/>
                <a:cs typeface="Cambria" pitchFamily="34" charset="-120"/>
              </a:rPr>
              <a:t>Año 0</a:t>
            </a:r>
            <a:endParaRPr lang="en-US" sz="1600" dirty="0"/>
          </a:p>
        </p:txBody>
      </p:sp>
      <p:sp>
        <p:nvSpPr>
          <p:cNvPr id="23" name="Text 21"/>
          <p:cNvSpPr txBox="1"/>
          <p:nvPr/>
        </p:nvSpPr>
        <p:spPr>
          <a:xfrm>
            <a:off x="7223760" y="3977640"/>
            <a:ext cx="1828800" cy="457200"/>
          </a:xfrm>
          <a:prstGeom prst="rect">
            <a:avLst/>
          </a:prstGeom>
          <a:noFill/>
          <a:ln/>
        </p:spPr>
        <p:txBody>
          <a:bodyPr wrap="square" lIns="0" tIns="0" rIns="0" bIns="0" rtlCol="0" anchor="t"/>
          <a:lstStyle/>
          <a:p>
            <a:pPr marL="0" indent="0" algn="ctr">
              <a:buNone/>
            </a:pPr>
            <a:r>
              <a:rPr lang="en-US" sz="1150" dirty="0">
                <a:solidFill>
                  <a:srgbClr val="2B2330"/>
                </a:solidFill>
                <a:latin typeface="Calibri" pitchFamily="34" charset="0"/>
                <a:ea typeface="Calibri" pitchFamily="34" charset="-122"/>
                <a:cs typeface="Calibri" pitchFamily="34" charset="-120"/>
              </a:rPr>
              <a:t>Signos y síntomas de AR</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0A6F98"/>
                </a:solidFill>
                <a:latin typeface="Calibri" pitchFamily="34" charset="0"/>
                <a:ea typeface="Calibri" pitchFamily="34" charset="-122"/>
                <a:cs typeface="Calibri" pitchFamily="34" charset="-120"/>
              </a:rPr>
              <a:t>PISTA 4 · EL LABORATORIO</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Anti-CCP frente a FR: rendimiento</a:t>
            </a:r>
            <a:endParaRPr lang="en-US" sz="29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3. Nishimura K, Sugiyama D, Kogata Y, Tsuji G, Nakazawa T, Kawano S, et al. Meta-analysis: diagnostic accuracy of anti-cyclic citrullinated peptide antibody and rheumatoid factor for rheumatoid arthritis. Ann Intern Med. 2007;146(11):797-808.</a:t>
            </a:r>
            <a:endParaRPr lang="en-US" sz="900" dirty="0"/>
          </a:p>
        </p:txBody>
      </p:sp>
      <p:graphicFrame>
        <p:nvGraphicFramePr>
          <p:cNvPr id="7" name="Chart 0"/>
          <p:cNvGraphicFramePr/>
          <p:nvPr/>
        </p:nvGraphicFramePr>
        <p:xfrm>
          <a:off x="457200" y="1325880"/>
          <a:ext cx="484632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486400" y="1325880"/>
            <a:ext cx="3200400" cy="2560320"/>
          </a:xfrm>
          <a:prstGeom prst="roundRect">
            <a:avLst>
              <a:gd name="adj" fmla="val 3226"/>
            </a:avLst>
          </a:prstGeom>
          <a:solidFill>
            <a:srgbClr val="FFFFFF"/>
          </a:solidFill>
          <a:ln w="19050">
            <a:solidFill>
              <a:srgbClr val="002060"/>
            </a:solidFill>
            <a:prstDash val="solid"/>
          </a:ln>
        </p:spPr>
        <p:txBody>
          <a:bodyPr/>
          <a:lstStyle/>
          <a:p>
            <a:endParaRPr lang="es-CO"/>
          </a:p>
        </p:txBody>
      </p:sp>
      <p:sp>
        <p:nvSpPr>
          <p:cNvPr id="9" name="Text 6"/>
          <p:cNvSpPr txBox="1"/>
          <p:nvPr/>
        </p:nvSpPr>
        <p:spPr>
          <a:xfrm>
            <a:off x="5669280" y="1417320"/>
            <a:ext cx="2834640" cy="365760"/>
          </a:xfrm>
          <a:prstGeom prst="rect">
            <a:avLst/>
          </a:prstGeom>
          <a:noFill/>
          <a:ln/>
        </p:spPr>
        <p:txBody>
          <a:bodyPr wrap="square" lIns="0" tIns="0" rIns="0" bIns="0" rtlCol="0" anchor="t"/>
          <a:lstStyle/>
          <a:p>
            <a:pPr marL="0" indent="0">
              <a:buNone/>
            </a:pPr>
            <a:r>
              <a:rPr lang="en-US" sz="1600" b="1" dirty="0">
                <a:latin typeface="Calibri" pitchFamily="34" charset="0"/>
                <a:ea typeface="Calibri" pitchFamily="34" charset="-122"/>
                <a:cs typeface="Calibri" pitchFamily="34" charset="-120"/>
              </a:rPr>
              <a:t>Cómo leerlo</a:t>
            </a:r>
            <a:endParaRPr lang="en-US" sz="1600" dirty="0"/>
          </a:p>
        </p:txBody>
      </p:sp>
      <p:sp>
        <p:nvSpPr>
          <p:cNvPr id="10" name="Text 7"/>
          <p:cNvSpPr txBox="1"/>
          <p:nvPr/>
        </p:nvSpPr>
        <p:spPr>
          <a:xfrm>
            <a:off x="5586984" y="1846281"/>
            <a:ext cx="2999232" cy="224028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Anti-CCP: más específico (95 %).</a:t>
            </a:r>
            <a:endParaRPr lang="en-US" sz="1600" dirty="0"/>
          </a:p>
          <a:p>
            <a:pPr marL="342900" indent="-342900">
              <a:spcAft>
                <a:spcPts val="700"/>
              </a:spcAft>
              <a:buSzPct val="100000"/>
              <a:buChar char="•"/>
            </a:pPr>
            <a:r>
              <a:rPr lang="en-US" sz="1600" b="1" dirty="0">
                <a:solidFill>
                  <a:srgbClr val="C00000"/>
                </a:solidFill>
                <a:latin typeface="Calibri" pitchFamily="34" charset="0"/>
                <a:ea typeface="Calibri" pitchFamily="34" charset="-122"/>
                <a:cs typeface="Calibri" pitchFamily="34" charset="-120"/>
              </a:rPr>
              <a:t>RV+ del anti-CCP ≈ 12,5</a:t>
            </a:r>
            <a:r>
              <a:rPr lang="en-US" sz="1600" dirty="0">
                <a:solidFill>
                  <a:srgbClr val="141821"/>
                </a:solidFill>
                <a:latin typeface="Calibri" pitchFamily="34" charset="0"/>
                <a:ea typeface="Calibri" pitchFamily="34" charset="-122"/>
                <a:cs typeface="Calibri" pitchFamily="34" charset="-120"/>
              </a:rPr>
              <a:t>: un positivo sube mucho la probabilidad de AR.</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Sensibilidad ≈ 67–69 %: un negativo no descarta AR.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6A4CCF"/>
                </a:solidFill>
                <a:latin typeface="Calibri" pitchFamily="34" charset="0"/>
                <a:ea typeface="Calibri" pitchFamily="34" charset="-122"/>
                <a:cs typeface="Calibri" pitchFamily="34" charset="-120"/>
              </a:rPr>
              <a:t>PISTA 5 · LA IMAGEN</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Radiografía: signos opuestos</a:t>
            </a:r>
            <a:endParaRPr lang="en-US" sz="2900" dirty="0"/>
          </a:p>
        </p:txBody>
      </p:sp>
      <p:sp>
        <p:nvSpPr>
          <p:cNvPr id="4" name="Shape 2"/>
          <p:cNvSpPr/>
          <p:nvPr/>
        </p:nvSpPr>
        <p:spPr>
          <a:xfrm>
            <a:off x="457200" y="4480560"/>
            <a:ext cx="7589520" cy="0"/>
          </a:xfrm>
          <a:prstGeom prst="line">
            <a:avLst/>
          </a:prstGeom>
          <a:noFill/>
          <a:ln w="9525">
            <a:solidFill>
              <a:srgbClr val="C4CCE0"/>
            </a:solidFill>
            <a:prstDash val="solid"/>
          </a:ln>
        </p:spPr>
        <p:txBody>
          <a:bodyPr/>
          <a:lstStyle/>
          <a:p>
            <a:endParaRPr lang="es-CO"/>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5. Ezzati F, Pezeshk P. Radiographic findings of inflammatory arthritis and mimics in the hands. Diagnostics (Basel). 2022;12(9):2134.</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6. Katz JN, Arant KR, Loeser RF. Diagnosis and treatment of hip and knee osteoarthritis: a review. JAMA. 2021;325(6):568-78.</a:t>
            </a:r>
            <a:endParaRPr lang="en-US" sz="900" dirty="0"/>
          </a:p>
        </p:txBody>
      </p:sp>
      <p:sp>
        <p:nvSpPr>
          <p:cNvPr id="7" name="Shape 5"/>
          <p:cNvSpPr/>
          <p:nvPr/>
        </p:nvSpPr>
        <p:spPr>
          <a:xfrm>
            <a:off x="457200" y="1280160"/>
            <a:ext cx="4023360" cy="2743200"/>
          </a:xfrm>
          <a:prstGeom prst="roundRect">
            <a:avLst>
              <a:gd name="adj" fmla="val 3333"/>
            </a:avLst>
          </a:prstGeom>
          <a:solidFill>
            <a:srgbClr val="FFFFFF"/>
          </a:solidFill>
          <a:ln w="19050">
            <a:solidFill>
              <a:srgbClr val="F2546B"/>
            </a:solidFill>
            <a:prstDash val="solid"/>
          </a:ln>
        </p:spPr>
        <p:txBody>
          <a:bodyPr/>
          <a:lstStyle/>
          <a:p>
            <a:endParaRPr lang="es-CO"/>
          </a:p>
        </p:txBody>
      </p:sp>
      <p:sp>
        <p:nvSpPr>
          <p:cNvPr id="8" name="Text 6"/>
          <p:cNvSpPr txBox="1"/>
          <p:nvPr/>
        </p:nvSpPr>
        <p:spPr>
          <a:xfrm>
            <a:off x="640080" y="1371600"/>
            <a:ext cx="3657600" cy="365760"/>
          </a:xfrm>
          <a:prstGeom prst="rect">
            <a:avLst/>
          </a:prstGeom>
          <a:noFill/>
          <a:ln/>
        </p:spPr>
        <p:txBody>
          <a:bodyPr wrap="square" lIns="0" tIns="0" rIns="0" bIns="0" rtlCol="0" anchor="t"/>
          <a:lstStyle/>
          <a:p>
            <a:pPr marL="0" indent="0">
              <a:buNone/>
            </a:pPr>
            <a:r>
              <a:rPr lang="en-US" sz="1650" b="1" dirty="0">
                <a:solidFill>
                  <a:srgbClr val="C81E43"/>
                </a:solidFill>
                <a:latin typeface="Calibri" pitchFamily="34" charset="0"/>
                <a:ea typeface="Calibri" pitchFamily="34" charset="-122"/>
                <a:cs typeface="Calibri" pitchFamily="34" charset="-120"/>
              </a:rPr>
              <a:t>Artritis reumatoide</a:t>
            </a:r>
            <a:endParaRPr lang="en-US" sz="1650" dirty="0"/>
          </a:p>
        </p:txBody>
      </p:sp>
      <p:sp>
        <p:nvSpPr>
          <p:cNvPr id="9" name="Text 7"/>
          <p:cNvSpPr txBox="1"/>
          <p:nvPr/>
        </p:nvSpPr>
        <p:spPr>
          <a:xfrm>
            <a:off x="685800" y="1828800"/>
            <a:ext cx="3611880" cy="2148840"/>
          </a:xfrm>
          <a:prstGeom prst="rect">
            <a:avLst/>
          </a:prstGeom>
          <a:noFill/>
          <a:ln/>
        </p:spPr>
        <p:txBody>
          <a:bodyPr wrap="square" lIns="0" tIns="0" rIns="0" bIns="0" rtlCol="0" anchor="t"/>
          <a:lstStyle/>
          <a:p>
            <a:pPr marL="342900" indent="-342900">
              <a:spcAft>
                <a:spcPts val="700"/>
              </a:spcAft>
              <a:buSzPct val="100000"/>
              <a:buChar char="•"/>
            </a:pPr>
            <a:r>
              <a:rPr lang="en-US" dirty="0">
                <a:solidFill>
                  <a:srgbClr val="141821"/>
                </a:solidFill>
                <a:latin typeface="Calibri" pitchFamily="34" charset="0"/>
                <a:ea typeface="Calibri" pitchFamily="34" charset="-122"/>
                <a:cs typeface="Calibri" pitchFamily="34" charset="-120"/>
              </a:rPr>
              <a:t>Erosiones marginales.</a:t>
            </a:r>
            <a:endParaRPr lang="en-US" dirty="0"/>
          </a:p>
          <a:p>
            <a:pPr marL="342900" indent="-342900">
              <a:spcAft>
                <a:spcPts val="700"/>
              </a:spcAft>
              <a:buSzPct val="100000"/>
              <a:buChar char="•"/>
            </a:pPr>
            <a:r>
              <a:rPr lang="en-US" dirty="0">
                <a:solidFill>
                  <a:srgbClr val="141821"/>
                </a:solidFill>
                <a:latin typeface="Calibri" pitchFamily="34" charset="0"/>
                <a:ea typeface="Calibri" pitchFamily="34" charset="-122"/>
                <a:cs typeface="Calibri" pitchFamily="34" charset="-120"/>
              </a:rPr>
              <a:t>Osteopenia yuxtaarticular.</a:t>
            </a:r>
            <a:endParaRPr lang="en-US" dirty="0"/>
          </a:p>
          <a:p>
            <a:pPr marL="342900" indent="-342900">
              <a:spcAft>
                <a:spcPts val="700"/>
              </a:spcAft>
              <a:buSzPct val="100000"/>
              <a:buChar char="•"/>
            </a:pPr>
            <a:r>
              <a:rPr lang="en-US" dirty="0">
                <a:solidFill>
                  <a:srgbClr val="141821"/>
                </a:solidFill>
                <a:latin typeface="Calibri" pitchFamily="34" charset="0"/>
                <a:ea typeface="Calibri" pitchFamily="34" charset="-122"/>
                <a:cs typeface="Calibri" pitchFamily="34" charset="-120"/>
              </a:rPr>
              <a:t>Pinzamiento articular uniforme.</a:t>
            </a:r>
            <a:endParaRPr lang="en-US" dirty="0"/>
          </a:p>
          <a:p>
            <a:pPr marL="342900" indent="-342900">
              <a:spcAft>
                <a:spcPts val="700"/>
              </a:spcAft>
              <a:buSzPct val="100000"/>
              <a:buChar char="•"/>
            </a:pPr>
            <a:r>
              <a:rPr lang="es-CO" dirty="0"/>
              <a:t>Osteofitos no característicos de la AR aislada</a:t>
            </a:r>
            <a:r>
              <a:rPr lang="en-US" dirty="0">
                <a:solidFill>
                  <a:srgbClr val="141821"/>
                </a:solidFill>
                <a:latin typeface="Calibri" pitchFamily="34" charset="0"/>
                <a:ea typeface="Calibri" pitchFamily="34" charset="-122"/>
                <a:cs typeface="Calibri" pitchFamily="34" charset="-120"/>
              </a:rPr>
              <a:t>.</a:t>
            </a:r>
            <a:endParaRPr lang="en-US" dirty="0"/>
          </a:p>
        </p:txBody>
      </p:sp>
      <p:sp>
        <p:nvSpPr>
          <p:cNvPr id="10" name="Shape 8"/>
          <p:cNvSpPr/>
          <p:nvPr/>
        </p:nvSpPr>
        <p:spPr>
          <a:xfrm>
            <a:off x="4663440" y="1280160"/>
            <a:ext cx="4023360" cy="2743200"/>
          </a:xfrm>
          <a:prstGeom prst="roundRect">
            <a:avLst>
              <a:gd name="adj" fmla="val 3333"/>
            </a:avLst>
          </a:prstGeom>
          <a:solidFill>
            <a:srgbClr val="FFFFFF"/>
          </a:solidFill>
          <a:ln w="19050">
            <a:solidFill>
              <a:srgbClr val="002060"/>
            </a:solidFill>
            <a:prstDash val="solid"/>
          </a:ln>
        </p:spPr>
        <p:txBody>
          <a:bodyPr/>
          <a:lstStyle/>
          <a:p>
            <a:endParaRPr lang="es-CO">
              <a:solidFill>
                <a:srgbClr val="002060"/>
              </a:solidFill>
            </a:endParaRPr>
          </a:p>
        </p:txBody>
      </p:sp>
      <p:sp>
        <p:nvSpPr>
          <p:cNvPr id="11" name="Text 9"/>
          <p:cNvSpPr txBox="1"/>
          <p:nvPr/>
        </p:nvSpPr>
        <p:spPr>
          <a:xfrm>
            <a:off x="4846320" y="1371600"/>
            <a:ext cx="3657600" cy="365760"/>
          </a:xfrm>
          <a:prstGeom prst="rect">
            <a:avLst/>
          </a:prstGeom>
          <a:noFill/>
          <a:ln/>
        </p:spPr>
        <p:txBody>
          <a:bodyPr wrap="square" lIns="0" tIns="0" rIns="0" bIns="0" rtlCol="0" anchor="t"/>
          <a:lstStyle/>
          <a:p>
            <a:pPr marL="0" indent="0">
              <a:buNone/>
            </a:pPr>
            <a:r>
              <a:rPr lang="en-US" sz="1650" b="1" dirty="0">
                <a:solidFill>
                  <a:srgbClr val="002060"/>
                </a:solidFill>
                <a:latin typeface="Calibri" pitchFamily="34" charset="0"/>
                <a:ea typeface="Calibri" pitchFamily="34" charset="-122"/>
                <a:cs typeface="Calibri" pitchFamily="34" charset="-120"/>
              </a:rPr>
              <a:t>Artrosis</a:t>
            </a:r>
            <a:endParaRPr lang="en-US" sz="1650" dirty="0">
              <a:solidFill>
                <a:srgbClr val="002060"/>
              </a:solidFill>
            </a:endParaRPr>
          </a:p>
        </p:txBody>
      </p:sp>
      <p:sp>
        <p:nvSpPr>
          <p:cNvPr id="12" name="Text 10"/>
          <p:cNvSpPr txBox="1"/>
          <p:nvPr/>
        </p:nvSpPr>
        <p:spPr>
          <a:xfrm>
            <a:off x="4892040" y="1828800"/>
            <a:ext cx="3611880" cy="2148840"/>
          </a:xfrm>
          <a:prstGeom prst="rect">
            <a:avLst/>
          </a:prstGeom>
          <a:noFill/>
          <a:ln/>
        </p:spPr>
        <p:txBody>
          <a:bodyPr wrap="square" lIns="0" tIns="0" rIns="0" bIns="0" rtlCol="0" anchor="t"/>
          <a:lstStyle/>
          <a:p>
            <a:pPr marL="342900" indent="-342900">
              <a:spcAft>
                <a:spcPts val="700"/>
              </a:spcAft>
              <a:buSzPct val="100000"/>
              <a:buChar char="•"/>
            </a:pPr>
            <a:r>
              <a:rPr lang="en-US" dirty="0" err="1">
                <a:solidFill>
                  <a:srgbClr val="141821"/>
                </a:solidFill>
                <a:latin typeface="Calibri" pitchFamily="34" charset="0"/>
                <a:ea typeface="Calibri" pitchFamily="34" charset="-122"/>
                <a:cs typeface="Calibri" pitchFamily="34" charset="-120"/>
              </a:rPr>
              <a:t>Osteofitos</a:t>
            </a:r>
            <a:r>
              <a:rPr lang="en-US" dirty="0">
                <a:solidFill>
                  <a:srgbClr val="141821"/>
                </a:solidFill>
                <a:latin typeface="Calibri" pitchFamily="34" charset="0"/>
                <a:ea typeface="Calibri" pitchFamily="34" charset="-122"/>
                <a:cs typeface="Calibri" pitchFamily="34" charset="-120"/>
              </a:rPr>
              <a:t> </a:t>
            </a:r>
            <a:endParaRPr lang="en-US" dirty="0"/>
          </a:p>
          <a:p>
            <a:pPr marL="342900" indent="-342900">
              <a:spcAft>
                <a:spcPts val="700"/>
              </a:spcAft>
              <a:buSzPct val="100000"/>
              <a:buChar char="•"/>
            </a:pPr>
            <a:r>
              <a:rPr lang="en-US" dirty="0">
                <a:solidFill>
                  <a:srgbClr val="141821"/>
                </a:solidFill>
                <a:latin typeface="Calibri" pitchFamily="34" charset="0"/>
                <a:ea typeface="Calibri" pitchFamily="34" charset="-122"/>
                <a:cs typeface="Calibri" pitchFamily="34" charset="-120"/>
              </a:rPr>
              <a:t>Esclerosis subcondral y quistes.</a:t>
            </a:r>
            <a:endParaRPr lang="en-US" dirty="0"/>
          </a:p>
          <a:p>
            <a:pPr marL="342900" indent="-342900">
              <a:spcAft>
                <a:spcPts val="700"/>
              </a:spcAft>
              <a:buSzPct val="100000"/>
              <a:buChar char="•"/>
            </a:pPr>
            <a:r>
              <a:rPr lang="en-US" dirty="0">
                <a:solidFill>
                  <a:srgbClr val="141821"/>
                </a:solidFill>
                <a:latin typeface="Calibri" pitchFamily="34" charset="0"/>
                <a:ea typeface="Calibri" pitchFamily="34" charset="-122"/>
                <a:cs typeface="Calibri" pitchFamily="34" charset="-120"/>
              </a:rPr>
              <a:t>Pinzamiento asimétrico.</a:t>
            </a:r>
            <a:endParaRPr lang="en-US" dirty="0"/>
          </a:p>
          <a:p>
            <a:pPr marL="342900" indent="-342900">
              <a:spcAft>
                <a:spcPts val="700"/>
              </a:spcAft>
              <a:buSzPct val="100000"/>
              <a:buChar char="•"/>
            </a:pPr>
            <a:r>
              <a:rPr lang="en-US" dirty="0">
                <a:solidFill>
                  <a:srgbClr val="141821"/>
                </a:solidFill>
                <a:latin typeface="Calibri" pitchFamily="34" charset="0"/>
                <a:ea typeface="Calibri" pitchFamily="34" charset="-122"/>
                <a:cs typeface="Calibri" pitchFamily="34" charset="-120"/>
              </a:rPr>
              <a:t>Sin </a:t>
            </a:r>
            <a:r>
              <a:rPr lang="en-US" dirty="0" err="1">
                <a:solidFill>
                  <a:srgbClr val="141821"/>
                </a:solidFill>
                <a:latin typeface="Calibri" pitchFamily="34" charset="0"/>
                <a:ea typeface="Calibri" pitchFamily="34" charset="-122"/>
                <a:cs typeface="Calibri" pitchFamily="34" charset="-120"/>
              </a:rPr>
              <a:t>erosiones</a:t>
            </a:r>
            <a:r>
              <a:rPr lang="en-US" dirty="0">
                <a:solidFill>
                  <a:srgbClr val="141821"/>
                </a:solidFill>
                <a:latin typeface="Calibri" pitchFamily="34" charset="0"/>
                <a:ea typeface="Calibri" pitchFamily="34" charset="-122"/>
                <a:cs typeface="Calibri" pitchFamily="34" charset="-120"/>
              </a:rPr>
              <a:t>.</a:t>
            </a:r>
          </a:p>
          <a:p>
            <a:pPr>
              <a:spcAft>
                <a:spcPts val="700"/>
              </a:spcAft>
              <a:buSzPct val="100000"/>
            </a:pPr>
            <a:r>
              <a:rPr lang="en-US" sz="1400" dirty="0">
                <a:solidFill>
                  <a:srgbClr val="141821"/>
                </a:solidFill>
                <a:latin typeface="Calibri" pitchFamily="34" charset="0"/>
                <a:cs typeface="Calibri" pitchFamily="34" charset="-120"/>
              </a:rPr>
              <a:t>*</a:t>
            </a:r>
            <a:r>
              <a:rPr lang="es-CO" sz="1400" dirty="0">
                <a:solidFill>
                  <a:srgbClr val="141821"/>
                </a:solidFill>
                <a:latin typeface="Calibri" pitchFamily="34" charset="0"/>
                <a:cs typeface="Calibri" pitchFamily="34" charset="-120"/>
              </a:rPr>
              <a:t>E</a:t>
            </a:r>
            <a:r>
              <a:rPr lang="es-CO" sz="1400" dirty="0"/>
              <a:t>rosiones centrales posibles en artrosis erosiva de manos</a:t>
            </a:r>
            <a:endParaRPr lang="en-US" sz="1400" dirty="0"/>
          </a:p>
        </p:txBody>
      </p:sp>
      <p:sp>
        <p:nvSpPr>
          <p:cNvPr id="13" name="Shape 11"/>
          <p:cNvSpPr/>
          <p:nvPr/>
        </p:nvSpPr>
        <p:spPr>
          <a:xfrm>
            <a:off x="457200" y="4114800"/>
            <a:ext cx="8229600" cy="347472"/>
          </a:xfrm>
          <a:prstGeom prst="roundRect">
            <a:avLst>
              <a:gd name="adj" fmla="val 26316"/>
            </a:avLst>
          </a:prstGeom>
          <a:solidFill>
            <a:srgbClr val="2EC4B6">
              <a:alpha val="10000"/>
            </a:srgbClr>
          </a:solidFill>
          <a:ln w="19050">
            <a:solidFill>
              <a:srgbClr val="2EC4B6"/>
            </a:solidFill>
            <a:prstDash val="solid"/>
          </a:ln>
        </p:spPr>
        <p:txBody>
          <a:bodyPr/>
          <a:lstStyle/>
          <a:p>
            <a:endParaRPr lang="es-CO"/>
          </a:p>
        </p:txBody>
      </p:sp>
      <p:sp>
        <p:nvSpPr>
          <p:cNvPr id="14" name="Text 12"/>
          <p:cNvSpPr txBox="1"/>
          <p:nvPr/>
        </p:nvSpPr>
        <p:spPr>
          <a:xfrm>
            <a:off x="512064" y="4114800"/>
            <a:ext cx="8119872" cy="347472"/>
          </a:xfrm>
          <a:prstGeom prst="rect">
            <a:avLst/>
          </a:prstGeom>
          <a:noFill/>
          <a:ln/>
        </p:spPr>
        <p:txBody>
          <a:bodyPr wrap="square" lIns="0" tIns="0" rIns="0" bIns="0" rtlCol="0" anchor="ctr"/>
          <a:lstStyle/>
          <a:p>
            <a:pPr algn="ctr"/>
            <a:r>
              <a:rPr lang="es-CO" sz="1400" dirty="0"/>
              <a:t>Ecografía: hipertrofia sinovial y señal Doppler | RM: sinovitis, osteítis y erosiones precoces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6A4CCF"/>
                </a:solidFill>
                <a:latin typeface="Calibri" pitchFamily="34" charset="0"/>
                <a:ea typeface="Calibri" pitchFamily="34" charset="-122"/>
                <a:cs typeface="Calibri" pitchFamily="34" charset="-120"/>
              </a:rPr>
              <a:t>HERRAMIENTA</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Criterios de clasificación ACR/EULAR 2010</a:t>
            </a:r>
            <a:endParaRPr lang="en-US" sz="2900" dirty="0"/>
          </a:p>
        </p:txBody>
      </p:sp>
      <p:sp>
        <p:nvSpPr>
          <p:cNvPr id="4" name="Shape 2"/>
          <p:cNvSpPr/>
          <p:nvPr/>
        </p:nvSpPr>
        <p:spPr>
          <a:xfrm>
            <a:off x="457200" y="4480560"/>
            <a:ext cx="7589520" cy="0"/>
          </a:xfrm>
          <a:prstGeom prst="line">
            <a:avLst/>
          </a:prstGeom>
          <a:noFill/>
          <a:ln w="9525">
            <a:solidFill>
              <a:srgbClr val="C4CCE0"/>
            </a:solidFill>
            <a:prstDash val="solid"/>
          </a:ln>
        </p:spPr>
        <p:txBody>
          <a:bodyPr/>
          <a:lstStyle/>
          <a:p>
            <a:endParaRPr lang="es-CO"/>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2. Aletaha D, Neogi T, Silman AJ, Funovits J, Felson DT, Bingham CO 3rd, et al. 2010 rheumatoid arthritis classification criteria: an ACR/EULAR collaborative initiative. Ann Rheum Dis. 2010;69(9):1580-8.</a:t>
            </a:r>
            <a:endParaRPr lang="en-US" sz="900" dirty="0"/>
          </a:p>
        </p:txBody>
      </p:sp>
      <p:sp>
        <p:nvSpPr>
          <p:cNvPr id="7" name="Shape 5"/>
          <p:cNvSpPr/>
          <p:nvPr/>
        </p:nvSpPr>
        <p:spPr>
          <a:xfrm>
            <a:off x="457200" y="1234440"/>
            <a:ext cx="4114800" cy="2788920"/>
          </a:xfrm>
          <a:prstGeom prst="roundRect">
            <a:avLst>
              <a:gd name="adj" fmla="val 3279"/>
            </a:avLst>
          </a:prstGeom>
          <a:solidFill>
            <a:srgbClr val="FFFFFF"/>
          </a:solidFill>
          <a:ln w="19050">
            <a:solidFill>
              <a:srgbClr val="A78BFA"/>
            </a:solidFill>
            <a:prstDash val="solid"/>
          </a:ln>
        </p:spPr>
        <p:txBody>
          <a:bodyPr/>
          <a:lstStyle/>
          <a:p>
            <a:endParaRPr lang="es-CO"/>
          </a:p>
        </p:txBody>
      </p:sp>
      <p:sp>
        <p:nvSpPr>
          <p:cNvPr id="8" name="Text 6"/>
          <p:cNvSpPr txBox="1"/>
          <p:nvPr/>
        </p:nvSpPr>
        <p:spPr>
          <a:xfrm>
            <a:off x="594360" y="1325880"/>
            <a:ext cx="3840480" cy="320040"/>
          </a:xfrm>
          <a:prstGeom prst="rect">
            <a:avLst/>
          </a:prstGeom>
          <a:noFill/>
          <a:ln/>
        </p:spPr>
        <p:txBody>
          <a:bodyPr wrap="square" lIns="0" tIns="0" rIns="0" bIns="0" rtlCol="0" anchor="t"/>
          <a:lstStyle/>
          <a:p>
            <a:pPr marL="0" indent="0">
              <a:buNone/>
            </a:pPr>
            <a:r>
              <a:rPr lang="en-US" sz="1400" b="1" dirty="0">
                <a:solidFill>
                  <a:srgbClr val="6A4CCF"/>
                </a:solidFill>
                <a:latin typeface="Calibri" pitchFamily="34" charset="0"/>
                <a:ea typeface="Calibri" pitchFamily="34" charset="-122"/>
                <a:cs typeface="Calibri" pitchFamily="34" charset="-120"/>
              </a:rPr>
              <a:t>Dominio articular (0–5)</a:t>
            </a:r>
            <a:endParaRPr lang="en-US" sz="1400" dirty="0"/>
          </a:p>
        </p:txBody>
      </p:sp>
      <p:sp>
        <p:nvSpPr>
          <p:cNvPr id="9" name="Text 7"/>
          <p:cNvSpPr txBox="1"/>
          <p:nvPr/>
        </p:nvSpPr>
        <p:spPr>
          <a:xfrm>
            <a:off x="640080" y="1691640"/>
            <a:ext cx="1280160" cy="329184"/>
          </a:xfrm>
          <a:prstGeom prst="rect">
            <a:avLst/>
          </a:prstGeom>
          <a:noFill/>
          <a:ln/>
        </p:spPr>
        <p:txBody>
          <a:bodyPr wrap="square" lIns="0" tIns="0" rIns="0" bIns="0" rtlCol="0" anchor="ctr"/>
          <a:lstStyle/>
          <a:p>
            <a:pPr marL="0" indent="0">
              <a:buNone/>
            </a:pPr>
            <a:r>
              <a:rPr lang="en-US" sz="1200" b="1" dirty="0">
                <a:solidFill>
                  <a:srgbClr val="141821"/>
                </a:solidFill>
                <a:latin typeface="Calibri" pitchFamily="34" charset="0"/>
                <a:ea typeface="Calibri" pitchFamily="34" charset="-122"/>
                <a:cs typeface="Calibri" pitchFamily="34" charset="-120"/>
              </a:rPr>
              <a:t>Articulaciones</a:t>
            </a:r>
            <a:endParaRPr lang="en-US" sz="1200" dirty="0"/>
          </a:p>
        </p:txBody>
      </p:sp>
      <p:sp>
        <p:nvSpPr>
          <p:cNvPr id="10" name="Text 8"/>
          <p:cNvSpPr txBox="1"/>
          <p:nvPr/>
        </p:nvSpPr>
        <p:spPr>
          <a:xfrm>
            <a:off x="1874520" y="1691640"/>
            <a:ext cx="2011680" cy="329184"/>
          </a:xfrm>
          <a:prstGeom prst="rect">
            <a:avLst/>
          </a:prstGeom>
          <a:noFill/>
          <a:ln/>
        </p:spPr>
        <p:txBody>
          <a:bodyPr wrap="square" lIns="0" tIns="0" rIns="0" bIns="0" rtlCol="0" anchor="ctr"/>
          <a:lstStyle/>
          <a:p>
            <a:pPr marL="0" indent="0">
              <a:buNone/>
            </a:pPr>
            <a:r>
              <a:rPr lang="en-US" sz="1200" dirty="0">
                <a:solidFill>
                  <a:srgbClr val="141821"/>
                </a:solidFill>
                <a:latin typeface="Calibri" pitchFamily="34" charset="0"/>
                <a:ea typeface="Calibri" pitchFamily="34" charset="-122"/>
                <a:cs typeface="Calibri" pitchFamily="34" charset="-120"/>
              </a:rPr>
              <a:t>1 grande</a:t>
            </a:r>
            <a:endParaRPr lang="en-US" sz="1200" dirty="0"/>
          </a:p>
        </p:txBody>
      </p:sp>
      <p:sp>
        <p:nvSpPr>
          <p:cNvPr id="11" name="Shape 9"/>
          <p:cNvSpPr/>
          <p:nvPr/>
        </p:nvSpPr>
        <p:spPr>
          <a:xfrm>
            <a:off x="3977640" y="1700784"/>
            <a:ext cx="310896" cy="310896"/>
          </a:xfrm>
          <a:prstGeom prst="ellipse">
            <a:avLst/>
          </a:prstGeom>
          <a:solidFill>
            <a:srgbClr val="A78BFA"/>
          </a:solidFill>
          <a:ln w="12700">
            <a:solidFill>
              <a:srgbClr val="A78BFA"/>
            </a:solidFill>
            <a:prstDash val="solid"/>
          </a:ln>
        </p:spPr>
        <p:txBody>
          <a:bodyPr/>
          <a:lstStyle/>
          <a:p>
            <a:endParaRPr lang="es-CO"/>
          </a:p>
        </p:txBody>
      </p:sp>
      <p:sp>
        <p:nvSpPr>
          <p:cNvPr id="12" name="Text 10"/>
          <p:cNvSpPr txBox="1"/>
          <p:nvPr/>
        </p:nvSpPr>
        <p:spPr>
          <a:xfrm>
            <a:off x="3977640" y="170078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3" name="Text 11"/>
          <p:cNvSpPr txBox="1"/>
          <p:nvPr/>
        </p:nvSpPr>
        <p:spPr>
          <a:xfrm>
            <a:off x="640080" y="2148840"/>
            <a:ext cx="1280160" cy="329184"/>
          </a:xfrm>
          <a:prstGeom prst="rect">
            <a:avLst/>
          </a:prstGeom>
          <a:noFill/>
          <a:ln/>
        </p:spPr>
        <p:txBody>
          <a:bodyPr wrap="square" lIns="0" tIns="0" rIns="0" bIns="0" rtlCol="0" anchor="ctr"/>
          <a:lstStyle/>
          <a:p>
            <a:pPr marL="0" indent="0">
              <a:buNone/>
            </a:pPr>
            <a:endParaRPr lang="en-US" sz="1200" dirty="0"/>
          </a:p>
        </p:txBody>
      </p:sp>
      <p:sp>
        <p:nvSpPr>
          <p:cNvPr id="14" name="Text 12"/>
          <p:cNvSpPr txBox="1"/>
          <p:nvPr/>
        </p:nvSpPr>
        <p:spPr>
          <a:xfrm>
            <a:off x="1874520" y="2148840"/>
            <a:ext cx="2011680" cy="329184"/>
          </a:xfrm>
          <a:prstGeom prst="rect">
            <a:avLst/>
          </a:prstGeom>
          <a:noFill/>
          <a:ln/>
        </p:spPr>
        <p:txBody>
          <a:bodyPr wrap="square" lIns="0" tIns="0" rIns="0" bIns="0" rtlCol="0" anchor="ctr"/>
          <a:lstStyle/>
          <a:p>
            <a:pPr marL="0" indent="0">
              <a:buNone/>
            </a:pPr>
            <a:r>
              <a:rPr lang="en-US" sz="1200" dirty="0">
                <a:solidFill>
                  <a:srgbClr val="141821"/>
                </a:solidFill>
                <a:latin typeface="Calibri" pitchFamily="34" charset="0"/>
                <a:ea typeface="Calibri" pitchFamily="34" charset="-122"/>
                <a:cs typeface="Calibri" pitchFamily="34" charset="-120"/>
              </a:rPr>
              <a:t>2–10 grandes</a:t>
            </a:r>
            <a:endParaRPr lang="en-US" sz="1200" dirty="0"/>
          </a:p>
        </p:txBody>
      </p:sp>
      <p:sp>
        <p:nvSpPr>
          <p:cNvPr id="15" name="Shape 13"/>
          <p:cNvSpPr/>
          <p:nvPr/>
        </p:nvSpPr>
        <p:spPr>
          <a:xfrm>
            <a:off x="3977640" y="2157984"/>
            <a:ext cx="310896" cy="310896"/>
          </a:xfrm>
          <a:prstGeom prst="ellipse">
            <a:avLst/>
          </a:prstGeom>
          <a:solidFill>
            <a:srgbClr val="A78BFA"/>
          </a:solidFill>
          <a:ln w="12700">
            <a:solidFill>
              <a:srgbClr val="A78BFA"/>
            </a:solidFill>
            <a:prstDash val="solid"/>
          </a:ln>
        </p:spPr>
        <p:txBody>
          <a:bodyPr/>
          <a:lstStyle/>
          <a:p>
            <a:endParaRPr lang="es-CO"/>
          </a:p>
        </p:txBody>
      </p:sp>
      <p:sp>
        <p:nvSpPr>
          <p:cNvPr id="16" name="Text 14"/>
          <p:cNvSpPr txBox="1"/>
          <p:nvPr/>
        </p:nvSpPr>
        <p:spPr>
          <a:xfrm>
            <a:off x="3977640" y="215798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7" name="Text 15"/>
          <p:cNvSpPr txBox="1"/>
          <p:nvPr/>
        </p:nvSpPr>
        <p:spPr>
          <a:xfrm>
            <a:off x="640080" y="2606040"/>
            <a:ext cx="1280160" cy="329184"/>
          </a:xfrm>
          <a:prstGeom prst="rect">
            <a:avLst/>
          </a:prstGeom>
          <a:noFill/>
          <a:ln/>
        </p:spPr>
        <p:txBody>
          <a:bodyPr wrap="square" lIns="0" tIns="0" rIns="0" bIns="0" rtlCol="0" anchor="ctr"/>
          <a:lstStyle/>
          <a:p>
            <a:pPr marL="0" indent="0">
              <a:buNone/>
            </a:pPr>
            <a:endParaRPr lang="en-US" sz="1200" dirty="0"/>
          </a:p>
        </p:txBody>
      </p:sp>
      <p:sp>
        <p:nvSpPr>
          <p:cNvPr id="18" name="Text 16"/>
          <p:cNvSpPr txBox="1"/>
          <p:nvPr/>
        </p:nvSpPr>
        <p:spPr>
          <a:xfrm>
            <a:off x="1874520" y="2606040"/>
            <a:ext cx="2011680" cy="329184"/>
          </a:xfrm>
          <a:prstGeom prst="rect">
            <a:avLst/>
          </a:prstGeom>
          <a:noFill/>
          <a:ln/>
        </p:spPr>
        <p:txBody>
          <a:bodyPr wrap="square" lIns="0" tIns="0" rIns="0" bIns="0" rtlCol="0" anchor="ctr"/>
          <a:lstStyle/>
          <a:p>
            <a:pPr marL="0" indent="0">
              <a:buNone/>
            </a:pPr>
            <a:r>
              <a:rPr lang="en-US" sz="1200" dirty="0">
                <a:solidFill>
                  <a:srgbClr val="141821"/>
                </a:solidFill>
                <a:latin typeface="Calibri" pitchFamily="34" charset="0"/>
                <a:ea typeface="Calibri" pitchFamily="34" charset="-122"/>
                <a:cs typeface="Calibri" pitchFamily="34" charset="-120"/>
              </a:rPr>
              <a:t>1–3 pequeñas</a:t>
            </a:r>
            <a:endParaRPr lang="en-US" sz="1200" dirty="0"/>
          </a:p>
        </p:txBody>
      </p:sp>
      <p:sp>
        <p:nvSpPr>
          <p:cNvPr id="19" name="Shape 17"/>
          <p:cNvSpPr/>
          <p:nvPr/>
        </p:nvSpPr>
        <p:spPr>
          <a:xfrm>
            <a:off x="3977640" y="2615184"/>
            <a:ext cx="310896" cy="310896"/>
          </a:xfrm>
          <a:prstGeom prst="ellipse">
            <a:avLst/>
          </a:prstGeom>
          <a:solidFill>
            <a:srgbClr val="A78BFA"/>
          </a:solidFill>
          <a:ln w="12700">
            <a:solidFill>
              <a:srgbClr val="A78BFA"/>
            </a:solidFill>
            <a:prstDash val="solid"/>
          </a:ln>
        </p:spPr>
        <p:txBody>
          <a:bodyPr/>
          <a:lstStyle/>
          <a:p>
            <a:endParaRPr lang="es-CO"/>
          </a:p>
        </p:txBody>
      </p:sp>
      <p:sp>
        <p:nvSpPr>
          <p:cNvPr id="20" name="Text 18"/>
          <p:cNvSpPr txBox="1"/>
          <p:nvPr/>
        </p:nvSpPr>
        <p:spPr>
          <a:xfrm>
            <a:off x="3977640" y="261518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9"/>
          <p:cNvSpPr txBox="1"/>
          <p:nvPr/>
        </p:nvSpPr>
        <p:spPr>
          <a:xfrm>
            <a:off x="640080" y="3063240"/>
            <a:ext cx="1280160" cy="329184"/>
          </a:xfrm>
          <a:prstGeom prst="rect">
            <a:avLst/>
          </a:prstGeom>
          <a:noFill/>
          <a:ln/>
        </p:spPr>
        <p:txBody>
          <a:bodyPr wrap="square" lIns="0" tIns="0" rIns="0" bIns="0" rtlCol="0" anchor="ctr"/>
          <a:lstStyle/>
          <a:p>
            <a:pPr marL="0" indent="0">
              <a:buNone/>
            </a:pPr>
            <a:endParaRPr lang="en-US" sz="1200" dirty="0"/>
          </a:p>
        </p:txBody>
      </p:sp>
      <p:sp>
        <p:nvSpPr>
          <p:cNvPr id="22" name="Text 20"/>
          <p:cNvSpPr txBox="1"/>
          <p:nvPr/>
        </p:nvSpPr>
        <p:spPr>
          <a:xfrm>
            <a:off x="1874520" y="3063240"/>
            <a:ext cx="2011680" cy="329184"/>
          </a:xfrm>
          <a:prstGeom prst="rect">
            <a:avLst/>
          </a:prstGeom>
          <a:noFill/>
          <a:ln/>
        </p:spPr>
        <p:txBody>
          <a:bodyPr wrap="square" lIns="0" tIns="0" rIns="0" bIns="0" rtlCol="0" anchor="ctr"/>
          <a:lstStyle/>
          <a:p>
            <a:pPr marL="0" indent="0">
              <a:buNone/>
            </a:pPr>
            <a:r>
              <a:rPr lang="en-US" sz="1200" dirty="0">
                <a:solidFill>
                  <a:srgbClr val="141821"/>
                </a:solidFill>
                <a:latin typeface="Calibri" pitchFamily="34" charset="0"/>
                <a:ea typeface="Calibri" pitchFamily="34" charset="-122"/>
                <a:cs typeface="Calibri" pitchFamily="34" charset="-120"/>
              </a:rPr>
              <a:t>4–10 pequeñas</a:t>
            </a:r>
            <a:endParaRPr lang="en-US" sz="1200" dirty="0"/>
          </a:p>
        </p:txBody>
      </p:sp>
      <p:sp>
        <p:nvSpPr>
          <p:cNvPr id="23" name="Shape 21"/>
          <p:cNvSpPr/>
          <p:nvPr/>
        </p:nvSpPr>
        <p:spPr>
          <a:xfrm>
            <a:off x="3977640" y="3072384"/>
            <a:ext cx="310896" cy="310896"/>
          </a:xfrm>
          <a:prstGeom prst="ellipse">
            <a:avLst/>
          </a:prstGeom>
          <a:solidFill>
            <a:srgbClr val="A78BFA"/>
          </a:solidFill>
          <a:ln w="12700">
            <a:solidFill>
              <a:srgbClr val="A78BFA"/>
            </a:solidFill>
            <a:prstDash val="solid"/>
          </a:ln>
        </p:spPr>
        <p:txBody>
          <a:bodyPr/>
          <a:lstStyle/>
          <a:p>
            <a:endParaRPr lang="es-CO"/>
          </a:p>
        </p:txBody>
      </p:sp>
      <p:sp>
        <p:nvSpPr>
          <p:cNvPr id="24" name="Text 22"/>
          <p:cNvSpPr txBox="1"/>
          <p:nvPr/>
        </p:nvSpPr>
        <p:spPr>
          <a:xfrm>
            <a:off x="3977640" y="307238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txBox="1"/>
          <p:nvPr/>
        </p:nvSpPr>
        <p:spPr>
          <a:xfrm>
            <a:off x="640080" y="3520440"/>
            <a:ext cx="1280160" cy="329184"/>
          </a:xfrm>
          <a:prstGeom prst="rect">
            <a:avLst/>
          </a:prstGeom>
          <a:noFill/>
          <a:ln/>
        </p:spPr>
        <p:txBody>
          <a:bodyPr wrap="square" lIns="0" tIns="0" rIns="0" bIns="0" rtlCol="0" anchor="ctr"/>
          <a:lstStyle/>
          <a:p>
            <a:pPr marL="0" indent="0">
              <a:buNone/>
            </a:pPr>
            <a:endParaRPr lang="en-US" sz="1200" dirty="0"/>
          </a:p>
        </p:txBody>
      </p:sp>
      <p:sp>
        <p:nvSpPr>
          <p:cNvPr id="26" name="Text 24"/>
          <p:cNvSpPr txBox="1"/>
          <p:nvPr/>
        </p:nvSpPr>
        <p:spPr>
          <a:xfrm>
            <a:off x="1874520" y="3520440"/>
            <a:ext cx="2011680" cy="329184"/>
          </a:xfrm>
          <a:prstGeom prst="rect">
            <a:avLst/>
          </a:prstGeom>
          <a:noFill/>
          <a:ln/>
        </p:spPr>
        <p:txBody>
          <a:bodyPr wrap="square" lIns="0" tIns="0" rIns="0" bIns="0" rtlCol="0" anchor="ctr"/>
          <a:lstStyle/>
          <a:p>
            <a:pPr marL="0" indent="0">
              <a:buNone/>
            </a:pPr>
            <a:r>
              <a:rPr lang="en-US" sz="1200" dirty="0">
                <a:solidFill>
                  <a:srgbClr val="141821"/>
                </a:solidFill>
                <a:latin typeface="Calibri" pitchFamily="34" charset="0"/>
                <a:ea typeface="Calibri" pitchFamily="34" charset="-122"/>
                <a:cs typeface="Calibri" pitchFamily="34" charset="-120"/>
              </a:rPr>
              <a:t>&gt; 10 (≥ 1 pequeña)</a:t>
            </a:r>
            <a:endParaRPr lang="en-US" sz="1200" dirty="0"/>
          </a:p>
        </p:txBody>
      </p:sp>
      <p:sp>
        <p:nvSpPr>
          <p:cNvPr id="27" name="Shape 25"/>
          <p:cNvSpPr/>
          <p:nvPr/>
        </p:nvSpPr>
        <p:spPr>
          <a:xfrm>
            <a:off x="3977640" y="3529584"/>
            <a:ext cx="310896" cy="310896"/>
          </a:xfrm>
          <a:prstGeom prst="ellipse">
            <a:avLst/>
          </a:prstGeom>
          <a:solidFill>
            <a:srgbClr val="A78BFA"/>
          </a:solidFill>
          <a:ln w="12700">
            <a:solidFill>
              <a:srgbClr val="A78BFA"/>
            </a:solidFill>
            <a:prstDash val="solid"/>
          </a:ln>
        </p:spPr>
        <p:txBody>
          <a:bodyPr/>
          <a:lstStyle/>
          <a:p>
            <a:endParaRPr lang="es-CO"/>
          </a:p>
        </p:txBody>
      </p:sp>
      <p:sp>
        <p:nvSpPr>
          <p:cNvPr id="28" name="Text 26"/>
          <p:cNvSpPr txBox="1"/>
          <p:nvPr/>
        </p:nvSpPr>
        <p:spPr>
          <a:xfrm>
            <a:off x="3977640" y="352958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Shape 27"/>
          <p:cNvSpPr/>
          <p:nvPr/>
        </p:nvSpPr>
        <p:spPr>
          <a:xfrm>
            <a:off x="4709160" y="1234440"/>
            <a:ext cx="3977640" cy="676656"/>
          </a:xfrm>
          <a:prstGeom prst="roundRect">
            <a:avLst>
              <a:gd name="adj" fmla="val 13514"/>
            </a:avLst>
          </a:prstGeom>
          <a:solidFill>
            <a:srgbClr val="FFFFFF"/>
          </a:solidFill>
          <a:ln w="19050">
            <a:solidFill>
              <a:srgbClr val="4CC9F0"/>
            </a:solidFill>
            <a:prstDash val="solid"/>
          </a:ln>
        </p:spPr>
        <p:txBody>
          <a:bodyPr/>
          <a:lstStyle/>
          <a:p>
            <a:endParaRPr lang="es-CO"/>
          </a:p>
        </p:txBody>
      </p:sp>
      <p:sp>
        <p:nvSpPr>
          <p:cNvPr id="30" name="Text 28"/>
          <p:cNvSpPr txBox="1"/>
          <p:nvPr/>
        </p:nvSpPr>
        <p:spPr>
          <a:xfrm>
            <a:off x="4846320" y="1298448"/>
            <a:ext cx="3657600" cy="292608"/>
          </a:xfrm>
          <a:prstGeom prst="rect">
            <a:avLst/>
          </a:prstGeom>
          <a:noFill/>
          <a:ln/>
        </p:spPr>
        <p:txBody>
          <a:bodyPr wrap="square" lIns="0" tIns="0" rIns="0" bIns="0" rtlCol="0" anchor="t"/>
          <a:lstStyle/>
          <a:p>
            <a:pPr marL="0" indent="0">
              <a:buNone/>
            </a:pPr>
            <a:r>
              <a:rPr lang="en-US" sz="1350" b="1" dirty="0">
                <a:solidFill>
                  <a:srgbClr val="0A6F98"/>
                </a:solidFill>
                <a:latin typeface="Calibri" pitchFamily="34" charset="0"/>
                <a:ea typeface="Calibri" pitchFamily="34" charset="-122"/>
                <a:cs typeface="Calibri" pitchFamily="34" charset="-120"/>
              </a:rPr>
              <a:t>Serología (0–3)</a:t>
            </a:r>
            <a:endParaRPr lang="en-US" sz="1350" dirty="0"/>
          </a:p>
        </p:txBody>
      </p:sp>
      <p:sp>
        <p:nvSpPr>
          <p:cNvPr id="31" name="Text 29"/>
          <p:cNvSpPr txBox="1"/>
          <p:nvPr/>
        </p:nvSpPr>
        <p:spPr>
          <a:xfrm>
            <a:off x="4846320" y="1572768"/>
            <a:ext cx="3749040" cy="310896"/>
          </a:xfrm>
          <a:prstGeom prst="rect">
            <a:avLst/>
          </a:prstGeom>
          <a:noFill/>
          <a:ln/>
        </p:spPr>
        <p:txBody>
          <a:bodyPr wrap="square" lIns="0" tIns="0" rIns="0" bIns="0" rtlCol="0" anchor="t"/>
          <a:lstStyle/>
          <a:p>
            <a:pPr marL="0" indent="0">
              <a:buNone/>
            </a:pPr>
            <a:r>
              <a:rPr lang="en-US" sz="1200" dirty="0">
                <a:solidFill>
                  <a:srgbClr val="141821"/>
                </a:solidFill>
                <a:latin typeface="Calibri" pitchFamily="34" charset="0"/>
                <a:ea typeface="Calibri" pitchFamily="34" charset="-122"/>
                <a:cs typeface="Calibri" pitchFamily="34" charset="-120"/>
              </a:rPr>
              <a:t>FR/ACPA negativos = 0 · bajos = 2 · altos = 3</a:t>
            </a:r>
            <a:endParaRPr lang="en-US" sz="1200" dirty="0"/>
          </a:p>
        </p:txBody>
      </p:sp>
      <p:sp>
        <p:nvSpPr>
          <p:cNvPr id="32" name="Shape 30"/>
          <p:cNvSpPr/>
          <p:nvPr/>
        </p:nvSpPr>
        <p:spPr>
          <a:xfrm>
            <a:off x="4709160" y="1984248"/>
            <a:ext cx="3977640" cy="676656"/>
          </a:xfrm>
          <a:prstGeom prst="roundRect">
            <a:avLst>
              <a:gd name="adj" fmla="val 13514"/>
            </a:avLst>
          </a:prstGeom>
          <a:solidFill>
            <a:srgbClr val="FFFFFF"/>
          </a:solidFill>
          <a:ln w="19050">
            <a:solidFill>
              <a:srgbClr val="2EC4B6"/>
            </a:solidFill>
            <a:prstDash val="solid"/>
          </a:ln>
        </p:spPr>
        <p:txBody>
          <a:bodyPr/>
          <a:lstStyle/>
          <a:p>
            <a:endParaRPr lang="es-CO"/>
          </a:p>
        </p:txBody>
      </p:sp>
      <p:sp>
        <p:nvSpPr>
          <p:cNvPr id="33" name="Text 31"/>
          <p:cNvSpPr txBox="1"/>
          <p:nvPr/>
        </p:nvSpPr>
        <p:spPr>
          <a:xfrm>
            <a:off x="4846320" y="2048256"/>
            <a:ext cx="3657600" cy="292608"/>
          </a:xfrm>
          <a:prstGeom prst="rect">
            <a:avLst/>
          </a:prstGeom>
          <a:noFill/>
          <a:ln/>
        </p:spPr>
        <p:txBody>
          <a:bodyPr wrap="square" lIns="0" tIns="0" rIns="0" bIns="0" rtlCol="0" anchor="t"/>
          <a:lstStyle/>
          <a:p>
            <a:pPr marL="0" indent="0">
              <a:buNone/>
            </a:pPr>
            <a:r>
              <a:rPr lang="en-US" sz="1350" b="1" dirty="0">
                <a:solidFill>
                  <a:srgbClr val="0C8368"/>
                </a:solidFill>
                <a:latin typeface="Calibri" pitchFamily="34" charset="0"/>
                <a:ea typeface="Calibri" pitchFamily="34" charset="-122"/>
                <a:cs typeface="Calibri" pitchFamily="34" charset="-120"/>
              </a:rPr>
              <a:t>Reactantes (0–1)</a:t>
            </a:r>
            <a:endParaRPr lang="en-US" sz="1350" dirty="0"/>
          </a:p>
        </p:txBody>
      </p:sp>
      <p:sp>
        <p:nvSpPr>
          <p:cNvPr id="34" name="Text 32"/>
          <p:cNvSpPr txBox="1"/>
          <p:nvPr/>
        </p:nvSpPr>
        <p:spPr>
          <a:xfrm>
            <a:off x="4846320" y="2322576"/>
            <a:ext cx="3749040" cy="310896"/>
          </a:xfrm>
          <a:prstGeom prst="rect">
            <a:avLst/>
          </a:prstGeom>
          <a:noFill/>
          <a:ln/>
        </p:spPr>
        <p:txBody>
          <a:bodyPr wrap="square" lIns="0" tIns="0" rIns="0" bIns="0" rtlCol="0" anchor="t"/>
          <a:lstStyle/>
          <a:p>
            <a:pPr marL="0" indent="0">
              <a:buNone/>
            </a:pPr>
            <a:r>
              <a:rPr lang="en-US" sz="1200" dirty="0">
                <a:solidFill>
                  <a:srgbClr val="141821"/>
                </a:solidFill>
                <a:latin typeface="Calibri" pitchFamily="34" charset="0"/>
                <a:ea typeface="Calibri" pitchFamily="34" charset="-122"/>
                <a:cs typeface="Calibri" pitchFamily="34" charset="-120"/>
              </a:rPr>
              <a:t>PCR/VSG normales = 0 · anormales = 1</a:t>
            </a:r>
            <a:endParaRPr lang="en-US" sz="1200" dirty="0"/>
          </a:p>
        </p:txBody>
      </p:sp>
      <p:sp>
        <p:nvSpPr>
          <p:cNvPr id="35" name="Shape 33"/>
          <p:cNvSpPr/>
          <p:nvPr/>
        </p:nvSpPr>
        <p:spPr>
          <a:xfrm>
            <a:off x="4709160" y="2734056"/>
            <a:ext cx="3977640" cy="676656"/>
          </a:xfrm>
          <a:prstGeom prst="roundRect">
            <a:avLst>
              <a:gd name="adj" fmla="val 13514"/>
            </a:avLst>
          </a:prstGeom>
          <a:solidFill>
            <a:srgbClr val="FFFFFF"/>
          </a:solidFill>
          <a:ln w="19050">
            <a:solidFill>
              <a:srgbClr val="F2B43C"/>
            </a:solidFill>
            <a:prstDash val="solid"/>
          </a:ln>
        </p:spPr>
        <p:txBody>
          <a:bodyPr/>
          <a:lstStyle/>
          <a:p>
            <a:endParaRPr lang="es-CO"/>
          </a:p>
        </p:txBody>
      </p:sp>
      <p:sp>
        <p:nvSpPr>
          <p:cNvPr id="36" name="Text 34"/>
          <p:cNvSpPr txBox="1"/>
          <p:nvPr/>
        </p:nvSpPr>
        <p:spPr>
          <a:xfrm>
            <a:off x="4846320" y="2798064"/>
            <a:ext cx="3657600" cy="292608"/>
          </a:xfrm>
          <a:prstGeom prst="rect">
            <a:avLst/>
          </a:prstGeom>
          <a:noFill/>
          <a:ln/>
        </p:spPr>
        <p:txBody>
          <a:bodyPr wrap="square" lIns="0" tIns="0" rIns="0" bIns="0" rtlCol="0" anchor="t"/>
          <a:lstStyle/>
          <a:p>
            <a:pPr marL="0" indent="0">
              <a:buNone/>
            </a:pPr>
            <a:r>
              <a:rPr lang="en-US" sz="1350" b="1" dirty="0">
                <a:solidFill>
                  <a:srgbClr val="A66A00"/>
                </a:solidFill>
                <a:latin typeface="Calibri" pitchFamily="34" charset="0"/>
                <a:ea typeface="Calibri" pitchFamily="34" charset="-122"/>
                <a:cs typeface="Calibri" pitchFamily="34" charset="-120"/>
              </a:rPr>
              <a:t>Duración (0–1)</a:t>
            </a:r>
            <a:endParaRPr lang="en-US" sz="1350" dirty="0"/>
          </a:p>
        </p:txBody>
      </p:sp>
      <p:sp>
        <p:nvSpPr>
          <p:cNvPr id="37" name="Text 35"/>
          <p:cNvSpPr txBox="1"/>
          <p:nvPr/>
        </p:nvSpPr>
        <p:spPr>
          <a:xfrm>
            <a:off x="4846320" y="3072384"/>
            <a:ext cx="3749040" cy="310896"/>
          </a:xfrm>
          <a:prstGeom prst="rect">
            <a:avLst/>
          </a:prstGeom>
          <a:noFill/>
          <a:ln/>
        </p:spPr>
        <p:txBody>
          <a:bodyPr wrap="square" lIns="0" tIns="0" rIns="0" bIns="0" rtlCol="0" anchor="t"/>
          <a:lstStyle/>
          <a:p>
            <a:pPr marL="0" indent="0">
              <a:buNone/>
            </a:pPr>
            <a:r>
              <a:rPr lang="en-US" sz="1200" dirty="0">
                <a:solidFill>
                  <a:srgbClr val="141821"/>
                </a:solidFill>
                <a:latin typeface="Calibri" pitchFamily="34" charset="0"/>
                <a:ea typeface="Calibri" pitchFamily="34" charset="-122"/>
                <a:cs typeface="Calibri" pitchFamily="34" charset="-120"/>
              </a:rPr>
              <a:t>&lt; 6 semanas = 0 · ≥ 6 semanas = 1</a:t>
            </a:r>
            <a:endParaRPr lang="en-US" sz="1200" dirty="0"/>
          </a:p>
        </p:txBody>
      </p:sp>
      <p:sp>
        <p:nvSpPr>
          <p:cNvPr id="38" name="Shape 36"/>
          <p:cNvSpPr/>
          <p:nvPr/>
        </p:nvSpPr>
        <p:spPr>
          <a:xfrm>
            <a:off x="4709160" y="3493008"/>
            <a:ext cx="3977640" cy="530352"/>
          </a:xfrm>
          <a:prstGeom prst="roundRect">
            <a:avLst>
              <a:gd name="adj" fmla="val 17241"/>
            </a:avLst>
          </a:prstGeom>
          <a:solidFill>
            <a:srgbClr val="F2546B"/>
          </a:solidFill>
          <a:ln w="12700">
            <a:solidFill>
              <a:srgbClr val="F2546B"/>
            </a:solidFill>
            <a:prstDash val="solid"/>
          </a:ln>
        </p:spPr>
        <p:txBody>
          <a:bodyPr/>
          <a:lstStyle/>
          <a:p>
            <a:endParaRPr lang="es-CO"/>
          </a:p>
        </p:txBody>
      </p:sp>
      <p:sp>
        <p:nvSpPr>
          <p:cNvPr id="39" name="Text 37"/>
          <p:cNvSpPr txBox="1"/>
          <p:nvPr/>
        </p:nvSpPr>
        <p:spPr>
          <a:xfrm>
            <a:off x="4764024" y="3493008"/>
            <a:ext cx="3867912" cy="530352"/>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 6 / 10 puntos clasifica como AR</a:t>
            </a:r>
            <a:endParaRPr lang="en-US" sz="1600" dirty="0">
              <a:solidFill>
                <a:schemeClr val="bg1"/>
              </a:solidFill>
            </a:endParaRPr>
          </a:p>
        </p:txBody>
      </p:sp>
      <p:sp>
        <p:nvSpPr>
          <p:cNvPr id="40" name="Shape 38"/>
          <p:cNvSpPr/>
          <p:nvPr/>
        </p:nvSpPr>
        <p:spPr>
          <a:xfrm>
            <a:off x="457200" y="4133088"/>
            <a:ext cx="8229600" cy="329184"/>
          </a:xfrm>
          <a:prstGeom prst="roundRect">
            <a:avLst>
              <a:gd name="adj" fmla="val 27778"/>
            </a:avLst>
          </a:prstGeom>
          <a:solidFill>
            <a:srgbClr val="A78BFA">
              <a:alpha val="10000"/>
            </a:srgbClr>
          </a:solidFill>
          <a:ln w="19050">
            <a:solidFill>
              <a:srgbClr val="A78BFA"/>
            </a:solidFill>
            <a:prstDash val="solid"/>
          </a:ln>
        </p:spPr>
        <p:txBody>
          <a:bodyPr/>
          <a:lstStyle/>
          <a:p>
            <a:endParaRPr lang="es-CO"/>
          </a:p>
        </p:txBody>
      </p:sp>
      <p:sp>
        <p:nvSpPr>
          <p:cNvPr id="41" name="Text 39"/>
          <p:cNvSpPr txBox="1"/>
          <p:nvPr/>
        </p:nvSpPr>
        <p:spPr>
          <a:xfrm>
            <a:off x="512064" y="4133088"/>
            <a:ext cx="8119872" cy="329184"/>
          </a:xfrm>
          <a:prstGeom prst="rect">
            <a:avLst/>
          </a:prstGeom>
          <a:noFill/>
          <a:ln/>
        </p:spPr>
        <p:txBody>
          <a:bodyPr wrap="square" lIns="0" tIns="0" rIns="0" bIns="0" rtlCol="0" anchor="ctr"/>
          <a:lstStyle/>
          <a:p>
            <a:pPr marL="0" indent="0" algn="ctr">
              <a:buNone/>
            </a:pPr>
            <a:r>
              <a:rPr lang="en-US" sz="1200" b="1" dirty="0">
                <a:solidFill>
                  <a:srgbClr val="141821"/>
                </a:solidFill>
                <a:latin typeface="Calibri" pitchFamily="34" charset="0"/>
                <a:ea typeface="Calibri" pitchFamily="34" charset="-122"/>
                <a:cs typeface="Calibri" pitchFamily="34" charset="-120"/>
              </a:rPr>
              <a:t>Clasificar ≠ diagnosticar: exige ≥ 1 sinovitis clínica sin </a:t>
            </a:r>
            <a:r>
              <a:rPr lang="en-US" sz="1200" b="1" dirty="0" err="1">
                <a:solidFill>
                  <a:srgbClr val="141821"/>
                </a:solidFill>
                <a:latin typeface="Calibri" pitchFamily="34" charset="0"/>
                <a:ea typeface="Calibri" pitchFamily="34" charset="-122"/>
                <a:cs typeface="Calibri" pitchFamily="34" charset="-120"/>
              </a:rPr>
              <a:t>mejor</a:t>
            </a:r>
            <a:r>
              <a:rPr lang="en-US" sz="1200" b="1" dirty="0">
                <a:solidFill>
                  <a:srgbClr val="141821"/>
                </a:solidFill>
                <a:latin typeface="Calibri" pitchFamily="34" charset="0"/>
                <a:ea typeface="Calibri" pitchFamily="34" charset="-122"/>
                <a:cs typeface="Calibri" pitchFamily="34" charset="-120"/>
              </a:rPr>
              <a:t> </a:t>
            </a:r>
            <a:r>
              <a:rPr lang="en-US" sz="1200" b="1" dirty="0" err="1">
                <a:solidFill>
                  <a:srgbClr val="141821"/>
                </a:solidFill>
                <a:latin typeface="Calibri" pitchFamily="34" charset="0"/>
                <a:ea typeface="Calibri" pitchFamily="34" charset="-122"/>
                <a:cs typeface="Calibri" pitchFamily="34" charset="-120"/>
              </a:rPr>
              <a:t>explicación</a:t>
            </a:r>
            <a:endParaRPr lang="en-US" sz="1200" dirty="0"/>
          </a:p>
        </p:txBody>
      </p:sp>
      <p:sp>
        <p:nvSpPr>
          <p:cNvPr id="42"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6A4CCF"/>
                </a:solidFill>
                <a:latin typeface="Calibri" pitchFamily="34" charset="0"/>
                <a:ea typeface="Calibri" pitchFamily="34" charset="-122"/>
                <a:cs typeface="Calibri" pitchFamily="34" charset="-120"/>
              </a:rPr>
              <a:t>ANTES DE QUE SEA AR</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Artralgia sospechosa de AR </a:t>
            </a:r>
            <a:endParaRPr lang="en-US" sz="2900" dirty="0"/>
          </a:p>
        </p:txBody>
      </p:sp>
      <p:sp>
        <p:nvSpPr>
          <p:cNvPr id="4" name="Shape 2"/>
          <p:cNvSpPr/>
          <p:nvPr/>
        </p:nvSpPr>
        <p:spPr>
          <a:xfrm>
            <a:off x="457200" y="4480560"/>
            <a:ext cx="7589520" cy="0"/>
          </a:xfrm>
          <a:prstGeom prst="line">
            <a:avLst/>
          </a:prstGeom>
          <a:noFill/>
          <a:ln w="9525">
            <a:solidFill>
              <a:srgbClr val="C4CCE0"/>
            </a:solidFill>
            <a:prstDash val="solid"/>
          </a:ln>
        </p:spPr>
        <p:txBody>
          <a:bodyPr/>
          <a:lstStyle/>
          <a:p>
            <a:endParaRPr lang="es-CO"/>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13. van Steenbergen HW, Aletaha D, Beaart-van de Voorde LJJ, Brouwer E, Codreanu C, Combe B, et al. EULAR definition of arthralgia suspicious for progression to rheumatoid arthritis. Ann Rheum Dis. 2017;76(3):491-6.</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4. Combe B, Landewe R, Daien CI, Hua C, Aletaha D, Alvaro-Gracia JM, et al. 2016 update of the EULAR recommendations for the management of early arthritis. Ann Rheum Dis. 2017;76(6):948-59.</a:t>
            </a:r>
            <a:endParaRPr lang="en-US" sz="900" dirty="0"/>
          </a:p>
        </p:txBody>
      </p:sp>
      <p:sp>
        <p:nvSpPr>
          <p:cNvPr id="7" name="Text 5"/>
          <p:cNvSpPr txBox="1"/>
          <p:nvPr/>
        </p:nvSpPr>
        <p:spPr>
          <a:xfrm>
            <a:off x="457200" y="1133856"/>
            <a:ext cx="8229600" cy="365760"/>
          </a:xfrm>
          <a:prstGeom prst="rect">
            <a:avLst/>
          </a:prstGeom>
          <a:noFill/>
          <a:ln/>
        </p:spPr>
        <p:txBody>
          <a:bodyPr wrap="square" lIns="0" tIns="0" rIns="0" bIns="0" rtlCol="0" anchor="t"/>
          <a:lstStyle/>
          <a:p>
            <a:pPr marL="0" indent="0">
              <a:buNone/>
            </a:pPr>
            <a:r>
              <a:rPr lang="en-US" sz="1450" dirty="0">
                <a:solidFill>
                  <a:srgbClr val="141821"/>
                </a:solidFill>
                <a:latin typeface="Calibri" pitchFamily="34" charset="0"/>
                <a:ea typeface="Calibri" pitchFamily="34" charset="-122"/>
                <a:cs typeface="Calibri" pitchFamily="34" charset="-120"/>
              </a:rPr>
              <a:t>Siete parámetros que señalan una artralgia con riesgo de progresar a AR, antes de la artritis establecida.</a:t>
            </a:r>
            <a:endParaRPr lang="en-US" sz="1450" dirty="0"/>
          </a:p>
        </p:txBody>
      </p:sp>
      <p:sp>
        <p:nvSpPr>
          <p:cNvPr id="8" name="Shape 6"/>
          <p:cNvSpPr/>
          <p:nvPr/>
        </p:nvSpPr>
        <p:spPr>
          <a:xfrm>
            <a:off x="457200" y="1591056"/>
            <a:ext cx="4023360" cy="493776"/>
          </a:xfrm>
          <a:prstGeom prst="roundRect">
            <a:avLst>
              <a:gd name="adj" fmla="val 18519"/>
            </a:avLst>
          </a:prstGeom>
          <a:solidFill>
            <a:srgbClr val="FFFFFF"/>
          </a:solidFill>
          <a:ln w="19050">
            <a:solidFill>
              <a:srgbClr val="A78BFA"/>
            </a:solidFill>
            <a:prstDash val="solid"/>
          </a:ln>
        </p:spPr>
        <p:txBody>
          <a:bodyPr/>
          <a:lstStyle/>
          <a:p>
            <a:endParaRPr lang="es-CO"/>
          </a:p>
        </p:txBody>
      </p:sp>
      <p:sp>
        <p:nvSpPr>
          <p:cNvPr id="9" name="Shape 7"/>
          <p:cNvSpPr/>
          <p:nvPr/>
        </p:nvSpPr>
        <p:spPr>
          <a:xfrm>
            <a:off x="576072" y="1682496"/>
            <a:ext cx="310896" cy="310896"/>
          </a:xfrm>
          <a:prstGeom prst="ellipse">
            <a:avLst/>
          </a:prstGeom>
          <a:solidFill>
            <a:srgbClr val="A78BFA"/>
          </a:solidFill>
          <a:ln w="12700">
            <a:solidFill>
              <a:srgbClr val="A78BFA"/>
            </a:solidFill>
            <a:prstDash val="solid"/>
          </a:ln>
        </p:spPr>
        <p:txBody>
          <a:bodyPr/>
          <a:lstStyle/>
          <a:p>
            <a:endParaRPr lang="es-CO"/>
          </a:p>
        </p:txBody>
      </p:sp>
      <p:sp>
        <p:nvSpPr>
          <p:cNvPr id="10" name="Text 8"/>
          <p:cNvSpPr txBox="1"/>
          <p:nvPr/>
        </p:nvSpPr>
        <p:spPr>
          <a:xfrm>
            <a:off x="576072" y="168249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005840" y="1591056"/>
            <a:ext cx="3383280" cy="493776"/>
          </a:xfrm>
          <a:prstGeom prst="rect">
            <a:avLst/>
          </a:prstGeom>
          <a:noFill/>
          <a:ln/>
        </p:spPr>
        <p:txBody>
          <a:bodyPr wrap="square" lIns="0" tIns="0" rIns="0" bIns="0" rtlCol="0" anchor="ctr"/>
          <a:lstStyle/>
          <a:p>
            <a:pPr marL="0" indent="0">
              <a:buNone/>
            </a:pPr>
            <a:r>
              <a:rPr lang="en-US" sz="1250" b="1" dirty="0">
                <a:solidFill>
                  <a:srgbClr val="141821"/>
                </a:solidFill>
                <a:latin typeface="Calibri" pitchFamily="34" charset="0"/>
                <a:ea typeface="Calibri" pitchFamily="34" charset="-122"/>
                <a:cs typeface="Calibri" pitchFamily="34" charset="-120"/>
              </a:rPr>
              <a:t>Síntomas articulares de inicio reciente (&lt; 1 año)</a:t>
            </a:r>
            <a:endParaRPr lang="en-US" sz="1250" dirty="0"/>
          </a:p>
        </p:txBody>
      </p:sp>
      <p:sp>
        <p:nvSpPr>
          <p:cNvPr id="12" name="Shape 10"/>
          <p:cNvSpPr/>
          <p:nvPr/>
        </p:nvSpPr>
        <p:spPr>
          <a:xfrm>
            <a:off x="4663440" y="1591056"/>
            <a:ext cx="4023360" cy="493776"/>
          </a:xfrm>
          <a:prstGeom prst="roundRect">
            <a:avLst>
              <a:gd name="adj" fmla="val 18519"/>
            </a:avLst>
          </a:prstGeom>
          <a:solidFill>
            <a:srgbClr val="FFFFFF"/>
          </a:solidFill>
          <a:ln w="19050">
            <a:solidFill>
              <a:srgbClr val="A78BFA"/>
            </a:solidFill>
            <a:prstDash val="solid"/>
          </a:ln>
        </p:spPr>
        <p:txBody>
          <a:bodyPr/>
          <a:lstStyle/>
          <a:p>
            <a:endParaRPr lang="es-CO"/>
          </a:p>
        </p:txBody>
      </p:sp>
      <p:sp>
        <p:nvSpPr>
          <p:cNvPr id="13" name="Shape 11"/>
          <p:cNvSpPr/>
          <p:nvPr/>
        </p:nvSpPr>
        <p:spPr>
          <a:xfrm>
            <a:off x="4782312" y="1682496"/>
            <a:ext cx="310896" cy="310896"/>
          </a:xfrm>
          <a:prstGeom prst="ellipse">
            <a:avLst/>
          </a:prstGeom>
          <a:solidFill>
            <a:srgbClr val="A78BFA"/>
          </a:solidFill>
          <a:ln w="12700">
            <a:solidFill>
              <a:srgbClr val="A78BFA"/>
            </a:solidFill>
            <a:prstDash val="solid"/>
          </a:ln>
        </p:spPr>
        <p:txBody>
          <a:bodyPr/>
          <a:lstStyle/>
          <a:p>
            <a:endParaRPr lang="es-CO"/>
          </a:p>
        </p:txBody>
      </p:sp>
      <p:sp>
        <p:nvSpPr>
          <p:cNvPr id="14" name="Text 12"/>
          <p:cNvSpPr txBox="1"/>
          <p:nvPr/>
        </p:nvSpPr>
        <p:spPr>
          <a:xfrm>
            <a:off x="4782312" y="168249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5212080" y="1591056"/>
            <a:ext cx="3383280" cy="493776"/>
          </a:xfrm>
          <a:prstGeom prst="rect">
            <a:avLst/>
          </a:prstGeom>
          <a:noFill/>
          <a:ln/>
        </p:spPr>
        <p:txBody>
          <a:bodyPr wrap="square" lIns="0" tIns="0" rIns="0" bIns="0" rtlCol="0" anchor="ctr"/>
          <a:lstStyle/>
          <a:p>
            <a:pPr marL="0" indent="0">
              <a:buNone/>
            </a:pPr>
            <a:r>
              <a:rPr lang="en-US" sz="1250" b="1" dirty="0">
                <a:solidFill>
                  <a:srgbClr val="141821"/>
                </a:solidFill>
                <a:latin typeface="Calibri" pitchFamily="34" charset="0"/>
                <a:ea typeface="Calibri" pitchFamily="34" charset="-122"/>
                <a:cs typeface="Calibri" pitchFamily="34" charset="-120"/>
              </a:rPr>
              <a:t>Síntomas localizados en articulaciones MCF</a:t>
            </a:r>
            <a:endParaRPr lang="en-US" sz="1250" dirty="0"/>
          </a:p>
        </p:txBody>
      </p:sp>
      <p:sp>
        <p:nvSpPr>
          <p:cNvPr id="16" name="Shape 14"/>
          <p:cNvSpPr/>
          <p:nvPr/>
        </p:nvSpPr>
        <p:spPr>
          <a:xfrm>
            <a:off x="457200" y="2157984"/>
            <a:ext cx="4023360" cy="493776"/>
          </a:xfrm>
          <a:prstGeom prst="roundRect">
            <a:avLst>
              <a:gd name="adj" fmla="val 18519"/>
            </a:avLst>
          </a:prstGeom>
          <a:solidFill>
            <a:srgbClr val="FFFFFF"/>
          </a:solidFill>
          <a:ln w="19050">
            <a:solidFill>
              <a:srgbClr val="A78BFA"/>
            </a:solidFill>
            <a:prstDash val="solid"/>
          </a:ln>
        </p:spPr>
        <p:txBody>
          <a:bodyPr/>
          <a:lstStyle/>
          <a:p>
            <a:endParaRPr lang="es-CO"/>
          </a:p>
        </p:txBody>
      </p:sp>
      <p:sp>
        <p:nvSpPr>
          <p:cNvPr id="17" name="Shape 15"/>
          <p:cNvSpPr/>
          <p:nvPr/>
        </p:nvSpPr>
        <p:spPr>
          <a:xfrm>
            <a:off x="576072" y="2249424"/>
            <a:ext cx="310896" cy="310896"/>
          </a:xfrm>
          <a:prstGeom prst="ellipse">
            <a:avLst/>
          </a:prstGeom>
          <a:solidFill>
            <a:srgbClr val="A78BFA"/>
          </a:solidFill>
          <a:ln w="12700">
            <a:solidFill>
              <a:srgbClr val="A78BFA"/>
            </a:solidFill>
            <a:prstDash val="solid"/>
          </a:ln>
        </p:spPr>
        <p:txBody>
          <a:bodyPr/>
          <a:lstStyle/>
          <a:p>
            <a:endParaRPr lang="es-CO"/>
          </a:p>
        </p:txBody>
      </p:sp>
      <p:sp>
        <p:nvSpPr>
          <p:cNvPr id="18" name="Text 16"/>
          <p:cNvSpPr txBox="1"/>
          <p:nvPr/>
        </p:nvSpPr>
        <p:spPr>
          <a:xfrm>
            <a:off x="576072" y="224942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005840" y="2157984"/>
            <a:ext cx="3383280" cy="493776"/>
          </a:xfrm>
          <a:prstGeom prst="rect">
            <a:avLst/>
          </a:prstGeom>
          <a:noFill/>
          <a:ln/>
        </p:spPr>
        <p:txBody>
          <a:bodyPr wrap="square" lIns="0" tIns="0" rIns="0" bIns="0" rtlCol="0" anchor="ctr"/>
          <a:lstStyle/>
          <a:p>
            <a:pPr marL="0" indent="0">
              <a:buNone/>
            </a:pPr>
            <a:r>
              <a:rPr lang="en-US" sz="1250" b="1" dirty="0">
                <a:solidFill>
                  <a:srgbClr val="141821"/>
                </a:solidFill>
                <a:latin typeface="Calibri" pitchFamily="34" charset="0"/>
                <a:ea typeface="Calibri" pitchFamily="34" charset="-122"/>
                <a:cs typeface="Calibri" pitchFamily="34" charset="-120"/>
              </a:rPr>
              <a:t>Rigidez matutina ≥ 60 min</a:t>
            </a:r>
            <a:endParaRPr lang="en-US" sz="1250" dirty="0"/>
          </a:p>
        </p:txBody>
      </p:sp>
      <p:sp>
        <p:nvSpPr>
          <p:cNvPr id="20" name="Shape 18"/>
          <p:cNvSpPr/>
          <p:nvPr/>
        </p:nvSpPr>
        <p:spPr>
          <a:xfrm>
            <a:off x="4663440" y="2157984"/>
            <a:ext cx="4023360" cy="493776"/>
          </a:xfrm>
          <a:prstGeom prst="roundRect">
            <a:avLst>
              <a:gd name="adj" fmla="val 18519"/>
            </a:avLst>
          </a:prstGeom>
          <a:solidFill>
            <a:srgbClr val="FFFFFF"/>
          </a:solidFill>
          <a:ln w="19050">
            <a:solidFill>
              <a:srgbClr val="A78BFA"/>
            </a:solidFill>
            <a:prstDash val="solid"/>
          </a:ln>
        </p:spPr>
        <p:txBody>
          <a:bodyPr/>
          <a:lstStyle/>
          <a:p>
            <a:endParaRPr lang="es-CO"/>
          </a:p>
        </p:txBody>
      </p:sp>
      <p:sp>
        <p:nvSpPr>
          <p:cNvPr id="21" name="Shape 19"/>
          <p:cNvSpPr/>
          <p:nvPr/>
        </p:nvSpPr>
        <p:spPr>
          <a:xfrm>
            <a:off x="4782312" y="2249424"/>
            <a:ext cx="310896" cy="310896"/>
          </a:xfrm>
          <a:prstGeom prst="ellipse">
            <a:avLst/>
          </a:prstGeom>
          <a:solidFill>
            <a:srgbClr val="A78BFA"/>
          </a:solidFill>
          <a:ln w="12700">
            <a:solidFill>
              <a:srgbClr val="A78BFA"/>
            </a:solidFill>
            <a:prstDash val="solid"/>
          </a:ln>
        </p:spPr>
        <p:txBody>
          <a:bodyPr/>
          <a:lstStyle/>
          <a:p>
            <a:endParaRPr lang="es-CO"/>
          </a:p>
        </p:txBody>
      </p:sp>
      <p:sp>
        <p:nvSpPr>
          <p:cNvPr id="22" name="Text 20"/>
          <p:cNvSpPr txBox="1"/>
          <p:nvPr/>
        </p:nvSpPr>
        <p:spPr>
          <a:xfrm>
            <a:off x="4782312" y="224942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5212080" y="2157984"/>
            <a:ext cx="3383280" cy="493776"/>
          </a:xfrm>
          <a:prstGeom prst="rect">
            <a:avLst/>
          </a:prstGeom>
          <a:noFill/>
          <a:ln/>
        </p:spPr>
        <p:txBody>
          <a:bodyPr wrap="square" lIns="0" tIns="0" rIns="0" bIns="0" rtlCol="0" anchor="ctr"/>
          <a:lstStyle/>
          <a:p>
            <a:pPr marL="0" indent="0">
              <a:buNone/>
            </a:pPr>
            <a:r>
              <a:rPr lang="en-US" sz="1250" b="1" dirty="0">
                <a:solidFill>
                  <a:srgbClr val="141821"/>
                </a:solidFill>
                <a:latin typeface="Calibri" pitchFamily="34" charset="0"/>
                <a:ea typeface="Calibri" pitchFamily="34" charset="-122"/>
                <a:cs typeface="Calibri" pitchFamily="34" charset="-120"/>
              </a:rPr>
              <a:t>Síntomas más intensos a primera hora de la mañana</a:t>
            </a:r>
            <a:endParaRPr lang="en-US" sz="1250" dirty="0"/>
          </a:p>
        </p:txBody>
      </p:sp>
      <p:sp>
        <p:nvSpPr>
          <p:cNvPr id="24" name="Shape 22"/>
          <p:cNvSpPr/>
          <p:nvPr/>
        </p:nvSpPr>
        <p:spPr>
          <a:xfrm>
            <a:off x="457200" y="2724912"/>
            <a:ext cx="4023360" cy="493776"/>
          </a:xfrm>
          <a:prstGeom prst="roundRect">
            <a:avLst>
              <a:gd name="adj" fmla="val 18519"/>
            </a:avLst>
          </a:prstGeom>
          <a:solidFill>
            <a:srgbClr val="FFFFFF"/>
          </a:solidFill>
          <a:ln w="19050">
            <a:solidFill>
              <a:srgbClr val="A78BFA"/>
            </a:solidFill>
            <a:prstDash val="solid"/>
          </a:ln>
        </p:spPr>
        <p:txBody>
          <a:bodyPr/>
          <a:lstStyle/>
          <a:p>
            <a:endParaRPr lang="es-CO"/>
          </a:p>
        </p:txBody>
      </p:sp>
      <p:sp>
        <p:nvSpPr>
          <p:cNvPr id="25" name="Shape 23"/>
          <p:cNvSpPr/>
          <p:nvPr/>
        </p:nvSpPr>
        <p:spPr>
          <a:xfrm>
            <a:off x="576072" y="2816352"/>
            <a:ext cx="310896" cy="310896"/>
          </a:xfrm>
          <a:prstGeom prst="ellipse">
            <a:avLst/>
          </a:prstGeom>
          <a:solidFill>
            <a:srgbClr val="A78BFA"/>
          </a:solidFill>
          <a:ln w="12700">
            <a:solidFill>
              <a:srgbClr val="A78BFA"/>
            </a:solidFill>
            <a:prstDash val="solid"/>
          </a:ln>
        </p:spPr>
        <p:txBody>
          <a:bodyPr/>
          <a:lstStyle/>
          <a:p>
            <a:endParaRPr lang="es-CO"/>
          </a:p>
        </p:txBody>
      </p:sp>
      <p:sp>
        <p:nvSpPr>
          <p:cNvPr id="26" name="Text 24"/>
          <p:cNvSpPr txBox="1"/>
          <p:nvPr/>
        </p:nvSpPr>
        <p:spPr>
          <a:xfrm>
            <a:off x="576072" y="281635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005840" y="2724912"/>
            <a:ext cx="3383280" cy="493776"/>
          </a:xfrm>
          <a:prstGeom prst="rect">
            <a:avLst/>
          </a:prstGeom>
          <a:noFill/>
          <a:ln/>
        </p:spPr>
        <p:txBody>
          <a:bodyPr wrap="square" lIns="0" tIns="0" rIns="0" bIns="0" rtlCol="0" anchor="ctr"/>
          <a:lstStyle/>
          <a:p>
            <a:pPr marL="0" indent="0">
              <a:buNone/>
            </a:pPr>
            <a:r>
              <a:rPr lang="en-US" sz="1250" b="1" dirty="0">
                <a:solidFill>
                  <a:srgbClr val="141821"/>
                </a:solidFill>
                <a:latin typeface="Calibri" pitchFamily="34" charset="0"/>
                <a:ea typeface="Calibri" pitchFamily="34" charset="-122"/>
                <a:cs typeface="Calibri" pitchFamily="34" charset="-120"/>
              </a:rPr>
              <a:t>Familiar de primer grado con AR</a:t>
            </a:r>
            <a:endParaRPr lang="en-US" sz="1250" dirty="0"/>
          </a:p>
        </p:txBody>
      </p:sp>
      <p:sp>
        <p:nvSpPr>
          <p:cNvPr id="28" name="Shape 26"/>
          <p:cNvSpPr/>
          <p:nvPr/>
        </p:nvSpPr>
        <p:spPr>
          <a:xfrm>
            <a:off x="4663440" y="2724912"/>
            <a:ext cx="4023360" cy="493776"/>
          </a:xfrm>
          <a:prstGeom prst="roundRect">
            <a:avLst>
              <a:gd name="adj" fmla="val 18519"/>
            </a:avLst>
          </a:prstGeom>
          <a:solidFill>
            <a:srgbClr val="FFFFFF"/>
          </a:solidFill>
          <a:ln w="19050">
            <a:solidFill>
              <a:srgbClr val="A78BFA"/>
            </a:solidFill>
            <a:prstDash val="solid"/>
          </a:ln>
        </p:spPr>
        <p:txBody>
          <a:bodyPr/>
          <a:lstStyle/>
          <a:p>
            <a:endParaRPr lang="es-CO"/>
          </a:p>
        </p:txBody>
      </p:sp>
      <p:sp>
        <p:nvSpPr>
          <p:cNvPr id="29" name="Shape 27"/>
          <p:cNvSpPr/>
          <p:nvPr/>
        </p:nvSpPr>
        <p:spPr>
          <a:xfrm>
            <a:off x="4782312" y="2816352"/>
            <a:ext cx="310896" cy="310896"/>
          </a:xfrm>
          <a:prstGeom prst="ellipse">
            <a:avLst/>
          </a:prstGeom>
          <a:solidFill>
            <a:srgbClr val="A78BFA"/>
          </a:solidFill>
          <a:ln w="12700">
            <a:solidFill>
              <a:srgbClr val="A78BFA"/>
            </a:solidFill>
            <a:prstDash val="solid"/>
          </a:ln>
        </p:spPr>
        <p:txBody>
          <a:bodyPr/>
          <a:lstStyle/>
          <a:p>
            <a:endParaRPr lang="es-CO"/>
          </a:p>
        </p:txBody>
      </p:sp>
      <p:sp>
        <p:nvSpPr>
          <p:cNvPr id="30" name="Text 28"/>
          <p:cNvSpPr txBox="1"/>
          <p:nvPr/>
        </p:nvSpPr>
        <p:spPr>
          <a:xfrm>
            <a:off x="4782312" y="281635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Text 29"/>
          <p:cNvSpPr txBox="1"/>
          <p:nvPr/>
        </p:nvSpPr>
        <p:spPr>
          <a:xfrm>
            <a:off x="5212080" y="2724912"/>
            <a:ext cx="3383280" cy="493776"/>
          </a:xfrm>
          <a:prstGeom prst="rect">
            <a:avLst/>
          </a:prstGeom>
          <a:noFill/>
          <a:ln/>
        </p:spPr>
        <p:txBody>
          <a:bodyPr wrap="square" lIns="0" tIns="0" rIns="0" bIns="0" rtlCol="0" anchor="ctr"/>
          <a:lstStyle/>
          <a:p>
            <a:pPr marL="0" indent="0">
              <a:buNone/>
            </a:pPr>
            <a:r>
              <a:rPr lang="en-US" sz="1250" b="1" dirty="0">
                <a:solidFill>
                  <a:srgbClr val="141821"/>
                </a:solidFill>
                <a:latin typeface="Calibri" pitchFamily="34" charset="0"/>
                <a:ea typeface="Calibri" pitchFamily="34" charset="-122"/>
                <a:cs typeface="Calibri" pitchFamily="34" charset="-120"/>
              </a:rPr>
              <a:t>Dificultad para cerrar el puño</a:t>
            </a:r>
            <a:endParaRPr lang="en-US" sz="1250" dirty="0"/>
          </a:p>
        </p:txBody>
      </p:sp>
      <p:sp>
        <p:nvSpPr>
          <p:cNvPr id="32" name="Shape 30"/>
          <p:cNvSpPr/>
          <p:nvPr/>
        </p:nvSpPr>
        <p:spPr>
          <a:xfrm>
            <a:off x="457200" y="3291840"/>
            <a:ext cx="4023360" cy="493776"/>
          </a:xfrm>
          <a:prstGeom prst="roundRect">
            <a:avLst>
              <a:gd name="adj" fmla="val 18519"/>
            </a:avLst>
          </a:prstGeom>
          <a:solidFill>
            <a:srgbClr val="FFFFFF"/>
          </a:solidFill>
          <a:ln w="19050">
            <a:solidFill>
              <a:srgbClr val="A78BFA"/>
            </a:solidFill>
            <a:prstDash val="solid"/>
          </a:ln>
        </p:spPr>
        <p:txBody>
          <a:bodyPr/>
          <a:lstStyle/>
          <a:p>
            <a:endParaRPr lang="es-CO"/>
          </a:p>
        </p:txBody>
      </p:sp>
      <p:sp>
        <p:nvSpPr>
          <p:cNvPr id="33" name="Shape 31"/>
          <p:cNvSpPr/>
          <p:nvPr/>
        </p:nvSpPr>
        <p:spPr>
          <a:xfrm>
            <a:off x="576072" y="3383280"/>
            <a:ext cx="310896" cy="310896"/>
          </a:xfrm>
          <a:prstGeom prst="ellipse">
            <a:avLst/>
          </a:prstGeom>
          <a:solidFill>
            <a:srgbClr val="A78BFA"/>
          </a:solidFill>
          <a:ln w="12700">
            <a:solidFill>
              <a:srgbClr val="A78BFA"/>
            </a:solidFill>
            <a:prstDash val="solid"/>
          </a:ln>
        </p:spPr>
        <p:txBody>
          <a:bodyPr/>
          <a:lstStyle/>
          <a:p>
            <a:endParaRPr lang="es-CO"/>
          </a:p>
        </p:txBody>
      </p:sp>
      <p:sp>
        <p:nvSpPr>
          <p:cNvPr id="34" name="Text 32"/>
          <p:cNvSpPr txBox="1"/>
          <p:nvPr/>
        </p:nvSpPr>
        <p:spPr>
          <a:xfrm>
            <a:off x="576072" y="338328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5" name="Text 33"/>
          <p:cNvSpPr txBox="1"/>
          <p:nvPr/>
        </p:nvSpPr>
        <p:spPr>
          <a:xfrm>
            <a:off x="1005840" y="3291840"/>
            <a:ext cx="3383280" cy="493776"/>
          </a:xfrm>
          <a:prstGeom prst="rect">
            <a:avLst/>
          </a:prstGeom>
          <a:noFill/>
          <a:ln/>
        </p:spPr>
        <p:txBody>
          <a:bodyPr wrap="square" lIns="0" tIns="0" rIns="0" bIns="0" rtlCol="0" anchor="ctr"/>
          <a:lstStyle/>
          <a:p>
            <a:pPr marL="0" indent="0">
              <a:buNone/>
            </a:pPr>
            <a:r>
              <a:rPr lang="en-US" sz="1250" b="1" dirty="0">
                <a:solidFill>
                  <a:srgbClr val="141821"/>
                </a:solidFill>
                <a:latin typeface="Calibri" pitchFamily="34" charset="0"/>
                <a:ea typeface="Calibri" pitchFamily="34" charset="-122"/>
                <a:cs typeface="Calibri" pitchFamily="34" charset="-120"/>
              </a:rPr>
              <a:t>Squeeze test de MCF positivo</a:t>
            </a:r>
            <a:endParaRPr lang="en-US" sz="1250" dirty="0"/>
          </a:p>
        </p:txBody>
      </p:sp>
      <p:sp>
        <p:nvSpPr>
          <p:cNvPr id="36" name="Shape 34"/>
          <p:cNvSpPr/>
          <p:nvPr/>
        </p:nvSpPr>
        <p:spPr>
          <a:xfrm>
            <a:off x="4663440" y="3291840"/>
            <a:ext cx="4023360" cy="493776"/>
          </a:xfrm>
          <a:prstGeom prst="roundRect">
            <a:avLst>
              <a:gd name="adj" fmla="val 18519"/>
            </a:avLst>
          </a:prstGeom>
          <a:solidFill>
            <a:srgbClr val="F2546B"/>
          </a:solidFill>
          <a:ln w="12700">
            <a:solidFill>
              <a:srgbClr val="F2546B"/>
            </a:solidFill>
            <a:prstDash val="solid"/>
          </a:ln>
        </p:spPr>
        <p:txBody>
          <a:bodyPr/>
          <a:lstStyle/>
          <a:p>
            <a:endParaRPr lang="es-CO"/>
          </a:p>
        </p:txBody>
      </p:sp>
      <p:sp>
        <p:nvSpPr>
          <p:cNvPr id="37" name="Text 35"/>
          <p:cNvSpPr txBox="1"/>
          <p:nvPr/>
        </p:nvSpPr>
        <p:spPr>
          <a:xfrm>
            <a:off x="4718304" y="3291840"/>
            <a:ext cx="3913632" cy="493776"/>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 3 de 7 = artralgia sospechosa</a:t>
            </a:r>
            <a:endParaRPr lang="en-US" sz="1500" dirty="0">
              <a:solidFill>
                <a:schemeClr val="bg1"/>
              </a:solidFill>
            </a:endParaRPr>
          </a:p>
        </p:txBody>
      </p:sp>
      <p:sp>
        <p:nvSpPr>
          <p:cNvPr id="38" name="Shape 36"/>
          <p:cNvSpPr/>
          <p:nvPr/>
        </p:nvSpPr>
        <p:spPr>
          <a:xfrm>
            <a:off x="457200" y="4041648"/>
            <a:ext cx="8229600" cy="365760"/>
          </a:xfrm>
          <a:prstGeom prst="roundRect">
            <a:avLst>
              <a:gd name="adj" fmla="val 25000"/>
            </a:avLst>
          </a:prstGeom>
          <a:solidFill>
            <a:srgbClr val="A78BFA">
              <a:alpha val="10000"/>
            </a:srgbClr>
          </a:solidFill>
          <a:ln w="19050">
            <a:solidFill>
              <a:srgbClr val="A78BFA"/>
            </a:solidFill>
            <a:prstDash val="solid"/>
          </a:ln>
        </p:spPr>
        <p:txBody>
          <a:bodyPr/>
          <a:lstStyle/>
          <a:p>
            <a:endParaRPr lang="es-CO"/>
          </a:p>
        </p:txBody>
      </p:sp>
      <p:sp>
        <p:nvSpPr>
          <p:cNvPr id="39" name="Text 37"/>
          <p:cNvSpPr txBox="1"/>
          <p:nvPr/>
        </p:nvSpPr>
        <p:spPr>
          <a:xfrm>
            <a:off x="512064" y="4041648"/>
            <a:ext cx="8119872" cy="365760"/>
          </a:xfrm>
          <a:prstGeom prst="rect">
            <a:avLst/>
          </a:prstGeom>
          <a:noFill/>
          <a:ln/>
        </p:spPr>
        <p:txBody>
          <a:bodyPr wrap="square" lIns="0" tIns="0" rIns="0" bIns="0" rtlCol="0" anchor="ctr"/>
          <a:lstStyle/>
          <a:p>
            <a:pPr marL="0" indent="0" algn="ctr">
              <a:buNone/>
            </a:pPr>
            <a:r>
              <a:rPr lang="en-US" sz="1200" b="1" dirty="0">
                <a:solidFill>
                  <a:srgbClr val="141821"/>
                </a:solidFill>
                <a:latin typeface="Calibri" pitchFamily="34" charset="0"/>
                <a:ea typeface="Calibri" pitchFamily="34" charset="-122"/>
                <a:cs typeface="Calibri" pitchFamily="34" charset="-120"/>
              </a:rPr>
              <a:t>Umbral clínico ≥ 3: prioriza la sensibilidad (AUC 0,92); apoya —no sustituye— el juicio del reumatólogo</a:t>
            </a:r>
            <a:endParaRPr lang="en-US" sz="1200" dirty="0"/>
          </a:p>
        </p:txBody>
      </p:sp>
      <p:sp>
        <p:nvSpPr>
          <p:cNvPr id="40"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A66A00"/>
                </a:solidFill>
                <a:latin typeface="Calibri" pitchFamily="34" charset="0"/>
                <a:ea typeface="Calibri" pitchFamily="34" charset="-122"/>
                <a:cs typeface="Calibri" pitchFamily="34" charset="-120"/>
              </a:rPr>
              <a:t>REPLANTEAR LA ARTROSIS</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La artrosis no es solo “desgaste”</a:t>
            </a:r>
            <a:endParaRPr lang="en-US" sz="2900" dirty="0"/>
          </a:p>
        </p:txBody>
      </p:sp>
      <p:sp>
        <p:nvSpPr>
          <p:cNvPr id="5" name="Text 3"/>
          <p:cNvSpPr txBox="1"/>
          <p:nvPr/>
        </p:nvSpPr>
        <p:spPr>
          <a:xfrm>
            <a:off x="457200" y="4407408"/>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8. Tang S, Zhang C, Oo WM, Fu K, Risberg MA, Bierma-Zeinstra SM, et al. Osteoarthritis. Nat Rev Dis Primers. 2025;11(1):10.</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7. Hunter DJ, Bierma-Zeinstra S. Osteoarthritis. Lancet. 2019;393(10182):1745-59.</a:t>
            </a:r>
            <a:endParaRPr lang="en-US" sz="900" dirty="0"/>
          </a:p>
        </p:txBody>
      </p:sp>
      <p:sp>
        <p:nvSpPr>
          <p:cNvPr id="7" name="Text 5"/>
          <p:cNvSpPr txBox="1"/>
          <p:nvPr/>
        </p:nvSpPr>
        <p:spPr>
          <a:xfrm>
            <a:off x="457200" y="1133856"/>
            <a:ext cx="8229600" cy="365760"/>
          </a:xfrm>
          <a:prstGeom prst="rect">
            <a:avLst/>
          </a:prstGeom>
          <a:noFill/>
          <a:ln/>
        </p:spPr>
        <p:txBody>
          <a:bodyPr wrap="square" lIns="0" tIns="0" rIns="0" bIns="0" rtlCol="0" anchor="t"/>
          <a:lstStyle/>
          <a:p>
            <a:pPr marL="0" indent="0">
              <a:buNone/>
            </a:pPr>
            <a:r>
              <a:rPr lang="en-US" sz="1500" dirty="0">
                <a:solidFill>
                  <a:srgbClr val="141821"/>
                </a:solidFill>
                <a:latin typeface="Calibri" pitchFamily="34" charset="0"/>
                <a:ea typeface="Calibri" pitchFamily="34" charset="-122"/>
                <a:cs typeface="Calibri" pitchFamily="34" charset="-120"/>
              </a:rPr>
              <a:t>Es una enfermedad activa y heterogénea de toda la articulación, no un desgaste pasivo por la edad.</a:t>
            </a:r>
            <a:endParaRPr lang="en-US" sz="1500" dirty="0"/>
          </a:p>
        </p:txBody>
      </p:sp>
      <p:sp>
        <p:nvSpPr>
          <p:cNvPr id="8" name="Shape 6"/>
          <p:cNvSpPr/>
          <p:nvPr/>
        </p:nvSpPr>
        <p:spPr>
          <a:xfrm>
            <a:off x="457200" y="1572768"/>
            <a:ext cx="1874520" cy="2377440"/>
          </a:xfrm>
          <a:prstGeom prst="roundRect">
            <a:avLst>
              <a:gd name="adj" fmla="val 4878"/>
            </a:avLst>
          </a:prstGeom>
          <a:solidFill>
            <a:srgbClr val="2EC4B6">
              <a:alpha val="10000"/>
            </a:srgbClr>
          </a:solidFill>
          <a:ln w="19050">
            <a:solidFill>
              <a:srgbClr val="2EC4B6"/>
            </a:solidFill>
            <a:prstDash val="solid"/>
          </a:ln>
        </p:spPr>
        <p:txBody>
          <a:bodyPr/>
          <a:lstStyle/>
          <a:p>
            <a:endParaRPr lang="es-CO"/>
          </a:p>
        </p:txBody>
      </p:sp>
      <p:sp>
        <p:nvSpPr>
          <p:cNvPr id="9" name="Shape 7"/>
          <p:cNvSpPr/>
          <p:nvPr/>
        </p:nvSpPr>
        <p:spPr>
          <a:xfrm>
            <a:off x="1074420" y="1783080"/>
            <a:ext cx="640080" cy="640080"/>
          </a:xfrm>
          <a:prstGeom prst="ellipse">
            <a:avLst/>
          </a:prstGeom>
          <a:solidFill>
            <a:srgbClr val="2EC4B6"/>
          </a:solidFill>
          <a:ln w="12700">
            <a:solidFill>
              <a:srgbClr val="2EC4B6"/>
            </a:solidFill>
            <a:prstDash val="solid"/>
          </a:ln>
        </p:spPr>
        <p:txBody>
          <a:bodyPr/>
          <a:lstStyle/>
          <a:p>
            <a:endParaRPr lang="es-CO"/>
          </a:p>
        </p:txBody>
      </p:sp>
      <p:pic>
        <p:nvPicPr>
          <p:cNvPr id="10" name="Image 0" descr="preencoded.png"/>
          <p:cNvPicPr>
            <a:picLocks noChangeAspect="1"/>
          </p:cNvPicPr>
          <p:nvPr/>
        </p:nvPicPr>
        <p:blipFill>
          <a:blip r:embed="rId3"/>
          <a:stretch>
            <a:fillRect/>
          </a:stretch>
        </p:blipFill>
        <p:spPr>
          <a:xfrm>
            <a:off x="1228039" y="1936699"/>
            <a:ext cx="332842" cy="332842"/>
          </a:xfrm>
          <a:prstGeom prst="rect">
            <a:avLst/>
          </a:prstGeom>
        </p:spPr>
      </p:pic>
      <p:sp>
        <p:nvSpPr>
          <p:cNvPr id="11" name="Text 8"/>
          <p:cNvSpPr txBox="1"/>
          <p:nvPr/>
        </p:nvSpPr>
        <p:spPr>
          <a:xfrm>
            <a:off x="438912" y="2542032"/>
            <a:ext cx="1911096" cy="594360"/>
          </a:xfrm>
          <a:prstGeom prst="rect">
            <a:avLst/>
          </a:prstGeom>
          <a:noFill/>
          <a:ln/>
        </p:spPr>
        <p:txBody>
          <a:bodyPr wrap="square" lIns="0" tIns="0" rIns="0" bIns="0" rtlCol="0" anchor="t"/>
          <a:lstStyle/>
          <a:p>
            <a:pPr marL="0" indent="0" algn="ctr">
              <a:buNone/>
            </a:pPr>
            <a:r>
              <a:rPr lang="en-US" sz="1450" b="1" dirty="0">
                <a:solidFill>
                  <a:srgbClr val="0C8368"/>
                </a:solidFill>
                <a:latin typeface="Calibri" pitchFamily="34" charset="0"/>
                <a:ea typeface="Calibri" pitchFamily="34" charset="-122"/>
                <a:cs typeface="Calibri" pitchFamily="34" charset="-120"/>
              </a:rPr>
              <a:t>Toda la articulación</a:t>
            </a:r>
            <a:endParaRPr lang="en-US" sz="1450" dirty="0"/>
          </a:p>
        </p:txBody>
      </p:sp>
      <p:sp>
        <p:nvSpPr>
          <p:cNvPr id="12" name="Text 9"/>
          <p:cNvSpPr txBox="1"/>
          <p:nvPr/>
        </p:nvSpPr>
        <p:spPr>
          <a:xfrm>
            <a:off x="548640" y="3127248"/>
            <a:ext cx="1691640" cy="804672"/>
          </a:xfrm>
          <a:prstGeom prst="rect">
            <a:avLst/>
          </a:prstGeom>
          <a:noFill/>
          <a:ln/>
        </p:spPr>
        <p:txBody>
          <a:bodyPr wrap="square" lIns="0" tIns="0" rIns="0" bIns="0" rtlCol="0" anchor="t"/>
          <a:lstStyle/>
          <a:p>
            <a:pPr marL="0" indent="0" algn="ctr">
              <a:buNone/>
            </a:pPr>
            <a:r>
              <a:rPr lang="en-US" sz="1100" dirty="0">
                <a:solidFill>
                  <a:srgbClr val="141821"/>
                </a:solidFill>
                <a:latin typeface="Calibri" pitchFamily="34" charset="0"/>
                <a:ea typeface="Calibri" pitchFamily="34" charset="-122"/>
                <a:cs typeface="Calibri" pitchFamily="34" charset="-120"/>
              </a:rPr>
              <a:t>Hueso, cartílago, sinovial, grasa de Hoffa, ligamentos y músculo</a:t>
            </a:r>
            <a:endParaRPr lang="en-US" sz="1100" dirty="0"/>
          </a:p>
        </p:txBody>
      </p:sp>
      <p:sp>
        <p:nvSpPr>
          <p:cNvPr id="13" name="Shape 10"/>
          <p:cNvSpPr/>
          <p:nvPr/>
        </p:nvSpPr>
        <p:spPr>
          <a:xfrm>
            <a:off x="2575865" y="1572768"/>
            <a:ext cx="1874520" cy="2377440"/>
          </a:xfrm>
          <a:prstGeom prst="roundRect">
            <a:avLst>
              <a:gd name="adj" fmla="val 4878"/>
            </a:avLst>
          </a:prstGeom>
          <a:solidFill>
            <a:srgbClr val="F2B43C">
              <a:alpha val="10000"/>
            </a:srgbClr>
          </a:solidFill>
          <a:ln w="19050">
            <a:solidFill>
              <a:srgbClr val="F2B43C"/>
            </a:solidFill>
            <a:prstDash val="solid"/>
          </a:ln>
        </p:spPr>
        <p:txBody>
          <a:bodyPr/>
          <a:lstStyle/>
          <a:p>
            <a:endParaRPr lang="es-CO"/>
          </a:p>
        </p:txBody>
      </p:sp>
      <p:sp>
        <p:nvSpPr>
          <p:cNvPr id="14" name="Shape 11"/>
          <p:cNvSpPr/>
          <p:nvPr/>
        </p:nvSpPr>
        <p:spPr>
          <a:xfrm>
            <a:off x="3193085" y="1783080"/>
            <a:ext cx="640080" cy="640080"/>
          </a:xfrm>
          <a:prstGeom prst="ellipse">
            <a:avLst/>
          </a:prstGeom>
          <a:solidFill>
            <a:srgbClr val="F2B43C"/>
          </a:solidFill>
          <a:ln w="12700">
            <a:solidFill>
              <a:srgbClr val="F2B43C"/>
            </a:solidFill>
            <a:prstDash val="solid"/>
          </a:ln>
        </p:spPr>
        <p:txBody>
          <a:bodyPr/>
          <a:lstStyle/>
          <a:p>
            <a:endParaRPr lang="es-CO"/>
          </a:p>
        </p:txBody>
      </p:sp>
      <p:pic>
        <p:nvPicPr>
          <p:cNvPr id="15" name="Image 1" descr="preencoded.png"/>
          <p:cNvPicPr>
            <a:picLocks noChangeAspect="1"/>
          </p:cNvPicPr>
          <p:nvPr/>
        </p:nvPicPr>
        <p:blipFill>
          <a:blip r:embed="rId4"/>
          <a:stretch>
            <a:fillRect/>
          </a:stretch>
        </p:blipFill>
        <p:spPr>
          <a:xfrm>
            <a:off x="3346704" y="1936699"/>
            <a:ext cx="332842" cy="332842"/>
          </a:xfrm>
          <a:prstGeom prst="rect">
            <a:avLst/>
          </a:prstGeom>
        </p:spPr>
      </p:pic>
      <p:sp>
        <p:nvSpPr>
          <p:cNvPr id="16" name="Text 12"/>
          <p:cNvSpPr txBox="1"/>
          <p:nvPr/>
        </p:nvSpPr>
        <p:spPr>
          <a:xfrm>
            <a:off x="2557577" y="2542032"/>
            <a:ext cx="1911096" cy="594360"/>
          </a:xfrm>
          <a:prstGeom prst="rect">
            <a:avLst/>
          </a:prstGeom>
          <a:noFill/>
          <a:ln/>
        </p:spPr>
        <p:txBody>
          <a:bodyPr wrap="square" lIns="0" tIns="0" rIns="0" bIns="0" rtlCol="0" anchor="t"/>
          <a:lstStyle/>
          <a:p>
            <a:pPr marL="0" indent="0" algn="ctr">
              <a:buNone/>
            </a:pPr>
            <a:r>
              <a:rPr lang="en-US" sz="1450" b="1" dirty="0">
                <a:solidFill>
                  <a:srgbClr val="A66A00"/>
                </a:solidFill>
                <a:latin typeface="Calibri" pitchFamily="34" charset="0"/>
                <a:ea typeface="Calibri" pitchFamily="34" charset="-122"/>
                <a:cs typeface="Calibri" pitchFamily="34" charset="-120"/>
              </a:rPr>
              <a:t>Remodelación activa</a:t>
            </a:r>
            <a:endParaRPr lang="en-US" sz="1450" dirty="0"/>
          </a:p>
        </p:txBody>
      </p:sp>
      <p:sp>
        <p:nvSpPr>
          <p:cNvPr id="17" name="Text 13"/>
          <p:cNvSpPr txBox="1"/>
          <p:nvPr/>
        </p:nvSpPr>
        <p:spPr>
          <a:xfrm>
            <a:off x="2667305" y="3127248"/>
            <a:ext cx="1691640" cy="804672"/>
          </a:xfrm>
          <a:prstGeom prst="rect">
            <a:avLst/>
          </a:prstGeom>
          <a:noFill/>
          <a:ln/>
        </p:spPr>
        <p:txBody>
          <a:bodyPr wrap="square" lIns="0" tIns="0" rIns="0" bIns="0" rtlCol="0" anchor="t"/>
          <a:lstStyle/>
          <a:p>
            <a:pPr marL="0" indent="0" algn="ctr">
              <a:buNone/>
            </a:pPr>
            <a:r>
              <a:rPr lang="en-US" sz="1100" dirty="0">
                <a:solidFill>
                  <a:srgbClr val="141821"/>
                </a:solidFill>
                <a:latin typeface="Calibri" pitchFamily="34" charset="0"/>
                <a:ea typeface="Calibri" pitchFamily="34" charset="-122"/>
                <a:cs typeface="Calibri" pitchFamily="34" charset="-120"/>
              </a:rPr>
              <a:t>Degradación del cartílago y remodelado óseo con osteofitos</a:t>
            </a:r>
            <a:endParaRPr lang="en-US" sz="1100" dirty="0"/>
          </a:p>
        </p:txBody>
      </p:sp>
      <p:sp>
        <p:nvSpPr>
          <p:cNvPr id="18" name="Shape 14"/>
          <p:cNvSpPr/>
          <p:nvPr/>
        </p:nvSpPr>
        <p:spPr>
          <a:xfrm>
            <a:off x="4694530" y="1572768"/>
            <a:ext cx="1874520" cy="2377440"/>
          </a:xfrm>
          <a:prstGeom prst="roundRect">
            <a:avLst>
              <a:gd name="adj" fmla="val 4878"/>
            </a:avLst>
          </a:prstGeom>
          <a:solidFill>
            <a:srgbClr val="F2546B">
              <a:alpha val="10000"/>
            </a:srgbClr>
          </a:solidFill>
          <a:ln w="19050">
            <a:solidFill>
              <a:srgbClr val="F2546B"/>
            </a:solidFill>
            <a:prstDash val="solid"/>
          </a:ln>
        </p:spPr>
        <p:txBody>
          <a:bodyPr/>
          <a:lstStyle/>
          <a:p>
            <a:endParaRPr lang="es-CO"/>
          </a:p>
        </p:txBody>
      </p:sp>
      <p:sp>
        <p:nvSpPr>
          <p:cNvPr id="19" name="Shape 15"/>
          <p:cNvSpPr/>
          <p:nvPr/>
        </p:nvSpPr>
        <p:spPr>
          <a:xfrm>
            <a:off x="5311750" y="1783080"/>
            <a:ext cx="640080" cy="640080"/>
          </a:xfrm>
          <a:prstGeom prst="ellipse">
            <a:avLst/>
          </a:prstGeom>
          <a:solidFill>
            <a:srgbClr val="F2546B"/>
          </a:solidFill>
          <a:ln w="12700">
            <a:solidFill>
              <a:srgbClr val="F2546B"/>
            </a:solidFill>
            <a:prstDash val="solid"/>
          </a:ln>
        </p:spPr>
        <p:txBody>
          <a:bodyPr/>
          <a:lstStyle/>
          <a:p>
            <a:endParaRPr lang="es-CO"/>
          </a:p>
        </p:txBody>
      </p:sp>
      <p:pic>
        <p:nvPicPr>
          <p:cNvPr id="20" name="Image 2" descr="preencoded.png"/>
          <p:cNvPicPr>
            <a:picLocks noChangeAspect="1"/>
          </p:cNvPicPr>
          <p:nvPr/>
        </p:nvPicPr>
        <p:blipFill>
          <a:blip r:embed="rId5"/>
          <a:stretch>
            <a:fillRect/>
          </a:stretch>
        </p:blipFill>
        <p:spPr>
          <a:xfrm>
            <a:off x="5465369" y="1936699"/>
            <a:ext cx="332842" cy="332842"/>
          </a:xfrm>
          <a:prstGeom prst="rect">
            <a:avLst/>
          </a:prstGeom>
        </p:spPr>
      </p:pic>
      <p:sp>
        <p:nvSpPr>
          <p:cNvPr id="21" name="Text 16"/>
          <p:cNvSpPr txBox="1"/>
          <p:nvPr/>
        </p:nvSpPr>
        <p:spPr>
          <a:xfrm>
            <a:off x="4676242" y="2542032"/>
            <a:ext cx="1911096" cy="594360"/>
          </a:xfrm>
          <a:prstGeom prst="rect">
            <a:avLst/>
          </a:prstGeom>
          <a:noFill/>
          <a:ln/>
        </p:spPr>
        <p:txBody>
          <a:bodyPr wrap="square" lIns="0" tIns="0" rIns="0" bIns="0" rtlCol="0" anchor="t"/>
          <a:lstStyle/>
          <a:p>
            <a:pPr marL="0" indent="0" algn="ctr">
              <a:buNone/>
            </a:pPr>
            <a:r>
              <a:rPr lang="en-US" sz="1450" b="1" dirty="0">
                <a:solidFill>
                  <a:srgbClr val="C81E43"/>
                </a:solidFill>
                <a:latin typeface="Calibri" pitchFamily="34" charset="0"/>
                <a:ea typeface="Calibri" pitchFamily="34" charset="-122"/>
                <a:cs typeface="Calibri" pitchFamily="34" charset="-120"/>
              </a:rPr>
              <a:t>Inflamación</a:t>
            </a:r>
            <a:endParaRPr lang="en-US" sz="1450" dirty="0"/>
          </a:p>
        </p:txBody>
      </p:sp>
      <p:sp>
        <p:nvSpPr>
          <p:cNvPr id="22" name="Text 17"/>
          <p:cNvSpPr txBox="1"/>
          <p:nvPr/>
        </p:nvSpPr>
        <p:spPr>
          <a:xfrm>
            <a:off x="4785970" y="3127248"/>
            <a:ext cx="1691640" cy="804672"/>
          </a:xfrm>
          <a:prstGeom prst="rect">
            <a:avLst/>
          </a:prstGeom>
          <a:noFill/>
          <a:ln/>
        </p:spPr>
        <p:txBody>
          <a:bodyPr wrap="square" lIns="0" tIns="0" rIns="0" bIns="0" rtlCol="0" anchor="t"/>
          <a:lstStyle/>
          <a:p>
            <a:pPr marL="0" indent="0" algn="ctr">
              <a:buNone/>
            </a:pPr>
            <a:r>
              <a:rPr lang="en-US" sz="1100" dirty="0">
                <a:solidFill>
                  <a:srgbClr val="141821"/>
                </a:solidFill>
                <a:latin typeface="Calibri" pitchFamily="34" charset="0"/>
                <a:ea typeface="Calibri" pitchFamily="34" charset="-122"/>
                <a:cs typeface="Calibri" pitchFamily="34" charset="-120"/>
              </a:rPr>
              <a:t>Sinovitis, fibrosis y vascularización; IL-1 y TNF de bajo grado</a:t>
            </a:r>
            <a:endParaRPr lang="en-US" sz="1100" dirty="0"/>
          </a:p>
        </p:txBody>
      </p:sp>
      <p:sp>
        <p:nvSpPr>
          <p:cNvPr id="23" name="Shape 18"/>
          <p:cNvSpPr/>
          <p:nvPr/>
        </p:nvSpPr>
        <p:spPr>
          <a:xfrm>
            <a:off x="6813194" y="1572768"/>
            <a:ext cx="1874520" cy="2377440"/>
          </a:xfrm>
          <a:prstGeom prst="roundRect">
            <a:avLst>
              <a:gd name="adj" fmla="val 4878"/>
            </a:avLst>
          </a:prstGeom>
          <a:solidFill>
            <a:srgbClr val="A78BFA">
              <a:alpha val="10000"/>
            </a:srgbClr>
          </a:solidFill>
          <a:ln w="19050">
            <a:solidFill>
              <a:srgbClr val="A78BFA"/>
            </a:solidFill>
            <a:prstDash val="solid"/>
          </a:ln>
        </p:spPr>
        <p:txBody>
          <a:bodyPr/>
          <a:lstStyle/>
          <a:p>
            <a:endParaRPr lang="es-CO"/>
          </a:p>
        </p:txBody>
      </p:sp>
      <p:sp>
        <p:nvSpPr>
          <p:cNvPr id="24" name="Shape 19"/>
          <p:cNvSpPr/>
          <p:nvPr/>
        </p:nvSpPr>
        <p:spPr>
          <a:xfrm>
            <a:off x="7430414" y="1783080"/>
            <a:ext cx="640080" cy="640080"/>
          </a:xfrm>
          <a:prstGeom prst="ellipse">
            <a:avLst/>
          </a:prstGeom>
          <a:solidFill>
            <a:srgbClr val="A78BFA"/>
          </a:solidFill>
          <a:ln w="12700">
            <a:solidFill>
              <a:srgbClr val="A78BFA"/>
            </a:solidFill>
            <a:prstDash val="solid"/>
          </a:ln>
        </p:spPr>
        <p:txBody>
          <a:bodyPr/>
          <a:lstStyle/>
          <a:p>
            <a:endParaRPr lang="es-CO"/>
          </a:p>
        </p:txBody>
      </p:sp>
      <p:pic>
        <p:nvPicPr>
          <p:cNvPr id="25" name="Image 3" descr="preencoded.png"/>
          <p:cNvPicPr>
            <a:picLocks noChangeAspect="1"/>
          </p:cNvPicPr>
          <p:nvPr/>
        </p:nvPicPr>
        <p:blipFill>
          <a:blip r:embed="rId6"/>
          <a:stretch>
            <a:fillRect/>
          </a:stretch>
        </p:blipFill>
        <p:spPr>
          <a:xfrm>
            <a:off x="7584034" y="1936699"/>
            <a:ext cx="332842" cy="332842"/>
          </a:xfrm>
          <a:prstGeom prst="rect">
            <a:avLst/>
          </a:prstGeom>
        </p:spPr>
      </p:pic>
      <p:sp>
        <p:nvSpPr>
          <p:cNvPr id="26" name="Text 20"/>
          <p:cNvSpPr txBox="1"/>
          <p:nvPr/>
        </p:nvSpPr>
        <p:spPr>
          <a:xfrm>
            <a:off x="6794906" y="2542032"/>
            <a:ext cx="1911096" cy="594360"/>
          </a:xfrm>
          <a:prstGeom prst="rect">
            <a:avLst/>
          </a:prstGeom>
          <a:noFill/>
          <a:ln/>
        </p:spPr>
        <p:txBody>
          <a:bodyPr wrap="square" lIns="0" tIns="0" rIns="0" bIns="0" rtlCol="0" anchor="t"/>
          <a:lstStyle/>
          <a:p>
            <a:pPr marL="0" indent="0" algn="ctr">
              <a:buNone/>
            </a:pPr>
            <a:r>
              <a:rPr lang="en-US" sz="1450" b="1" dirty="0">
                <a:solidFill>
                  <a:srgbClr val="6A4CCF"/>
                </a:solidFill>
                <a:latin typeface="Calibri" pitchFamily="34" charset="0"/>
                <a:ea typeface="Calibri" pitchFamily="34" charset="-122"/>
                <a:cs typeface="Calibri" pitchFamily="34" charset="-120"/>
              </a:rPr>
              <a:t>Dolor y sensibilización</a:t>
            </a:r>
            <a:endParaRPr lang="en-US" sz="1450" dirty="0"/>
          </a:p>
        </p:txBody>
      </p:sp>
      <p:sp>
        <p:nvSpPr>
          <p:cNvPr id="27" name="Text 21"/>
          <p:cNvSpPr txBox="1"/>
          <p:nvPr/>
        </p:nvSpPr>
        <p:spPr>
          <a:xfrm>
            <a:off x="6904634" y="3127248"/>
            <a:ext cx="1691640" cy="804672"/>
          </a:xfrm>
          <a:prstGeom prst="rect">
            <a:avLst/>
          </a:prstGeom>
          <a:noFill/>
          <a:ln/>
        </p:spPr>
        <p:txBody>
          <a:bodyPr wrap="square" lIns="0" tIns="0" rIns="0" bIns="0" rtlCol="0" anchor="t"/>
          <a:lstStyle/>
          <a:p>
            <a:pPr marL="0" indent="0" algn="ctr">
              <a:buNone/>
            </a:pPr>
            <a:r>
              <a:rPr lang="en-US" sz="1100" dirty="0">
                <a:solidFill>
                  <a:srgbClr val="141821"/>
                </a:solidFill>
                <a:latin typeface="Calibri" pitchFamily="34" charset="0"/>
                <a:ea typeface="Calibri" pitchFamily="34" charset="-122"/>
                <a:cs typeface="Calibri" pitchFamily="34" charset="-120"/>
              </a:rPr>
              <a:t>Sensibilización mecánica y neuroplasticidad; suele iniciarla un trauma</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A66A00"/>
                </a:solidFill>
                <a:latin typeface="Calibri" pitchFamily="34" charset="0"/>
                <a:ea typeface="Calibri" pitchFamily="34" charset="-122"/>
                <a:cs typeface="Calibri" pitchFamily="34" charset="-120"/>
              </a:rPr>
              <a:t>¿Y SI NO ES AR?</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Cómo se diagnostica la artrosis</a:t>
            </a:r>
            <a:endParaRPr lang="en-US" sz="29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6. Katz JN, Arant KR, Loeser RF. Diagnosis and treatment of hip and knee osteoarthritis: a review. JAMA. 2021;325(6):568-78.</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8. Tang S, Zhang C, Oo WM, Fu K, Risberg MA, Bierma-Zeinstra SM, et al. Osteoarthritis. Nat Rev Dis Primers. 2025;11(1):10.</a:t>
            </a:r>
            <a:endParaRPr lang="en-US" sz="900" dirty="0"/>
          </a:p>
        </p:txBody>
      </p:sp>
      <p:sp>
        <p:nvSpPr>
          <p:cNvPr id="7" name="Shape 5"/>
          <p:cNvSpPr/>
          <p:nvPr/>
        </p:nvSpPr>
        <p:spPr>
          <a:xfrm>
            <a:off x="457200" y="1280160"/>
            <a:ext cx="4023360" cy="3017520"/>
          </a:xfrm>
          <a:prstGeom prst="roundRect">
            <a:avLst>
              <a:gd name="adj" fmla="val 3030"/>
            </a:avLst>
          </a:prstGeom>
          <a:solidFill>
            <a:srgbClr val="FFFFFF"/>
          </a:solidFill>
          <a:ln w="19050">
            <a:solidFill>
              <a:srgbClr val="F2B43C"/>
            </a:solidFill>
            <a:prstDash val="solid"/>
          </a:ln>
        </p:spPr>
        <p:txBody>
          <a:bodyPr/>
          <a:lstStyle/>
          <a:p>
            <a:endParaRPr lang="es-CO"/>
          </a:p>
        </p:txBody>
      </p:sp>
      <p:sp>
        <p:nvSpPr>
          <p:cNvPr id="8" name="Text 6"/>
          <p:cNvSpPr txBox="1"/>
          <p:nvPr/>
        </p:nvSpPr>
        <p:spPr>
          <a:xfrm>
            <a:off x="640080" y="1371600"/>
            <a:ext cx="3657600" cy="365760"/>
          </a:xfrm>
          <a:prstGeom prst="rect">
            <a:avLst/>
          </a:prstGeom>
          <a:noFill/>
          <a:ln/>
        </p:spPr>
        <p:txBody>
          <a:bodyPr wrap="square" lIns="0" tIns="0" rIns="0" bIns="0" rtlCol="0" anchor="t"/>
          <a:lstStyle/>
          <a:p>
            <a:pPr marL="0" indent="0">
              <a:buNone/>
            </a:pPr>
            <a:r>
              <a:rPr lang="en-US" sz="1650" b="1" dirty="0">
                <a:solidFill>
                  <a:srgbClr val="A66A00"/>
                </a:solidFill>
                <a:latin typeface="Calibri" pitchFamily="34" charset="0"/>
                <a:ea typeface="Calibri" pitchFamily="34" charset="-122"/>
                <a:cs typeface="Calibri" pitchFamily="34" charset="-120"/>
              </a:rPr>
              <a:t>Es un diagnóstico clínico</a:t>
            </a:r>
            <a:endParaRPr lang="en-US" sz="1650" dirty="0"/>
          </a:p>
        </p:txBody>
      </p:sp>
      <p:sp>
        <p:nvSpPr>
          <p:cNvPr id="9" name="Text 7"/>
          <p:cNvSpPr txBox="1"/>
          <p:nvPr/>
        </p:nvSpPr>
        <p:spPr>
          <a:xfrm>
            <a:off x="685800" y="1828800"/>
            <a:ext cx="3611880" cy="2377440"/>
          </a:xfrm>
          <a:prstGeom prst="rect">
            <a:avLst/>
          </a:prstGeom>
          <a:noFill/>
          <a:ln/>
        </p:spPr>
        <p:txBody>
          <a:bodyPr wrap="square" lIns="0" tIns="0" rIns="0" bIns="0" rtlCol="0" anchor="t"/>
          <a:lstStyle/>
          <a:p>
            <a:pPr marL="342900" indent="-342900">
              <a:spcAft>
                <a:spcPts val="700"/>
              </a:spcAft>
              <a:buSzPct val="100000"/>
              <a:buFontTx/>
              <a:buChar char="•"/>
            </a:pPr>
            <a:r>
              <a:rPr lang="en-US" sz="1600" dirty="0">
                <a:solidFill>
                  <a:srgbClr val="141821"/>
                </a:solidFill>
                <a:latin typeface="Calibri" pitchFamily="34" charset="0"/>
                <a:ea typeface="Calibri" pitchFamily="34" charset="-122"/>
                <a:cs typeface="Calibri" pitchFamily="34" charset="-120"/>
              </a:rPr>
              <a:t>Edad </a:t>
            </a:r>
            <a:r>
              <a:rPr lang="es-CO" sz="1600" dirty="0"/>
              <a:t>≥ 45 años y dolor relacionado con la actividad.</a:t>
            </a:r>
          </a:p>
          <a:p>
            <a:pPr marL="342900" indent="-342900">
              <a:spcAft>
                <a:spcPts val="700"/>
              </a:spcAft>
              <a:buSzPct val="100000"/>
              <a:buFontTx/>
              <a:buChar char="•"/>
            </a:pPr>
            <a:r>
              <a:rPr lang="en-US" sz="1600" dirty="0" err="1">
                <a:solidFill>
                  <a:srgbClr val="141821"/>
                </a:solidFill>
                <a:latin typeface="Calibri" pitchFamily="34" charset="0"/>
                <a:ea typeface="Calibri" pitchFamily="34" charset="-122"/>
                <a:cs typeface="Calibri" pitchFamily="34" charset="-120"/>
              </a:rPr>
              <a:t>Rigidez</a:t>
            </a:r>
            <a:r>
              <a:rPr lang="en-US" sz="1600" dirty="0">
                <a:solidFill>
                  <a:srgbClr val="141821"/>
                </a:solidFill>
                <a:latin typeface="Calibri" pitchFamily="34" charset="0"/>
                <a:ea typeface="Calibri" pitchFamily="34" charset="-122"/>
                <a:cs typeface="Calibri" pitchFamily="34" charset="-120"/>
              </a:rPr>
              <a:t> matutina ausente o &lt; 30 min.</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En el caso típico no hace falta radiografía (NICE).</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Examen: crepitación, aumento óseo, dolor a la rotación interna en cadera.</a:t>
            </a:r>
            <a:endParaRPr lang="en-US" sz="1600" dirty="0"/>
          </a:p>
        </p:txBody>
      </p:sp>
      <p:sp>
        <p:nvSpPr>
          <p:cNvPr id="10" name="Shape 8"/>
          <p:cNvSpPr/>
          <p:nvPr/>
        </p:nvSpPr>
        <p:spPr>
          <a:xfrm>
            <a:off x="4663440" y="1280160"/>
            <a:ext cx="4023360" cy="3017520"/>
          </a:xfrm>
          <a:prstGeom prst="roundRect">
            <a:avLst>
              <a:gd name="adj" fmla="val 3030"/>
            </a:avLst>
          </a:prstGeom>
          <a:solidFill>
            <a:srgbClr val="FFFFFF"/>
          </a:solidFill>
          <a:ln w="19050">
            <a:solidFill>
              <a:srgbClr val="4CC9F0"/>
            </a:solidFill>
            <a:prstDash val="solid"/>
          </a:ln>
        </p:spPr>
        <p:txBody>
          <a:bodyPr/>
          <a:lstStyle/>
          <a:p>
            <a:endParaRPr lang="es-CO"/>
          </a:p>
        </p:txBody>
      </p:sp>
      <p:sp>
        <p:nvSpPr>
          <p:cNvPr id="11" name="Text 9"/>
          <p:cNvSpPr txBox="1"/>
          <p:nvPr/>
        </p:nvSpPr>
        <p:spPr>
          <a:xfrm>
            <a:off x="4846320" y="1371600"/>
            <a:ext cx="3657600" cy="365760"/>
          </a:xfrm>
          <a:prstGeom prst="rect">
            <a:avLst/>
          </a:prstGeom>
          <a:noFill/>
          <a:ln/>
        </p:spPr>
        <p:txBody>
          <a:bodyPr wrap="square" lIns="0" tIns="0" rIns="0" bIns="0" rtlCol="0" anchor="t"/>
          <a:lstStyle/>
          <a:p>
            <a:pPr marL="0" indent="0">
              <a:buNone/>
            </a:pPr>
            <a:r>
              <a:rPr lang="en-US" sz="1650" b="1" dirty="0">
                <a:solidFill>
                  <a:srgbClr val="0A6F98"/>
                </a:solidFill>
                <a:latin typeface="Calibri" pitchFamily="34" charset="0"/>
                <a:ea typeface="Calibri" pitchFamily="34" charset="-122"/>
                <a:cs typeface="Calibri" pitchFamily="34" charset="-120"/>
              </a:rPr>
              <a:t>Pruebas complementarias</a:t>
            </a:r>
            <a:endParaRPr lang="en-US" sz="1650" dirty="0"/>
          </a:p>
        </p:txBody>
      </p:sp>
      <p:sp>
        <p:nvSpPr>
          <p:cNvPr id="12" name="Text 10"/>
          <p:cNvSpPr txBox="1"/>
          <p:nvPr/>
        </p:nvSpPr>
        <p:spPr>
          <a:xfrm>
            <a:off x="4892040" y="1828800"/>
            <a:ext cx="3611880" cy="237744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Imagen no de rutina: radiografía sólo en presentación </a:t>
            </a:r>
            <a:r>
              <a:rPr lang="en-US" sz="1600" dirty="0" err="1">
                <a:solidFill>
                  <a:srgbClr val="141821"/>
                </a:solidFill>
                <a:latin typeface="Calibri" pitchFamily="34" charset="0"/>
                <a:ea typeface="Calibri" pitchFamily="34" charset="-122"/>
                <a:cs typeface="Calibri" pitchFamily="34" charset="-120"/>
              </a:rPr>
              <a:t>atípica</a:t>
            </a:r>
            <a:r>
              <a:rPr lang="en-US" sz="1600" dirty="0">
                <a:solidFill>
                  <a:srgbClr val="141821"/>
                </a:solidFill>
                <a:latin typeface="Calibri" pitchFamily="34" charset="0"/>
                <a:ea typeface="Calibri" pitchFamily="34" charset="-122"/>
                <a:cs typeface="Calibri" pitchFamily="34" charset="-120"/>
              </a:rPr>
              <a:t>.</a:t>
            </a:r>
            <a:endParaRPr lang="en-US" sz="1600" dirty="0"/>
          </a:p>
          <a:p>
            <a:pPr marL="342900" indent="-342900">
              <a:spcAft>
                <a:spcPts val="700"/>
              </a:spcAft>
              <a:buSzPct val="100000"/>
              <a:buChar char="•"/>
            </a:pPr>
            <a:r>
              <a:rPr lang="en-US" sz="1600" dirty="0">
                <a:solidFill>
                  <a:srgbClr val="141821"/>
                </a:solidFill>
                <a:latin typeface="Calibri" pitchFamily="34" charset="0"/>
                <a:ea typeface="Calibri" pitchFamily="34" charset="-122"/>
                <a:cs typeface="Calibri" pitchFamily="34" charset="-120"/>
              </a:rPr>
              <a:t>Laboratorio normal: sólo para excluir causas inflamatorias.</a:t>
            </a:r>
            <a:endParaRPr lang="en-US" sz="1600" dirty="0"/>
          </a:p>
          <a:p>
            <a:pPr>
              <a:spcAft>
                <a:spcPts val="700"/>
              </a:spcAft>
              <a:buSzPct val="100000"/>
            </a:pPr>
            <a:endParaRPr lang="en-US" sz="1400" dirty="0"/>
          </a:p>
        </p:txBody>
      </p:sp>
      <p:sp>
        <p:nvSpPr>
          <p:cNvPr id="13" name="Shape 11"/>
          <p:cNvSpPr/>
          <p:nvPr/>
        </p:nvSpPr>
        <p:spPr>
          <a:xfrm>
            <a:off x="457200" y="4370832"/>
            <a:ext cx="8229600" cy="914"/>
          </a:xfrm>
          <a:prstGeom prst="roundRect">
            <a:avLst>
              <a:gd name="adj" fmla="val 10004376"/>
            </a:avLst>
          </a:prstGeom>
          <a:solidFill>
            <a:srgbClr val="F2B43C">
              <a:alpha val="10000"/>
            </a:srgbClr>
          </a:solidFill>
          <a:ln w="19050">
            <a:solidFill>
              <a:srgbClr val="F2B43C"/>
            </a:solidFill>
            <a:prstDash val="solid"/>
          </a:ln>
        </p:spPr>
        <p:txBody>
          <a:bodyPr/>
          <a:lstStyle/>
          <a:p>
            <a:endParaRPr lang="es-CO"/>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A66A00"/>
                </a:solidFill>
                <a:latin typeface="Calibri" pitchFamily="34" charset="0"/>
                <a:ea typeface="Calibri" pitchFamily="34" charset="-122"/>
                <a:cs typeface="Calibri" pitchFamily="34" charset="-120"/>
              </a:rPr>
              <a:t>¿Y SI NO ES AR?</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Fenotipos de la artrosis: no es una sola enfermedad</a:t>
            </a:r>
            <a:endParaRPr lang="en-US" sz="2900" dirty="0"/>
          </a:p>
        </p:txBody>
      </p:sp>
      <p:sp>
        <p:nvSpPr>
          <p:cNvPr id="4" name="Shape 2"/>
          <p:cNvSpPr/>
          <p:nvPr/>
        </p:nvSpPr>
        <p:spPr>
          <a:xfrm>
            <a:off x="457200" y="4480560"/>
            <a:ext cx="7589520" cy="0"/>
          </a:xfrm>
          <a:prstGeom prst="line">
            <a:avLst/>
          </a:prstGeom>
          <a:noFill/>
          <a:ln w="9525">
            <a:solidFill>
              <a:srgbClr val="C4CCE0"/>
            </a:solidFill>
            <a:prstDash val="solid"/>
          </a:ln>
        </p:spPr>
        <p:txBody>
          <a:bodyPr/>
          <a:lstStyle/>
          <a:p>
            <a:endParaRPr lang="es-CO"/>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11. Dell’Isola A, Allan R, Smith SL, Marreiros SS, Steultjens M. Identification of clinical phenotypes in knee osteoarthritis: a systematic review of the literature. BMC Musculoskelet Disord. 2016;17:425.</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12. Deveza LA, Nelson AE, Loeser RF. Phenotypes of osteoarthritis: current state and future implications. Clin Exp Rheumatol. 2019;37 Suppl 120(5):S64-72.</a:t>
            </a:r>
            <a:endParaRPr lang="en-US" sz="900" dirty="0"/>
          </a:p>
        </p:txBody>
      </p:sp>
      <p:sp>
        <p:nvSpPr>
          <p:cNvPr id="7" name="Shape 5"/>
          <p:cNvSpPr/>
          <p:nvPr/>
        </p:nvSpPr>
        <p:spPr>
          <a:xfrm>
            <a:off x="457200" y="1325880"/>
            <a:ext cx="2624328" cy="1280160"/>
          </a:xfrm>
          <a:prstGeom prst="roundRect">
            <a:avLst>
              <a:gd name="adj" fmla="val 7143"/>
            </a:avLst>
          </a:prstGeom>
          <a:solidFill>
            <a:srgbClr val="A78BFA">
              <a:alpha val="10000"/>
            </a:srgbClr>
          </a:solidFill>
          <a:ln w="19050">
            <a:solidFill>
              <a:srgbClr val="A78BFA"/>
            </a:solidFill>
            <a:prstDash val="solid"/>
          </a:ln>
        </p:spPr>
        <p:txBody>
          <a:bodyPr/>
          <a:lstStyle/>
          <a:p>
            <a:endParaRPr lang="es-CO"/>
          </a:p>
        </p:txBody>
      </p:sp>
      <p:sp>
        <p:nvSpPr>
          <p:cNvPr id="8" name="Shape 6"/>
          <p:cNvSpPr/>
          <p:nvPr/>
        </p:nvSpPr>
        <p:spPr>
          <a:xfrm>
            <a:off x="603504" y="1508760"/>
            <a:ext cx="502920" cy="502920"/>
          </a:xfrm>
          <a:prstGeom prst="ellipse">
            <a:avLst/>
          </a:prstGeom>
          <a:solidFill>
            <a:srgbClr val="A78BFA"/>
          </a:solidFill>
          <a:ln w="12700">
            <a:solidFill>
              <a:srgbClr val="A78BFA"/>
            </a:solidFill>
            <a:prstDash val="solid"/>
          </a:ln>
        </p:spPr>
        <p:txBody>
          <a:bodyPr/>
          <a:lstStyle/>
          <a:p>
            <a:endParaRPr lang="es-CO"/>
          </a:p>
        </p:txBody>
      </p:sp>
      <p:pic>
        <p:nvPicPr>
          <p:cNvPr id="9" name="Image 0" descr="preencoded.png"/>
          <p:cNvPicPr>
            <a:picLocks noChangeAspect="1"/>
          </p:cNvPicPr>
          <p:nvPr/>
        </p:nvPicPr>
        <p:blipFill>
          <a:blip r:embed="rId3"/>
          <a:stretch>
            <a:fillRect/>
          </a:stretch>
        </p:blipFill>
        <p:spPr>
          <a:xfrm>
            <a:off x="724205" y="1629461"/>
            <a:ext cx="261518" cy="261518"/>
          </a:xfrm>
          <a:prstGeom prst="rect">
            <a:avLst/>
          </a:prstGeom>
        </p:spPr>
      </p:pic>
      <p:sp>
        <p:nvSpPr>
          <p:cNvPr id="10" name="Text 7"/>
          <p:cNvSpPr txBox="1"/>
          <p:nvPr/>
        </p:nvSpPr>
        <p:spPr>
          <a:xfrm>
            <a:off x="1188720" y="1472184"/>
            <a:ext cx="1783080" cy="548640"/>
          </a:xfrm>
          <a:prstGeom prst="rect">
            <a:avLst/>
          </a:prstGeom>
          <a:noFill/>
          <a:ln/>
        </p:spPr>
        <p:txBody>
          <a:bodyPr wrap="square" lIns="0" tIns="0" rIns="0" bIns="0" rtlCol="0" anchor="ctr"/>
          <a:lstStyle/>
          <a:p>
            <a:pPr marL="0" indent="0">
              <a:buNone/>
            </a:pPr>
            <a:r>
              <a:rPr lang="en-US" sz="1400" b="1" dirty="0">
                <a:solidFill>
                  <a:srgbClr val="6A4CCF"/>
                </a:solidFill>
                <a:latin typeface="Calibri" pitchFamily="34" charset="0"/>
                <a:ea typeface="Calibri" pitchFamily="34" charset="-122"/>
                <a:cs typeface="Calibri" pitchFamily="34" charset="-120"/>
              </a:rPr>
              <a:t>Dolor crónico</a:t>
            </a:r>
            <a:endParaRPr lang="en-US" sz="1400" dirty="0"/>
          </a:p>
        </p:txBody>
      </p:sp>
      <p:sp>
        <p:nvSpPr>
          <p:cNvPr id="11" name="Text 8"/>
          <p:cNvSpPr txBox="1"/>
          <p:nvPr/>
        </p:nvSpPr>
        <p:spPr>
          <a:xfrm>
            <a:off x="603504" y="2057400"/>
            <a:ext cx="2377440" cy="502920"/>
          </a:xfrm>
          <a:prstGeom prst="rect">
            <a:avLst/>
          </a:prstGeom>
          <a:noFill/>
          <a:ln/>
        </p:spPr>
        <p:txBody>
          <a:bodyPr wrap="square" lIns="0" tIns="0" rIns="0" bIns="0" rtlCol="0" anchor="t"/>
          <a:lstStyle/>
          <a:p>
            <a:pPr marL="0" indent="0">
              <a:buNone/>
            </a:pPr>
            <a:r>
              <a:rPr lang="en-US" sz="1050" dirty="0">
                <a:solidFill>
                  <a:srgbClr val="141821"/>
                </a:solidFill>
                <a:latin typeface="Calibri" pitchFamily="34" charset="0"/>
                <a:ea typeface="Calibri" pitchFamily="34" charset="-122"/>
                <a:cs typeface="Calibri" pitchFamily="34" charset="-120"/>
              </a:rPr>
              <a:t>Sensibilización central; dolor desproporcionado</a:t>
            </a:r>
            <a:endParaRPr lang="en-US" sz="1050" dirty="0"/>
          </a:p>
        </p:txBody>
      </p:sp>
      <p:sp>
        <p:nvSpPr>
          <p:cNvPr id="12" name="Shape 9"/>
          <p:cNvSpPr/>
          <p:nvPr/>
        </p:nvSpPr>
        <p:spPr>
          <a:xfrm>
            <a:off x="3264408" y="1325880"/>
            <a:ext cx="2624328" cy="1280160"/>
          </a:xfrm>
          <a:prstGeom prst="roundRect">
            <a:avLst>
              <a:gd name="adj" fmla="val 7143"/>
            </a:avLst>
          </a:prstGeom>
          <a:solidFill>
            <a:srgbClr val="F2546B">
              <a:alpha val="10000"/>
            </a:srgbClr>
          </a:solidFill>
          <a:ln w="19050">
            <a:solidFill>
              <a:srgbClr val="F2546B"/>
            </a:solidFill>
            <a:prstDash val="solid"/>
          </a:ln>
        </p:spPr>
        <p:txBody>
          <a:bodyPr/>
          <a:lstStyle/>
          <a:p>
            <a:endParaRPr lang="es-CO"/>
          </a:p>
        </p:txBody>
      </p:sp>
      <p:sp>
        <p:nvSpPr>
          <p:cNvPr id="13" name="Shape 10"/>
          <p:cNvSpPr/>
          <p:nvPr/>
        </p:nvSpPr>
        <p:spPr>
          <a:xfrm>
            <a:off x="3410712" y="1508760"/>
            <a:ext cx="502920" cy="502920"/>
          </a:xfrm>
          <a:prstGeom prst="ellipse">
            <a:avLst/>
          </a:prstGeom>
          <a:solidFill>
            <a:srgbClr val="F2546B"/>
          </a:solidFill>
          <a:ln w="12700">
            <a:solidFill>
              <a:srgbClr val="F2546B"/>
            </a:solidFill>
            <a:prstDash val="solid"/>
          </a:ln>
        </p:spPr>
        <p:txBody>
          <a:bodyPr/>
          <a:lstStyle/>
          <a:p>
            <a:endParaRPr lang="es-CO"/>
          </a:p>
        </p:txBody>
      </p:sp>
      <p:pic>
        <p:nvPicPr>
          <p:cNvPr id="14" name="Image 1" descr="preencoded.png"/>
          <p:cNvPicPr>
            <a:picLocks noChangeAspect="1"/>
          </p:cNvPicPr>
          <p:nvPr/>
        </p:nvPicPr>
        <p:blipFill>
          <a:blip r:embed="rId4"/>
          <a:stretch>
            <a:fillRect/>
          </a:stretch>
        </p:blipFill>
        <p:spPr>
          <a:xfrm>
            <a:off x="3531413" y="1629461"/>
            <a:ext cx="261518" cy="261518"/>
          </a:xfrm>
          <a:prstGeom prst="rect">
            <a:avLst/>
          </a:prstGeom>
        </p:spPr>
      </p:pic>
      <p:sp>
        <p:nvSpPr>
          <p:cNvPr id="15" name="Text 11"/>
          <p:cNvSpPr txBox="1"/>
          <p:nvPr/>
        </p:nvSpPr>
        <p:spPr>
          <a:xfrm>
            <a:off x="3995928" y="1472184"/>
            <a:ext cx="1783080" cy="548640"/>
          </a:xfrm>
          <a:prstGeom prst="rect">
            <a:avLst/>
          </a:prstGeom>
          <a:noFill/>
          <a:ln/>
        </p:spPr>
        <p:txBody>
          <a:bodyPr wrap="square" lIns="0" tIns="0" rIns="0" bIns="0" rtlCol="0" anchor="ctr"/>
          <a:lstStyle/>
          <a:p>
            <a:pPr marL="0" indent="0">
              <a:buNone/>
            </a:pPr>
            <a:r>
              <a:rPr lang="en-US" sz="1400" b="1" dirty="0">
                <a:solidFill>
                  <a:srgbClr val="C81E43"/>
                </a:solidFill>
                <a:latin typeface="Calibri" pitchFamily="34" charset="0"/>
                <a:ea typeface="Calibri" pitchFamily="34" charset="-122"/>
                <a:cs typeface="Calibri" pitchFamily="34" charset="-120"/>
              </a:rPr>
              <a:t>Inflamatorio</a:t>
            </a:r>
            <a:endParaRPr lang="en-US" sz="1400" dirty="0"/>
          </a:p>
        </p:txBody>
      </p:sp>
      <p:sp>
        <p:nvSpPr>
          <p:cNvPr id="16" name="Text 12"/>
          <p:cNvSpPr txBox="1"/>
          <p:nvPr/>
        </p:nvSpPr>
        <p:spPr>
          <a:xfrm>
            <a:off x="3410712" y="2057400"/>
            <a:ext cx="2377440" cy="502920"/>
          </a:xfrm>
          <a:prstGeom prst="rect">
            <a:avLst/>
          </a:prstGeom>
          <a:noFill/>
          <a:ln/>
        </p:spPr>
        <p:txBody>
          <a:bodyPr wrap="square" lIns="0" tIns="0" rIns="0" bIns="0" rtlCol="0" anchor="t"/>
          <a:lstStyle/>
          <a:p>
            <a:pPr marL="0" indent="0">
              <a:buNone/>
            </a:pPr>
            <a:r>
              <a:rPr lang="en-US" sz="1050" dirty="0">
                <a:solidFill>
                  <a:srgbClr val="141821"/>
                </a:solidFill>
                <a:latin typeface="Calibri" pitchFamily="34" charset="0"/>
                <a:ea typeface="Calibri" pitchFamily="34" charset="-122"/>
                <a:cs typeface="Calibri" pitchFamily="34" charset="-120"/>
              </a:rPr>
              <a:t>Sinovitis y derrame; cursa con brotes</a:t>
            </a:r>
            <a:endParaRPr lang="en-US" sz="1050" dirty="0"/>
          </a:p>
        </p:txBody>
      </p:sp>
      <p:sp>
        <p:nvSpPr>
          <p:cNvPr id="17" name="Shape 13"/>
          <p:cNvSpPr/>
          <p:nvPr/>
        </p:nvSpPr>
        <p:spPr>
          <a:xfrm>
            <a:off x="6071616" y="1325880"/>
            <a:ext cx="2624328" cy="1280160"/>
          </a:xfrm>
          <a:prstGeom prst="roundRect">
            <a:avLst>
              <a:gd name="adj" fmla="val 7143"/>
            </a:avLst>
          </a:prstGeom>
          <a:solidFill>
            <a:srgbClr val="F2B43C">
              <a:alpha val="10000"/>
            </a:srgbClr>
          </a:solidFill>
          <a:ln w="19050">
            <a:solidFill>
              <a:srgbClr val="F2B43C"/>
            </a:solidFill>
            <a:prstDash val="solid"/>
          </a:ln>
        </p:spPr>
        <p:txBody>
          <a:bodyPr/>
          <a:lstStyle/>
          <a:p>
            <a:endParaRPr lang="es-CO"/>
          </a:p>
        </p:txBody>
      </p:sp>
      <p:sp>
        <p:nvSpPr>
          <p:cNvPr id="18" name="Shape 14"/>
          <p:cNvSpPr/>
          <p:nvPr/>
        </p:nvSpPr>
        <p:spPr>
          <a:xfrm>
            <a:off x="6217920" y="1508760"/>
            <a:ext cx="502920" cy="502920"/>
          </a:xfrm>
          <a:prstGeom prst="ellipse">
            <a:avLst/>
          </a:prstGeom>
          <a:solidFill>
            <a:srgbClr val="F2B43C"/>
          </a:solidFill>
          <a:ln w="12700">
            <a:solidFill>
              <a:srgbClr val="F2B43C"/>
            </a:solidFill>
            <a:prstDash val="solid"/>
          </a:ln>
        </p:spPr>
        <p:txBody>
          <a:bodyPr/>
          <a:lstStyle/>
          <a:p>
            <a:endParaRPr lang="es-CO"/>
          </a:p>
        </p:txBody>
      </p:sp>
      <p:pic>
        <p:nvPicPr>
          <p:cNvPr id="19" name="Image 2" descr="preencoded.png"/>
          <p:cNvPicPr>
            <a:picLocks noChangeAspect="1"/>
          </p:cNvPicPr>
          <p:nvPr/>
        </p:nvPicPr>
        <p:blipFill>
          <a:blip r:embed="rId5"/>
          <a:stretch>
            <a:fillRect/>
          </a:stretch>
        </p:blipFill>
        <p:spPr>
          <a:xfrm>
            <a:off x="6338621" y="1629461"/>
            <a:ext cx="261518" cy="261518"/>
          </a:xfrm>
          <a:prstGeom prst="rect">
            <a:avLst/>
          </a:prstGeom>
        </p:spPr>
      </p:pic>
      <p:sp>
        <p:nvSpPr>
          <p:cNvPr id="20" name="Text 15"/>
          <p:cNvSpPr txBox="1"/>
          <p:nvPr/>
        </p:nvSpPr>
        <p:spPr>
          <a:xfrm>
            <a:off x="6803136" y="1472184"/>
            <a:ext cx="1783080" cy="548640"/>
          </a:xfrm>
          <a:prstGeom prst="rect">
            <a:avLst/>
          </a:prstGeom>
          <a:noFill/>
          <a:ln/>
        </p:spPr>
        <p:txBody>
          <a:bodyPr wrap="square" lIns="0" tIns="0" rIns="0" bIns="0" rtlCol="0" anchor="ctr"/>
          <a:lstStyle/>
          <a:p>
            <a:pPr marL="0" indent="0">
              <a:buNone/>
            </a:pPr>
            <a:r>
              <a:rPr lang="en-US" sz="1400" b="1" dirty="0">
                <a:solidFill>
                  <a:srgbClr val="A66A00"/>
                </a:solidFill>
                <a:latin typeface="Calibri" pitchFamily="34" charset="0"/>
                <a:ea typeface="Calibri" pitchFamily="34" charset="-122"/>
                <a:cs typeface="Calibri" pitchFamily="34" charset="-120"/>
              </a:rPr>
              <a:t>Metabólico</a:t>
            </a:r>
            <a:endParaRPr lang="en-US" sz="1400" dirty="0"/>
          </a:p>
        </p:txBody>
      </p:sp>
      <p:sp>
        <p:nvSpPr>
          <p:cNvPr id="21" name="Text 16"/>
          <p:cNvSpPr txBox="1"/>
          <p:nvPr/>
        </p:nvSpPr>
        <p:spPr>
          <a:xfrm>
            <a:off x="6217920" y="2057400"/>
            <a:ext cx="2377440" cy="502920"/>
          </a:xfrm>
          <a:prstGeom prst="rect">
            <a:avLst/>
          </a:prstGeom>
          <a:noFill/>
          <a:ln/>
        </p:spPr>
        <p:txBody>
          <a:bodyPr wrap="square" lIns="0" tIns="0" rIns="0" bIns="0" rtlCol="0" anchor="t"/>
          <a:lstStyle/>
          <a:p>
            <a:pPr marL="0" indent="0">
              <a:buNone/>
            </a:pPr>
            <a:r>
              <a:rPr lang="en-US" sz="1050" dirty="0">
                <a:solidFill>
                  <a:srgbClr val="141821"/>
                </a:solidFill>
                <a:latin typeface="Calibri" pitchFamily="34" charset="0"/>
                <a:ea typeface="Calibri" pitchFamily="34" charset="-122"/>
                <a:cs typeface="Calibri" pitchFamily="34" charset="-120"/>
              </a:rPr>
              <a:t>Obesidad y síndrome metabólico</a:t>
            </a:r>
            <a:endParaRPr lang="en-US" sz="1050" dirty="0"/>
          </a:p>
        </p:txBody>
      </p:sp>
      <p:sp>
        <p:nvSpPr>
          <p:cNvPr id="22" name="Shape 17"/>
          <p:cNvSpPr/>
          <p:nvPr/>
        </p:nvSpPr>
        <p:spPr>
          <a:xfrm>
            <a:off x="457200" y="2743200"/>
            <a:ext cx="2624328" cy="1280160"/>
          </a:xfrm>
          <a:prstGeom prst="roundRect">
            <a:avLst>
              <a:gd name="adj" fmla="val 7143"/>
            </a:avLst>
          </a:prstGeom>
          <a:solidFill>
            <a:srgbClr val="4CC9F0">
              <a:alpha val="10000"/>
            </a:srgbClr>
          </a:solidFill>
          <a:ln w="19050">
            <a:solidFill>
              <a:srgbClr val="4CC9F0"/>
            </a:solidFill>
            <a:prstDash val="solid"/>
          </a:ln>
        </p:spPr>
        <p:txBody>
          <a:bodyPr/>
          <a:lstStyle/>
          <a:p>
            <a:endParaRPr lang="es-CO"/>
          </a:p>
        </p:txBody>
      </p:sp>
      <p:sp>
        <p:nvSpPr>
          <p:cNvPr id="23" name="Shape 18"/>
          <p:cNvSpPr/>
          <p:nvPr/>
        </p:nvSpPr>
        <p:spPr>
          <a:xfrm>
            <a:off x="603504" y="2926080"/>
            <a:ext cx="502920" cy="502920"/>
          </a:xfrm>
          <a:prstGeom prst="ellipse">
            <a:avLst/>
          </a:prstGeom>
          <a:solidFill>
            <a:srgbClr val="4CC9F0"/>
          </a:solidFill>
          <a:ln w="12700">
            <a:solidFill>
              <a:srgbClr val="4CC9F0"/>
            </a:solidFill>
            <a:prstDash val="solid"/>
          </a:ln>
        </p:spPr>
        <p:txBody>
          <a:bodyPr/>
          <a:lstStyle/>
          <a:p>
            <a:endParaRPr lang="es-CO"/>
          </a:p>
        </p:txBody>
      </p:sp>
      <p:pic>
        <p:nvPicPr>
          <p:cNvPr id="24" name="Image 3" descr="preencoded.png"/>
          <p:cNvPicPr>
            <a:picLocks noChangeAspect="1"/>
          </p:cNvPicPr>
          <p:nvPr/>
        </p:nvPicPr>
        <p:blipFill>
          <a:blip r:embed="rId6"/>
          <a:stretch>
            <a:fillRect/>
          </a:stretch>
        </p:blipFill>
        <p:spPr>
          <a:xfrm>
            <a:off x="724205" y="3046781"/>
            <a:ext cx="261518" cy="261518"/>
          </a:xfrm>
          <a:prstGeom prst="rect">
            <a:avLst/>
          </a:prstGeom>
        </p:spPr>
      </p:pic>
      <p:sp>
        <p:nvSpPr>
          <p:cNvPr id="25" name="Text 19"/>
          <p:cNvSpPr txBox="1"/>
          <p:nvPr/>
        </p:nvSpPr>
        <p:spPr>
          <a:xfrm>
            <a:off x="1188720" y="2889504"/>
            <a:ext cx="1783080" cy="548640"/>
          </a:xfrm>
          <a:prstGeom prst="rect">
            <a:avLst/>
          </a:prstGeom>
          <a:noFill/>
          <a:ln/>
        </p:spPr>
        <p:txBody>
          <a:bodyPr wrap="square" lIns="0" tIns="0" rIns="0" bIns="0" rtlCol="0" anchor="ctr"/>
          <a:lstStyle/>
          <a:p>
            <a:pPr marL="0" indent="0">
              <a:buNone/>
            </a:pPr>
            <a:r>
              <a:rPr lang="en-US" sz="1400" b="1" dirty="0">
                <a:solidFill>
                  <a:srgbClr val="0A6F98"/>
                </a:solidFill>
                <a:latin typeface="Calibri" pitchFamily="34" charset="0"/>
                <a:ea typeface="Calibri" pitchFamily="34" charset="-122"/>
                <a:cs typeface="Calibri" pitchFamily="34" charset="-120"/>
              </a:rPr>
              <a:t>Óseo-cartilaginoso</a:t>
            </a:r>
            <a:endParaRPr lang="en-US" sz="1400" dirty="0"/>
          </a:p>
        </p:txBody>
      </p:sp>
      <p:sp>
        <p:nvSpPr>
          <p:cNvPr id="26" name="Text 20"/>
          <p:cNvSpPr txBox="1"/>
          <p:nvPr/>
        </p:nvSpPr>
        <p:spPr>
          <a:xfrm>
            <a:off x="603504" y="3474720"/>
            <a:ext cx="2377440" cy="502920"/>
          </a:xfrm>
          <a:prstGeom prst="rect">
            <a:avLst/>
          </a:prstGeom>
          <a:noFill/>
          <a:ln/>
        </p:spPr>
        <p:txBody>
          <a:bodyPr wrap="square" lIns="0" tIns="0" rIns="0" bIns="0" rtlCol="0" anchor="t"/>
          <a:lstStyle/>
          <a:p>
            <a:pPr marL="0" indent="0">
              <a:buNone/>
            </a:pPr>
            <a:r>
              <a:rPr lang="en-US" sz="1050" dirty="0">
                <a:solidFill>
                  <a:srgbClr val="141821"/>
                </a:solidFill>
                <a:latin typeface="Calibri" pitchFamily="34" charset="0"/>
                <a:ea typeface="Calibri" pitchFamily="34" charset="-122"/>
                <a:cs typeface="Calibri" pitchFamily="34" charset="-120"/>
              </a:rPr>
              <a:t>Alto remodelado óseo subcondral</a:t>
            </a:r>
            <a:endParaRPr lang="en-US" sz="1050" dirty="0"/>
          </a:p>
        </p:txBody>
      </p:sp>
      <p:sp>
        <p:nvSpPr>
          <p:cNvPr id="27" name="Shape 21"/>
          <p:cNvSpPr/>
          <p:nvPr/>
        </p:nvSpPr>
        <p:spPr>
          <a:xfrm>
            <a:off x="3264408" y="2743200"/>
            <a:ext cx="2624328" cy="1280160"/>
          </a:xfrm>
          <a:prstGeom prst="roundRect">
            <a:avLst>
              <a:gd name="adj" fmla="val 7143"/>
            </a:avLst>
          </a:prstGeom>
          <a:solidFill>
            <a:srgbClr val="2EC4B6">
              <a:alpha val="10000"/>
            </a:srgbClr>
          </a:solidFill>
          <a:ln w="19050">
            <a:solidFill>
              <a:srgbClr val="2EC4B6"/>
            </a:solidFill>
            <a:prstDash val="solid"/>
          </a:ln>
        </p:spPr>
        <p:txBody>
          <a:bodyPr/>
          <a:lstStyle/>
          <a:p>
            <a:endParaRPr lang="es-CO"/>
          </a:p>
        </p:txBody>
      </p:sp>
      <p:sp>
        <p:nvSpPr>
          <p:cNvPr id="28" name="Shape 22"/>
          <p:cNvSpPr/>
          <p:nvPr/>
        </p:nvSpPr>
        <p:spPr>
          <a:xfrm>
            <a:off x="3410712" y="2926080"/>
            <a:ext cx="502920" cy="502920"/>
          </a:xfrm>
          <a:prstGeom prst="ellipse">
            <a:avLst/>
          </a:prstGeom>
          <a:solidFill>
            <a:srgbClr val="2EC4B6"/>
          </a:solidFill>
          <a:ln w="12700">
            <a:solidFill>
              <a:srgbClr val="2EC4B6"/>
            </a:solidFill>
            <a:prstDash val="solid"/>
          </a:ln>
        </p:spPr>
        <p:txBody>
          <a:bodyPr/>
          <a:lstStyle/>
          <a:p>
            <a:endParaRPr lang="es-CO"/>
          </a:p>
        </p:txBody>
      </p:sp>
      <p:pic>
        <p:nvPicPr>
          <p:cNvPr id="29" name="Image 4" descr="preencoded.png"/>
          <p:cNvPicPr>
            <a:picLocks noChangeAspect="1"/>
          </p:cNvPicPr>
          <p:nvPr/>
        </p:nvPicPr>
        <p:blipFill>
          <a:blip r:embed="rId7"/>
          <a:stretch>
            <a:fillRect/>
          </a:stretch>
        </p:blipFill>
        <p:spPr>
          <a:xfrm>
            <a:off x="3531413" y="3046781"/>
            <a:ext cx="261518" cy="261518"/>
          </a:xfrm>
          <a:prstGeom prst="rect">
            <a:avLst/>
          </a:prstGeom>
        </p:spPr>
      </p:pic>
      <p:sp>
        <p:nvSpPr>
          <p:cNvPr id="30" name="Text 23"/>
          <p:cNvSpPr txBox="1"/>
          <p:nvPr/>
        </p:nvSpPr>
        <p:spPr>
          <a:xfrm>
            <a:off x="3995928" y="2889504"/>
            <a:ext cx="1783080" cy="548640"/>
          </a:xfrm>
          <a:prstGeom prst="rect">
            <a:avLst/>
          </a:prstGeom>
          <a:noFill/>
          <a:ln/>
        </p:spPr>
        <p:txBody>
          <a:bodyPr wrap="square" lIns="0" tIns="0" rIns="0" bIns="0" rtlCol="0" anchor="ctr"/>
          <a:lstStyle/>
          <a:p>
            <a:pPr marL="0" indent="0">
              <a:buNone/>
            </a:pPr>
            <a:r>
              <a:rPr lang="en-US" sz="1400" b="1" dirty="0">
                <a:solidFill>
                  <a:srgbClr val="0C8368"/>
                </a:solidFill>
                <a:latin typeface="Calibri" pitchFamily="34" charset="0"/>
                <a:ea typeface="Calibri" pitchFamily="34" charset="-122"/>
                <a:cs typeface="Calibri" pitchFamily="34" charset="-120"/>
              </a:rPr>
              <a:t>Mecánico</a:t>
            </a:r>
            <a:endParaRPr lang="en-US" sz="1400" dirty="0"/>
          </a:p>
        </p:txBody>
      </p:sp>
      <p:sp>
        <p:nvSpPr>
          <p:cNvPr id="31" name="Text 24"/>
          <p:cNvSpPr txBox="1"/>
          <p:nvPr/>
        </p:nvSpPr>
        <p:spPr>
          <a:xfrm>
            <a:off x="3410712" y="3474720"/>
            <a:ext cx="2377440" cy="502920"/>
          </a:xfrm>
          <a:prstGeom prst="rect">
            <a:avLst/>
          </a:prstGeom>
          <a:noFill/>
          <a:ln/>
        </p:spPr>
        <p:txBody>
          <a:bodyPr wrap="square" lIns="0" tIns="0" rIns="0" bIns="0" rtlCol="0" anchor="t"/>
          <a:lstStyle/>
          <a:p>
            <a:pPr marL="0" indent="0">
              <a:buNone/>
            </a:pPr>
            <a:r>
              <a:rPr lang="en-US" sz="1050" dirty="0">
                <a:solidFill>
                  <a:srgbClr val="141821"/>
                </a:solidFill>
                <a:latin typeface="Calibri" pitchFamily="34" charset="0"/>
                <a:ea typeface="Calibri" pitchFamily="34" charset="-122"/>
                <a:cs typeface="Calibri" pitchFamily="34" charset="-120"/>
              </a:rPr>
              <a:t>Malalineación y sobrecarga</a:t>
            </a:r>
            <a:endParaRPr lang="en-US" sz="1050" dirty="0"/>
          </a:p>
        </p:txBody>
      </p:sp>
      <p:sp>
        <p:nvSpPr>
          <p:cNvPr id="32" name="Shape 25"/>
          <p:cNvSpPr/>
          <p:nvPr/>
        </p:nvSpPr>
        <p:spPr>
          <a:xfrm>
            <a:off x="6071616" y="2743200"/>
            <a:ext cx="2624328" cy="1280160"/>
          </a:xfrm>
          <a:prstGeom prst="roundRect">
            <a:avLst>
              <a:gd name="adj" fmla="val 7143"/>
            </a:avLst>
          </a:prstGeom>
          <a:solidFill>
            <a:srgbClr val="A78BFA">
              <a:alpha val="10000"/>
            </a:srgbClr>
          </a:solidFill>
          <a:ln w="19050">
            <a:solidFill>
              <a:srgbClr val="A78BFA"/>
            </a:solidFill>
            <a:prstDash val="solid"/>
          </a:ln>
        </p:spPr>
        <p:txBody>
          <a:bodyPr/>
          <a:lstStyle/>
          <a:p>
            <a:endParaRPr lang="es-CO"/>
          </a:p>
        </p:txBody>
      </p:sp>
      <p:sp>
        <p:nvSpPr>
          <p:cNvPr id="33" name="Shape 26"/>
          <p:cNvSpPr/>
          <p:nvPr/>
        </p:nvSpPr>
        <p:spPr>
          <a:xfrm>
            <a:off x="6217920" y="2926080"/>
            <a:ext cx="502920" cy="502920"/>
          </a:xfrm>
          <a:prstGeom prst="ellipse">
            <a:avLst/>
          </a:prstGeom>
          <a:solidFill>
            <a:srgbClr val="A78BFA"/>
          </a:solidFill>
          <a:ln w="12700">
            <a:solidFill>
              <a:srgbClr val="A78BFA"/>
            </a:solidFill>
            <a:prstDash val="solid"/>
          </a:ln>
        </p:spPr>
        <p:txBody>
          <a:bodyPr/>
          <a:lstStyle/>
          <a:p>
            <a:endParaRPr lang="es-CO"/>
          </a:p>
        </p:txBody>
      </p:sp>
      <p:pic>
        <p:nvPicPr>
          <p:cNvPr id="34" name="Image 5" descr="preencoded.png"/>
          <p:cNvPicPr>
            <a:picLocks noChangeAspect="1"/>
          </p:cNvPicPr>
          <p:nvPr/>
        </p:nvPicPr>
        <p:blipFill>
          <a:blip r:embed="rId8"/>
          <a:stretch>
            <a:fillRect/>
          </a:stretch>
        </p:blipFill>
        <p:spPr>
          <a:xfrm>
            <a:off x="6338621" y="3046781"/>
            <a:ext cx="261518" cy="261518"/>
          </a:xfrm>
          <a:prstGeom prst="rect">
            <a:avLst/>
          </a:prstGeom>
        </p:spPr>
      </p:pic>
      <p:sp>
        <p:nvSpPr>
          <p:cNvPr id="35" name="Text 27"/>
          <p:cNvSpPr txBox="1"/>
          <p:nvPr/>
        </p:nvSpPr>
        <p:spPr>
          <a:xfrm>
            <a:off x="6803136" y="2889504"/>
            <a:ext cx="1783080" cy="548640"/>
          </a:xfrm>
          <a:prstGeom prst="rect">
            <a:avLst/>
          </a:prstGeom>
          <a:noFill/>
          <a:ln/>
        </p:spPr>
        <p:txBody>
          <a:bodyPr wrap="square" lIns="0" tIns="0" rIns="0" bIns="0" rtlCol="0" anchor="ctr"/>
          <a:lstStyle/>
          <a:p>
            <a:pPr marL="0" indent="0">
              <a:buNone/>
            </a:pPr>
            <a:r>
              <a:rPr lang="en-US" sz="1400" b="1" dirty="0">
                <a:solidFill>
                  <a:srgbClr val="6A4CCF"/>
                </a:solidFill>
                <a:latin typeface="Calibri" pitchFamily="34" charset="0"/>
                <a:ea typeface="Calibri" pitchFamily="34" charset="-122"/>
                <a:cs typeface="Calibri" pitchFamily="34" charset="-120"/>
              </a:rPr>
              <a:t>Enfermedad mínima</a:t>
            </a:r>
            <a:endParaRPr lang="en-US" sz="1400" dirty="0"/>
          </a:p>
        </p:txBody>
      </p:sp>
      <p:sp>
        <p:nvSpPr>
          <p:cNvPr id="36" name="Text 28"/>
          <p:cNvSpPr txBox="1"/>
          <p:nvPr/>
        </p:nvSpPr>
        <p:spPr>
          <a:xfrm>
            <a:off x="6217920" y="3474720"/>
            <a:ext cx="2377440" cy="502920"/>
          </a:xfrm>
          <a:prstGeom prst="rect">
            <a:avLst/>
          </a:prstGeom>
          <a:noFill/>
          <a:ln/>
        </p:spPr>
        <p:txBody>
          <a:bodyPr wrap="square" lIns="0" tIns="0" rIns="0" bIns="0" rtlCol="0" anchor="t"/>
          <a:lstStyle/>
          <a:p>
            <a:pPr marL="0" indent="0">
              <a:buNone/>
            </a:pPr>
            <a:r>
              <a:rPr lang="en-US" sz="1050" dirty="0">
                <a:solidFill>
                  <a:srgbClr val="141821"/>
                </a:solidFill>
                <a:latin typeface="Calibri" pitchFamily="34" charset="0"/>
                <a:ea typeface="Calibri" pitchFamily="34" charset="-122"/>
                <a:cs typeface="Calibri" pitchFamily="34" charset="-120"/>
              </a:rPr>
              <a:t>Daño leve, progresión lenta</a:t>
            </a:r>
            <a:endParaRPr lang="en-US" sz="1050" dirty="0"/>
          </a:p>
        </p:txBody>
      </p:sp>
      <p:sp>
        <p:nvSpPr>
          <p:cNvPr id="37" name="Shape 29"/>
          <p:cNvSpPr/>
          <p:nvPr/>
        </p:nvSpPr>
        <p:spPr>
          <a:xfrm>
            <a:off x="457200" y="4206240"/>
            <a:ext cx="8229600" cy="274320"/>
          </a:xfrm>
          <a:prstGeom prst="roundRect">
            <a:avLst>
              <a:gd name="adj" fmla="val 33333"/>
            </a:avLst>
          </a:prstGeom>
          <a:solidFill>
            <a:srgbClr val="F2B43C">
              <a:alpha val="10000"/>
            </a:srgbClr>
          </a:solidFill>
          <a:ln w="19050">
            <a:solidFill>
              <a:srgbClr val="F2B43C"/>
            </a:solidFill>
            <a:prstDash val="solid"/>
          </a:ln>
        </p:spPr>
        <p:txBody>
          <a:bodyPr/>
          <a:lstStyle/>
          <a:p>
            <a:endParaRPr lang="es-CO"/>
          </a:p>
        </p:txBody>
      </p:sp>
      <p:sp>
        <p:nvSpPr>
          <p:cNvPr id="38" name="Text 30"/>
          <p:cNvSpPr txBox="1"/>
          <p:nvPr/>
        </p:nvSpPr>
        <p:spPr>
          <a:xfrm>
            <a:off x="512064" y="4206240"/>
            <a:ext cx="8119872" cy="274320"/>
          </a:xfrm>
          <a:prstGeom prst="rect">
            <a:avLst/>
          </a:prstGeom>
          <a:noFill/>
          <a:ln/>
        </p:spPr>
        <p:txBody>
          <a:bodyPr wrap="square" lIns="0" tIns="0" rIns="0" bIns="0" rtlCol="0" anchor="ctr"/>
          <a:lstStyle/>
          <a:p>
            <a:pPr marL="0" indent="0" algn="ctr">
              <a:buNone/>
            </a:pPr>
            <a:r>
              <a:rPr lang="en-US" sz="1150" b="1" dirty="0">
                <a:solidFill>
                  <a:srgbClr val="141821"/>
                </a:solidFill>
                <a:latin typeface="Calibri" pitchFamily="34" charset="0"/>
                <a:ea typeface="Calibri" pitchFamily="34" charset="-122"/>
                <a:cs typeface="Calibri" pitchFamily="34" charset="-120"/>
              </a:rPr>
              <a:t>Reconocer el fenotipo orienta pronóstico y tratamiento; con frecuencia se solapan</a:t>
            </a:r>
            <a:endParaRPr lang="en-US" sz="1150" dirty="0"/>
          </a:p>
        </p:txBody>
      </p:sp>
      <p:sp>
        <p:nvSpPr>
          <p:cNvPr id="39" name="Slide Number Placeholder 0"/>
          <p:cNvSpPr>
            <a:spLocks noGrp="1"/>
          </p:cNvSpPr>
          <p:nvPr>
            <p:ph type="sldNum" sz="quarter" idx="4294967295"/>
          </p:nvPr>
        </p:nvSpPr>
        <p:spPr>
          <a:xfrm>
            <a:off x="8247888" y="4535424"/>
            <a:ext cx="420624" cy="420624"/>
          </a:xfrm>
          <a:prstGeom prst="rect">
            <a:avLst/>
          </a:prstGeom>
          <a:extLst>
            <a:ext uri="{C572A759-6A51-4108-AA02-DFA0A04FC94B}">
              <ma14:wrappingTextBoxFlag xmlns:ma14="http://schemas.microsoft.com/office/mac/drawingml/2011/main" xmlns="" val="0"/>
            </a:ext>
          </a:extLst>
        </p:spPr>
        <p:txBody>
          <a:bodyPr anchor="ctr"/>
          <a:lstStyle>
            <a:lvl1pPr>
              <a:defRPr sz="1800">
                <a:solidFill>
                  <a:srgbClr val="FFFFFF"/>
                </a:solidFill>
                <a:latin typeface="Calibri"/>
                <a:ea typeface="Calibri"/>
                <a:cs typeface="Calibri"/>
              </a:defRPr>
            </a:lvl1pPr>
          </a:lstStyle>
          <a:p>
            <a:pPr algn="ctr"/>
            <a:fld id="{F7021451-1387-4CA6-816F-3879F97B5CBC}" type="slidenum">
              <a:rPr lang="en-US" b="1"/>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A66A00"/>
                </a:solidFill>
                <a:latin typeface="Calibri" pitchFamily="34" charset="0"/>
                <a:ea typeface="Calibri" pitchFamily="34" charset="-122"/>
                <a:cs typeface="Calibri" pitchFamily="34" charset="-120"/>
              </a:rPr>
              <a:t>MATIZ CLAVE</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La artrosis también se inflama</a:t>
            </a:r>
            <a:endParaRPr lang="en-US" sz="29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8. Tang S, Zhang C, Oo WM, Fu K, Risberg MA, Bierma-Zeinstra SM, et al. Osteoarthritis. Nat Rev Dis Primers. 2025;11(1):10.</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7. Hunter DJ, Bierma-Zeinstra S. Osteoarthritis. Lancet. 2019;393(10182):1745-59.</a:t>
            </a:r>
            <a:endParaRPr lang="en-US" sz="900" dirty="0"/>
          </a:p>
        </p:txBody>
      </p:sp>
      <p:sp>
        <p:nvSpPr>
          <p:cNvPr id="7" name="Text 5"/>
          <p:cNvSpPr txBox="1"/>
          <p:nvPr/>
        </p:nvSpPr>
        <p:spPr>
          <a:xfrm>
            <a:off x="457200" y="1188720"/>
            <a:ext cx="8229600" cy="411480"/>
          </a:xfrm>
          <a:prstGeom prst="rect">
            <a:avLst/>
          </a:prstGeom>
          <a:noFill/>
          <a:ln/>
        </p:spPr>
        <p:txBody>
          <a:bodyPr wrap="square" lIns="0" tIns="0" rIns="0" bIns="0" rtlCol="0" anchor="t"/>
          <a:lstStyle/>
          <a:p>
            <a:pPr marL="0" indent="0">
              <a:buNone/>
            </a:pPr>
            <a:r>
              <a:rPr lang="en-US" sz="1600" dirty="0">
                <a:solidFill>
                  <a:srgbClr val="141821"/>
                </a:solidFill>
                <a:latin typeface="Calibri" pitchFamily="34" charset="0"/>
                <a:ea typeface="Calibri" pitchFamily="34" charset="-122"/>
                <a:cs typeface="Calibri" pitchFamily="34" charset="-120"/>
              </a:rPr>
              <a:t>No es solo “desgaste”: hay inflamación, aunque de menor grado que en la AR.</a:t>
            </a:r>
            <a:endParaRPr lang="en-US" sz="1600" dirty="0"/>
          </a:p>
        </p:txBody>
      </p:sp>
      <p:sp>
        <p:nvSpPr>
          <p:cNvPr id="8" name="Shape 6"/>
          <p:cNvSpPr/>
          <p:nvPr/>
        </p:nvSpPr>
        <p:spPr>
          <a:xfrm>
            <a:off x="457200" y="1783080"/>
            <a:ext cx="2624328" cy="2240280"/>
          </a:xfrm>
          <a:prstGeom prst="roundRect">
            <a:avLst>
              <a:gd name="adj" fmla="val 4082"/>
            </a:avLst>
          </a:prstGeom>
          <a:solidFill>
            <a:srgbClr val="F2546B">
              <a:alpha val="10000"/>
            </a:srgbClr>
          </a:solidFill>
          <a:ln w="19050">
            <a:solidFill>
              <a:srgbClr val="F2546B"/>
            </a:solidFill>
            <a:prstDash val="solid"/>
          </a:ln>
        </p:spPr>
        <p:txBody>
          <a:bodyPr/>
          <a:lstStyle/>
          <a:p>
            <a:endParaRPr lang="es-CO"/>
          </a:p>
        </p:txBody>
      </p:sp>
      <p:sp>
        <p:nvSpPr>
          <p:cNvPr id="9" name="Shape 7"/>
          <p:cNvSpPr/>
          <p:nvPr/>
        </p:nvSpPr>
        <p:spPr>
          <a:xfrm>
            <a:off x="1408176" y="1965960"/>
            <a:ext cx="731520" cy="731520"/>
          </a:xfrm>
          <a:prstGeom prst="ellipse">
            <a:avLst/>
          </a:prstGeom>
          <a:solidFill>
            <a:srgbClr val="F2546B"/>
          </a:solidFill>
          <a:ln w="12700">
            <a:solidFill>
              <a:srgbClr val="F2546B"/>
            </a:solidFill>
            <a:prstDash val="solid"/>
          </a:ln>
        </p:spPr>
        <p:txBody>
          <a:bodyPr/>
          <a:lstStyle/>
          <a:p>
            <a:endParaRPr lang="es-CO"/>
          </a:p>
        </p:txBody>
      </p:sp>
      <p:pic>
        <p:nvPicPr>
          <p:cNvPr id="10" name="Image 0" descr="preencoded.png"/>
          <p:cNvPicPr>
            <a:picLocks noChangeAspect="1"/>
          </p:cNvPicPr>
          <p:nvPr/>
        </p:nvPicPr>
        <p:blipFill>
          <a:blip r:embed="rId3"/>
          <a:stretch>
            <a:fillRect/>
          </a:stretch>
        </p:blipFill>
        <p:spPr>
          <a:xfrm>
            <a:off x="1583741" y="2141525"/>
            <a:ext cx="380390" cy="380390"/>
          </a:xfrm>
          <a:prstGeom prst="rect">
            <a:avLst/>
          </a:prstGeom>
        </p:spPr>
      </p:pic>
      <p:sp>
        <p:nvSpPr>
          <p:cNvPr id="11" name="Text 8"/>
          <p:cNvSpPr txBox="1"/>
          <p:nvPr/>
        </p:nvSpPr>
        <p:spPr>
          <a:xfrm>
            <a:off x="457200" y="2788920"/>
            <a:ext cx="2624328" cy="457200"/>
          </a:xfrm>
          <a:prstGeom prst="rect">
            <a:avLst/>
          </a:prstGeom>
          <a:noFill/>
          <a:ln/>
        </p:spPr>
        <p:txBody>
          <a:bodyPr wrap="square" lIns="0" tIns="0" rIns="0" bIns="0" rtlCol="0" anchor="t"/>
          <a:lstStyle/>
          <a:p>
            <a:pPr marL="0" indent="0" algn="ctr">
              <a:buNone/>
            </a:pPr>
            <a:r>
              <a:rPr lang="en-US" sz="1600" b="1" dirty="0">
                <a:solidFill>
                  <a:srgbClr val="C81E43"/>
                </a:solidFill>
                <a:latin typeface="Calibri" pitchFamily="34" charset="0"/>
                <a:ea typeface="Calibri" pitchFamily="34" charset="-122"/>
                <a:cs typeface="Calibri" pitchFamily="34" charset="-120"/>
              </a:rPr>
              <a:t>Sinovitis de bajo grado</a:t>
            </a:r>
            <a:endParaRPr lang="en-US" sz="1600" dirty="0"/>
          </a:p>
        </p:txBody>
      </p:sp>
      <p:sp>
        <p:nvSpPr>
          <p:cNvPr id="12" name="Text 9"/>
          <p:cNvSpPr txBox="1"/>
          <p:nvPr/>
        </p:nvSpPr>
        <p:spPr>
          <a:xfrm>
            <a:off x="594360" y="3291840"/>
            <a:ext cx="2350008" cy="777240"/>
          </a:xfrm>
          <a:prstGeom prst="rect">
            <a:avLst/>
          </a:prstGeom>
          <a:noFill/>
          <a:ln/>
        </p:spPr>
        <p:txBody>
          <a:bodyPr wrap="square" lIns="0" tIns="0" rIns="0" bIns="0" rtlCol="0" anchor="t"/>
          <a:lstStyle/>
          <a:p>
            <a:pPr marL="0" indent="0" algn="ctr">
              <a:buNone/>
            </a:pPr>
            <a:r>
              <a:rPr lang="en-US" sz="1250" dirty="0">
                <a:solidFill>
                  <a:srgbClr val="141821"/>
                </a:solidFill>
                <a:latin typeface="Calibri" pitchFamily="34" charset="0"/>
                <a:ea typeface="Calibri" pitchFamily="34" charset="-122"/>
                <a:cs typeface="Calibri" pitchFamily="34" charset="-120"/>
              </a:rPr>
              <a:t>IL-1 y TNF, derrame y señal Doppler; se ve en ecografía y RM</a:t>
            </a:r>
            <a:endParaRPr lang="en-US" sz="1250" dirty="0"/>
          </a:p>
        </p:txBody>
      </p:sp>
      <p:sp>
        <p:nvSpPr>
          <p:cNvPr id="13" name="Shape 10"/>
          <p:cNvSpPr/>
          <p:nvPr/>
        </p:nvSpPr>
        <p:spPr>
          <a:xfrm>
            <a:off x="3264408" y="1783080"/>
            <a:ext cx="2624328" cy="2240280"/>
          </a:xfrm>
          <a:prstGeom prst="roundRect">
            <a:avLst>
              <a:gd name="adj" fmla="val 4082"/>
            </a:avLst>
          </a:prstGeom>
          <a:solidFill>
            <a:srgbClr val="F2B43C">
              <a:alpha val="10000"/>
            </a:srgbClr>
          </a:solidFill>
          <a:ln w="19050">
            <a:solidFill>
              <a:srgbClr val="F2B43C"/>
            </a:solidFill>
            <a:prstDash val="solid"/>
          </a:ln>
        </p:spPr>
        <p:txBody>
          <a:bodyPr/>
          <a:lstStyle/>
          <a:p>
            <a:endParaRPr lang="es-CO"/>
          </a:p>
        </p:txBody>
      </p:sp>
      <p:sp>
        <p:nvSpPr>
          <p:cNvPr id="14" name="Shape 11"/>
          <p:cNvSpPr/>
          <p:nvPr/>
        </p:nvSpPr>
        <p:spPr>
          <a:xfrm>
            <a:off x="4215384" y="1965960"/>
            <a:ext cx="731520" cy="731520"/>
          </a:xfrm>
          <a:prstGeom prst="ellipse">
            <a:avLst/>
          </a:prstGeom>
          <a:solidFill>
            <a:srgbClr val="F2B43C"/>
          </a:solidFill>
          <a:ln w="12700">
            <a:solidFill>
              <a:srgbClr val="F2B43C"/>
            </a:solidFill>
            <a:prstDash val="solid"/>
          </a:ln>
        </p:spPr>
        <p:txBody>
          <a:bodyPr/>
          <a:lstStyle/>
          <a:p>
            <a:endParaRPr lang="es-CO"/>
          </a:p>
        </p:txBody>
      </p:sp>
      <p:pic>
        <p:nvPicPr>
          <p:cNvPr id="15" name="Image 1" descr="preencoded.png"/>
          <p:cNvPicPr>
            <a:picLocks noChangeAspect="1"/>
          </p:cNvPicPr>
          <p:nvPr/>
        </p:nvPicPr>
        <p:blipFill>
          <a:blip r:embed="rId4"/>
          <a:stretch>
            <a:fillRect/>
          </a:stretch>
        </p:blipFill>
        <p:spPr>
          <a:xfrm>
            <a:off x="4390949" y="2141525"/>
            <a:ext cx="380390" cy="380390"/>
          </a:xfrm>
          <a:prstGeom prst="rect">
            <a:avLst/>
          </a:prstGeom>
        </p:spPr>
      </p:pic>
      <p:sp>
        <p:nvSpPr>
          <p:cNvPr id="16" name="Text 12"/>
          <p:cNvSpPr txBox="1"/>
          <p:nvPr/>
        </p:nvSpPr>
        <p:spPr>
          <a:xfrm>
            <a:off x="3264408" y="2788920"/>
            <a:ext cx="2624328" cy="457200"/>
          </a:xfrm>
          <a:prstGeom prst="rect">
            <a:avLst/>
          </a:prstGeom>
          <a:noFill/>
          <a:ln/>
        </p:spPr>
        <p:txBody>
          <a:bodyPr wrap="square" lIns="0" tIns="0" rIns="0" bIns="0" rtlCol="0" anchor="t"/>
          <a:lstStyle/>
          <a:p>
            <a:pPr marL="0" indent="0" algn="ctr">
              <a:buNone/>
            </a:pPr>
            <a:r>
              <a:rPr lang="en-US" sz="1600" b="1" dirty="0">
                <a:solidFill>
                  <a:srgbClr val="A66A00"/>
                </a:solidFill>
                <a:latin typeface="Calibri" pitchFamily="34" charset="0"/>
                <a:ea typeface="Calibri" pitchFamily="34" charset="-122"/>
                <a:cs typeface="Calibri" pitchFamily="34" charset="-120"/>
              </a:rPr>
              <a:t>Artrosis erosiva (manos)</a:t>
            </a:r>
            <a:endParaRPr lang="en-US" sz="1600" dirty="0"/>
          </a:p>
        </p:txBody>
      </p:sp>
      <p:sp>
        <p:nvSpPr>
          <p:cNvPr id="17" name="Text 13"/>
          <p:cNvSpPr txBox="1"/>
          <p:nvPr/>
        </p:nvSpPr>
        <p:spPr>
          <a:xfrm>
            <a:off x="3401568" y="3291840"/>
            <a:ext cx="2350008" cy="777240"/>
          </a:xfrm>
          <a:prstGeom prst="rect">
            <a:avLst/>
          </a:prstGeom>
          <a:noFill/>
          <a:ln/>
        </p:spPr>
        <p:txBody>
          <a:bodyPr wrap="square" lIns="0" tIns="0" rIns="0" bIns="0" rtlCol="0" anchor="t"/>
          <a:lstStyle/>
          <a:p>
            <a:pPr marL="0" indent="0" algn="ctr">
              <a:buNone/>
            </a:pPr>
            <a:r>
              <a:rPr lang="en-US" sz="1250" dirty="0">
                <a:solidFill>
                  <a:srgbClr val="141821"/>
                </a:solidFill>
                <a:latin typeface="Calibri" pitchFamily="34" charset="0"/>
                <a:ea typeface="Calibri" pitchFamily="34" charset="-122"/>
                <a:cs typeface="Calibri" pitchFamily="34" charset="-120"/>
              </a:rPr>
              <a:t>Erosiones centrales en IFD/IFP con brotes dolorosos</a:t>
            </a:r>
            <a:endParaRPr lang="en-US" sz="1250" dirty="0"/>
          </a:p>
        </p:txBody>
      </p:sp>
      <p:sp>
        <p:nvSpPr>
          <p:cNvPr id="18" name="Shape 14"/>
          <p:cNvSpPr/>
          <p:nvPr/>
        </p:nvSpPr>
        <p:spPr>
          <a:xfrm>
            <a:off x="6071616" y="1783080"/>
            <a:ext cx="2624328" cy="2240280"/>
          </a:xfrm>
          <a:prstGeom prst="roundRect">
            <a:avLst>
              <a:gd name="adj" fmla="val 4082"/>
            </a:avLst>
          </a:prstGeom>
          <a:solidFill>
            <a:srgbClr val="A78BFA">
              <a:alpha val="10000"/>
            </a:srgbClr>
          </a:solidFill>
          <a:ln w="19050">
            <a:solidFill>
              <a:srgbClr val="A78BFA"/>
            </a:solidFill>
            <a:prstDash val="solid"/>
          </a:ln>
        </p:spPr>
        <p:txBody>
          <a:bodyPr/>
          <a:lstStyle/>
          <a:p>
            <a:endParaRPr lang="es-CO"/>
          </a:p>
        </p:txBody>
      </p:sp>
      <p:sp>
        <p:nvSpPr>
          <p:cNvPr id="19" name="Shape 15"/>
          <p:cNvSpPr/>
          <p:nvPr/>
        </p:nvSpPr>
        <p:spPr>
          <a:xfrm>
            <a:off x="7022592" y="1965960"/>
            <a:ext cx="731520" cy="731520"/>
          </a:xfrm>
          <a:prstGeom prst="ellipse">
            <a:avLst/>
          </a:prstGeom>
          <a:solidFill>
            <a:srgbClr val="A78BFA"/>
          </a:solidFill>
          <a:ln w="12700">
            <a:solidFill>
              <a:srgbClr val="A78BFA"/>
            </a:solidFill>
            <a:prstDash val="solid"/>
          </a:ln>
        </p:spPr>
        <p:txBody>
          <a:bodyPr/>
          <a:lstStyle/>
          <a:p>
            <a:endParaRPr lang="es-CO"/>
          </a:p>
        </p:txBody>
      </p:sp>
      <p:pic>
        <p:nvPicPr>
          <p:cNvPr id="20" name="Image 2" descr="preencoded.png"/>
          <p:cNvPicPr>
            <a:picLocks noChangeAspect="1"/>
          </p:cNvPicPr>
          <p:nvPr/>
        </p:nvPicPr>
        <p:blipFill>
          <a:blip r:embed="rId5"/>
          <a:stretch>
            <a:fillRect/>
          </a:stretch>
        </p:blipFill>
        <p:spPr>
          <a:xfrm>
            <a:off x="7198157" y="2141525"/>
            <a:ext cx="380390" cy="380390"/>
          </a:xfrm>
          <a:prstGeom prst="rect">
            <a:avLst/>
          </a:prstGeom>
        </p:spPr>
      </p:pic>
      <p:sp>
        <p:nvSpPr>
          <p:cNvPr id="21" name="Text 16"/>
          <p:cNvSpPr txBox="1"/>
          <p:nvPr/>
        </p:nvSpPr>
        <p:spPr>
          <a:xfrm>
            <a:off x="6071616" y="2788920"/>
            <a:ext cx="2624328" cy="457200"/>
          </a:xfrm>
          <a:prstGeom prst="rect">
            <a:avLst/>
          </a:prstGeom>
          <a:noFill/>
          <a:ln/>
        </p:spPr>
        <p:txBody>
          <a:bodyPr wrap="square" lIns="0" tIns="0" rIns="0" bIns="0" rtlCol="0" anchor="t"/>
          <a:lstStyle/>
          <a:p>
            <a:pPr marL="0" indent="0" algn="ctr">
              <a:buNone/>
            </a:pPr>
            <a:r>
              <a:rPr lang="en-US" sz="1600" b="1" dirty="0">
                <a:solidFill>
                  <a:srgbClr val="6A4CCF"/>
                </a:solidFill>
                <a:latin typeface="Calibri" pitchFamily="34" charset="0"/>
                <a:ea typeface="Calibri" pitchFamily="34" charset="-122"/>
                <a:cs typeface="Calibri" pitchFamily="34" charset="-120"/>
              </a:rPr>
              <a:t>Cristales añadidos</a:t>
            </a:r>
            <a:endParaRPr lang="en-US" sz="1600" dirty="0"/>
          </a:p>
        </p:txBody>
      </p:sp>
      <p:sp>
        <p:nvSpPr>
          <p:cNvPr id="22" name="Text 17"/>
          <p:cNvSpPr txBox="1"/>
          <p:nvPr/>
        </p:nvSpPr>
        <p:spPr>
          <a:xfrm>
            <a:off x="6208776" y="3291840"/>
            <a:ext cx="2350008" cy="777240"/>
          </a:xfrm>
          <a:prstGeom prst="rect">
            <a:avLst/>
          </a:prstGeom>
          <a:noFill/>
          <a:ln/>
        </p:spPr>
        <p:txBody>
          <a:bodyPr wrap="square" lIns="0" tIns="0" rIns="0" bIns="0" rtlCol="0" anchor="t"/>
          <a:lstStyle/>
          <a:p>
            <a:pPr marL="0" indent="0" algn="ctr">
              <a:buNone/>
            </a:pPr>
            <a:r>
              <a:rPr lang="en-US" sz="1250" dirty="0">
                <a:solidFill>
                  <a:srgbClr val="141821"/>
                </a:solidFill>
                <a:latin typeface="Calibri" pitchFamily="34" charset="0"/>
                <a:ea typeface="Calibri" pitchFamily="34" charset="-122"/>
                <a:cs typeface="Calibri" pitchFamily="34" charset="-120"/>
              </a:rPr>
              <a:t>CPPD o gota sobre una articulación artrósica</a:t>
            </a:r>
            <a:endParaRPr lang="en-US" sz="1250" dirty="0"/>
          </a:p>
        </p:txBody>
      </p:sp>
      <p:sp>
        <p:nvSpPr>
          <p:cNvPr id="23" name="Shape 18"/>
          <p:cNvSpPr/>
          <p:nvPr/>
        </p:nvSpPr>
        <p:spPr>
          <a:xfrm>
            <a:off x="492351" y="4090931"/>
            <a:ext cx="8229600" cy="365760"/>
          </a:xfrm>
          <a:prstGeom prst="roundRect">
            <a:avLst>
              <a:gd name="adj" fmla="val 25000"/>
            </a:avLst>
          </a:prstGeom>
          <a:solidFill>
            <a:srgbClr val="F2B43C">
              <a:alpha val="10000"/>
            </a:srgbClr>
          </a:solidFill>
          <a:ln w="19050">
            <a:solidFill>
              <a:srgbClr val="F2B43C"/>
            </a:solidFill>
            <a:prstDash val="solid"/>
          </a:ln>
        </p:spPr>
        <p:txBody>
          <a:bodyPr/>
          <a:lstStyle/>
          <a:p>
            <a:endParaRPr lang="es-CO"/>
          </a:p>
        </p:txBody>
      </p:sp>
      <p:sp>
        <p:nvSpPr>
          <p:cNvPr id="24" name="Text 19"/>
          <p:cNvSpPr txBox="1"/>
          <p:nvPr/>
        </p:nvSpPr>
        <p:spPr>
          <a:xfrm>
            <a:off x="512064" y="4160520"/>
            <a:ext cx="8119872" cy="365760"/>
          </a:xfrm>
          <a:prstGeom prst="rect">
            <a:avLst/>
          </a:prstGeom>
          <a:noFill/>
          <a:ln/>
        </p:spPr>
        <p:txBody>
          <a:bodyPr wrap="square" lIns="0" tIns="0" rIns="0" bIns="0" rtlCol="0" anchor="ctr"/>
          <a:lstStyle/>
          <a:p>
            <a:pPr marL="0" indent="0" algn="ctr">
              <a:buNone/>
            </a:pPr>
            <a:r>
              <a:rPr lang="en-US" sz="1300" b="1" dirty="0">
                <a:solidFill>
                  <a:srgbClr val="141821"/>
                </a:solidFill>
                <a:latin typeface="Calibri" pitchFamily="34" charset="0"/>
                <a:ea typeface="Calibri" pitchFamily="34" charset="-122"/>
                <a:cs typeface="Calibri" pitchFamily="34" charset="-120"/>
              </a:rPr>
              <a:t>Una artrosis que se inflama mucho obliga a pensar en cristales o en una AR asociada</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r>
              <a:rPr lang="en-US" sz="1400" b="1" kern="0" spc="300" dirty="0">
                <a:solidFill>
                  <a:srgbClr val="6A4CCF"/>
                </a:solidFill>
                <a:latin typeface="Calibri" pitchFamily="34" charset="0"/>
                <a:ea typeface="Calibri" pitchFamily="34" charset="-122"/>
                <a:cs typeface="Calibri" pitchFamily="34" charset="-120"/>
              </a:rPr>
              <a:t>RELACIÓN</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900" b="1" dirty="0">
                <a:solidFill>
                  <a:srgbClr val="141821"/>
                </a:solidFill>
                <a:latin typeface="Calibri" pitchFamily="34" charset="0"/>
                <a:ea typeface="Calibri" pitchFamily="34" charset="-122"/>
                <a:cs typeface="Calibri" pitchFamily="34" charset="-120"/>
              </a:rPr>
              <a:t>Cuando la inflamación deja una huella mecánica</a:t>
            </a:r>
            <a:endParaRPr lang="en-US" sz="2900" dirty="0"/>
          </a:p>
        </p:txBody>
      </p:sp>
      <p:sp>
        <p:nvSpPr>
          <p:cNvPr id="5" name="Text 3"/>
          <p:cNvSpPr txBox="1"/>
          <p:nvPr/>
        </p:nvSpPr>
        <p:spPr>
          <a:xfrm>
            <a:off x="457200" y="4526280"/>
            <a:ext cx="7635240" cy="548640"/>
          </a:xfrm>
          <a:prstGeom prst="rect">
            <a:avLst/>
          </a:prstGeom>
          <a:noFill/>
          <a:ln/>
        </p:spPr>
        <p:txBody>
          <a:bodyPr wrap="square" lIns="0" tIns="0" rIns="0" bIns="0" rtlCol="0" anchor="ctr"/>
          <a:lstStyle/>
          <a:p>
            <a:pPr marL="0" indent="0">
              <a:buNone/>
            </a:pPr>
            <a:r>
              <a:rPr lang="en-US" sz="900" dirty="0">
                <a:solidFill>
                  <a:srgbClr val="141821"/>
                </a:solidFill>
                <a:latin typeface="Calibri" pitchFamily="34" charset="0"/>
                <a:ea typeface="Calibri" pitchFamily="34" charset="-122"/>
                <a:cs typeface="Calibri" pitchFamily="34" charset="-120"/>
              </a:rPr>
              <a:t>1. Smolen JS, Aletaha D, Barton A, Burmester GR, Emery P, Firestein GS, et al. Rheumatoid arthritis. Nat Rev Dis Primers. 2018;4:18001.</a:t>
            </a:r>
            <a:endParaRPr lang="en-US" sz="900" dirty="0"/>
          </a:p>
          <a:p>
            <a:pPr marL="0" indent="0">
              <a:buNone/>
            </a:pPr>
            <a:r>
              <a:rPr lang="en-US" sz="900" dirty="0">
                <a:solidFill>
                  <a:srgbClr val="141821"/>
                </a:solidFill>
                <a:latin typeface="Calibri" pitchFamily="34" charset="0"/>
                <a:ea typeface="Calibri" pitchFamily="34" charset="-122"/>
                <a:cs typeface="Calibri" pitchFamily="34" charset="-120"/>
              </a:rPr>
              <a:t>7. Hunter DJ, Bierma-Zeinstra S. Osteoarthritis. Lancet. 2019;393(10182):1745-59.</a:t>
            </a:r>
            <a:endParaRPr lang="en-US" sz="900" dirty="0"/>
          </a:p>
        </p:txBody>
      </p:sp>
      <p:sp>
        <p:nvSpPr>
          <p:cNvPr id="7" name="Shape 5"/>
          <p:cNvSpPr/>
          <p:nvPr/>
        </p:nvSpPr>
        <p:spPr>
          <a:xfrm>
            <a:off x="457200" y="1234440"/>
            <a:ext cx="2560320" cy="868680"/>
          </a:xfrm>
          <a:prstGeom prst="roundRect">
            <a:avLst>
              <a:gd name="adj" fmla="val 10526"/>
            </a:avLst>
          </a:prstGeom>
          <a:solidFill>
            <a:srgbClr val="F2546B"/>
          </a:solidFill>
          <a:ln w="12700">
            <a:solidFill>
              <a:srgbClr val="F2546B"/>
            </a:solidFill>
            <a:prstDash val="solid"/>
          </a:ln>
        </p:spPr>
        <p:txBody>
          <a:bodyPr/>
          <a:lstStyle/>
          <a:p>
            <a:endParaRPr lang="es-CO"/>
          </a:p>
        </p:txBody>
      </p:sp>
      <p:sp>
        <p:nvSpPr>
          <p:cNvPr id="8" name="Text 6"/>
          <p:cNvSpPr txBox="1"/>
          <p:nvPr/>
        </p:nvSpPr>
        <p:spPr>
          <a:xfrm>
            <a:off x="512064" y="1234440"/>
            <a:ext cx="2450592" cy="86868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Sinovitis reumatoide persistente</a:t>
            </a:r>
            <a:endParaRPr lang="en-US" sz="1200" dirty="0">
              <a:solidFill>
                <a:schemeClr val="bg1"/>
              </a:solidFill>
            </a:endParaRPr>
          </a:p>
        </p:txBody>
      </p:sp>
      <p:sp>
        <p:nvSpPr>
          <p:cNvPr id="9" name="Shape 7"/>
          <p:cNvSpPr/>
          <p:nvPr/>
        </p:nvSpPr>
        <p:spPr>
          <a:xfrm>
            <a:off x="3017520" y="1664208"/>
            <a:ext cx="274320" cy="914"/>
          </a:xfrm>
          <a:prstGeom prst="line">
            <a:avLst/>
          </a:prstGeom>
          <a:noFill/>
          <a:ln w="31750">
            <a:solidFill>
              <a:srgbClr val="3A4150"/>
            </a:solidFill>
            <a:prstDash val="solid"/>
            <a:tailEnd type="triangle"/>
          </a:ln>
        </p:spPr>
        <p:txBody>
          <a:bodyPr/>
          <a:lstStyle/>
          <a:p>
            <a:endParaRPr lang="es-CO"/>
          </a:p>
        </p:txBody>
      </p:sp>
      <p:sp>
        <p:nvSpPr>
          <p:cNvPr id="10" name="Shape 8"/>
          <p:cNvSpPr/>
          <p:nvPr/>
        </p:nvSpPr>
        <p:spPr>
          <a:xfrm>
            <a:off x="3291840" y="1234440"/>
            <a:ext cx="2560320" cy="868680"/>
          </a:xfrm>
          <a:prstGeom prst="roundRect">
            <a:avLst>
              <a:gd name="adj" fmla="val 10526"/>
            </a:avLst>
          </a:prstGeom>
          <a:solidFill>
            <a:srgbClr val="A78BFA"/>
          </a:solidFill>
          <a:ln w="12700">
            <a:solidFill>
              <a:srgbClr val="A78BFA"/>
            </a:solidFill>
            <a:prstDash val="solid"/>
          </a:ln>
        </p:spPr>
        <p:txBody>
          <a:bodyPr/>
          <a:lstStyle/>
          <a:p>
            <a:endParaRPr lang="es-CO"/>
          </a:p>
        </p:txBody>
      </p:sp>
      <p:sp>
        <p:nvSpPr>
          <p:cNvPr id="11" name="Text 9"/>
          <p:cNvSpPr txBox="1"/>
          <p:nvPr/>
        </p:nvSpPr>
        <p:spPr>
          <a:xfrm>
            <a:off x="3346704" y="1234440"/>
            <a:ext cx="2450592" cy="86868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Destrucción del cartílago, erosiones y alteración biomecánica</a:t>
            </a:r>
            <a:endParaRPr lang="en-US" sz="1200" dirty="0">
              <a:solidFill>
                <a:schemeClr val="bg1"/>
              </a:solidFill>
            </a:endParaRPr>
          </a:p>
        </p:txBody>
      </p:sp>
      <p:sp>
        <p:nvSpPr>
          <p:cNvPr id="12" name="Shape 10"/>
          <p:cNvSpPr/>
          <p:nvPr/>
        </p:nvSpPr>
        <p:spPr>
          <a:xfrm>
            <a:off x="5852160" y="1664208"/>
            <a:ext cx="274320" cy="914"/>
          </a:xfrm>
          <a:prstGeom prst="line">
            <a:avLst/>
          </a:prstGeom>
          <a:noFill/>
          <a:ln w="31750">
            <a:solidFill>
              <a:srgbClr val="3A4150"/>
            </a:solidFill>
            <a:prstDash val="solid"/>
            <a:tailEnd type="triangle"/>
          </a:ln>
        </p:spPr>
        <p:txBody>
          <a:bodyPr/>
          <a:lstStyle/>
          <a:p>
            <a:endParaRPr lang="es-CO"/>
          </a:p>
        </p:txBody>
      </p:sp>
      <p:sp>
        <p:nvSpPr>
          <p:cNvPr id="13" name="Shape 11"/>
          <p:cNvSpPr/>
          <p:nvPr/>
        </p:nvSpPr>
        <p:spPr>
          <a:xfrm>
            <a:off x="6126480" y="1234440"/>
            <a:ext cx="2560320" cy="868680"/>
          </a:xfrm>
          <a:prstGeom prst="roundRect">
            <a:avLst>
              <a:gd name="adj" fmla="val 10526"/>
            </a:avLst>
          </a:prstGeom>
          <a:solidFill>
            <a:srgbClr val="F2B43C"/>
          </a:solidFill>
          <a:ln w="12700">
            <a:solidFill>
              <a:srgbClr val="F2B43C"/>
            </a:solidFill>
            <a:prstDash val="solid"/>
          </a:ln>
        </p:spPr>
        <p:txBody>
          <a:bodyPr/>
          <a:lstStyle/>
          <a:p>
            <a:endParaRPr lang="es-CO"/>
          </a:p>
        </p:txBody>
      </p:sp>
      <p:sp>
        <p:nvSpPr>
          <p:cNvPr id="14" name="Text 12"/>
          <p:cNvSpPr txBox="1"/>
          <p:nvPr/>
        </p:nvSpPr>
        <p:spPr>
          <a:xfrm>
            <a:off x="6181344" y="1234440"/>
            <a:ext cx="2450592" cy="868680"/>
          </a:xfrm>
          <a:prstGeom prst="rect">
            <a:avLst/>
          </a:prstGeom>
          <a:noFill/>
          <a:ln/>
        </p:spPr>
        <p:txBody>
          <a:bodyPr wrap="square" lIns="0" tIns="0" rIns="0" bIns="0" rtlCol="0" anchor="ctr"/>
          <a:lstStyle/>
          <a:p>
            <a:pPr marL="0" indent="0" algn="ctr">
              <a:buNone/>
            </a:pPr>
            <a:r>
              <a:rPr lang="en-US" sz="1200" b="1" dirty="0">
                <a:solidFill>
                  <a:srgbClr val="15193A"/>
                </a:solidFill>
                <a:latin typeface="Calibri" pitchFamily="34" charset="0"/>
                <a:ea typeface="Calibri" pitchFamily="34" charset="-122"/>
                <a:cs typeface="Calibri" pitchFamily="34" charset="-120"/>
              </a:rPr>
              <a:t>Remodelación articular → artrosis secundaria</a:t>
            </a:r>
            <a:endParaRPr lang="en-US" sz="1200" dirty="0"/>
          </a:p>
        </p:txBody>
      </p:sp>
      <p:sp>
        <p:nvSpPr>
          <p:cNvPr id="15" name="Shape 13"/>
          <p:cNvSpPr/>
          <p:nvPr/>
        </p:nvSpPr>
        <p:spPr>
          <a:xfrm>
            <a:off x="457200" y="2331720"/>
            <a:ext cx="4023360" cy="1965960"/>
          </a:xfrm>
          <a:prstGeom prst="roundRect">
            <a:avLst>
              <a:gd name="adj" fmla="val 4651"/>
            </a:avLst>
          </a:prstGeom>
          <a:solidFill>
            <a:srgbClr val="FFFFFF"/>
          </a:solidFill>
          <a:ln w="19050">
            <a:solidFill>
              <a:srgbClr val="F2B43C"/>
            </a:solidFill>
            <a:prstDash val="solid"/>
          </a:ln>
        </p:spPr>
        <p:txBody>
          <a:bodyPr/>
          <a:lstStyle/>
          <a:p>
            <a:endParaRPr lang="es-CO"/>
          </a:p>
        </p:txBody>
      </p:sp>
      <p:sp>
        <p:nvSpPr>
          <p:cNvPr id="16" name="Shape 14"/>
          <p:cNvSpPr/>
          <p:nvPr/>
        </p:nvSpPr>
        <p:spPr>
          <a:xfrm>
            <a:off x="658368" y="2514600"/>
            <a:ext cx="512064" cy="512064"/>
          </a:xfrm>
          <a:prstGeom prst="ellipse">
            <a:avLst/>
          </a:prstGeom>
          <a:solidFill>
            <a:srgbClr val="F2B43C"/>
          </a:solidFill>
          <a:ln w="12700">
            <a:solidFill>
              <a:srgbClr val="F2B43C"/>
            </a:solidFill>
            <a:prstDash val="solid"/>
          </a:ln>
        </p:spPr>
        <p:txBody>
          <a:bodyPr/>
          <a:lstStyle/>
          <a:p>
            <a:endParaRPr lang="es-CO"/>
          </a:p>
        </p:txBody>
      </p:sp>
      <p:pic>
        <p:nvPicPr>
          <p:cNvPr id="17" name="Image 0" descr="preencoded.png"/>
          <p:cNvPicPr>
            <a:picLocks noChangeAspect="1"/>
          </p:cNvPicPr>
          <p:nvPr/>
        </p:nvPicPr>
        <p:blipFill>
          <a:blip r:embed="rId3"/>
          <a:stretch>
            <a:fillRect/>
          </a:stretch>
        </p:blipFill>
        <p:spPr>
          <a:xfrm>
            <a:off x="781263" y="2637495"/>
            <a:ext cx="266273" cy="266273"/>
          </a:xfrm>
          <a:prstGeom prst="rect">
            <a:avLst/>
          </a:prstGeom>
        </p:spPr>
      </p:pic>
      <p:sp>
        <p:nvSpPr>
          <p:cNvPr id="18" name="Text 15"/>
          <p:cNvSpPr txBox="1"/>
          <p:nvPr/>
        </p:nvSpPr>
        <p:spPr>
          <a:xfrm>
            <a:off x="1298448" y="2560320"/>
            <a:ext cx="3017520" cy="411480"/>
          </a:xfrm>
          <a:prstGeom prst="rect">
            <a:avLst/>
          </a:prstGeom>
          <a:noFill/>
          <a:ln/>
        </p:spPr>
        <p:txBody>
          <a:bodyPr wrap="square" lIns="0" tIns="0" rIns="0" bIns="0" rtlCol="0" anchor="ctr"/>
          <a:lstStyle/>
          <a:p>
            <a:pPr marL="0" indent="0">
              <a:buNone/>
            </a:pPr>
            <a:r>
              <a:rPr lang="en-US" sz="1600" b="1" dirty="0">
                <a:solidFill>
                  <a:srgbClr val="A66A00"/>
                </a:solidFill>
                <a:latin typeface="Calibri" pitchFamily="34" charset="0"/>
                <a:ea typeface="Calibri" pitchFamily="34" charset="-122"/>
                <a:cs typeface="Calibri" pitchFamily="34" charset="-120"/>
              </a:rPr>
              <a:t>¿Qué puede ocurrir?</a:t>
            </a:r>
            <a:endParaRPr lang="en-US" sz="1600" dirty="0"/>
          </a:p>
        </p:txBody>
      </p:sp>
      <p:sp>
        <p:nvSpPr>
          <p:cNvPr id="19" name="Text 16"/>
          <p:cNvSpPr txBox="1"/>
          <p:nvPr/>
        </p:nvSpPr>
        <p:spPr>
          <a:xfrm>
            <a:off x="685800" y="3127248"/>
            <a:ext cx="3611880" cy="10972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1821"/>
                </a:solidFill>
                <a:latin typeface="Calibri" pitchFamily="34" charset="0"/>
                <a:ea typeface="Calibri" pitchFamily="34" charset="-122"/>
                <a:cs typeface="Calibri" pitchFamily="34" charset="-120"/>
              </a:rPr>
              <a:t>Pérdida progresiva del cartílago.</a:t>
            </a:r>
            <a:endParaRPr lang="en-US" sz="1250" dirty="0"/>
          </a:p>
          <a:p>
            <a:pPr marL="342900" indent="-342900">
              <a:spcAft>
                <a:spcPts val="600"/>
              </a:spcAft>
              <a:buSzPct val="100000"/>
              <a:buChar char="•"/>
            </a:pPr>
            <a:r>
              <a:rPr lang="en-US" sz="1250" dirty="0">
                <a:solidFill>
                  <a:srgbClr val="141821"/>
                </a:solidFill>
                <a:latin typeface="Calibri" pitchFamily="34" charset="0"/>
                <a:ea typeface="Calibri" pitchFamily="34" charset="-122"/>
                <a:cs typeface="Calibri" pitchFamily="34" charset="-120"/>
              </a:rPr>
              <a:t>Inestabilidad, deformidad o alteración de las cargas articulares.</a:t>
            </a:r>
            <a:endParaRPr lang="en-US" sz="1250" dirty="0"/>
          </a:p>
          <a:p>
            <a:pPr marL="342900" indent="-342900">
              <a:spcAft>
                <a:spcPts val="600"/>
              </a:spcAft>
              <a:buSzPct val="100000"/>
              <a:buChar char="•"/>
            </a:pPr>
            <a:r>
              <a:rPr lang="en-US" sz="1250" dirty="0">
                <a:solidFill>
                  <a:srgbClr val="141821"/>
                </a:solidFill>
                <a:latin typeface="Calibri" pitchFamily="34" charset="0"/>
                <a:ea typeface="Calibri" pitchFamily="34" charset="-122"/>
                <a:cs typeface="Calibri" pitchFamily="34" charset="-120"/>
              </a:rPr>
              <a:t>Formación de osteofitos y remodelación ósea.</a:t>
            </a:r>
            <a:endParaRPr lang="en-US" sz="1250" dirty="0"/>
          </a:p>
        </p:txBody>
      </p:sp>
      <p:sp>
        <p:nvSpPr>
          <p:cNvPr id="20" name="Shape 17"/>
          <p:cNvSpPr/>
          <p:nvPr/>
        </p:nvSpPr>
        <p:spPr>
          <a:xfrm>
            <a:off x="4663440" y="2331720"/>
            <a:ext cx="4023360" cy="1965960"/>
          </a:xfrm>
          <a:prstGeom prst="roundRect">
            <a:avLst>
              <a:gd name="adj" fmla="val 4651"/>
            </a:avLst>
          </a:prstGeom>
          <a:solidFill>
            <a:srgbClr val="FFFFFF"/>
          </a:solidFill>
          <a:ln w="19050">
            <a:solidFill>
              <a:srgbClr val="4CC9F0"/>
            </a:solidFill>
            <a:prstDash val="solid"/>
          </a:ln>
        </p:spPr>
        <p:txBody>
          <a:bodyPr/>
          <a:lstStyle/>
          <a:p>
            <a:endParaRPr lang="es-CO"/>
          </a:p>
        </p:txBody>
      </p:sp>
      <p:sp>
        <p:nvSpPr>
          <p:cNvPr id="21" name="Shape 18"/>
          <p:cNvSpPr/>
          <p:nvPr/>
        </p:nvSpPr>
        <p:spPr>
          <a:xfrm>
            <a:off x="4864608" y="2514600"/>
            <a:ext cx="512064" cy="512064"/>
          </a:xfrm>
          <a:prstGeom prst="ellipse">
            <a:avLst/>
          </a:prstGeom>
          <a:solidFill>
            <a:srgbClr val="4CC9F0"/>
          </a:solidFill>
          <a:ln w="12700">
            <a:solidFill>
              <a:srgbClr val="4CC9F0"/>
            </a:solidFill>
            <a:prstDash val="solid"/>
          </a:ln>
        </p:spPr>
        <p:txBody>
          <a:bodyPr/>
          <a:lstStyle/>
          <a:p>
            <a:endParaRPr lang="es-CO"/>
          </a:p>
        </p:txBody>
      </p:sp>
      <p:pic>
        <p:nvPicPr>
          <p:cNvPr id="22" name="Image 1" descr="preencoded.png"/>
          <p:cNvPicPr>
            <a:picLocks noChangeAspect="1"/>
          </p:cNvPicPr>
          <p:nvPr/>
        </p:nvPicPr>
        <p:blipFill>
          <a:blip r:embed="rId4"/>
          <a:stretch>
            <a:fillRect/>
          </a:stretch>
        </p:blipFill>
        <p:spPr>
          <a:xfrm>
            <a:off x="4987503" y="2637495"/>
            <a:ext cx="266273" cy="266273"/>
          </a:xfrm>
          <a:prstGeom prst="rect">
            <a:avLst/>
          </a:prstGeom>
        </p:spPr>
      </p:pic>
      <p:sp>
        <p:nvSpPr>
          <p:cNvPr id="23" name="Text 19"/>
          <p:cNvSpPr txBox="1"/>
          <p:nvPr/>
        </p:nvSpPr>
        <p:spPr>
          <a:xfrm>
            <a:off x="5504688" y="2560320"/>
            <a:ext cx="3017520" cy="411480"/>
          </a:xfrm>
          <a:prstGeom prst="rect">
            <a:avLst/>
          </a:prstGeom>
          <a:noFill/>
          <a:ln/>
        </p:spPr>
        <p:txBody>
          <a:bodyPr wrap="square" lIns="0" tIns="0" rIns="0" bIns="0" rtlCol="0" anchor="ctr"/>
          <a:lstStyle/>
          <a:p>
            <a:pPr marL="0" indent="0">
              <a:buNone/>
            </a:pPr>
            <a:r>
              <a:rPr lang="en-US" sz="1600" b="1" dirty="0">
                <a:solidFill>
                  <a:srgbClr val="0A6F98"/>
                </a:solidFill>
                <a:latin typeface="Calibri" pitchFamily="34" charset="0"/>
                <a:ea typeface="Calibri" pitchFamily="34" charset="-122"/>
                <a:cs typeface="Calibri" pitchFamily="34" charset="-120"/>
              </a:rPr>
              <a:t>¿Por qué importa?</a:t>
            </a:r>
            <a:endParaRPr lang="en-US" sz="1600" dirty="0"/>
          </a:p>
        </p:txBody>
      </p:sp>
      <p:sp>
        <p:nvSpPr>
          <p:cNvPr id="24" name="Text 20"/>
          <p:cNvSpPr txBox="1"/>
          <p:nvPr/>
        </p:nvSpPr>
        <p:spPr>
          <a:xfrm>
            <a:off x="4892040" y="3127248"/>
            <a:ext cx="3611880" cy="10972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41821"/>
                </a:solidFill>
                <a:latin typeface="Calibri" pitchFamily="34" charset="0"/>
                <a:ea typeface="Calibri" pitchFamily="34" charset="-122"/>
                <a:cs typeface="Calibri" pitchFamily="34" charset="-120"/>
              </a:rPr>
              <a:t>Dolor mecánico pese al control de la actividad inflamatoria.</a:t>
            </a:r>
            <a:endParaRPr lang="en-US" sz="1250" dirty="0"/>
          </a:p>
          <a:p>
            <a:pPr marL="342900" indent="-342900">
              <a:spcAft>
                <a:spcPts val="600"/>
              </a:spcAft>
              <a:buSzPct val="100000"/>
              <a:buChar char="•"/>
            </a:pPr>
            <a:r>
              <a:rPr lang="en-US" sz="1250" dirty="0">
                <a:solidFill>
                  <a:srgbClr val="141821"/>
                </a:solidFill>
                <a:latin typeface="Calibri" pitchFamily="34" charset="0"/>
                <a:ea typeface="Calibri" pitchFamily="34" charset="-122"/>
                <a:cs typeface="Calibri" pitchFamily="34" charset="-120"/>
              </a:rPr>
              <a:t>Limitación funcional por daño estructural.</a:t>
            </a:r>
            <a:endParaRPr lang="en-US" sz="1250" dirty="0"/>
          </a:p>
          <a:p>
            <a:pPr marL="342900" indent="-342900">
              <a:spcAft>
                <a:spcPts val="600"/>
              </a:spcAft>
              <a:buSzPct val="100000"/>
              <a:buChar char="•"/>
            </a:pPr>
            <a:r>
              <a:rPr lang="en-US" sz="1250" dirty="0">
                <a:solidFill>
                  <a:srgbClr val="141821"/>
                </a:solidFill>
                <a:latin typeface="Calibri" pitchFamily="34" charset="0"/>
                <a:ea typeface="Calibri" pitchFamily="34" charset="-122"/>
                <a:cs typeface="Calibri" pitchFamily="34" charset="-120"/>
              </a:rPr>
              <a:t>Evitar intensificar inmunosupresión sin evidencia de actividad de AR.</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7863840" cy="274320"/>
          </a:xfrm>
          <a:prstGeom prst="rect">
            <a:avLst/>
          </a:prstGeom>
          <a:noFill/>
          <a:ln/>
        </p:spPr>
        <p:txBody>
          <a:bodyPr wrap="square" lIns="0" tIns="0" rIns="0" bIns="0" rtlCol="0" anchor="ctr"/>
          <a:lstStyle/>
          <a:p>
            <a:pPr marL="0" indent="0">
              <a:buNone/>
            </a:pPr>
            <a:r>
              <a:rPr lang="en-US" sz="1400" b="1" kern="0" spc="300" dirty="0">
                <a:solidFill>
                  <a:srgbClr val="6A4CCF"/>
                </a:solidFill>
                <a:latin typeface="Calibri" pitchFamily="34" charset="0"/>
                <a:ea typeface="Calibri" pitchFamily="34" charset="-122"/>
                <a:cs typeface="Calibri" pitchFamily="34" charset="-120"/>
              </a:rPr>
              <a:t>PARA RECORDAR</a:t>
            </a:r>
            <a:endParaRPr lang="en-US" sz="1400" dirty="0"/>
          </a:p>
        </p:txBody>
      </p:sp>
      <p:sp>
        <p:nvSpPr>
          <p:cNvPr id="3" name="Text 1"/>
          <p:cNvSpPr txBox="1"/>
          <p:nvPr/>
        </p:nvSpPr>
        <p:spPr>
          <a:xfrm>
            <a:off x="457200" y="457200"/>
            <a:ext cx="8229600" cy="658368"/>
          </a:xfrm>
          <a:prstGeom prst="rect">
            <a:avLst/>
          </a:prstGeom>
          <a:noFill/>
          <a:ln/>
        </p:spPr>
        <p:txBody>
          <a:bodyPr wrap="square" lIns="0" tIns="0" rIns="0" bIns="0" rtlCol="0" anchor="ctr"/>
          <a:lstStyle/>
          <a:p>
            <a:pPr marL="0" indent="0">
              <a:buNone/>
            </a:pPr>
            <a:r>
              <a:rPr lang="en-US" sz="2400" b="1" dirty="0">
                <a:solidFill>
                  <a:srgbClr val="141821"/>
                </a:solidFill>
                <a:latin typeface="Calibri" pitchFamily="34" charset="0"/>
                <a:ea typeface="Calibri" pitchFamily="34" charset="-122"/>
                <a:cs typeface="Calibri" pitchFamily="34" charset="-120"/>
              </a:rPr>
              <a:t>Seis </a:t>
            </a:r>
            <a:r>
              <a:rPr lang="en-US" sz="2400" b="1" dirty="0" err="1">
                <a:solidFill>
                  <a:srgbClr val="141821"/>
                </a:solidFill>
                <a:latin typeface="Calibri" pitchFamily="34" charset="0"/>
                <a:ea typeface="Calibri" pitchFamily="34" charset="-122"/>
                <a:cs typeface="Calibri" pitchFamily="34" charset="-120"/>
              </a:rPr>
              <a:t>perlas</a:t>
            </a:r>
            <a:r>
              <a:rPr lang="en-US" sz="2400" b="1" dirty="0">
                <a:solidFill>
                  <a:srgbClr val="141821"/>
                </a:solidFill>
                <a:latin typeface="Calibri" pitchFamily="34" charset="0"/>
                <a:ea typeface="Calibri" pitchFamily="34" charset="-122"/>
                <a:cs typeface="Calibri" pitchFamily="34" charset="-120"/>
              </a:rPr>
              <a:t> para no </a:t>
            </a:r>
            <a:r>
              <a:rPr lang="en-US" sz="2400" b="1" dirty="0" err="1">
                <a:solidFill>
                  <a:srgbClr val="141821"/>
                </a:solidFill>
                <a:latin typeface="Calibri" pitchFamily="34" charset="0"/>
                <a:ea typeface="Calibri" pitchFamily="34" charset="-122"/>
                <a:cs typeface="Calibri" pitchFamily="34" charset="-120"/>
              </a:rPr>
              <a:t>confundir</a:t>
            </a:r>
            <a:r>
              <a:rPr lang="en-US" sz="2400" b="1" dirty="0">
                <a:solidFill>
                  <a:srgbClr val="141821"/>
                </a:solidFill>
                <a:latin typeface="Calibri" pitchFamily="34" charset="0"/>
                <a:ea typeface="Calibri" pitchFamily="34" charset="-122"/>
                <a:cs typeface="Calibri" pitchFamily="34" charset="-120"/>
              </a:rPr>
              <a:t> </a:t>
            </a:r>
            <a:r>
              <a:rPr lang="en-US" sz="2400" b="1" dirty="0" err="1">
                <a:solidFill>
                  <a:srgbClr val="141821"/>
                </a:solidFill>
                <a:latin typeface="Calibri" pitchFamily="34" charset="0"/>
                <a:ea typeface="Calibri" pitchFamily="34" charset="-122"/>
                <a:cs typeface="Calibri" pitchFamily="34" charset="-120"/>
              </a:rPr>
              <a:t>artritis</a:t>
            </a:r>
            <a:r>
              <a:rPr lang="en-US" sz="2400" b="1" dirty="0">
                <a:solidFill>
                  <a:srgbClr val="141821"/>
                </a:solidFill>
                <a:latin typeface="Calibri" pitchFamily="34" charset="0"/>
                <a:ea typeface="Calibri" pitchFamily="34" charset="-122"/>
                <a:cs typeface="Calibri" pitchFamily="34" charset="-120"/>
              </a:rPr>
              <a:t> </a:t>
            </a:r>
            <a:r>
              <a:rPr lang="en-US" sz="2400" b="1" dirty="0" err="1">
                <a:solidFill>
                  <a:srgbClr val="141821"/>
                </a:solidFill>
                <a:latin typeface="Calibri" pitchFamily="34" charset="0"/>
                <a:ea typeface="Calibri" pitchFamily="34" charset="-122"/>
                <a:cs typeface="Calibri" pitchFamily="34" charset="-120"/>
              </a:rPr>
              <a:t>reumatoide</a:t>
            </a:r>
            <a:r>
              <a:rPr lang="en-US" sz="2400" b="1" dirty="0">
                <a:solidFill>
                  <a:srgbClr val="141821"/>
                </a:solidFill>
                <a:latin typeface="Calibri" pitchFamily="34" charset="0"/>
                <a:ea typeface="Calibri" pitchFamily="34" charset="-122"/>
                <a:cs typeface="Calibri" pitchFamily="34" charset="-120"/>
              </a:rPr>
              <a:t> con </a:t>
            </a:r>
            <a:r>
              <a:rPr lang="en-US" sz="2400" b="1" dirty="0" err="1">
                <a:solidFill>
                  <a:srgbClr val="141821"/>
                </a:solidFill>
                <a:latin typeface="Calibri" pitchFamily="34" charset="0"/>
                <a:ea typeface="Calibri" pitchFamily="34" charset="-122"/>
                <a:cs typeface="Calibri" pitchFamily="34" charset="-120"/>
              </a:rPr>
              <a:t>artrosis</a:t>
            </a:r>
            <a:endParaRPr lang="en-US" sz="2400" dirty="0"/>
          </a:p>
        </p:txBody>
      </p:sp>
      <p:sp>
        <p:nvSpPr>
          <p:cNvPr id="7" name="Shape 5"/>
          <p:cNvSpPr/>
          <p:nvPr/>
        </p:nvSpPr>
        <p:spPr>
          <a:xfrm>
            <a:off x="457200" y="1371600"/>
            <a:ext cx="8229600" cy="457200"/>
          </a:xfrm>
          <a:prstGeom prst="roundRect">
            <a:avLst>
              <a:gd name="adj" fmla="val 20000"/>
            </a:avLst>
          </a:prstGeom>
          <a:solidFill>
            <a:srgbClr val="FFFFFF"/>
          </a:solidFill>
          <a:ln w="19050">
            <a:solidFill>
              <a:srgbClr val="A78BFA"/>
            </a:solidFill>
            <a:prstDash val="solid"/>
          </a:ln>
        </p:spPr>
        <p:txBody>
          <a:bodyPr/>
          <a:lstStyle/>
          <a:p>
            <a:endParaRPr lang="es-CO" sz="2000"/>
          </a:p>
        </p:txBody>
      </p:sp>
      <p:sp>
        <p:nvSpPr>
          <p:cNvPr id="8" name="Shape 6"/>
          <p:cNvSpPr/>
          <p:nvPr/>
        </p:nvSpPr>
        <p:spPr>
          <a:xfrm>
            <a:off x="594360" y="1444752"/>
            <a:ext cx="310896" cy="310896"/>
          </a:xfrm>
          <a:prstGeom prst="ellipse">
            <a:avLst/>
          </a:prstGeom>
          <a:solidFill>
            <a:srgbClr val="A78BFA"/>
          </a:solidFill>
          <a:ln w="12700">
            <a:solidFill>
              <a:srgbClr val="A78BFA"/>
            </a:solidFill>
            <a:prstDash val="solid"/>
          </a:ln>
        </p:spPr>
        <p:txBody>
          <a:bodyPr/>
          <a:lstStyle/>
          <a:p>
            <a:endParaRPr lang="es-CO" sz="2000"/>
          </a:p>
        </p:txBody>
      </p:sp>
      <p:sp>
        <p:nvSpPr>
          <p:cNvPr id="9" name="Text 7"/>
          <p:cNvSpPr txBox="1"/>
          <p:nvPr/>
        </p:nvSpPr>
        <p:spPr>
          <a:xfrm>
            <a:off x="594360" y="1444752"/>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txBox="1"/>
          <p:nvPr/>
        </p:nvSpPr>
        <p:spPr>
          <a:xfrm>
            <a:off x="1051560" y="1371600"/>
            <a:ext cx="7498080" cy="457200"/>
          </a:xfrm>
          <a:prstGeom prst="rect">
            <a:avLst/>
          </a:prstGeom>
          <a:noFill/>
          <a:ln/>
        </p:spPr>
        <p:txBody>
          <a:bodyPr wrap="square" lIns="0" tIns="0" rIns="0" bIns="0" rtlCol="0" anchor="ctr"/>
          <a:lstStyle/>
          <a:p>
            <a:r>
              <a:rPr lang="es-CO" sz="1600" dirty="0"/>
              <a:t>El patrón del dolor orienta; la exploración define la sospecha.</a:t>
            </a:r>
            <a:endParaRPr lang="en-US" sz="1600" dirty="0"/>
          </a:p>
        </p:txBody>
      </p:sp>
      <p:sp>
        <p:nvSpPr>
          <p:cNvPr id="11" name="Shape 9"/>
          <p:cNvSpPr/>
          <p:nvPr/>
        </p:nvSpPr>
        <p:spPr>
          <a:xfrm>
            <a:off x="457200" y="1883664"/>
            <a:ext cx="8229600" cy="457200"/>
          </a:xfrm>
          <a:prstGeom prst="roundRect">
            <a:avLst>
              <a:gd name="adj" fmla="val 20000"/>
            </a:avLst>
          </a:prstGeom>
          <a:solidFill>
            <a:srgbClr val="FFFFFF"/>
          </a:solidFill>
          <a:ln w="19050">
            <a:solidFill>
              <a:srgbClr val="A78BFA"/>
            </a:solidFill>
            <a:prstDash val="solid"/>
          </a:ln>
        </p:spPr>
        <p:txBody>
          <a:bodyPr/>
          <a:lstStyle/>
          <a:p>
            <a:endParaRPr lang="es-CO" sz="2000"/>
          </a:p>
        </p:txBody>
      </p:sp>
      <p:sp>
        <p:nvSpPr>
          <p:cNvPr id="12" name="Shape 10"/>
          <p:cNvSpPr/>
          <p:nvPr/>
        </p:nvSpPr>
        <p:spPr>
          <a:xfrm>
            <a:off x="594360" y="1956816"/>
            <a:ext cx="310896" cy="310896"/>
          </a:xfrm>
          <a:prstGeom prst="ellipse">
            <a:avLst/>
          </a:prstGeom>
          <a:solidFill>
            <a:srgbClr val="A78BFA"/>
          </a:solidFill>
          <a:ln w="12700">
            <a:solidFill>
              <a:srgbClr val="A78BFA"/>
            </a:solidFill>
            <a:prstDash val="solid"/>
          </a:ln>
        </p:spPr>
        <p:txBody>
          <a:bodyPr/>
          <a:lstStyle/>
          <a:p>
            <a:endParaRPr lang="es-CO" sz="2000"/>
          </a:p>
        </p:txBody>
      </p:sp>
      <p:sp>
        <p:nvSpPr>
          <p:cNvPr id="13" name="Text 11"/>
          <p:cNvSpPr txBox="1"/>
          <p:nvPr/>
        </p:nvSpPr>
        <p:spPr>
          <a:xfrm>
            <a:off x="594360" y="1956816"/>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1051560" y="1883664"/>
            <a:ext cx="7498080" cy="457200"/>
          </a:xfrm>
          <a:prstGeom prst="rect">
            <a:avLst/>
          </a:prstGeom>
          <a:noFill/>
          <a:ln/>
        </p:spPr>
        <p:txBody>
          <a:bodyPr wrap="square" lIns="0" tIns="0" rIns="0" bIns="0" rtlCol="0" anchor="ctr"/>
          <a:lstStyle/>
          <a:p>
            <a:r>
              <a:rPr lang="es-CO" sz="1600" dirty="0"/>
              <a:t>Las manos son el mapa del diagnóstico.</a:t>
            </a:r>
            <a:endParaRPr lang="en-US" sz="1600" dirty="0"/>
          </a:p>
        </p:txBody>
      </p:sp>
      <p:sp>
        <p:nvSpPr>
          <p:cNvPr id="15" name="Shape 13"/>
          <p:cNvSpPr/>
          <p:nvPr/>
        </p:nvSpPr>
        <p:spPr>
          <a:xfrm>
            <a:off x="457200" y="2395728"/>
            <a:ext cx="8229600" cy="457200"/>
          </a:xfrm>
          <a:prstGeom prst="roundRect">
            <a:avLst>
              <a:gd name="adj" fmla="val 20000"/>
            </a:avLst>
          </a:prstGeom>
          <a:solidFill>
            <a:srgbClr val="FFFFFF"/>
          </a:solidFill>
          <a:ln w="19050">
            <a:solidFill>
              <a:srgbClr val="A78BFA"/>
            </a:solidFill>
            <a:prstDash val="solid"/>
          </a:ln>
        </p:spPr>
        <p:txBody>
          <a:bodyPr/>
          <a:lstStyle/>
          <a:p>
            <a:endParaRPr lang="es-CO" sz="2000"/>
          </a:p>
        </p:txBody>
      </p:sp>
      <p:sp>
        <p:nvSpPr>
          <p:cNvPr id="16" name="Shape 14"/>
          <p:cNvSpPr/>
          <p:nvPr/>
        </p:nvSpPr>
        <p:spPr>
          <a:xfrm>
            <a:off x="594360" y="2468880"/>
            <a:ext cx="310896" cy="310896"/>
          </a:xfrm>
          <a:prstGeom prst="ellipse">
            <a:avLst/>
          </a:prstGeom>
          <a:solidFill>
            <a:srgbClr val="A78BFA"/>
          </a:solidFill>
          <a:ln w="12700">
            <a:solidFill>
              <a:srgbClr val="A78BFA"/>
            </a:solidFill>
            <a:prstDash val="solid"/>
          </a:ln>
        </p:spPr>
        <p:txBody>
          <a:bodyPr/>
          <a:lstStyle/>
          <a:p>
            <a:endParaRPr lang="es-CO" sz="2000"/>
          </a:p>
        </p:txBody>
      </p:sp>
      <p:sp>
        <p:nvSpPr>
          <p:cNvPr id="17" name="Text 15"/>
          <p:cNvSpPr txBox="1"/>
          <p:nvPr/>
        </p:nvSpPr>
        <p:spPr>
          <a:xfrm>
            <a:off x="594360" y="2468880"/>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1051560" y="2395728"/>
            <a:ext cx="7498080" cy="457200"/>
          </a:xfrm>
          <a:prstGeom prst="rect">
            <a:avLst/>
          </a:prstGeom>
          <a:noFill/>
          <a:ln/>
        </p:spPr>
        <p:txBody>
          <a:bodyPr wrap="square" lIns="0" tIns="0" rIns="0" bIns="0" rtlCol="0" anchor="ctr"/>
          <a:lstStyle/>
          <a:p>
            <a:r>
              <a:rPr lang="es-CO" sz="1600" dirty="0"/>
              <a:t>La artrosis no es simplemente desgaste ni la inflamación es exclusiva de la AR.</a:t>
            </a:r>
          </a:p>
        </p:txBody>
      </p:sp>
      <p:sp>
        <p:nvSpPr>
          <p:cNvPr id="19" name="Shape 17"/>
          <p:cNvSpPr/>
          <p:nvPr/>
        </p:nvSpPr>
        <p:spPr>
          <a:xfrm>
            <a:off x="457200" y="2907792"/>
            <a:ext cx="8229600" cy="457200"/>
          </a:xfrm>
          <a:prstGeom prst="roundRect">
            <a:avLst>
              <a:gd name="adj" fmla="val 20000"/>
            </a:avLst>
          </a:prstGeom>
          <a:solidFill>
            <a:srgbClr val="FFFFFF"/>
          </a:solidFill>
          <a:ln w="19050">
            <a:solidFill>
              <a:srgbClr val="A78BFA"/>
            </a:solidFill>
            <a:prstDash val="solid"/>
          </a:ln>
        </p:spPr>
        <p:txBody>
          <a:bodyPr/>
          <a:lstStyle/>
          <a:p>
            <a:endParaRPr lang="es-CO" sz="2000"/>
          </a:p>
        </p:txBody>
      </p:sp>
      <p:sp>
        <p:nvSpPr>
          <p:cNvPr id="20" name="Shape 18"/>
          <p:cNvSpPr/>
          <p:nvPr/>
        </p:nvSpPr>
        <p:spPr>
          <a:xfrm>
            <a:off x="594360" y="2980944"/>
            <a:ext cx="310896" cy="310896"/>
          </a:xfrm>
          <a:prstGeom prst="ellipse">
            <a:avLst/>
          </a:prstGeom>
          <a:solidFill>
            <a:srgbClr val="A78BFA"/>
          </a:solidFill>
          <a:ln w="12700">
            <a:solidFill>
              <a:srgbClr val="A78BFA"/>
            </a:solidFill>
            <a:prstDash val="solid"/>
          </a:ln>
        </p:spPr>
        <p:txBody>
          <a:bodyPr/>
          <a:lstStyle/>
          <a:p>
            <a:endParaRPr lang="es-CO" sz="2000"/>
          </a:p>
        </p:txBody>
      </p:sp>
      <p:sp>
        <p:nvSpPr>
          <p:cNvPr id="21" name="Text 19"/>
          <p:cNvSpPr txBox="1"/>
          <p:nvPr/>
        </p:nvSpPr>
        <p:spPr>
          <a:xfrm>
            <a:off x="594360" y="2980944"/>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1051560" y="2907792"/>
            <a:ext cx="7498080" cy="457200"/>
          </a:xfrm>
          <a:prstGeom prst="rect">
            <a:avLst/>
          </a:prstGeom>
          <a:noFill/>
          <a:ln/>
        </p:spPr>
        <p:txBody>
          <a:bodyPr wrap="square" lIns="0" tIns="0" rIns="0" bIns="0" rtlCol="0" anchor="ctr"/>
          <a:lstStyle/>
          <a:p>
            <a:r>
              <a:rPr lang="es-CO" sz="1600" dirty="0"/>
              <a:t>El anti-CCP modifica probabilidades, no establece diagnósticos.</a:t>
            </a:r>
            <a:endParaRPr lang="en-US" sz="1600" dirty="0"/>
          </a:p>
        </p:txBody>
      </p:sp>
      <p:sp>
        <p:nvSpPr>
          <p:cNvPr id="23" name="Shape 21"/>
          <p:cNvSpPr/>
          <p:nvPr/>
        </p:nvSpPr>
        <p:spPr>
          <a:xfrm>
            <a:off x="457200" y="3419856"/>
            <a:ext cx="8229600" cy="457200"/>
          </a:xfrm>
          <a:prstGeom prst="roundRect">
            <a:avLst>
              <a:gd name="adj" fmla="val 20000"/>
            </a:avLst>
          </a:prstGeom>
          <a:solidFill>
            <a:srgbClr val="FFFFFF"/>
          </a:solidFill>
          <a:ln w="19050">
            <a:solidFill>
              <a:srgbClr val="A78BFA"/>
            </a:solidFill>
            <a:prstDash val="solid"/>
          </a:ln>
        </p:spPr>
        <p:txBody>
          <a:bodyPr/>
          <a:lstStyle/>
          <a:p>
            <a:endParaRPr lang="es-CO" sz="2000"/>
          </a:p>
        </p:txBody>
      </p:sp>
      <p:sp>
        <p:nvSpPr>
          <p:cNvPr id="24" name="Shape 22"/>
          <p:cNvSpPr/>
          <p:nvPr/>
        </p:nvSpPr>
        <p:spPr>
          <a:xfrm>
            <a:off x="594360" y="3493008"/>
            <a:ext cx="310896" cy="310896"/>
          </a:xfrm>
          <a:prstGeom prst="ellipse">
            <a:avLst/>
          </a:prstGeom>
          <a:solidFill>
            <a:srgbClr val="A78BFA"/>
          </a:solidFill>
          <a:ln w="12700">
            <a:solidFill>
              <a:srgbClr val="A78BFA"/>
            </a:solidFill>
            <a:prstDash val="solid"/>
          </a:ln>
        </p:spPr>
        <p:txBody>
          <a:bodyPr/>
          <a:lstStyle/>
          <a:p>
            <a:endParaRPr lang="es-CO" sz="2000"/>
          </a:p>
        </p:txBody>
      </p:sp>
      <p:sp>
        <p:nvSpPr>
          <p:cNvPr id="25" name="Text 23"/>
          <p:cNvSpPr txBox="1"/>
          <p:nvPr/>
        </p:nvSpPr>
        <p:spPr>
          <a:xfrm>
            <a:off x="594360" y="3493008"/>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1051560" y="3419856"/>
            <a:ext cx="7498080" cy="457200"/>
          </a:xfrm>
          <a:prstGeom prst="rect">
            <a:avLst/>
          </a:prstGeom>
          <a:noFill/>
          <a:ln/>
        </p:spPr>
        <p:txBody>
          <a:bodyPr wrap="square" lIns="0" tIns="0" rIns="0" bIns="0" rtlCol="0" anchor="ctr"/>
          <a:lstStyle/>
          <a:p>
            <a:r>
              <a:rPr lang="es-CO" sz="1600" dirty="0"/>
              <a:t>La ausencia de erosiones no significa ausencia de artritis reumatoide.</a:t>
            </a:r>
            <a:endParaRPr lang="en-US" sz="1600" dirty="0"/>
          </a:p>
        </p:txBody>
      </p:sp>
      <p:sp>
        <p:nvSpPr>
          <p:cNvPr id="27" name="Shape 25"/>
          <p:cNvSpPr/>
          <p:nvPr/>
        </p:nvSpPr>
        <p:spPr>
          <a:xfrm>
            <a:off x="457200" y="3931920"/>
            <a:ext cx="8229600" cy="457200"/>
          </a:xfrm>
          <a:prstGeom prst="roundRect">
            <a:avLst>
              <a:gd name="adj" fmla="val 20000"/>
            </a:avLst>
          </a:prstGeom>
          <a:solidFill>
            <a:srgbClr val="FFFFFF"/>
          </a:solidFill>
          <a:ln w="19050">
            <a:solidFill>
              <a:srgbClr val="A78BFA"/>
            </a:solidFill>
            <a:prstDash val="solid"/>
          </a:ln>
        </p:spPr>
        <p:txBody>
          <a:bodyPr/>
          <a:lstStyle/>
          <a:p>
            <a:endParaRPr lang="es-CO" sz="2000"/>
          </a:p>
        </p:txBody>
      </p:sp>
      <p:sp>
        <p:nvSpPr>
          <p:cNvPr id="28" name="Shape 26"/>
          <p:cNvSpPr/>
          <p:nvPr/>
        </p:nvSpPr>
        <p:spPr>
          <a:xfrm>
            <a:off x="594360" y="4005072"/>
            <a:ext cx="310896" cy="310896"/>
          </a:xfrm>
          <a:prstGeom prst="ellipse">
            <a:avLst/>
          </a:prstGeom>
          <a:solidFill>
            <a:srgbClr val="A78BFA"/>
          </a:solidFill>
          <a:ln w="12700">
            <a:solidFill>
              <a:srgbClr val="A78BFA"/>
            </a:solidFill>
            <a:prstDash val="solid"/>
          </a:ln>
        </p:spPr>
        <p:txBody>
          <a:bodyPr/>
          <a:lstStyle/>
          <a:p>
            <a:endParaRPr lang="es-CO" sz="2000"/>
          </a:p>
        </p:txBody>
      </p:sp>
      <p:sp>
        <p:nvSpPr>
          <p:cNvPr id="29" name="Text 27"/>
          <p:cNvSpPr txBox="1"/>
          <p:nvPr/>
        </p:nvSpPr>
        <p:spPr>
          <a:xfrm>
            <a:off x="594360" y="4005072"/>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0" name="Text 28"/>
          <p:cNvSpPr txBox="1"/>
          <p:nvPr/>
        </p:nvSpPr>
        <p:spPr>
          <a:xfrm>
            <a:off x="1051560" y="3931920"/>
            <a:ext cx="7498080" cy="457200"/>
          </a:xfrm>
          <a:prstGeom prst="rect">
            <a:avLst/>
          </a:prstGeom>
          <a:noFill/>
          <a:ln/>
        </p:spPr>
        <p:txBody>
          <a:bodyPr wrap="square" lIns="0" tIns="0" rIns="0" bIns="0" rtlCol="0" anchor="ctr"/>
          <a:lstStyle/>
          <a:p>
            <a:r>
              <a:rPr lang="es-CO" sz="1600" dirty="0"/>
              <a:t>Diagnosticar temprano es aprovechar la ventana de oportunidad terapéutica</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ADDBADE-8573-C710-E4C8-06EE022432A3}"/>
              </a:ext>
            </a:extLst>
          </p:cNvPr>
          <p:cNvSpPr txBox="1"/>
          <p:nvPr/>
        </p:nvSpPr>
        <p:spPr>
          <a:xfrm>
            <a:off x="640080" y="1783080"/>
            <a:ext cx="5852160" cy="914400"/>
          </a:xfrm>
          <a:prstGeom prst="rect">
            <a:avLst/>
          </a:prstGeom>
          <a:noFill/>
          <a:ln/>
        </p:spPr>
        <p:txBody>
          <a:bodyPr wrap="square" lIns="0" tIns="0" rIns="0" bIns="0" rtlCol="0" anchor="t"/>
          <a:lstStyle/>
          <a:p>
            <a:pPr marL="0" indent="0">
              <a:buNone/>
            </a:pPr>
            <a:r>
              <a:rPr lang="en-US" sz="5000" b="1" dirty="0">
                <a:latin typeface="Calibri" pitchFamily="34" charset="0"/>
                <a:ea typeface="Calibri" pitchFamily="34" charset="-122"/>
                <a:cs typeface="Calibri" pitchFamily="34" charset="-120"/>
              </a:rPr>
              <a:t>¿Es o no es?</a:t>
            </a:r>
            <a:endParaRPr lang="en-US" sz="5000" dirty="0"/>
          </a:p>
        </p:txBody>
      </p:sp>
      <p:sp>
        <p:nvSpPr>
          <p:cNvPr id="4" name="CuadroTexto 3">
            <a:extLst>
              <a:ext uri="{FF2B5EF4-FFF2-40B4-BE49-F238E27FC236}">
                <a16:creationId xmlns:a16="http://schemas.microsoft.com/office/drawing/2014/main" id="{FE3D6B64-561A-E954-BBFC-3574F0C3F090}"/>
              </a:ext>
            </a:extLst>
          </p:cNvPr>
          <p:cNvSpPr txBox="1"/>
          <p:nvPr/>
        </p:nvSpPr>
        <p:spPr>
          <a:xfrm>
            <a:off x="640080" y="2697480"/>
            <a:ext cx="6664234" cy="400110"/>
          </a:xfrm>
          <a:prstGeom prst="rect">
            <a:avLst/>
          </a:prstGeom>
          <a:noFill/>
        </p:spPr>
        <p:txBody>
          <a:bodyPr wrap="square">
            <a:spAutoFit/>
          </a:bodyPr>
          <a:lstStyle/>
          <a:p>
            <a:pPr marL="0" indent="0">
              <a:buNone/>
            </a:pPr>
            <a:r>
              <a:rPr lang="en-US" sz="2000" dirty="0">
                <a:latin typeface="Calibri" pitchFamily="34" charset="0"/>
                <a:ea typeface="Calibri" pitchFamily="34" charset="-122"/>
                <a:cs typeface="Calibri" pitchFamily="34" charset="-120"/>
              </a:rPr>
              <a:t>El </a:t>
            </a:r>
            <a:r>
              <a:rPr lang="en-US" sz="2000" dirty="0" err="1">
                <a:latin typeface="Calibri" pitchFamily="34" charset="0"/>
                <a:ea typeface="Calibri" pitchFamily="34" charset="-122"/>
                <a:cs typeface="Calibri" pitchFamily="34" charset="-120"/>
              </a:rPr>
              <a:t>patrón</a:t>
            </a:r>
            <a:r>
              <a:rPr lang="en-US" sz="2000" dirty="0">
                <a:latin typeface="Calibri" pitchFamily="34" charset="0"/>
                <a:ea typeface="Calibri" pitchFamily="34" charset="-122"/>
                <a:cs typeface="Calibri" pitchFamily="34" charset="-120"/>
              </a:rPr>
              <a:t> </a:t>
            </a:r>
            <a:r>
              <a:rPr lang="en-US" sz="2000" dirty="0" err="1">
                <a:latin typeface="Calibri" pitchFamily="34" charset="0"/>
                <a:ea typeface="Calibri" pitchFamily="34" charset="-122"/>
                <a:cs typeface="Calibri" pitchFamily="34" charset="-120"/>
              </a:rPr>
              <a:t>responde</a:t>
            </a:r>
            <a:r>
              <a:rPr lang="en-US" sz="2000" dirty="0">
                <a:latin typeface="Calibri" pitchFamily="34" charset="0"/>
                <a:ea typeface="Calibri" pitchFamily="34" charset="-122"/>
                <a:cs typeface="Calibri" pitchFamily="34" charset="-120"/>
              </a:rPr>
              <a:t>; </a:t>
            </a:r>
            <a:r>
              <a:rPr lang="en-US" sz="2000" dirty="0" err="1">
                <a:latin typeface="Calibri" pitchFamily="34" charset="0"/>
                <a:ea typeface="Calibri" pitchFamily="34" charset="-122"/>
                <a:cs typeface="Calibri" pitchFamily="34" charset="-120"/>
              </a:rPr>
              <a:t>distinguir</a:t>
            </a:r>
            <a:r>
              <a:rPr lang="en-US" sz="2000" dirty="0">
                <a:latin typeface="Calibri" pitchFamily="34" charset="0"/>
                <a:ea typeface="Calibri" pitchFamily="34" charset="-122"/>
                <a:cs typeface="Calibri" pitchFamily="34" charset="-120"/>
              </a:rPr>
              <a:t> a </a:t>
            </a:r>
            <a:r>
              <a:rPr lang="en-US" sz="2000" dirty="0" err="1">
                <a:latin typeface="Calibri" pitchFamily="34" charset="0"/>
                <a:ea typeface="Calibri" pitchFamily="34" charset="-122"/>
                <a:cs typeface="Calibri" pitchFamily="34" charset="-120"/>
              </a:rPr>
              <a:t>tiempo</a:t>
            </a:r>
            <a:r>
              <a:rPr lang="en-US" sz="2000" dirty="0">
                <a:latin typeface="Calibri" pitchFamily="34" charset="0"/>
                <a:ea typeface="Calibri" pitchFamily="34" charset="-122"/>
                <a:cs typeface="Calibri" pitchFamily="34" charset="-120"/>
              </a:rPr>
              <a:t> cambia el </a:t>
            </a:r>
            <a:r>
              <a:rPr lang="en-US" sz="2000" dirty="0" err="1">
                <a:latin typeface="Calibri" pitchFamily="34" charset="0"/>
                <a:ea typeface="Calibri" pitchFamily="34" charset="-122"/>
                <a:cs typeface="Calibri" pitchFamily="34" charset="-120"/>
              </a:rPr>
              <a:t>pronóstico</a:t>
            </a:r>
            <a:r>
              <a:rPr lang="en-US" sz="2000" dirty="0">
                <a:latin typeface="Calibri" pitchFamily="34" charset="0"/>
                <a:ea typeface="Calibri" pitchFamily="34" charset="-122"/>
                <a:cs typeface="Calibri" pitchFamily="34" charset="-120"/>
              </a:rPr>
              <a:t>.</a:t>
            </a:r>
            <a:endParaRPr lang="en-US" sz="2000" dirty="0"/>
          </a:p>
        </p:txBody>
      </p:sp>
    </p:spTree>
    <p:extLst>
      <p:ext uri="{BB962C8B-B14F-4D97-AF65-F5344CB8AC3E}">
        <p14:creationId xmlns:p14="http://schemas.microsoft.com/office/powerpoint/2010/main" val="640657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4463</Words>
  <Application>Microsoft Macintosh PowerPoint</Application>
  <PresentationFormat>Presentación en pantalla (16:9)</PresentationFormat>
  <Paragraphs>384</Paragraphs>
  <Slides>24</Slides>
  <Notes>21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 o no es artritis reumatoide? Diagnóstico diferencial con artrosis</dc:title>
  <dc:subject>PptxGenJS Presentation</dc:subject>
  <dc:creator>Nestor Fabian Sanabria Duarte</dc:creator>
  <cp:lastModifiedBy>NESTOR FABIAN SANABRIA</cp:lastModifiedBy>
  <cp:revision>5</cp:revision>
  <dcterms:created xsi:type="dcterms:W3CDTF">2026-10-18T20:56:29Z</dcterms:created>
  <dcterms:modified xsi:type="dcterms:W3CDTF">2026-10-19T11:51:40Z</dcterms:modified>
</cp:coreProperties>
</file>
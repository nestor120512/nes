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8.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9.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0.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Rendimiento en la serie de validación</a:t>
            </a:r>
          </a:p>
        </c:rich>
      </c:tx>
      <c:layout/>
      <c:overlay val="0"/>
    </c:title>
    <c:autoTitleDeleted val="0"/>
    <c:plotArea>
      <c:layout/>
      <c:barChart>
        <c:barDir val="col"/>
        <c:grouping val="clustered"/>
        <c:varyColors val="0"/>
        <c:ser>
          <c:idx val="0"/>
          <c:order val="0"/>
          <c:tx>
            <c:strRef>
              <c:f>Sheet1!$B$1</c:f>
              <c:strCache>
                <c:ptCount val="1"/>
                <c:pt idx="0">
                  <c:v>Sensibilidad</c:v>
                </c:pt>
              </c:strCache>
            </c:strRef>
          </c:tx>
          <c:spPr>
            <a:solidFill>
              <a:srgbClr val="7A1F45"/>
            </a:solidFill>
            <a:effectLst/>
          </c:spPr>
          <c:invertIfNegative val="0"/>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Yamaguchi</c:v>
                  </c:pt>
                  <c:pt idx="1">
                    <c:v>Fautrel</c:v>
                  </c:pt>
                </c:lvl>
              </c:multiLvlStrCache>
            </c:multiLvlStrRef>
          </c:cat>
          <c:val>
            <c:numRef>
              <c:f>Sheet1!$B$2:$B$3</c:f>
              <c:numCache>
                <c:formatCode>General</c:formatCode>
                <c:ptCount val="2"/>
                <c:pt idx="0">
                  <c:v>0.962</c:v>
                </c:pt>
                <c:pt idx="1">
                  <c:v>0.806</c:v>
                </c:pt>
              </c:numCache>
            </c:numRef>
          </c:val>
        </c:ser>
        <c:ser>
          <c:idx val="1"/>
          <c:order val="1"/>
          <c:tx>
            <c:strRef>
              <c:f>Sheet1!$C$1</c:f>
              <c:strCache>
                <c:ptCount val="1"/>
                <c:pt idx="0">
                  <c:v>Especificidad</c:v>
                </c:pt>
              </c:strCache>
            </c:strRef>
          </c:tx>
          <c:spPr>
            <a:solidFill>
              <a:srgbClr val="1F7F79"/>
            </a:solidFill>
            <a:effectLst/>
          </c:spPr>
          <c:invertIfNegative val="0"/>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Yamaguchi</c:v>
                  </c:pt>
                  <c:pt idx="1">
                    <c:v>Fautrel</c:v>
                  </c:pt>
                </c:lvl>
              </c:multiLvlStrCache>
            </c:multiLvlStrRef>
          </c:cat>
          <c:val>
            <c:numRef>
              <c:f>Sheet1!$C$2:$C$3</c:f>
              <c:numCache>
                <c:formatCode>General</c:formatCode>
                <c:ptCount val="2"/>
                <c:pt idx="0">
                  <c:v>0.921</c:v>
                </c:pt>
                <c:pt idx="1">
                  <c:v>0.985</c:v>
                </c:pt>
              </c:numCache>
            </c:numRef>
          </c:val>
        </c:ser>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330"/>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ESA: remisión (Nordström, n = 22)</a:t>
            </a:r>
          </a:p>
        </c:rich>
      </c:tx>
      <c:layout/>
      <c:overlay val="0"/>
    </c:title>
    <c:autoTitleDeleted val="0"/>
    <c:plotArea>
      <c:layout/>
      <c:barChart>
        <c:barDir val="col"/>
        <c:grouping val="clustered"/>
        <c:varyColors val="0"/>
        <c:ser>
          <c:idx val="0"/>
          <c:order val="0"/>
          <c:tx>
            <c:strRef>
              <c:f>Sheet1!$B$1</c:f>
              <c:strCache>
                <c:ptCount val="1"/>
                <c:pt idx="0">
                  <c:v>Anakinra</c:v>
                </c:pt>
              </c:strCache>
            </c:strRef>
          </c:tx>
          <c:spPr>
            <a:solidFill>
              <a:srgbClr val="7A1F45"/>
            </a:solidFill>
            <a:effectLst/>
          </c:spPr>
          <c:invertIfNegative val="0"/>
          <c:dLbls>
            <c:numFmt formatCode="0%" sourceLinked="0"/>
            <c:txPr>
              <a:bodyPr/>
              <a:lstStyle/>
              <a:p>
                <a:pPr>
                  <a:defRPr b="0" i="0" strike="noStrike" sz="11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Semana 8</c:v>
                  </c:pt>
                  <c:pt idx="1">
                    <c:v>Semana 24</c:v>
                  </c:pt>
                </c:lvl>
              </c:multiLvlStrCache>
            </c:multiLvlStrRef>
          </c:cat>
          <c:val>
            <c:numRef>
              <c:f>Sheet1!$B$2:$B$3</c:f>
              <c:numCache>
                <c:formatCode>General</c:formatCode>
                <c:ptCount val="2"/>
                <c:pt idx="0">
                  <c:v>0.5833333333333334</c:v>
                </c:pt>
                <c:pt idx="1">
                  <c:v>0.5</c:v>
                </c:pt>
              </c:numCache>
            </c:numRef>
          </c:val>
        </c:ser>
        <c:ser>
          <c:idx val="1"/>
          <c:order val="1"/>
          <c:tx>
            <c:strRef>
              <c:f>Sheet1!$C$1</c:f>
              <c:strCache>
                <c:ptCount val="1"/>
                <c:pt idx="0">
                  <c:v>FARME convencional</c:v>
                </c:pt>
              </c:strCache>
            </c:strRef>
          </c:tx>
          <c:spPr>
            <a:solidFill>
              <a:srgbClr val="C9A9B8"/>
            </a:solidFill>
            <a:effectLst/>
          </c:spPr>
          <c:invertIfNegative val="0"/>
          <c:dLbls>
            <c:numFmt formatCode="0%" sourceLinked="0"/>
            <c:txPr>
              <a:bodyPr/>
              <a:lstStyle/>
              <a:p>
                <a:pPr>
                  <a:defRPr b="0" i="0" strike="noStrike" sz="11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Semana 8</c:v>
                  </c:pt>
                  <c:pt idx="1">
                    <c:v>Semana 24</c:v>
                  </c:pt>
                </c:lvl>
              </c:multiLvlStrCache>
            </c:multiLvlStrRef>
          </c:cat>
          <c:val>
            <c:numRef>
              <c:f>Sheet1!$C$2:$C$3</c:f>
              <c:numCache>
                <c:formatCode>General</c:formatCode>
                <c:ptCount val="2"/>
                <c:pt idx="0">
                  <c:v>0.5</c:v>
                </c:pt>
                <c:pt idx="1">
                  <c:v>0.2</c:v>
                </c:pt>
              </c:numCache>
            </c:numRef>
          </c:val>
        </c:ser>
        <c:dLbls>
          <c:numFmt formatCode="0%" sourceLinked="0"/>
          <c:txPr>
            <a:bodyPr/>
            <a:lstStyle/>
            <a:p>
              <a:pPr>
                <a:defRPr b="0" i="0" strike="noStrike" sz="1100" u="none">
                  <a:solidFill>
                    <a:srgbClr val="2B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330"/>
                </a:solidFill>
                <a:latin typeface="Arial"/>
              </a:defRPr>
            </a:pPr>
            <a:endParaRPr lang="en-US"/>
          </a:p>
        </c:txPr>
        <c:crossAx val="2094734552"/>
        <c:crosses val="autoZero"/>
        <c:auto val="1"/>
        <c:lblAlgn val="ctr"/>
        <c:noMultiLvlLbl val="1"/>
      </c:catAx>
      <c:valAx>
        <c:axId val="2094734552"/>
        <c:scaling>
          <c:orientation val="minMax"/>
          <c:max val="0.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Ensayo 1: respuesta ACR30 adaptada, día 15 (n = 84)</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Canakinumab</c:v>
                  </c:pt>
                  <c:pt idx="1">
                    <c:v>Placebo</c:v>
                  </c:pt>
                </c:lvl>
              </c:multiLvlStrCache>
            </c:multiLvlStrRef>
          </c:cat>
          <c:val>
            <c:numRef>
              <c:f>Sheet1!$B$2:$B$3</c:f>
              <c:numCache>
                <c:formatCode>General</c:formatCode>
                <c:ptCount val="2"/>
                <c:pt idx="0">
                  <c:v>0.84</c:v>
                </c:pt>
                <c:pt idx="1">
                  <c:v>0.1</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Ensayo 2: sin brote (retirada aleatorizada, n = 100)</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1F7F79"/>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Canakinumab</c:v>
                  </c:pt>
                  <c:pt idx="1">
                    <c:v>Placebo</c:v>
                  </c:pt>
                </c:lvl>
              </c:multiLvlStrCache>
            </c:multiLvlStrRef>
          </c:cat>
          <c:val>
            <c:numRef>
              <c:f>Sheet1!$B$2:$B$3</c:f>
              <c:numCache>
                <c:formatCode>General</c:formatCode>
                <c:ptCount val="2"/>
                <c:pt idx="0">
                  <c:v>0.74</c:v>
                </c:pt>
                <c:pt idx="1">
                  <c:v>0.25</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Respuesta a la semana 12 (análisis por protocolo)</a:t>
            </a:r>
          </a:p>
        </c:rich>
      </c:tx>
      <c:layout/>
      <c:overlay val="0"/>
    </c:title>
    <c:autoTitleDeleted val="0"/>
    <c:plotArea>
      <c:layout/>
      <c:barChart>
        <c:barDir val="col"/>
        <c:grouping val="clustered"/>
        <c:varyColors val="0"/>
        <c:ser>
          <c:idx val="0"/>
          <c:order val="0"/>
          <c:tx>
            <c:strRef>
              <c:f>Sheet1!$B$1</c:f>
              <c:strCache>
                <c:ptCount val="1"/>
                <c:pt idx="0">
                  <c:v>Canakinumab</c:v>
                </c:pt>
              </c:strCache>
            </c:strRef>
          </c:tx>
          <c:spPr>
            <a:solidFill>
              <a:srgbClr val="7A1F45"/>
            </a:solidFill>
            <a:effectLst/>
          </c:spPr>
          <c:invertIfNegative val="0"/>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ACR30</c:v>
                  </c:pt>
                  <c:pt idx="1">
                    <c:v>ACR50</c:v>
                  </c:pt>
                  <c:pt idx="2">
                    <c:v>ACR70</c:v>
                  </c:pt>
                </c:lvl>
              </c:multiLvlStrCache>
            </c:multiLvlStrRef>
          </c:cat>
          <c:val>
            <c:numRef>
              <c:f>Sheet1!$B$2:$B$4</c:f>
              <c:numCache>
                <c:formatCode>General</c:formatCode>
                <c:ptCount val="3"/>
                <c:pt idx="0">
                  <c:v>0.61</c:v>
                </c:pt>
                <c:pt idx="1">
                  <c:v>0.5</c:v>
                </c:pt>
                <c:pt idx="2">
                  <c:v>0.28</c:v>
                </c:pt>
              </c:numCache>
            </c:numRef>
          </c:val>
        </c:ser>
        <c:ser>
          <c:idx val="1"/>
          <c:order val="1"/>
          <c:tx>
            <c:strRef>
              <c:f>Sheet1!$C$1</c:f>
              <c:strCache>
                <c:ptCount val="1"/>
                <c:pt idx="0">
                  <c:v>Placebo</c:v>
                </c:pt>
              </c:strCache>
            </c:strRef>
          </c:tx>
          <c:spPr>
            <a:solidFill>
              <a:srgbClr val="C9A9B8"/>
            </a:solidFill>
            <a:effectLst/>
          </c:spPr>
          <c:invertIfNegative val="0"/>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ACR30</c:v>
                  </c:pt>
                  <c:pt idx="1">
                    <c:v>ACR50</c:v>
                  </c:pt>
                  <c:pt idx="2">
                    <c:v>ACR70</c:v>
                  </c:pt>
                </c:lvl>
              </c:multiLvlStrCache>
            </c:multiLvlStrRef>
          </c:cat>
          <c:val>
            <c:numRef>
              <c:f>Sheet1!$C$2:$C$4</c:f>
              <c:numCache>
                <c:formatCode>General</c:formatCode>
                <c:ptCount val="3"/>
                <c:pt idx="0">
                  <c:v>0.2</c:v>
                </c:pt>
                <c:pt idx="1">
                  <c:v>0.067</c:v>
                </c:pt>
                <c:pt idx="2">
                  <c:v>0</c:v>
                </c:pt>
              </c:numCache>
            </c:numRef>
          </c:val>
        </c:ser>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330"/>
                </a:solidFill>
                <a:latin typeface="Arial"/>
              </a:defRPr>
            </a:pPr>
            <a:endParaRPr lang="en-US"/>
          </a:p>
        </c:txPr>
        <c:crossAx val="2094734552"/>
        <c:crosses val="autoZero"/>
        <c:auto val="1"/>
        <c:lblAlgn val="ctr"/>
        <c:noMultiLvlLbl val="1"/>
      </c:catAx>
      <c:valAx>
        <c:axId val="2094734552"/>
        <c:scaling>
          <c:orientation val="minMax"/>
          <c:max val="0.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AIJs · TENDER (n = 112): ACR30 sin fiebre, sem 12</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Tocilizumab</c:v>
                  </c:pt>
                  <c:pt idx="1">
                    <c:v>Placebo</c:v>
                  </c:pt>
                </c:lvl>
              </c:multiLvlStrCache>
            </c:multiLvlStrRef>
          </c:cat>
          <c:val>
            <c:numRef>
              <c:f>Sheet1!$B$2:$B$3</c:f>
              <c:numCache>
                <c:formatCode>General</c:formatCode>
                <c:ptCount val="2"/>
                <c:pt idx="0">
                  <c:v>0.85</c:v>
                </c:pt>
                <c:pt idx="1">
                  <c:v>0.24</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ESA · Kaneko 2018 (n = 27): ACR50, sem 4</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A2456A"/>
            </a:solidFill>
            <a:effectLst/>
          </c:spPr>
          <c:invertIfNegative val="0"/>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Tocilizumab</c:v>
                  </c:pt>
                  <c:pt idx="1">
                    <c:v>Placebo</c:v>
                  </c:pt>
                </c:lvl>
              </c:multiLvlStrCache>
            </c:multiLvlStrRef>
          </c:cat>
          <c:val>
            <c:numRef>
              <c:f>Sheet1!$B$2:$B$3</c:f>
              <c:numCache>
                <c:formatCode>General</c:formatCode>
                <c:ptCount val="2"/>
                <c:pt idx="0">
                  <c:v>0.615</c:v>
                </c:pt>
                <c:pt idx="1">
                  <c:v>0.308</c:v>
                </c:pt>
              </c:numCache>
            </c:numRef>
          </c:val>
        </c:ser>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JAKi en ESA: metaanálisis 2024 (n = 35)</a:t>
            </a:r>
          </a:p>
        </c:rich>
      </c:tx>
      <c:layout/>
      <c:overlay val="0"/>
    </c:title>
    <c:autoTitleDeleted val="0"/>
    <c:plotArea>
      <c:layout/>
      <c:doughnutChart>
        <c:varyColors val="1"/>
        <c:ser>
          <c:idx val="0"/>
          <c:order val="0"/>
          <c:tx>
            <c:strRef>
              <c:f>Sheet1!$B$1</c:f>
              <c:strCache>
                <c:ptCount val="1"/>
                <c:pt idx="0">
                  <c:v>JAKi en ESA</c:v>
                </c:pt>
              </c:strCache>
            </c:strRef>
          </c:tx>
          <c:spPr>
            <a:solidFill>
              <a:schemeClr val="accent1"/>
            </a:solidFill>
            <a:ln w="9525" cap="flat">
              <a:solidFill>
                <a:srgbClr val="F9F9F9"/>
              </a:solidFill>
              <a:prstDash val="solid"/>
              <a:round/>
            </a:ln>
            <a:effectLst/>
          </c:spPr>
          <c:dPt>
            <c:idx val="0"/>
            <c:bubble3D val="0"/>
            <c:spPr>
              <a:solidFill>
                <a:srgbClr val="1F7F79"/>
              </a:solidFill>
              <a:effectLst/>
            </c:spPr>
          </c:dPt>
          <c:dPt>
            <c:idx val="1"/>
            <c:bubble3D val="0"/>
            <c:spPr>
              <a:solidFill>
                <a:srgbClr val="7FB9B4"/>
              </a:solidFill>
              <a:effectLst/>
            </c:spPr>
          </c:dPt>
          <c:dPt>
            <c:idx val="2"/>
            <c:bubble3D val="0"/>
            <c:spPr>
              <a:solidFill>
                <a:srgbClr val="D9472F"/>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Remisión completa</c:v>
                </c:pt>
                <c:pt idx="1">
                  <c:v>Remisión parcial</c:v>
                </c:pt>
                <c:pt idx="2">
                  <c:v>Sin remisión</c:v>
                </c:pt>
              </c:strCache>
            </c:strRef>
          </c:cat>
          <c:val>
            <c:numRef>
              <c:f>Sheet1!$B$2:$B$4</c:f>
              <c:numCache>
                <c:ptCount val="3"/>
                <c:pt idx="0">
                  <c:v>48.6</c:v>
                </c:pt>
                <c:pt idx="1">
                  <c:v>34.3</c:v>
                </c:pt>
                <c:pt idx="2">
                  <c:v>17.1</c:v>
                </c:pt>
              </c:numCache>
            </c:numRef>
          </c:val>
        </c:ser>
        <c:firstSliceAng val="0"/>
        <c:holeSize val="55"/>
      </c:doughnutChart>
      <c:spPr>
        <a:noFill/>
        <a:ln>
          <a:noFill/>
        </a:ln>
        <a:effectLst/>
      </c:spPr>
    </c:plotArea>
    <c:legend>
      <c:legendPos val="r"/>
      <c:overlay val="0"/>
      <c:txPr>
        <a:bodyPr/>
        <a:lstStyle/>
        <a:p>
          <a:pPr>
            <a:defRPr sz="10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Análisis combinado de 2 estudios prospectivos (n = 39, 0,9–64 años)</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D9472F"/>
            </a:solidFill>
            <a:effectLst/>
          </c:spPr>
          <c:invertIfNegative val="0"/>
          <c:dLbls>
            <c:numFmt formatCode="0.0%" sourceLinked="0"/>
            <c:txPr>
              <a:bodyPr/>
              <a:lstStyle/>
              <a:p>
                <a:pPr>
                  <a:defRPr b="0" i="0" strike="noStrike" sz="1200" u="none">
                    <a:solidFill>
                      <a:srgbClr val="2B23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RC a la semana 8</c:v>
                  </c:pt>
                  <c:pt idx="1">
                    <c:v>RC en cualquier momento</c:v>
                  </c:pt>
                  <c:pt idx="2">
                    <c:v>Reducción de GC a 2 sem</c:v>
                  </c:pt>
                </c:lvl>
              </c:multiLvlStrCache>
            </c:multiLvlStrRef>
          </c:cat>
          <c:val>
            <c:numRef>
              <c:f>Sheet1!$B$2:$B$4</c:f>
              <c:numCache>
                <c:formatCode>General</c:formatCode>
                <c:ptCount val="3"/>
                <c:pt idx="0">
                  <c:v>0.538</c:v>
                </c:pt>
                <c:pt idx="1">
                  <c:v>0.85</c:v>
                </c:pt>
                <c:pt idx="2">
                  <c:v>0.701</c:v>
                </c:pt>
              </c:numCache>
            </c:numRef>
          </c:val>
        </c:ser>
        <c:dLbls>
          <c:numFmt formatCode="0.0%" sourceLinked="0"/>
          <c:txPr>
            <a:bodyPr/>
            <a:lstStyle/>
            <a:p>
              <a:pPr>
                <a:defRPr b="0" i="0" strike="noStrike" sz="12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Patrones</c:v>
                </c:pt>
              </c:strCache>
            </c:strRef>
          </c:tx>
          <c:spPr>
            <a:solidFill>
              <a:schemeClr val="accent1"/>
            </a:solidFill>
            <a:ln w="9525" cap="flat">
              <a:solidFill>
                <a:srgbClr val="F9F9F9"/>
              </a:solidFill>
              <a:prstDash val="solid"/>
              <a:round/>
            </a:ln>
            <a:effectLst/>
          </c:spPr>
          <c:dPt>
            <c:idx val="0"/>
            <c:bubble3D val="0"/>
            <c:spPr>
              <a:solidFill>
                <a:srgbClr val="1F7F79"/>
              </a:solidFill>
              <a:effectLst/>
            </c:spPr>
          </c:dPt>
          <c:dPt>
            <c:idx val="1"/>
            <c:bubble3D val="0"/>
            <c:spPr>
              <a:solidFill>
                <a:srgbClr val="A2456A"/>
              </a:solidFill>
              <a:effectLst/>
            </c:spPr>
          </c:dPt>
          <c:dPt>
            <c:idx val="2"/>
            <c:bubble3D val="0"/>
            <c:spPr>
              <a:solidFill>
                <a:srgbClr val="D9472F"/>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Monocíclico</c:v>
                </c:pt>
                <c:pt idx="1">
                  <c:v>Policíclico</c:v>
                </c:pt>
                <c:pt idx="2">
                  <c:v>Crónico</c:v>
                </c:pt>
              </c:strCache>
            </c:strRef>
          </c:cat>
          <c:val>
            <c:numRef>
              <c:f>Sheet1!$B$2:$B$4</c:f>
              <c:numCache>
                <c:ptCount val="3"/>
                <c:pt idx="0">
                  <c:v>30</c:v>
                </c:pt>
                <c:pt idx="1">
                  <c:v>30</c:v>
                </c:pt>
                <c:pt idx="2">
                  <c:v>40</c:v>
                </c:pt>
              </c:numCache>
            </c:numRef>
          </c:val>
        </c:ser>
        <c:firstSliceAng val="0"/>
        <c:holeSize val="55"/>
      </c:doughnutChart>
      <c:spPr>
        <a:noFill/>
        <a:ln>
          <a:noFill/>
        </a:ln>
        <a:effectLst/>
      </c:spPr>
    </c:plotArea>
    <c:legend>
      <c:legendPos val="b"/>
      <c:overlay val="0"/>
      <c:txPr>
        <a:bodyPr/>
        <a:lstStyle/>
        <a:p>
          <a:pPr>
            <a:defRPr sz="1050">
              <a:solidFill>
                <a:srgbClr val="2B23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sobre la enfermedad de Still, que hoy se entiende como una sola enfermedad que incluye la artritis idiopática juvenil sistémica (AIJs) y la enfermedad de Still del adulto (ESA). Se apoya en la mejor evidencia disponible: las recomendaciones EULAR/PReS 2024, las revisiones sistemáticas que las informan y los ensayos clínicos aleatorizados de inhibidores de IL-1, IL-6 e IFN-γ.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presentación: fuentes, concepto unificado, epidemiología, fisiopatología, clínica, laboratorio y biomarcadores, criterios y diagnóstico diferencial, complicaciones (SAM y enfermedad pulmonar), tratamiento, pronóstico y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Jerarquía de la evidencia usada. En primer lugar, la guía conjunta EULAR/PReS publicada en 2024 en Annals of the Rheumatic Diseases, con 4 principios generales y 14 recomendaciones. Después, las revisiones sistemáticas y metaanálisis que la informaron. Luego los ensayos aleatorizados de tocilizumab (TENDER), canakinumab (Ruperto 2012 en AIJs y CONSIDER en adultos), anakinra (ANAJIS y Nordström) y tocilizumab en adultos (Kaneko 2018). Para el SAM, los estudios prospectivos de emapalumab. Es importante recordar que es una enfermedad rara, por lo que los ensayos son pequeños.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 Still describió en 1897 la forma sistémica de la artritis infantil. En 1971 Bywaters describió pacientes adultos con el mismo cuadro, de ahí el término enfermedad de Still del adulto. Luego se desarrollaron criterios de clasificación para adultos (Yamaguchi 1992 y Fautrel 2002) y en 2016 los criterios del síndrome de activación macrofágica. En 2024 el grupo de trabajo EULAR/PReS estableció que la AIJ sistémica y la ESA son una misma enfermedad, designada con un solo nombre: enfermedad de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revisión sistemática y metaanálisis que informó la guía comparó AIJs y ESA en 8 estudios con 1010 participantes. La prevalencia combinada de las manifestaciones clínicas no difirió, salvo mialgias, odinofagia y pérdida de peso, más frecuentes en adultos, probablemente porque en niños pequeños se registran de forma incompleta. La amiloidosis AA fue más frecuente en la AIJs. Tampoco difirieron las complicaciones ni los hallazgos de laboratorio. Se revisaron además 33 estudios de biomarcadores y 10 sobre diagnóstico del SAM. La conclusión es que existe un continuo entre ambas.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ESA es una enfermedad rara. La incidencia se estima entre 0,16 y 0,4 por 100 000 personas (0,16 a 0,62 en estudios de Francia, Japón y Turquía) y la prevalencia entre 1 y 34 casos por millón. Afecta a adultos jóvenes, con una distribución bimodal de la edad de inicio: 15 a 25 y 36 a 46 años; la edad media al diagnóstico ronda los 38 años y entre el 45 % y el 80 % inicia entre los 16 y los 35 años. En Japón la incidencia es de 0,22 por 100 000 en hombres y 0,34 en mujeres. La proporción de AIJs dentro de las AIJ (10-20 %) es un dato general de las series occidentales.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enfermedad de Still es una enfermedad autoinflamatoria: predomina la inmunidad innata. Un desencadenante, a menudo infeccioso, en un huésped predispuesto activa neutrófilos y macrófagos. El inflamasoma produce IL-1β e IL-18; también participan IL-6 y las proteínas S100 (calprotectina S100A8/A9 y S100A12), que actúan como señales de peligro y amplifican la inflamación. La IL-18 impulsa la producción de IFN-γ, que es el eje del síndrome de activación macrofágica. A diferencia de las enfermedades autoinmunes clásicas, no hay autoanticuerpos: el factor reumatoide y los ANA son negativos.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modelo propuesto, sobre todo a partir de la AIJs, es el bifásico: una fase inicial sistémica, autoinflamatoria, dominada por IL-1, IL-18 e IL-6, y una fase tardía de artritis crónica con mayor participación de la inmunidad adaptativa y peor respuesta a los biológicos. De ahí la idea de una ventana de oportunidad: el tratamiento precoz con inhibidores de IL-1 o IL-6 podría cambiar la historia natural. Es una hipótesis apoyada por datos observacionales y es el fundamento de la recomendación EULAR/PReS de iniciar estos fármacos lo antes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manifestaciones típicas son fiebre (60-100 %), artritis o artralgias (70-100 %) y el exantema asalmonado (60-80 %). Otras manifestaciones frecuentes: odinofagia, mialgias, linfadenopatías, hepatomegalia o esplenomegalia, serositis (pleuritis, pericarditis) y pérdida de peso. La odinofagia suele preceder a la fiebre y es un dato útil en adultos.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fiebre es en picos, de 39 °C o más, habitualmente una o dos veces al día, con temperatura normal entre ellos, y dura típicamente 7 días o más, como destaca la guía EULAR/PReS. El exantema típico es maculopapular, de color salmón y evanescente, aparece con los picos febriles en tronco y raíz de extremidades, y puede mostrar fenómeno de Koebner. Existen formas atípicas, con pápulas y placas persistentes y pruriginosas, parecidas a la dermatomiositis, que en algunas series se asocian a enfermedad más grave.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artralgias y la artritis afectan sobre todo muñecas, rodillas y tobillos; la artritis puede faltar al inicio y aparecer después. En las formas crónicas puede haber anquilosis del carpo. La odinofagia es una faringitis no exudativa que suele preceder a la fiebre. Son frecuentes las linfadenopatías y la hepatoesplenomegalia, así como la serositis. La afectación pulmonar grave es rara pero importante (se verá más adelante). La elevación de transaminasas es frecuente.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típico muestra leucocitosis de 10 000 o más con al menos 80 % de neutrófilos, PCR y VSG muy elevadas, hiperferritinemia, frecuentemente con valores muy altos, y una fracción glicosilada de ferritina de 20 % o menos, muy específica: en su serie de validación tuvo sensibilidad de 87 % y especificidad de 97,8 %; combinada con ferritina más de 5 veces el límite superior, 43,2 % y 92,9 %. También son comunes la elevación de transaminasas, la anemia y la trombocitosis. El FR y los ANA son negativos. Siempre hay que descartar infecciones con cultivos y serologías.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la revisión que informó la guía, ferritina, proteínas S100 e IL-18 fueron los biomarcadores más usados, con rendimiento diagnóstico similar. La guía recomienda medir ferritina de rutina en todos los pacientes y repetirla diariamente, o incluso dos veces al día, si hay riesgo o sospecha de SAM. La elevación marcada de IL-18 y/o de proteínas S100 (calprotectina) apoya con fuerza el diagnóstico y deben medirse si están disponibles. Sin embargo, no hay umbrales validados ni consensuados, porque se evaluaron frente a grupos control heterogéneos.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de Yamaguchi, de 1992, son los más usados en adultos. Criterios mayores: fiebre de 39 °C o más durante al menos una semana, artralgias o artritis de 2 semanas o más, exantema típico y leucocitosis de 10 000 o más con 80 % o más de granulocitos. Menores: odinofagia, linfadenopatías, hepato o esplenomegalia, alteración de pruebas hepáticas y FR y ANA negativos. Requieren 5 o más criterios con al menos 2 mayores y la ausencia de exclusiones: infecciones, neoplasias (sobre todo linfoma) y otras enfermedades reumáticas. Sensibilidad 96,2 % y especificidad 92,1 %. Su limitación es que exigen excluir otras causas.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de Fautrel, de 2002, incorporan la ferritina glicosilada. Mayores: fiebre en picos de 39 °C o más, artralgias, eritema transitorio, faringitis, neutrófilos 80 % o más y ferritina glicosilada 20 % o menos. Menores: exantema maculopapular y leucocitosis de 10 000 o más. Se requieren 4 criterios mayores, o 3 mayores y 2 menores, y no exigen criterios de exclusión. Tienen menor sensibilidad (80,6 %) pero mayor especificidad (98,5 %) que Yamaguchi (96,2 % y 92,1 %). Son criterios de clasificación, no diagnósticos: un paciente puede tener la enfermedad sin cumplirlos.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ILAR de AIJ sistémica exigen artritis, lo que retrasa el diagnóstico en niños con fiebre y exantema sin artritis. La guía EULAR/PReS establece que la artritis manifiesta apoya el diagnóstico pero no es necesaria y puede aparecer más tarde, algo coherente con los criterios de Yamaguchi y con los criterios de AIJs propuestos recientemente por PRINTO. La implicación práctica es no esperar a la artritis para diagnosticar y tratar.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enfermedad de Still es, en buena medida, un diagnóstico de exclusión. Deben descartarse infecciones (sepsis, endocarditis, tuberculosis, virus como VEB, CMV, parvovirus, VIH), neoplasias, sobre todo linfomas (incluido el linfoma intravascular), leucemias y Castleman; otras enfermedades autoinflamatorias como las fiebres periódicas monogénicas y el síndrome de Schnitzler; enfermedades autoinmunes y vasculitis; reacciones a fármacos como el DRESS, y otras como la enfermedad de Kikuchi y el síndrome de Sweet.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Enfoque práctico: sospechar la enfermedad ante fiebre en picos de 39 °C o más durante 7 días o más con exantema, artralgias u odinofagia. Solicitar hemograma, PCR, VSG, ferritina y, si se puede, fracción glicosilada, IL-18 o S100. Descartar infecciones y neoplasias con cultivos, serologías, imagen (TC o PET-TC) y biopsias cuando haya dudas. Integrar con los criterios de clasificación. Desde el inicio hay que vigilar signos de síndrome de activación macrofágica.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síndrome de activación macrofágica es una forma de linfohistiocitosis hemofagocítica secundaria: una tormenta de citocinas con IL-1, IL-6, IL-18, IFN-γ y TNF, y proliferación de macrófagos que produce citopenias, coagulopatía, disfunción hepática y falla multiorgánica. Hasta el 15 % de los adultos con Still lo desarrollan, con mortalidad de 10 %-20%; una revisión de 83 estudios estimó 12,07 %. En esa revisión, el 72 % eran mujeres, con edad media cercana a 40 años. En la cohorte italiana GIRRCS, ferritina y PCR fueron predictores de mortalidad y de SAM. Los desencadenantes incluyen la actividad de la enfermedad, las infecciones y cambios farmacológicos.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de clasificación EULAR/ACR/PRINTO 2016 del SAM que complica la AIJs: paciente febril con Still confirmado o sospechado, ferritina mayor de 684 ng/mL y al menos 2 de: plaquetas ≤181 000, AST &gt;48 U/L, triglicéridos &gt;156 mg/dL y fibrinógeno ≤360 mg/dL. En la validación original, sensibilidad 73 % y especificidad 99 %. Aplicados a adultos, la sensibilidad fue 100 % pero la especificidad 70 %, porque la ferritina está alta en casi todos los adultos con Still activo (baja especificidad de la ferritina) y los triglicéridos tienen baja sensibilidad. Un estudio de 2025 mostró que siguen siendo útiles en pacientes con bloqueo de IL-1. En la práctica importan más las tendencias que los valores aislados.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Reconocer el SAM a tiempo depende de las tendencias: suben la ferritina, las transaminasas, la LDH, los triglicéridos y el dímero D, y bajan plaquetas, leucocitos, fibrinógeno y, de forma paradójica, la VSG. CXCL9 es un marcador validado de actividad de IFN-γ. La guía recomienda medir ferritina a diario o incluso dos veces al día en pacientes con riesgo o sospecha. Clínicamente: fiebre persistente en lugar de picos, hepatoesplenomegalia, sangrado o alteraciones neurológicas.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Desde 2013 se describe una enfermedad pulmonar grave en la AIJs, casi inexistente antes: proteinosis alveolar, neumonía lipoidea endógena, enfermedad pulmonar intersticial e hipertensión pulmonar, con alta mortalidad. En los pacientes expuestos a anti-IL-1/IL-6, el inicio antes de los 5 años aumentó mucho el riesgo (OR 7,3). Son pistas las acropaquias eritematosas y la ferritina muy alta o la linfopenia profunda meses antes. Saper y colaboradores (Ann Rheum Dis 2022) vincularon reacciones de hipersensibilidad tardía tipo DRESS a inhibidores de IL-1 e IL-6 con alelos HLA-DRB1*15. También se ha descrito en adultos, incluida hipertensión pulmonar asociada a HLA-DRB1*15 (Ann Rheum Dis 2025). La relación causal con los fármacos sigue en estudio: no justifica evitar los biológicos, pero sí vigilar.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Otras complicaciones: cardiacas (pericarditis, taponamiento, miocarditis), hematológicas (coagulación intravascular diseminada, microangiopatía trombótica), hepáticas (hepatitis grave, a veces por fármacos), amiloidosis AA, más frecuente en la AIJs según la revisión sistemática, y la toxicidad de los glucocorticoides, que es una razón principal para usarlos lo menos posible. En la forma crónica articular hay daño y anquilosis.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EULAR/PReS 2024 establece 4 principios generales y 14 recomendaciones. Mensajes clave: AIJs y ESA son una sola enfermedad; los objetivos terapéuticos son la enfermedad clínicamente inactiva y la remisión, definida como CID mantenida al menos 6 meses; la estrategia óptima es el uso precoz de inhibidores de IL-1 o IL-6 con glucocorticoides de corta duración, buscando CID sin glucocorticoides a los 6 meses; y el SAM se trata con dosis altas de glucocorticoides, inhibidores de IL-1, ciclosporina e inhibidores de IFN-γ.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Metas intermedias de la guía: al día 7, resolución de la fiebre y reducción de PCR mayor del 50 %; a la semana 4, sin fiebre, reducción de más del 50 % en el recuento de articulaciones activas, PCR normal y evaluaciones globales del médico y del paciente menores de 20 en una escala de 0 a 100; al mes 3, enfermedad clínicamente inactiva con glucocorticoides por debajo de 0,1 a 0,2 mg/kg/día; y al mes 6, CID sin glucocorticoides. Si no se cumple una meta, se ajusta el tratamiento. Un estudio de 2025 en J Rheumatol mostró que en la práctica estas metas intermedias se alcanzan de forma incompleta, lo que marca un margen de mejora.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glucocorticoides siguen siendo útiles como puente: controlan rápido los síntomas mientras actúa el inhibidor de IL-1 o IL-6, y en formas graves o SAM se usan pulsos de metilprednisolona. Pero la guía insiste en que deben ser breves: menos de 0,1-0,2 mg/kg/día al mes 3 y suspendidos al mes 6. En monoterapia, muchos pacientes se vuelven dependientes. Su toxicidad es considerable; por ejemplo, en el ensayo de tocilizumab en adultos refractarios a glucocorticoides, entre los eventos adversos graves hubo necrosis aséptica de cadera.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Anakinra es el antagonista recombinante del receptor de IL-1, bloquea IL-1α e IL-1β, se administra por vía subcutánea diaria y tiene vida media corta, lo que es útil si aparece SAM o infección. La EMA la aprobó para la enfermedad de Still en 2018. En el ensayo abierto de Nordström en adultos con prednisolona de 10 mg/día o más, la remisión a las 8 y 24 semanas fue de 7/12 y 6/12 con anakinra frente a 5/10 y 2/10 con FARME convencional, con mayor mejoría del SF-36. En niños, el ensayo ANAJIS, doble ciego, con 24 pacientes y anakinra 2 mg/kg/día frente a placebo durante un mes, mostró eficacia a corto plazo. Son ensayos pequeños.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Ruperto y colaboradores publicaron en el NEJM de 2012 dos ensayos de canakinumab, un anticuerpo anti-IL-1β de administración mensual, en AIJs. En el ensayo 1, al día 15, el 84 % tuvo respuesta ACR30 adaptada (que incluye resolución de la fiebre) frente al 10 % con placebo. En el ensayo 2, de retirada aleatorizada, el 74 % de quienes siguieron con canakinumab no tuvo brotes frente al 25 % con placebo. La dosis media de glucocorticoides bajó de 0,34 a 0,05 mg/kg/día y se suspendieron en el 33 %. La FDA lo aprobó en 2020 para la ESA, el primer tratamiento aprobado en EE. UU. para esta indicación.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fue un ensayo fase II, doble ciego, controlado con placebo, iniciado por investigadores alemanes: 18 adultos recibieron canakinumab 4 mg/kg cada 4 semanas y 17 placebo durante 12 semanas. En el análisis por intención de tratar, el desenlace primario (reducción clínicamente relevante de la actividad articular) se alcanzó en 67 % vs 41 %, sin significación (p = 0,18). En el análisis por protocolo, las respuestas ACR30, ACR50 y ACR70 fueron significativamente mayores: 61 % vs 20 %, 50 % vs 6,7 % y 28 % vs 0 %. Dos pacientes con canakinumab tuvieron eventos adversos graves. Evidencia de calidad moderada por el tamaño muestral.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Tocilizumab bloquea el receptor de IL-6. En el ensayo TENDER (NEJM 2012), 112 niños de 2 a 17 años con AIJs activa recibieron tocilizumab IV cada 2 semanas o placebo; a la semana 12, el 85 % vs 24 % alcanzó el desenlace primario: ausencia de fiebre y mejoría ACR30. En adultos, el ensayo japonés de Kaneko (Ann Rheum Dis 2018) aleatorizó 27 pacientes refractarios a glucocorticoides a tocilizumab 8 mg/kg IV cada 2 semanas o placebo. La respuesta ACR50 a la semana 4 fue 61,5 % vs 30,8 % (p = 0,24): no alcanzó significación, pero la reducción de glucocorticoides a la semana 12 fue mayor (46,2 % vs 21,0 %; p = 0,017). Entre los eventos graves hubo infecciones, necrosis aséptica de cadera, exacerbación de la enfermedad, exantema y anafilaxia.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revisión sistemática que informó la guía concluyó que los inhibidores de IL-1 y de IL-6 tienen el mayor nivel de eficacia. No hay ensayos comparativos directos entre ellos. En la práctica, anakinra tiene la ventaja de la vida media corta, útil en SAM o infección; canakinumab es mensual. Tocilizumab es útil en la artritis crónica, pero al bloquear la IL-6 puede enmascarar la fiebre y la PCR, lo que dificulta reconocer un SAM o una infección. Ambos grupos se han asociado a reacciones tipo DRESS en portadores de HLA-DRB1*15 y a enfermedad pulmonar en subgrupos. La elección se individualiza.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Otras opciones: metotrexato como ahorrador de glucocorticoides, sobre todo en la forma articular crónica; ciclosporina, útil especialmente en el SAM; anti-TNF, con menor eficacia que los inhibidores de IL-1 o IL-6. Los inhibidores de JAK son una opción emergente: un metaanálisis de 2024 reunió 35 pacientes con ESA (tofacitinib 17, baricitinib 14, ruxolitinib 4, upadacitinib 1): 48,6 % tuvo remisión completa y 34,3 % parcial; 7 pacientes (20 %) perdieron eficacia o recayeron (las categorías del estudio se superponen parcialmente; el gráfico muestra el resto hasta 100 %). Ruxolitinib tuvo 100 % de remisión en los pocos casos con SAM. Es evidencia débil de series de casos; faltan ensayos.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la guía EULAR/PReS, el SAM se trata con glucocorticoides a dosis altas en todos los pacientes, a menudo combinados con ciclosporina y/o anakinra, y con inhibidores de IFN-γ. La revisión sistemática que informó la guía concluyó que la inhibición de IL-1 y de IFN-γ parece eficaz sobre una base de glucocorticoides a dosis altas. Además: manejo en centros con experiencia, UCI si hay falla orgánica, búsqueda y tratamiento de desencadenantes como infecciones, y soporte de la coagulopatía. En casos refractarios se ha usado ruxolitinib, con evidencia de series de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Emapalumab es un anticuerpo monoclonal humano anti-IFN-γ. En el estudio NI-0501-06 (De Benedetti, Ann Rheum Dis 2023), 14 pacientes con AIJs o ESA y SAM sin respuesta a glucocorticoides a dosis altas: 13 (93 %) lograron remisión del SAM a la semana 8, con una mediana de 25 días. Un análisis combinado con el estudio EMERALD (39 pacientes de 0,9 a 64 años) mostró respuesta completa del 53,8 % a la semana 8 y del 85 % en algún momento, con una reducción del 70,1 % de la dosis de glucocorticoides a las 2 semanas. Disminuyeron rápidamente la ferritina y CXCL9. El 27 de junio de 2025 la FDA lo aprobó para el SAM en la enfermedad de Still con respuesta insuficiente o intolerancia a los glucocorticoides. Limitación: estudios abiertos, sin grupo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resumido: tras el diagnóstico y descartar otras causas, iniciar lo antes posible un inhibidor de IL-1 o IL-6 con glucocorticoides de corta duración. Evaluar las metas del día 7, semana 4, mes 3 y mes 6. Si se cumplen, retirar los glucocorticoides y buscar remisión sostenida. Si no, optimizar la dosis o cambiar de mecanismo; en enfermedad refractaria considerar inhibidores de JAK u otras opciones. En cualquier momento, ante sospecha de SAM: glucocorticoides a dosis altas con anakinra o ciclosporina, y emapalumab si no hay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alcanzada la remisión (CID mantenida al menos 6 meses), primero se suspenden por completo los glucocorticoides y luego se puede reducir la dosis o espaciar el biológico de forma gradual, con vigilancia para detectar brotes. La evidencia viene de los ensayos: en el ensayo de retirada de canakinumab, suspender el fármaco aumentó los brotes (solo 25 % sin brote con placebo vs 74 % al continuar). TENDER exploró un esquema de reducción y retirada de tocilizumab en enfermedad inactiva. El desescalamiento debe ser progresivo.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ESA sigue tres patrones: monocíclico (~30 %), un episodio sistémico que se resuelve en meses (mediana 9); policíclico (~30 %), con brotes sistémicos recurrentes; y crónico (~40 %), con actividad persistente y poliartritis, el de peor pronóstico funcional: en la serie clásica de Cush, el 27 % evolucionó a clase funcional III, frente a ninguno en los patrones sistémicos. La poliartritis al inicio y la afectación de articulaciones proximales predicen el curso crónico. La mortalidad es baja en general, con supervivencia de 92,4 % a 5 años y 86,9 % a 10 años en una cohorte hospitalaria grande, pero el SAM y las infecciones son las principales causas de muerte. Ferritina y PCR elevadas predicen mortalidad y 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 vacíos importantes: no hay umbrales validados para los biomarcadores; faltan criterios de actividad (EULAR publicó en 2025 puntos a considerar para desarrollarlos); los ensayos son pequeños y no hay comparaciones directas entre IL-1 e IL-6; los inhibidores de JAK necesitan ensayos controlados; hay que entender mejor la relación entre HLA-DRB1*15, fármacos y enfermedad pulmonar; se investigan nuevas dianas como la IL-18; y el reto de implementación: un estudio de 2025 mostró que el uso precoz de inhibidores de IL-1/IL-6 y la medición de biomarcadores aún no se aplican ampliamente.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Conclusiones: la AIJs y la ESA son una sola enfermedad autoinflamatoria. Se sospecha ante fiebre en picos, exantema, neutrofilia e hiperferritinemia, sin necesidad de artritis. Es un diagnóstico de exclusión. El tratamiento debe ser precoz con inhibidores de IL-1 o IL-6 y glucocorticoides breves, con metas por tiempos hasta la CID sin glucocorticoides a los 6 meses. Hay que vigilar el SAM con ferritina seriada y la enfermedad pulmonar; el SAM se trata con glucocorticoides a dosis altas, anakinra, ciclosporina y emapalumab.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principales usadas en la presentación. La guía EULAR/PReS 2024 y sus revisiones sistemáticas son la base; los ensayos clínicos aleatorizados sustentan la eficacia de tocilizumab, canakinumab y anakinra; los estudios de emapalumab y la aprobación de la FDA de 2025 sustentan el tratamiento del SAM refractario.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433"/>
        </a:solidFill>
      </p:bgPr>
    </p:bg>
    <p:spTree>
      <p:nvGrpSpPr>
        <p:cNvPr id="1" name=""/>
        <p:cNvGrpSpPr/>
        <p:nvPr/>
      </p:nvGrpSpPr>
      <p:grpSpPr>
        <a:xfrm>
          <a:off x="0" y="0"/>
          <a:ext cx="0" cy="0"/>
          <a:chOff x="0" y="0"/>
          <a:chExt cx="0" cy="0"/>
        </a:xfrm>
      </p:grpSpPr>
      <p:sp>
        <p:nvSpPr>
          <p:cNvPr id="2" name="Shape 0"/>
          <p:cNvSpPr/>
          <p:nvPr/>
        </p:nvSpPr>
        <p:spPr>
          <a:xfrm>
            <a:off x="5760720" y="-1097280"/>
            <a:ext cx="4754880" cy="4754880"/>
          </a:xfrm>
          <a:prstGeom prst="ellipse">
            <a:avLst/>
          </a:prstGeom>
          <a:solidFill>
            <a:srgbClr val="7A1F45">
              <a:alpha val="65000"/>
            </a:srgbClr>
          </a:solidFill>
          <a:ln w="12700">
            <a:solidFill>
              <a:srgbClr val="7A1F45">
                <a:alpha val="0"/>
              </a:srgbClr>
            </a:solidFill>
            <a:prstDash val="solid"/>
          </a:ln>
        </p:spPr>
      </p:sp>
      <p:sp>
        <p:nvSpPr>
          <p:cNvPr id="3" name="Shape 1"/>
          <p:cNvSpPr/>
          <p:nvPr/>
        </p:nvSpPr>
        <p:spPr>
          <a:xfrm>
            <a:off x="6949440" y="2651760"/>
            <a:ext cx="3108960" cy="3108960"/>
          </a:xfrm>
          <a:prstGeom prst="ellipse">
            <a:avLst/>
          </a:prstGeom>
          <a:solidFill>
            <a:srgbClr val="D9472F">
              <a:alpha val="45000"/>
            </a:srgbClr>
          </a:solidFill>
          <a:ln w="12700">
            <a:solidFill>
              <a:srgbClr val="D9472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7178040" y="822960"/>
            <a:ext cx="1463040" cy="1463040"/>
          </a:xfrm>
          <a:prstGeom prst="rect">
            <a:avLst/>
          </a:prstGeom>
        </p:spPr>
      </p:pic>
      <p:sp>
        <p:nvSpPr>
          <p:cNvPr id="5" name="Text 2"/>
          <p:cNvSpPr txBox="1"/>
          <p:nvPr/>
        </p:nvSpPr>
        <p:spPr>
          <a:xfrm>
            <a:off x="548640" y="731520"/>
            <a:ext cx="5486400" cy="274320"/>
          </a:xfrm>
          <a:prstGeom prst="rect">
            <a:avLst/>
          </a:prstGeom>
          <a:noFill/>
          <a:ln/>
        </p:spPr>
        <p:txBody>
          <a:bodyPr wrap="square" lIns="0" tIns="0" rIns="0" bIns="0" rtlCol="0" anchor="t"/>
          <a:lstStyle/>
          <a:p>
            <a:pPr indent="0" marL="0">
              <a:buNone/>
            </a:pPr>
            <a:r>
              <a:rPr lang="en-US" sz="1200" b="1" spc="300" kern="0" dirty="0">
                <a:solidFill>
                  <a:srgbClr val="F2B8A8"/>
                </a:solidFill>
                <a:latin typeface="Calibri" pitchFamily="34" charset="0"/>
                <a:ea typeface="Calibri" pitchFamily="34" charset="-122"/>
                <a:cs typeface="Calibri" pitchFamily="34" charset="-120"/>
              </a:rPr>
              <a:t>REVISIÓN BASADA EN LA EVIDENCIA · 2026</a:t>
            </a:r>
            <a:endParaRPr lang="en-US" sz="1200" dirty="0"/>
          </a:p>
        </p:txBody>
      </p:sp>
      <p:sp>
        <p:nvSpPr>
          <p:cNvPr id="6" name="Text 3"/>
          <p:cNvSpPr txBox="1"/>
          <p:nvPr/>
        </p:nvSpPr>
        <p:spPr>
          <a:xfrm>
            <a:off x="548640" y="1234440"/>
            <a:ext cx="5852160" cy="1280160"/>
          </a:xfrm>
          <a:prstGeom prst="rect">
            <a:avLst/>
          </a:prstGeom>
          <a:noFill/>
          <a:ln/>
        </p:spPr>
        <p:txBody>
          <a:bodyPr wrap="square" lIns="0" tIns="0" rIns="0" bIns="0" rtlCol="0" anchor="b"/>
          <a:lstStyle/>
          <a:p>
            <a:pPr indent="0" marL="0">
              <a:buNone/>
            </a:pPr>
            <a:r>
              <a:rPr lang="en-US" sz="4200" b="1" dirty="0">
                <a:solidFill>
                  <a:srgbClr val="FFFFFF"/>
                </a:solidFill>
                <a:latin typeface="Cambria" pitchFamily="34" charset="0"/>
                <a:ea typeface="Cambria" pitchFamily="34" charset="-122"/>
                <a:cs typeface="Cambria" pitchFamily="34" charset="-120"/>
              </a:rPr>
              <a:t>Enfermedad de Still</a:t>
            </a:r>
            <a:endParaRPr lang="en-US" sz="4200" dirty="0"/>
          </a:p>
        </p:txBody>
      </p:sp>
      <p:sp>
        <p:nvSpPr>
          <p:cNvPr id="7" name="Text 4"/>
          <p:cNvSpPr txBox="1"/>
          <p:nvPr/>
        </p:nvSpPr>
        <p:spPr>
          <a:xfrm>
            <a:off x="548640" y="2560320"/>
            <a:ext cx="5852160" cy="457200"/>
          </a:xfrm>
          <a:prstGeom prst="rect">
            <a:avLst/>
          </a:prstGeom>
          <a:noFill/>
          <a:ln/>
        </p:spPr>
        <p:txBody>
          <a:bodyPr wrap="square" lIns="0" tIns="0" rIns="0" bIns="0" rtlCol="0" anchor="t"/>
          <a:lstStyle/>
          <a:p>
            <a:pPr indent="0" marL="0">
              <a:buNone/>
            </a:pPr>
            <a:r>
              <a:rPr lang="en-US" sz="2200" i="1" dirty="0">
                <a:solidFill>
                  <a:srgbClr val="F2B8A8"/>
                </a:solidFill>
                <a:latin typeface="Cambria" pitchFamily="34" charset="0"/>
                <a:ea typeface="Cambria" pitchFamily="34" charset="-122"/>
                <a:cs typeface="Cambria" pitchFamily="34" charset="-120"/>
              </a:rPr>
              <a:t>Una sola enfermedad, del niño al adulto</a:t>
            </a:r>
            <a:endParaRPr lang="en-US" sz="2200" dirty="0"/>
          </a:p>
        </p:txBody>
      </p:sp>
      <p:sp>
        <p:nvSpPr>
          <p:cNvPr id="8" name="Text 5"/>
          <p:cNvSpPr txBox="1"/>
          <p:nvPr/>
        </p:nvSpPr>
        <p:spPr>
          <a:xfrm>
            <a:off x="548640" y="3291840"/>
            <a:ext cx="5852160" cy="5486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AIJ sistémica y enfermedad de Still del adulto: diagnóstico, complicaciones y tratamiento</a:t>
            </a:r>
            <a:endParaRPr lang="en-US" sz="1400" dirty="0"/>
          </a:p>
        </p:txBody>
      </p:sp>
      <p:sp>
        <p:nvSpPr>
          <p:cNvPr id="9" name="Text 6"/>
          <p:cNvSpPr txBox="1"/>
          <p:nvPr/>
        </p:nvSpPr>
        <p:spPr>
          <a:xfrm>
            <a:off x="548640" y="4206240"/>
            <a:ext cx="6035040" cy="457200"/>
          </a:xfrm>
          <a:prstGeom prst="rect">
            <a:avLst/>
          </a:prstGeom>
          <a:noFill/>
          <a:ln/>
        </p:spPr>
        <p:txBody>
          <a:bodyPr wrap="square" lIns="0" tIns="0" rIns="0" bIns="0" rtlCol="0" anchor="t"/>
          <a:lstStyle/>
          <a:p>
            <a:pPr indent="0" marL="0">
              <a:buNone/>
            </a:pPr>
            <a:r>
              <a:rPr lang="en-US" sz="1150" dirty="0">
                <a:solidFill>
                  <a:srgbClr val="D8C8D6"/>
                </a:solidFill>
                <a:latin typeface="Calibri" pitchFamily="34" charset="0"/>
                <a:ea typeface="Calibri" pitchFamily="34" charset="-122"/>
                <a:cs typeface="Calibri" pitchFamily="34" charset="-120"/>
              </a:rPr>
              <a:t>Basada en las recomendaciones EULAR/PReS 2024, revisiones sistemáticas y ensayos clínicos aleatorizados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CONTENIDO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Hoja de ruta de la presentación</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548640" y="1325880"/>
            <a:ext cx="384048" cy="384048"/>
          </a:xfrm>
          <a:prstGeom prst="ellipse">
            <a:avLst/>
          </a:prstGeom>
          <a:solidFill>
            <a:srgbClr val="7A1F45"/>
          </a:solidFill>
          <a:ln w="12700">
            <a:solidFill>
              <a:srgbClr val="7A1F45"/>
            </a:solidFill>
            <a:prstDash val="solid"/>
          </a:ln>
        </p:spPr>
      </p:sp>
      <p:sp>
        <p:nvSpPr>
          <p:cNvPr id="6" name="Text 4"/>
          <p:cNvSpPr txBox="1"/>
          <p:nvPr/>
        </p:nvSpPr>
        <p:spPr>
          <a:xfrm>
            <a:off x="54864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97280" y="13258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Fuentes y nivel de evidencia</a:t>
            </a:r>
            <a:endParaRPr lang="en-US" sz="1500" dirty="0"/>
          </a:p>
        </p:txBody>
      </p:sp>
      <p:sp>
        <p:nvSpPr>
          <p:cNvPr id="8" name="Shape 6"/>
          <p:cNvSpPr/>
          <p:nvPr/>
        </p:nvSpPr>
        <p:spPr>
          <a:xfrm>
            <a:off x="548640" y="1874520"/>
            <a:ext cx="384048" cy="384048"/>
          </a:xfrm>
          <a:prstGeom prst="ellipse">
            <a:avLst/>
          </a:prstGeom>
          <a:solidFill>
            <a:srgbClr val="7A1F45"/>
          </a:solidFill>
          <a:ln w="12700">
            <a:solidFill>
              <a:srgbClr val="7A1F45"/>
            </a:solidFill>
            <a:prstDash val="solid"/>
          </a:ln>
        </p:spPr>
      </p:sp>
      <p:sp>
        <p:nvSpPr>
          <p:cNvPr id="9" name="Text 7"/>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97280" y="187452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Concepto: una sola enfermedad</a:t>
            </a:r>
            <a:endParaRPr lang="en-US" sz="1500" dirty="0"/>
          </a:p>
        </p:txBody>
      </p:sp>
      <p:sp>
        <p:nvSpPr>
          <p:cNvPr id="11" name="Shape 9"/>
          <p:cNvSpPr/>
          <p:nvPr/>
        </p:nvSpPr>
        <p:spPr>
          <a:xfrm>
            <a:off x="548640" y="2423160"/>
            <a:ext cx="384048" cy="384048"/>
          </a:xfrm>
          <a:prstGeom prst="ellipse">
            <a:avLst/>
          </a:prstGeom>
          <a:solidFill>
            <a:srgbClr val="7A1F45"/>
          </a:solidFill>
          <a:ln w="12700">
            <a:solidFill>
              <a:srgbClr val="7A1F45"/>
            </a:solidFill>
            <a:prstDash val="solid"/>
          </a:ln>
        </p:spPr>
      </p:sp>
      <p:sp>
        <p:nvSpPr>
          <p:cNvPr id="12" name="Text 10"/>
          <p:cNvSpPr txBox="1"/>
          <p:nvPr/>
        </p:nvSpPr>
        <p:spPr>
          <a:xfrm>
            <a:off x="54864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97280" y="242316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Epidemiología</a:t>
            </a:r>
            <a:endParaRPr lang="en-US" sz="1500" dirty="0"/>
          </a:p>
        </p:txBody>
      </p:sp>
      <p:sp>
        <p:nvSpPr>
          <p:cNvPr id="14" name="Shape 12"/>
          <p:cNvSpPr/>
          <p:nvPr/>
        </p:nvSpPr>
        <p:spPr>
          <a:xfrm>
            <a:off x="548640" y="2971800"/>
            <a:ext cx="384048" cy="384048"/>
          </a:xfrm>
          <a:prstGeom prst="ellipse">
            <a:avLst/>
          </a:prstGeom>
          <a:solidFill>
            <a:srgbClr val="7A1F45"/>
          </a:solidFill>
          <a:ln w="12700">
            <a:solidFill>
              <a:srgbClr val="7A1F45"/>
            </a:solidFill>
            <a:prstDash val="solid"/>
          </a:ln>
        </p:spPr>
      </p:sp>
      <p:sp>
        <p:nvSpPr>
          <p:cNvPr id="15" name="Text 13"/>
          <p:cNvSpPr txBox="1"/>
          <p:nvPr/>
        </p:nvSpPr>
        <p:spPr>
          <a:xfrm>
            <a:off x="54864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97280" y="297180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Fisiopatología</a:t>
            </a:r>
            <a:endParaRPr lang="en-US" sz="1500" dirty="0"/>
          </a:p>
        </p:txBody>
      </p:sp>
      <p:sp>
        <p:nvSpPr>
          <p:cNvPr id="17" name="Shape 15"/>
          <p:cNvSpPr/>
          <p:nvPr/>
        </p:nvSpPr>
        <p:spPr>
          <a:xfrm>
            <a:off x="548640" y="3520440"/>
            <a:ext cx="384048" cy="384048"/>
          </a:xfrm>
          <a:prstGeom prst="ellipse">
            <a:avLst/>
          </a:prstGeom>
          <a:solidFill>
            <a:srgbClr val="7A1F45"/>
          </a:solidFill>
          <a:ln w="12700">
            <a:solidFill>
              <a:srgbClr val="7A1F45"/>
            </a:solidFill>
            <a:prstDash val="solid"/>
          </a:ln>
        </p:spPr>
      </p:sp>
      <p:sp>
        <p:nvSpPr>
          <p:cNvPr id="18" name="Text 16"/>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9" name="Text 17"/>
          <p:cNvSpPr txBox="1"/>
          <p:nvPr/>
        </p:nvSpPr>
        <p:spPr>
          <a:xfrm>
            <a:off x="1097280" y="352044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Manifestaciones clínicas</a:t>
            </a:r>
            <a:endParaRPr lang="en-US" sz="1500" dirty="0"/>
          </a:p>
        </p:txBody>
      </p:sp>
      <p:sp>
        <p:nvSpPr>
          <p:cNvPr id="20" name="Shape 18"/>
          <p:cNvSpPr/>
          <p:nvPr/>
        </p:nvSpPr>
        <p:spPr>
          <a:xfrm>
            <a:off x="548640" y="4069080"/>
            <a:ext cx="384048" cy="384048"/>
          </a:xfrm>
          <a:prstGeom prst="ellipse">
            <a:avLst/>
          </a:prstGeom>
          <a:solidFill>
            <a:srgbClr val="7A1F45"/>
          </a:solidFill>
          <a:ln w="12700">
            <a:solidFill>
              <a:srgbClr val="7A1F45"/>
            </a:solidFill>
            <a:prstDash val="solid"/>
          </a:ln>
        </p:spPr>
      </p:sp>
      <p:sp>
        <p:nvSpPr>
          <p:cNvPr id="21" name="Text 19"/>
          <p:cNvSpPr txBox="1"/>
          <p:nvPr/>
        </p:nvSpPr>
        <p:spPr>
          <a:xfrm>
            <a:off x="54864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2" name="Text 20"/>
          <p:cNvSpPr txBox="1"/>
          <p:nvPr/>
        </p:nvSpPr>
        <p:spPr>
          <a:xfrm>
            <a:off x="1097280" y="40690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Laboratorio y biomarcadores</a:t>
            </a:r>
            <a:endParaRPr lang="en-US" sz="1500" dirty="0"/>
          </a:p>
        </p:txBody>
      </p:sp>
      <p:sp>
        <p:nvSpPr>
          <p:cNvPr id="23" name="Shape 21"/>
          <p:cNvSpPr/>
          <p:nvPr/>
        </p:nvSpPr>
        <p:spPr>
          <a:xfrm>
            <a:off x="4754880" y="1325880"/>
            <a:ext cx="384048" cy="384048"/>
          </a:xfrm>
          <a:prstGeom prst="ellipse">
            <a:avLst/>
          </a:prstGeom>
          <a:solidFill>
            <a:srgbClr val="D9472F"/>
          </a:solidFill>
          <a:ln w="12700">
            <a:solidFill>
              <a:srgbClr val="D9472F"/>
            </a:solidFill>
            <a:prstDash val="solid"/>
          </a:ln>
        </p:spPr>
      </p:sp>
      <p:sp>
        <p:nvSpPr>
          <p:cNvPr id="24" name="Text 22"/>
          <p:cNvSpPr txBox="1"/>
          <p:nvPr/>
        </p:nvSpPr>
        <p:spPr>
          <a:xfrm>
            <a:off x="47548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5" name="Text 23"/>
          <p:cNvSpPr txBox="1"/>
          <p:nvPr/>
        </p:nvSpPr>
        <p:spPr>
          <a:xfrm>
            <a:off x="5303520" y="13258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Criterios y diagnóstico diferencial</a:t>
            </a:r>
            <a:endParaRPr lang="en-US" sz="1500" dirty="0"/>
          </a:p>
        </p:txBody>
      </p:sp>
      <p:sp>
        <p:nvSpPr>
          <p:cNvPr id="26" name="Shape 24"/>
          <p:cNvSpPr/>
          <p:nvPr/>
        </p:nvSpPr>
        <p:spPr>
          <a:xfrm>
            <a:off x="4754880" y="1874520"/>
            <a:ext cx="384048" cy="384048"/>
          </a:xfrm>
          <a:prstGeom prst="ellipse">
            <a:avLst/>
          </a:prstGeom>
          <a:solidFill>
            <a:srgbClr val="D9472F"/>
          </a:solidFill>
          <a:ln w="12700">
            <a:solidFill>
              <a:srgbClr val="D9472F"/>
            </a:solidFill>
            <a:prstDash val="solid"/>
          </a:ln>
        </p:spPr>
      </p:sp>
      <p:sp>
        <p:nvSpPr>
          <p:cNvPr id="27" name="Text 25"/>
          <p:cNvSpPr txBox="1"/>
          <p:nvPr/>
        </p:nvSpPr>
        <p:spPr>
          <a:xfrm>
            <a:off x="47548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8" name="Text 26"/>
          <p:cNvSpPr txBox="1"/>
          <p:nvPr/>
        </p:nvSpPr>
        <p:spPr>
          <a:xfrm>
            <a:off x="5303520" y="187452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Síndrome de activación macrofágica</a:t>
            </a:r>
            <a:endParaRPr lang="en-US" sz="1500" dirty="0"/>
          </a:p>
        </p:txBody>
      </p:sp>
      <p:sp>
        <p:nvSpPr>
          <p:cNvPr id="29" name="Shape 27"/>
          <p:cNvSpPr/>
          <p:nvPr/>
        </p:nvSpPr>
        <p:spPr>
          <a:xfrm>
            <a:off x="4754880" y="2423160"/>
            <a:ext cx="384048" cy="384048"/>
          </a:xfrm>
          <a:prstGeom prst="ellipse">
            <a:avLst/>
          </a:prstGeom>
          <a:solidFill>
            <a:srgbClr val="D9472F"/>
          </a:solidFill>
          <a:ln w="12700">
            <a:solidFill>
              <a:srgbClr val="D9472F"/>
            </a:solidFill>
            <a:prstDash val="solid"/>
          </a:ln>
        </p:spPr>
      </p:sp>
      <p:sp>
        <p:nvSpPr>
          <p:cNvPr id="30" name="Text 28"/>
          <p:cNvSpPr txBox="1"/>
          <p:nvPr/>
        </p:nvSpPr>
        <p:spPr>
          <a:xfrm>
            <a:off x="475488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1" name="Text 29"/>
          <p:cNvSpPr txBox="1"/>
          <p:nvPr/>
        </p:nvSpPr>
        <p:spPr>
          <a:xfrm>
            <a:off x="5303520" y="242316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Enfermedad pulmonar y otras complicaciones</a:t>
            </a:r>
            <a:endParaRPr lang="en-US" sz="1500" dirty="0"/>
          </a:p>
        </p:txBody>
      </p:sp>
      <p:sp>
        <p:nvSpPr>
          <p:cNvPr id="32" name="Shape 30"/>
          <p:cNvSpPr/>
          <p:nvPr/>
        </p:nvSpPr>
        <p:spPr>
          <a:xfrm>
            <a:off x="4754880" y="2971800"/>
            <a:ext cx="384048" cy="384048"/>
          </a:xfrm>
          <a:prstGeom prst="ellipse">
            <a:avLst/>
          </a:prstGeom>
          <a:solidFill>
            <a:srgbClr val="D9472F"/>
          </a:solidFill>
          <a:ln w="12700">
            <a:solidFill>
              <a:srgbClr val="D9472F"/>
            </a:solidFill>
            <a:prstDash val="solid"/>
          </a:ln>
        </p:spPr>
      </p:sp>
      <p:sp>
        <p:nvSpPr>
          <p:cNvPr id="33" name="Text 31"/>
          <p:cNvSpPr txBox="1"/>
          <p:nvPr/>
        </p:nvSpPr>
        <p:spPr>
          <a:xfrm>
            <a:off x="475488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a:t>
            </a:r>
            <a:endParaRPr lang="en-US" sz="1300" dirty="0"/>
          </a:p>
        </p:txBody>
      </p:sp>
      <p:sp>
        <p:nvSpPr>
          <p:cNvPr id="34" name="Text 32"/>
          <p:cNvSpPr txBox="1"/>
          <p:nvPr/>
        </p:nvSpPr>
        <p:spPr>
          <a:xfrm>
            <a:off x="5303520" y="297180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Tratamiento: estrategia y fármacos</a:t>
            </a:r>
            <a:endParaRPr lang="en-US" sz="1500" dirty="0"/>
          </a:p>
        </p:txBody>
      </p:sp>
      <p:sp>
        <p:nvSpPr>
          <p:cNvPr id="35" name="Shape 33"/>
          <p:cNvSpPr/>
          <p:nvPr/>
        </p:nvSpPr>
        <p:spPr>
          <a:xfrm>
            <a:off x="4754880" y="3520440"/>
            <a:ext cx="384048" cy="384048"/>
          </a:xfrm>
          <a:prstGeom prst="ellipse">
            <a:avLst/>
          </a:prstGeom>
          <a:solidFill>
            <a:srgbClr val="D9472F"/>
          </a:solidFill>
          <a:ln w="12700">
            <a:solidFill>
              <a:srgbClr val="D9472F"/>
            </a:solidFill>
            <a:prstDash val="solid"/>
          </a:ln>
        </p:spPr>
      </p:sp>
      <p:sp>
        <p:nvSpPr>
          <p:cNvPr id="36" name="Text 34"/>
          <p:cNvSpPr txBox="1"/>
          <p:nvPr/>
        </p:nvSpPr>
        <p:spPr>
          <a:xfrm>
            <a:off x="475488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11</a:t>
            </a:r>
            <a:endParaRPr lang="en-US" sz="1300" dirty="0"/>
          </a:p>
        </p:txBody>
      </p:sp>
      <p:sp>
        <p:nvSpPr>
          <p:cNvPr id="37" name="Text 35"/>
          <p:cNvSpPr txBox="1"/>
          <p:nvPr/>
        </p:nvSpPr>
        <p:spPr>
          <a:xfrm>
            <a:off x="5303520" y="352044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Pronóstico, vacíos y conclusiones</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FUENTES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¿En qué evidencia se basa esta presentación?</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63040"/>
                <a:gridCol w="3291840"/>
                <a:gridCol w="34747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Nivel</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Fuente</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Aporte principal</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Guía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EULAR/PReS 2024 (Ann Rheum Dis 2024;83:1614-27)</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4 principios y 14 recomendaciones; metas por tiempos; manejo del SAM</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RS / MA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Revisiones sistemáticas que informan la guía (2024)</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AIJs = ESA; biomarcadores; eficacia de terapias y del tratamiento del SAM</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ECA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TENDER, Ruperto 2012, ANAJIS, CONSIDER, Kaneko 2018, Nordström 2012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Eficacia de tocilizumab, canakinumab y anakinra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5720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Estudios prospectivos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NI-0501-06 y EMERALD (emapalumab)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Tratamiento del SAM refractario; aprobación FDA 2025</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5720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Cohortes y series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Cohortes de ESA, registros, series de SAM y de enfermedad pulmonar</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Epidemiología, pronóstico y complicaciones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457200" y="4160520"/>
            <a:ext cx="8229600" cy="548640"/>
          </a:xfrm>
          <a:prstGeom prst="roundRect">
            <a:avLst>
              <a:gd name="adj" fmla="val 13333"/>
            </a:avLst>
          </a:prstGeom>
          <a:solidFill>
            <a:srgbClr val="F7EEF1"/>
          </a:solidFill>
          <a:ln w="12700">
            <a:solidFill>
              <a:srgbClr val="F7EEF1"/>
            </a:solidFill>
            <a:prstDash val="solid"/>
          </a:ln>
        </p:spPr>
      </p:sp>
      <p:sp>
        <p:nvSpPr>
          <p:cNvPr id="7" name="Text 4"/>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200" i="1" dirty="0">
                <a:solidFill>
                  <a:srgbClr val="7A1F45"/>
                </a:solidFill>
                <a:latin typeface="Calibri" pitchFamily="34" charset="0"/>
                <a:ea typeface="Calibri" pitchFamily="34" charset="-122"/>
                <a:cs typeface="Calibri" pitchFamily="34" charset="-120"/>
              </a:rPr>
              <a:t>Enfermedad rara: los ECA son pequeños (12 a 177 pacientes) y buena parte de la evidencia proviene de cohortes y opinión de expertos.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CONCEPTO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De dos nombres a una sola enfermedad</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1234440" y="2148840"/>
            <a:ext cx="6675120" cy="0"/>
          </a:xfrm>
          <a:prstGeom prst="line">
            <a:avLst/>
          </a:prstGeom>
          <a:noFill/>
          <a:ln w="38100">
            <a:solidFill>
              <a:srgbClr val="D9CCD2"/>
            </a:solidFill>
            <a:prstDash val="solid"/>
          </a:ln>
        </p:spPr>
      </p:sp>
      <p:sp>
        <p:nvSpPr>
          <p:cNvPr id="6" name="Shape 4"/>
          <p:cNvSpPr/>
          <p:nvPr/>
        </p:nvSpPr>
        <p:spPr>
          <a:xfrm>
            <a:off x="1088136" y="2002536"/>
            <a:ext cx="292608" cy="292608"/>
          </a:xfrm>
          <a:prstGeom prst="ellipse">
            <a:avLst/>
          </a:prstGeom>
          <a:solidFill>
            <a:srgbClr val="7A1F45"/>
          </a:solidFill>
          <a:ln w="25400">
            <a:solidFill>
              <a:srgbClr val="FFFFFF"/>
            </a:solidFill>
            <a:prstDash val="solid"/>
          </a:ln>
        </p:spPr>
      </p:sp>
      <p:sp>
        <p:nvSpPr>
          <p:cNvPr id="7" name="Text 5"/>
          <p:cNvSpPr txBox="1"/>
          <p:nvPr/>
        </p:nvSpPr>
        <p:spPr>
          <a:xfrm>
            <a:off x="411480" y="1417320"/>
            <a:ext cx="1645920" cy="457200"/>
          </a:xfrm>
          <a:prstGeom prst="rect">
            <a:avLst/>
          </a:prstGeom>
          <a:noFill/>
          <a:ln/>
        </p:spPr>
        <p:txBody>
          <a:bodyPr wrap="square" lIns="0" tIns="0" rIns="0" bIns="0" rtlCol="0" anchor="b"/>
          <a:lstStyle/>
          <a:p>
            <a:pPr algn="ctr" indent="0" marL="0">
              <a:buNone/>
            </a:pPr>
            <a:r>
              <a:rPr lang="en-US" sz="1700" b="1" dirty="0">
                <a:solidFill>
                  <a:srgbClr val="7A1F45"/>
                </a:solidFill>
                <a:latin typeface="Cambria" pitchFamily="34" charset="0"/>
                <a:ea typeface="Cambria" pitchFamily="34" charset="-122"/>
                <a:cs typeface="Cambria" pitchFamily="34" charset="-120"/>
              </a:rPr>
              <a:t>1897</a:t>
            </a:r>
            <a:endParaRPr lang="en-US" sz="1700" dirty="0"/>
          </a:p>
        </p:txBody>
      </p:sp>
      <p:sp>
        <p:nvSpPr>
          <p:cNvPr id="8" name="Text 6"/>
          <p:cNvSpPr txBox="1"/>
          <p:nvPr/>
        </p:nvSpPr>
        <p:spPr>
          <a:xfrm>
            <a:off x="438912" y="2468880"/>
            <a:ext cx="1591056" cy="109728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George F. Still describe la forma sistémica de artritis en niños</a:t>
            </a:r>
            <a:endParaRPr lang="en-US" sz="1100" dirty="0"/>
          </a:p>
        </p:txBody>
      </p:sp>
      <p:sp>
        <p:nvSpPr>
          <p:cNvPr id="9" name="Shape 7"/>
          <p:cNvSpPr/>
          <p:nvPr/>
        </p:nvSpPr>
        <p:spPr>
          <a:xfrm>
            <a:off x="2756916" y="2002536"/>
            <a:ext cx="292608" cy="292608"/>
          </a:xfrm>
          <a:prstGeom prst="ellipse">
            <a:avLst/>
          </a:prstGeom>
          <a:solidFill>
            <a:srgbClr val="7A1F45"/>
          </a:solidFill>
          <a:ln w="25400">
            <a:solidFill>
              <a:srgbClr val="FFFFFF"/>
            </a:solidFill>
            <a:prstDash val="solid"/>
          </a:ln>
        </p:spPr>
      </p:sp>
      <p:sp>
        <p:nvSpPr>
          <p:cNvPr id="10" name="Text 8"/>
          <p:cNvSpPr txBox="1"/>
          <p:nvPr/>
        </p:nvSpPr>
        <p:spPr>
          <a:xfrm>
            <a:off x="2080260" y="1417320"/>
            <a:ext cx="1645920" cy="457200"/>
          </a:xfrm>
          <a:prstGeom prst="rect">
            <a:avLst/>
          </a:prstGeom>
          <a:noFill/>
          <a:ln/>
        </p:spPr>
        <p:txBody>
          <a:bodyPr wrap="square" lIns="0" tIns="0" rIns="0" bIns="0" rtlCol="0" anchor="b"/>
          <a:lstStyle/>
          <a:p>
            <a:pPr algn="ctr" indent="0" marL="0">
              <a:buNone/>
            </a:pPr>
            <a:r>
              <a:rPr lang="en-US" sz="1700" b="1" dirty="0">
                <a:solidFill>
                  <a:srgbClr val="7A1F45"/>
                </a:solidFill>
                <a:latin typeface="Cambria" pitchFamily="34" charset="0"/>
                <a:ea typeface="Cambria" pitchFamily="34" charset="-122"/>
                <a:cs typeface="Cambria" pitchFamily="34" charset="-120"/>
              </a:rPr>
              <a:t>1971</a:t>
            </a:r>
            <a:endParaRPr lang="en-US" sz="1700" dirty="0"/>
          </a:p>
        </p:txBody>
      </p:sp>
      <p:sp>
        <p:nvSpPr>
          <p:cNvPr id="11" name="Text 9"/>
          <p:cNvSpPr txBox="1"/>
          <p:nvPr/>
        </p:nvSpPr>
        <p:spPr>
          <a:xfrm>
            <a:off x="2107692" y="2468880"/>
            <a:ext cx="1591056" cy="109728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Eric Bywaters describe la enfermedad en adultos: "Still del adulto"</a:t>
            </a:r>
            <a:endParaRPr lang="en-US" sz="1100" dirty="0"/>
          </a:p>
        </p:txBody>
      </p:sp>
      <p:sp>
        <p:nvSpPr>
          <p:cNvPr id="12" name="Shape 10"/>
          <p:cNvSpPr/>
          <p:nvPr/>
        </p:nvSpPr>
        <p:spPr>
          <a:xfrm>
            <a:off x="4425696" y="2002536"/>
            <a:ext cx="292608" cy="292608"/>
          </a:xfrm>
          <a:prstGeom prst="ellipse">
            <a:avLst/>
          </a:prstGeom>
          <a:solidFill>
            <a:srgbClr val="A2456A"/>
          </a:solidFill>
          <a:ln w="25400">
            <a:solidFill>
              <a:srgbClr val="FFFFFF"/>
            </a:solidFill>
            <a:prstDash val="solid"/>
          </a:ln>
        </p:spPr>
      </p:sp>
      <p:sp>
        <p:nvSpPr>
          <p:cNvPr id="13" name="Text 11"/>
          <p:cNvSpPr txBox="1"/>
          <p:nvPr/>
        </p:nvSpPr>
        <p:spPr>
          <a:xfrm>
            <a:off x="3749040" y="1417320"/>
            <a:ext cx="1645920" cy="457200"/>
          </a:xfrm>
          <a:prstGeom prst="rect">
            <a:avLst/>
          </a:prstGeom>
          <a:noFill/>
          <a:ln/>
        </p:spPr>
        <p:txBody>
          <a:bodyPr wrap="square" lIns="0" tIns="0" rIns="0" bIns="0" rtlCol="0" anchor="b"/>
          <a:lstStyle/>
          <a:p>
            <a:pPr algn="ctr" indent="0" marL="0">
              <a:buNone/>
            </a:pPr>
            <a:r>
              <a:rPr lang="en-US" sz="1700" b="1" dirty="0">
                <a:solidFill>
                  <a:srgbClr val="A2456A"/>
                </a:solidFill>
                <a:latin typeface="Cambria" pitchFamily="34" charset="0"/>
                <a:ea typeface="Cambria" pitchFamily="34" charset="-122"/>
                <a:cs typeface="Cambria" pitchFamily="34" charset="-120"/>
              </a:rPr>
              <a:t>1992 · 2002</a:t>
            </a:r>
            <a:endParaRPr lang="en-US" sz="1700" dirty="0"/>
          </a:p>
        </p:txBody>
      </p:sp>
      <p:sp>
        <p:nvSpPr>
          <p:cNvPr id="14" name="Text 12"/>
          <p:cNvSpPr txBox="1"/>
          <p:nvPr/>
        </p:nvSpPr>
        <p:spPr>
          <a:xfrm>
            <a:off x="3776472" y="2468880"/>
            <a:ext cx="1591056" cy="109728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Criterios de Yamaguchi y de Fautrel para adultos</a:t>
            </a:r>
            <a:endParaRPr lang="en-US" sz="1100" dirty="0"/>
          </a:p>
        </p:txBody>
      </p:sp>
      <p:sp>
        <p:nvSpPr>
          <p:cNvPr id="15" name="Shape 13"/>
          <p:cNvSpPr/>
          <p:nvPr/>
        </p:nvSpPr>
        <p:spPr>
          <a:xfrm>
            <a:off x="6094476" y="2002536"/>
            <a:ext cx="292608" cy="292608"/>
          </a:xfrm>
          <a:prstGeom prst="ellipse">
            <a:avLst/>
          </a:prstGeom>
          <a:solidFill>
            <a:srgbClr val="A2456A"/>
          </a:solidFill>
          <a:ln w="25400">
            <a:solidFill>
              <a:srgbClr val="FFFFFF"/>
            </a:solidFill>
            <a:prstDash val="solid"/>
          </a:ln>
        </p:spPr>
      </p:sp>
      <p:sp>
        <p:nvSpPr>
          <p:cNvPr id="16" name="Text 14"/>
          <p:cNvSpPr txBox="1"/>
          <p:nvPr/>
        </p:nvSpPr>
        <p:spPr>
          <a:xfrm>
            <a:off x="5417820" y="1417320"/>
            <a:ext cx="1645920" cy="457200"/>
          </a:xfrm>
          <a:prstGeom prst="rect">
            <a:avLst/>
          </a:prstGeom>
          <a:noFill/>
          <a:ln/>
        </p:spPr>
        <p:txBody>
          <a:bodyPr wrap="square" lIns="0" tIns="0" rIns="0" bIns="0" rtlCol="0" anchor="b"/>
          <a:lstStyle/>
          <a:p>
            <a:pPr algn="ctr" indent="0" marL="0">
              <a:buNone/>
            </a:pPr>
            <a:r>
              <a:rPr lang="en-US" sz="1700" b="1" dirty="0">
                <a:solidFill>
                  <a:srgbClr val="A2456A"/>
                </a:solidFill>
                <a:latin typeface="Cambria" pitchFamily="34" charset="0"/>
                <a:ea typeface="Cambria" pitchFamily="34" charset="-122"/>
                <a:cs typeface="Cambria" pitchFamily="34" charset="-120"/>
              </a:rPr>
              <a:t>2016</a:t>
            </a:r>
            <a:endParaRPr lang="en-US" sz="1700" dirty="0"/>
          </a:p>
        </p:txBody>
      </p:sp>
      <p:sp>
        <p:nvSpPr>
          <p:cNvPr id="17" name="Text 15"/>
          <p:cNvSpPr txBox="1"/>
          <p:nvPr/>
        </p:nvSpPr>
        <p:spPr>
          <a:xfrm>
            <a:off x="5445252" y="2468880"/>
            <a:ext cx="1591056" cy="109728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Criterios de clasificación del SAM (EULAR/ACR/PRINTO)</a:t>
            </a:r>
            <a:endParaRPr lang="en-US" sz="1100" dirty="0"/>
          </a:p>
        </p:txBody>
      </p:sp>
      <p:sp>
        <p:nvSpPr>
          <p:cNvPr id="18" name="Shape 16"/>
          <p:cNvSpPr/>
          <p:nvPr/>
        </p:nvSpPr>
        <p:spPr>
          <a:xfrm>
            <a:off x="7763256" y="2002536"/>
            <a:ext cx="292608" cy="292608"/>
          </a:xfrm>
          <a:prstGeom prst="ellipse">
            <a:avLst/>
          </a:prstGeom>
          <a:solidFill>
            <a:srgbClr val="D9472F"/>
          </a:solidFill>
          <a:ln w="25400">
            <a:solidFill>
              <a:srgbClr val="FFFFFF"/>
            </a:solidFill>
            <a:prstDash val="solid"/>
          </a:ln>
        </p:spPr>
      </p:sp>
      <p:sp>
        <p:nvSpPr>
          <p:cNvPr id="19" name="Text 17"/>
          <p:cNvSpPr txBox="1"/>
          <p:nvPr/>
        </p:nvSpPr>
        <p:spPr>
          <a:xfrm>
            <a:off x="7086600" y="1417320"/>
            <a:ext cx="1645920" cy="457200"/>
          </a:xfrm>
          <a:prstGeom prst="rect">
            <a:avLst/>
          </a:prstGeom>
          <a:noFill/>
          <a:ln/>
        </p:spPr>
        <p:txBody>
          <a:bodyPr wrap="square" lIns="0" tIns="0" rIns="0" bIns="0" rtlCol="0" anchor="b"/>
          <a:lstStyle/>
          <a:p>
            <a:pPr algn="ctr" indent="0" marL="0">
              <a:buNone/>
            </a:pPr>
            <a:r>
              <a:rPr lang="en-US" sz="1700" b="1" dirty="0">
                <a:solidFill>
                  <a:srgbClr val="D9472F"/>
                </a:solidFill>
                <a:latin typeface="Cambria" pitchFamily="34" charset="0"/>
                <a:ea typeface="Cambria" pitchFamily="34" charset="-122"/>
                <a:cs typeface="Cambria" pitchFamily="34" charset="-120"/>
              </a:rPr>
              <a:t>2024</a:t>
            </a:r>
            <a:endParaRPr lang="en-US" sz="1700" dirty="0"/>
          </a:p>
        </p:txBody>
      </p:sp>
      <p:sp>
        <p:nvSpPr>
          <p:cNvPr id="20" name="Text 18"/>
          <p:cNvSpPr txBox="1"/>
          <p:nvPr/>
        </p:nvSpPr>
        <p:spPr>
          <a:xfrm>
            <a:off x="7114032" y="2468880"/>
            <a:ext cx="1591056" cy="109728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EULAR/PReS: AIJs y ESA son una sola enfermedad → "enfermedad de Still"</a:t>
            </a:r>
            <a:endParaRPr lang="en-US" sz="1100" dirty="0"/>
          </a:p>
        </p:txBody>
      </p:sp>
      <p:sp>
        <p:nvSpPr>
          <p:cNvPr id="21" name="Shape 19"/>
          <p:cNvSpPr/>
          <p:nvPr/>
        </p:nvSpPr>
        <p:spPr>
          <a:xfrm>
            <a:off x="457200" y="3657600"/>
            <a:ext cx="8229600" cy="1005840"/>
          </a:xfrm>
          <a:prstGeom prst="roundRect">
            <a:avLst>
              <a:gd name="adj" fmla="val 7273"/>
            </a:avLst>
          </a:prstGeom>
          <a:solidFill>
            <a:srgbClr val="F7EEF1"/>
          </a:solidFill>
          <a:ln w="12700">
            <a:solidFill>
              <a:srgbClr val="F7EEF1"/>
            </a:solidFill>
            <a:prstDash val="solid"/>
          </a:ln>
        </p:spPr>
      </p:sp>
      <p:sp>
        <p:nvSpPr>
          <p:cNvPr id="22" name="Text 20"/>
          <p:cNvSpPr txBox="1"/>
          <p:nvPr/>
        </p:nvSpPr>
        <p:spPr>
          <a:xfrm>
            <a:off x="640080" y="3657600"/>
            <a:ext cx="7863840" cy="1005840"/>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Mensaje: </a:t>
            </a:r>
            <a:pPr indent="0" marL="0">
              <a:buNone/>
            </a:pPr>
            <a:r>
              <a:rPr lang="en-US" sz="1300" dirty="0">
                <a:solidFill>
                  <a:srgbClr val="2B2330"/>
                </a:solidFill>
                <a:latin typeface="Calibri" pitchFamily="34" charset="0"/>
                <a:ea typeface="Calibri" pitchFamily="34" charset="-122"/>
                <a:cs typeface="Calibri" pitchFamily="34" charset="-120"/>
              </a:rPr>
              <a:t>la edad de inicio no define enfermedades distintas. Niños y adultos comparten clínica, biomarcadores, complicaciones y respuesta a los inhibidores de IL-1 e IL-6.</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CONCEPTO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AIJ sistémica y ESA: la misma enfermedad</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Ann Rheum Dis. 2024 (revisiones sistemáticas que informan EULAR/PReS)</a:t>
            </a:r>
            <a:endParaRPr lang="en-US" sz="850" dirty="0"/>
          </a:p>
        </p:txBody>
      </p:sp>
      <p:sp>
        <p:nvSpPr>
          <p:cNvPr id="5" name="Text 3"/>
          <p:cNvSpPr txBox="1"/>
          <p:nvPr/>
        </p:nvSpPr>
        <p:spPr>
          <a:xfrm>
            <a:off x="457200" y="1234440"/>
            <a:ext cx="2560320" cy="566928"/>
          </a:xfrm>
          <a:prstGeom prst="rect">
            <a:avLst/>
          </a:prstGeom>
          <a:noFill/>
          <a:ln/>
        </p:spPr>
        <p:txBody>
          <a:bodyPr wrap="square" lIns="0" tIns="0" rIns="0" bIns="0" rtlCol="0" anchor="b"/>
          <a:lstStyle/>
          <a:p>
            <a:pPr indent="0" marL="0">
              <a:buNone/>
            </a:pPr>
            <a:r>
              <a:rPr lang="en-US" sz="3200" b="1" dirty="0">
                <a:solidFill>
                  <a:srgbClr val="7A1F45"/>
                </a:solidFill>
                <a:latin typeface="Cambria" pitchFamily="34" charset="0"/>
                <a:ea typeface="Cambria" pitchFamily="34" charset="-122"/>
                <a:cs typeface="Cambria" pitchFamily="34" charset="-120"/>
              </a:rPr>
              <a:t>n = 1010</a:t>
            </a:r>
            <a:endParaRPr lang="en-US" sz="3200" dirty="0"/>
          </a:p>
        </p:txBody>
      </p:sp>
      <p:sp>
        <p:nvSpPr>
          <p:cNvPr id="6" name="Text 4"/>
          <p:cNvSpPr txBox="1"/>
          <p:nvPr/>
        </p:nvSpPr>
        <p:spPr>
          <a:xfrm>
            <a:off x="457200" y="1837944"/>
            <a:ext cx="256032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pacientes en 8 estudios comparando manifestaciones clínicas de AIJs y ESA</a:t>
            </a:r>
            <a:endParaRPr lang="en-US" sz="1150" dirty="0"/>
          </a:p>
        </p:txBody>
      </p:sp>
      <p:sp>
        <p:nvSpPr>
          <p:cNvPr id="7" name="Text 5"/>
          <p:cNvSpPr txBox="1"/>
          <p:nvPr/>
        </p:nvSpPr>
        <p:spPr>
          <a:xfrm>
            <a:off x="457200" y="2423160"/>
            <a:ext cx="2560320" cy="566928"/>
          </a:xfrm>
          <a:prstGeom prst="rect">
            <a:avLst/>
          </a:prstGeom>
          <a:noFill/>
          <a:ln/>
        </p:spPr>
        <p:txBody>
          <a:bodyPr wrap="square" lIns="0" tIns="0" rIns="0" bIns="0" rtlCol="0" anchor="b"/>
          <a:lstStyle/>
          <a:p>
            <a:pPr indent="0" marL="0">
              <a:buNone/>
            </a:pPr>
            <a:r>
              <a:rPr lang="en-US" sz="3200" b="1" dirty="0">
                <a:solidFill>
                  <a:srgbClr val="7A1F45"/>
                </a:solidFill>
                <a:latin typeface="Cambria" pitchFamily="34" charset="0"/>
                <a:ea typeface="Cambria" pitchFamily="34" charset="-122"/>
                <a:cs typeface="Cambria" pitchFamily="34" charset="-120"/>
              </a:rPr>
              <a:t>33 + 10</a:t>
            </a:r>
            <a:endParaRPr lang="en-US" sz="3200" dirty="0"/>
          </a:p>
        </p:txBody>
      </p:sp>
      <p:sp>
        <p:nvSpPr>
          <p:cNvPr id="8" name="Text 6"/>
          <p:cNvSpPr txBox="1"/>
          <p:nvPr/>
        </p:nvSpPr>
        <p:spPr>
          <a:xfrm>
            <a:off x="457200" y="3026664"/>
            <a:ext cx="256032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estudios en las revisiones de biomarcadores y de diagnóstico del SAM</a:t>
            </a:r>
            <a:endParaRPr lang="en-US" sz="1150" dirty="0"/>
          </a:p>
        </p:txBody>
      </p:sp>
      <p:sp>
        <p:nvSpPr>
          <p:cNvPr id="9" name="Shape 7"/>
          <p:cNvSpPr/>
          <p:nvPr/>
        </p:nvSpPr>
        <p:spPr>
          <a:xfrm>
            <a:off x="3291840" y="1234440"/>
            <a:ext cx="2606040" cy="3429000"/>
          </a:xfrm>
          <a:prstGeom prst="roundRect">
            <a:avLst>
              <a:gd name="adj" fmla="val 2807"/>
            </a:avLst>
          </a:prstGeom>
          <a:solidFill>
            <a:srgbClr val="E9F3F2"/>
          </a:solidFill>
          <a:ln w="12700">
            <a:solidFill>
              <a:srgbClr val="E9F3F2"/>
            </a:solidFill>
            <a:prstDash val="solid"/>
          </a:ln>
        </p:spPr>
      </p:sp>
      <p:sp>
        <p:nvSpPr>
          <p:cNvPr id="10" name="Shape 8"/>
          <p:cNvSpPr/>
          <p:nvPr/>
        </p:nvSpPr>
        <p:spPr>
          <a:xfrm>
            <a:off x="3474720" y="1371600"/>
            <a:ext cx="502920" cy="502920"/>
          </a:xfrm>
          <a:prstGeom prst="ellipse">
            <a:avLst/>
          </a:prstGeom>
          <a:solidFill>
            <a:srgbClr val="1F7F79"/>
          </a:solidFill>
          <a:ln w="12700">
            <a:solidFill>
              <a:srgbClr val="1F7F79"/>
            </a:solidFill>
            <a:prstDash val="solid"/>
          </a:ln>
        </p:spPr>
      </p:sp>
      <p:pic>
        <p:nvPicPr>
          <p:cNvPr id="11" name="Image 0" descr="preencoded.png">    </p:cNvPr>
          <p:cNvPicPr>
            <a:picLocks noChangeAspect="1"/>
          </p:cNvPicPr>
          <p:nvPr/>
        </p:nvPicPr>
        <p:blipFill>
          <a:blip r:embed="rId1"/>
          <a:stretch>
            <a:fillRect/>
          </a:stretch>
        </p:blipFill>
        <p:spPr>
          <a:xfrm>
            <a:off x="3600450" y="1497330"/>
            <a:ext cx="251460" cy="251460"/>
          </a:xfrm>
          <a:prstGeom prst="rect">
            <a:avLst/>
          </a:prstGeom>
        </p:spPr>
      </p:pic>
      <p:sp>
        <p:nvSpPr>
          <p:cNvPr id="12" name="Text 9"/>
          <p:cNvSpPr txBox="1"/>
          <p:nvPr/>
        </p:nvSpPr>
        <p:spPr>
          <a:xfrm>
            <a:off x="4069080" y="1371600"/>
            <a:ext cx="1737360" cy="502920"/>
          </a:xfrm>
          <a:prstGeom prst="rect">
            <a:avLst/>
          </a:prstGeom>
          <a:noFill/>
          <a:ln/>
        </p:spPr>
        <p:txBody>
          <a:bodyPr wrap="square" lIns="0" tIns="0" rIns="0" bIns="0" rtlCol="0" anchor="ctr"/>
          <a:lstStyle/>
          <a:p>
            <a:pPr indent="0" marL="0">
              <a:buNone/>
            </a:pPr>
            <a:r>
              <a:rPr lang="en-US" sz="1400" b="1" dirty="0">
                <a:solidFill>
                  <a:srgbClr val="2A1433"/>
                </a:solidFill>
                <a:latin typeface="Calibri" pitchFamily="34" charset="0"/>
                <a:ea typeface="Calibri" pitchFamily="34" charset="-122"/>
                <a:cs typeface="Calibri" pitchFamily="34" charset="-120"/>
              </a:rPr>
              <a:t>Sin diferencias</a:t>
            </a:r>
            <a:endParaRPr lang="en-US" sz="1400" dirty="0"/>
          </a:p>
        </p:txBody>
      </p:sp>
      <p:sp>
        <p:nvSpPr>
          <p:cNvPr id="13" name="Text 10"/>
          <p:cNvSpPr txBox="1"/>
          <p:nvPr/>
        </p:nvSpPr>
        <p:spPr>
          <a:xfrm>
            <a:off x="3474720" y="2011680"/>
            <a:ext cx="2331720" cy="25603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Prevalencia de las manifestaciones clínicas</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Hallazgos de laboratorio</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Frecuencia de complicaciones (incluido el SAM)</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Rendimiento de ferritina, S100 e IL-18</a:t>
            </a:r>
            <a:endParaRPr lang="en-US" sz="1200" dirty="0"/>
          </a:p>
        </p:txBody>
      </p:sp>
      <p:sp>
        <p:nvSpPr>
          <p:cNvPr id="14" name="Shape 11"/>
          <p:cNvSpPr/>
          <p:nvPr/>
        </p:nvSpPr>
        <p:spPr>
          <a:xfrm>
            <a:off x="6080760" y="1234440"/>
            <a:ext cx="2606040" cy="3429000"/>
          </a:xfrm>
          <a:prstGeom prst="roundRect">
            <a:avLst>
              <a:gd name="adj" fmla="val 2807"/>
            </a:avLst>
          </a:prstGeom>
          <a:solidFill>
            <a:srgbClr val="FBE3DE"/>
          </a:solidFill>
          <a:ln w="12700">
            <a:solidFill>
              <a:srgbClr val="FBE3DE"/>
            </a:solidFill>
            <a:prstDash val="solid"/>
          </a:ln>
        </p:spPr>
      </p:sp>
      <p:sp>
        <p:nvSpPr>
          <p:cNvPr id="15" name="Shape 12"/>
          <p:cNvSpPr/>
          <p:nvPr/>
        </p:nvSpPr>
        <p:spPr>
          <a:xfrm>
            <a:off x="6263640" y="1371600"/>
            <a:ext cx="502920" cy="502920"/>
          </a:xfrm>
          <a:prstGeom prst="ellipse">
            <a:avLst/>
          </a:prstGeom>
          <a:solidFill>
            <a:srgbClr val="D9472F"/>
          </a:solidFill>
          <a:ln w="12700">
            <a:solidFill>
              <a:srgbClr val="D9472F"/>
            </a:solidFill>
            <a:prstDash val="solid"/>
          </a:ln>
        </p:spPr>
      </p:sp>
      <p:pic>
        <p:nvPicPr>
          <p:cNvPr id="16" name="Image 1" descr="preencoded.png">    </p:cNvPr>
          <p:cNvPicPr>
            <a:picLocks noChangeAspect="1"/>
          </p:cNvPicPr>
          <p:nvPr/>
        </p:nvPicPr>
        <p:blipFill>
          <a:blip r:embed="rId2"/>
          <a:stretch>
            <a:fillRect/>
          </a:stretch>
        </p:blipFill>
        <p:spPr>
          <a:xfrm>
            <a:off x="6389370" y="1497330"/>
            <a:ext cx="251460" cy="251460"/>
          </a:xfrm>
          <a:prstGeom prst="rect">
            <a:avLst/>
          </a:prstGeom>
        </p:spPr>
      </p:pic>
      <p:sp>
        <p:nvSpPr>
          <p:cNvPr id="17" name="Text 13"/>
          <p:cNvSpPr txBox="1"/>
          <p:nvPr/>
        </p:nvSpPr>
        <p:spPr>
          <a:xfrm>
            <a:off x="6858000" y="1371600"/>
            <a:ext cx="1737360" cy="502920"/>
          </a:xfrm>
          <a:prstGeom prst="rect">
            <a:avLst/>
          </a:prstGeom>
          <a:noFill/>
          <a:ln/>
        </p:spPr>
        <p:txBody>
          <a:bodyPr wrap="square" lIns="0" tIns="0" rIns="0" bIns="0" rtlCol="0" anchor="ctr"/>
          <a:lstStyle/>
          <a:p>
            <a:pPr indent="0" marL="0">
              <a:buNone/>
            </a:pPr>
            <a:r>
              <a:rPr lang="en-US" sz="1400" b="1" dirty="0">
                <a:solidFill>
                  <a:srgbClr val="2A1433"/>
                </a:solidFill>
                <a:latin typeface="Calibri" pitchFamily="34" charset="0"/>
                <a:ea typeface="Calibri" pitchFamily="34" charset="-122"/>
                <a:cs typeface="Calibri" pitchFamily="34" charset="-120"/>
              </a:rPr>
              <a:t>Diferencias</a:t>
            </a:r>
            <a:endParaRPr lang="en-US" sz="1400" dirty="0"/>
          </a:p>
        </p:txBody>
      </p:sp>
      <p:sp>
        <p:nvSpPr>
          <p:cNvPr id="18" name="Text 14"/>
          <p:cNvSpPr txBox="1"/>
          <p:nvPr/>
        </p:nvSpPr>
        <p:spPr>
          <a:xfrm>
            <a:off x="6263640" y="2011680"/>
            <a:ext cx="2331720" cy="2560320"/>
          </a:xfrm>
          <a:prstGeom prst="rect">
            <a:avLst/>
          </a:prstGeom>
          <a:noFill/>
          <a:ln/>
        </p:spPr>
        <p:txBody>
          <a:bodyPr wrap="square" lIns="0" tIns="0" rIns="0" bIns="0" rtlCol="0" anchor="t"/>
          <a:lstStyle/>
          <a:p>
            <a:pPr marL="177800" indent="-177800">
              <a:spcAft>
                <a:spcPts val="800"/>
              </a:spcAft>
              <a:buSzPct val="100000"/>
              <a:buChar char="•"/>
            </a:pPr>
            <a:r>
              <a:rPr lang="en-US" sz="1200" b="1" dirty="0">
                <a:solidFill>
                  <a:srgbClr val="7A1F45"/>
                </a:solidFill>
                <a:latin typeface="Calibri" pitchFamily="34" charset="0"/>
                <a:ea typeface="Calibri" pitchFamily="34" charset="-122"/>
                <a:cs typeface="Calibri" pitchFamily="34" charset="-120"/>
              </a:rPr>
              <a:t>Más en ESA: </a:t>
            </a:r>
            <a:pPr indent="0" marL="0">
              <a:buNone/>
            </a:pPr>
            <a:r>
              <a:rPr lang="en-US" sz="1200" dirty="0">
                <a:solidFill>
                  <a:srgbClr val="2B2330"/>
                </a:solidFill>
                <a:latin typeface="Calibri" pitchFamily="34" charset="0"/>
                <a:ea typeface="Calibri" pitchFamily="34" charset="-122"/>
                <a:cs typeface="Calibri" pitchFamily="34" charset="-120"/>
              </a:rPr>
              <a:t>mialgias, odinofagia, pérdida de peso (probable subregistro en niños pequeños)</a:t>
            </a:r>
            <a:endParaRPr lang="en-US" sz="1200" dirty="0"/>
          </a:p>
          <a:p>
            <a:pPr marL="177800" indent="-177800">
              <a:spcAft>
                <a:spcPts val="800"/>
              </a:spcAft>
              <a:buSzPct val="100000"/>
              <a:buChar char="•"/>
            </a:pPr>
            <a:r>
              <a:rPr lang="en-US" sz="1200" b="1" dirty="0">
                <a:solidFill>
                  <a:srgbClr val="7A1F45"/>
                </a:solidFill>
                <a:latin typeface="Calibri" pitchFamily="34" charset="0"/>
                <a:ea typeface="Calibri" pitchFamily="34" charset="-122"/>
                <a:cs typeface="Calibri" pitchFamily="34" charset="-120"/>
              </a:rPr>
              <a:t>Más en AIJs: </a:t>
            </a:r>
            <a:pPr indent="0" marL="0">
              <a:buNone/>
            </a:pPr>
            <a:r>
              <a:rPr lang="en-US" sz="1200" dirty="0">
                <a:solidFill>
                  <a:srgbClr val="2B2330"/>
                </a:solidFill>
                <a:latin typeface="Calibri" pitchFamily="34" charset="0"/>
                <a:ea typeface="Calibri" pitchFamily="34" charset="-122"/>
                <a:cs typeface="Calibri" pitchFamily="34" charset="-120"/>
              </a:rPr>
              <a:t>amiloidosis AA</a:t>
            </a:r>
            <a:endParaRPr lang="en-US" sz="1200" dirty="0"/>
          </a:p>
        </p:txBody>
      </p:sp>
      <p:sp>
        <p:nvSpPr>
          <p:cNvPr id="19" name="Text 15"/>
          <p:cNvSpPr txBox="1"/>
          <p:nvPr/>
        </p:nvSpPr>
        <p:spPr>
          <a:xfrm>
            <a:off x="457200" y="3703320"/>
            <a:ext cx="2651760" cy="822960"/>
          </a:xfrm>
          <a:prstGeom prst="rect">
            <a:avLst/>
          </a:prstGeom>
          <a:noFill/>
          <a:ln/>
        </p:spPr>
        <p:txBody>
          <a:bodyPr wrap="square" lIns="0" tIns="0" rIns="0" bIns="0" rtlCol="0" anchor="t"/>
          <a:lstStyle/>
          <a:p>
            <a:pPr indent="0" marL="0">
              <a:buNone/>
            </a:pPr>
            <a:r>
              <a:rPr lang="en-US" sz="1300" b="1" i="1" dirty="0">
                <a:solidFill>
                  <a:srgbClr val="1F7F79"/>
                </a:solidFill>
                <a:latin typeface="Calibri" pitchFamily="34" charset="0"/>
                <a:ea typeface="Calibri" pitchFamily="34" charset="-122"/>
                <a:cs typeface="Calibri" pitchFamily="34" charset="-120"/>
              </a:rPr>
              <a:t>Conclusión: continuo entre AIJs y ESA</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EPIDEMIOLOGÍA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Una enfermedad rara de adultos jóvenes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Revisiones de ESA: Semin Arthritis Rheum. 2021 · Front Immunol. 2022 · Front Med. 2022</a:t>
            </a:r>
            <a:endParaRPr lang="en-US" sz="850" dirty="0"/>
          </a:p>
        </p:txBody>
      </p:sp>
      <p:sp>
        <p:nvSpPr>
          <p:cNvPr id="5" name="Text 3"/>
          <p:cNvSpPr txBox="1"/>
          <p:nvPr/>
        </p:nvSpPr>
        <p:spPr>
          <a:xfrm>
            <a:off x="457200" y="1234440"/>
            <a:ext cx="1920240" cy="566928"/>
          </a:xfrm>
          <a:prstGeom prst="rect">
            <a:avLst/>
          </a:prstGeom>
          <a:noFill/>
          <a:ln/>
        </p:spPr>
        <p:txBody>
          <a:bodyPr wrap="square" lIns="0" tIns="0" rIns="0" bIns="0" rtlCol="0" anchor="b"/>
          <a:lstStyle/>
          <a:p>
            <a:pPr indent="0" marL="0">
              <a:buNone/>
            </a:pPr>
            <a:r>
              <a:rPr lang="en-US" sz="3000" b="1" dirty="0">
                <a:solidFill>
                  <a:srgbClr val="D9472F"/>
                </a:solidFill>
                <a:latin typeface="Cambria" pitchFamily="34" charset="0"/>
                <a:ea typeface="Cambria" pitchFamily="34" charset="-122"/>
                <a:cs typeface="Cambria" pitchFamily="34" charset="-120"/>
              </a:rPr>
              <a:t>0,16–0,4</a:t>
            </a:r>
            <a:endParaRPr lang="en-US" sz="3000" dirty="0"/>
          </a:p>
        </p:txBody>
      </p:sp>
      <p:sp>
        <p:nvSpPr>
          <p:cNvPr id="6" name="Text 4"/>
          <p:cNvSpPr txBox="1"/>
          <p:nvPr/>
        </p:nvSpPr>
        <p:spPr>
          <a:xfrm>
            <a:off x="4572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casos por 100 000 personas-año (incidencia de ESA)</a:t>
            </a:r>
            <a:endParaRPr lang="en-US" sz="1150" dirty="0"/>
          </a:p>
        </p:txBody>
      </p:sp>
      <p:sp>
        <p:nvSpPr>
          <p:cNvPr id="7" name="Text 5"/>
          <p:cNvSpPr txBox="1"/>
          <p:nvPr/>
        </p:nvSpPr>
        <p:spPr>
          <a:xfrm>
            <a:off x="2514600" y="1234440"/>
            <a:ext cx="1920240" cy="566928"/>
          </a:xfrm>
          <a:prstGeom prst="rect">
            <a:avLst/>
          </a:prstGeom>
          <a:noFill/>
          <a:ln/>
        </p:spPr>
        <p:txBody>
          <a:bodyPr wrap="square" lIns="0" tIns="0" rIns="0" bIns="0" rtlCol="0" anchor="b"/>
          <a:lstStyle/>
          <a:p>
            <a:pPr indent="0" marL="0">
              <a:buNone/>
            </a:pPr>
            <a:r>
              <a:rPr lang="en-US" sz="3000" b="1" dirty="0">
                <a:solidFill>
                  <a:srgbClr val="D9472F"/>
                </a:solidFill>
                <a:latin typeface="Cambria" pitchFamily="34" charset="0"/>
                <a:ea typeface="Cambria" pitchFamily="34" charset="-122"/>
                <a:cs typeface="Cambria" pitchFamily="34" charset="-120"/>
              </a:rPr>
              <a:t>1–34</a:t>
            </a:r>
            <a:endParaRPr lang="en-US" sz="3000" dirty="0"/>
          </a:p>
        </p:txBody>
      </p:sp>
      <p:sp>
        <p:nvSpPr>
          <p:cNvPr id="8" name="Text 6"/>
          <p:cNvSpPr txBox="1"/>
          <p:nvPr/>
        </p:nvSpPr>
        <p:spPr>
          <a:xfrm>
            <a:off x="25146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casos por millón de habitantes (prevalencia)</a:t>
            </a:r>
            <a:endParaRPr lang="en-US" sz="1150" dirty="0"/>
          </a:p>
        </p:txBody>
      </p:sp>
      <p:sp>
        <p:nvSpPr>
          <p:cNvPr id="9" name="Text 7"/>
          <p:cNvSpPr txBox="1"/>
          <p:nvPr/>
        </p:nvSpPr>
        <p:spPr>
          <a:xfrm>
            <a:off x="4572000" y="1234440"/>
            <a:ext cx="192024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~38 años</a:t>
            </a:r>
            <a:endParaRPr lang="en-US" sz="3000" dirty="0"/>
          </a:p>
        </p:txBody>
      </p:sp>
      <p:sp>
        <p:nvSpPr>
          <p:cNvPr id="10" name="Text 8"/>
          <p:cNvSpPr txBox="1"/>
          <p:nvPr/>
        </p:nvSpPr>
        <p:spPr>
          <a:xfrm>
            <a:off x="45720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edad media al diagnóstico</a:t>
            </a:r>
            <a:endParaRPr lang="en-US" sz="1150" dirty="0"/>
          </a:p>
        </p:txBody>
      </p:sp>
      <p:sp>
        <p:nvSpPr>
          <p:cNvPr id="11" name="Text 9"/>
          <p:cNvSpPr txBox="1"/>
          <p:nvPr/>
        </p:nvSpPr>
        <p:spPr>
          <a:xfrm>
            <a:off x="6629400" y="1234440"/>
            <a:ext cx="205740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45–80 %</a:t>
            </a:r>
            <a:endParaRPr lang="en-US" sz="3000" dirty="0"/>
          </a:p>
        </p:txBody>
      </p:sp>
      <p:sp>
        <p:nvSpPr>
          <p:cNvPr id="12" name="Text 10"/>
          <p:cNvSpPr txBox="1"/>
          <p:nvPr/>
        </p:nvSpPr>
        <p:spPr>
          <a:xfrm>
            <a:off x="6629400" y="1837944"/>
            <a:ext cx="205740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inician entre los 16 y los 35 años</a:t>
            </a:r>
            <a:endParaRPr lang="en-US" sz="1150" dirty="0"/>
          </a:p>
        </p:txBody>
      </p:sp>
      <p:sp>
        <p:nvSpPr>
          <p:cNvPr id="13" name="Text 11"/>
          <p:cNvSpPr txBox="1"/>
          <p:nvPr/>
        </p:nvSpPr>
        <p:spPr>
          <a:xfrm>
            <a:off x="457200" y="2606040"/>
            <a:ext cx="82296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Distribución bimodal de la edad de inicio en adultos</a:t>
            </a:r>
            <a:endParaRPr lang="en-US" sz="1500" dirty="0"/>
          </a:p>
        </p:txBody>
      </p:sp>
      <p:sp>
        <p:nvSpPr>
          <p:cNvPr id="14" name="Shape 12"/>
          <p:cNvSpPr/>
          <p:nvPr/>
        </p:nvSpPr>
        <p:spPr>
          <a:xfrm>
            <a:off x="731520" y="3840480"/>
            <a:ext cx="7680960" cy="0"/>
          </a:xfrm>
          <a:prstGeom prst="line">
            <a:avLst/>
          </a:prstGeom>
          <a:noFill/>
          <a:ln w="38100">
            <a:solidFill>
              <a:srgbClr val="D9CCD2"/>
            </a:solidFill>
            <a:prstDash val="solid"/>
          </a:ln>
        </p:spPr>
      </p:sp>
      <p:sp>
        <p:nvSpPr>
          <p:cNvPr id="15" name="Text 13"/>
          <p:cNvSpPr txBox="1"/>
          <p:nvPr/>
        </p:nvSpPr>
        <p:spPr>
          <a:xfrm>
            <a:off x="36576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10</a:t>
            </a:r>
            <a:endParaRPr lang="en-US" sz="1000" dirty="0"/>
          </a:p>
        </p:txBody>
      </p:sp>
      <p:sp>
        <p:nvSpPr>
          <p:cNvPr id="16" name="Text 14"/>
          <p:cNvSpPr txBox="1"/>
          <p:nvPr/>
        </p:nvSpPr>
        <p:spPr>
          <a:xfrm>
            <a:off x="164592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20</a:t>
            </a:r>
            <a:endParaRPr lang="en-US" sz="1000" dirty="0"/>
          </a:p>
        </p:txBody>
      </p:sp>
      <p:sp>
        <p:nvSpPr>
          <p:cNvPr id="17" name="Text 15"/>
          <p:cNvSpPr txBox="1"/>
          <p:nvPr/>
        </p:nvSpPr>
        <p:spPr>
          <a:xfrm>
            <a:off x="292608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30</a:t>
            </a:r>
            <a:endParaRPr lang="en-US" sz="1000" dirty="0"/>
          </a:p>
        </p:txBody>
      </p:sp>
      <p:sp>
        <p:nvSpPr>
          <p:cNvPr id="18" name="Text 16"/>
          <p:cNvSpPr txBox="1"/>
          <p:nvPr/>
        </p:nvSpPr>
        <p:spPr>
          <a:xfrm>
            <a:off x="420624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40</a:t>
            </a:r>
            <a:endParaRPr lang="en-US" sz="1000" dirty="0"/>
          </a:p>
        </p:txBody>
      </p:sp>
      <p:sp>
        <p:nvSpPr>
          <p:cNvPr id="19" name="Text 17"/>
          <p:cNvSpPr txBox="1"/>
          <p:nvPr/>
        </p:nvSpPr>
        <p:spPr>
          <a:xfrm>
            <a:off x="548640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50</a:t>
            </a:r>
            <a:endParaRPr lang="en-US" sz="1000" dirty="0"/>
          </a:p>
        </p:txBody>
      </p:sp>
      <p:sp>
        <p:nvSpPr>
          <p:cNvPr id="20" name="Text 18"/>
          <p:cNvSpPr txBox="1"/>
          <p:nvPr/>
        </p:nvSpPr>
        <p:spPr>
          <a:xfrm>
            <a:off x="676656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60</a:t>
            </a:r>
            <a:endParaRPr lang="en-US" sz="1000" dirty="0"/>
          </a:p>
        </p:txBody>
      </p:sp>
      <p:sp>
        <p:nvSpPr>
          <p:cNvPr id="21" name="Text 19"/>
          <p:cNvSpPr txBox="1"/>
          <p:nvPr/>
        </p:nvSpPr>
        <p:spPr>
          <a:xfrm>
            <a:off x="8046720" y="3931920"/>
            <a:ext cx="731520" cy="228600"/>
          </a:xfrm>
          <a:prstGeom prst="rect">
            <a:avLst/>
          </a:prstGeom>
          <a:noFill/>
          <a:ln/>
        </p:spPr>
        <p:txBody>
          <a:bodyPr wrap="square" lIns="0" tIns="0" rIns="0" bIns="0" rtlCol="0" anchor="t"/>
          <a:lstStyle/>
          <a:p>
            <a:pPr algn="ctr" indent="0" marL="0">
              <a:buNone/>
            </a:pPr>
            <a:r>
              <a:rPr lang="en-US" sz="1000" dirty="0">
                <a:solidFill>
                  <a:srgbClr val="6E6573"/>
                </a:solidFill>
                <a:latin typeface="Calibri" pitchFamily="34" charset="0"/>
                <a:ea typeface="Calibri" pitchFamily="34" charset="-122"/>
                <a:cs typeface="Calibri" pitchFamily="34" charset="-120"/>
              </a:rPr>
              <a:t>70 años</a:t>
            </a:r>
            <a:endParaRPr lang="en-US" sz="1000" dirty="0"/>
          </a:p>
        </p:txBody>
      </p:sp>
      <p:sp>
        <p:nvSpPr>
          <p:cNvPr id="22" name="Shape 20"/>
          <p:cNvSpPr/>
          <p:nvPr/>
        </p:nvSpPr>
        <p:spPr>
          <a:xfrm>
            <a:off x="1371600" y="3063240"/>
            <a:ext cx="1280160" cy="685800"/>
          </a:xfrm>
          <a:prstGeom prst="roundRect">
            <a:avLst>
              <a:gd name="adj" fmla="val 13333"/>
            </a:avLst>
          </a:prstGeom>
          <a:solidFill>
            <a:srgbClr val="D9472F">
              <a:alpha val="80000"/>
            </a:srgbClr>
          </a:solidFill>
          <a:ln w="12700">
            <a:solidFill>
              <a:srgbClr val="D9472F"/>
            </a:solidFill>
            <a:prstDash val="solid"/>
          </a:ln>
        </p:spPr>
      </p:sp>
      <p:sp>
        <p:nvSpPr>
          <p:cNvPr id="23" name="Text 21"/>
          <p:cNvSpPr txBox="1"/>
          <p:nvPr/>
        </p:nvSpPr>
        <p:spPr>
          <a:xfrm>
            <a:off x="1371600" y="3063240"/>
            <a:ext cx="12801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15–25 años</a:t>
            </a:r>
            <a:endParaRPr lang="en-US" sz="1300" dirty="0"/>
          </a:p>
        </p:txBody>
      </p:sp>
      <p:sp>
        <p:nvSpPr>
          <p:cNvPr id="24" name="Shape 22"/>
          <p:cNvSpPr/>
          <p:nvPr/>
        </p:nvSpPr>
        <p:spPr>
          <a:xfrm>
            <a:off x="4059936" y="3063240"/>
            <a:ext cx="1280160" cy="685800"/>
          </a:xfrm>
          <a:prstGeom prst="roundRect">
            <a:avLst>
              <a:gd name="adj" fmla="val 13333"/>
            </a:avLst>
          </a:prstGeom>
          <a:solidFill>
            <a:srgbClr val="D9472F">
              <a:alpha val="80000"/>
            </a:srgbClr>
          </a:solidFill>
          <a:ln w="12700">
            <a:solidFill>
              <a:srgbClr val="D9472F"/>
            </a:solidFill>
            <a:prstDash val="solid"/>
          </a:ln>
        </p:spPr>
      </p:sp>
      <p:sp>
        <p:nvSpPr>
          <p:cNvPr id="25" name="Text 23"/>
          <p:cNvSpPr txBox="1"/>
          <p:nvPr/>
        </p:nvSpPr>
        <p:spPr>
          <a:xfrm>
            <a:off x="4059936" y="3063240"/>
            <a:ext cx="12801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36–46 años</a:t>
            </a:r>
            <a:endParaRPr lang="en-US" sz="1300" dirty="0"/>
          </a:p>
        </p:txBody>
      </p:sp>
      <p:sp>
        <p:nvSpPr>
          <p:cNvPr id="26" name="Text 24"/>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050" i="1" dirty="0">
                <a:solidFill>
                  <a:srgbClr val="6E6573"/>
                </a:solidFill>
                <a:latin typeface="Calibri" pitchFamily="34" charset="0"/>
                <a:ea typeface="Calibri" pitchFamily="34" charset="-122"/>
                <a:cs typeface="Calibri" pitchFamily="34" charset="-120"/>
              </a:rPr>
              <a:t>La AIJs representa ~10–20 % de las AIJ en series occidentales; en adultos, afecta a ambos sexos con discreto predominio femenino en varias series.</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Autoinflamación: la inmunidad innata al mando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Ann Rheum Dis. 2024 (revisiones sistemáticas que informan EULAR/PReS)</a:t>
            </a:r>
            <a:endParaRPr lang="en-US" sz="850" dirty="0"/>
          </a:p>
        </p:txBody>
      </p:sp>
      <p:sp>
        <p:nvSpPr>
          <p:cNvPr id="5" name="Shape 3"/>
          <p:cNvSpPr/>
          <p:nvPr/>
        </p:nvSpPr>
        <p:spPr>
          <a:xfrm>
            <a:off x="457200" y="1325880"/>
            <a:ext cx="1517904" cy="2743200"/>
          </a:xfrm>
          <a:prstGeom prst="roundRect">
            <a:avLst>
              <a:gd name="adj" fmla="val 4819"/>
            </a:avLst>
          </a:prstGeom>
          <a:solidFill>
            <a:srgbClr val="F7EEF1"/>
          </a:solidFill>
          <a:ln w="12700">
            <a:solidFill>
              <a:srgbClr val="F7EEF1"/>
            </a:solidFill>
            <a:prstDash val="solid"/>
          </a:ln>
        </p:spPr>
      </p:sp>
      <p:sp>
        <p:nvSpPr>
          <p:cNvPr id="6" name="Shape 4"/>
          <p:cNvSpPr/>
          <p:nvPr/>
        </p:nvSpPr>
        <p:spPr>
          <a:xfrm>
            <a:off x="932688" y="1481328"/>
            <a:ext cx="566928" cy="566928"/>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1074420" y="1623060"/>
            <a:ext cx="283464" cy="283464"/>
          </a:xfrm>
          <a:prstGeom prst="rect">
            <a:avLst/>
          </a:prstGeom>
        </p:spPr>
      </p:pic>
      <p:sp>
        <p:nvSpPr>
          <p:cNvPr id="8" name="Text 5"/>
          <p:cNvSpPr txBox="1"/>
          <p:nvPr/>
        </p:nvSpPr>
        <p:spPr>
          <a:xfrm>
            <a:off x="548640" y="2148840"/>
            <a:ext cx="1335024" cy="45720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Desencadenante</a:t>
            </a:r>
            <a:endParaRPr lang="en-US" sz="1300" dirty="0"/>
          </a:p>
        </p:txBody>
      </p:sp>
      <p:sp>
        <p:nvSpPr>
          <p:cNvPr id="9" name="Text 6"/>
          <p:cNvSpPr txBox="1"/>
          <p:nvPr/>
        </p:nvSpPr>
        <p:spPr>
          <a:xfrm>
            <a:off x="566928" y="2651760"/>
            <a:ext cx="1298448" cy="137160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Infecciones u otros estímulos en un huésped genéticamente predispuesto</a:t>
            </a:r>
            <a:endParaRPr lang="en-US" sz="1100" dirty="0"/>
          </a:p>
        </p:txBody>
      </p:sp>
      <p:sp>
        <p:nvSpPr>
          <p:cNvPr id="10" name="Shape 7"/>
          <p:cNvSpPr/>
          <p:nvPr/>
        </p:nvSpPr>
        <p:spPr>
          <a:xfrm>
            <a:off x="1984248" y="2743200"/>
            <a:ext cx="146304" cy="914"/>
          </a:xfrm>
          <a:prstGeom prst="line">
            <a:avLst/>
          </a:prstGeom>
          <a:noFill/>
          <a:ln w="25400">
            <a:solidFill>
              <a:srgbClr val="D9472F"/>
            </a:solidFill>
            <a:prstDash val="solid"/>
            <a:tailEnd type="triangle"/>
          </a:ln>
        </p:spPr>
      </p:sp>
      <p:sp>
        <p:nvSpPr>
          <p:cNvPr id="11" name="Shape 8"/>
          <p:cNvSpPr/>
          <p:nvPr/>
        </p:nvSpPr>
        <p:spPr>
          <a:xfrm>
            <a:off x="2139696" y="1325880"/>
            <a:ext cx="1517904" cy="2743200"/>
          </a:xfrm>
          <a:prstGeom prst="roundRect">
            <a:avLst>
              <a:gd name="adj" fmla="val 4819"/>
            </a:avLst>
          </a:prstGeom>
          <a:solidFill>
            <a:srgbClr val="F7EEF1"/>
          </a:solidFill>
          <a:ln w="12700">
            <a:solidFill>
              <a:srgbClr val="F7EEF1"/>
            </a:solidFill>
            <a:prstDash val="solid"/>
          </a:ln>
        </p:spPr>
      </p:sp>
      <p:sp>
        <p:nvSpPr>
          <p:cNvPr id="12" name="Shape 9"/>
          <p:cNvSpPr/>
          <p:nvPr/>
        </p:nvSpPr>
        <p:spPr>
          <a:xfrm>
            <a:off x="2615184" y="1481328"/>
            <a:ext cx="566928" cy="566928"/>
          </a:xfrm>
          <a:prstGeom prst="ellipse">
            <a:avLst/>
          </a:prstGeom>
          <a:solidFill>
            <a:srgbClr val="7A1F45"/>
          </a:solidFill>
          <a:ln w="12700">
            <a:solidFill>
              <a:srgbClr val="7A1F45"/>
            </a:solidFill>
            <a:prstDash val="solid"/>
          </a:ln>
        </p:spPr>
      </p:sp>
      <p:pic>
        <p:nvPicPr>
          <p:cNvPr id="13" name="Image 1" descr="preencoded.png">    </p:cNvPr>
          <p:cNvPicPr>
            <a:picLocks noChangeAspect="1"/>
          </p:cNvPicPr>
          <p:nvPr/>
        </p:nvPicPr>
        <p:blipFill>
          <a:blip r:embed="rId2"/>
          <a:stretch>
            <a:fillRect/>
          </a:stretch>
        </p:blipFill>
        <p:spPr>
          <a:xfrm>
            <a:off x="2756916" y="1623060"/>
            <a:ext cx="283464" cy="283464"/>
          </a:xfrm>
          <a:prstGeom prst="rect">
            <a:avLst/>
          </a:prstGeom>
        </p:spPr>
      </p:pic>
      <p:sp>
        <p:nvSpPr>
          <p:cNvPr id="14" name="Text 10"/>
          <p:cNvSpPr txBox="1"/>
          <p:nvPr/>
        </p:nvSpPr>
        <p:spPr>
          <a:xfrm>
            <a:off x="2231136" y="2148840"/>
            <a:ext cx="1335024" cy="45720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Inmunidad innata</a:t>
            </a:r>
            <a:endParaRPr lang="en-US" sz="1300" dirty="0"/>
          </a:p>
        </p:txBody>
      </p:sp>
      <p:sp>
        <p:nvSpPr>
          <p:cNvPr id="15" name="Text 11"/>
          <p:cNvSpPr txBox="1"/>
          <p:nvPr/>
        </p:nvSpPr>
        <p:spPr>
          <a:xfrm>
            <a:off x="2249424" y="2651760"/>
            <a:ext cx="1298448" cy="137160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Activación de neutrófilos, monocitos y macrófagos; inflamasoma</a:t>
            </a:r>
            <a:endParaRPr lang="en-US" sz="1100" dirty="0"/>
          </a:p>
        </p:txBody>
      </p:sp>
      <p:sp>
        <p:nvSpPr>
          <p:cNvPr id="16" name="Shape 12"/>
          <p:cNvSpPr/>
          <p:nvPr/>
        </p:nvSpPr>
        <p:spPr>
          <a:xfrm>
            <a:off x="3666744" y="2743200"/>
            <a:ext cx="146304" cy="914"/>
          </a:xfrm>
          <a:prstGeom prst="line">
            <a:avLst/>
          </a:prstGeom>
          <a:noFill/>
          <a:ln w="25400">
            <a:solidFill>
              <a:srgbClr val="D9472F"/>
            </a:solidFill>
            <a:prstDash val="solid"/>
            <a:tailEnd type="triangle"/>
          </a:ln>
        </p:spPr>
      </p:sp>
      <p:sp>
        <p:nvSpPr>
          <p:cNvPr id="17" name="Shape 13"/>
          <p:cNvSpPr/>
          <p:nvPr/>
        </p:nvSpPr>
        <p:spPr>
          <a:xfrm>
            <a:off x="3822192" y="1325880"/>
            <a:ext cx="1517904" cy="2743200"/>
          </a:xfrm>
          <a:prstGeom prst="roundRect">
            <a:avLst>
              <a:gd name="adj" fmla="val 4819"/>
            </a:avLst>
          </a:prstGeom>
          <a:solidFill>
            <a:srgbClr val="F7EEF1"/>
          </a:solidFill>
          <a:ln w="12700">
            <a:solidFill>
              <a:srgbClr val="F7EEF1"/>
            </a:solidFill>
            <a:prstDash val="solid"/>
          </a:ln>
        </p:spPr>
      </p:sp>
      <p:sp>
        <p:nvSpPr>
          <p:cNvPr id="18" name="Shape 14"/>
          <p:cNvSpPr/>
          <p:nvPr/>
        </p:nvSpPr>
        <p:spPr>
          <a:xfrm>
            <a:off x="4297680" y="1481328"/>
            <a:ext cx="566928" cy="566928"/>
          </a:xfrm>
          <a:prstGeom prst="ellipse">
            <a:avLst/>
          </a:prstGeom>
          <a:solidFill>
            <a:srgbClr val="7A1F45"/>
          </a:solidFill>
          <a:ln w="12700">
            <a:solidFill>
              <a:srgbClr val="7A1F45"/>
            </a:solidFill>
            <a:prstDash val="solid"/>
          </a:ln>
        </p:spPr>
      </p:sp>
      <p:pic>
        <p:nvPicPr>
          <p:cNvPr id="19" name="Image 2" descr="preencoded.png">    </p:cNvPr>
          <p:cNvPicPr>
            <a:picLocks noChangeAspect="1"/>
          </p:cNvPicPr>
          <p:nvPr/>
        </p:nvPicPr>
        <p:blipFill>
          <a:blip r:embed="rId3"/>
          <a:stretch>
            <a:fillRect/>
          </a:stretch>
        </p:blipFill>
        <p:spPr>
          <a:xfrm>
            <a:off x="4439412" y="1623060"/>
            <a:ext cx="283464" cy="283464"/>
          </a:xfrm>
          <a:prstGeom prst="rect">
            <a:avLst/>
          </a:prstGeom>
        </p:spPr>
      </p:pic>
      <p:sp>
        <p:nvSpPr>
          <p:cNvPr id="20" name="Text 15"/>
          <p:cNvSpPr txBox="1"/>
          <p:nvPr/>
        </p:nvSpPr>
        <p:spPr>
          <a:xfrm>
            <a:off x="3913632" y="2148840"/>
            <a:ext cx="1335024" cy="45720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Citocinas</a:t>
            </a:r>
            <a:endParaRPr lang="en-US" sz="1300" dirty="0"/>
          </a:p>
        </p:txBody>
      </p:sp>
      <p:sp>
        <p:nvSpPr>
          <p:cNvPr id="21" name="Text 16"/>
          <p:cNvSpPr txBox="1"/>
          <p:nvPr/>
        </p:nvSpPr>
        <p:spPr>
          <a:xfrm>
            <a:off x="3931920" y="2651760"/>
            <a:ext cx="1298448" cy="137160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IL-1β, IL-18 e IL-6; S100 (calprotectina, S100A12) como alarminas</a:t>
            </a:r>
            <a:endParaRPr lang="en-US" sz="1100" dirty="0"/>
          </a:p>
        </p:txBody>
      </p:sp>
      <p:sp>
        <p:nvSpPr>
          <p:cNvPr id="22" name="Shape 17"/>
          <p:cNvSpPr/>
          <p:nvPr/>
        </p:nvSpPr>
        <p:spPr>
          <a:xfrm>
            <a:off x="5349240" y="2743200"/>
            <a:ext cx="146304" cy="914"/>
          </a:xfrm>
          <a:prstGeom prst="line">
            <a:avLst/>
          </a:prstGeom>
          <a:noFill/>
          <a:ln w="25400">
            <a:solidFill>
              <a:srgbClr val="D9472F"/>
            </a:solidFill>
            <a:prstDash val="solid"/>
            <a:tailEnd type="triangle"/>
          </a:ln>
        </p:spPr>
      </p:sp>
      <p:sp>
        <p:nvSpPr>
          <p:cNvPr id="23" name="Shape 18"/>
          <p:cNvSpPr/>
          <p:nvPr/>
        </p:nvSpPr>
        <p:spPr>
          <a:xfrm>
            <a:off x="5504688" y="1325880"/>
            <a:ext cx="1517904" cy="2743200"/>
          </a:xfrm>
          <a:prstGeom prst="roundRect">
            <a:avLst>
              <a:gd name="adj" fmla="val 4819"/>
            </a:avLst>
          </a:prstGeom>
          <a:solidFill>
            <a:srgbClr val="F7EEF1"/>
          </a:solidFill>
          <a:ln w="12700">
            <a:solidFill>
              <a:srgbClr val="F7EEF1"/>
            </a:solidFill>
            <a:prstDash val="solid"/>
          </a:ln>
        </p:spPr>
      </p:sp>
      <p:sp>
        <p:nvSpPr>
          <p:cNvPr id="24" name="Shape 19"/>
          <p:cNvSpPr/>
          <p:nvPr/>
        </p:nvSpPr>
        <p:spPr>
          <a:xfrm>
            <a:off x="5980176" y="1481328"/>
            <a:ext cx="566928" cy="566928"/>
          </a:xfrm>
          <a:prstGeom prst="ellipse">
            <a:avLst/>
          </a:prstGeom>
          <a:solidFill>
            <a:srgbClr val="7A1F45"/>
          </a:solidFill>
          <a:ln w="12700">
            <a:solidFill>
              <a:srgbClr val="7A1F45"/>
            </a:solidFill>
            <a:prstDash val="solid"/>
          </a:ln>
        </p:spPr>
      </p:sp>
      <p:pic>
        <p:nvPicPr>
          <p:cNvPr id="25" name="Image 3" descr="preencoded.png">    </p:cNvPr>
          <p:cNvPicPr>
            <a:picLocks noChangeAspect="1"/>
          </p:cNvPicPr>
          <p:nvPr/>
        </p:nvPicPr>
        <p:blipFill>
          <a:blip r:embed="rId4"/>
          <a:stretch>
            <a:fillRect/>
          </a:stretch>
        </p:blipFill>
        <p:spPr>
          <a:xfrm>
            <a:off x="6121908" y="1623060"/>
            <a:ext cx="283464" cy="283464"/>
          </a:xfrm>
          <a:prstGeom prst="rect">
            <a:avLst/>
          </a:prstGeom>
        </p:spPr>
      </p:pic>
      <p:sp>
        <p:nvSpPr>
          <p:cNvPr id="26" name="Text 20"/>
          <p:cNvSpPr txBox="1"/>
          <p:nvPr/>
        </p:nvSpPr>
        <p:spPr>
          <a:xfrm>
            <a:off x="5596128" y="2148840"/>
            <a:ext cx="1335024" cy="45720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Clínica sistémica</a:t>
            </a:r>
            <a:endParaRPr lang="en-US" sz="1300" dirty="0"/>
          </a:p>
        </p:txBody>
      </p:sp>
      <p:sp>
        <p:nvSpPr>
          <p:cNvPr id="27" name="Text 21"/>
          <p:cNvSpPr txBox="1"/>
          <p:nvPr/>
        </p:nvSpPr>
        <p:spPr>
          <a:xfrm>
            <a:off x="5614416" y="2651760"/>
            <a:ext cx="1298448" cy="137160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Fiebre en picos, exantema, neutrofilia, hiperferritinemia</a:t>
            </a:r>
            <a:endParaRPr lang="en-US" sz="1100" dirty="0"/>
          </a:p>
        </p:txBody>
      </p:sp>
      <p:sp>
        <p:nvSpPr>
          <p:cNvPr id="28" name="Shape 22"/>
          <p:cNvSpPr/>
          <p:nvPr/>
        </p:nvSpPr>
        <p:spPr>
          <a:xfrm>
            <a:off x="7031736" y="2743200"/>
            <a:ext cx="146304" cy="914"/>
          </a:xfrm>
          <a:prstGeom prst="line">
            <a:avLst/>
          </a:prstGeom>
          <a:noFill/>
          <a:ln w="25400">
            <a:solidFill>
              <a:srgbClr val="D9472F"/>
            </a:solidFill>
            <a:prstDash val="solid"/>
            <a:tailEnd type="triangle"/>
          </a:ln>
        </p:spPr>
      </p:sp>
      <p:sp>
        <p:nvSpPr>
          <p:cNvPr id="29" name="Shape 23"/>
          <p:cNvSpPr/>
          <p:nvPr/>
        </p:nvSpPr>
        <p:spPr>
          <a:xfrm>
            <a:off x="7187184" y="1325880"/>
            <a:ext cx="1517904" cy="2743200"/>
          </a:xfrm>
          <a:prstGeom prst="roundRect">
            <a:avLst>
              <a:gd name="adj" fmla="val 4819"/>
            </a:avLst>
          </a:prstGeom>
          <a:solidFill>
            <a:srgbClr val="FBE3DE"/>
          </a:solidFill>
          <a:ln w="12700">
            <a:solidFill>
              <a:srgbClr val="FBE3DE"/>
            </a:solidFill>
            <a:prstDash val="solid"/>
          </a:ln>
        </p:spPr>
      </p:sp>
      <p:sp>
        <p:nvSpPr>
          <p:cNvPr id="30" name="Shape 24"/>
          <p:cNvSpPr/>
          <p:nvPr/>
        </p:nvSpPr>
        <p:spPr>
          <a:xfrm>
            <a:off x="7662672" y="1481328"/>
            <a:ext cx="566928" cy="566928"/>
          </a:xfrm>
          <a:prstGeom prst="ellipse">
            <a:avLst/>
          </a:prstGeom>
          <a:solidFill>
            <a:srgbClr val="D9472F"/>
          </a:solidFill>
          <a:ln w="12700">
            <a:solidFill>
              <a:srgbClr val="D9472F"/>
            </a:solidFill>
            <a:prstDash val="solid"/>
          </a:ln>
        </p:spPr>
      </p:sp>
      <p:pic>
        <p:nvPicPr>
          <p:cNvPr id="31" name="Image 4" descr="preencoded.png">    </p:cNvPr>
          <p:cNvPicPr>
            <a:picLocks noChangeAspect="1"/>
          </p:cNvPicPr>
          <p:nvPr/>
        </p:nvPicPr>
        <p:blipFill>
          <a:blip r:embed="rId5"/>
          <a:stretch>
            <a:fillRect/>
          </a:stretch>
        </p:blipFill>
        <p:spPr>
          <a:xfrm>
            <a:off x="7804404" y="1623060"/>
            <a:ext cx="283464" cy="283464"/>
          </a:xfrm>
          <a:prstGeom prst="rect">
            <a:avLst/>
          </a:prstGeom>
        </p:spPr>
      </p:pic>
      <p:sp>
        <p:nvSpPr>
          <p:cNvPr id="32" name="Text 25"/>
          <p:cNvSpPr txBox="1"/>
          <p:nvPr/>
        </p:nvSpPr>
        <p:spPr>
          <a:xfrm>
            <a:off x="7278624" y="2148840"/>
            <a:ext cx="1335024" cy="45720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Amplificación</a:t>
            </a:r>
            <a:endParaRPr lang="en-US" sz="1300" dirty="0"/>
          </a:p>
        </p:txBody>
      </p:sp>
      <p:sp>
        <p:nvSpPr>
          <p:cNvPr id="33" name="Text 26"/>
          <p:cNvSpPr txBox="1"/>
          <p:nvPr/>
        </p:nvSpPr>
        <p:spPr>
          <a:xfrm>
            <a:off x="7296912" y="2651760"/>
            <a:ext cx="1298448" cy="137160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IL-18 → IFN-γ: base del síndrome de activación macrofágica</a:t>
            </a:r>
            <a:endParaRPr lang="en-US" sz="1100" dirty="0"/>
          </a:p>
        </p:txBody>
      </p:sp>
      <p:sp>
        <p:nvSpPr>
          <p:cNvPr id="34" name="Text 27"/>
          <p:cNvSpPr txBox="1"/>
          <p:nvPr/>
        </p:nvSpPr>
        <p:spPr>
          <a:xfrm>
            <a:off x="457200" y="4224528"/>
            <a:ext cx="8229600" cy="411480"/>
          </a:xfrm>
          <a:prstGeom prst="rect">
            <a:avLst/>
          </a:prstGeom>
          <a:noFill/>
          <a:ln/>
        </p:spPr>
        <p:txBody>
          <a:bodyPr wrap="square" lIns="0" tIns="0" rIns="0" bIns="0" rtlCol="0" anchor="t"/>
          <a:lstStyle/>
          <a:p>
            <a:pPr indent="0" marL="0">
              <a:buNone/>
            </a:pPr>
            <a:r>
              <a:rPr lang="en-US" sz="1200" i="1" dirty="0">
                <a:solidFill>
                  <a:srgbClr val="6E6573"/>
                </a:solidFill>
                <a:latin typeface="Calibri" pitchFamily="34" charset="0"/>
                <a:ea typeface="Calibri" pitchFamily="34" charset="-122"/>
                <a:cs typeface="Calibri" pitchFamily="34" charset="-120"/>
              </a:rPr>
              <a:t>A diferencia de las enfermedades autoinmunes clásicas, no hay autoanticuerpos: FR y ANA suelen ser negativos.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Modelo bifásico y ventana de oportunidad</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80160"/>
            <a:ext cx="3840480" cy="2148840"/>
          </a:xfrm>
          <a:prstGeom prst="roundRect">
            <a:avLst>
              <a:gd name="adj" fmla="val 3404"/>
            </a:avLst>
          </a:prstGeom>
          <a:solidFill>
            <a:srgbClr val="F7EEF1"/>
          </a:solidFill>
          <a:ln w="12700">
            <a:solidFill>
              <a:srgbClr val="F7EEF1"/>
            </a:solidFill>
            <a:prstDash val="solid"/>
          </a:ln>
        </p:spPr>
      </p:sp>
      <p:sp>
        <p:nvSpPr>
          <p:cNvPr id="6" name="Text 4"/>
          <p:cNvSpPr txBox="1"/>
          <p:nvPr/>
        </p:nvSpPr>
        <p:spPr>
          <a:xfrm>
            <a:off x="640080" y="1371600"/>
            <a:ext cx="3474720" cy="365760"/>
          </a:xfrm>
          <a:prstGeom prst="rect">
            <a:avLst/>
          </a:prstGeom>
          <a:noFill/>
          <a:ln/>
        </p:spPr>
        <p:txBody>
          <a:bodyPr wrap="square" lIns="0" tIns="0" rIns="0" bIns="0" rtlCol="0" anchor="t"/>
          <a:lstStyle/>
          <a:p>
            <a:pPr indent="0" marL="0">
              <a:buNone/>
            </a:pPr>
            <a:r>
              <a:rPr lang="en-US" sz="1600" b="1" dirty="0">
                <a:solidFill>
                  <a:srgbClr val="7A1F45"/>
                </a:solidFill>
                <a:latin typeface="Cambria" pitchFamily="34" charset="0"/>
                <a:ea typeface="Cambria" pitchFamily="34" charset="-122"/>
                <a:cs typeface="Cambria" pitchFamily="34" charset="-120"/>
              </a:rPr>
              <a:t>Fase sistémica temprana</a:t>
            </a:r>
            <a:endParaRPr lang="en-US" sz="1600" dirty="0"/>
          </a:p>
        </p:txBody>
      </p:sp>
      <p:sp>
        <p:nvSpPr>
          <p:cNvPr id="7" name="Text 5"/>
          <p:cNvSpPr txBox="1"/>
          <p:nvPr/>
        </p:nvSpPr>
        <p:spPr>
          <a:xfrm>
            <a:off x="640080" y="1828800"/>
            <a:ext cx="3520440" cy="15544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Autoinflamación: IL-1, IL-18, IL-6</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Fiebre, exantema, serositis, hiperferritinemia</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Máxima respuesta a inhibidores de IL-1/IL-6</a:t>
            </a:r>
            <a:endParaRPr lang="en-US" sz="1250" dirty="0"/>
          </a:p>
        </p:txBody>
      </p:sp>
      <p:sp>
        <p:nvSpPr>
          <p:cNvPr id="8" name="Shape 6"/>
          <p:cNvSpPr/>
          <p:nvPr/>
        </p:nvSpPr>
        <p:spPr>
          <a:xfrm>
            <a:off x="4343400" y="2350008"/>
            <a:ext cx="457200" cy="914"/>
          </a:xfrm>
          <a:prstGeom prst="line">
            <a:avLst/>
          </a:prstGeom>
          <a:noFill/>
          <a:ln w="38100">
            <a:solidFill>
              <a:srgbClr val="D9472F"/>
            </a:solidFill>
            <a:prstDash val="solid"/>
            <a:tailEnd type="triangle"/>
          </a:ln>
        </p:spPr>
      </p:sp>
      <p:sp>
        <p:nvSpPr>
          <p:cNvPr id="9" name="Shape 7"/>
          <p:cNvSpPr/>
          <p:nvPr/>
        </p:nvSpPr>
        <p:spPr>
          <a:xfrm>
            <a:off x="4846320" y="1280160"/>
            <a:ext cx="3840480" cy="2148840"/>
          </a:xfrm>
          <a:prstGeom prst="roundRect">
            <a:avLst>
              <a:gd name="adj" fmla="val 3404"/>
            </a:avLst>
          </a:prstGeom>
          <a:solidFill>
            <a:srgbClr val="FBE3DE"/>
          </a:solidFill>
          <a:ln w="12700">
            <a:solidFill>
              <a:srgbClr val="FBE3DE"/>
            </a:solidFill>
            <a:prstDash val="solid"/>
          </a:ln>
        </p:spPr>
      </p:sp>
      <p:sp>
        <p:nvSpPr>
          <p:cNvPr id="10" name="Text 8"/>
          <p:cNvSpPr txBox="1"/>
          <p:nvPr/>
        </p:nvSpPr>
        <p:spPr>
          <a:xfrm>
            <a:off x="5029200" y="1371600"/>
            <a:ext cx="3474720" cy="365760"/>
          </a:xfrm>
          <a:prstGeom prst="rect">
            <a:avLst/>
          </a:prstGeom>
          <a:noFill/>
          <a:ln/>
        </p:spPr>
        <p:txBody>
          <a:bodyPr wrap="square" lIns="0" tIns="0" rIns="0" bIns="0" rtlCol="0" anchor="t"/>
          <a:lstStyle/>
          <a:p>
            <a:pPr indent="0" marL="0">
              <a:buNone/>
            </a:pPr>
            <a:r>
              <a:rPr lang="en-US" sz="1600" b="1" dirty="0">
                <a:solidFill>
                  <a:srgbClr val="D9472F"/>
                </a:solidFill>
                <a:latin typeface="Cambria" pitchFamily="34" charset="0"/>
                <a:ea typeface="Cambria" pitchFamily="34" charset="-122"/>
                <a:cs typeface="Cambria" pitchFamily="34" charset="-120"/>
              </a:rPr>
              <a:t>Fase articular crónica</a:t>
            </a:r>
            <a:endParaRPr lang="en-US" sz="1600" dirty="0"/>
          </a:p>
        </p:txBody>
      </p:sp>
      <p:sp>
        <p:nvSpPr>
          <p:cNvPr id="11" name="Text 9"/>
          <p:cNvSpPr txBox="1"/>
          <p:nvPr/>
        </p:nvSpPr>
        <p:spPr>
          <a:xfrm>
            <a:off x="5029200" y="1828800"/>
            <a:ext cx="3520440" cy="15544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Mayor componente de inmunidad adaptativa</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Poliartritis persistente y daño articular</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Respuesta menor a los biológicos</a:t>
            </a:r>
            <a:endParaRPr lang="en-US" sz="1250" dirty="0"/>
          </a:p>
        </p:txBody>
      </p:sp>
      <p:sp>
        <p:nvSpPr>
          <p:cNvPr id="12" name="Shape 10"/>
          <p:cNvSpPr/>
          <p:nvPr/>
        </p:nvSpPr>
        <p:spPr>
          <a:xfrm>
            <a:off x="457200" y="3657600"/>
            <a:ext cx="822960" cy="822960"/>
          </a:xfrm>
          <a:prstGeom prst="ellipse">
            <a:avLst/>
          </a:prstGeom>
          <a:solidFill>
            <a:srgbClr val="1F7F79"/>
          </a:solidFill>
          <a:ln w="12700">
            <a:solidFill>
              <a:srgbClr val="1F7F79"/>
            </a:solidFill>
            <a:prstDash val="solid"/>
          </a:ln>
        </p:spPr>
      </p:sp>
      <p:pic>
        <p:nvPicPr>
          <p:cNvPr id="13" name="Image 0" descr="preencoded.png">    </p:cNvPr>
          <p:cNvPicPr>
            <a:picLocks noChangeAspect="1"/>
          </p:cNvPicPr>
          <p:nvPr/>
        </p:nvPicPr>
        <p:blipFill>
          <a:blip r:embed="rId1"/>
          <a:stretch>
            <a:fillRect/>
          </a:stretch>
        </p:blipFill>
        <p:spPr>
          <a:xfrm>
            <a:off x="662940" y="3863340"/>
            <a:ext cx="411480" cy="411480"/>
          </a:xfrm>
          <a:prstGeom prst="rect">
            <a:avLst/>
          </a:prstGeom>
        </p:spPr>
      </p:pic>
      <p:sp>
        <p:nvSpPr>
          <p:cNvPr id="14" name="Text 11"/>
          <p:cNvSpPr txBox="1"/>
          <p:nvPr/>
        </p:nvSpPr>
        <p:spPr>
          <a:xfrm>
            <a:off x="1463040" y="3611880"/>
            <a:ext cx="7223760" cy="960120"/>
          </a:xfrm>
          <a:prstGeom prst="rect">
            <a:avLst/>
          </a:prstGeom>
          <a:noFill/>
          <a:ln/>
        </p:spPr>
        <p:txBody>
          <a:bodyPr wrap="square" lIns="0" tIns="0" rIns="0" bIns="0" rtlCol="0" anchor="ctr"/>
          <a:lstStyle/>
          <a:p>
            <a:pPr indent="0" marL="0">
              <a:buNone/>
            </a:pPr>
            <a:r>
              <a:rPr lang="en-US" sz="1250" b="1" dirty="0">
                <a:solidFill>
                  <a:srgbClr val="1F7F79"/>
                </a:solidFill>
                <a:latin typeface="Calibri" pitchFamily="34" charset="0"/>
                <a:ea typeface="Calibri" pitchFamily="34" charset="-122"/>
                <a:cs typeface="Calibri" pitchFamily="34" charset="-120"/>
              </a:rPr>
              <a:t>Ventana de oportunidad: </a:t>
            </a:r>
            <a:pPr indent="0" marL="0">
              <a:buNone/>
            </a:pPr>
            <a:r>
              <a:rPr lang="en-US" sz="1250" dirty="0">
                <a:solidFill>
                  <a:srgbClr val="2B2330"/>
                </a:solidFill>
                <a:latin typeface="Calibri" pitchFamily="34" charset="0"/>
                <a:ea typeface="Calibri" pitchFamily="34" charset="-122"/>
                <a:cs typeface="Calibri" pitchFamily="34" charset="-120"/>
              </a:rPr>
              <a:t>tratar temprano con inhibidores de IL-1 o IL-6 podría evitar la evolución a artritis crónica y reducir la exposición a glucocorticoides. Es la base de la recomendación de usarlos precozmente (hipótesis con evidencia observacional).</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MANIFESTACIONES CLÍNICAS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La tríada clásica: fiebre, exantema y artritis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Revisiones de ESA: Semin Arthritis Rheum. 2021 · Front Immunol. 2022 · Front Med. 2022</a:t>
            </a:r>
            <a:endParaRPr lang="en-US" sz="850" dirty="0"/>
          </a:p>
        </p:txBody>
      </p:sp>
      <p:sp>
        <p:nvSpPr>
          <p:cNvPr id="5" name="Shape 3"/>
          <p:cNvSpPr/>
          <p:nvPr/>
        </p:nvSpPr>
        <p:spPr>
          <a:xfrm>
            <a:off x="457200" y="1280160"/>
            <a:ext cx="2615184" cy="1920240"/>
          </a:xfrm>
          <a:prstGeom prst="roundRect">
            <a:avLst>
              <a:gd name="adj" fmla="val 3810"/>
            </a:avLst>
          </a:prstGeom>
          <a:solidFill>
            <a:srgbClr val="F7EEF1"/>
          </a:solidFill>
          <a:ln w="12700">
            <a:solidFill>
              <a:srgbClr val="F7EEF1"/>
            </a:solidFill>
            <a:prstDash val="solid"/>
          </a:ln>
        </p:spPr>
      </p:sp>
      <p:sp>
        <p:nvSpPr>
          <p:cNvPr id="6" name="Shape 4"/>
          <p:cNvSpPr/>
          <p:nvPr/>
        </p:nvSpPr>
        <p:spPr>
          <a:xfrm>
            <a:off x="640080" y="1417320"/>
            <a:ext cx="566928" cy="566928"/>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81812" y="1559052"/>
            <a:ext cx="283464" cy="283464"/>
          </a:xfrm>
          <a:prstGeom prst="rect">
            <a:avLst/>
          </a:prstGeom>
        </p:spPr>
      </p:pic>
      <p:sp>
        <p:nvSpPr>
          <p:cNvPr id="8" name="Text 5"/>
          <p:cNvSpPr txBox="1"/>
          <p:nvPr/>
        </p:nvSpPr>
        <p:spPr>
          <a:xfrm>
            <a:off x="640080" y="2057400"/>
            <a:ext cx="2286000" cy="594360"/>
          </a:xfrm>
          <a:prstGeom prst="rect">
            <a:avLst/>
          </a:prstGeom>
          <a:noFill/>
          <a:ln/>
        </p:spPr>
        <p:txBody>
          <a:bodyPr wrap="square" lIns="0" tIns="0" rIns="0" bIns="0" rtlCol="0" anchor="ctr"/>
          <a:lstStyle/>
          <a:p>
            <a:pPr indent="0" marL="0">
              <a:buNone/>
            </a:pPr>
            <a:r>
              <a:rPr lang="en-US" sz="3000" b="1" dirty="0">
                <a:solidFill>
                  <a:srgbClr val="D9472F"/>
                </a:solidFill>
                <a:latin typeface="Cambria" pitchFamily="34" charset="0"/>
                <a:ea typeface="Cambria" pitchFamily="34" charset="-122"/>
                <a:cs typeface="Cambria" pitchFamily="34" charset="-120"/>
              </a:rPr>
              <a:t>60–100 %</a:t>
            </a:r>
            <a:endParaRPr lang="en-US" sz="3000" dirty="0"/>
          </a:p>
        </p:txBody>
      </p:sp>
      <p:sp>
        <p:nvSpPr>
          <p:cNvPr id="9" name="Text 6"/>
          <p:cNvSpPr txBox="1"/>
          <p:nvPr/>
        </p:nvSpPr>
        <p:spPr>
          <a:xfrm>
            <a:off x="640080" y="2651760"/>
            <a:ext cx="2286000" cy="457200"/>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Fiebre</a:t>
            </a:r>
            <a:endParaRPr lang="en-US" sz="1400" dirty="0"/>
          </a:p>
        </p:txBody>
      </p:sp>
      <p:sp>
        <p:nvSpPr>
          <p:cNvPr id="10" name="Shape 7"/>
          <p:cNvSpPr/>
          <p:nvPr/>
        </p:nvSpPr>
        <p:spPr>
          <a:xfrm>
            <a:off x="3264408" y="1280160"/>
            <a:ext cx="2615184" cy="1920240"/>
          </a:xfrm>
          <a:prstGeom prst="roundRect">
            <a:avLst>
              <a:gd name="adj" fmla="val 3810"/>
            </a:avLst>
          </a:prstGeom>
          <a:solidFill>
            <a:srgbClr val="F7EEF1"/>
          </a:solidFill>
          <a:ln w="12700">
            <a:solidFill>
              <a:srgbClr val="F7EEF1"/>
            </a:solidFill>
            <a:prstDash val="solid"/>
          </a:ln>
        </p:spPr>
      </p:sp>
      <p:sp>
        <p:nvSpPr>
          <p:cNvPr id="11" name="Shape 8"/>
          <p:cNvSpPr/>
          <p:nvPr/>
        </p:nvSpPr>
        <p:spPr>
          <a:xfrm>
            <a:off x="3447288" y="1417320"/>
            <a:ext cx="566928" cy="566928"/>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3589020" y="1559052"/>
            <a:ext cx="283464" cy="283464"/>
          </a:xfrm>
          <a:prstGeom prst="rect">
            <a:avLst/>
          </a:prstGeom>
        </p:spPr>
      </p:pic>
      <p:sp>
        <p:nvSpPr>
          <p:cNvPr id="13" name="Text 9"/>
          <p:cNvSpPr txBox="1"/>
          <p:nvPr/>
        </p:nvSpPr>
        <p:spPr>
          <a:xfrm>
            <a:off x="3447288" y="2057400"/>
            <a:ext cx="2286000" cy="594360"/>
          </a:xfrm>
          <a:prstGeom prst="rect">
            <a:avLst/>
          </a:prstGeom>
          <a:noFill/>
          <a:ln/>
        </p:spPr>
        <p:txBody>
          <a:bodyPr wrap="square" lIns="0" tIns="0" rIns="0" bIns="0" rtlCol="0" anchor="ctr"/>
          <a:lstStyle/>
          <a:p>
            <a:pPr indent="0" marL="0">
              <a:buNone/>
            </a:pPr>
            <a:r>
              <a:rPr lang="en-US" sz="3000" b="1" dirty="0">
                <a:solidFill>
                  <a:srgbClr val="7A1F45"/>
                </a:solidFill>
                <a:latin typeface="Cambria" pitchFamily="34" charset="0"/>
                <a:ea typeface="Cambria" pitchFamily="34" charset="-122"/>
                <a:cs typeface="Cambria" pitchFamily="34" charset="-120"/>
              </a:rPr>
              <a:t>70–100 %</a:t>
            </a:r>
            <a:endParaRPr lang="en-US" sz="3000" dirty="0"/>
          </a:p>
        </p:txBody>
      </p:sp>
      <p:sp>
        <p:nvSpPr>
          <p:cNvPr id="14" name="Text 10"/>
          <p:cNvSpPr txBox="1"/>
          <p:nvPr/>
        </p:nvSpPr>
        <p:spPr>
          <a:xfrm>
            <a:off x="3447288" y="2651760"/>
            <a:ext cx="2286000" cy="457200"/>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Artritis o artralgias</a:t>
            </a:r>
            <a:endParaRPr lang="en-US" sz="1400" dirty="0"/>
          </a:p>
        </p:txBody>
      </p:sp>
      <p:sp>
        <p:nvSpPr>
          <p:cNvPr id="15" name="Shape 11"/>
          <p:cNvSpPr/>
          <p:nvPr/>
        </p:nvSpPr>
        <p:spPr>
          <a:xfrm>
            <a:off x="6071616" y="1280160"/>
            <a:ext cx="2615184" cy="1920240"/>
          </a:xfrm>
          <a:prstGeom prst="roundRect">
            <a:avLst>
              <a:gd name="adj" fmla="val 3810"/>
            </a:avLst>
          </a:prstGeom>
          <a:solidFill>
            <a:srgbClr val="F7EEF1"/>
          </a:solidFill>
          <a:ln w="12700">
            <a:solidFill>
              <a:srgbClr val="F7EEF1"/>
            </a:solidFill>
            <a:prstDash val="solid"/>
          </a:ln>
        </p:spPr>
      </p:sp>
      <p:sp>
        <p:nvSpPr>
          <p:cNvPr id="16" name="Shape 12"/>
          <p:cNvSpPr/>
          <p:nvPr/>
        </p:nvSpPr>
        <p:spPr>
          <a:xfrm>
            <a:off x="6254496" y="1417320"/>
            <a:ext cx="566928" cy="566928"/>
          </a:xfrm>
          <a:prstGeom prst="ellipse">
            <a:avLst/>
          </a:prstGeom>
          <a:solidFill>
            <a:srgbClr val="A2456A"/>
          </a:solidFill>
          <a:ln w="12700">
            <a:solidFill>
              <a:srgbClr val="A2456A"/>
            </a:solidFill>
            <a:prstDash val="solid"/>
          </a:ln>
        </p:spPr>
      </p:sp>
      <p:pic>
        <p:nvPicPr>
          <p:cNvPr id="17" name="Image 2" descr="preencoded.png">    </p:cNvPr>
          <p:cNvPicPr>
            <a:picLocks noChangeAspect="1"/>
          </p:cNvPicPr>
          <p:nvPr/>
        </p:nvPicPr>
        <p:blipFill>
          <a:blip r:embed="rId3"/>
          <a:stretch>
            <a:fillRect/>
          </a:stretch>
        </p:blipFill>
        <p:spPr>
          <a:xfrm>
            <a:off x="6396228" y="1559052"/>
            <a:ext cx="283464" cy="283464"/>
          </a:xfrm>
          <a:prstGeom prst="rect">
            <a:avLst/>
          </a:prstGeom>
        </p:spPr>
      </p:pic>
      <p:sp>
        <p:nvSpPr>
          <p:cNvPr id="18" name="Text 13"/>
          <p:cNvSpPr txBox="1"/>
          <p:nvPr/>
        </p:nvSpPr>
        <p:spPr>
          <a:xfrm>
            <a:off x="6254496" y="2057400"/>
            <a:ext cx="2286000" cy="594360"/>
          </a:xfrm>
          <a:prstGeom prst="rect">
            <a:avLst/>
          </a:prstGeom>
          <a:noFill/>
          <a:ln/>
        </p:spPr>
        <p:txBody>
          <a:bodyPr wrap="square" lIns="0" tIns="0" rIns="0" bIns="0" rtlCol="0" anchor="ctr"/>
          <a:lstStyle/>
          <a:p>
            <a:pPr indent="0" marL="0">
              <a:buNone/>
            </a:pPr>
            <a:r>
              <a:rPr lang="en-US" sz="3000" b="1" dirty="0">
                <a:solidFill>
                  <a:srgbClr val="A2456A"/>
                </a:solidFill>
                <a:latin typeface="Cambria" pitchFamily="34" charset="0"/>
                <a:ea typeface="Cambria" pitchFamily="34" charset="-122"/>
                <a:cs typeface="Cambria" pitchFamily="34" charset="-120"/>
              </a:rPr>
              <a:t>60–80 %</a:t>
            </a:r>
            <a:endParaRPr lang="en-US" sz="3000" dirty="0"/>
          </a:p>
        </p:txBody>
      </p:sp>
      <p:sp>
        <p:nvSpPr>
          <p:cNvPr id="19" name="Text 14"/>
          <p:cNvSpPr txBox="1"/>
          <p:nvPr/>
        </p:nvSpPr>
        <p:spPr>
          <a:xfrm>
            <a:off x="6254496" y="2651760"/>
            <a:ext cx="2286000" cy="457200"/>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Exantema asalmonado</a:t>
            </a:r>
            <a:endParaRPr lang="en-US" sz="1400" dirty="0"/>
          </a:p>
        </p:txBody>
      </p:sp>
      <p:sp>
        <p:nvSpPr>
          <p:cNvPr id="20" name="Text 15"/>
          <p:cNvSpPr txBox="1"/>
          <p:nvPr/>
        </p:nvSpPr>
        <p:spPr>
          <a:xfrm>
            <a:off x="457200" y="3383280"/>
            <a:ext cx="82296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Otras manifestaciones frecuentes</a:t>
            </a:r>
            <a:endParaRPr lang="en-US" sz="1500" dirty="0"/>
          </a:p>
        </p:txBody>
      </p:sp>
      <p:sp>
        <p:nvSpPr>
          <p:cNvPr id="21" name="Shape 16"/>
          <p:cNvSpPr/>
          <p:nvPr/>
        </p:nvSpPr>
        <p:spPr>
          <a:xfrm>
            <a:off x="457200" y="3794760"/>
            <a:ext cx="1298448" cy="548640"/>
          </a:xfrm>
          <a:prstGeom prst="roundRect">
            <a:avLst>
              <a:gd name="adj" fmla="val 50000"/>
            </a:avLst>
          </a:prstGeom>
          <a:solidFill>
            <a:srgbClr val="F3F1F4"/>
          </a:solidFill>
          <a:ln w="12700">
            <a:solidFill>
              <a:srgbClr val="D9CCD2"/>
            </a:solidFill>
            <a:prstDash val="solid"/>
          </a:ln>
        </p:spPr>
      </p:sp>
      <p:sp>
        <p:nvSpPr>
          <p:cNvPr id="22" name="Text 17"/>
          <p:cNvSpPr txBox="1"/>
          <p:nvPr/>
        </p:nvSpPr>
        <p:spPr>
          <a:xfrm>
            <a:off x="457200"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Odinofagia</a:t>
            </a:r>
            <a:endParaRPr lang="en-US" sz="1100" dirty="0"/>
          </a:p>
        </p:txBody>
      </p:sp>
      <p:sp>
        <p:nvSpPr>
          <p:cNvPr id="23" name="Shape 18"/>
          <p:cNvSpPr/>
          <p:nvPr/>
        </p:nvSpPr>
        <p:spPr>
          <a:xfrm>
            <a:off x="1847088" y="3794760"/>
            <a:ext cx="1298448" cy="548640"/>
          </a:xfrm>
          <a:prstGeom prst="roundRect">
            <a:avLst>
              <a:gd name="adj" fmla="val 50000"/>
            </a:avLst>
          </a:prstGeom>
          <a:solidFill>
            <a:srgbClr val="F3F1F4"/>
          </a:solidFill>
          <a:ln w="12700">
            <a:solidFill>
              <a:srgbClr val="D9CCD2"/>
            </a:solidFill>
            <a:prstDash val="solid"/>
          </a:ln>
        </p:spPr>
      </p:sp>
      <p:sp>
        <p:nvSpPr>
          <p:cNvPr id="24" name="Text 19"/>
          <p:cNvSpPr txBox="1"/>
          <p:nvPr/>
        </p:nvSpPr>
        <p:spPr>
          <a:xfrm>
            <a:off x="1847088"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Mialgias</a:t>
            </a:r>
            <a:endParaRPr lang="en-US" sz="1100" dirty="0"/>
          </a:p>
        </p:txBody>
      </p:sp>
      <p:sp>
        <p:nvSpPr>
          <p:cNvPr id="25" name="Shape 20"/>
          <p:cNvSpPr/>
          <p:nvPr/>
        </p:nvSpPr>
        <p:spPr>
          <a:xfrm>
            <a:off x="3236976" y="3794760"/>
            <a:ext cx="1298448" cy="548640"/>
          </a:xfrm>
          <a:prstGeom prst="roundRect">
            <a:avLst>
              <a:gd name="adj" fmla="val 50000"/>
            </a:avLst>
          </a:prstGeom>
          <a:solidFill>
            <a:srgbClr val="F3F1F4"/>
          </a:solidFill>
          <a:ln w="12700">
            <a:solidFill>
              <a:srgbClr val="D9CCD2"/>
            </a:solidFill>
            <a:prstDash val="solid"/>
          </a:ln>
        </p:spPr>
      </p:sp>
      <p:sp>
        <p:nvSpPr>
          <p:cNvPr id="26" name="Text 21"/>
          <p:cNvSpPr txBox="1"/>
          <p:nvPr/>
        </p:nvSpPr>
        <p:spPr>
          <a:xfrm>
            <a:off x="3236976"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Linfadenopatías</a:t>
            </a:r>
            <a:endParaRPr lang="en-US" sz="1100" dirty="0"/>
          </a:p>
        </p:txBody>
      </p:sp>
      <p:sp>
        <p:nvSpPr>
          <p:cNvPr id="27" name="Shape 22"/>
          <p:cNvSpPr/>
          <p:nvPr/>
        </p:nvSpPr>
        <p:spPr>
          <a:xfrm>
            <a:off x="4626864" y="3794760"/>
            <a:ext cx="1298448" cy="548640"/>
          </a:xfrm>
          <a:prstGeom prst="roundRect">
            <a:avLst>
              <a:gd name="adj" fmla="val 50000"/>
            </a:avLst>
          </a:prstGeom>
          <a:solidFill>
            <a:srgbClr val="F3F1F4"/>
          </a:solidFill>
          <a:ln w="12700">
            <a:solidFill>
              <a:srgbClr val="D9CCD2"/>
            </a:solidFill>
            <a:prstDash val="solid"/>
          </a:ln>
        </p:spPr>
      </p:sp>
      <p:sp>
        <p:nvSpPr>
          <p:cNvPr id="28" name="Text 23"/>
          <p:cNvSpPr txBox="1"/>
          <p:nvPr/>
        </p:nvSpPr>
        <p:spPr>
          <a:xfrm>
            <a:off x="4626864"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Hepato-esplenomegalia</a:t>
            </a:r>
            <a:endParaRPr lang="en-US" sz="1100" dirty="0"/>
          </a:p>
        </p:txBody>
      </p:sp>
      <p:sp>
        <p:nvSpPr>
          <p:cNvPr id="29" name="Shape 24"/>
          <p:cNvSpPr/>
          <p:nvPr/>
        </p:nvSpPr>
        <p:spPr>
          <a:xfrm>
            <a:off x="6016752" y="3794760"/>
            <a:ext cx="1298448" cy="548640"/>
          </a:xfrm>
          <a:prstGeom prst="roundRect">
            <a:avLst>
              <a:gd name="adj" fmla="val 50000"/>
            </a:avLst>
          </a:prstGeom>
          <a:solidFill>
            <a:srgbClr val="F3F1F4"/>
          </a:solidFill>
          <a:ln w="12700">
            <a:solidFill>
              <a:srgbClr val="D9CCD2"/>
            </a:solidFill>
            <a:prstDash val="solid"/>
          </a:ln>
        </p:spPr>
      </p:sp>
      <p:sp>
        <p:nvSpPr>
          <p:cNvPr id="30" name="Text 25"/>
          <p:cNvSpPr txBox="1"/>
          <p:nvPr/>
        </p:nvSpPr>
        <p:spPr>
          <a:xfrm>
            <a:off x="6016752"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Serositis</a:t>
            </a:r>
            <a:endParaRPr lang="en-US" sz="1100" dirty="0"/>
          </a:p>
        </p:txBody>
      </p:sp>
      <p:sp>
        <p:nvSpPr>
          <p:cNvPr id="31" name="Shape 26"/>
          <p:cNvSpPr/>
          <p:nvPr/>
        </p:nvSpPr>
        <p:spPr>
          <a:xfrm>
            <a:off x="7406640" y="3794760"/>
            <a:ext cx="1298448" cy="548640"/>
          </a:xfrm>
          <a:prstGeom prst="roundRect">
            <a:avLst>
              <a:gd name="adj" fmla="val 50000"/>
            </a:avLst>
          </a:prstGeom>
          <a:solidFill>
            <a:srgbClr val="F3F1F4"/>
          </a:solidFill>
          <a:ln w="12700">
            <a:solidFill>
              <a:srgbClr val="D9CCD2"/>
            </a:solidFill>
            <a:prstDash val="solid"/>
          </a:ln>
        </p:spPr>
      </p:sp>
      <p:sp>
        <p:nvSpPr>
          <p:cNvPr id="32" name="Text 27"/>
          <p:cNvSpPr txBox="1"/>
          <p:nvPr/>
        </p:nvSpPr>
        <p:spPr>
          <a:xfrm>
            <a:off x="7406640" y="3794760"/>
            <a:ext cx="1298448" cy="548640"/>
          </a:xfrm>
          <a:prstGeom prst="rect">
            <a:avLst/>
          </a:prstGeom>
          <a:noFill/>
          <a:ln/>
        </p:spPr>
        <p:txBody>
          <a:bodyPr wrap="square" lIns="0" tIns="0" rIns="0" bIns="0" rtlCol="0" anchor="ctr"/>
          <a:lstStyle/>
          <a:p>
            <a:pPr algn="ctr" indent="0" marL="0">
              <a:buNone/>
            </a:pPr>
            <a:r>
              <a:rPr lang="en-US" sz="1100" b="1" dirty="0">
                <a:solidFill>
                  <a:srgbClr val="7A1F45"/>
                </a:solidFill>
                <a:latin typeface="Calibri" pitchFamily="34" charset="0"/>
                <a:ea typeface="Calibri" pitchFamily="34" charset="-122"/>
                <a:cs typeface="Calibri" pitchFamily="34" charset="-120"/>
              </a:rPr>
              <a:t>Pérdida de peso</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MANIFESTACIONES CLÍNICAS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Fiebre en picos y exantema evanescente</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80160"/>
            <a:ext cx="3977640" cy="3383280"/>
          </a:xfrm>
          <a:prstGeom prst="roundRect">
            <a:avLst>
              <a:gd name="adj" fmla="val 2162"/>
            </a:avLst>
          </a:prstGeom>
          <a:solidFill>
            <a:srgbClr val="FBE3DE"/>
          </a:solidFill>
          <a:ln w="12700">
            <a:solidFill>
              <a:srgbClr val="FBE3DE"/>
            </a:solidFill>
            <a:prstDash val="solid"/>
          </a:ln>
        </p:spPr>
      </p:sp>
      <p:sp>
        <p:nvSpPr>
          <p:cNvPr id="6" name="Shape 4"/>
          <p:cNvSpPr/>
          <p:nvPr/>
        </p:nvSpPr>
        <p:spPr>
          <a:xfrm>
            <a:off x="640080" y="1463040"/>
            <a:ext cx="594360" cy="59436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88670" y="1611630"/>
            <a:ext cx="297180" cy="297180"/>
          </a:xfrm>
          <a:prstGeom prst="rect">
            <a:avLst/>
          </a:prstGeom>
        </p:spPr>
      </p:pic>
      <p:sp>
        <p:nvSpPr>
          <p:cNvPr id="8" name="Text 5"/>
          <p:cNvSpPr txBox="1"/>
          <p:nvPr/>
        </p:nvSpPr>
        <p:spPr>
          <a:xfrm>
            <a:off x="1371600" y="1463040"/>
            <a:ext cx="2926080" cy="594360"/>
          </a:xfrm>
          <a:prstGeom prst="rect">
            <a:avLst/>
          </a:prstGeom>
          <a:noFill/>
          <a:ln/>
        </p:spPr>
        <p:txBody>
          <a:bodyPr wrap="square" lIns="0" tIns="0" rIns="0" bIns="0" rtlCol="0" anchor="ctr"/>
          <a:lstStyle/>
          <a:p>
            <a:pPr indent="0" marL="0">
              <a:buNone/>
            </a:pPr>
            <a:r>
              <a:rPr lang="en-US" sz="1800" b="1" dirty="0">
                <a:solidFill>
                  <a:srgbClr val="2A1433"/>
                </a:solidFill>
                <a:latin typeface="Cambria" pitchFamily="34" charset="0"/>
                <a:ea typeface="Cambria" pitchFamily="34" charset="-122"/>
                <a:cs typeface="Cambria" pitchFamily="34" charset="-120"/>
              </a:rPr>
              <a:t>Fiebre</a:t>
            </a:r>
            <a:endParaRPr lang="en-US" sz="1800" dirty="0"/>
          </a:p>
        </p:txBody>
      </p:sp>
      <p:sp>
        <p:nvSpPr>
          <p:cNvPr id="9" name="Text 6"/>
          <p:cNvSpPr txBox="1"/>
          <p:nvPr/>
        </p:nvSpPr>
        <p:spPr>
          <a:xfrm>
            <a:off x="640080" y="2194560"/>
            <a:ext cx="3657600" cy="237744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En picos (cotidiana): </a:t>
            </a:r>
            <a:pPr indent="0" marL="0">
              <a:buNone/>
            </a:pPr>
            <a:r>
              <a:rPr lang="en-US" sz="1250" dirty="0">
                <a:solidFill>
                  <a:srgbClr val="2B2330"/>
                </a:solidFill>
                <a:latin typeface="Calibri" pitchFamily="34" charset="0"/>
                <a:ea typeface="Calibri" pitchFamily="34" charset="-122"/>
                <a:cs typeface="Calibri" pitchFamily="34" charset="-120"/>
              </a:rPr>
              <a:t>≥ 39 °C, 1–2 veces al día, con regreso a la normalidad entre picos</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Duración: </a:t>
            </a:r>
            <a:pPr indent="0" marL="0">
              <a:buNone/>
            </a:pPr>
            <a:r>
              <a:rPr lang="en-US" sz="1250" dirty="0">
                <a:solidFill>
                  <a:srgbClr val="2B2330"/>
                </a:solidFill>
                <a:latin typeface="Calibri" pitchFamily="34" charset="0"/>
                <a:ea typeface="Calibri" pitchFamily="34" charset="-122"/>
                <a:cs typeface="Calibri" pitchFamily="34" charset="-120"/>
              </a:rPr>
              <a:t>típicamente ≥ 7 días</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Suele acompañarse </a:t>
            </a:r>
            <a:pPr indent="0" marL="0">
              <a:buNone/>
            </a:pPr>
            <a:r>
              <a:rPr lang="en-US" sz="1250" dirty="0">
                <a:solidFill>
                  <a:srgbClr val="2B2330"/>
                </a:solidFill>
                <a:latin typeface="Calibri" pitchFamily="34" charset="0"/>
                <a:ea typeface="Calibri" pitchFamily="34" charset="-122"/>
                <a:cs typeface="Calibri" pitchFamily="34" charset="-120"/>
              </a:rPr>
              <a:t>del exantema y de artralgias durante el pico</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Causa frecuente </a:t>
            </a:r>
            <a:pPr indent="0" marL="0">
              <a:buNone/>
            </a:pPr>
            <a:r>
              <a:rPr lang="en-US" sz="1250" dirty="0">
                <a:solidFill>
                  <a:srgbClr val="2B2330"/>
                </a:solidFill>
                <a:latin typeface="Calibri" pitchFamily="34" charset="0"/>
                <a:ea typeface="Calibri" pitchFamily="34" charset="-122"/>
                <a:cs typeface="Calibri" pitchFamily="34" charset="-120"/>
              </a:rPr>
              <a:t>de fiebre de origen desconocido</a:t>
            </a:r>
            <a:endParaRPr lang="en-US" sz="1250" dirty="0"/>
          </a:p>
        </p:txBody>
      </p:sp>
      <p:sp>
        <p:nvSpPr>
          <p:cNvPr id="10" name="Shape 7"/>
          <p:cNvSpPr/>
          <p:nvPr/>
        </p:nvSpPr>
        <p:spPr>
          <a:xfrm>
            <a:off x="4709160" y="1280160"/>
            <a:ext cx="3977640" cy="3383280"/>
          </a:xfrm>
          <a:prstGeom prst="roundRect">
            <a:avLst>
              <a:gd name="adj" fmla="val 2162"/>
            </a:avLst>
          </a:prstGeom>
          <a:solidFill>
            <a:srgbClr val="F7EEF1"/>
          </a:solidFill>
          <a:ln w="12700">
            <a:solidFill>
              <a:srgbClr val="F7EEF1"/>
            </a:solidFill>
            <a:prstDash val="solid"/>
          </a:ln>
        </p:spPr>
      </p:sp>
      <p:sp>
        <p:nvSpPr>
          <p:cNvPr id="11" name="Shape 8"/>
          <p:cNvSpPr/>
          <p:nvPr/>
        </p:nvSpPr>
        <p:spPr>
          <a:xfrm>
            <a:off x="4892040" y="1463040"/>
            <a:ext cx="594360" cy="594360"/>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5040630" y="1611630"/>
            <a:ext cx="297180" cy="297180"/>
          </a:xfrm>
          <a:prstGeom prst="rect">
            <a:avLst/>
          </a:prstGeom>
        </p:spPr>
      </p:pic>
      <p:sp>
        <p:nvSpPr>
          <p:cNvPr id="13" name="Text 9"/>
          <p:cNvSpPr txBox="1"/>
          <p:nvPr/>
        </p:nvSpPr>
        <p:spPr>
          <a:xfrm>
            <a:off x="5623560" y="1463040"/>
            <a:ext cx="2926080" cy="594360"/>
          </a:xfrm>
          <a:prstGeom prst="rect">
            <a:avLst/>
          </a:prstGeom>
          <a:noFill/>
          <a:ln/>
        </p:spPr>
        <p:txBody>
          <a:bodyPr wrap="square" lIns="0" tIns="0" rIns="0" bIns="0" rtlCol="0" anchor="ctr"/>
          <a:lstStyle/>
          <a:p>
            <a:pPr indent="0" marL="0">
              <a:buNone/>
            </a:pPr>
            <a:r>
              <a:rPr lang="en-US" sz="1800" b="1" dirty="0">
                <a:solidFill>
                  <a:srgbClr val="2A1433"/>
                </a:solidFill>
                <a:latin typeface="Cambria" pitchFamily="34" charset="0"/>
                <a:ea typeface="Cambria" pitchFamily="34" charset="-122"/>
                <a:cs typeface="Cambria" pitchFamily="34" charset="-120"/>
              </a:rPr>
              <a:t>Exantema</a:t>
            </a:r>
            <a:endParaRPr lang="en-US" sz="1800" dirty="0"/>
          </a:p>
        </p:txBody>
      </p:sp>
      <p:sp>
        <p:nvSpPr>
          <p:cNvPr id="14" name="Text 10"/>
          <p:cNvSpPr txBox="1"/>
          <p:nvPr/>
        </p:nvSpPr>
        <p:spPr>
          <a:xfrm>
            <a:off x="4892040" y="2194560"/>
            <a:ext cx="3657600" cy="237744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Típico: </a:t>
            </a:r>
            <a:pPr indent="0" marL="0">
              <a:buNone/>
            </a:pPr>
            <a:r>
              <a:rPr lang="en-US" sz="1250" dirty="0">
                <a:solidFill>
                  <a:srgbClr val="2B2330"/>
                </a:solidFill>
                <a:latin typeface="Calibri" pitchFamily="34" charset="0"/>
                <a:ea typeface="Calibri" pitchFamily="34" charset="-122"/>
                <a:cs typeface="Calibri" pitchFamily="34" charset="-120"/>
              </a:rPr>
              <a:t>maculopapular, color salmón, evanescente, con la fiebre</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Localización: </a:t>
            </a:r>
            <a:pPr indent="0" marL="0">
              <a:buNone/>
            </a:pPr>
            <a:r>
              <a:rPr lang="en-US" sz="1250" dirty="0">
                <a:solidFill>
                  <a:srgbClr val="2B2330"/>
                </a:solidFill>
                <a:latin typeface="Calibri" pitchFamily="34" charset="0"/>
                <a:ea typeface="Calibri" pitchFamily="34" charset="-122"/>
                <a:cs typeface="Calibri" pitchFamily="34" charset="-120"/>
              </a:rPr>
              <a:t>tronco y raíz de extremidades; poco o nada pruriginoso</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Fenómeno de Koebner </a:t>
            </a:r>
            <a:pPr indent="0" marL="0">
              <a:buNone/>
            </a:pPr>
            <a:r>
              <a:rPr lang="en-US" sz="1250" dirty="0">
                <a:solidFill>
                  <a:srgbClr val="2B2330"/>
                </a:solidFill>
                <a:latin typeface="Calibri" pitchFamily="34" charset="0"/>
                <a:ea typeface="Calibri" pitchFamily="34" charset="-122"/>
                <a:cs typeface="Calibri" pitchFamily="34" charset="-120"/>
              </a:rPr>
              <a:t>en zonas de roce</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Atípico: </a:t>
            </a:r>
            <a:pPr indent="0" marL="0">
              <a:buNone/>
            </a:pPr>
            <a:r>
              <a:rPr lang="en-US" sz="1250" dirty="0">
                <a:solidFill>
                  <a:srgbClr val="2B2330"/>
                </a:solidFill>
                <a:latin typeface="Calibri" pitchFamily="34" charset="0"/>
                <a:ea typeface="Calibri" pitchFamily="34" charset="-122"/>
                <a:cs typeface="Calibri" pitchFamily="34" charset="-120"/>
              </a:rPr>
              <a:t>pápulas y placas persistentes y pruriginosas (tipo dermatomiositis)</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MANIFESTACIONES CLÍNICAS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Articulaciones y otros órganos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Revisiones de ESA: Semin Arthritis Rheum. 2021 · Front Immunol. 2022 · Front Med. 2022</a:t>
            </a:r>
            <a:endParaRPr lang="en-US" sz="850" dirty="0"/>
          </a:p>
        </p:txBody>
      </p:sp>
      <p:sp>
        <p:nvSpPr>
          <p:cNvPr id="5" name="Shape 3"/>
          <p:cNvSpPr/>
          <p:nvPr/>
        </p:nvSpPr>
        <p:spPr>
          <a:xfrm>
            <a:off x="457200" y="1234440"/>
            <a:ext cx="4023360" cy="1005840"/>
          </a:xfrm>
          <a:prstGeom prst="roundRect">
            <a:avLst>
              <a:gd name="adj" fmla="val 7273"/>
            </a:avLst>
          </a:prstGeom>
          <a:solidFill>
            <a:srgbClr val="F7EEF1"/>
          </a:solidFill>
          <a:ln w="12700">
            <a:solidFill>
              <a:srgbClr val="F7EEF1"/>
            </a:solidFill>
            <a:prstDash val="solid"/>
          </a:ln>
        </p:spPr>
      </p:sp>
      <p:sp>
        <p:nvSpPr>
          <p:cNvPr id="6" name="Shape 4"/>
          <p:cNvSpPr/>
          <p:nvPr/>
        </p:nvSpPr>
        <p:spPr>
          <a:xfrm>
            <a:off x="594360" y="1435608"/>
            <a:ext cx="566928" cy="566928"/>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36092" y="1577340"/>
            <a:ext cx="283464" cy="283464"/>
          </a:xfrm>
          <a:prstGeom prst="rect">
            <a:avLst/>
          </a:prstGeom>
        </p:spPr>
      </p:pic>
      <p:sp>
        <p:nvSpPr>
          <p:cNvPr id="8" name="Text 5"/>
          <p:cNvSpPr txBox="1"/>
          <p:nvPr/>
        </p:nvSpPr>
        <p:spPr>
          <a:xfrm>
            <a:off x="1325880" y="1307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Articular</a:t>
            </a:r>
            <a:endParaRPr lang="en-US" sz="1300" dirty="0"/>
          </a:p>
        </p:txBody>
      </p:sp>
      <p:sp>
        <p:nvSpPr>
          <p:cNvPr id="9" name="Text 6"/>
          <p:cNvSpPr txBox="1"/>
          <p:nvPr/>
        </p:nvSpPr>
        <p:spPr>
          <a:xfrm>
            <a:off x="1325880" y="1581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Artralgias o artritis de muñecas, rodillas y tobillos; puede aparecer tarde. Anquilosis carpiana en formas crónicas.</a:t>
            </a:r>
            <a:endParaRPr lang="en-US" sz="1050" dirty="0"/>
          </a:p>
        </p:txBody>
      </p:sp>
      <p:sp>
        <p:nvSpPr>
          <p:cNvPr id="10" name="Shape 7"/>
          <p:cNvSpPr/>
          <p:nvPr/>
        </p:nvSpPr>
        <p:spPr>
          <a:xfrm>
            <a:off x="4663440" y="1234440"/>
            <a:ext cx="4023360" cy="1005840"/>
          </a:xfrm>
          <a:prstGeom prst="roundRect">
            <a:avLst>
              <a:gd name="adj" fmla="val 7273"/>
            </a:avLst>
          </a:prstGeom>
          <a:solidFill>
            <a:srgbClr val="F7EEF1"/>
          </a:solidFill>
          <a:ln w="12700">
            <a:solidFill>
              <a:srgbClr val="F7EEF1"/>
            </a:solidFill>
            <a:prstDash val="solid"/>
          </a:ln>
        </p:spPr>
      </p:sp>
      <p:sp>
        <p:nvSpPr>
          <p:cNvPr id="11" name="Shape 8"/>
          <p:cNvSpPr/>
          <p:nvPr/>
        </p:nvSpPr>
        <p:spPr>
          <a:xfrm>
            <a:off x="4800600" y="1435608"/>
            <a:ext cx="566928" cy="566928"/>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4942332" y="1577340"/>
            <a:ext cx="283464" cy="283464"/>
          </a:xfrm>
          <a:prstGeom prst="rect">
            <a:avLst/>
          </a:prstGeom>
        </p:spPr>
      </p:pic>
      <p:sp>
        <p:nvSpPr>
          <p:cNvPr id="13" name="Text 9"/>
          <p:cNvSpPr txBox="1"/>
          <p:nvPr/>
        </p:nvSpPr>
        <p:spPr>
          <a:xfrm>
            <a:off x="5532120" y="1307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Odinofagia</a:t>
            </a:r>
            <a:endParaRPr lang="en-US" sz="1300" dirty="0"/>
          </a:p>
        </p:txBody>
      </p:sp>
      <p:sp>
        <p:nvSpPr>
          <p:cNvPr id="14" name="Text 10"/>
          <p:cNvSpPr txBox="1"/>
          <p:nvPr/>
        </p:nvSpPr>
        <p:spPr>
          <a:xfrm>
            <a:off x="5532120" y="1581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Faringitis no exudativa con cultivos negativos; con frecuencia precede a la fiebre.</a:t>
            </a:r>
            <a:endParaRPr lang="en-US" sz="1050" dirty="0"/>
          </a:p>
        </p:txBody>
      </p:sp>
      <p:sp>
        <p:nvSpPr>
          <p:cNvPr id="15" name="Shape 11"/>
          <p:cNvSpPr/>
          <p:nvPr/>
        </p:nvSpPr>
        <p:spPr>
          <a:xfrm>
            <a:off x="457200" y="2377440"/>
            <a:ext cx="4023360" cy="1005840"/>
          </a:xfrm>
          <a:prstGeom prst="roundRect">
            <a:avLst>
              <a:gd name="adj" fmla="val 7273"/>
            </a:avLst>
          </a:prstGeom>
          <a:solidFill>
            <a:srgbClr val="F7EEF1"/>
          </a:solidFill>
          <a:ln w="12700">
            <a:solidFill>
              <a:srgbClr val="F7EEF1"/>
            </a:solidFill>
            <a:prstDash val="solid"/>
          </a:ln>
        </p:spPr>
      </p:sp>
      <p:sp>
        <p:nvSpPr>
          <p:cNvPr id="16" name="Shape 12"/>
          <p:cNvSpPr/>
          <p:nvPr/>
        </p:nvSpPr>
        <p:spPr>
          <a:xfrm>
            <a:off x="594360" y="2578608"/>
            <a:ext cx="566928" cy="566928"/>
          </a:xfrm>
          <a:prstGeom prst="ellipse">
            <a:avLst/>
          </a:prstGeom>
          <a:solidFill>
            <a:srgbClr val="7A1F45"/>
          </a:solidFill>
          <a:ln w="12700">
            <a:solidFill>
              <a:srgbClr val="7A1F45"/>
            </a:solidFill>
            <a:prstDash val="solid"/>
          </a:ln>
        </p:spPr>
      </p:sp>
      <p:pic>
        <p:nvPicPr>
          <p:cNvPr id="17" name="Image 2" descr="preencoded.png">    </p:cNvPr>
          <p:cNvPicPr>
            <a:picLocks noChangeAspect="1"/>
          </p:cNvPicPr>
          <p:nvPr/>
        </p:nvPicPr>
        <p:blipFill>
          <a:blip r:embed="rId3"/>
          <a:stretch>
            <a:fillRect/>
          </a:stretch>
        </p:blipFill>
        <p:spPr>
          <a:xfrm>
            <a:off x="736092" y="2720340"/>
            <a:ext cx="283464" cy="283464"/>
          </a:xfrm>
          <a:prstGeom prst="rect">
            <a:avLst/>
          </a:prstGeom>
        </p:spPr>
      </p:pic>
      <p:sp>
        <p:nvSpPr>
          <p:cNvPr id="18" name="Text 13"/>
          <p:cNvSpPr txBox="1"/>
          <p:nvPr/>
        </p:nvSpPr>
        <p:spPr>
          <a:xfrm>
            <a:off x="1325880" y="2450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Sistema reticuloendotelial</a:t>
            </a:r>
            <a:endParaRPr lang="en-US" sz="1300" dirty="0"/>
          </a:p>
        </p:txBody>
      </p:sp>
      <p:sp>
        <p:nvSpPr>
          <p:cNvPr id="19" name="Text 14"/>
          <p:cNvSpPr txBox="1"/>
          <p:nvPr/>
        </p:nvSpPr>
        <p:spPr>
          <a:xfrm>
            <a:off x="1325880" y="2724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Linfadenopatías, hepatomegalia y esplenomegalia.</a:t>
            </a:r>
            <a:endParaRPr lang="en-US" sz="1050" dirty="0"/>
          </a:p>
        </p:txBody>
      </p:sp>
      <p:sp>
        <p:nvSpPr>
          <p:cNvPr id="20" name="Shape 15"/>
          <p:cNvSpPr/>
          <p:nvPr/>
        </p:nvSpPr>
        <p:spPr>
          <a:xfrm>
            <a:off x="4663440" y="2377440"/>
            <a:ext cx="4023360" cy="1005840"/>
          </a:xfrm>
          <a:prstGeom prst="roundRect">
            <a:avLst>
              <a:gd name="adj" fmla="val 7273"/>
            </a:avLst>
          </a:prstGeom>
          <a:solidFill>
            <a:srgbClr val="F7EEF1"/>
          </a:solidFill>
          <a:ln w="12700">
            <a:solidFill>
              <a:srgbClr val="F7EEF1"/>
            </a:solidFill>
            <a:prstDash val="solid"/>
          </a:ln>
        </p:spPr>
      </p:sp>
      <p:sp>
        <p:nvSpPr>
          <p:cNvPr id="21" name="Shape 16"/>
          <p:cNvSpPr/>
          <p:nvPr/>
        </p:nvSpPr>
        <p:spPr>
          <a:xfrm>
            <a:off x="4800600" y="2578608"/>
            <a:ext cx="566928" cy="566928"/>
          </a:xfrm>
          <a:prstGeom prst="ellipse">
            <a:avLst/>
          </a:prstGeom>
          <a:solidFill>
            <a:srgbClr val="7A1F45"/>
          </a:solidFill>
          <a:ln w="12700">
            <a:solidFill>
              <a:srgbClr val="7A1F45"/>
            </a:solidFill>
            <a:prstDash val="solid"/>
          </a:ln>
        </p:spPr>
      </p:sp>
      <p:pic>
        <p:nvPicPr>
          <p:cNvPr id="22" name="Image 3" descr="preencoded.png">    </p:cNvPr>
          <p:cNvPicPr>
            <a:picLocks noChangeAspect="1"/>
          </p:cNvPicPr>
          <p:nvPr/>
        </p:nvPicPr>
        <p:blipFill>
          <a:blip r:embed="rId4"/>
          <a:stretch>
            <a:fillRect/>
          </a:stretch>
        </p:blipFill>
        <p:spPr>
          <a:xfrm>
            <a:off x="4942332" y="2720340"/>
            <a:ext cx="283464" cy="283464"/>
          </a:xfrm>
          <a:prstGeom prst="rect">
            <a:avLst/>
          </a:prstGeom>
        </p:spPr>
      </p:pic>
      <p:sp>
        <p:nvSpPr>
          <p:cNvPr id="23" name="Text 17"/>
          <p:cNvSpPr txBox="1"/>
          <p:nvPr/>
        </p:nvSpPr>
        <p:spPr>
          <a:xfrm>
            <a:off x="5532120" y="2450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Serositis</a:t>
            </a:r>
            <a:endParaRPr lang="en-US" sz="1300" dirty="0"/>
          </a:p>
        </p:txBody>
      </p:sp>
      <p:sp>
        <p:nvSpPr>
          <p:cNvPr id="24" name="Text 18"/>
          <p:cNvSpPr txBox="1"/>
          <p:nvPr/>
        </p:nvSpPr>
        <p:spPr>
          <a:xfrm>
            <a:off x="5532120" y="2724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Pleuritis y pericarditis; más rara la miocarditis.</a:t>
            </a:r>
            <a:endParaRPr lang="en-US" sz="1050" dirty="0"/>
          </a:p>
        </p:txBody>
      </p:sp>
      <p:sp>
        <p:nvSpPr>
          <p:cNvPr id="25" name="Shape 19"/>
          <p:cNvSpPr/>
          <p:nvPr/>
        </p:nvSpPr>
        <p:spPr>
          <a:xfrm>
            <a:off x="457200" y="3520440"/>
            <a:ext cx="4023360" cy="1005840"/>
          </a:xfrm>
          <a:prstGeom prst="roundRect">
            <a:avLst>
              <a:gd name="adj" fmla="val 7273"/>
            </a:avLst>
          </a:prstGeom>
          <a:solidFill>
            <a:srgbClr val="F7EEF1"/>
          </a:solidFill>
          <a:ln w="12700">
            <a:solidFill>
              <a:srgbClr val="F7EEF1"/>
            </a:solidFill>
            <a:prstDash val="solid"/>
          </a:ln>
        </p:spPr>
      </p:sp>
      <p:sp>
        <p:nvSpPr>
          <p:cNvPr id="26" name="Shape 20"/>
          <p:cNvSpPr/>
          <p:nvPr/>
        </p:nvSpPr>
        <p:spPr>
          <a:xfrm>
            <a:off x="594360" y="3721608"/>
            <a:ext cx="566928" cy="566928"/>
          </a:xfrm>
          <a:prstGeom prst="ellipse">
            <a:avLst/>
          </a:prstGeom>
          <a:solidFill>
            <a:srgbClr val="7A1F45"/>
          </a:solidFill>
          <a:ln w="12700">
            <a:solidFill>
              <a:srgbClr val="7A1F45"/>
            </a:solidFill>
            <a:prstDash val="solid"/>
          </a:ln>
        </p:spPr>
      </p:sp>
      <p:pic>
        <p:nvPicPr>
          <p:cNvPr id="27" name="Image 4" descr="preencoded.png">    </p:cNvPr>
          <p:cNvPicPr>
            <a:picLocks noChangeAspect="1"/>
          </p:cNvPicPr>
          <p:nvPr/>
        </p:nvPicPr>
        <p:blipFill>
          <a:blip r:embed="rId5"/>
          <a:stretch>
            <a:fillRect/>
          </a:stretch>
        </p:blipFill>
        <p:spPr>
          <a:xfrm>
            <a:off x="736092" y="3863340"/>
            <a:ext cx="283464" cy="283464"/>
          </a:xfrm>
          <a:prstGeom prst="rect">
            <a:avLst/>
          </a:prstGeom>
        </p:spPr>
      </p:pic>
      <p:sp>
        <p:nvSpPr>
          <p:cNvPr id="28" name="Text 21"/>
          <p:cNvSpPr txBox="1"/>
          <p:nvPr/>
        </p:nvSpPr>
        <p:spPr>
          <a:xfrm>
            <a:off x="1325880" y="3593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Pulmón</a:t>
            </a:r>
            <a:endParaRPr lang="en-US" sz="1300" dirty="0"/>
          </a:p>
        </p:txBody>
      </p:sp>
      <p:sp>
        <p:nvSpPr>
          <p:cNvPr id="29" name="Text 22"/>
          <p:cNvSpPr txBox="1"/>
          <p:nvPr/>
        </p:nvSpPr>
        <p:spPr>
          <a:xfrm>
            <a:off x="1325880" y="3867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Derrame pleural, infiltrados y, rara vez, enfermedad pulmonar intersticial grave.</a:t>
            </a:r>
            <a:endParaRPr lang="en-US" sz="1050" dirty="0"/>
          </a:p>
        </p:txBody>
      </p:sp>
      <p:sp>
        <p:nvSpPr>
          <p:cNvPr id="30" name="Shape 23"/>
          <p:cNvSpPr/>
          <p:nvPr/>
        </p:nvSpPr>
        <p:spPr>
          <a:xfrm>
            <a:off x="4663440" y="3520440"/>
            <a:ext cx="4023360" cy="1005840"/>
          </a:xfrm>
          <a:prstGeom prst="roundRect">
            <a:avLst>
              <a:gd name="adj" fmla="val 7273"/>
            </a:avLst>
          </a:prstGeom>
          <a:solidFill>
            <a:srgbClr val="F7EEF1"/>
          </a:solidFill>
          <a:ln w="12700">
            <a:solidFill>
              <a:srgbClr val="F7EEF1"/>
            </a:solidFill>
            <a:prstDash val="solid"/>
          </a:ln>
        </p:spPr>
      </p:sp>
      <p:sp>
        <p:nvSpPr>
          <p:cNvPr id="31" name="Shape 24"/>
          <p:cNvSpPr/>
          <p:nvPr/>
        </p:nvSpPr>
        <p:spPr>
          <a:xfrm>
            <a:off x="4800600" y="3721608"/>
            <a:ext cx="566928" cy="566928"/>
          </a:xfrm>
          <a:prstGeom prst="ellipse">
            <a:avLst/>
          </a:prstGeom>
          <a:solidFill>
            <a:srgbClr val="7A1F45"/>
          </a:solidFill>
          <a:ln w="12700">
            <a:solidFill>
              <a:srgbClr val="7A1F45"/>
            </a:solidFill>
            <a:prstDash val="solid"/>
          </a:ln>
        </p:spPr>
      </p:sp>
      <p:pic>
        <p:nvPicPr>
          <p:cNvPr id="32" name="Image 5" descr="preencoded.png">    </p:cNvPr>
          <p:cNvPicPr>
            <a:picLocks noChangeAspect="1"/>
          </p:cNvPicPr>
          <p:nvPr/>
        </p:nvPicPr>
        <p:blipFill>
          <a:blip r:embed="rId6"/>
          <a:stretch>
            <a:fillRect/>
          </a:stretch>
        </p:blipFill>
        <p:spPr>
          <a:xfrm>
            <a:off x="4942332" y="3863340"/>
            <a:ext cx="283464" cy="283464"/>
          </a:xfrm>
          <a:prstGeom prst="rect">
            <a:avLst/>
          </a:prstGeom>
        </p:spPr>
      </p:pic>
      <p:sp>
        <p:nvSpPr>
          <p:cNvPr id="33" name="Text 25"/>
          <p:cNvSpPr txBox="1"/>
          <p:nvPr/>
        </p:nvSpPr>
        <p:spPr>
          <a:xfrm>
            <a:off x="5532120" y="3593592"/>
            <a:ext cx="306324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Hígado</a:t>
            </a:r>
            <a:endParaRPr lang="en-US" sz="1300" dirty="0"/>
          </a:p>
        </p:txBody>
      </p:sp>
      <p:sp>
        <p:nvSpPr>
          <p:cNvPr id="34" name="Text 26"/>
          <p:cNvSpPr txBox="1"/>
          <p:nvPr/>
        </p:nvSpPr>
        <p:spPr>
          <a:xfrm>
            <a:off x="5532120" y="3867912"/>
            <a:ext cx="3063240" cy="64008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Elevación de transaminasas frecuente; hepatitis grave infrecuente.</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LABORATORIO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El perfil de laboratorio de la enfermedad de Still</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Yamaguchi M, et al. J Rheumatol. 1992 · Fautrel B, et al. Medicine. 2002 · Semin Arthritis Rheum. 2018</a:t>
            </a:r>
            <a:endParaRPr lang="en-US" sz="850" dirty="0"/>
          </a:p>
        </p:txBody>
      </p:sp>
      <p:sp>
        <p:nvSpPr>
          <p:cNvPr id="5" name="Shape 3"/>
          <p:cNvSpPr/>
          <p:nvPr/>
        </p:nvSpPr>
        <p:spPr>
          <a:xfrm>
            <a:off x="457200" y="1280160"/>
            <a:ext cx="2834640" cy="868680"/>
          </a:xfrm>
          <a:prstGeom prst="roundRect">
            <a:avLst>
              <a:gd name="adj" fmla="val 8421"/>
            </a:avLst>
          </a:prstGeom>
          <a:solidFill>
            <a:srgbClr val="F7EEF1"/>
          </a:solidFill>
          <a:ln w="12700">
            <a:solidFill>
              <a:srgbClr val="F7EEF1"/>
            </a:solidFill>
            <a:prstDash val="solid"/>
          </a:ln>
        </p:spPr>
      </p:sp>
      <p:sp>
        <p:nvSpPr>
          <p:cNvPr id="6" name="Text 4"/>
          <p:cNvSpPr txBox="1"/>
          <p:nvPr/>
        </p:nvSpPr>
        <p:spPr>
          <a:xfrm>
            <a:off x="594360" y="1353312"/>
            <a:ext cx="2606040" cy="411480"/>
          </a:xfrm>
          <a:prstGeom prst="rect">
            <a:avLst/>
          </a:prstGeom>
          <a:noFill/>
          <a:ln/>
        </p:spPr>
        <p:txBody>
          <a:bodyPr wrap="square" lIns="0" tIns="0" rIns="0" bIns="0" rtlCol="0" anchor="ctr"/>
          <a:lstStyle/>
          <a:p>
            <a:pPr indent="0" marL="0">
              <a:buNone/>
            </a:pPr>
            <a:r>
              <a:rPr lang="en-US" sz="1300" b="1" dirty="0">
                <a:solidFill>
                  <a:srgbClr val="D9472F"/>
                </a:solidFill>
                <a:latin typeface="Calibri" pitchFamily="34" charset="0"/>
                <a:ea typeface="Calibri" pitchFamily="34" charset="-122"/>
                <a:cs typeface="Calibri" pitchFamily="34" charset="-120"/>
              </a:rPr>
              <a:t>Leucocitosis ≥ 10 000/mm³</a:t>
            </a:r>
            <a:endParaRPr lang="en-US" sz="1300" dirty="0"/>
          </a:p>
        </p:txBody>
      </p:sp>
      <p:sp>
        <p:nvSpPr>
          <p:cNvPr id="7" name="Text 5"/>
          <p:cNvSpPr txBox="1"/>
          <p:nvPr/>
        </p:nvSpPr>
        <p:spPr>
          <a:xfrm>
            <a:off x="594360" y="175564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con ≥ 80 % de neutrófilos</a:t>
            </a:r>
            <a:endParaRPr lang="en-US" sz="1100" dirty="0"/>
          </a:p>
        </p:txBody>
      </p:sp>
      <p:sp>
        <p:nvSpPr>
          <p:cNvPr id="8" name="Shape 6"/>
          <p:cNvSpPr/>
          <p:nvPr/>
        </p:nvSpPr>
        <p:spPr>
          <a:xfrm>
            <a:off x="3474720" y="1280160"/>
            <a:ext cx="2834640" cy="868680"/>
          </a:xfrm>
          <a:prstGeom prst="roundRect">
            <a:avLst>
              <a:gd name="adj" fmla="val 8421"/>
            </a:avLst>
          </a:prstGeom>
          <a:solidFill>
            <a:srgbClr val="F7EEF1"/>
          </a:solidFill>
          <a:ln w="12700">
            <a:solidFill>
              <a:srgbClr val="F7EEF1"/>
            </a:solidFill>
            <a:prstDash val="solid"/>
          </a:ln>
        </p:spPr>
      </p:sp>
      <p:sp>
        <p:nvSpPr>
          <p:cNvPr id="9" name="Text 7"/>
          <p:cNvSpPr txBox="1"/>
          <p:nvPr/>
        </p:nvSpPr>
        <p:spPr>
          <a:xfrm>
            <a:off x="3611880" y="1353312"/>
            <a:ext cx="2606040" cy="411480"/>
          </a:xfrm>
          <a:prstGeom prst="rect">
            <a:avLst/>
          </a:prstGeom>
          <a:noFill/>
          <a:ln/>
        </p:spPr>
        <p:txBody>
          <a:bodyPr wrap="square" lIns="0" tIns="0" rIns="0" bIns="0" rtlCol="0" anchor="ctr"/>
          <a:lstStyle/>
          <a:p>
            <a:pPr indent="0" marL="0">
              <a:buNone/>
            </a:pPr>
            <a:r>
              <a:rPr lang="en-US" sz="1300" b="1" dirty="0">
                <a:solidFill>
                  <a:srgbClr val="D9472F"/>
                </a:solidFill>
                <a:latin typeface="Calibri" pitchFamily="34" charset="0"/>
                <a:ea typeface="Calibri" pitchFamily="34" charset="-122"/>
                <a:cs typeface="Calibri" pitchFamily="34" charset="-120"/>
              </a:rPr>
              <a:t>PCR y VSG muy elevadas</a:t>
            </a:r>
            <a:endParaRPr lang="en-US" sz="1300" dirty="0"/>
          </a:p>
        </p:txBody>
      </p:sp>
      <p:sp>
        <p:nvSpPr>
          <p:cNvPr id="10" name="Text 8"/>
          <p:cNvSpPr txBox="1"/>
          <p:nvPr/>
        </p:nvSpPr>
        <p:spPr>
          <a:xfrm>
            <a:off x="3611880" y="175564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reactantes de fase aguda</a:t>
            </a:r>
            <a:endParaRPr lang="en-US" sz="1100" dirty="0"/>
          </a:p>
        </p:txBody>
      </p:sp>
      <p:sp>
        <p:nvSpPr>
          <p:cNvPr id="11" name="Shape 9"/>
          <p:cNvSpPr/>
          <p:nvPr/>
        </p:nvSpPr>
        <p:spPr>
          <a:xfrm>
            <a:off x="457200" y="2286000"/>
            <a:ext cx="2834640" cy="868680"/>
          </a:xfrm>
          <a:prstGeom prst="roundRect">
            <a:avLst>
              <a:gd name="adj" fmla="val 8421"/>
            </a:avLst>
          </a:prstGeom>
          <a:solidFill>
            <a:srgbClr val="F7EEF1"/>
          </a:solidFill>
          <a:ln w="12700">
            <a:solidFill>
              <a:srgbClr val="F7EEF1"/>
            </a:solidFill>
            <a:prstDash val="solid"/>
          </a:ln>
        </p:spPr>
      </p:sp>
      <p:sp>
        <p:nvSpPr>
          <p:cNvPr id="12" name="Text 10"/>
          <p:cNvSpPr txBox="1"/>
          <p:nvPr/>
        </p:nvSpPr>
        <p:spPr>
          <a:xfrm>
            <a:off x="594360" y="2359152"/>
            <a:ext cx="2606040" cy="411480"/>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Hiperferritinemia</a:t>
            </a:r>
            <a:endParaRPr lang="en-US" sz="1300" dirty="0"/>
          </a:p>
        </p:txBody>
      </p:sp>
      <p:sp>
        <p:nvSpPr>
          <p:cNvPr id="13" name="Text 11"/>
          <p:cNvSpPr txBox="1"/>
          <p:nvPr/>
        </p:nvSpPr>
        <p:spPr>
          <a:xfrm>
            <a:off x="594360" y="276148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a menudo muy por encima de lo habitual</a:t>
            </a:r>
            <a:endParaRPr lang="en-US" sz="1100" dirty="0"/>
          </a:p>
        </p:txBody>
      </p:sp>
      <p:sp>
        <p:nvSpPr>
          <p:cNvPr id="14" name="Shape 12"/>
          <p:cNvSpPr/>
          <p:nvPr/>
        </p:nvSpPr>
        <p:spPr>
          <a:xfrm>
            <a:off x="3474720" y="2286000"/>
            <a:ext cx="2834640" cy="868680"/>
          </a:xfrm>
          <a:prstGeom prst="roundRect">
            <a:avLst>
              <a:gd name="adj" fmla="val 8421"/>
            </a:avLst>
          </a:prstGeom>
          <a:solidFill>
            <a:srgbClr val="F7EEF1"/>
          </a:solidFill>
          <a:ln w="12700">
            <a:solidFill>
              <a:srgbClr val="F7EEF1"/>
            </a:solidFill>
            <a:prstDash val="solid"/>
          </a:ln>
        </p:spPr>
      </p:sp>
      <p:sp>
        <p:nvSpPr>
          <p:cNvPr id="15" name="Text 13"/>
          <p:cNvSpPr txBox="1"/>
          <p:nvPr/>
        </p:nvSpPr>
        <p:spPr>
          <a:xfrm>
            <a:off x="3611880" y="2359152"/>
            <a:ext cx="2606040" cy="411480"/>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Ferritina glicosilada ≤ 20 %</a:t>
            </a:r>
            <a:endParaRPr lang="en-US" sz="1300" dirty="0"/>
          </a:p>
        </p:txBody>
      </p:sp>
      <p:sp>
        <p:nvSpPr>
          <p:cNvPr id="16" name="Text 14"/>
          <p:cNvSpPr txBox="1"/>
          <p:nvPr/>
        </p:nvSpPr>
        <p:spPr>
          <a:xfrm>
            <a:off x="3611880" y="276148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dato muy específico (criterio de Fautrel)</a:t>
            </a:r>
            <a:endParaRPr lang="en-US" sz="1100" dirty="0"/>
          </a:p>
        </p:txBody>
      </p:sp>
      <p:sp>
        <p:nvSpPr>
          <p:cNvPr id="17" name="Shape 15"/>
          <p:cNvSpPr/>
          <p:nvPr/>
        </p:nvSpPr>
        <p:spPr>
          <a:xfrm>
            <a:off x="457200" y="3291840"/>
            <a:ext cx="2834640" cy="868680"/>
          </a:xfrm>
          <a:prstGeom prst="roundRect">
            <a:avLst>
              <a:gd name="adj" fmla="val 8421"/>
            </a:avLst>
          </a:prstGeom>
          <a:solidFill>
            <a:srgbClr val="F7EEF1"/>
          </a:solidFill>
          <a:ln w="12700">
            <a:solidFill>
              <a:srgbClr val="F7EEF1"/>
            </a:solidFill>
            <a:prstDash val="solid"/>
          </a:ln>
        </p:spPr>
      </p:sp>
      <p:sp>
        <p:nvSpPr>
          <p:cNvPr id="18" name="Text 16"/>
          <p:cNvSpPr txBox="1"/>
          <p:nvPr/>
        </p:nvSpPr>
        <p:spPr>
          <a:xfrm>
            <a:off x="594360" y="3364992"/>
            <a:ext cx="2606040" cy="411480"/>
          </a:xfrm>
          <a:prstGeom prst="rect">
            <a:avLst/>
          </a:prstGeom>
          <a:noFill/>
          <a:ln/>
        </p:spPr>
        <p:txBody>
          <a:bodyPr wrap="square" lIns="0" tIns="0" rIns="0" bIns="0" rtlCol="0" anchor="ctr"/>
          <a:lstStyle/>
          <a:p>
            <a:pPr indent="0" marL="0">
              <a:buNone/>
            </a:pPr>
            <a:r>
              <a:rPr lang="en-US" sz="1300" b="1" dirty="0">
                <a:solidFill>
                  <a:srgbClr val="A2456A"/>
                </a:solidFill>
                <a:latin typeface="Calibri" pitchFamily="34" charset="0"/>
                <a:ea typeface="Calibri" pitchFamily="34" charset="-122"/>
                <a:cs typeface="Calibri" pitchFamily="34" charset="-120"/>
              </a:rPr>
              <a:t>Transaminasas elevadas</a:t>
            </a:r>
            <a:endParaRPr lang="en-US" sz="1300" dirty="0"/>
          </a:p>
        </p:txBody>
      </p:sp>
      <p:sp>
        <p:nvSpPr>
          <p:cNvPr id="19" name="Text 17"/>
          <p:cNvSpPr txBox="1"/>
          <p:nvPr/>
        </p:nvSpPr>
        <p:spPr>
          <a:xfrm>
            <a:off x="594360" y="376732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frecuente</a:t>
            </a:r>
            <a:endParaRPr lang="en-US" sz="1100" dirty="0"/>
          </a:p>
        </p:txBody>
      </p:sp>
      <p:sp>
        <p:nvSpPr>
          <p:cNvPr id="20" name="Shape 18"/>
          <p:cNvSpPr/>
          <p:nvPr/>
        </p:nvSpPr>
        <p:spPr>
          <a:xfrm>
            <a:off x="3474720" y="3291840"/>
            <a:ext cx="2834640" cy="868680"/>
          </a:xfrm>
          <a:prstGeom prst="roundRect">
            <a:avLst>
              <a:gd name="adj" fmla="val 8421"/>
            </a:avLst>
          </a:prstGeom>
          <a:solidFill>
            <a:srgbClr val="F7EEF1"/>
          </a:solidFill>
          <a:ln w="12700">
            <a:solidFill>
              <a:srgbClr val="F7EEF1"/>
            </a:solidFill>
            <a:prstDash val="solid"/>
          </a:ln>
        </p:spPr>
      </p:sp>
      <p:sp>
        <p:nvSpPr>
          <p:cNvPr id="21" name="Text 19"/>
          <p:cNvSpPr txBox="1"/>
          <p:nvPr/>
        </p:nvSpPr>
        <p:spPr>
          <a:xfrm>
            <a:off x="3611880" y="3364992"/>
            <a:ext cx="2606040" cy="411480"/>
          </a:xfrm>
          <a:prstGeom prst="rect">
            <a:avLst/>
          </a:prstGeom>
          <a:noFill/>
          <a:ln/>
        </p:spPr>
        <p:txBody>
          <a:bodyPr wrap="square" lIns="0" tIns="0" rIns="0" bIns="0" rtlCol="0" anchor="ctr"/>
          <a:lstStyle/>
          <a:p>
            <a:pPr indent="0" marL="0">
              <a:buNone/>
            </a:pPr>
            <a:r>
              <a:rPr lang="en-US" sz="1300" b="1" dirty="0">
                <a:solidFill>
                  <a:srgbClr val="A2456A"/>
                </a:solidFill>
                <a:latin typeface="Calibri" pitchFamily="34" charset="0"/>
                <a:ea typeface="Calibri" pitchFamily="34" charset="-122"/>
                <a:cs typeface="Calibri" pitchFamily="34" charset="-120"/>
              </a:rPr>
              <a:t>Anemia y trombocitosis</a:t>
            </a:r>
            <a:endParaRPr lang="en-US" sz="1300" dirty="0"/>
          </a:p>
        </p:txBody>
      </p:sp>
      <p:sp>
        <p:nvSpPr>
          <p:cNvPr id="22" name="Text 20"/>
          <p:cNvSpPr txBox="1"/>
          <p:nvPr/>
        </p:nvSpPr>
        <p:spPr>
          <a:xfrm>
            <a:off x="3611880" y="3767328"/>
            <a:ext cx="2606040" cy="320040"/>
          </a:xfrm>
          <a:prstGeom prst="rect">
            <a:avLst/>
          </a:prstGeom>
          <a:noFill/>
          <a:ln/>
        </p:spPr>
        <p:txBody>
          <a:bodyPr wrap="square" lIns="0" tIns="0" rIns="0" bIns="0" rtlCol="0" anchor="t"/>
          <a:lstStyle/>
          <a:p>
            <a:pPr indent="0" marL="0">
              <a:buNone/>
            </a:pPr>
            <a:r>
              <a:rPr lang="en-US" sz="1100" dirty="0">
                <a:solidFill>
                  <a:srgbClr val="6E6573"/>
                </a:solidFill>
                <a:latin typeface="Calibri" pitchFamily="34" charset="0"/>
                <a:ea typeface="Calibri" pitchFamily="34" charset="-122"/>
                <a:cs typeface="Calibri" pitchFamily="34" charset="-120"/>
              </a:rPr>
              <a:t>inflamatorias</a:t>
            </a:r>
            <a:endParaRPr lang="en-US" sz="1100" dirty="0"/>
          </a:p>
        </p:txBody>
      </p:sp>
      <p:sp>
        <p:nvSpPr>
          <p:cNvPr id="23" name="Shape 21"/>
          <p:cNvSpPr/>
          <p:nvPr/>
        </p:nvSpPr>
        <p:spPr>
          <a:xfrm>
            <a:off x="6492240" y="1280160"/>
            <a:ext cx="2194560" cy="2880360"/>
          </a:xfrm>
          <a:prstGeom prst="roundRect">
            <a:avLst>
              <a:gd name="adj" fmla="val 3333"/>
            </a:avLst>
          </a:prstGeom>
          <a:solidFill>
            <a:srgbClr val="E9F3F2"/>
          </a:solidFill>
          <a:ln w="12700">
            <a:solidFill>
              <a:srgbClr val="E9F3F2"/>
            </a:solidFill>
            <a:prstDash val="solid"/>
          </a:ln>
        </p:spPr>
      </p:sp>
      <p:sp>
        <p:nvSpPr>
          <p:cNvPr id="24" name="Shape 22"/>
          <p:cNvSpPr/>
          <p:nvPr/>
        </p:nvSpPr>
        <p:spPr>
          <a:xfrm>
            <a:off x="6675120" y="1417320"/>
            <a:ext cx="502920" cy="502920"/>
          </a:xfrm>
          <a:prstGeom prst="ellipse">
            <a:avLst/>
          </a:prstGeom>
          <a:solidFill>
            <a:srgbClr val="1F7F79"/>
          </a:solidFill>
          <a:ln w="12700">
            <a:solidFill>
              <a:srgbClr val="1F7F79"/>
            </a:solidFill>
            <a:prstDash val="solid"/>
          </a:ln>
        </p:spPr>
      </p:sp>
      <p:pic>
        <p:nvPicPr>
          <p:cNvPr id="25" name="Image 0" descr="preencoded.png">    </p:cNvPr>
          <p:cNvPicPr>
            <a:picLocks noChangeAspect="1"/>
          </p:cNvPicPr>
          <p:nvPr/>
        </p:nvPicPr>
        <p:blipFill>
          <a:blip r:embed="rId1"/>
          <a:stretch>
            <a:fillRect/>
          </a:stretch>
        </p:blipFill>
        <p:spPr>
          <a:xfrm>
            <a:off x="6800850" y="1543050"/>
            <a:ext cx="251460" cy="251460"/>
          </a:xfrm>
          <a:prstGeom prst="rect">
            <a:avLst/>
          </a:prstGeom>
        </p:spPr>
      </p:pic>
      <p:sp>
        <p:nvSpPr>
          <p:cNvPr id="26" name="Text 23"/>
          <p:cNvSpPr txBox="1"/>
          <p:nvPr/>
        </p:nvSpPr>
        <p:spPr>
          <a:xfrm>
            <a:off x="6675120" y="2011680"/>
            <a:ext cx="1920240" cy="320040"/>
          </a:xfrm>
          <a:prstGeom prst="rect">
            <a:avLst/>
          </a:prstGeom>
          <a:noFill/>
          <a:ln/>
        </p:spPr>
        <p:txBody>
          <a:bodyPr wrap="square" lIns="0" tIns="0" rIns="0" bIns="0" rtlCol="0" anchor="t"/>
          <a:lstStyle/>
          <a:p>
            <a:pPr indent="0" marL="0">
              <a:buNone/>
            </a:pPr>
            <a:r>
              <a:rPr lang="en-US" sz="1300" b="1" dirty="0">
                <a:solidFill>
                  <a:srgbClr val="1F7F79"/>
                </a:solidFill>
                <a:latin typeface="Calibri" pitchFamily="34" charset="0"/>
                <a:ea typeface="Calibri" pitchFamily="34" charset="-122"/>
                <a:cs typeface="Calibri" pitchFamily="34" charset="-120"/>
              </a:rPr>
              <a:t>Suelen ser negativos</a:t>
            </a:r>
            <a:endParaRPr lang="en-US" sz="1300" dirty="0"/>
          </a:p>
        </p:txBody>
      </p:sp>
      <p:sp>
        <p:nvSpPr>
          <p:cNvPr id="27" name="Text 24"/>
          <p:cNvSpPr txBox="1"/>
          <p:nvPr/>
        </p:nvSpPr>
        <p:spPr>
          <a:xfrm>
            <a:off x="6675120" y="2377440"/>
            <a:ext cx="1920240" cy="173736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2B2330"/>
                </a:solidFill>
                <a:latin typeface="Calibri" pitchFamily="34" charset="0"/>
                <a:ea typeface="Calibri" pitchFamily="34" charset="-122"/>
                <a:cs typeface="Calibri" pitchFamily="34" charset="-120"/>
              </a:rPr>
              <a:t>Factor reumatoide</a:t>
            </a:r>
            <a:endParaRPr lang="en-US" sz="1150" dirty="0"/>
          </a:p>
          <a:p>
            <a:pPr marL="177800" indent="-177800">
              <a:spcAft>
                <a:spcPts val="500"/>
              </a:spcAft>
              <a:buSzPct val="100000"/>
              <a:buChar char="•"/>
            </a:pPr>
            <a:r>
              <a:rPr lang="en-US" sz="1150" dirty="0">
                <a:solidFill>
                  <a:srgbClr val="2B2330"/>
                </a:solidFill>
                <a:latin typeface="Calibri" pitchFamily="34" charset="0"/>
                <a:ea typeface="Calibri" pitchFamily="34" charset="-122"/>
                <a:cs typeface="Calibri" pitchFamily="34" charset="-120"/>
              </a:rPr>
              <a:t>Anticuerpos antinucleares</a:t>
            </a:r>
            <a:endParaRPr lang="en-US" sz="1150" dirty="0"/>
          </a:p>
          <a:p>
            <a:pPr marL="177800" indent="-177800">
              <a:spcAft>
                <a:spcPts val="500"/>
              </a:spcAft>
              <a:buSzPct val="100000"/>
              <a:buChar char="•"/>
            </a:pPr>
            <a:r>
              <a:rPr lang="en-US" sz="1150" dirty="0">
                <a:solidFill>
                  <a:srgbClr val="2B2330"/>
                </a:solidFill>
                <a:latin typeface="Calibri" pitchFamily="34" charset="0"/>
                <a:ea typeface="Calibri" pitchFamily="34" charset="-122"/>
                <a:cs typeface="Calibri" pitchFamily="34" charset="-120"/>
              </a:rPr>
              <a:t>Hemocultivos y serologías (deben descartarse infecciones)</a:t>
            </a:r>
            <a:endParaRPr lang="en-US" sz="1150" dirty="0"/>
          </a:p>
        </p:txBody>
      </p:sp>
      <p:sp>
        <p:nvSpPr>
          <p:cNvPr id="28" name="Text 25"/>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050" i="1" dirty="0">
                <a:solidFill>
                  <a:srgbClr val="6E6573"/>
                </a:solidFill>
                <a:latin typeface="Calibri" pitchFamily="34" charset="0"/>
                <a:ea typeface="Calibri" pitchFamily="34" charset="-122"/>
                <a:cs typeface="Calibri" pitchFamily="34" charset="-120"/>
              </a:rPr>
              <a:t>Glicosilada ≤ 20 %: sensibilidad 87 % y especificidad 97,8 % en su serie de validación; la combinación con ferritina &gt; 5 × LSN tuvo 43,2 % y 92,9 %.</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LABORATORIO · BIOMARCADORES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Biomarcadores: ferritina, IL-18 y proteínas S100</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Ann Rheum Dis. 2024 (revisiones sistemáticas que informan EULAR/PReS)</a:t>
            </a:r>
            <a:endParaRPr lang="en-US" sz="850" dirty="0"/>
          </a:p>
        </p:txBody>
      </p:sp>
      <p:sp>
        <p:nvSpPr>
          <p:cNvPr id="5" name="Shape 3"/>
          <p:cNvSpPr/>
          <p:nvPr/>
        </p:nvSpPr>
        <p:spPr>
          <a:xfrm>
            <a:off x="457200" y="1280160"/>
            <a:ext cx="2615184" cy="2468880"/>
          </a:xfrm>
          <a:prstGeom prst="roundRect">
            <a:avLst>
              <a:gd name="adj" fmla="val 2963"/>
            </a:avLst>
          </a:prstGeom>
          <a:solidFill>
            <a:srgbClr val="F7EEF1"/>
          </a:solidFill>
          <a:ln w="12700">
            <a:solidFill>
              <a:srgbClr val="F7EEF1"/>
            </a:solidFill>
            <a:prstDash val="solid"/>
          </a:ln>
        </p:spPr>
      </p:sp>
      <p:sp>
        <p:nvSpPr>
          <p:cNvPr id="6" name="Shape 4"/>
          <p:cNvSpPr/>
          <p:nvPr/>
        </p:nvSpPr>
        <p:spPr>
          <a:xfrm>
            <a:off x="640080" y="1417320"/>
            <a:ext cx="548640" cy="54864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8" name="Text 5"/>
          <p:cNvSpPr txBox="1"/>
          <p:nvPr/>
        </p:nvSpPr>
        <p:spPr>
          <a:xfrm>
            <a:off x="640080" y="2029968"/>
            <a:ext cx="2286000" cy="457200"/>
          </a:xfrm>
          <a:prstGeom prst="rect">
            <a:avLst/>
          </a:prstGeom>
          <a:noFill/>
          <a:ln/>
        </p:spPr>
        <p:txBody>
          <a:bodyPr wrap="square" lIns="0" tIns="0" rIns="0" bIns="0" rtlCol="0" anchor="ctr"/>
          <a:lstStyle/>
          <a:p>
            <a:pPr indent="0" marL="0">
              <a:buNone/>
            </a:pPr>
            <a:r>
              <a:rPr lang="en-US" sz="1400" b="1" dirty="0">
                <a:solidFill>
                  <a:srgbClr val="D9472F"/>
                </a:solidFill>
                <a:latin typeface="Calibri" pitchFamily="34" charset="0"/>
                <a:ea typeface="Calibri" pitchFamily="34" charset="-122"/>
                <a:cs typeface="Calibri" pitchFamily="34" charset="-120"/>
              </a:rPr>
              <a:t>Ferritina</a:t>
            </a:r>
            <a:endParaRPr lang="en-US" sz="1400" dirty="0"/>
          </a:p>
        </p:txBody>
      </p:sp>
      <p:sp>
        <p:nvSpPr>
          <p:cNvPr id="9" name="Text 6"/>
          <p:cNvSpPr txBox="1"/>
          <p:nvPr/>
        </p:nvSpPr>
        <p:spPr>
          <a:xfrm>
            <a:off x="640080" y="2514600"/>
            <a:ext cx="2286000" cy="118872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Medir en todos los pacientes y de forma rutinaria. Si hay riesgo o sospecha de SAM, repetir diaria o incluso dos veces al día.</a:t>
            </a:r>
            <a:endParaRPr lang="en-US" sz="1100" dirty="0"/>
          </a:p>
        </p:txBody>
      </p:sp>
      <p:sp>
        <p:nvSpPr>
          <p:cNvPr id="10" name="Shape 7"/>
          <p:cNvSpPr/>
          <p:nvPr/>
        </p:nvSpPr>
        <p:spPr>
          <a:xfrm>
            <a:off x="3264408" y="1280160"/>
            <a:ext cx="2615184" cy="2468880"/>
          </a:xfrm>
          <a:prstGeom prst="roundRect">
            <a:avLst>
              <a:gd name="adj" fmla="val 2963"/>
            </a:avLst>
          </a:prstGeom>
          <a:solidFill>
            <a:srgbClr val="F7EEF1"/>
          </a:solidFill>
          <a:ln w="12700">
            <a:solidFill>
              <a:srgbClr val="F7EEF1"/>
            </a:solidFill>
            <a:prstDash val="solid"/>
          </a:ln>
        </p:spPr>
      </p:sp>
      <p:sp>
        <p:nvSpPr>
          <p:cNvPr id="11" name="Shape 8"/>
          <p:cNvSpPr/>
          <p:nvPr/>
        </p:nvSpPr>
        <p:spPr>
          <a:xfrm>
            <a:off x="3447288" y="1417320"/>
            <a:ext cx="548640" cy="548640"/>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3584448" y="1554480"/>
            <a:ext cx="274320" cy="274320"/>
          </a:xfrm>
          <a:prstGeom prst="rect">
            <a:avLst/>
          </a:prstGeom>
        </p:spPr>
      </p:pic>
      <p:sp>
        <p:nvSpPr>
          <p:cNvPr id="13" name="Text 9"/>
          <p:cNvSpPr txBox="1"/>
          <p:nvPr/>
        </p:nvSpPr>
        <p:spPr>
          <a:xfrm>
            <a:off x="3447288" y="2029968"/>
            <a:ext cx="2286000" cy="457200"/>
          </a:xfrm>
          <a:prstGeom prst="rect">
            <a:avLst/>
          </a:prstGeom>
          <a:noFill/>
          <a:ln/>
        </p:spPr>
        <p:txBody>
          <a:bodyPr wrap="square" lIns="0" tIns="0" rIns="0" bIns="0" rtlCol="0" anchor="ctr"/>
          <a:lstStyle/>
          <a:p>
            <a:pPr indent="0" marL="0">
              <a:buNone/>
            </a:pPr>
            <a:r>
              <a:rPr lang="en-US" sz="1400" b="1" dirty="0">
                <a:solidFill>
                  <a:srgbClr val="7A1F45"/>
                </a:solidFill>
                <a:latin typeface="Calibri" pitchFamily="34" charset="0"/>
                <a:ea typeface="Calibri" pitchFamily="34" charset="-122"/>
                <a:cs typeface="Calibri" pitchFamily="34" charset="-120"/>
              </a:rPr>
              <a:t>IL-18</a:t>
            </a:r>
            <a:endParaRPr lang="en-US" sz="1400" dirty="0"/>
          </a:p>
        </p:txBody>
      </p:sp>
      <p:sp>
        <p:nvSpPr>
          <p:cNvPr id="14" name="Text 10"/>
          <p:cNvSpPr txBox="1"/>
          <p:nvPr/>
        </p:nvSpPr>
        <p:spPr>
          <a:xfrm>
            <a:off x="3447288" y="2514600"/>
            <a:ext cx="2286000" cy="118872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Citocina del inflamasoma que impulsa la sobreproducción de IFN-γ. Su elevación marcada apoya con fuerza el diagnóstico.</a:t>
            </a:r>
            <a:endParaRPr lang="en-US" sz="1100" dirty="0"/>
          </a:p>
        </p:txBody>
      </p:sp>
      <p:sp>
        <p:nvSpPr>
          <p:cNvPr id="15" name="Shape 11"/>
          <p:cNvSpPr/>
          <p:nvPr/>
        </p:nvSpPr>
        <p:spPr>
          <a:xfrm>
            <a:off x="6071616" y="1280160"/>
            <a:ext cx="2615184" cy="2468880"/>
          </a:xfrm>
          <a:prstGeom prst="roundRect">
            <a:avLst>
              <a:gd name="adj" fmla="val 2963"/>
            </a:avLst>
          </a:prstGeom>
          <a:solidFill>
            <a:srgbClr val="F7EEF1"/>
          </a:solidFill>
          <a:ln w="12700">
            <a:solidFill>
              <a:srgbClr val="F7EEF1"/>
            </a:solidFill>
            <a:prstDash val="solid"/>
          </a:ln>
        </p:spPr>
      </p:sp>
      <p:sp>
        <p:nvSpPr>
          <p:cNvPr id="16" name="Shape 12"/>
          <p:cNvSpPr/>
          <p:nvPr/>
        </p:nvSpPr>
        <p:spPr>
          <a:xfrm>
            <a:off x="6254496" y="1417320"/>
            <a:ext cx="548640" cy="548640"/>
          </a:xfrm>
          <a:prstGeom prst="ellipse">
            <a:avLst/>
          </a:prstGeom>
          <a:solidFill>
            <a:srgbClr val="A2456A"/>
          </a:solidFill>
          <a:ln w="12700">
            <a:solidFill>
              <a:srgbClr val="A2456A"/>
            </a:solidFill>
            <a:prstDash val="solid"/>
          </a:ln>
        </p:spPr>
      </p:sp>
      <p:pic>
        <p:nvPicPr>
          <p:cNvPr id="17" name="Image 2" descr="preencoded.png">    </p:cNvPr>
          <p:cNvPicPr>
            <a:picLocks noChangeAspect="1"/>
          </p:cNvPicPr>
          <p:nvPr/>
        </p:nvPicPr>
        <p:blipFill>
          <a:blip r:embed="rId3"/>
          <a:stretch>
            <a:fillRect/>
          </a:stretch>
        </p:blipFill>
        <p:spPr>
          <a:xfrm>
            <a:off x="6391656" y="1554480"/>
            <a:ext cx="274320" cy="274320"/>
          </a:xfrm>
          <a:prstGeom prst="rect">
            <a:avLst/>
          </a:prstGeom>
        </p:spPr>
      </p:pic>
      <p:sp>
        <p:nvSpPr>
          <p:cNvPr id="18" name="Text 13"/>
          <p:cNvSpPr txBox="1"/>
          <p:nvPr/>
        </p:nvSpPr>
        <p:spPr>
          <a:xfrm>
            <a:off x="6254496" y="2029968"/>
            <a:ext cx="2286000" cy="457200"/>
          </a:xfrm>
          <a:prstGeom prst="rect">
            <a:avLst/>
          </a:prstGeom>
          <a:noFill/>
          <a:ln/>
        </p:spPr>
        <p:txBody>
          <a:bodyPr wrap="square" lIns="0" tIns="0" rIns="0" bIns="0" rtlCol="0" anchor="ctr"/>
          <a:lstStyle/>
          <a:p>
            <a:pPr indent="0" marL="0">
              <a:buNone/>
            </a:pPr>
            <a:r>
              <a:rPr lang="en-US" sz="1400" b="1" dirty="0">
                <a:solidFill>
                  <a:srgbClr val="A2456A"/>
                </a:solidFill>
                <a:latin typeface="Calibri" pitchFamily="34" charset="0"/>
                <a:ea typeface="Calibri" pitchFamily="34" charset="-122"/>
                <a:cs typeface="Calibri" pitchFamily="34" charset="-120"/>
              </a:rPr>
              <a:t>S100 (calprotectina, S100A12)</a:t>
            </a:r>
            <a:endParaRPr lang="en-US" sz="1400" dirty="0"/>
          </a:p>
        </p:txBody>
      </p:sp>
      <p:sp>
        <p:nvSpPr>
          <p:cNvPr id="19" name="Text 14"/>
          <p:cNvSpPr txBox="1"/>
          <p:nvPr/>
        </p:nvSpPr>
        <p:spPr>
          <a:xfrm>
            <a:off x="6254496" y="2514600"/>
            <a:ext cx="2286000" cy="118872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Producidas por monocitos y neutrófilos; actúan como alarminas. Elevación marcada apoya el diagnóstico.</a:t>
            </a:r>
            <a:endParaRPr lang="en-US" sz="1100" dirty="0"/>
          </a:p>
        </p:txBody>
      </p:sp>
      <p:sp>
        <p:nvSpPr>
          <p:cNvPr id="20" name="Shape 15"/>
          <p:cNvSpPr/>
          <p:nvPr/>
        </p:nvSpPr>
        <p:spPr>
          <a:xfrm>
            <a:off x="457200" y="3886200"/>
            <a:ext cx="8229600" cy="777240"/>
          </a:xfrm>
          <a:prstGeom prst="roundRect">
            <a:avLst>
              <a:gd name="adj" fmla="val 9412"/>
            </a:avLst>
          </a:prstGeom>
          <a:solidFill>
            <a:srgbClr val="F3F1F4"/>
          </a:solidFill>
          <a:ln w="12700">
            <a:solidFill>
              <a:srgbClr val="F3F1F4"/>
            </a:solidFill>
            <a:prstDash val="solid"/>
          </a:ln>
        </p:spPr>
      </p:sp>
      <p:sp>
        <p:nvSpPr>
          <p:cNvPr id="21" name="Text 16"/>
          <p:cNvSpPr txBox="1"/>
          <p:nvPr/>
        </p:nvSpPr>
        <p:spPr>
          <a:xfrm>
            <a:off x="640080" y="3886200"/>
            <a:ext cx="7863840" cy="777240"/>
          </a:xfrm>
          <a:prstGeom prst="rect">
            <a:avLst/>
          </a:prstGeom>
          <a:noFill/>
          <a:ln/>
        </p:spPr>
        <p:txBody>
          <a:bodyPr wrap="square" lIns="0" tIns="0" rIns="0" bIns="0" rtlCol="0" anchor="ctr"/>
          <a:lstStyle/>
          <a:p>
            <a:pPr indent="0" marL="0">
              <a:buNone/>
            </a:pPr>
            <a:r>
              <a:rPr lang="en-US" sz="1150" b="1" dirty="0">
                <a:solidFill>
                  <a:srgbClr val="7A1F45"/>
                </a:solidFill>
                <a:latin typeface="Calibri" pitchFamily="34" charset="0"/>
                <a:ea typeface="Calibri" pitchFamily="34" charset="-122"/>
                <a:cs typeface="Calibri" pitchFamily="34" charset="-120"/>
              </a:rPr>
              <a:t>Limitación: </a:t>
            </a:r>
            <a:pPr indent="0" marL="0">
              <a:buNone/>
            </a:pPr>
            <a:r>
              <a:rPr lang="en-US" sz="1150" dirty="0">
                <a:solidFill>
                  <a:srgbClr val="2B2330"/>
                </a:solidFill>
                <a:latin typeface="Calibri" pitchFamily="34" charset="0"/>
                <a:ea typeface="Calibri" pitchFamily="34" charset="-122"/>
                <a:cs typeface="Calibri" pitchFamily="34" charset="-120"/>
              </a:rPr>
              <a:t>IL-18 y S100 tienen rendimiento diagnóstico similar a la ferritina, pero no hay umbrales validados ni consensuados, porque se estudiaron frente a controles muy distintos (FOD, infecciones, neoplasias, vasculitis). Medirlos si están disponibles.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CRITERIOS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Criterios de clasificación de Yamaguchi (1992)</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Yamaguchi M, et al. J Rheumatol. 1992 · Fautrel B, et al. Medicine. 2002 · Semin Arthritis Rheum. 2018</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108960"/>
                <a:gridCol w="2377440"/>
                <a:gridCol w="27432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Criterios mayores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Criterios menores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Exclusiones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411480">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Fiebre ≥ 39 °C durante ≥ 1 semana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Odinofagia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rowSpan="2">
                  <a:txBody>
                    <a:bodyPr/>
                    <a:lstStyle/>
                    <a:p>
                      <a:pPr indent="0" marL="0">
                        <a:buNone/>
                      </a:pPr>
                      <a:r>
                        <a:rPr lang="en-US" sz="1050" dirty="0">
                          <a:solidFill>
                            <a:srgbClr val="2B2330"/>
                          </a:solidFill>
                          <a:latin typeface="Calibri" pitchFamily="34" charset="0"/>
                          <a:ea typeface="Calibri" pitchFamily="34" charset="-122"/>
                          <a:cs typeface="Calibri" pitchFamily="34" charset="-120"/>
                        </a:rPr>
                        <a:t>Infecciones (sobre todo sepsis y mononucleosis)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11480">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Artralgias o artritis ≥ 2 semanas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Linfadenopatías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vMerge="1">
                  <a:tcPr/>
                </a:tc>
              </a:tr>
              <a:tr h="411480">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Exantema típico no pruriginoso</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Hepatomegalia o esplenomegalia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rowSpan="2">
                  <a:txBody>
                    <a:bodyPr/>
                    <a:lstStyle/>
                    <a:p>
                      <a:pPr indent="0" marL="0">
                        <a:buNone/>
                      </a:pPr>
                      <a:r>
                        <a:rPr lang="en-US" sz="1050" dirty="0">
                          <a:solidFill>
                            <a:srgbClr val="2B2330"/>
                          </a:solidFill>
                          <a:latin typeface="Calibri" pitchFamily="34" charset="0"/>
                          <a:ea typeface="Calibri" pitchFamily="34" charset="-122"/>
                          <a:cs typeface="Calibri" pitchFamily="34" charset="-120"/>
                        </a:rPr>
                        <a:t>Neoplasias (sobre todo linfoma)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57200">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Leucocitosis ≥ 10 000/mm³ con ≥ 80 % de granulocitos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Alteración de pruebas hepáticas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vMerge="1">
                  <a:tcPr/>
                </a:tc>
              </a:tr>
              <a:tr h="45720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FR y ANA negativos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Otras enfermedades reumáticas (sobre todo vasculitis)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457200" y="3886200"/>
            <a:ext cx="4023360" cy="804672"/>
          </a:xfrm>
          <a:prstGeom prst="roundRect">
            <a:avLst>
              <a:gd name="adj" fmla="val 9091"/>
            </a:avLst>
          </a:prstGeom>
          <a:solidFill>
            <a:srgbClr val="7A1F45"/>
          </a:solidFill>
          <a:ln w="12700">
            <a:solidFill>
              <a:srgbClr val="7A1F45"/>
            </a:solidFill>
            <a:prstDash val="solid"/>
          </a:ln>
        </p:spPr>
      </p:sp>
      <p:sp>
        <p:nvSpPr>
          <p:cNvPr id="7" name="Text 4"/>
          <p:cNvSpPr txBox="1"/>
          <p:nvPr/>
        </p:nvSpPr>
        <p:spPr>
          <a:xfrm>
            <a:off x="548640" y="3886200"/>
            <a:ext cx="384048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5 criterios, con ≥ 2 mayores, sin exclusiones</a:t>
            </a:r>
            <a:endParaRPr lang="en-US" sz="1400" dirty="0"/>
          </a:p>
        </p:txBody>
      </p:sp>
      <p:sp>
        <p:nvSpPr>
          <p:cNvPr id="8" name="Shape 5"/>
          <p:cNvSpPr/>
          <p:nvPr/>
        </p:nvSpPr>
        <p:spPr>
          <a:xfrm>
            <a:off x="4663440" y="3886200"/>
            <a:ext cx="4023360" cy="804672"/>
          </a:xfrm>
          <a:prstGeom prst="roundRect">
            <a:avLst>
              <a:gd name="adj" fmla="val 9091"/>
            </a:avLst>
          </a:prstGeom>
          <a:solidFill>
            <a:srgbClr val="F7EEF1"/>
          </a:solidFill>
          <a:ln w="12700">
            <a:solidFill>
              <a:srgbClr val="F7EEF1"/>
            </a:solidFill>
            <a:prstDash val="solid"/>
          </a:ln>
        </p:spPr>
      </p:sp>
      <p:sp>
        <p:nvSpPr>
          <p:cNvPr id="9" name="Text 6"/>
          <p:cNvSpPr txBox="1"/>
          <p:nvPr/>
        </p:nvSpPr>
        <p:spPr>
          <a:xfrm>
            <a:off x="4800600" y="3886200"/>
            <a:ext cx="3749040" cy="804672"/>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Sensibilidad 96,2 % · especificidad 92,1 %</a:t>
            </a:r>
            <a:endParaRPr lang="en-US" sz="1300" dirty="0"/>
          </a:p>
          <a:p>
            <a:pPr indent="0" marL="0">
              <a:buNone/>
            </a:pPr>
            <a:r>
              <a:rPr lang="en-US" sz="1100" dirty="0">
                <a:solidFill>
                  <a:srgbClr val="2B2330"/>
                </a:solidFill>
                <a:latin typeface="Calibri" pitchFamily="34" charset="0"/>
                <a:ea typeface="Calibri" pitchFamily="34" charset="-122"/>
                <a:cs typeface="Calibri" pitchFamily="34" charset="-120"/>
              </a:rPr>
              <a:t>Exigen descartar otras causas (diagnóstico de exclusión)</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CRITERIOS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Criterios de Fautrel (2002) y comparación</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Yamaguchi M, et al. J Rheumatol. 1992 · Fautrel B, et al. Medicine. 2002 · Semin Arthritis Rheum. 2018</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023360" cy="914400"/>
        </p:xfrm>
        <a:graphic>
          <a:graphicData uri="http://schemas.openxmlformats.org/drawingml/2006/table">
            <a:tbl>
              <a:tblPr/>
              <a:tblGrid>
                <a:gridCol w="2103120"/>
                <a:gridCol w="192024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Criterios mayores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Criterios menores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347472">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Fiebre en picos ≥ 39 °C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Exantema maculopapular</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47472">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Artralgias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Leucocitosis ≥ 10 000/mm³</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47472">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Eritema transitorio</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47472">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Faringitis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47472">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Neutrófilos ≥ 80 %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47472">
                <a:tc>
                  <a:txBody>
                    <a:bodyPr/>
                    <a:lstStyle/>
                    <a:p>
                      <a:pPr indent="0" marL="0">
                        <a:buNone/>
                      </a:pPr>
                      <a:r>
                        <a:rPr lang="en-US" sz="1050" b="1" dirty="0">
                          <a:solidFill>
                            <a:srgbClr val="D9472F"/>
                          </a:solidFill>
                          <a:latin typeface="Calibri" pitchFamily="34" charset="0"/>
                          <a:ea typeface="Calibri" pitchFamily="34" charset="-122"/>
                          <a:cs typeface="Calibri" pitchFamily="34" charset="-120"/>
                        </a:rPr>
                        <a:t>Ferritina glicosilada ≤ 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457200" y="3840480"/>
            <a:ext cx="4023360" cy="841248"/>
          </a:xfrm>
          <a:prstGeom prst="roundRect">
            <a:avLst>
              <a:gd name="adj" fmla="val 8696"/>
            </a:avLst>
          </a:prstGeom>
          <a:solidFill>
            <a:srgbClr val="7A1F45"/>
          </a:solidFill>
          <a:ln w="12700">
            <a:solidFill>
              <a:srgbClr val="7A1F45"/>
            </a:solidFill>
            <a:prstDash val="solid"/>
          </a:ln>
        </p:spPr>
      </p:sp>
      <p:sp>
        <p:nvSpPr>
          <p:cNvPr id="7" name="Text 4"/>
          <p:cNvSpPr txBox="1"/>
          <p:nvPr/>
        </p:nvSpPr>
        <p:spPr>
          <a:xfrm>
            <a:off x="548640" y="3840480"/>
            <a:ext cx="3840480"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 4 mayores, o 3 mayores + 2 menores · no requiere exclusiones</a:t>
            </a:r>
            <a:endParaRPr lang="en-US" sz="1250" dirty="0"/>
          </a:p>
        </p:txBody>
      </p:sp>
      <p:graphicFrame>
        <p:nvGraphicFramePr>
          <p:cNvPr id="8" name="Chart 0" descr=""/>
          <p:cNvGraphicFramePr/>
          <p:nvPr/>
        </p:nvGraphicFramePr>
        <p:xfrm>
          <a:off x="4754880" y="1188720"/>
          <a:ext cx="393192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CRITERIOS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La artritis no es necesaria para el diagnóstico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80160"/>
            <a:ext cx="3977640" cy="2468880"/>
          </a:xfrm>
          <a:prstGeom prst="roundRect">
            <a:avLst>
              <a:gd name="adj" fmla="val 2963"/>
            </a:avLst>
          </a:prstGeom>
          <a:solidFill>
            <a:srgbClr val="F3F1F4"/>
          </a:solidFill>
          <a:ln w="12700">
            <a:solidFill>
              <a:srgbClr val="F3F1F4"/>
            </a:solidFill>
            <a:prstDash val="solid"/>
          </a:ln>
        </p:spPr>
      </p:sp>
      <p:sp>
        <p:nvSpPr>
          <p:cNvPr id="6" name="Text 4"/>
          <p:cNvSpPr txBox="1"/>
          <p:nvPr/>
        </p:nvSpPr>
        <p:spPr>
          <a:xfrm>
            <a:off x="640080" y="1371600"/>
            <a:ext cx="3657600" cy="365760"/>
          </a:xfrm>
          <a:prstGeom prst="rect">
            <a:avLst/>
          </a:prstGeom>
          <a:noFill/>
          <a:ln/>
        </p:spPr>
        <p:txBody>
          <a:bodyPr wrap="square" lIns="0" tIns="0" rIns="0" bIns="0" rtlCol="0" anchor="t"/>
          <a:lstStyle/>
          <a:p>
            <a:pPr indent="0" marL="0">
              <a:buNone/>
            </a:pPr>
            <a:r>
              <a:rPr lang="en-US" sz="1500" b="1" dirty="0">
                <a:solidFill>
                  <a:srgbClr val="6E6573"/>
                </a:solidFill>
                <a:latin typeface="Cambria" pitchFamily="34" charset="0"/>
                <a:ea typeface="Cambria" pitchFamily="34" charset="-122"/>
                <a:cs typeface="Cambria" pitchFamily="34" charset="-120"/>
              </a:rPr>
              <a:t>Criterios ILAR (AIJ sistémica)</a:t>
            </a:r>
            <a:endParaRPr lang="en-US" sz="1500" dirty="0"/>
          </a:p>
        </p:txBody>
      </p:sp>
      <p:sp>
        <p:nvSpPr>
          <p:cNvPr id="7" name="Text 5"/>
          <p:cNvSpPr txBox="1"/>
          <p:nvPr/>
        </p:nvSpPr>
        <p:spPr>
          <a:xfrm>
            <a:off x="640080" y="1828800"/>
            <a:ext cx="365760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Exigen artritis</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Retrasan el diagnóstico en niños con fiebre y exantema sin artritis</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Separan artificialmente a niños y adultos</a:t>
            </a:r>
            <a:endParaRPr lang="en-US" sz="1250" dirty="0"/>
          </a:p>
        </p:txBody>
      </p:sp>
      <p:sp>
        <p:nvSpPr>
          <p:cNvPr id="8" name="Shape 6"/>
          <p:cNvSpPr/>
          <p:nvPr/>
        </p:nvSpPr>
        <p:spPr>
          <a:xfrm>
            <a:off x="4709160" y="1280160"/>
            <a:ext cx="3977640" cy="2468880"/>
          </a:xfrm>
          <a:prstGeom prst="roundRect">
            <a:avLst>
              <a:gd name="adj" fmla="val 2963"/>
            </a:avLst>
          </a:prstGeom>
          <a:solidFill>
            <a:srgbClr val="E9F3F2"/>
          </a:solidFill>
          <a:ln w="12700">
            <a:solidFill>
              <a:srgbClr val="E9F3F2"/>
            </a:solidFill>
            <a:prstDash val="solid"/>
          </a:ln>
        </p:spPr>
      </p:sp>
      <p:sp>
        <p:nvSpPr>
          <p:cNvPr id="9" name="Text 7"/>
          <p:cNvSpPr txBox="1"/>
          <p:nvPr/>
        </p:nvSpPr>
        <p:spPr>
          <a:xfrm>
            <a:off x="4892040" y="1371600"/>
            <a:ext cx="3657600" cy="365760"/>
          </a:xfrm>
          <a:prstGeom prst="rect">
            <a:avLst/>
          </a:prstGeom>
          <a:noFill/>
          <a:ln/>
        </p:spPr>
        <p:txBody>
          <a:bodyPr wrap="square" lIns="0" tIns="0" rIns="0" bIns="0" rtlCol="0" anchor="t"/>
          <a:lstStyle/>
          <a:p>
            <a:pPr indent="0" marL="0">
              <a:buNone/>
            </a:pPr>
            <a:r>
              <a:rPr lang="en-US" sz="1500" b="1" dirty="0">
                <a:solidFill>
                  <a:srgbClr val="1F7F79"/>
                </a:solidFill>
                <a:latin typeface="Cambria" pitchFamily="34" charset="0"/>
                <a:ea typeface="Cambria" pitchFamily="34" charset="-122"/>
                <a:cs typeface="Cambria" pitchFamily="34" charset="-120"/>
              </a:rPr>
              <a:t>EULAR/PReS 2024</a:t>
            </a:r>
            <a:endParaRPr lang="en-US" sz="1500" dirty="0"/>
          </a:p>
        </p:txBody>
      </p:sp>
      <p:sp>
        <p:nvSpPr>
          <p:cNvPr id="10" name="Text 8"/>
          <p:cNvSpPr txBox="1"/>
          <p:nvPr/>
        </p:nvSpPr>
        <p:spPr>
          <a:xfrm>
            <a:off x="4892040" y="1828800"/>
            <a:ext cx="365760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La artritis apoya el diagnóstico pero no es necesaria y puede aparecer después</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Tampoco la exigen Yamaguchi ni los criterios de sJIA propuestos recientemente (PRINTO)</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Fiebre en picos ≥ 39 °C durante ≥ 7 días como dato central</a:t>
            </a:r>
            <a:endParaRPr lang="en-US" sz="1250" dirty="0"/>
          </a:p>
        </p:txBody>
      </p:sp>
      <p:sp>
        <p:nvSpPr>
          <p:cNvPr id="11" name="Shape 9"/>
          <p:cNvSpPr/>
          <p:nvPr/>
        </p:nvSpPr>
        <p:spPr>
          <a:xfrm>
            <a:off x="457200" y="3931920"/>
            <a:ext cx="8229600" cy="749808"/>
          </a:xfrm>
          <a:prstGeom prst="roundRect">
            <a:avLst>
              <a:gd name="adj" fmla="val 9756"/>
            </a:avLst>
          </a:prstGeom>
          <a:solidFill>
            <a:srgbClr val="F7EEF1"/>
          </a:solidFill>
          <a:ln w="12700">
            <a:solidFill>
              <a:srgbClr val="F7EEF1"/>
            </a:solidFill>
            <a:prstDash val="solid"/>
          </a:ln>
        </p:spPr>
      </p:sp>
      <p:sp>
        <p:nvSpPr>
          <p:cNvPr id="12" name="Text 10"/>
          <p:cNvSpPr txBox="1"/>
          <p:nvPr/>
        </p:nvSpPr>
        <p:spPr>
          <a:xfrm>
            <a:off x="640080" y="3931920"/>
            <a:ext cx="7863840" cy="749808"/>
          </a:xfrm>
          <a:prstGeom prst="rect">
            <a:avLst/>
          </a:prstGeom>
          <a:noFill/>
          <a:ln/>
        </p:spPr>
        <p:txBody>
          <a:bodyPr wrap="square" lIns="0" tIns="0" rIns="0" bIns="0" rtlCol="0" anchor="ctr"/>
          <a:lstStyle/>
          <a:p>
            <a:pPr indent="0" marL="0">
              <a:buNone/>
            </a:pPr>
            <a:r>
              <a:rPr lang="en-US" sz="1250" b="1" dirty="0">
                <a:solidFill>
                  <a:srgbClr val="7A1F45"/>
                </a:solidFill>
                <a:latin typeface="Calibri" pitchFamily="34" charset="0"/>
                <a:ea typeface="Calibri" pitchFamily="34" charset="-122"/>
                <a:cs typeface="Calibri" pitchFamily="34" charset="-120"/>
              </a:rPr>
              <a:t>Implicación práctica: </a:t>
            </a:r>
            <a:pPr indent="0" marL="0">
              <a:buNone/>
            </a:pPr>
            <a:r>
              <a:rPr lang="en-US" sz="1250" dirty="0">
                <a:solidFill>
                  <a:srgbClr val="2B2330"/>
                </a:solidFill>
                <a:latin typeface="Calibri" pitchFamily="34" charset="0"/>
                <a:ea typeface="Calibri" pitchFamily="34" charset="-122"/>
                <a:cs typeface="Calibri" pitchFamily="34" charset="-120"/>
              </a:rPr>
              <a:t>no esperar a que aparezca la artritis para diagnosticar y tratar; el retraso prolonga la exposición a glucocorticoides y el riesgo de SAM.</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DIAGNÓSTICO DIFERENCIAL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Un diagnóstico que exige descartar otras causas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Revisiones de ESA: Semin Arthritis Rheum. 2021 · Front Immunol. 2022 · Front Med. 2022</a:t>
            </a:r>
            <a:endParaRPr lang="en-US" sz="850" dirty="0"/>
          </a:p>
        </p:txBody>
      </p:sp>
      <p:sp>
        <p:nvSpPr>
          <p:cNvPr id="5" name="Shape 3"/>
          <p:cNvSpPr/>
          <p:nvPr/>
        </p:nvSpPr>
        <p:spPr>
          <a:xfrm>
            <a:off x="457200" y="1234440"/>
            <a:ext cx="2615184" cy="1600200"/>
          </a:xfrm>
          <a:prstGeom prst="roundRect">
            <a:avLst>
              <a:gd name="adj" fmla="val 4571"/>
            </a:avLst>
          </a:prstGeom>
          <a:solidFill>
            <a:srgbClr val="F7EEF1"/>
          </a:solidFill>
          <a:ln w="12700">
            <a:solidFill>
              <a:srgbClr val="F7EEF1"/>
            </a:solidFill>
            <a:prstDash val="solid"/>
          </a:ln>
        </p:spPr>
      </p:sp>
      <p:sp>
        <p:nvSpPr>
          <p:cNvPr id="6" name="Shape 4"/>
          <p:cNvSpPr/>
          <p:nvPr/>
        </p:nvSpPr>
        <p:spPr>
          <a:xfrm>
            <a:off x="594360" y="1371600"/>
            <a:ext cx="502920" cy="50292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20090" y="1497330"/>
            <a:ext cx="251460" cy="251460"/>
          </a:xfrm>
          <a:prstGeom prst="rect">
            <a:avLst/>
          </a:prstGeom>
        </p:spPr>
      </p:pic>
      <p:sp>
        <p:nvSpPr>
          <p:cNvPr id="8" name="Text 5"/>
          <p:cNvSpPr txBox="1"/>
          <p:nvPr/>
        </p:nvSpPr>
        <p:spPr>
          <a:xfrm>
            <a:off x="1207008" y="137160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Infecciones</a:t>
            </a:r>
            <a:endParaRPr lang="en-US" sz="1300" dirty="0"/>
          </a:p>
        </p:txBody>
      </p:sp>
      <p:sp>
        <p:nvSpPr>
          <p:cNvPr id="9" name="Text 6"/>
          <p:cNvSpPr txBox="1"/>
          <p:nvPr/>
        </p:nvSpPr>
        <p:spPr>
          <a:xfrm>
            <a:off x="594360" y="196596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Sepsis, endocarditis, tuberculosis, VEB, CMV, parvovirus B19, VIH, hepatitis</a:t>
            </a:r>
            <a:endParaRPr lang="en-US" sz="1050" dirty="0"/>
          </a:p>
        </p:txBody>
      </p:sp>
      <p:sp>
        <p:nvSpPr>
          <p:cNvPr id="10" name="Shape 7"/>
          <p:cNvSpPr/>
          <p:nvPr/>
        </p:nvSpPr>
        <p:spPr>
          <a:xfrm>
            <a:off x="3264408" y="1234440"/>
            <a:ext cx="2615184" cy="1600200"/>
          </a:xfrm>
          <a:prstGeom prst="roundRect">
            <a:avLst>
              <a:gd name="adj" fmla="val 4571"/>
            </a:avLst>
          </a:prstGeom>
          <a:solidFill>
            <a:srgbClr val="F7EEF1"/>
          </a:solidFill>
          <a:ln w="12700">
            <a:solidFill>
              <a:srgbClr val="F7EEF1"/>
            </a:solidFill>
            <a:prstDash val="solid"/>
          </a:ln>
        </p:spPr>
      </p:sp>
      <p:sp>
        <p:nvSpPr>
          <p:cNvPr id="11" name="Shape 8"/>
          <p:cNvSpPr/>
          <p:nvPr/>
        </p:nvSpPr>
        <p:spPr>
          <a:xfrm>
            <a:off x="3401568" y="1371600"/>
            <a:ext cx="502920" cy="502920"/>
          </a:xfrm>
          <a:prstGeom prst="ellipse">
            <a:avLst/>
          </a:prstGeom>
          <a:solidFill>
            <a:srgbClr val="D9472F"/>
          </a:solidFill>
          <a:ln w="12700">
            <a:solidFill>
              <a:srgbClr val="D9472F"/>
            </a:solidFill>
            <a:prstDash val="solid"/>
          </a:ln>
        </p:spPr>
      </p:sp>
      <p:pic>
        <p:nvPicPr>
          <p:cNvPr id="12" name="Image 1" descr="preencoded.png">    </p:cNvPr>
          <p:cNvPicPr>
            <a:picLocks noChangeAspect="1"/>
          </p:cNvPicPr>
          <p:nvPr/>
        </p:nvPicPr>
        <p:blipFill>
          <a:blip r:embed="rId2"/>
          <a:stretch>
            <a:fillRect/>
          </a:stretch>
        </p:blipFill>
        <p:spPr>
          <a:xfrm>
            <a:off x="3527298" y="1497330"/>
            <a:ext cx="251460" cy="251460"/>
          </a:xfrm>
          <a:prstGeom prst="rect">
            <a:avLst/>
          </a:prstGeom>
        </p:spPr>
      </p:pic>
      <p:sp>
        <p:nvSpPr>
          <p:cNvPr id="13" name="Text 9"/>
          <p:cNvSpPr txBox="1"/>
          <p:nvPr/>
        </p:nvSpPr>
        <p:spPr>
          <a:xfrm>
            <a:off x="4014216" y="137160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Neoplasias</a:t>
            </a:r>
            <a:endParaRPr lang="en-US" sz="1300" dirty="0"/>
          </a:p>
        </p:txBody>
      </p:sp>
      <p:sp>
        <p:nvSpPr>
          <p:cNvPr id="14" name="Text 10"/>
          <p:cNvSpPr txBox="1"/>
          <p:nvPr/>
        </p:nvSpPr>
        <p:spPr>
          <a:xfrm>
            <a:off x="3401568" y="196596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Linfoma (incluido el intravascular), leucemia, enfermedad de Castleman, tumores sólidos</a:t>
            </a:r>
            <a:endParaRPr lang="en-US" sz="1050" dirty="0"/>
          </a:p>
        </p:txBody>
      </p:sp>
      <p:sp>
        <p:nvSpPr>
          <p:cNvPr id="15" name="Shape 11"/>
          <p:cNvSpPr/>
          <p:nvPr/>
        </p:nvSpPr>
        <p:spPr>
          <a:xfrm>
            <a:off x="6071616" y="1234440"/>
            <a:ext cx="2615184" cy="1600200"/>
          </a:xfrm>
          <a:prstGeom prst="roundRect">
            <a:avLst>
              <a:gd name="adj" fmla="val 4571"/>
            </a:avLst>
          </a:prstGeom>
          <a:solidFill>
            <a:srgbClr val="F7EEF1"/>
          </a:solidFill>
          <a:ln w="12700">
            <a:solidFill>
              <a:srgbClr val="F7EEF1"/>
            </a:solidFill>
            <a:prstDash val="solid"/>
          </a:ln>
        </p:spPr>
      </p:sp>
      <p:sp>
        <p:nvSpPr>
          <p:cNvPr id="16" name="Shape 12"/>
          <p:cNvSpPr/>
          <p:nvPr/>
        </p:nvSpPr>
        <p:spPr>
          <a:xfrm>
            <a:off x="6208776" y="1371600"/>
            <a:ext cx="502920" cy="502920"/>
          </a:xfrm>
          <a:prstGeom prst="ellipse">
            <a:avLst/>
          </a:prstGeom>
          <a:solidFill>
            <a:srgbClr val="7A1F45"/>
          </a:solidFill>
          <a:ln w="12700">
            <a:solidFill>
              <a:srgbClr val="7A1F45"/>
            </a:solidFill>
            <a:prstDash val="solid"/>
          </a:ln>
        </p:spPr>
      </p:sp>
      <p:pic>
        <p:nvPicPr>
          <p:cNvPr id="17" name="Image 2" descr="preencoded.png">    </p:cNvPr>
          <p:cNvPicPr>
            <a:picLocks noChangeAspect="1"/>
          </p:cNvPicPr>
          <p:nvPr/>
        </p:nvPicPr>
        <p:blipFill>
          <a:blip r:embed="rId3"/>
          <a:stretch>
            <a:fillRect/>
          </a:stretch>
        </p:blipFill>
        <p:spPr>
          <a:xfrm>
            <a:off x="6334506" y="1497330"/>
            <a:ext cx="251460" cy="251460"/>
          </a:xfrm>
          <a:prstGeom prst="rect">
            <a:avLst/>
          </a:prstGeom>
        </p:spPr>
      </p:pic>
      <p:sp>
        <p:nvSpPr>
          <p:cNvPr id="18" name="Text 13"/>
          <p:cNvSpPr txBox="1"/>
          <p:nvPr/>
        </p:nvSpPr>
        <p:spPr>
          <a:xfrm>
            <a:off x="6821424" y="137160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Autoinflamatorias</a:t>
            </a:r>
            <a:endParaRPr lang="en-US" sz="1300" dirty="0"/>
          </a:p>
        </p:txBody>
      </p:sp>
      <p:sp>
        <p:nvSpPr>
          <p:cNvPr id="19" name="Text 14"/>
          <p:cNvSpPr txBox="1"/>
          <p:nvPr/>
        </p:nvSpPr>
        <p:spPr>
          <a:xfrm>
            <a:off x="6208776" y="196596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Fiebres periódicas monogénicas (TRAPS, FMF, CAPS), síndrome de Schnitzler</a:t>
            </a:r>
            <a:endParaRPr lang="en-US" sz="1050" dirty="0"/>
          </a:p>
        </p:txBody>
      </p:sp>
      <p:sp>
        <p:nvSpPr>
          <p:cNvPr id="20" name="Shape 15"/>
          <p:cNvSpPr/>
          <p:nvPr/>
        </p:nvSpPr>
        <p:spPr>
          <a:xfrm>
            <a:off x="457200" y="2971800"/>
            <a:ext cx="2615184" cy="1600200"/>
          </a:xfrm>
          <a:prstGeom prst="roundRect">
            <a:avLst>
              <a:gd name="adj" fmla="val 4571"/>
            </a:avLst>
          </a:prstGeom>
          <a:solidFill>
            <a:srgbClr val="F7EEF1"/>
          </a:solidFill>
          <a:ln w="12700">
            <a:solidFill>
              <a:srgbClr val="F7EEF1"/>
            </a:solidFill>
            <a:prstDash val="solid"/>
          </a:ln>
        </p:spPr>
      </p:sp>
      <p:sp>
        <p:nvSpPr>
          <p:cNvPr id="21" name="Shape 16"/>
          <p:cNvSpPr/>
          <p:nvPr/>
        </p:nvSpPr>
        <p:spPr>
          <a:xfrm>
            <a:off x="594360" y="3108960"/>
            <a:ext cx="502920" cy="502920"/>
          </a:xfrm>
          <a:prstGeom prst="ellipse">
            <a:avLst/>
          </a:prstGeom>
          <a:solidFill>
            <a:srgbClr val="7A1F45"/>
          </a:solidFill>
          <a:ln w="12700">
            <a:solidFill>
              <a:srgbClr val="7A1F45"/>
            </a:solidFill>
            <a:prstDash val="solid"/>
          </a:ln>
        </p:spPr>
      </p:sp>
      <p:pic>
        <p:nvPicPr>
          <p:cNvPr id="22" name="Image 3" descr="preencoded.png">    </p:cNvPr>
          <p:cNvPicPr>
            <a:picLocks noChangeAspect="1"/>
          </p:cNvPicPr>
          <p:nvPr/>
        </p:nvPicPr>
        <p:blipFill>
          <a:blip r:embed="rId4"/>
          <a:stretch>
            <a:fillRect/>
          </a:stretch>
        </p:blipFill>
        <p:spPr>
          <a:xfrm>
            <a:off x="720090" y="3234690"/>
            <a:ext cx="251460" cy="251460"/>
          </a:xfrm>
          <a:prstGeom prst="rect">
            <a:avLst/>
          </a:prstGeom>
        </p:spPr>
      </p:pic>
      <p:sp>
        <p:nvSpPr>
          <p:cNvPr id="23" name="Text 17"/>
          <p:cNvSpPr txBox="1"/>
          <p:nvPr/>
        </p:nvSpPr>
        <p:spPr>
          <a:xfrm>
            <a:off x="1207008" y="310896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Autoinmunes y vasculitis</a:t>
            </a:r>
            <a:endParaRPr lang="en-US" sz="1300" dirty="0"/>
          </a:p>
        </p:txBody>
      </p:sp>
      <p:sp>
        <p:nvSpPr>
          <p:cNvPr id="24" name="Text 18"/>
          <p:cNvSpPr txBox="1"/>
          <p:nvPr/>
        </p:nvSpPr>
        <p:spPr>
          <a:xfrm>
            <a:off x="594360" y="370332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LES, vasculitis sistémicas, dermatomiositis, sarcoidosis</a:t>
            </a:r>
            <a:endParaRPr lang="en-US" sz="1050" dirty="0"/>
          </a:p>
        </p:txBody>
      </p:sp>
      <p:sp>
        <p:nvSpPr>
          <p:cNvPr id="25" name="Shape 19"/>
          <p:cNvSpPr/>
          <p:nvPr/>
        </p:nvSpPr>
        <p:spPr>
          <a:xfrm>
            <a:off x="3264408" y="2971800"/>
            <a:ext cx="2615184" cy="1600200"/>
          </a:xfrm>
          <a:prstGeom prst="roundRect">
            <a:avLst>
              <a:gd name="adj" fmla="val 4571"/>
            </a:avLst>
          </a:prstGeom>
          <a:solidFill>
            <a:srgbClr val="F7EEF1"/>
          </a:solidFill>
          <a:ln w="12700">
            <a:solidFill>
              <a:srgbClr val="F7EEF1"/>
            </a:solidFill>
            <a:prstDash val="solid"/>
          </a:ln>
        </p:spPr>
      </p:sp>
      <p:sp>
        <p:nvSpPr>
          <p:cNvPr id="26" name="Shape 20"/>
          <p:cNvSpPr/>
          <p:nvPr/>
        </p:nvSpPr>
        <p:spPr>
          <a:xfrm>
            <a:off x="3401568" y="3108960"/>
            <a:ext cx="502920" cy="502920"/>
          </a:xfrm>
          <a:prstGeom prst="ellipse">
            <a:avLst/>
          </a:prstGeom>
          <a:solidFill>
            <a:srgbClr val="A2456A"/>
          </a:solidFill>
          <a:ln w="12700">
            <a:solidFill>
              <a:srgbClr val="A2456A"/>
            </a:solidFill>
            <a:prstDash val="solid"/>
          </a:ln>
        </p:spPr>
      </p:sp>
      <p:pic>
        <p:nvPicPr>
          <p:cNvPr id="27" name="Image 4" descr="preencoded.png">    </p:cNvPr>
          <p:cNvPicPr>
            <a:picLocks noChangeAspect="1"/>
          </p:cNvPicPr>
          <p:nvPr/>
        </p:nvPicPr>
        <p:blipFill>
          <a:blip r:embed="rId5"/>
          <a:stretch>
            <a:fillRect/>
          </a:stretch>
        </p:blipFill>
        <p:spPr>
          <a:xfrm>
            <a:off x="3527298" y="3234690"/>
            <a:ext cx="251460" cy="251460"/>
          </a:xfrm>
          <a:prstGeom prst="rect">
            <a:avLst/>
          </a:prstGeom>
        </p:spPr>
      </p:pic>
      <p:sp>
        <p:nvSpPr>
          <p:cNvPr id="28" name="Text 21"/>
          <p:cNvSpPr txBox="1"/>
          <p:nvPr/>
        </p:nvSpPr>
        <p:spPr>
          <a:xfrm>
            <a:off x="4014216" y="310896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Fármacos</a:t>
            </a:r>
            <a:endParaRPr lang="en-US" sz="1300" dirty="0"/>
          </a:p>
        </p:txBody>
      </p:sp>
      <p:sp>
        <p:nvSpPr>
          <p:cNvPr id="29" name="Text 22"/>
          <p:cNvSpPr txBox="1"/>
          <p:nvPr/>
        </p:nvSpPr>
        <p:spPr>
          <a:xfrm>
            <a:off x="3401568" y="370332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Reacción con eosinofilia y síntomas sistémicos (DRESS), enfermedad del suero</a:t>
            </a:r>
            <a:endParaRPr lang="en-US" sz="1050" dirty="0"/>
          </a:p>
        </p:txBody>
      </p:sp>
      <p:sp>
        <p:nvSpPr>
          <p:cNvPr id="30" name="Shape 23"/>
          <p:cNvSpPr/>
          <p:nvPr/>
        </p:nvSpPr>
        <p:spPr>
          <a:xfrm>
            <a:off x="6071616" y="2971800"/>
            <a:ext cx="2615184" cy="1600200"/>
          </a:xfrm>
          <a:prstGeom prst="roundRect">
            <a:avLst>
              <a:gd name="adj" fmla="val 4571"/>
            </a:avLst>
          </a:prstGeom>
          <a:solidFill>
            <a:srgbClr val="F7EEF1"/>
          </a:solidFill>
          <a:ln w="12700">
            <a:solidFill>
              <a:srgbClr val="F7EEF1"/>
            </a:solidFill>
            <a:prstDash val="solid"/>
          </a:ln>
        </p:spPr>
      </p:sp>
      <p:sp>
        <p:nvSpPr>
          <p:cNvPr id="31" name="Shape 24"/>
          <p:cNvSpPr/>
          <p:nvPr/>
        </p:nvSpPr>
        <p:spPr>
          <a:xfrm>
            <a:off x="6208776" y="3108960"/>
            <a:ext cx="502920" cy="502920"/>
          </a:xfrm>
          <a:prstGeom prst="ellipse">
            <a:avLst/>
          </a:prstGeom>
          <a:solidFill>
            <a:srgbClr val="A2456A"/>
          </a:solidFill>
          <a:ln w="12700">
            <a:solidFill>
              <a:srgbClr val="A2456A"/>
            </a:solidFill>
            <a:prstDash val="solid"/>
          </a:ln>
        </p:spPr>
      </p:sp>
      <p:pic>
        <p:nvPicPr>
          <p:cNvPr id="32" name="Image 5" descr="preencoded.png">    </p:cNvPr>
          <p:cNvPicPr>
            <a:picLocks noChangeAspect="1"/>
          </p:cNvPicPr>
          <p:nvPr/>
        </p:nvPicPr>
        <p:blipFill>
          <a:blip r:embed="rId6"/>
          <a:stretch>
            <a:fillRect/>
          </a:stretch>
        </p:blipFill>
        <p:spPr>
          <a:xfrm>
            <a:off x="6334506" y="3234690"/>
            <a:ext cx="251460" cy="251460"/>
          </a:xfrm>
          <a:prstGeom prst="rect">
            <a:avLst/>
          </a:prstGeom>
        </p:spPr>
      </p:pic>
      <p:sp>
        <p:nvSpPr>
          <p:cNvPr id="33" name="Text 25"/>
          <p:cNvSpPr txBox="1"/>
          <p:nvPr/>
        </p:nvSpPr>
        <p:spPr>
          <a:xfrm>
            <a:off x="6821424" y="3108960"/>
            <a:ext cx="1783080" cy="502920"/>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Otros</a:t>
            </a:r>
            <a:endParaRPr lang="en-US" sz="1300" dirty="0"/>
          </a:p>
        </p:txBody>
      </p:sp>
      <p:sp>
        <p:nvSpPr>
          <p:cNvPr id="34" name="Text 26"/>
          <p:cNvSpPr txBox="1"/>
          <p:nvPr/>
        </p:nvSpPr>
        <p:spPr>
          <a:xfrm>
            <a:off x="6208776" y="3703320"/>
            <a:ext cx="2377440" cy="82296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Enfermedad de Kikuchi-Fujimoto, síndrome de Sweet, linfohistiocitosis hemofagocítica primaria</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DIAGNÓSTICO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Enfoque diagnóstico práctico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325880"/>
            <a:ext cx="1874520" cy="1737360"/>
          </a:xfrm>
          <a:prstGeom prst="roundRect">
            <a:avLst>
              <a:gd name="adj" fmla="val 4211"/>
            </a:avLst>
          </a:prstGeom>
          <a:solidFill>
            <a:srgbClr val="2A1433"/>
          </a:solidFill>
          <a:ln w="12700">
            <a:solidFill>
              <a:srgbClr val="2A1433"/>
            </a:solidFill>
            <a:prstDash val="solid"/>
          </a:ln>
        </p:spPr>
      </p:sp>
      <p:sp>
        <p:nvSpPr>
          <p:cNvPr id="6" name="Text 4"/>
          <p:cNvSpPr txBox="1"/>
          <p:nvPr/>
        </p:nvSpPr>
        <p:spPr>
          <a:xfrm>
            <a:off x="530352" y="1325880"/>
            <a:ext cx="1728216"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Sospecha clínica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Fiebre en picos ≥ 39 °C ≥ 7 días + exantema, artralgias u odinofagia</a:t>
            </a:r>
            <a:endParaRPr lang="en-US" sz="1100" dirty="0"/>
          </a:p>
        </p:txBody>
      </p:sp>
      <p:sp>
        <p:nvSpPr>
          <p:cNvPr id="7" name="Shape 5"/>
          <p:cNvSpPr/>
          <p:nvPr/>
        </p:nvSpPr>
        <p:spPr>
          <a:xfrm>
            <a:off x="2350008" y="2194560"/>
            <a:ext cx="192024" cy="914"/>
          </a:xfrm>
          <a:prstGeom prst="line">
            <a:avLst/>
          </a:prstGeom>
          <a:noFill/>
          <a:ln w="25400">
            <a:solidFill>
              <a:srgbClr val="6E6573"/>
            </a:solidFill>
            <a:prstDash val="solid"/>
            <a:tailEnd type="triangle"/>
          </a:ln>
        </p:spPr>
      </p:sp>
      <p:sp>
        <p:nvSpPr>
          <p:cNvPr id="8" name="Shape 6"/>
          <p:cNvSpPr/>
          <p:nvPr/>
        </p:nvSpPr>
        <p:spPr>
          <a:xfrm>
            <a:off x="2560320" y="1325880"/>
            <a:ext cx="1874520" cy="1737360"/>
          </a:xfrm>
          <a:prstGeom prst="roundRect">
            <a:avLst>
              <a:gd name="adj" fmla="val 4211"/>
            </a:avLst>
          </a:prstGeom>
          <a:solidFill>
            <a:srgbClr val="7A1F45"/>
          </a:solidFill>
          <a:ln w="12700">
            <a:solidFill>
              <a:srgbClr val="7A1F45"/>
            </a:solidFill>
            <a:prstDash val="solid"/>
          </a:ln>
        </p:spPr>
      </p:sp>
      <p:sp>
        <p:nvSpPr>
          <p:cNvPr id="9" name="Text 7"/>
          <p:cNvSpPr txBox="1"/>
          <p:nvPr/>
        </p:nvSpPr>
        <p:spPr>
          <a:xfrm>
            <a:off x="2633472" y="1325880"/>
            <a:ext cx="1728216"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Laboratorio</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Hemograma, PCR, VSG, ferritina (± glicosilada), pruebas hepáticas, IL-18/S100 si disponibles</a:t>
            </a:r>
            <a:endParaRPr lang="en-US" sz="1100" dirty="0"/>
          </a:p>
        </p:txBody>
      </p:sp>
      <p:sp>
        <p:nvSpPr>
          <p:cNvPr id="10" name="Shape 8"/>
          <p:cNvSpPr/>
          <p:nvPr/>
        </p:nvSpPr>
        <p:spPr>
          <a:xfrm>
            <a:off x="4453128" y="2194560"/>
            <a:ext cx="192024" cy="914"/>
          </a:xfrm>
          <a:prstGeom prst="line">
            <a:avLst/>
          </a:prstGeom>
          <a:noFill/>
          <a:ln w="25400">
            <a:solidFill>
              <a:srgbClr val="6E6573"/>
            </a:solidFill>
            <a:prstDash val="solid"/>
            <a:tailEnd type="triangle"/>
          </a:ln>
        </p:spPr>
      </p:sp>
      <p:sp>
        <p:nvSpPr>
          <p:cNvPr id="11" name="Shape 9"/>
          <p:cNvSpPr/>
          <p:nvPr/>
        </p:nvSpPr>
        <p:spPr>
          <a:xfrm>
            <a:off x="4663440" y="1325880"/>
            <a:ext cx="1874520" cy="1737360"/>
          </a:xfrm>
          <a:prstGeom prst="roundRect">
            <a:avLst>
              <a:gd name="adj" fmla="val 4211"/>
            </a:avLst>
          </a:prstGeom>
          <a:solidFill>
            <a:srgbClr val="D9472F"/>
          </a:solidFill>
          <a:ln w="12700">
            <a:solidFill>
              <a:srgbClr val="D9472F"/>
            </a:solidFill>
            <a:prstDash val="solid"/>
          </a:ln>
        </p:spPr>
      </p:sp>
      <p:sp>
        <p:nvSpPr>
          <p:cNvPr id="12" name="Text 10"/>
          <p:cNvSpPr txBox="1"/>
          <p:nvPr/>
        </p:nvSpPr>
        <p:spPr>
          <a:xfrm>
            <a:off x="4736592" y="1325880"/>
            <a:ext cx="1728216"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Descartar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Cultivos, serologías, imagen (TC o PET-TC), biopsia de ganglio o médula si hay duda</a:t>
            </a:r>
            <a:endParaRPr lang="en-US" sz="1100" dirty="0"/>
          </a:p>
        </p:txBody>
      </p:sp>
      <p:sp>
        <p:nvSpPr>
          <p:cNvPr id="13" name="Shape 11"/>
          <p:cNvSpPr/>
          <p:nvPr/>
        </p:nvSpPr>
        <p:spPr>
          <a:xfrm>
            <a:off x="6556248" y="2194560"/>
            <a:ext cx="192024" cy="914"/>
          </a:xfrm>
          <a:prstGeom prst="line">
            <a:avLst/>
          </a:prstGeom>
          <a:noFill/>
          <a:ln w="25400">
            <a:solidFill>
              <a:srgbClr val="6E6573"/>
            </a:solidFill>
            <a:prstDash val="solid"/>
            <a:tailEnd type="triangle"/>
          </a:ln>
        </p:spPr>
      </p:sp>
      <p:sp>
        <p:nvSpPr>
          <p:cNvPr id="14" name="Shape 12"/>
          <p:cNvSpPr/>
          <p:nvPr/>
        </p:nvSpPr>
        <p:spPr>
          <a:xfrm>
            <a:off x="6766560" y="1325880"/>
            <a:ext cx="1874520" cy="1737360"/>
          </a:xfrm>
          <a:prstGeom prst="roundRect">
            <a:avLst>
              <a:gd name="adj" fmla="val 4211"/>
            </a:avLst>
          </a:prstGeom>
          <a:solidFill>
            <a:srgbClr val="1F7F79"/>
          </a:solidFill>
          <a:ln w="12700">
            <a:solidFill>
              <a:srgbClr val="1F7F79"/>
            </a:solidFill>
            <a:prstDash val="solid"/>
          </a:ln>
        </p:spPr>
      </p:sp>
      <p:sp>
        <p:nvSpPr>
          <p:cNvPr id="15" name="Text 13"/>
          <p:cNvSpPr txBox="1"/>
          <p:nvPr/>
        </p:nvSpPr>
        <p:spPr>
          <a:xfrm>
            <a:off x="6839712" y="1325880"/>
            <a:ext cx="1728216"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Integrar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Criterios de Yamaguchi o Fautrel + biomarcadores</a:t>
            </a:r>
            <a:endParaRPr lang="en-US" sz="1100" dirty="0"/>
          </a:p>
        </p:txBody>
      </p:sp>
      <p:sp>
        <p:nvSpPr>
          <p:cNvPr id="16" name="Shape 14"/>
          <p:cNvSpPr/>
          <p:nvPr/>
        </p:nvSpPr>
        <p:spPr>
          <a:xfrm>
            <a:off x="457200" y="3291840"/>
            <a:ext cx="8229600" cy="1371600"/>
          </a:xfrm>
          <a:prstGeom prst="roundRect">
            <a:avLst>
              <a:gd name="adj" fmla="val 5333"/>
            </a:avLst>
          </a:prstGeom>
          <a:solidFill>
            <a:srgbClr val="FBE3DE"/>
          </a:solidFill>
          <a:ln w="12700">
            <a:solidFill>
              <a:srgbClr val="FBE3DE"/>
            </a:solidFill>
            <a:prstDash val="solid"/>
          </a:ln>
        </p:spPr>
      </p:sp>
      <p:sp>
        <p:nvSpPr>
          <p:cNvPr id="17" name="Shape 15"/>
          <p:cNvSpPr/>
          <p:nvPr/>
        </p:nvSpPr>
        <p:spPr>
          <a:xfrm>
            <a:off x="640080" y="3520440"/>
            <a:ext cx="640080" cy="640080"/>
          </a:xfrm>
          <a:prstGeom prst="ellipse">
            <a:avLst/>
          </a:prstGeom>
          <a:solidFill>
            <a:srgbClr val="D9472F"/>
          </a:solidFill>
          <a:ln w="12700">
            <a:solidFill>
              <a:srgbClr val="D9472F"/>
            </a:solidFill>
            <a:prstDash val="solid"/>
          </a:ln>
        </p:spPr>
      </p:sp>
      <p:pic>
        <p:nvPicPr>
          <p:cNvPr id="18" name="Image 0" descr="preencoded.png">    </p:cNvPr>
          <p:cNvPicPr>
            <a:picLocks noChangeAspect="1"/>
          </p:cNvPicPr>
          <p:nvPr/>
        </p:nvPicPr>
        <p:blipFill>
          <a:blip r:embed="rId1"/>
          <a:stretch>
            <a:fillRect/>
          </a:stretch>
        </p:blipFill>
        <p:spPr>
          <a:xfrm>
            <a:off x="800100" y="3680460"/>
            <a:ext cx="320040" cy="320040"/>
          </a:xfrm>
          <a:prstGeom prst="rect">
            <a:avLst/>
          </a:prstGeom>
        </p:spPr>
      </p:pic>
      <p:sp>
        <p:nvSpPr>
          <p:cNvPr id="19" name="Text 16"/>
          <p:cNvSpPr txBox="1"/>
          <p:nvPr/>
        </p:nvSpPr>
        <p:spPr>
          <a:xfrm>
            <a:off x="1463040" y="3383280"/>
            <a:ext cx="7040880" cy="365760"/>
          </a:xfrm>
          <a:prstGeom prst="rect">
            <a:avLst/>
          </a:prstGeom>
          <a:noFill/>
          <a:ln/>
        </p:spPr>
        <p:txBody>
          <a:bodyPr wrap="square" lIns="0" tIns="0" rIns="0" bIns="0" rtlCol="0" anchor="t"/>
          <a:lstStyle/>
          <a:p>
            <a:pPr indent="0" marL="0">
              <a:buNone/>
            </a:pPr>
            <a:r>
              <a:rPr lang="en-US" sz="1400" b="1" dirty="0">
                <a:solidFill>
                  <a:srgbClr val="D9472F"/>
                </a:solidFill>
                <a:latin typeface="Calibri" pitchFamily="34" charset="0"/>
                <a:ea typeface="Calibri" pitchFamily="34" charset="-122"/>
                <a:cs typeface="Calibri" pitchFamily="34" charset="-120"/>
              </a:rPr>
              <a:t>Desde el primer día: buscar SAM</a:t>
            </a:r>
            <a:endParaRPr lang="en-US" sz="1400" dirty="0"/>
          </a:p>
        </p:txBody>
      </p:sp>
      <p:sp>
        <p:nvSpPr>
          <p:cNvPr id="20" name="Text 17"/>
          <p:cNvSpPr txBox="1"/>
          <p:nvPr/>
        </p:nvSpPr>
        <p:spPr>
          <a:xfrm>
            <a:off x="1463040" y="3749040"/>
            <a:ext cx="7040880" cy="868680"/>
          </a:xfrm>
          <a:prstGeom prst="rect">
            <a:avLst/>
          </a:prstGeom>
          <a:noFill/>
          <a:ln/>
        </p:spPr>
        <p:txBody>
          <a:bodyPr wrap="square" lIns="0" tIns="0" rIns="0" bIns="0" rtlCol="0" anchor="t"/>
          <a:lstStyle/>
          <a:p>
            <a:pPr indent="0" marL="0">
              <a:buNone/>
            </a:pPr>
            <a:r>
              <a:rPr lang="en-US" sz="1200" dirty="0">
                <a:solidFill>
                  <a:srgbClr val="2B2330"/>
                </a:solidFill>
                <a:latin typeface="Calibri" pitchFamily="34" charset="0"/>
                <a:ea typeface="Calibri" pitchFamily="34" charset="-122"/>
                <a:cs typeface="Calibri" pitchFamily="34" charset="-120"/>
              </a:rPr>
              <a:t>Citopenias o descenso de plaquetas, caída de VSG y fibrinógeno, aumento brusco de ferritina, transaminasas y triglicéridos, alteración neurológica o sangrado. Ante sospecha: ferritina diaria o cada 12 horas.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SÍNDROME DE ACTIVACIÓN MACROFÁGICA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SAM: la complicación más temida</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Revisión de alcance: Proc (Bayl Univ Med Cent). 2025 · cohorte GIRRCS</a:t>
            </a:r>
            <a:endParaRPr lang="en-US" sz="850" dirty="0"/>
          </a:p>
        </p:txBody>
      </p:sp>
      <p:sp>
        <p:nvSpPr>
          <p:cNvPr id="5" name="Text 3"/>
          <p:cNvSpPr txBox="1"/>
          <p:nvPr/>
        </p:nvSpPr>
        <p:spPr>
          <a:xfrm>
            <a:off x="457200" y="1234440"/>
            <a:ext cx="1920240" cy="566928"/>
          </a:xfrm>
          <a:prstGeom prst="rect">
            <a:avLst/>
          </a:prstGeom>
          <a:noFill/>
          <a:ln/>
        </p:spPr>
        <p:txBody>
          <a:bodyPr wrap="square" lIns="0" tIns="0" rIns="0" bIns="0" rtlCol="0" anchor="b"/>
          <a:lstStyle/>
          <a:p>
            <a:pPr indent="0" marL="0">
              <a:buNone/>
            </a:pPr>
            <a:r>
              <a:rPr lang="en-US" sz="2800" b="1" dirty="0">
                <a:solidFill>
                  <a:srgbClr val="D9472F"/>
                </a:solidFill>
                <a:latin typeface="Cambria" pitchFamily="34" charset="0"/>
                <a:ea typeface="Cambria" pitchFamily="34" charset="-122"/>
                <a:cs typeface="Cambria" pitchFamily="34" charset="-120"/>
              </a:rPr>
              <a:t>hasta 15 %</a:t>
            </a:r>
            <a:endParaRPr lang="en-US" sz="2800" dirty="0"/>
          </a:p>
        </p:txBody>
      </p:sp>
      <p:sp>
        <p:nvSpPr>
          <p:cNvPr id="6" name="Text 4"/>
          <p:cNvSpPr txBox="1"/>
          <p:nvPr/>
        </p:nvSpPr>
        <p:spPr>
          <a:xfrm>
            <a:off x="4572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los pacientes con ESA desarrollan SAM</a:t>
            </a:r>
            <a:endParaRPr lang="en-US" sz="1150" dirty="0"/>
          </a:p>
        </p:txBody>
      </p:sp>
      <p:sp>
        <p:nvSpPr>
          <p:cNvPr id="7" name="Text 5"/>
          <p:cNvSpPr txBox="1"/>
          <p:nvPr/>
        </p:nvSpPr>
        <p:spPr>
          <a:xfrm>
            <a:off x="2514600" y="1234440"/>
            <a:ext cx="1920240" cy="566928"/>
          </a:xfrm>
          <a:prstGeom prst="rect">
            <a:avLst/>
          </a:prstGeom>
          <a:noFill/>
          <a:ln/>
        </p:spPr>
        <p:txBody>
          <a:bodyPr wrap="square" lIns="0" tIns="0" rIns="0" bIns="0" rtlCol="0" anchor="b"/>
          <a:lstStyle/>
          <a:p>
            <a:pPr indent="0" marL="0">
              <a:buNone/>
            </a:pPr>
            <a:r>
              <a:rPr lang="en-US" sz="2800" b="1" dirty="0">
                <a:solidFill>
                  <a:srgbClr val="D9472F"/>
                </a:solidFill>
                <a:latin typeface="Cambria" pitchFamily="34" charset="0"/>
                <a:ea typeface="Cambria" pitchFamily="34" charset="-122"/>
                <a:cs typeface="Cambria" pitchFamily="34" charset="-120"/>
              </a:rPr>
              <a:t>10–20 %</a:t>
            </a:r>
            <a:endParaRPr lang="en-US" sz="2800" dirty="0"/>
          </a:p>
        </p:txBody>
      </p:sp>
      <p:sp>
        <p:nvSpPr>
          <p:cNvPr id="8" name="Text 6"/>
          <p:cNvSpPr txBox="1"/>
          <p:nvPr/>
        </p:nvSpPr>
        <p:spPr>
          <a:xfrm>
            <a:off x="25146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mortalidad del SAM asociado a ESA</a:t>
            </a:r>
            <a:endParaRPr lang="en-US" sz="1150" dirty="0"/>
          </a:p>
        </p:txBody>
      </p:sp>
      <p:sp>
        <p:nvSpPr>
          <p:cNvPr id="9" name="Text 7"/>
          <p:cNvSpPr txBox="1"/>
          <p:nvPr/>
        </p:nvSpPr>
        <p:spPr>
          <a:xfrm>
            <a:off x="4572000" y="1234440"/>
            <a:ext cx="1920240" cy="566928"/>
          </a:xfrm>
          <a:prstGeom prst="rect">
            <a:avLst/>
          </a:prstGeom>
          <a:noFill/>
          <a:ln/>
        </p:spPr>
        <p:txBody>
          <a:bodyPr wrap="square" lIns="0" tIns="0" rIns="0" bIns="0" rtlCol="0" anchor="b"/>
          <a:lstStyle/>
          <a:p>
            <a:pPr indent="0" marL="0">
              <a:buNone/>
            </a:pPr>
            <a:r>
              <a:rPr lang="en-US" sz="2800" b="1" dirty="0">
                <a:solidFill>
                  <a:srgbClr val="7A1F45"/>
                </a:solidFill>
                <a:latin typeface="Cambria" pitchFamily="34" charset="0"/>
                <a:ea typeface="Cambria" pitchFamily="34" charset="-122"/>
                <a:cs typeface="Cambria" pitchFamily="34" charset="-120"/>
              </a:rPr>
              <a:t>12,1 %</a:t>
            </a:r>
            <a:endParaRPr lang="en-US" sz="2800" dirty="0"/>
          </a:p>
        </p:txBody>
      </p:sp>
      <p:sp>
        <p:nvSpPr>
          <p:cNvPr id="10" name="Text 8"/>
          <p:cNvSpPr txBox="1"/>
          <p:nvPr/>
        </p:nvSpPr>
        <p:spPr>
          <a:xfrm>
            <a:off x="45720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mortalidad global en una revisión de 83 estudios</a:t>
            </a:r>
            <a:endParaRPr lang="en-US" sz="1150" dirty="0"/>
          </a:p>
        </p:txBody>
      </p:sp>
      <p:sp>
        <p:nvSpPr>
          <p:cNvPr id="11" name="Text 9"/>
          <p:cNvSpPr txBox="1"/>
          <p:nvPr/>
        </p:nvSpPr>
        <p:spPr>
          <a:xfrm>
            <a:off x="6629400" y="1234440"/>
            <a:ext cx="2057400" cy="566928"/>
          </a:xfrm>
          <a:prstGeom prst="rect">
            <a:avLst/>
          </a:prstGeom>
          <a:noFill/>
          <a:ln/>
        </p:spPr>
        <p:txBody>
          <a:bodyPr wrap="square" lIns="0" tIns="0" rIns="0" bIns="0" rtlCol="0" anchor="b"/>
          <a:lstStyle/>
          <a:p>
            <a:pPr indent="0" marL="0">
              <a:buNone/>
            </a:pPr>
            <a:r>
              <a:rPr lang="en-US" sz="2800" b="1" dirty="0">
                <a:solidFill>
                  <a:srgbClr val="7A1F45"/>
                </a:solidFill>
                <a:latin typeface="Cambria" pitchFamily="34" charset="0"/>
                <a:ea typeface="Cambria" pitchFamily="34" charset="-122"/>
                <a:cs typeface="Cambria" pitchFamily="34" charset="-120"/>
              </a:rPr>
              <a:t>72 %</a:t>
            </a:r>
            <a:endParaRPr lang="en-US" sz="2800" dirty="0"/>
          </a:p>
        </p:txBody>
      </p:sp>
      <p:sp>
        <p:nvSpPr>
          <p:cNvPr id="12" name="Text 10"/>
          <p:cNvSpPr txBox="1"/>
          <p:nvPr/>
        </p:nvSpPr>
        <p:spPr>
          <a:xfrm>
            <a:off x="6629400" y="1837944"/>
            <a:ext cx="205740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mujeres entre los casos de SAM (edad media ~40 años)</a:t>
            </a:r>
            <a:endParaRPr lang="en-US" sz="1150" dirty="0"/>
          </a:p>
        </p:txBody>
      </p:sp>
      <p:sp>
        <p:nvSpPr>
          <p:cNvPr id="13" name="Shape 11"/>
          <p:cNvSpPr/>
          <p:nvPr/>
        </p:nvSpPr>
        <p:spPr>
          <a:xfrm>
            <a:off x="457200" y="2606040"/>
            <a:ext cx="3977640" cy="2057400"/>
          </a:xfrm>
          <a:prstGeom prst="roundRect">
            <a:avLst>
              <a:gd name="adj" fmla="val 3556"/>
            </a:avLst>
          </a:prstGeom>
          <a:solidFill>
            <a:srgbClr val="F7EEF1"/>
          </a:solidFill>
          <a:ln w="12700">
            <a:solidFill>
              <a:srgbClr val="F7EEF1"/>
            </a:solidFill>
            <a:prstDash val="solid"/>
          </a:ln>
        </p:spPr>
      </p:sp>
      <p:sp>
        <p:nvSpPr>
          <p:cNvPr id="14" name="Text 12"/>
          <p:cNvSpPr txBox="1"/>
          <p:nvPr/>
        </p:nvSpPr>
        <p:spPr>
          <a:xfrm>
            <a:off x="640080" y="2697480"/>
            <a:ext cx="3657600" cy="320040"/>
          </a:xfrm>
          <a:prstGeom prst="rect">
            <a:avLst/>
          </a:prstGeom>
          <a:noFill/>
          <a:ln/>
        </p:spPr>
        <p:txBody>
          <a:bodyPr wrap="square" lIns="0" tIns="0" rIns="0" bIns="0" rtlCol="0" anchor="t"/>
          <a:lstStyle/>
          <a:p>
            <a:pPr indent="0" marL="0">
              <a:buNone/>
            </a:pPr>
            <a:r>
              <a:rPr lang="en-US" sz="1400" b="1" dirty="0">
                <a:solidFill>
                  <a:srgbClr val="7A1F45"/>
                </a:solidFill>
                <a:latin typeface="Calibri" pitchFamily="34" charset="0"/>
                <a:ea typeface="Calibri" pitchFamily="34" charset="-122"/>
                <a:cs typeface="Calibri" pitchFamily="34" charset="-120"/>
              </a:rPr>
              <a:t>¿Qué es?</a:t>
            </a:r>
            <a:endParaRPr lang="en-US" sz="1400" dirty="0"/>
          </a:p>
        </p:txBody>
      </p:sp>
      <p:sp>
        <p:nvSpPr>
          <p:cNvPr id="15" name="Text 13"/>
          <p:cNvSpPr txBox="1"/>
          <p:nvPr/>
        </p:nvSpPr>
        <p:spPr>
          <a:xfrm>
            <a:off x="640080" y="3063240"/>
            <a:ext cx="3657600" cy="1554480"/>
          </a:xfrm>
          <a:prstGeom prst="rect">
            <a:avLst/>
          </a:prstGeom>
          <a:noFill/>
          <a:ln/>
        </p:spPr>
        <p:txBody>
          <a:bodyPr wrap="square" lIns="0" tIns="0" rIns="0" bIns="0" rtlCol="0" anchor="t"/>
          <a:lstStyle/>
          <a:p>
            <a:pPr indent="0" marL="0">
              <a:buNone/>
            </a:pPr>
            <a:r>
              <a:rPr lang="en-US" sz="1200" dirty="0">
                <a:solidFill>
                  <a:srgbClr val="2B2330"/>
                </a:solidFill>
                <a:latin typeface="Calibri" pitchFamily="34" charset="0"/>
                <a:ea typeface="Calibri" pitchFamily="34" charset="-122"/>
                <a:cs typeface="Calibri" pitchFamily="34" charset="-120"/>
              </a:rPr>
              <a:t>Forma de linfohistiocitosis hemofagocítica secundaria: tormenta de citocinas (IL-1, IL-6, IL-18, IFN-γ, TNF) con activación y proliferación de macrófagos, citopenias, coagulopatía, disfunción hepática y falla multiorgánica.</a:t>
            </a:r>
            <a:endParaRPr lang="en-US" sz="1200" dirty="0"/>
          </a:p>
        </p:txBody>
      </p:sp>
      <p:sp>
        <p:nvSpPr>
          <p:cNvPr id="16" name="Shape 14"/>
          <p:cNvSpPr/>
          <p:nvPr/>
        </p:nvSpPr>
        <p:spPr>
          <a:xfrm>
            <a:off x="4709160" y="2606040"/>
            <a:ext cx="3977640" cy="2057400"/>
          </a:xfrm>
          <a:prstGeom prst="roundRect">
            <a:avLst>
              <a:gd name="adj" fmla="val 3556"/>
            </a:avLst>
          </a:prstGeom>
          <a:solidFill>
            <a:srgbClr val="F7EEF1"/>
          </a:solidFill>
          <a:ln w="12700">
            <a:solidFill>
              <a:srgbClr val="F7EEF1"/>
            </a:solidFill>
            <a:prstDash val="solid"/>
          </a:ln>
        </p:spPr>
      </p:sp>
      <p:sp>
        <p:nvSpPr>
          <p:cNvPr id="17" name="Text 15"/>
          <p:cNvSpPr txBox="1"/>
          <p:nvPr/>
        </p:nvSpPr>
        <p:spPr>
          <a:xfrm>
            <a:off x="4892040" y="2697480"/>
            <a:ext cx="3657600" cy="320040"/>
          </a:xfrm>
          <a:prstGeom prst="rect">
            <a:avLst/>
          </a:prstGeom>
          <a:noFill/>
          <a:ln/>
        </p:spPr>
        <p:txBody>
          <a:bodyPr wrap="square" lIns="0" tIns="0" rIns="0" bIns="0" rtlCol="0" anchor="t"/>
          <a:lstStyle/>
          <a:p>
            <a:pPr indent="0" marL="0">
              <a:buNone/>
            </a:pPr>
            <a:r>
              <a:rPr lang="en-US" sz="1400" b="1" dirty="0">
                <a:solidFill>
                  <a:srgbClr val="7A1F45"/>
                </a:solidFill>
                <a:latin typeface="Calibri" pitchFamily="34" charset="0"/>
                <a:ea typeface="Calibri" pitchFamily="34" charset="-122"/>
                <a:cs typeface="Calibri" pitchFamily="34" charset="-120"/>
              </a:rPr>
              <a:t>Desencadenantes</a:t>
            </a:r>
            <a:endParaRPr lang="en-US" sz="1400" dirty="0"/>
          </a:p>
        </p:txBody>
      </p:sp>
      <p:sp>
        <p:nvSpPr>
          <p:cNvPr id="18" name="Text 16"/>
          <p:cNvSpPr txBox="1"/>
          <p:nvPr/>
        </p:nvSpPr>
        <p:spPr>
          <a:xfrm>
            <a:off x="4892040" y="3063240"/>
            <a:ext cx="3657600" cy="15544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Actividad de la enfermedad (a menudo al inicio)</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Infecciones (virus del grupo herpes, entre otros)</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Cambios de tratamiento o fármacos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SÍNDROME DE ACTIVACIÓN MACROFÁGICA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Criterios de clasificación del SAM 2016</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Ravelli A, et al. Ann Rheum Dis. 2016 · J Rheumatol. 2017 (aplicación en ESA)</a:t>
            </a:r>
            <a:endParaRPr lang="en-US" sz="850" dirty="0"/>
          </a:p>
        </p:txBody>
      </p:sp>
      <p:sp>
        <p:nvSpPr>
          <p:cNvPr id="5" name="Shape 3"/>
          <p:cNvSpPr/>
          <p:nvPr/>
        </p:nvSpPr>
        <p:spPr>
          <a:xfrm>
            <a:off x="457200" y="1280160"/>
            <a:ext cx="2743200" cy="1463040"/>
          </a:xfrm>
          <a:prstGeom prst="roundRect">
            <a:avLst>
              <a:gd name="adj" fmla="val 5000"/>
            </a:avLst>
          </a:prstGeom>
          <a:solidFill>
            <a:srgbClr val="D9472F"/>
          </a:solidFill>
          <a:ln w="12700">
            <a:solidFill>
              <a:srgbClr val="D9472F"/>
            </a:solidFill>
            <a:prstDash val="solid"/>
          </a:ln>
        </p:spPr>
      </p:sp>
      <p:sp>
        <p:nvSpPr>
          <p:cNvPr id="6" name="Text 4"/>
          <p:cNvSpPr txBox="1"/>
          <p:nvPr/>
        </p:nvSpPr>
        <p:spPr>
          <a:xfrm>
            <a:off x="548640" y="1280160"/>
            <a:ext cx="2560320" cy="1463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Fiebre + ferritina</a:t>
            </a:r>
            <a:endParaRPr lang="en-US" sz="1400" dirty="0"/>
          </a:p>
          <a:p>
            <a:pPr algn="ctr" indent="0" marL="0">
              <a:buNone/>
            </a:pPr>
            <a:r>
              <a:rPr lang="en-US" sz="2800" b="1" dirty="0">
                <a:solidFill>
                  <a:srgbClr val="FFFFFF"/>
                </a:solidFill>
                <a:latin typeface="Cambria" pitchFamily="34" charset="0"/>
                <a:ea typeface="Cambria" pitchFamily="34" charset="-122"/>
                <a:cs typeface="Cambria" pitchFamily="34" charset="-120"/>
              </a:rPr>
              <a:t>&gt; 684 ng/mL</a:t>
            </a:r>
            <a:endParaRPr lang="en-US" sz="1400" dirty="0"/>
          </a:p>
        </p:txBody>
      </p:sp>
      <p:sp>
        <p:nvSpPr>
          <p:cNvPr id="7" name="Text 5"/>
          <p:cNvSpPr txBox="1"/>
          <p:nvPr/>
        </p:nvSpPr>
        <p:spPr>
          <a:xfrm>
            <a:off x="3291840" y="1280160"/>
            <a:ext cx="1371600" cy="1463040"/>
          </a:xfrm>
          <a:prstGeom prst="rect">
            <a:avLst/>
          </a:prstGeom>
          <a:noFill/>
          <a:ln/>
        </p:spPr>
        <p:txBody>
          <a:bodyPr wrap="square" lIns="0" tIns="0" rIns="0" bIns="0" rtlCol="0" anchor="ctr"/>
          <a:lstStyle/>
          <a:p>
            <a:pPr algn="ctr" indent="0" marL="0">
              <a:buNone/>
            </a:pPr>
            <a:r>
              <a:rPr lang="en-US" sz="1400" b="1" dirty="0">
                <a:solidFill>
                  <a:srgbClr val="2A1433"/>
                </a:solidFill>
                <a:latin typeface="Calibri" pitchFamily="34" charset="0"/>
                <a:ea typeface="Calibri" pitchFamily="34" charset="-122"/>
                <a:cs typeface="Calibri" pitchFamily="34" charset="-120"/>
              </a:rPr>
              <a:t>+ al menos 2 de:</a:t>
            </a:r>
            <a:endParaRPr lang="en-US" sz="1400" dirty="0"/>
          </a:p>
        </p:txBody>
      </p:sp>
      <p:sp>
        <p:nvSpPr>
          <p:cNvPr id="8" name="Shape 6"/>
          <p:cNvSpPr/>
          <p:nvPr/>
        </p:nvSpPr>
        <p:spPr>
          <a:xfrm>
            <a:off x="4754880" y="1280160"/>
            <a:ext cx="1874520" cy="658368"/>
          </a:xfrm>
          <a:prstGeom prst="roundRect">
            <a:avLst>
              <a:gd name="adj" fmla="val 11111"/>
            </a:avLst>
          </a:prstGeom>
          <a:solidFill>
            <a:srgbClr val="F7EEF1"/>
          </a:solidFill>
          <a:ln w="12700">
            <a:solidFill>
              <a:srgbClr val="F7EEF1"/>
            </a:solidFill>
            <a:prstDash val="solid"/>
          </a:ln>
        </p:spPr>
      </p:sp>
      <p:sp>
        <p:nvSpPr>
          <p:cNvPr id="9" name="Text 7"/>
          <p:cNvSpPr txBox="1"/>
          <p:nvPr/>
        </p:nvSpPr>
        <p:spPr>
          <a:xfrm>
            <a:off x="4846320" y="1280160"/>
            <a:ext cx="1691640" cy="658368"/>
          </a:xfrm>
          <a:prstGeom prst="rect">
            <a:avLst/>
          </a:prstGeom>
          <a:noFill/>
          <a:ln/>
        </p:spPr>
        <p:txBody>
          <a:bodyPr wrap="square" lIns="0" tIns="0" rIns="0" bIns="0" rtlCol="0" anchor="ctr"/>
          <a:lstStyle/>
          <a:p>
            <a:pPr algn="ctr" indent="0" marL="0">
              <a:buNone/>
            </a:pPr>
            <a:r>
              <a:rPr lang="en-US" sz="1200" b="1" dirty="0">
                <a:solidFill>
                  <a:srgbClr val="7A1F45"/>
                </a:solidFill>
                <a:latin typeface="Calibri" pitchFamily="34" charset="0"/>
                <a:ea typeface="Calibri" pitchFamily="34" charset="-122"/>
                <a:cs typeface="Calibri" pitchFamily="34" charset="-120"/>
              </a:rPr>
              <a:t>Plaquetas  </a:t>
            </a:r>
            <a:pPr algn="ctr" indent="0" marL="0">
              <a:buNone/>
            </a:pPr>
            <a:r>
              <a:rPr lang="en-US" sz="1200" dirty="0">
                <a:solidFill>
                  <a:srgbClr val="2B2330"/>
                </a:solidFill>
                <a:latin typeface="Calibri" pitchFamily="34" charset="0"/>
                <a:ea typeface="Calibri" pitchFamily="34" charset="-122"/>
                <a:cs typeface="Calibri" pitchFamily="34" charset="-120"/>
              </a:rPr>
              <a:t>≤ 181 000/µL</a:t>
            </a:r>
            <a:endParaRPr lang="en-US" sz="1200" dirty="0"/>
          </a:p>
        </p:txBody>
      </p:sp>
      <p:sp>
        <p:nvSpPr>
          <p:cNvPr id="10" name="Shape 8"/>
          <p:cNvSpPr/>
          <p:nvPr/>
        </p:nvSpPr>
        <p:spPr>
          <a:xfrm>
            <a:off x="6766560" y="1280160"/>
            <a:ext cx="1874520" cy="658368"/>
          </a:xfrm>
          <a:prstGeom prst="roundRect">
            <a:avLst>
              <a:gd name="adj" fmla="val 11111"/>
            </a:avLst>
          </a:prstGeom>
          <a:solidFill>
            <a:srgbClr val="F7EEF1"/>
          </a:solidFill>
          <a:ln w="12700">
            <a:solidFill>
              <a:srgbClr val="F7EEF1"/>
            </a:solidFill>
            <a:prstDash val="solid"/>
          </a:ln>
        </p:spPr>
      </p:sp>
      <p:sp>
        <p:nvSpPr>
          <p:cNvPr id="11" name="Text 9"/>
          <p:cNvSpPr txBox="1"/>
          <p:nvPr/>
        </p:nvSpPr>
        <p:spPr>
          <a:xfrm>
            <a:off x="6858000" y="1280160"/>
            <a:ext cx="1691640" cy="658368"/>
          </a:xfrm>
          <a:prstGeom prst="rect">
            <a:avLst/>
          </a:prstGeom>
          <a:noFill/>
          <a:ln/>
        </p:spPr>
        <p:txBody>
          <a:bodyPr wrap="square" lIns="0" tIns="0" rIns="0" bIns="0" rtlCol="0" anchor="ctr"/>
          <a:lstStyle/>
          <a:p>
            <a:pPr algn="ctr" indent="0" marL="0">
              <a:buNone/>
            </a:pPr>
            <a:r>
              <a:rPr lang="en-US" sz="1200" b="1" dirty="0">
                <a:solidFill>
                  <a:srgbClr val="7A1F45"/>
                </a:solidFill>
                <a:latin typeface="Calibri" pitchFamily="34" charset="0"/>
                <a:ea typeface="Calibri" pitchFamily="34" charset="-122"/>
                <a:cs typeface="Calibri" pitchFamily="34" charset="-120"/>
              </a:rPr>
              <a:t>AST  </a:t>
            </a:r>
            <a:pPr algn="ctr" indent="0" marL="0">
              <a:buNone/>
            </a:pPr>
            <a:r>
              <a:rPr lang="en-US" sz="1200" dirty="0">
                <a:solidFill>
                  <a:srgbClr val="2B2330"/>
                </a:solidFill>
                <a:latin typeface="Calibri" pitchFamily="34" charset="0"/>
                <a:ea typeface="Calibri" pitchFamily="34" charset="-122"/>
                <a:cs typeface="Calibri" pitchFamily="34" charset="-120"/>
              </a:rPr>
              <a:t>&gt; 48 U/L</a:t>
            </a:r>
            <a:endParaRPr lang="en-US" sz="1200" dirty="0"/>
          </a:p>
        </p:txBody>
      </p:sp>
      <p:sp>
        <p:nvSpPr>
          <p:cNvPr id="12" name="Shape 10"/>
          <p:cNvSpPr/>
          <p:nvPr/>
        </p:nvSpPr>
        <p:spPr>
          <a:xfrm>
            <a:off x="4754880" y="2029968"/>
            <a:ext cx="1874520" cy="658368"/>
          </a:xfrm>
          <a:prstGeom prst="roundRect">
            <a:avLst>
              <a:gd name="adj" fmla="val 11111"/>
            </a:avLst>
          </a:prstGeom>
          <a:solidFill>
            <a:srgbClr val="F7EEF1"/>
          </a:solidFill>
          <a:ln w="12700">
            <a:solidFill>
              <a:srgbClr val="F7EEF1"/>
            </a:solidFill>
            <a:prstDash val="solid"/>
          </a:ln>
        </p:spPr>
      </p:sp>
      <p:sp>
        <p:nvSpPr>
          <p:cNvPr id="13" name="Text 11"/>
          <p:cNvSpPr txBox="1"/>
          <p:nvPr/>
        </p:nvSpPr>
        <p:spPr>
          <a:xfrm>
            <a:off x="4846320" y="2029968"/>
            <a:ext cx="1691640" cy="658368"/>
          </a:xfrm>
          <a:prstGeom prst="rect">
            <a:avLst/>
          </a:prstGeom>
          <a:noFill/>
          <a:ln/>
        </p:spPr>
        <p:txBody>
          <a:bodyPr wrap="square" lIns="0" tIns="0" rIns="0" bIns="0" rtlCol="0" anchor="ctr"/>
          <a:lstStyle/>
          <a:p>
            <a:pPr algn="ctr" indent="0" marL="0">
              <a:buNone/>
            </a:pPr>
            <a:r>
              <a:rPr lang="en-US" sz="1200" b="1" dirty="0">
                <a:solidFill>
                  <a:srgbClr val="7A1F45"/>
                </a:solidFill>
                <a:latin typeface="Calibri" pitchFamily="34" charset="0"/>
                <a:ea typeface="Calibri" pitchFamily="34" charset="-122"/>
                <a:cs typeface="Calibri" pitchFamily="34" charset="-120"/>
              </a:rPr>
              <a:t>Triglicéridos  </a:t>
            </a:r>
            <a:pPr algn="ctr" indent="0" marL="0">
              <a:buNone/>
            </a:pPr>
            <a:r>
              <a:rPr lang="en-US" sz="1200" dirty="0">
                <a:solidFill>
                  <a:srgbClr val="2B2330"/>
                </a:solidFill>
                <a:latin typeface="Calibri" pitchFamily="34" charset="0"/>
                <a:ea typeface="Calibri" pitchFamily="34" charset="-122"/>
                <a:cs typeface="Calibri" pitchFamily="34" charset="-120"/>
              </a:rPr>
              <a:t>&gt; 156 mg/dL</a:t>
            </a:r>
            <a:endParaRPr lang="en-US" sz="1200" dirty="0"/>
          </a:p>
        </p:txBody>
      </p:sp>
      <p:sp>
        <p:nvSpPr>
          <p:cNvPr id="14" name="Shape 12"/>
          <p:cNvSpPr/>
          <p:nvPr/>
        </p:nvSpPr>
        <p:spPr>
          <a:xfrm>
            <a:off x="6766560" y="2029968"/>
            <a:ext cx="1874520" cy="658368"/>
          </a:xfrm>
          <a:prstGeom prst="roundRect">
            <a:avLst>
              <a:gd name="adj" fmla="val 11111"/>
            </a:avLst>
          </a:prstGeom>
          <a:solidFill>
            <a:srgbClr val="F7EEF1"/>
          </a:solidFill>
          <a:ln w="12700">
            <a:solidFill>
              <a:srgbClr val="F7EEF1"/>
            </a:solidFill>
            <a:prstDash val="solid"/>
          </a:ln>
        </p:spPr>
      </p:sp>
      <p:sp>
        <p:nvSpPr>
          <p:cNvPr id="15" name="Text 13"/>
          <p:cNvSpPr txBox="1"/>
          <p:nvPr/>
        </p:nvSpPr>
        <p:spPr>
          <a:xfrm>
            <a:off x="6858000" y="2029968"/>
            <a:ext cx="1691640" cy="658368"/>
          </a:xfrm>
          <a:prstGeom prst="rect">
            <a:avLst/>
          </a:prstGeom>
          <a:noFill/>
          <a:ln/>
        </p:spPr>
        <p:txBody>
          <a:bodyPr wrap="square" lIns="0" tIns="0" rIns="0" bIns="0" rtlCol="0" anchor="ctr"/>
          <a:lstStyle/>
          <a:p>
            <a:pPr algn="ctr" indent="0" marL="0">
              <a:buNone/>
            </a:pPr>
            <a:r>
              <a:rPr lang="en-US" sz="1200" b="1" dirty="0">
                <a:solidFill>
                  <a:srgbClr val="7A1F45"/>
                </a:solidFill>
                <a:latin typeface="Calibri" pitchFamily="34" charset="0"/>
                <a:ea typeface="Calibri" pitchFamily="34" charset="-122"/>
                <a:cs typeface="Calibri" pitchFamily="34" charset="-120"/>
              </a:rPr>
              <a:t>Fibrinógeno  </a:t>
            </a:r>
            <a:pPr algn="ctr" indent="0" marL="0">
              <a:buNone/>
            </a:pPr>
            <a:r>
              <a:rPr lang="en-US" sz="1200" dirty="0">
                <a:solidFill>
                  <a:srgbClr val="2B2330"/>
                </a:solidFill>
                <a:latin typeface="Calibri" pitchFamily="34" charset="0"/>
                <a:ea typeface="Calibri" pitchFamily="34" charset="-122"/>
                <a:cs typeface="Calibri" pitchFamily="34" charset="-120"/>
              </a:rPr>
              <a:t>≤ 360 mg/dL</a:t>
            </a:r>
            <a:endParaRPr lang="en-US" sz="1200" dirty="0"/>
          </a:p>
        </p:txBody>
      </p:sp>
      <p:sp>
        <p:nvSpPr>
          <p:cNvPr id="16" name="Text 14"/>
          <p:cNvSpPr txBox="1"/>
          <p:nvPr/>
        </p:nvSpPr>
        <p:spPr>
          <a:xfrm>
            <a:off x="457200" y="2926080"/>
            <a:ext cx="82296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Rendimiento</a:t>
            </a:r>
            <a:endParaRPr lang="en-US" sz="1500" dirty="0"/>
          </a:p>
        </p:txBody>
      </p:sp>
      <p:sp>
        <p:nvSpPr>
          <p:cNvPr id="17" name="Shape 15"/>
          <p:cNvSpPr/>
          <p:nvPr/>
        </p:nvSpPr>
        <p:spPr>
          <a:xfrm>
            <a:off x="457200" y="3346704"/>
            <a:ext cx="329184" cy="329184"/>
          </a:xfrm>
          <a:prstGeom prst="ellipse">
            <a:avLst/>
          </a:prstGeom>
          <a:solidFill>
            <a:srgbClr val="7A1F45"/>
          </a:solidFill>
          <a:ln w="12700">
            <a:solidFill>
              <a:srgbClr val="7A1F45"/>
            </a:solidFill>
            <a:prstDash val="solid"/>
          </a:ln>
        </p:spPr>
      </p:sp>
      <p:sp>
        <p:nvSpPr>
          <p:cNvPr id="18" name="Text 16"/>
          <p:cNvSpPr txBox="1"/>
          <p:nvPr/>
        </p:nvSpPr>
        <p:spPr>
          <a:xfrm>
            <a:off x="457200" y="33467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9" name="Text 17"/>
          <p:cNvSpPr txBox="1"/>
          <p:nvPr/>
        </p:nvSpPr>
        <p:spPr>
          <a:xfrm>
            <a:off x="914400" y="3310128"/>
            <a:ext cx="7772400" cy="402336"/>
          </a:xfrm>
          <a:prstGeom prst="rect">
            <a:avLst/>
          </a:prstGeom>
          <a:noFill/>
          <a:ln/>
        </p:spPr>
        <p:txBody>
          <a:bodyPr wrap="square" lIns="0" tIns="0" rIns="0" bIns="0" rtlCol="0" anchor="ctr"/>
          <a:lstStyle/>
          <a:p>
            <a:pPr indent="0" marL="0">
              <a:buNone/>
            </a:pPr>
            <a:r>
              <a:rPr lang="en-US" sz="1250" b="1" dirty="0">
                <a:solidFill>
                  <a:srgbClr val="7A1F45"/>
                </a:solidFill>
                <a:latin typeface="Calibri" pitchFamily="34" charset="0"/>
                <a:ea typeface="Calibri" pitchFamily="34" charset="-122"/>
                <a:cs typeface="Calibri" pitchFamily="34" charset="-120"/>
              </a:rPr>
              <a:t>AIJs (validación original): </a:t>
            </a:r>
            <a:pPr indent="0" marL="0">
              <a:buNone/>
            </a:pPr>
            <a:r>
              <a:rPr lang="en-US" sz="1250" dirty="0">
                <a:solidFill>
                  <a:srgbClr val="2B2330"/>
                </a:solidFill>
                <a:latin typeface="Calibri" pitchFamily="34" charset="0"/>
                <a:ea typeface="Calibri" pitchFamily="34" charset="-122"/>
                <a:cs typeface="Calibri" pitchFamily="34" charset="-120"/>
              </a:rPr>
              <a:t>Sensibilidad 73 % · especificidad 99 %</a:t>
            </a:r>
            <a:endParaRPr lang="en-US" sz="1250" dirty="0"/>
          </a:p>
        </p:txBody>
      </p:sp>
      <p:sp>
        <p:nvSpPr>
          <p:cNvPr id="20" name="Shape 18"/>
          <p:cNvSpPr/>
          <p:nvPr/>
        </p:nvSpPr>
        <p:spPr>
          <a:xfrm>
            <a:off x="457200" y="3803904"/>
            <a:ext cx="329184" cy="329184"/>
          </a:xfrm>
          <a:prstGeom prst="ellipse">
            <a:avLst/>
          </a:prstGeom>
          <a:solidFill>
            <a:srgbClr val="D9472F"/>
          </a:solidFill>
          <a:ln w="12700">
            <a:solidFill>
              <a:srgbClr val="D9472F"/>
            </a:solidFill>
            <a:prstDash val="solid"/>
          </a:ln>
        </p:spPr>
      </p:sp>
      <p:sp>
        <p:nvSpPr>
          <p:cNvPr id="21" name="Text 19"/>
          <p:cNvSpPr txBox="1"/>
          <p:nvPr/>
        </p:nvSpPr>
        <p:spPr>
          <a:xfrm>
            <a:off x="457200" y="3803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2" name="Text 20"/>
          <p:cNvSpPr txBox="1"/>
          <p:nvPr/>
        </p:nvSpPr>
        <p:spPr>
          <a:xfrm>
            <a:off x="914400" y="3767328"/>
            <a:ext cx="7772400" cy="402336"/>
          </a:xfrm>
          <a:prstGeom prst="rect">
            <a:avLst/>
          </a:prstGeom>
          <a:noFill/>
          <a:ln/>
        </p:spPr>
        <p:txBody>
          <a:bodyPr wrap="square" lIns="0" tIns="0" rIns="0" bIns="0" rtlCol="0" anchor="ctr"/>
          <a:lstStyle/>
          <a:p>
            <a:pPr indent="0" marL="0">
              <a:buNone/>
            </a:pPr>
            <a:r>
              <a:rPr lang="en-US" sz="1250" b="1" dirty="0">
                <a:solidFill>
                  <a:srgbClr val="D9472F"/>
                </a:solidFill>
                <a:latin typeface="Calibri" pitchFamily="34" charset="0"/>
                <a:ea typeface="Calibri" pitchFamily="34" charset="-122"/>
                <a:cs typeface="Calibri" pitchFamily="34" charset="-120"/>
              </a:rPr>
              <a:t>ESA (aplicación en adultos): </a:t>
            </a:r>
            <a:pPr indent="0" marL="0">
              <a:buNone/>
            </a:pPr>
            <a:r>
              <a:rPr lang="en-US" sz="1250" dirty="0">
                <a:solidFill>
                  <a:srgbClr val="2B2330"/>
                </a:solidFill>
                <a:latin typeface="Calibri" pitchFamily="34" charset="0"/>
                <a:ea typeface="Calibri" pitchFamily="34" charset="-122"/>
                <a:cs typeface="Calibri" pitchFamily="34" charset="-120"/>
              </a:rPr>
              <a:t>Sensibilidad 100 % · especificidad 70 % (VPP 47 %, VPN 100 %)</a:t>
            </a:r>
            <a:endParaRPr lang="en-US" sz="1250" dirty="0"/>
          </a:p>
        </p:txBody>
      </p:sp>
      <p:sp>
        <p:nvSpPr>
          <p:cNvPr id="23" name="Shape 21"/>
          <p:cNvSpPr/>
          <p:nvPr/>
        </p:nvSpPr>
        <p:spPr>
          <a:xfrm>
            <a:off x="457200" y="4261104"/>
            <a:ext cx="329184" cy="329184"/>
          </a:xfrm>
          <a:prstGeom prst="ellipse">
            <a:avLst/>
          </a:prstGeom>
          <a:solidFill>
            <a:srgbClr val="1F7F79"/>
          </a:solidFill>
          <a:ln w="12700">
            <a:solidFill>
              <a:srgbClr val="1F7F79"/>
            </a:solidFill>
            <a:prstDash val="solid"/>
          </a:ln>
        </p:spPr>
      </p:sp>
      <p:sp>
        <p:nvSpPr>
          <p:cNvPr id="24" name="Text 22"/>
          <p:cNvSpPr txBox="1"/>
          <p:nvPr/>
        </p:nvSpPr>
        <p:spPr>
          <a:xfrm>
            <a:off x="457200" y="42611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5" name="Text 23"/>
          <p:cNvSpPr txBox="1"/>
          <p:nvPr/>
        </p:nvSpPr>
        <p:spPr>
          <a:xfrm>
            <a:off x="914400" y="4224528"/>
            <a:ext cx="7772400" cy="402336"/>
          </a:xfrm>
          <a:prstGeom prst="rect">
            <a:avLst/>
          </a:prstGeom>
          <a:noFill/>
          <a:ln/>
        </p:spPr>
        <p:txBody>
          <a:bodyPr wrap="square" lIns="0" tIns="0" rIns="0" bIns="0" rtlCol="0" anchor="ctr"/>
          <a:lstStyle/>
          <a:p>
            <a:pPr indent="0" marL="0">
              <a:buNone/>
            </a:pPr>
            <a:r>
              <a:rPr lang="en-US" sz="1250" b="1" dirty="0">
                <a:solidFill>
                  <a:srgbClr val="1F7F79"/>
                </a:solidFill>
                <a:latin typeface="Calibri" pitchFamily="34" charset="0"/>
                <a:ea typeface="Calibri" pitchFamily="34" charset="-122"/>
                <a:cs typeface="Calibri" pitchFamily="34" charset="-120"/>
              </a:rPr>
              <a:t>Con bloqueo de IL-1: </a:t>
            </a:r>
            <a:pPr indent="0" marL="0">
              <a:buNone/>
            </a:pPr>
            <a:r>
              <a:rPr lang="en-US" sz="1250" dirty="0">
                <a:solidFill>
                  <a:srgbClr val="2B2330"/>
                </a:solidFill>
                <a:latin typeface="Calibri" pitchFamily="34" charset="0"/>
                <a:ea typeface="Calibri" pitchFamily="34" charset="-122"/>
                <a:cs typeface="Calibri" pitchFamily="34" charset="-120"/>
              </a:rPr>
              <a:t>Siguen siendo aplicables (Arthritis Rheumatol 2025)</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SÍNDROME DE ACTIVACIÓN MACROFÁGICA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Reconocer el SAM a tiempo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80160"/>
            <a:ext cx="2651760" cy="3383280"/>
          </a:xfrm>
          <a:prstGeom prst="roundRect">
            <a:avLst>
              <a:gd name="adj" fmla="val 2759"/>
            </a:avLst>
          </a:prstGeom>
          <a:solidFill>
            <a:srgbClr val="FBE3DE"/>
          </a:solidFill>
          <a:ln w="12700">
            <a:solidFill>
              <a:srgbClr val="FBE3DE"/>
            </a:solidFill>
            <a:prstDash val="solid"/>
          </a:ln>
        </p:spPr>
      </p:sp>
      <p:sp>
        <p:nvSpPr>
          <p:cNvPr id="6" name="Shape 4"/>
          <p:cNvSpPr/>
          <p:nvPr/>
        </p:nvSpPr>
        <p:spPr>
          <a:xfrm>
            <a:off x="640080" y="1417320"/>
            <a:ext cx="548640" cy="54864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8" name="Text 5"/>
          <p:cNvSpPr txBox="1"/>
          <p:nvPr/>
        </p:nvSpPr>
        <p:spPr>
          <a:xfrm>
            <a:off x="1325880" y="1417320"/>
            <a:ext cx="1645920" cy="548640"/>
          </a:xfrm>
          <a:prstGeom prst="rect">
            <a:avLst/>
          </a:prstGeom>
          <a:noFill/>
          <a:ln/>
        </p:spPr>
        <p:txBody>
          <a:bodyPr wrap="square" lIns="0" tIns="0" rIns="0" bIns="0" rtlCol="0" anchor="ctr"/>
          <a:lstStyle/>
          <a:p>
            <a:pPr indent="0" marL="0">
              <a:buNone/>
            </a:pPr>
            <a:r>
              <a:rPr lang="en-US" sz="1800" b="1" dirty="0">
                <a:solidFill>
                  <a:srgbClr val="D9472F"/>
                </a:solidFill>
                <a:latin typeface="Cambria" pitchFamily="34" charset="0"/>
                <a:ea typeface="Cambria" pitchFamily="34" charset="-122"/>
                <a:cs typeface="Cambria" pitchFamily="34" charset="-120"/>
              </a:rPr>
              <a:t>Suben</a:t>
            </a:r>
            <a:endParaRPr lang="en-US" sz="1800" dirty="0"/>
          </a:p>
        </p:txBody>
      </p:sp>
      <p:sp>
        <p:nvSpPr>
          <p:cNvPr id="9" name="Text 6"/>
          <p:cNvSpPr txBox="1"/>
          <p:nvPr/>
        </p:nvSpPr>
        <p:spPr>
          <a:xfrm>
            <a:off x="640080" y="2148840"/>
            <a:ext cx="2331720" cy="24688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Ferritina (a veces de forma brusca)</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AST/ALT, LDH</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Triglicéridos</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Dímero D</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CXCL9 (marcador de actividad de IFN-γ)</a:t>
            </a:r>
            <a:endParaRPr lang="en-US" sz="1200" dirty="0"/>
          </a:p>
        </p:txBody>
      </p:sp>
      <p:sp>
        <p:nvSpPr>
          <p:cNvPr id="10" name="Shape 7"/>
          <p:cNvSpPr/>
          <p:nvPr/>
        </p:nvSpPr>
        <p:spPr>
          <a:xfrm>
            <a:off x="3291840" y="1280160"/>
            <a:ext cx="2651760" cy="3383280"/>
          </a:xfrm>
          <a:prstGeom prst="roundRect">
            <a:avLst>
              <a:gd name="adj" fmla="val 2759"/>
            </a:avLst>
          </a:prstGeom>
          <a:solidFill>
            <a:srgbClr val="F7EEF1"/>
          </a:solidFill>
          <a:ln w="12700">
            <a:solidFill>
              <a:srgbClr val="F7EEF1"/>
            </a:solidFill>
            <a:prstDash val="solid"/>
          </a:ln>
        </p:spPr>
      </p:sp>
      <p:sp>
        <p:nvSpPr>
          <p:cNvPr id="11" name="Shape 8"/>
          <p:cNvSpPr/>
          <p:nvPr/>
        </p:nvSpPr>
        <p:spPr>
          <a:xfrm>
            <a:off x="3474720" y="1417320"/>
            <a:ext cx="548640" cy="548640"/>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3611880" y="1554480"/>
            <a:ext cx="274320" cy="274320"/>
          </a:xfrm>
          <a:prstGeom prst="rect">
            <a:avLst/>
          </a:prstGeom>
        </p:spPr>
      </p:pic>
      <p:sp>
        <p:nvSpPr>
          <p:cNvPr id="13" name="Text 9"/>
          <p:cNvSpPr txBox="1"/>
          <p:nvPr/>
        </p:nvSpPr>
        <p:spPr>
          <a:xfrm>
            <a:off x="4160520" y="1417320"/>
            <a:ext cx="1645920" cy="548640"/>
          </a:xfrm>
          <a:prstGeom prst="rect">
            <a:avLst/>
          </a:prstGeom>
          <a:noFill/>
          <a:ln/>
        </p:spPr>
        <p:txBody>
          <a:bodyPr wrap="square" lIns="0" tIns="0" rIns="0" bIns="0" rtlCol="0" anchor="ctr"/>
          <a:lstStyle/>
          <a:p>
            <a:pPr indent="0" marL="0">
              <a:buNone/>
            </a:pPr>
            <a:r>
              <a:rPr lang="en-US" sz="1800" b="1" dirty="0">
                <a:solidFill>
                  <a:srgbClr val="7A1F45"/>
                </a:solidFill>
                <a:latin typeface="Cambria" pitchFamily="34" charset="0"/>
                <a:ea typeface="Cambria" pitchFamily="34" charset="-122"/>
                <a:cs typeface="Cambria" pitchFamily="34" charset="-120"/>
              </a:rPr>
              <a:t>Bajan</a:t>
            </a:r>
            <a:endParaRPr lang="en-US" sz="1800" dirty="0"/>
          </a:p>
        </p:txBody>
      </p:sp>
      <p:sp>
        <p:nvSpPr>
          <p:cNvPr id="14" name="Text 10"/>
          <p:cNvSpPr txBox="1"/>
          <p:nvPr/>
        </p:nvSpPr>
        <p:spPr>
          <a:xfrm>
            <a:off x="3474720" y="2148840"/>
            <a:ext cx="2331720" cy="24688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Plaquetas y leucocitos</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Fibrinógeno</a:t>
            </a:r>
            <a:endParaRPr lang="en-US" sz="1200" dirty="0"/>
          </a:p>
          <a:p>
            <a:pPr marL="177800" indent="-177800">
              <a:spcAft>
                <a:spcPts val="600"/>
              </a:spcAft>
              <a:buSzPct val="100000"/>
              <a:buChar char="•"/>
            </a:pPr>
            <a:r>
              <a:rPr lang="en-US" sz="1200" dirty="0">
                <a:solidFill>
                  <a:srgbClr val="2B2330"/>
                </a:solidFill>
                <a:latin typeface="Calibri" pitchFamily="34" charset="0"/>
                <a:ea typeface="Calibri" pitchFamily="34" charset="-122"/>
                <a:cs typeface="Calibri" pitchFamily="34" charset="-120"/>
              </a:rPr>
              <a:t>VSG (por consumo de fibrinógeno)</a:t>
            </a:r>
            <a:endParaRPr lang="en-US" sz="1200" dirty="0"/>
          </a:p>
        </p:txBody>
      </p:sp>
      <p:sp>
        <p:nvSpPr>
          <p:cNvPr id="15" name="Shape 11"/>
          <p:cNvSpPr/>
          <p:nvPr/>
        </p:nvSpPr>
        <p:spPr>
          <a:xfrm>
            <a:off x="6126480" y="1280160"/>
            <a:ext cx="2560320" cy="3383280"/>
          </a:xfrm>
          <a:prstGeom prst="roundRect">
            <a:avLst>
              <a:gd name="adj" fmla="val 2857"/>
            </a:avLst>
          </a:prstGeom>
          <a:solidFill>
            <a:srgbClr val="E9F3F2"/>
          </a:solidFill>
          <a:ln w="12700">
            <a:solidFill>
              <a:srgbClr val="E9F3F2"/>
            </a:solidFill>
            <a:prstDash val="solid"/>
          </a:ln>
        </p:spPr>
      </p:sp>
      <p:sp>
        <p:nvSpPr>
          <p:cNvPr id="16" name="Shape 12"/>
          <p:cNvSpPr/>
          <p:nvPr/>
        </p:nvSpPr>
        <p:spPr>
          <a:xfrm>
            <a:off x="6309360" y="1417320"/>
            <a:ext cx="548640" cy="548640"/>
          </a:xfrm>
          <a:prstGeom prst="ellipse">
            <a:avLst/>
          </a:prstGeom>
          <a:solidFill>
            <a:srgbClr val="1F7F79"/>
          </a:solidFill>
          <a:ln w="12700">
            <a:solidFill>
              <a:srgbClr val="1F7F79"/>
            </a:solidFill>
            <a:prstDash val="solid"/>
          </a:ln>
        </p:spPr>
      </p:sp>
      <p:pic>
        <p:nvPicPr>
          <p:cNvPr id="17" name="Image 2" descr="preencoded.png">    </p:cNvPr>
          <p:cNvPicPr>
            <a:picLocks noChangeAspect="1"/>
          </p:cNvPicPr>
          <p:nvPr/>
        </p:nvPicPr>
        <p:blipFill>
          <a:blip r:embed="rId3"/>
          <a:stretch>
            <a:fillRect/>
          </a:stretch>
        </p:blipFill>
        <p:spPr>
          <a:xfrm>
            <a:off x="6446520" y="1554480"/>
            <a:ext cx="274320" cy="274320"/>
          </a:xfrm>
          <a:prstGeom prst="rect">
            <a:avLst/>
          </a:prstGeom>
        </p:spPr>
      </p:pic>
      <p:sp>
        <p:nvSpPr>
          <p:cNvPr id="18" name="Text 13"/>
          <p:cNvSpPr txBox="1"/>
          <p:nvPr/>
        </p:nvSpPr>
        <p:spPr>
          <a:xfrm>
            <a:off x="6949440" y="1417320"/>
            <a:ext cx="1691640" cy="548640"/>
          </a:xfrm>
          <a:prstGeom prst="rect">
            <a:avLst/>
          </a:prstGeom>
          <a:noFill/>
          <a:ln/>
        </p:spPr>
        <p:txBody>
          <a:bodyPr wrap="square" lIns="0" tIns="0" rIns="0" bIns="0" rtlCol="0" anchor="ctr"/>
          <a:lstStyle/>
          <a:p>
            <a:pPr indent="0" marL="0">
              <a:buNone/>
            </a:pPr>
            <a:r>
              <a:rPr lang="en-US" sz="1400" b="1" dirty="0">
                <a:solidFill>
                  <a:srgbClr val="1F7F79"/>
                </a:solidFill>
                <a:latin typeface="Calibri" pitchFamily="34" charset="0"/>
                <a:ea typeface="Calibri" pitchFamily="34" charset="-122"/>
                <a:cs typeface="Calibri" pitchFamily="34" charset="-120"/>
              </a:rPr>
              <a:t>Monitorización</a:t>
            </a:r>
            <a:endParaRPr lang="en-US" sz="1400" dirty="0"/>
          </a:p>
        </p:txBody>
      </p:sp>
      <p:sp>
        <p:nvSpPr>
          <p:cNvPr id="19" name="Text 14"/>
          <p:cNvSpPr txBox="1"/>
          <p:nvPr/>
        </p:nvSpPr>
        <p:spPr>
          <a:xfrm>
            <a:off x="6309360" y="2148840"/>
            <a:ext cx="2240280" cy="24688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Ferritina diaria o cada 12 h si hay riesgo o sospecha</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Valorar la tendencia, no solo el valor absoluto</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Buscar fiebre persistente, hepatoesplenomegalia, sangrado o alteración neurológica</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Tratar precozmente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COMPLICACIONES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Enfermedad pulmonar y reacciones tipo DRESS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Saper VE, et al. Ann Rheum Dis. 2019 y 2022 · Binstadt BA, Nigrovic PA. Arthritis Rheumatol. 2022</a:t>
            </a:r>
            <a:endParaRPr lang="en-US" sz="850" dirty="0"/>
          </a:p>
        </p:txBody>
      </p:sp>
      <p:sp>
        <p:nvSpPr>
          <p:cNvPr id="5" name="Shape 3"/>
          <p:cNvSpPr/>
          <p:nvPr/>
        </p:nvSpPr>
        <p:spPr>
          <a:xfrm>
            <a:off x="457200" y="1280160"/>
            <a:ext cx="3977640" cy="3383280"/>
          </a:xfrm>
          <a:prstGeom prst="roundRect">
            <a:avLst>
              <a:gd name="adj" fmla="val 2162"/>
            </a:avLst>
          </a:prstGeom>
          <a:solidFill>
            <a:srgbClr val="F7EEF1"/>
          </a:solidFill>
          <a:ln w="12700">
            <a:solidFill>
              <a:srgbClr val="F7EEF1"/>
            </a:solidFill>
            <a:prstDash val="solid"/>
          </a:ln>
        </p:spPr>
      </p:sp>
      <p:sp>
        <p:nvSpPr>
          <p:cNvPr id="6" name="Shape 4"/>
          <p:cNvSpPr/>
          <p:nvPr/>
        </p:nvSpPr>
        <p:spPr>
          <a:xfrm>
            <a:off x="640080" y="1417320"/>
            <a:ext cx="566928" cy="566928"/>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81812" y="1559052"/>
            <a:ext cx="283464" cy="283464"/>
          </a:xfrm>
          <a:prstGeom prst="rect">
            <a:avLst/>
          </a:prstGeom>
        </p:spPr>
      </p:pic>
      <p:sp>
        <p:nvSpPr>
          <p:cNvPr id="8" name="Text 5"/>
          <p:cNvSpPr txBox="1"/>
          <p:nvPr/>
        </p:nvSpPr>
        <p:spPr>
          <a:xfrm>
            <a:off x="1325880" y="1417320"/>
            <a:ext cx="3017520" cy="566928"/>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Enfermedad pulmonar del Still</a:t>
            </a:r>
            <a:endParaRPr lang="en-US" sz="1500" dirty="0"/>
          </a:p>
        </p:txBody>
      </p:sp>
      <p:sp>
        <p:nvSpPr>
          <p:cNvPr id="9" name="Text 6"/>
          <p:cNvSpPr txBox="1"/>
          <p:nvPr/>
        </p:nvSpPr>
        <p:spPr>
          <a:xfrm>
            <a:off x="640080" y="2148840"/>
            <a:ext cx="3657600" cy="2468880"/>
          </a:xfrm>
          <a:prstGeom prst="rect">
            <a:avLst/>
          </a:prstGeom>
          <a:noFill/>
          <a:ln/>
        </p:spPr>
        <p:txBody>
          <a:bodyPr wrap="square" lIns="0" tIns="0" rIns="0" bIns="0" rtlCol="0" anchor="t"/>
          <a:lstStyle/>
          <a:p>
            <a:pPr marL="177800" indent="-177800">
              <a:spcAft>
                <a:spcPts val="600"/>
              </a:spcAft>
              <a:buSzPct val="100000"/>
              <a:buChar char="•"/>
            </a:pPr>
            <a:r>
              <a:rPr lang="en-US" sz="1150" b="1" dirty="0">
                <a:solidFill>
                  <a:srgbClr val="7A1F45"/>
                </a:solidFill>
                <a:latin typeface="Calibri" pitchFamily="34" charset="0"/>
                <a:ea typeface="Calibri" pitchFamily="34" charset="-122"/>
                <a:cs typeface="Calibri" pitchFamily="34" charset="-120"/>
              </a:rPr>
              <a:t>Patrones: </a:t>
            </a:r>
            <a:pPr indent="0" marL="0">
              <a:buNone/>
            </a:pPr>
            <a:r>
              <a:rPr lang="en-US" sz="1150" dirty="0">
                <a:solidFill>
                  <a:srgbClr val="2B2330"/>
                </a:solidFill>
                <a:latin typeface="Calibri" pitchFamily="34" charset="0"/>
                <a:ea typeface="Calibri" pitchFamily="34" charset="-122"/>
                <a:cs typeface="Calibri" pitchFamily="34" charset="-120"/>
              </a:rPr>
              <a:t>proteinosis alveolar, neumonía lipoidea endógena, EPI, hipertensión pulmonar</a:t>
            </a:r>
            <a:endParaRPr lang="en-US" sz="1150" dirty="0"/>
          </a:p>
          <a:p>
            <a:pPr marL="177800" indent="-177800">
              <a:spcAft>
                <a:spcPts val="600"/>
              </a:spcAft>
              <a:buSzPct val="100000"/>
              <a:buChar char="•"/>
            </a:pPr>
            <a:r>
              <a:rPr lang="en-US" sz="1150" b="1" dirty="0">
                <a:solidFill>
                  <a:srgbClr val="7A1F45"/>
                </a:solidFill>
                <a:latin typeface="Calibri" pitchFamily="34" charset="0"/>
                <a:ea typeface="Calibri" pitchFamily="34" charset="-122"/>
                <a:cs typeface="Calibri" pitchFamily="34" charset="-120"/>
              </a:rPr>
              <a:t>Casi inexistente antes de 2013; </a:t>
            </a:r>
            <a:pPr indent="0" marL="0">
              <a:buNone/>
            </a:pPr>
            <a:r>
              <a:rPr lang="en-US" sz="1150" dirty="0">
                <a:solidFill>
                  <a:srgbClr val="2B2330"/>
                </a:solidFill>
                <a:latin typeface="Calibri" pitchFamily="34" charset="0"/>
                <a:ea typeface="Calibri" pitchFamily="34" charset="-122"/>
                <a:cs typeface="Calibri" pitchFamily="34" charset="-120"/>
              </a:rPr>
              <a:t>grave y a menudo fatal</a:t>
            </a:r>
            <a:endParaRPr lang="en-US" sz="1150" dirty="0"/>
          </a:p>
          <a:p>
            <a:pPr marL="177800" indent="-177800">
              <a:spcAft>
                <a:spcPts val="600"/>
              </a:spcAft>
              <a:buSzPct val="100000"/>
              <a:buChar char="•"/>
            </a:pPr>
            <a:r>
              <a:rPr lang="en-US" sz="1150" b="1" dirty="0">
                <a:solidFill>
                  <a:srgbClr val="7A1F45"/>
                </a:solidFill>
                <a:latin typeface="Calibri" pitchFamily="34" charset="0"/>
                <a:ea typeface="Calibri" pitchFamily="34" charset="-122"/>
                <a:cs typeface="Calibri" pitchFamily="34" charset="-120"/>
              </a:rPr>
              <a:t>Riesgo: </a:t>
            </a:r>
            <a:pPr indent="0" marL="0">
              <a:buNone/>
            </a:pPr>
            <a:r>
              <a:rPr lang="en-US" sz="1150" dirty="0">
                <a:solidFill>
                  <a:srgbClr val="2B2330"/>
                </a:solidFill>
                <a:latin typeface="Calibri" pitchFamily="34" charset="0"/>
                <a:ea typeface="Calibri" pitchFamily="34" charset="-122"/>
                <a:cs typeface="Calibri" pitchFamily="34" charset="-120"/>
              </a:rPr>
              <a:t>inicio &lt; 5 años con exposición a anti-IL-1/IL-6 (OR 7,3)</a:t>
            </a:r>
            <a:endParaRPr lang="en-US" sz="1150" dirty="0"/>
          </a:p>
          <a:p>
            <a:pPr marL="177800" indent="-177800">
              <a:spcAft>
                <a:spcPts val="600"/>
              </a:spcAft>
              <a:buSzPct val="100000"/>
              <a:buChar char="•"/>
            </a:pPr>
            <a:r>
              <a:rPr lang="en-US" sz="1150" b="1" dirty="0">
                <a:solidFill>
                  <a:srgbClr val="7A1F45"/>
                </a:solidFill>
                <a:latin typeface="Calibri" pitchFamily="34" charset="0"/>
                <a:ea typeface="Calibri" pitchFamily="34" charset="-122"/>
                <a:cs typeface="Calibri" pitchFamily="34" charset="-120"/>
              </a:rPr>
              <a:t>Pistas: </a:t>
            </a:r>
            <a:pPr indent="0" marL="0">
              <a:buNone/>
            </a:pPr>
            <a:r>
              <a:rPr lang="en-US" sz="1150" dirty="0">
                <a:solidFill>
                  <a:srgbClr val="2B2330"/>
                </a:solidFill>
                <a:latin typeface="Calibri" pitchFamily="34" charset="0"/>
                <a:ea typeface="Calibri" pitchFamily="34" charset="-122"/>
                <a:cs typeface="Calibri" pitchFamily="34" charset="-120"/>
              </a:rPr>
              <a:t>acropaquias eritematosas; ferritina muy alta o linfopenia meses antes</a:t>
            </a:r>
            <a:endParaRPr lang="en-US" sz="1150" dirty="0"/>
          </a:p>
        </p:txBody>
      </p:sp>
      <p:sp>
        <p:nvSpPr>
          <p:cNvPr id="10" name="Shape 7"/>
          <p:cNvSpPr/>
          <p:nvPr/>
        </p:nvSpPr>
        <p:spPr>
          <a:xfrm>
            <a:off x="4709160" y="1280160"/>
            <a:ext cx="3977640" cy="3383280"/>
          </a:xfrm>
          <a:prstGeom prst="roundRect">
            <a:avLst>
              <a:gd name="adj" fmla="val 2162"/>
            </a:avLst>
          </a:prstGeom>
          <a:solidFill>
            <a:srgbClr val="FBE3DE"/>
          </a:solidFill>
          <a:ln w="12700">
            <a:solidFill>
              <a:srgbClr val="FBE3DE"/>
            </a:solidFill>
            <a:prstDash val="solid"/>
          </a:ln>
        </p:spPr>
      </p:sp>
      <p:sp>
        <p:nvSpPr>
          <p:cNvPr id="11" name="Shape 8"/>
          <p:cNvSpPr/>
          <p:nvPr/>
        </p:nvSpPr>
        <p:spPr>
          <a:xfrm>
            <a:off x="4892040" y="1417320"/>
            <a:ext cx="566928" cy="566928"/>
          </a:xfrm>
          <a:prstGeom prst="ellipse">
            <a:avLst/>
          </a:prstGeom>
          <a:solidFill>
            <a:srgbClr val="D9472F"/>
          </a:solidFill>
          <a:ln w="12700">
            <a:solidFill>
              <a:srgbClr val="D9472F"/>
            </a:solidFill>
            <a:prstDash val="solid"/>
          </a:ln>
        </p:spPr>
      </p:sp>
      <p:pic>
        <p:nvPicPr>
          <p:cNvPr id="12" name="Image 1" descr="preencoded.png">    </p:cNvPr>
          <p:cNvPicPr>
            <a:picLocks noChangeAspect="1"/>
          </p:cNvPicPr>
          <p:nvPr/>
        </p:nvPicPr>
        <p:blipFill>
          <a:blip r:embed="rId2"/>
          <a:stretch>
            <a:fillRect/>
          </a:stretch>
        </p:blipFill>
        <p:spPr>
          <a:xfrm>
            <a:off x="5033772" y="1559052"/>
            <a:ext cx="283464" cy="283464"/>
          </a:xfrm>
          <a:prstGeom prst="rect">
            <a:avLst/>
          </a:prstGeom>
        </p:spPr>
      </p:pic>
      <p:sp>
        <p:nvSpPr>
          <p:cNvPr id="13" name="Text 9"/>
          <p:cNvSpPr txBox="1"/>
          <p:nvPr/>
        </p:nvSpPr>
        <p:spPr>
          <a:xfrm>
            <a:off x="5577840" y="1417320"/>
            <a:ext cx="3017520" cy="566928"/>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Hipersensibilidad a biológicos</a:t>
            </a:r>
            <a:endParaRPr lang="en-US" sz="1500" dirty="0"/>
          </a:p>
        </p:txBody>
      </p:sp>
      <p:sp>
        <p:nvSpPr>
          <p:cNvPr id="14" name="Text 10"/>
          <p:cNvSpPr txBox="1"/>
          <p:nvPr/>
        </p:nvSpPr>
        <p:spPr>
          <a:xfrm>
            <a:off x="4892040" y="2148840"/>
            <a:ext cx="3657600" cy="2468880"/>
          </a:xfrm>
          <a:prstGeom prst="rect">
            <a:avLst/>
          </a:prstGeom>
          <a:noFill/>
          <a:ln/>
        </p:spPr>
        <p:txBody>
          <a:bodyPr wrap="square" lIns="0" tIns="0" rIns="0" bIns="0" rtlCol="0" anchor="t"/>
          <a:lstStyle/>
          <a:p>
            <a:pPr marL="177800" indent="-177800">
              <a:spcAft>
                <a:spcPts val="600"/>
              </a:spcAft>
              <a:buSzPct val="100000"/>
              <a:buChar char="•"/>
            </a:pPr>
            <a:r>
              <a:rPr lang="en-US" sz="1150" b="1" dirty="0">
                <a:solidFill>
                  <a:srgbClr val="D9472F"/>
                </a:solidFill>
                <a:latin typeface="Calibri" pitchFamily="34" charset="0"/>
                <a:ea typeface="Calibri" pitchFamily="34" charset="-122"/>
                <a:cs typeface="Calibri" pitchFamily="34" charset="-120"/>
              </a:rPr>
              <a:t>Reacciones tipo DRESS </a:t>
            </a:r>
            <a:pPr indent="0" marL="0">
              <a:buNone/>
            </a:pPr>
            <a:r>
              <a:rPr lang="en-US" sz="1150" dirty="0">
                <a:solidFill>
                  <a:srgbClr val="2B2330"/>
                </a:solidFill>
                <a:latin typeface="Calibri" pitchFamily="34" charset="0"/>
                <a:ea typeface="Calibri" pitchFamily="34" charset="-122"/>
                <a:cs typeface="Calibri" pitchFamily="34" charset="-120"/>
              </a:rPr>
              <a:t>tardías a inhibidores de IL-1 e IL-6</a:t>
            </a:r>
            <a:endParaRPr lang="en-US" sz="1150" dirty="0"/>
          </a:p>
          <a:p>
            <a:pPr marL="177800" indent="-177800">
              <a:spcAft>
                <a:spcPts val="600"/>
              </a:spcAft>
              <a:buSzPct val="100000"/>
              <a:buChar char="•"/>
            </a:pPr>
            <a:r>
              <a:rPr lang="en-US" sz="1150" b="1" dirty="0">
                <a:solidFill>
                  <a:srgbClr val="D9472F"/>
                </a:solidFill>
                <a:latin typeface="Calibri" pitchFamily="34" charset="0"/>
                <a:ea typeface="Calibri" pitchFamily="34" charset="-122"/>
                <a:cs typeface="Calibri" pitchFamily="34" charset="-120"/>
              </a:rPr>
              <a:t>Asociadas a alelos </a:t>
            </a:r>
            <a:pPr indent="0" marL="0">
              <a:buNone/>
            </a:pPr>
            <a:r>
              <a:rPr lang="en-US" sz="1150" dirty="0">
                <a:solidFill>
                  <a:srgbClr val="2B2330"/>
                </a:solidFill>
                <a:latin typeface="Calibri" pitchFamily="34" charset="0"/>
                <a:ea typeface="Calibri" pitchFamily="34" charset="-122"/>
                <a:cs typeface="Calibri" pitchFamily="34" charset="-120"/>
              </a:rPr>
              <a:t>HLA-DRB1*15 frecuentes</a:t>
            </a:r>
            <a:endParaRPr lang="en-US" sz="1150" dirty="0"/>
          </a:p>
          <a:p>
            <a:pPr marL="177800" indent="-177800">
              <a:spcAft>
                <a:spcPts val="600"/>
              </a:spcAft>
              <a:buSzPct val="100000"/>
              <a:buChar char="•"/>
            </a:pPr>
            <a:r>
              <a:rPr lang="en-US" sz="1150" b="1" dirty="0">
                <a:solidFill>
                  <a:srgbClr val="D9472F"/>
                </a:solidFill>
                <a:latin typeface="Calibri" pitchFamily="34" charset="0"/>
                <a:ea typeface="Calibri" pitchFamily="34" charset="-122"/>
                <a:cs typeface="Calibri" pitchFamily="34" charset="-120"/>
              </a:rPr>
              <a:t>Vinculadas a la enfermedad pulmonar </a:t>
            </a:r>
            <a:pPr indent="0" marL="0">
              <a:buNone/>
            </a:pPr>
            <a:r>
              <a:rPr lang="en-US" sz="1150" dirty="0">
                <a:solidFill>
                  <a:srgbClr val="2B2330"/>
                </a:solidFill>
                <a:latin typeface="Calibri" pitchFamily="34" charset="0"/>
                <a:ea typeface="Calibri" pitchFamily="34" charset="-122"/>
                <a:cs typeface="Calibri" pitchFamily="34" charset="-120"/>
              </a:rPr>
              <a:t>en varios pacientes</a:t>
            </a:r>
            <a:endParaRPr lang="en-US" sz="1150" dirty="0"/>
          </a:p>
          <a:p>
            <a:pPr marL="177800" indent="-177800">
              <a:spcAft>
                <a:spcPts val="600"/>
              </a:spcAft>
              <a:buSzPct val="100000"/>
              <a:buChar char="•"/>
            </a:pPr>
            <a:r>
              <a:rPr lang="en-US" sz="1150" b="1" dirty="0">
                <a:solidFill>
                  <a:srgbClr val="D9472F"/>
                </a:solidFill>
                <a:latin typeface="Calibri" pitchFamily="34" charset="0"/>
                <a:ea typeface="Calibri" pitchFamily="34" charset="-122"/>
                <a:cs typeface="Calibri" pitchFamily="34" charset="-120"/>
              </a:rPr>
              <a:t>Ante exantema atípico, eosinofilia o hepatitis: </a:t>
            </a:r>
            <a:pPr indent="0" marL="0">
              <a:buNone/>
            </a:pPr>
            <a:r>
              <a:rPr lang="en-US" sz="1150" dirty="0">
                <a:solidFill>
                  <a:srgbClr val="2B2330"/>
                </a:solidFill>
                <a:latin typeface="Calibri" pitchFamily="34" charset="0"/>
                <a:ea typeface="Calibri" pitchFamily="34" charset="-122"/>
                <a:cs typeface="Calibri" pitchFamily="34" charset="-120"/>
              </a:rPr>
              <a:t>sospechar y suspender el fármaco</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COMPLICACIONES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Otras complicaciones a vigilar</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Ann Rheum Dis. 2024 (revisiones sistemáticas que informan EULAR/PReS)</a:t>
            </a:r>
            <a:endParaRPr lang="en-US" sz="850" dirty="0"/>
          </a:p>
        </p:txBody>
      </p:sp>
      <p:sp>
        <p:nvSpPr>
          <p:cNvPr id="5" name="Shape 3"/>
          <p:cNvSpPr/>
          <p:nvPr/>
        </p:nvSpPr>
        <p:spPr>
          <a:xfrm>
            <a:off x="457200" y="1261872"/>
            <a:ext cx="548640" cy="548640"/>
          </a:xfrm>
          <a:prstGeom prst="ellipse">
            <a:avLst/>
          </a:prstGeom>
          <a:solidFill>
            <a:srgbClr val="7A1F45"/>
          </a:solidFill>
          <a:ln w="12700">
            <a:solidFill>
              <a:srgbClr val="7A1F45"/>
            </a:solidFill>
            <a:prstDash val="solid"/>
          </a:ln>
        </p:spPr>
      </p:sp>
      <p:pic>
        <p:nvPicPr>
          <p:cNvPr id="6" name="Image 0" descr="preencoded.png">    </p:cNvPr>
          <p:cNvPicPr>
            <a:picLocks noChangeAspect="1"/>
          </p:cNvPicPr>
          <p:nvPr/>
        </p:nvPicPr>
        <p:blipFill>
          <a:blip r:embed="rId1"/>
          <a:stretch>
            <a:fillRect/>
          </a:stretch>
        </p:blipFill>
        <p:spPr>
          <a:xfrm>
            <a:off x="594360" y="1399032"/>
            <a:ext cx="274320" cy="274320"/>
          </a:xfrm>
          <a:prstGeom prst="rect">
            <a:avLst/>
          </a:prstGeom>
        </p:spPr>
      </p:pic>
      <p:sp>
        <p:nvSpPr>
          <p:cNvPr id="7" name="Text 4"/>
          <p:cNvSpPr txBox="1"/>
          <p:nvPr/>
        </p:nvSpPr>
        <p:spPr>
          <a:xfrm>
            <a:off x="1143000" y="1188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Cardiacas</a:t>
            </a:r>
            <a:endParaRPr lang="en-US" sz="1350" dirty="0"/>
          </a:p>
        </p:txBody>
      </p:sp>
      <p:sp>
        <p:nvSpPr>
          <p:cNvPr id="8" name="Text 5"/>
          <p:cNvSpPr txBox="1"/>
          <p:nvPr/>
        </p:nvSpPr>
        <p:spPr>
          <a:xfrm>
            <a:off x="1143000" y="1499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Pericarditis, taponamiento y miocarditis.</a:t>
            </a:r>
            <a:endParaRPr lang="en-US" sz="1150" dirty="0"/>
          </a:p>
        </p:txBody>
      </p:sp>
      <p:sp>
        <p:nvSpPr>
          <p:cNvPr id="9" name="Shape 6"/>
          <p:cNvSpPr/>
          <p:nvPr/>
        </p:nvSpPr>
        <p:spPr>
          <a:xfrm>
            <a:off x="4663440" y="1261872"/>
            <a:ext cx="548640" cy="548640"/>
          </a:xfrm>
          <a:prstGeom prst="ellipse">
            <a:avLst/>
          </a:prstGeom>
          <a:solidFill>
            <a:srgbClr val="7A1F45"/>
          </a:solidFill>
          <a:ln w="12700">
            <a:solidFill>
              <a:srgbClr val="7A1F45"/>
            </a:solidFill>
            <a:prstDash val="solid"/>
          </a:ln>
        </p:spPr>
      </p:sp>
      <p:pic>
        <p:nvPicPr>
          <p:cNvPr id="10" name="Image 1" descr="preencoded.png">    </p:cNvPr>
          <p:cNvPicPr>
            <a:picLocks noChangeAspect="1"/>
          </p:cNvPicPr>
          <p:nvPr/>
        </p:nvPicPr>
        <p:blipFill>
          <a:blip r:embed="rId2"/>
          <a:stretch>
            <a:fillRect/>
          </a:stretch>
        </p:blipFill>
        <p:spPr>
          <a:xfrm>
            <a:off x="4800600" y="1399032"/>
            <a:ext cx="274320" cy="274320"/>
          </a:xfrm>
          <a:prstGeom prst="rect">
            <a:avLst/>
          </a:prstGeom>
        </p:spPr>
      </p:pic>
      <p:sp>
        <p:nvSpPr>
          <p:cNvPr id="11" name="Text 7"/>
          <p:cNvSpPr txBox="1"/>
          <p:nvPr/>
        </p:nvSpPr>
        <p:spPr>
          <a:xfrm>
            <a:off x="5349240" y="1188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Hematológicas</a:t>
            </a:r>
            <a:endParaRPr lang="en-US" sz="1350" dirty="0"/>
          </a:p>
        </p:txBody>
      </p:sp>
      <p:sp>
        <p:nvSpPr>
          <p:cNvPr id="12" name="Text 8"/>
          <p:cNvSpPr txBox="1"/>
          <p:nvPr/>
        </p:nvSpPr>
        <p:spPr>
          <a:xfrm>
            <a:off x="5349240" y="1499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Coagulación intravascular diseminada y microangiopatía trombótica.</a:t>
            </a:r>
            <a:endParaRPr lang="en-US" sz="1150" dirty="0"/>
          </a:p>
        </p:txBody>
      </p:sp>
      <p:sp>
        <p:nvSpPr>
          <p:cNvPr id="13" name="Shape 9"/>
          <p:cNvSpPr/>
          <p:nvPr/>
        </p:nvSpPr>
        <p:spPr>
          <a:xfrm>
            <a:off x="457200" y="2404872"/>
            <a:ext cx="548640" cy="548640"/>
          </a:xfrm>
          <a:prstGeom prst="ellipse">
            <a:avLst/>
          </a:prstGeom>
          <a:solidFill>
            <a:srgbClr val="7A1F45"/>
          </a:solidFill>
          <a:ln w="12700">
            <a:solidFill>
              <a:srgbClr val="7A1F45"/>
            </a:solidFill>
            <a:prstDash val="solid"/>
          </a:ln>
        </p:spPr>
      </p:sp>
      <p:pic>
        <p:nvPicPr>
          <p:cNvPr id="14" name="Image 2" descr="preencoded.png">    </p:cNvPr>
          <p:cNvPicPr>
            <a:picLocks noChangeAspect="1"/>
          </p:cNvPicPr>
          <p:nvPr/>
        </p:nvPicPr>
        <p:blipFill>
          <a:blip r:embed="rId3"/>
          <a:stretch>
            <a:fillRect/>
          </a:stretch>
        </p:blipFill>
        <p:spPr>
          <a:xfrm>
            <a:off x="594360" y="2542032"/>
            <a:ext cx="274320" cy="274320"/>
          </a:xfrm>
          <a:prstGeom prst="rect">
            <a:avLst/>
          </a:prstGeom>
        </p:spPr>
      </p:pic>
      <p:sp>
        <p:nvSpPr>
          <p:cNvPr id="15" name="Text 10"/>
          <p:cNvSpPr txBox="1"/>
          <p:nvPr/>
        </p:nvSpPr>
        <p:spPr>
          <a:xfrm>
            <a:off x="1143000" y="2331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Hepáticas</a:t>
            </a:r>
            <a:endParaRPr lang="en-US" sz="1350" dirty="0"/>
          </a:p>
        </p:txBody>
      </p:sp>
      <p:sp>
        <p:nvSpPr>
          <p:cNvPr id="16" name="Text 11"/>
          <p:cNvSpPr txBox="1"/>
          <p:nvPr/>
        </p:nvSpPr>
        <p:spPr>
          <a:xfrm>
            <a:off x="1143000" y="2642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Hepatitis grave e insuficiencia hepática (también por fármacos).</a:t>
            </a:r>
            <a:endParaRPr lang="en-US" sz="1150" dirty="0"/>
          </a:p>
        </p:txBody>
      </p:sp>
      <p:sp>
        <p:nvSpPr>
          <p:cNvPr id="17" name="Shape 12"/>
          <p:cNvSpPr/>
          <p:nvPr/>
        </p:nvSpPr>
        <p:spPr>
          <a:xfrm>
            <a:off x="4663440" y="2404872"/>
            <a:ext cx="548640" cy="548640"/>
          </a:xfrm>
          <a:prstGeom prst="ellipse">
            <a:avLst/>
          </a:prstGeom>
          <a:solidFill>
            <a:srgbClr val="7A1F45"/>
          </a:solidFill>
          <a:ln w="12700">
            <a:solidFill>
              <a:srgbClr val="7A1F45"/>
            </a:solidFill>
            <a:prstDash val="solid"/>
          </a:ln>
        </p:spPr>
      </p:sp>
      <p:pic>
        <p:nvPicPr>
          <p:cNvPr id="18" name="Image 3" descr="preencoded.png">    </p:cNvPr>
          <p:cNvPicPr>
            <a:picLocks noChangeAspect="1"/>
          </p:cNvPicPr>
          <p:nvPr/>
        </p:nvPicPr>
        <p:blipFill>
          <a:blip r:embed="rId4"/>
          <a:stretch>
            <a:fillRect/>
          </a:stretch>
        </p:blipFill>
        <p:spPr>
          <a:xfrm>
            <a:off x="4800600" y="2542032"/>
            <a:ext cx="274320" cy="274320"/>
          </a:xfrm>
          <a:prstGeom prst="rect">
            <a:avLst/>
          </a:prstGeom>
        </p:spPr>
      </p:pic>
      <p:sp>
        <p:nvSpPr>
          <p:cNvPr id="19" name="Text 13"/>
          <p:cNvSpPr txBox="1"/>
          <p:nvPr/>
        </p:nvSpPr>
        <p:spPr>
          <a:xfrm>
            <a:off x="5349240" y="2331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Amiloidosis AA</a:t>
            </a:r>
            <a:endParaRPr lang="en-US" sz="1350" dirty="0"/>
          </a:p>
        </p:txBody>
      </p:sp>
      <p:sp>
        <p:nvSpPr>
          <p:cNvPr id="20" name="Text 14"/>
          <p:cNvSpPr txBox="1"/>
          <p:nvPr/>
        </p:nvSpPr>
        <p:spPr>
          <a:xfrm>
            <a:off x="5349240" y="2642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Más frecuente en AIJs; consecuencia de inflamación no controlada.</a:t>
            </a:r>
            <a:endParaRPr lang="en-US" sz="1150" dirty="0"/>
          </a:p>
        </p:txBody>
      </p:sp>
      <p:sp>
        <p:nvSpPr>
          <p:cNvPr id="21" name="Shape 15"/>
          <p:cNvSpPr/>
          <p:nvPr/>
        </p:nvSpPr>
        <p:spPr>
          <a:xfrm>
            <a:off x="457200" y="3547872"/>
            <a:ext cx="548640" cy="548640"/>
          </a:xfrm>
          <a:prstGeom prst="ellipse">
            <a:avLst/>
          </a:prstGeom>
          <a:solidFill>
            <a:srgbClr val="D9472F"/>
          </a:solidFill>
          <a:ln w="12700">
            <a:solidFill>
              <a:srgbClr val="D9472F"/>
            </a:solidFill>
            <a:prstDash val="solid"/>
          </a:ln>
        </p:spPr>
      </p:sp>
      <p:pic>
        <p:nvPicPr>
          <p:cNvPr id="22" name="Image 4" descr="preencoded.png">    </p:cNvPr>
          <p:cNvPicPr>
            <a:picLocks noChangeAspect="1"/>
          </p:cNvPicPr>
          <p:nvPr/>
        </p:nvPicPr>
        <p:blipFill>
          <a:blip r:embed="rId5"/>
          <a:stretch>
            <a:fillRect/>
          </a:stretch>
        </p:blipFill>
        <p:spPr>
          <a:xfrm>
            <a:off x="594360" y="3685032"/>
            <a:ext cx="274320" cy="274320"/>
          </a:xfrm>
          <a:prstGeom prst="rect">
            <a:avLst/>
          </a:prstGeom>
        </p:spPr>
      </p:pic>
      <p:sp>
        <p:nvSpPr>
          <p:cNvPr id="23" name="Text 16"/>
          <p:cNvSpPr txBox="1"/>
          <p:nvPr/>
        </p:nvSpPr>
        <p:spPr>
          <a:xfrm>
            <a:off x="1143000" y="3474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Por glucocorticoides</a:t>
            </a:r>
            <a:endParaRPr lang="en-US" sz="1350" dirty="0"/>
          </a:p>
        </p:txBody>
      </p:sp>
      <p:sp>
        <p:nvSpPr>
          <p:cNvPr id="24" name="Text 17"/>
          <p:cNvSpPr txBox="1"/>
          <p:nvPr/>
        </p:nvSpPr>
        <p:spPr>
          <a:xfrm>
            <a:off x="1143000" y="3785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Infecciones, osteoporosis, osteonecrosis, diabetes, retraso del crecimiento en niños.</a:t>
            </a:r>
            <a:endParaRPr lang="en-US" sz="1150" dirty="0"/>
          </a:p>
        </p:txBody>
      </p:sp>
      <p:sp>
        <p:nvSpPr>
          <p:cNvPr id="25" name="Shape 18"/>
          <p:cNvSpPr/>
          <p:nvPr/>
        </p:nvSpPr>
        <p:spPr>
          <a:xfrm>
            <a:off x="4663440" y="3547872"/>
            <a:ext cx="548640" cy="548640"/>
          </a:xfrm>
          <a:prstGeom prst="ellipse">
            <a:avLst/>
          </a:prstGeom>
          <a:solidFill>
            <a:srgbClr val="7A1F45"/>
          </a:solidFill>
          <a:ln w="12700">
            <a:solidFill>
              <a:srgbClr val="7A1F45"/>
            </a:solidFill>
            <a:prstDash val="solid"/>
          </a:ln>
        </p:spPr>
      </p:sp>
      <p:pic>
        <p:nvPicPr>
          <p:cNvPr id="26" name="Image 5" descr="preencoded.png">    </p:cNvPr>
          <p:cNvPicPr>
            <a:picLocks noChangeAspect="1"/>
          </p:cNvPicPr>
          <p:nvPr/>
        </p:nvPicPr>
        <p:blipFill>
          <a:blip r:embed="rId6"/>
          <a:stretch>
            <a:fillRect/>
          </a:stretch>
        </p:blipFill>
        <p:spPr>
          <a:xfrm>
            <a:off x="4800600" y="3685032"/>
            <a:ext cx="274320" cy="274320"/>
          </a:xfrm>
          <a:prstGeom prst="rect">
            <a:avLst/>
          </a:prstGeom>
        </p:spPr>
      </p:pic>
      <p:sp>
        <p:nvSpPr>
          <p:cNvPr id="27" name="Text 19"/>
          <p:cNvSpPr txBox="1"/>
          <p:nvPr/>
        </p:nvSpPr>
        <p:spPr>
          <a:xfrm>
            <a:off x="5349240" y="3474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Articulares</a:t>
            </a:r>
            <a:endParaRPr lang="en-US" sz="1350" dirty="0"/>
          </a:p>
        </p:txBody>
      </p:sp>
      <p:sp>
        <p:nvSpPr>
          <p:cNvPr id="28" name="Text 20"/>
          <p:cNvSpPr txBox="1"/>
          <p:nvPr/>
        </p:nvSpPr>
        <p:spPr>
          <a:xfrm>
            <a:off x="5349240" y="3785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Daño articular y anquilosis en la forma crónica articular.</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Principios de la guía EULAR/PReS 2024</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188720"/>
            <a:ext cx="4023360" cy="1024128"/>
          </a:xfrm>
          <a:prstGeom prst="roundRect">
            <a:avLst>
              <a:gd name="adj" fmla="val 7143"/>
            </a:avLst>
          </a:prstGeom>
          <a:solidFill>
            <a:srgbClr val="F7EEF1"/>
          </a:solidFill>
          <a:ln w="12700">
            <a:solidFill>
              <a:srgbClr val="F7EEF1"/>
            </a:solidFill>
            <a:prstDash val="solid"/>
          </a:ln>
        </p:spPr>
      </p:sp>
      <p:sp>
        <p:nvSpPr>
          <p:cNvPr id="6" name="Shape 4"/>
          <p:cNvSpPr/>
          <p:nvPr/>
        </p:nvSpPr>
        <p:spPr>
          <a:xfrm>
            <a:off x="594360" y="1417320"/>
            <a:ext cx="548640" cy="548640"/>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31520" y="1554480"/>
            <a:ext cx="274320" cy="274320"/>
          </a:xfrm>
          <a:prstGeom prst="rect">
            <a:avLst/>
          </a:prstGeom>
        </p:spPr>
      </p:pic>
      <p:sp>
        <p:nvSpPr>
          <p:cNvPr id="8" name="Text 5"/>
          <p:cNvSpPr txBox="1"/>
          <p:nvPr/>
        </p:nvSpPr>
        <p:spPr>
          <a:xfrm>
            <a:off x="1280160" y="1261872"/>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Una sola enfermedad</a:t>
            </a:r>
            <a:endParaRPr lang="en-US" sz="1300" dirty="0"/>
          </a:p>
        </p:txBody>
      </p:sp>
      <p:sp>
        <p:nvSpPr>
          <p:cNvPr id="9" name="Text 6"/>
          <p:cNvSpPr txBox="1"/>
          <p:nvPr/>
        </p:nvSpPr>
        <p:spPr>
          <a:xfrm>
            <a:off x="1280160" y="1572768"/>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AIJs y ESA se diagnostican y tratan con el mismo enfoque.</a:t>
            </a:r>
            <a:endParaRPr lang="en-US" sz="1100" dirty="0"/>
          </a:p>
        </p:txBody>
      </p:sp>
      <p:sp>
        <p:nvSpPr>
          <p:cNvPr id="10" name="Shape 7"/>
          <p:cNvSpPr/>
          <p:nvPr/>
        </p:nvSpPr>
        <p:spPr>
          <a:xfrm>
            <a:off x="4663440" y="1188720"/>
            <a:ext cx="4023360" cy="1024128"/>
          </a:xfrm>
          <a:prstGeom prst="roundRect">
            <a:avLst>
              <a:gd name="adj" fmla="val 7143"/>
            </a:avLst>
          </a:prstGeom>
          <a:solidFill>
            <a:srgbClr val="F7EEF1"/>
          </a:solidFill>
          <a:ln w="12700">
            <a:solidFill>
              <a:srgbClr val="F7EEF1"/>
            </a:solidFill>
            <a:prstDash val="solid"/>
          </a:ln>
        </p:spPr>
      </p:sp>
      <p:sp>
        <p:nvSpPr>
          <p:cNvPr id="11" name="Shape 8"/>
          <p:cNvSpPr/>
          <p:nvPr/>
        </p:nvSpPr>
        <p:spPr>
          <a:xfrm>
            <a:off x="4800600" y="1417320"/>
            <a:ext cx="548640" cy="548640"/>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4937760" y="1554480"/>
            <a:ext cx="274320" cy="274320"/>
          </a:xfrm>
          <a:prstGeom prst="rect">
            <a:avLst/>
          </a:prstGeom>
        </p:spPr>
      </p:pic>
      <p:sp>
        <p:nvSpPr>
          <p:cNvPr id="13" name="Text 9"/>
          <p:cNvSpPr txBox="1"/>
          <p:nvPr/>
        </p:nvSpPr>
        <p:spPr>
          <a:xfrm>
            <a:off x="5486400" y="1261872"/>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Dos objetivos</a:t>
            </a:r>
            <a:endParaRPr lang="en-US" sz="1300" dirty="0"/>
          </a:p>
        </p:txBody>
      </p:sp>
      <p:sp>
        <p:nvSpPr>
          <p:cNvPr id="14" name="Text 10"/>
          <p:cNvSpPr txBox="1"/>
          <p:nvPr/>
        </p:nvSpPr>
        <p:spPr>
          <a:xfrm>
            <a:off x="5486400" y="1572768"/>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Enfermedad clínicamente inactiva (CID) y remisión: CID mantenida ≥ 6 meses.</a:t>
            </a:r>
            <a:endParaRPr lang="en-US" sz="1100" dirty="0"/>
          </a:p>
        </p:txBody>
      </p:sp>
      <p:sp>
        <p:nvSpPr>
          <p:cNvPr id="15" name="Shape 11"/>
          <p:cNvSpPr/>
          <p:nvPr/>
        </p:nvSpPr>
        <p:spPr>
          <a:xfrm>
            <a:off x="457200" y="2350008"/>
            <a:ext cx="4023360" cy="1024128"/>
          </a:xfrm>
          <a:prstGeom prst="roundRect">
            <a:avLst>
              <a:gd name="adj" fmla="val 7143"/>
            </a:avLst>
          </a:prstGeom>
          <a:solidFill>
            <a:srgbClr val="F7EEF1"/>
          </a:solidFill>
          <a:ln w="12700">
            <a:solidFill>
              <a:srgbClr val="F7EEF1"/>
            </a:solidFill>
            <a:prstDash val="solid"/>
          </a:ln>
        </p:spPr>
      </p:sp>
      <p:sp>
        <p:nvSpPr>
          <p:cNvPr id="16" name="Shape 12"/>
          <p:cNvSpPr/>
          <p:nvPr/>
        </p:nvSpPr>
        <p:spPr>
          <a:xfrm>
            <a:off x="594360" y="2578608"/>
            <a:ext cx="548640" cy="548640"/>
          </a:xfrm>
          <a:prstGeom prst="ellipse">
            <a:avLst/>
          </a:prstGeom>
          <a:solidFill>
            <a:srgbClr val="D9472F"/>
          </a:solidFill>
          <a:ln w="12700">
            <a:solidFill>
              <a:srgbClr val="D9472F"/>
            </a:solidFill>
            <a:prstDash val="solid"/>
          </a:ln>
        </p:spPr>
      </p:sp>
      <p:pic>
        <p:nvPicPr>
          <p:cNvPr id="17" name="Image 2" descr="preencoded.png">    </p:cNvPr>
          <p:cNvPicPr>
            <a:picLocks noChangeAspect="1"/>
          </p:cNvPicPr>
          <p:nvPr/>
        </p:nvPicPr>
        <p:blipFill>
          <a:blip r:embed="rId3"/>
          <a:stretch>
            <a:fillRect/>
          </a:stretch>
        </p:blipFill>
        <p:spPr>
          <a:xfrm>
            <a:off x="731520" y="2715768"/>
            <a:ext cx="274320" cy="274320"/>
          </a:xfrm>
          <a:prstGeom prst="rect">
            <a:avLst/>
          </a:prstGeom>
        </p:spPr>
      </p:pic>
      <p:sp>
        <p:nvSpPr>
          <p:cNvPr id="18" name="Text 13"/>
          <p:cNvSpPr txBox="1"/>
          <p:nvPr/>
        </p:nvSpPr>
        <p:spPr>
          <a:xfrm>
            <a:off x="1280160" y="2423160"/>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Inhibidores de IL-1 o IL-6 precoces</a:t>
            </a:r>
            <a:endParaRPr lang="en-US" sz="1300" dirty="0"/>
          </a:p>
        </p:txBody>
      </p:sp>
      <p:sp>
        <p:nvSpPr>
          <p:cNvPr id="19" name="Text 14"/>
          <p:cNvSpPr txBox="1"/>
          <p:nvPr/>
        </p:nvSpPr>
        <p:spPr>
          <a:xfrm>
            <a:off x="1280160" y="2734056"/>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Iniciarlos lo antes posible tras el diagnóstico.</a:t>
            </a:r>
            <a:endParaRPr lang="en-US" sz="1100" dirty="0"/>
          </a:p>
        </p:txBody>
      </p:sp>
      <p:sp>
        <p:nvSpPr>
          <p:cNvPr id="20" name="Shape 15"/>
          <p:cNvSpPr/>
          <p:nvPr/>
        </p:nvSpPr>
        <p:spPr>
          <a:xfrm>
            <a:off x="4663440" y="2350008"/>
            <a:ext cx="4023360" cy="1024128"/>
          </a:xfrm>
          <a:prstGeom prst="roundRect">
            <a:avLst>
              <a:gd name="adj" fmla="val 7143"/>
            </a:avLst>
          </a:prstGeom>
          <a:solidFill>
            <a:srgbClr val="F7EEF1"/>
          </a:solidFill>
          <a:ln w="12700">
            <a:solidFill>
              <a:srgbClr val="F7EEF1"/>
            </a:solidFill>
            <a:prstDash val="solid"/>
          </a:ln>
        </p:spPr>
      </p:sp>
      <p:sp>
        <p:nvSpPr>
          <p:cNvPr id="21" name="Shape 16"/>
          <p:cNvSpPr/>
          <p:nvPr/>
        </p:nvSpPr>
        <p:spPr>
          <a:xfrm>
            <a:off x="4800600" y="2578608"/>
            <a:ext cx="548640" cy="548640"/>
          </a:xfrm>
          <a:prstGeom prst="ellipse">
            <a:avLst/>
          </a:prstGeom>
          <a:solidFill>
            <a:srgbClr val="7A1F45"/>
          </a:solidFill>
          <a:ln w="12700">
            <a:solidFill>
              <a:srgbClr val="7A1F45"/>
            </a:solidFill>
            <a:prstDash val="solid"/>
          </a:ln>
        </p:spPr>
      </p:sp>
      <p:pic>
        <p:nvPicPr>
          <p:cNvPr id="22" name="Image 3" descr="preencoded.png">    </p:cNvPr>
          <p:cNvPicPr>
            <a:picLocks noChangeAspect="1"/>
          </p:cNvPicPr>
          <p:nvPr/>
        </p:nvPicPr>
        <p:blipFill>
          <a:blip r:embed="rId4"/>
          <a:stretch>
            <a:fillRect/>
          </a:stretch>
        </p:blipFill>
        <p:spPr>
          <a:xfrm>
            <a:off x="4937760" y="2715768"/>
            <a:ext cx="274320" cy="274320"/>
          </a:xfrm>
          <a:prstGeom prst="rect">
            <a:avLst/>
          </a:prstGeom>
        </p:spPr>
      </p:pic>
      <p:sp>
        <p:nvSpPr>
          <p:cNvPr id="23" name="Text 17"/>
          <p:cNvSpPr txBox="1"/>
          <p:nvPr/>
        </p:nvSpPr>
        <p:spPr>
          <a:xfrm>
            <a:off x="5486400" y="2423160"/>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Glucocorticoides breves</a:t>
            </a:r>
            <a:endParaRPr lang="en-US" sz="1300" dirty="0"/>
          </a:p>
        </p:txBody>
      </p:sp>
      <p:sp>
        <p:nvSpPr>
          <p:cNvPr id="24" name="Text 18"/>
          <p:cNvSpPr txBox="1"/>
          <p:nvPr/>
        </p:nvSpPr>
        <p:spPr>
          <a:xfrm>
            <a:off x="5486400" y="2734056"/>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Evitar su uso prolongado; objetivo: CID sin glucocorticoides a los 6 meses.</a:t>
            </a:r>
            <a:endParaRPr lang="en-US" sz="1100" dirty="0"/>
          </a:p>
        </p:txBody>
      </p:sp>
      <p:sp>
        <p:nvSpPr>
          <p:cNvPr id="25" name="Shape 19"/>
          <p:cNvSpPr/>
          <p:nvPr/>
        </p:nvSpPr>
        <p:spPr>
          <a:xfrm>
            <a:off x="457200" y="3511296"/>
            <a:ext cx="4023360" cy="1024128"/>
          </a:xfrm>
          <a:prstGeom prst="roundRect">
            <a:avLst>
              <a:gd name="adj" fmla="val 7143"/>
            </a:avLst>
          </a:prstGeom>
          <a:solidFill>
            <a:srgbClr val="F7EEF1"/>
          </a:solidFill>
          <a:ln w="12700">
            <a:solidFill>
              <a:srgbClr val="F7EEF1"/>
            </a:solidFill>
            <a:prstDash val="solid"/>
          </a:ln>
        </p:spPr>
      </p:sp>
      <p:sp>
        <p:nvSpPr>
          <p:cNvPr id="26" name="Shape 20"/>
          <p:cNvSpPr/>
          <p:nvPr/>
        </p:nvSpPr>
        <p:spPr>
          <a:xfrm>
            <a:off x="594360" y="3739896"/>
            <a:ext cx="548640" cy="548640"/>
          </a:xfrm>
          <a:prstGeom prst="ellipse">
            <a:avLst/>
          </a:prstGeom>
          <a:solidFill>
            <a:srgbClr val="7A1F45"/>
          </a:solidFill>
          <a:ln w="12700">
            <a:solidFill>
              <a:srgbClr val="7A1F45"/>
            </a:solidFill>
            <a:prstDash val="solid"/>
          </a:ln>
        </p:spPr>
      </p:sp>
      <p:pic>
        <p:nvPicPr>
          <p:cNvPr id="27" name="Image 4" descr="preencoded.png">    </p:cNvPr>
          <p:cNvPicPr>
            <a:picLocks noChangeAspect="1"/>
          </p:cNvPicPr>
          <p:nvPr/>
        </p:nvPicPr>
        <p:blipFill>
          <a:blip r:embed="rId5"/>
          <a:stretch>
            <a:fillRect/>
          </a:stretch>
        </p:blipFill>
        <p:spPr>
          <a:xfrm>
            <a:off x="731520" y="3877056"/>
            <a:ext cx="274320" cy="274320"/>
          </a:xfrm>
          <a:prstGeom prst="rect">
            <a:avLst/>
          </a:prstGeom>
        </p:spPr>
      </p:pic>
      <p:sp>
        <p:nvSpPr>
          <p:cNvPr id="28" name="Text 21"/>
          <p:cNvSpPr txBox="1"/>
          <p:nvPr/>
        </p:nvSpPr>
        <p:spPr>
          <a:xfrm>
            <a:off x="1280160" y="3584448"/>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SAM</a:t>
            </a:r>
            <a:endParaRPr lang="en-US" sz="1300" dirty="0"/>
          </a:p>
        </p:txBody>
      </p:sp>
      <p:sp>
        <p:nvSpPr>
          <p:cNvPr id="29" name="Text 22"/>
          <p:cNvSpPr txBox="1"/>
          <p:nvPr/>
        </p:nvSpPr>
        <p:spPr>
          <a:xfrm>
            <a:off x="1280160" y="3895344"/>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Detección temprana y tratamiento con dosis altas de GC, IL-1i, ciclosporina e inhibidor de IFN-γ.</a:t>
            </a:r>
            <a:endParaRPr lang="en-US" sz="1100" dirty="0"/>
          </a:p>
        </p:txBody>
      </p:sp>
      <p:sp>
        <p:nvSpPr>
          <p:cNvPr id="30" name="Shape 23"/>
          <p:cNvSpPr/>
          <p:nvPr/>
        </p:nvSpPr>
        <p:spPr>
          <a:xfrm>
            <a:off x="4663440" y="3511296"/>
            <a:ext cx="4023360" cy="1024128"/>
          </a:xfrm>
          <a:prstGeom prst="roundRect">
            <a:avLst>
              <a:gd name="adj" fmla="val 7143"/>
            </a:avLst>
          </a:prstGeom>
          <a:solidFill>
            <a:srgbClr val="F7EEF1"/>
          </a:solidFill>
          <a:ln w="12700">
            <a:solidFill>
              <a:srgbClr val="F7EEF1"/>
            </a:solidFill>
            <a:prstDash val="solid"/>
          </a:ln>
        </p:spPr>
      </p:sp>
      <p:sp>
        <p:nvSpPr>
          <p:cNvPr id="31" name="Shape 24"/>
          <p:cNvSpPr/>
          <p:nvPr/>
        </p:nvSpPr>
        <p:spPr>
          <a:xfrm>
            <a:off x="4800600" y="3739896"/>
            <a:ext cx="548640" cy="548640"/>
          </a:xfrm>
          <a:prstGeom prst="ellipse">
            <a:avLst/>
          </a:prstGeom>
          <a:solidFill>
            <a:srgbClr val="7A1F45"/>
          </a:solidFill>
          <a:ln w="12700">
            <a:solidFill>
              <a:srgbClr val="7A1F45"/>
            </a:solidFill>
            <a:prstDash val="solid"/>
          </a:ln>
        </p:spPr>
      </p:sp>
      <p:pic>
        <p:nvPicPr>
          <p:cNvPr id="32" name="Image 5" descr="preencoded.png">    </p:cNvPr>
          <p:cNvPicPr>
            <a:picLocks noChangeAspect="1"/>
          </p:cNvPicPr>
          <p:nvPr/>
        </p:nvPicPr>
        <p:blipFill>
          <a:blip r:embed="rId6"/>
          <a:stretch>
            <a:fillRect/>
          </a:stretch>
        </p:blipFill>
        <p:spPr>
          <a:xfrm>
            <a:off x="4937760" y="3877056"/>
            <a:ext cx="274320" cy="274320"/>
          </a:xfrm>
          <a:prstGeom prst="rect">
            <a:avLst/>
          </a:prstGeom>
        </p:spPr>
      </p:pic>
      <p:sp>
        <p:nvSpPr>
          <p:cNvPr id="33" name="Text 25"/>
          <p:cNvSpPr txBox="1"/>
          <p:nvPr/>
        </p:nvSpPr>
        <p:spPr>
          <a:xfrm>
            <a:off x="5486400" y="3584448"/>
            <a:ext cx="3108960" cy="292608"/>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Metas por tiempos</a:t>
            </a:r>
            <a:endParaRPr lang="en-US" sz="1300" dirty="0"/>
          </a:p>
        </p:txBody>
      </p:sp>
      <p:sp>
        <p:nvSpPr>
          <p:cNvPr id="34" name="Text 26"/>
          <p:cNvSpPr txBox="1"/>
          <p:nvPr/>
        </p:nvSpPr>
        <p:spPr>
          <a:xfrm>
            <a:off x="5486400" y="3895344"/>
            <a:ext cx="3108960" cy="594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Día 7, semana 4, mes 3 y mes 6 para decidir cambios.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Tratar hasta el objetivo: metas por tiempos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1234440" y="1783080"/>
            <a:ext cx="6309360" cy="0"/>
          </a:xfrm>
          <a:prstGeom prst="line">
            <a:avLst/>
          </a:prstGeom>
          <a:noFill/>
          <a:ln w="50800">
            <a:solidFill>
              <a:srgbClr val="D9CCD2"/>
            </a:solidFill>
            <a:prstDash val="solid"/>
          </a:ln>
        </p:spPr>
      </p:sp>
      <p:sp>
        <p:nvSpPr>
          <p:cNvPr id="6" name="Shape 4"/>
          <p:cNvSpPr/>
          <p:nvPr/>
        </p:nvSpPr>
        <p:spPr>
          <a:xfrm>
            <a:off x="960120" y="1371600"/>
            <a:ext cx="822960" cy="822960"/>
          </a:xfrm>
          <a:prstGeom prst="ellipse">
            <a:avLst/>
          </a:prstGeom>
          <a:solidFill>
            <a:srgbClr val="7A1F45"/>
          </a:solidFill>
          <a:ln w="38100">
            <a:solidFill>
              <a:srgbClr val="FFFFFF"/>
            </a:solidFill>
            <a:prstDash val="solid"/>
          </a:ln>
        </p:spPr>
      </p:sp>
      <p:sp>
        <p:nvSpPr>
          <p:cNvPr id="7" name="Text 5"/>
          <p:cNvSpPr txBox="1"/>
          <p:nvPr/>
        </p:nvSpPr>
        <p:spPr>
          <a:xfrm>
            <a:off x="960120" y="13716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457200" y="2286000"/>
            <a:ext cx="1828800" cy="365760"/>
          </a:xfrm>
          <a:prstGeom prst="rect">
            <a:avLst/>
          </a:prstGeom>
          <a:noFill/>
          <a:ln/>
        </p:spPr>
        <p:txBody>
          <a:bodyPr wrap="square" lIns="0" tIns="0" rIns="0" bIns="0" rtlCol="0" anchor="t"/>
          <a:lstStyle/>
          <a:p>
            <a:pPr algn="ctr" indent="0" marL="0">
              <a:buNone/>
            </a:pPr>
            <a:r>
              <a:rPr lang="en-US" sz="1700" b="1" dirty="0">
                <a:solidFill>
                  <a:srgbClr val="7A1F45"/>
                </a:solidFill>
                <a:latin typeface="Cambria" pitchFamily="34" charset="0"/>
                <a:ea typeface="Cambria" pitchFamily="34" charset="-122"/>
                <a:cs typeface="Cambria" pitchFamily="34" charset="-120"/>
              </a:rPr>
              <a:t>Día 7</a:t>
            </a:r>
            <a:endParaRPr lang="en-US" sz="1700" dirty="0"/>
          </a:p>
        </p:txBody>
      </p:sp>
      <p:sp>
        <p:nvSpPr>
          <p:cNvPr id="9" name="Text 7"/>
          <p:cNvSpPr txBox="1"/>
          <p:nvPr/>
        </p:nvSpPr>
        <p:spPr>
          <a:xfrm>
            <a:off x="502920" y="2651760"/>
            <a:ext cx="1737360" cy="96012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Sin fiebre y PCR ↓ &gt; 50 %</a:t>
            </a:r>
            <a:endParaRPr lang="en-US" sz="1150" dirty="0"/>
          </a:p>
        </p:txBody>
      </p:sp>
      <p:sp>
        <p:nvSpPr>
          <p:cNvPr id="10" name="Shape 8"/>
          <p:cNvSpPr/>
          <p:nvPr/>
        </p:nvSpPr>
        <p:spPr>
          <a:xfrm>
            <a:off x="3063240" y="1371600"/>
            <a:ext cx="822960" cy="822960"/>
          </a:xfrm>
          <a:prstGeom prst="ellipse">
            <a:avLst/>
          </a:prstGeom>
          <a:solidFill>
            <a:srgbClr val="7A1F45"/>
          </a:solidFill>
          <a:ln w="38100">
            <a:solidFill>
              <a:srgbClr val="FFFFFF"/>
            </a:solidFill>
            <a:prstDash val="solid"/>
          </a:ln>
        </p:spPr>
      </p:sp>
      <p:sp>
        <p:nvSpPr>
          <p:cNvPr id="11" name="Text 9"/>
          <p:cNvSpPr txBox="1"/>
          <p:nvPr/>
        </p:nvSpPr>
        <p:spPr>
          <a:xfrm>
            <a:off x="3063240" y="13716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2560320" y="2286000"/>
            <a:ext cx="1828800" cy="365760"/>
          </a:xfrm>
          <a:prstGeom prst="rect">
            <a:avLst/>
          </a:prstGeom>
          <a:noFill/>
          <a:ln/>
        </p:spPr>
        <p:txBody>
          <a:bodyPr wrap="square" lIns="0" tIns="0" rIns="0" bIns="0" rtlCol="0" anchor="t"/>
          <a:lstStyle/>
          <a:p>
            <a:pPr algn="ctr" indent="0" marL="0">
              <a:buNone/>
            </a:pPr>
            <a:r>
              <a:rPr lang="en-US" sz="1700" b="1" dirty="0">
                <a:solidFill>
                  <a:srgbClr val="7A1F45"/>
                </a:solidFill>
                <a:latin typeface="Cambria" pitchFamily="34" charset="0"/>
                <a:ea typeface="Cambria" pitchFamily="34" charset="-122"/>
                <a:cs typeface="Cambria" pitchFamily="34" charset="-120"/>
              </a:rPr>
              <a:t>Semana 4</a:t>
            </a:r>
            <a:endParaRPr lang="en-US" sz="1700" dirty="0"/>
          </a:p>
        </p:txBody>
      </p:sp>
      <p:sp>
        <p:nvSpPr>
          <p:cNvPr id="13" name="Text 11"/>
          <p:cNvSpPr txBox="1"/>
          <p:nvPr/>
        </p:nvSpPr>
        <p:spPr>
          <a:xfrm>
            <a:off x="2606040" y="2651760"/>
            <a:ext cx="1737360" cy="96012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Sin fiebre, articulaciones activas ↓ &gt; 50 %, PCR normal, evaluación global &lt; 20/100</a:t>
            </a:r>
            <a:endParaRPr lang="en-US" sz="1150" dirty="0"/>
          </a:p>
        </p:txBody>
      </p:sp>
      <p:sp>
        <p:nvSpPr>
          <p:cNvPr id="14" name="Shape 12"/>
          <p:cNvSpPr/>
          <p:nvPr/>
        </p:nvSpPr>
        <p:spPr>
          <a:xfrm>
            <a:off x="5166360" y="1371600"/>
            <a:ext cx="822960" cy="822960"/>
          </a:xfrm>
          <a:prstGeom prst="ellipse">
            <a:avLst/>
          </a:prstGeom>
          <a:solidFill>
            <a:srgbClr val="A2456A"/>
          </a:solidFill>
          <a:ln w="38100">
            <a:solidFill>
              <a:srgbClr val="FFFFFF"/>
            </a:solidFill>
            <a:prstDash val="solid"/>
          </a:ln>
        </p:spPr>
      </p:sp>
      <p:sp>
        <p:nvSpPr>
          <p:cNvPr id="15" name="Text 13"/>
          <p:cNvSpPr txBox="1"/>
          <p:nvPr/>
        </p:nvSpPr>
        <p:spPr>
          <a:xfrm>
            <a:off x="5166360" y="13716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4663440" y="2286000"/>
            <a:ext cx="1828800" cy="365760"/>
          </a:xfrm>
          <a:prstGeom prst="rect">
            <a:avLst/>
          </a:prstGeom>
          <a:noFill/>
          <a:ln/>
        </p:spPr>
        <p:txBody>
          <a:bodyPr wrap="square" lIns="0" tIns="0" rIns="0" bIns="0" rtlCol="0" anchor="t"/>
          <a:lstStyle/>
          <a:p>
            <a:pPr algn="ctr" indent="0" marL="0">
              <a:buNone/>
            </a:pPr>
            <a:r>
              <a:rPr lang="en-US" sz="1700" b="1" dirty="0">
                <a:solidFill>
                  <a:srgbClr val="A2456A"/>
                </a:solidFill>
                <a:latin typeface="Cambria" pitchFamily="34" charset="0"/>
                <a:ea typeface="Cambria" pitchFamily="34" charset="-122"/>
                <a:cs typeface="Cambria" pitchFamily="34" charset="-120"/>
              </a:rPr>
              <a:t>Mes 3</a:t>
            </a:r>
            <a:endParaRPr lang="en-US" sz="1700" dirty="0"/>
          </a:p>
        </p:txBody>
      </p:sp>
      <p:sp>
        <p:nvSpPr>
          <p:cNvPr id="17" name="Text 15"/>
          <p:cNvSpPr txBox="1"/>
          <p:nvPr/>
        </p:nvSpPr>
        <p:spPr>
          <a:xfrm>
            <a:off x="4709160" y="2651760"/>
            <a:ext cx="1737360" cy="96012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CID con glucocorticoides &lt; 0,1–0,2 mg/kg/día</a:t>
            </a:r>
            <a:endParaRPr lang="en-US" sz="1150" dirty="0"/>
          </a:p>
        </p:txBody>
      </p:sp>
      <p:sp>
        <p:nvSpPr>
          <p:cNvPr id="18" name="Shape 16"/>
          <p:cNvSpPr/>
          <p:nvPr/>
        </p:nvSpPr>
        <p:spPr>
          <a:xfrm>
            <a:off x="7269480" y="1371600"/>
            <a:ext cx="822960" cy="822960"/>
          </a:xfrm>
          <a:prstGeom prst="ellipse">
            <a:avLst/>
          </a:prstGeom>
          <a:solidFill>
            <a:srgbClr val="1F7F79"/>
          </a:solidFill>
          <a:ln w="38100">
            <a:solidFill>
              <a:srgbClr val="FFFFFF"/>
            </a:solidFill>
            <a:prstDash val="solid"/>
          </a:ln>
        </p:spPr>
      </p:sp>
      <p:sp>
        <p:nvSpPr>
          <p:cNvPr id="19" name="Text 17"/>
          <p:cNvSpPr txBox="1"/>
          <p:nvPr/>
        </p:nvSpPr>
        <p:spPr>
          <a:xfrm>
            <a:off x="7269480" y="13716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8"/>
          <p:cNvSpPr txBox="1"/>
          <p:nvPr/>
        </p:nvSpPr>
        <p:spPr>
          <a:xfrm>
            <a:off x="6766560" y="2286000"/>
            <a:ext cx="1828800" cy="365760"/>
          </a:xfrm>
          <a:prstGeom prst="rect">
            <a:avLst/>
          </a:prstGeom>
          <a:noFill/>
          <a:ln/>
        </p:spPr>
        <p:txBody>
          <a:bodyPr wrap="square" lIns="0" tIns="0" rIns="0" bIns="0" rtlCol="0" anchor="t"/>
          <a:lstStyle/>
          <a:p>
            <a:pPr algn="ctr" indent="0" marL="0">
              <a:buNone/>
            </a:pPr>
            <a:r>
              <a:rPr lang="en-US" sz="1700" b="1" dirty="0">
                <a:solidFill>
                  <a:srgbClr val="1F7F79"/>
                </a:solidFill>
                <a:latin typeface="Cambria" pitchFamily="34" charset="0"/>
                <a:ea typeface="Cambria" pitchFamily="34" charset="-122"/>
                <a:cs typeface="Cambria" pitchFamily="34" charset="-120"/>
              </a:rPr>
              <a:t>Mes 6</a:t>
            </a:r>
            <a:endParaRPr lang="en-US" sz="1700" dirty="0"/>
          </a:p>
        </p:txBody>
      </p:sp>
      <p:sp>
        <p:nvSpPr>
          <p:cNvPr id="21" name="Text 19"/>
          <p:cNvSpPr txBox="1"/>
          <p:nvPr/>
        </p:nvSpPr>
        <p:spPr>
          <a:xfrm>
            <a:off x="6812280" y="2651760"/>
            <a:ext cx="1737360" cy="96012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CID sin glucocorticoides</a:t>
            </a:r>
            <a:endParaRPr lang="en-US" sz="1150" dirty="0"/>
          </a:p>
        </p:txBody>
      </p:sp>
      <p:sp>
        <p:nvSpPr>
          <p:cNvPr id="22" name="Shape 20"/>
          <p:cNvSpPr/>
          <p:nvPr/>
        </p:nvSpPr>
        <p:spPr>
          <a:xfrm>
            <a:off x="457200" y="3749040"/>
            <a:ext cx="8229600" cy="914400"/>
          </a:xfrm>
          <a:prstGeom prst="roundRect">
            <a:avLst>
              <a:gd name="adj" fmla="val 8000"/>
            </a:avLst>
          </a:prstGeom>
          <a:solidFill>
            <a:srgbClr val="F7EEF1"/>
          </a:solidFill>
          <a:ln w="12700">
            <a:solidFill>
              <a:srgbClr val="F7EEF1"/>
            </a:solidFill>
            <a:prstDash val="solid"/>
          </a:ln>
        </p:spPr>
      </p:sp>
      <p:sp>
        <p:nvSpPr>
          <p:cNvPr id="23" name="Text 21"/>
          <p:cNvSpPr txBox="1"/>
          <p:nvPr/>
        </p:nvSpPr>
        <p:spPr>
          <a:xfrm>
            <a:off x="640080" y="3749040"/>
            <a:ext cx="7863840" cy="914400"/>
          </a:xfrm>
          <a:prstGeom prst="rect">
            <a:avLst/>
          </a:prstGeom>
          <a:noFill/>
          <a:ln/>
        </p:spPr>
        <p:txBody>
          <a:bodyPr wrap="square" lIns="0" tIns="0" rIns="0" bIns="0" rtlCol="0" anchor="ctr"/>
          <a:lstStyle/>
          <a:p>
            <a:pPr indent="0" marL="0">
              <a:buNone/>
            </a:pPr>
            <a:r>
              <a:rPr lang="en-US" sz="1200" b="1" dirty="0">
                <a:solidFill>
                  <a:srgbClr val="7A1F45"/>
                </a:solidFill>
                <a:latin typeface="Calibri" pitchFamily="34" charset="0"/>
                <a:ea typeface="Calibri" pitchFamily="34" charset="-122"/>
                <a:cs typeface="Calibri" pitchFamily="34" charset="-120"/>
              </a:rPr>
              <a:t>Si no se alcanza una meta, </a:t>
            </a:r>
            <a:pPr indent="0" marL="0">
              <a:buNone/>
            </a:pPr>
            <a:r>
              <a:rPr lang="en-US" sz="1200" dirty="0">
                <a:solidFill>
                  <a:srgbClr val="2B2330"/>
                </a:solidFill>
                <a:latin typeface="Calibri" pitchFamily="34" charset="0"/>
                <a:ea typeface="Calibri" pitchFamily="34" charset="-122"/>
                <a:cs typeface="Calibri" pitchFamily="34" charset="-120"/>
              </a:rPr>
              <a:t>ajustar el tratamiento (dosis, cambio de mecanismo). Objetivo final: remisión = CID sostenida ≥ 6 meses. En la práctica, estas metas intermedias todavía se cumplen de forma incompleta (J Rheumatol 2025).</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Glucocorticoides: puente, no destino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80160"/>
            <a:ext cx="3977640" cy="3383280"/>
          </a:xfrm>
          <a:prstGeom prst="roundRect">
            <a:avLst>
              <a:gd name="adj" fmla="val 2162"/>
            </a:avLst>
          </a:prstGeom>
          <a:solidFill>
            <a:srgbClr val="F7EEF1"/>
          </a:solidFill>
          <a:ln w="12700">
            <a:solidFill>
              <a:srgbClr val="F7EEF1"/>
            </a:solidFill>
            <a:prstDash val="solid"/>
          </a:ln>
        </p:spPr>
      </p:sp>
      <p:sp>
        <p:nvSpPr>
          <p:cNvPr id="6" name="Shape 4"/>
          <p:cNvSpPr/>
          <p:nvPr/>
        </p:nvSpPr>
        <p:spPr>
          <a:xfrm>
            <a:off x="640080" y="1417320"/>
            <a:ext cx="566928" cy="566928"/>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81812" y="1559052"/>
            <a:ext cx="283464" cy="283464"/>
          </a:xfrm>
          <a:prstGeom prst="rect">
            <a:avLst/>
          </a:prstGeom>
        </p:spPr>
      </p:pic>
      <p:sp>
        <p:nvSpPr>
          <p:cNvPr id="8" name="Text 5"/>
          <p:cNvSpPr txBox="1"/>
          <p:nvPr/>
        </p:nvSpPr>
        <p:spPr>
          <a:xfrm>
            <a:off x="1325880" y="1417320"/>
            <a:ext cx="3017520" cy="566928"/>
          </a:xfrm>
          <a:prstGeom prst="rect">
            <a:avLst/>
          </a:prstGeom>
          <a:noFill/>
          <a:ln/>
        </p:spPr>
        <p:txBody>
          <a:bodyPr wrap="square" lIns="0" tIns="0" rIns="0" bIns="0" rtlCol="0" anchor="ctr"/>
          <a:lstStyle/>
          <a:p>
            <a:pPr indent="0" marL="0">
              <a:buNone/>
            </a:pPr>
            <a:r>
              <a:rPr lang="en-US" sz="1600" b="1" dirty="0">
                <a:solidFill>
                  <a:srgbClr val="2A1433"/>
                </a:solidFill>
                <a:latin typeface="Cambria" pitchFamily="34" charset="0"/>
                <a:ea typeface="Cambria" pitchFamily="34" charset="-122"/>
                <a:cs typeface="Cambria" pitchFamily="34" charset="-120"/>
              </a:rPr>
              <a:t>Papel actual</a:t>
            </a:r>
            <a:endParaRPr lang="en-US" sz="1600" dirty="0"/>
          </a:p>
        </p:txBody>
      </p:sp>
      <p:sp>
        <p:nvSpPr>
          <p:cNvPr id="9" name="Text 6"/>
          <p:cNvSpPr txBox="1"/>
          <p:nvPr/>
        </p:nvSpPr>
        <p:spPr>
          <a:xfrm>
            <a:off x="640080" y="2148840"/>
            <a:ext cx="3657600" cy="24688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Control rápido de síntomas mientras actúa el inhibidor de IL-1/IL-6</a:t>
            </a:r>
            <a:endParaRPr lang="en-US" sz="1250" dirty="0"/>
          </a:p>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Pulsos de metilprednisolona en formas graves o SAM</a:t>
            </a:r>
            <a:endParaRPr lang="en-US" sz="1250" dirty="0"/>
          </a:p>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Descenso rápido: &lt; 0,1–0,2 mg/kg/día al mes 3 y suspensión al mes 6</a:t>
            </a:r>
            <a:endParaRPr lang="en-US" sz="1250" dirty="0"/>
          </a:p>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En monoterapia, muchos pacientes se vuelven dependientes</a:t>
            </a:r>
            <a:endParaRPr lang="en-US" sz="1250" dirty="0"/>
          </a:p>
        </p:txBody>
      </p:sp>
      <p:sp>
        <p:nvSpPr>
          <p:cNvPr id="10" name="Shape 7"/>
          <p:cNvSpPr/>
          <p:nvPr/>
        </p:nvSpPr>
        <p:spPr>
          <a:xfrm>
            <a:off x="4709160" y="1280160"/>
            <a:ext cx="3977640" cy="3383280"/>
          </a:xfrm>
          <a:prstGeom prst="roundRect">
            <a:avLst>
              <a:gd name="adj" fmla="val 2162"/>
            </a:avLst>
          </a:prstGeom>
          <a:solidFill>
            <a:srgbClr val="FBE3DE"/>
          </a:solidFill>
          <a:ln w="12700">
            <a:solidFill>
              <a:srgbClr val="FBE3DE"/>
            </a:solidFill>
            <a:prstDash val="solid"/>
          </a:ln>
        </p:spPr>
      </p:sp>
      <p:sp>
        <p:nvSpPr>
          <p:cNvPr id="11" name="Shape 8"/>
          <p:cNvSpPr/>
          <p:nvPr/>
        </p:nvSpPr>
        <p:spPr>
          <a:xfrm>
            <a:off x="4892040" y="1417320"/>
            <a:ext cx="566928" cy="566928"/>
          </a:xfrm>
          <a:prstGeom prst="ellipse">
            <a:avLst/>
          </a:prstGeom>
          <a:solidFill>
            <a:srgbClr val="D9472F"/>
          </a:solidFill>
          <a:ln w="12700">
            <a:solidFill>
              <a:srgbClr val="D9472F"/>
            </a:solidFill>
            <a:prstDash val="solid"/>
          </a:ln>
        </p:spPr>
      </p:sp>
      <p:pic>
        <p:nvPicPr>
          <p:cNvPr id="12" name="Image 1" descr="preencoded.png">    </p:cNvPr>
          <p:cNvPicPr>
            <a:picLocks noChangeAspect="1"/>
          </p:cNvPicPr>
          <p:nvPr/>
        </p:nvPicPr>
        <p:blipFill>
          <a:blip r:embed="rId2"/>
          <a:stretch>
            <a:fillRect/>
          </a:stretch>
        </p:blipFill>
        <p:spPr>
          <a:xfrm>
            <a:off x="5033772" y="1559052"/>
            <a:ext cx="283464" cy="283464"/>
          </a:xfrm>
          <a:prstGeom prst="rect">
            <a:avLst/>
          </a:prstGeom>
        </p:spPr>
      </p:pic>
      <p:sp>
        <p:nvSpPr>
          <p:cNvPr id="13" name="Text 9"/>
          <p:cNvSpPr txBox="1"/>
          <p:nvPr/>
        </p:nvSpPr>
        <p:spPr>
          <a:xfrm>
            <a:off x="5577840" y="1417320"/>
            <a:ext cx="3017520" cy="566928"/>
          </a:xfrm>
          <a:prstGeom prst="rect">
            <a:avLst/>
          </a:prstGeom>
          <a:noFill/>
          <a:ln/>
        </p:spPr>
        <p:txBody>
          <a:bodyPr wrap="square" lIns="0" tIns="0" rIns="0" bIns="0" rtlCol="0" anchor="ctr"/>
          <a:lstStyle/>
          <a:p>
            <a:pPr indent="0" marL="0">
              <a:buNone/>
            </a:pPr>
            <a:r>
              <a:rPr lang="en-US" sz="1600" b="1" dirty="0">
                <a:solidFill>
                  <a:srgbClr val="2A1433"/>
                </a:solidFill>
                <a:latin typeface="Cambria" pitchFamily="34" charset="0"/>
                <a:ea typeface="Cambria" pitchFamily="34" charset="-122"/>
                <a:cs typeface="Cambria" pitchFamily="34" charset="-120"/>
              </a:rPr>
              <a:t>¿Por qué limitarlos?</a:t>
            </a:r>
            <a:endParaRPr lang="en-US" sz="1600" dirty="0"/>
          </a:p>
        </p:txBody>
      </p:sp>
      <p:sp>
        <p:nvSpPr>
          <p:cNvPr id="14" name="Text 10"/>
          <p:cNvSpPr txBox="1"/>
          <p:nvPr/>
        </p:nvSpPr>
        <p:spPr>
          <a:xfrm>
            <a:off x="4892040" y="2148840"/>
            <a:ext cx="3657600" cy="2468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2B2330"/>
                </a:solidFill>
                <a:latin typeface="Calibri" pitchFamily="34" charset="0"/>
                <a:ea typeface="Calibri" pitchFamily="34" charset="-122"/>
                <a:cs typeface="Calibri" pitchFamily="34" charset="-120"/>
              </a:rPr>
              <a:t>Infecciones graves</a:t>
            </a:r>
            <a:endParaRPr lang="en-US" sz="1250" dirty="0"/>
          </a:p>
          <a:p>
            <a:pPr marL="177800" indent="-177800">
              <a:spcAft>
                <a:spcPts val="500"/>
              </a:spcAft>
              <a:buSzPct val="100000"/>
              <a:buChar char="•"/>
            </a:pPr>
            <a:r>
              <a:rPr lang="en-US" sz="1250" dirty="0">
                <a:solidFill>
                  <a:srgbClr val="2B2330"/>
                </a:solidFill>
                <a:latin typeface="Calibri" pitchFamily="34" charset="0"/>
                <a:ea typeface="Calibri" pitchFamily="34" charset="-122"/>
                <a:cs typeface="Calibri" pitchFamily="34" charset="-120"/>
              </a:rPr>
              <a:t>Osteoporosis y osteonecrosis</a:t>
            </a:r>
            <a:endParaRPr lang="en-US" sz="1250" dirty="0"/>
          </a:p>
          <a:p>
            <a:pPr marL="177800" indent="-177800">
              <a:spcAft>
                <a:spcPts val="500"/>
              </a:spcAft>
              <a:buSzPct val="100000"/>
              <a:buChar char="•"/>
            </a:pPr>
            <a:r>
              <a:rPr lang="en-US" sz="1250" dirty="0">
                <a:solidFill>
                  <a:srgbClr val="2B2330"/>
                </a:solidFill>
                <a:latin typeface="Calibri" pitchFamily="34" charset="0"/>
                <a:ea typeface="Calibri" pitchFamily="34" charset="-122"/>
                <a:cs typeface="Calibri" pitchFamily="34" charset="-120"/>
              </a:rPr>
              <a:t>Diabetes, hipertensión, cataratas</a:t>
            </a:r>
            <a:endParaRPr lang="en-US" sz="1250" dirty="0"/>
          </a:p>
          <a:p>
            <a:pPr marL="177800" indent="-177800">
              <a:spcAft>
                <a:spcPts val="500"/>
              </a:spcAft>
              <a:buSzPct val="100000"/>
              <a:buChar char="•"/>
            </a:pPr>
            <a:r>
              <a:rPr lang="en-US" sz="1250" dirty="0">
                <a:solidFill>
                  <a:srgbClr val="2B2330"/>
                </a:solidFill>
                <a:latin typeface="Calibri" pitchFamily="34" charset="0"/>
                <a:ea typeface="Calibri" pitchFamily="34" charset="-122"/>
                <a:cs typeface="Calibri" pitchFamily="34" charset="-120"/>
              </a:rPr>
              <a:t>Retraso del crecimiento en niños</a:t>
            </a:r>
            <a:endParaRPr lang="en-US" sz="1250" dirty="0"/>
          </a:p>
          <a:p>
            <a:pPr marL="177800" indent="-177800">
              <a:spcAft>
                <a:spcPts val="500"/>
              </a:spcAft>
              <a:buSzPct val="100000"/>
              <a:buChar char="•"/>
            </a:pPr>
            <a:r>
              <a:rPr lang="en-US" sz="1250" dirty="0">
                <a:solidFill>
                  <a:srgbClr val="2B2330"/>
                </a:solidFill>
                <a:latin typeface="Calibri" pitchFamily="34" charset="0"/>
                <a:ea typeface="Calibri" pitchFamily="34" charset="-122"/>
                <a:cs typeface="Calibri" pitchFamily="34" charset="-120"/>
              </a:rPr>
              <a:t>En el ECA de tocilizumab, eventos graves incluyeron necrosis aséptica de cadera en pacientes con GC</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INHIBIDORES DE IL-1</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Anakinra: antagonista del receptor de IL-1</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Quartier P, et al. Ann Rheum Dis. 2011 (ANAJIS) · Nordström D, et al. J Rheumatol. 2012</a:t>
            </a:r>
            <a:endParaRPr lang="en-US" sz="850" dirty="0"/>
          </a:p>
        </p:txBody>
      </p:sp>
      <p:sp>
        <p:nvSpPr>
          <p:cNvPr id="5" name="Shape 3"/>
          <p:cNvSpPr/>
          <p:nvPr/>
        </p:nvSpPr>
        <p:spPr>
          <a:xfrm>
            <a:off x="457200" y="1234440"/>
            <a:ext cx="2926080" cy="3429000"/>
          </a:xfrm>
          <a:prstGeom prst="roundRect">
            <a:avLst>
              <a:gd name="adj" fmla="val 2500"/>
            </a:avLst>
          </a:prstGeom>
          <a:solidFill>
            <a:srgbClr val="F7EEF1"/>
          </a:solidFill>
          <a:ln w="12700">
            <a:solidFill>
              <a:srgbClr val="F7EEF1"/>
            </a:solidFill>
            <a:prstDash val="solid"/>
          </a:ln>
        </p:spPr>
      </p:sp>
      <p:sp>
        <p:nvSpPr>
          <p:cNvPr id="6" name="Text 4"/>
          <p:cNvSpPr txBox="1"/>
          <p:nvPr/>
        </p:nvSpPr>
        <p:spPr>
          <a:xfrm>
            <a:off x="640080" y="1325880"/>
            <a:ext cx="2651760" cy="320040"/>
          </a:xfrm>
          <a:prstGeom prst="rect">
            <a:avLst/>
          </a:prstGeom>
          <a:noFill/>
          <a:ln/>
        </p:spPr>
        <p:txBody>
          <a:bodyPr wrap="square" lIns="0" tIns="0" rIns="0" bIns="0" rtlCol="0" anchor="t"/>
          <a:lstStyle/>
          <a:p>
            <a:pPr indent="0" marL="0">
              <a:buNone/>
            </a:pPr>
            <a:r>
              <a:rPr lang="en-US" sz="1400" b="1" dirty="0">
                <a:solidFill>
                  <a:srgbClr val="7A1F45"/>
                </a:solidFill>
                <a:latin typeface="Calibri" pitchFamily="34" charset="0"/>
                <a:ea typeface="Calibri" pitchFamily="34" charset="-122"/>
                <a:cs typeface="Calibri" pitchFamily="34" charset="-120"/>
              </a:rPr>
              <a:t>Características</a:t>
            </a:r>
            <a:endParaRPr lang="en-US" sz="1400" dirty="0"/>
          </a:p>
        </p:txBody>
      </p:sp>
      <p:sp>
        <p:nvSpPr>
          <p:cNvPr id="7" name="Text 5"/>
          <p:cNvSpPr txBox="1"/>
          <p:nvPr/>
        </p:nvSpPr>
        <p:spPr>
          <a:xfrm>
            <a:off x="640080" y="1691640"/>
            <a:ext cx="2651760" cy="29260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Bloquea IL-1α e IL-1β</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Subcutánea diaria; vida media corta (útil si hay SAM o infección)</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Aprobada por la EMA para la enfermedad de Still (2018)</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Efecto adverso frecuente: reacción en el sitio de inyección</a:t>
            </a:r>
            <a:endParaRPr lang="en-US" sz="1150" dirty="0"/>
          </a:p>
        </p:txBody>
      </p:sp>
      <p:graphicFrame>
        <p:nvGraphicFramePr>
          <p:cNvPr id="8" name="Chart 0" descr=""/>
          <p:cNvGraphicFramePr/>
          <p:nvPr/>
        </p:nvGraphicFramePr>
        <p:xfrm>
          <a:off x="3566160" y="1188720"/>
          <a:ext cx="2834640" cy="3017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3611880" y="4224528"/>
            <a:ext cx="2743200" cy="457200"/>
          </a:xfrm>
          <a:prstGeom prst="rect">
            <a:avLst/>
          </a:prstGeom>
          <a:noFill/>
          <a:ln/>
        </p:spPr>
        <p:txBody>
          <a:bodyPr wrap="square" lIns="0" tIns="0" rIns="0" bIns="0" rtlCol="0" anchor="t"/>
          <a:lstStyle/>
          <a:p>
            <a:pPr indent="0" marL="0">
              <a:buNone/>
            </a:pPr>
            <a:r>
              <a:rPr lang="en-US" sz="950" i="1" dirty="0">
                <a:solidFill>
                  <a:srgbClr val="6E6573"/>
                </a:solidFill>
                <a:latin typeface="Calibri" pitchFamily="34" charset="0"/>
                <a:ea typeface="Calibri" pitchFamily="34" charset="-122"/>
                <a:cs typeface="Calibri" pitchFamily="34" charset="-120"/>
              </a:rPr>
              <a:t>ECA abierto; pacientes con prednisolona ≥ 10 mg/d. Anakinra mejoró también el SF-36.</a:t>
            </a:r>
            <a:endParaRPr lang="en-US" sz="950" dirty="0"/>
          </a:p>
        </p:txBody>
      </p:sp>
      <p:sp>
        <p:nvSpPr>
          <p:cNvPr id="10" name="Shape 7"/>
          <p:cNvSpPr/>
          <p:nvPr/>
        </p:nvSpPr>
        <p:spPr>
          <a:xfrm>
            <a:off x="6583680" y="1234440"/>
            <a:ext cx="2103120" cy="3429000"/>
          </a:xfrm>
          <a:prstGeom prst="roundRect">
            <a:avLst>
              <a:gd name="adj" fmla="val 3478"/>
            </a:avLst>
          </a:prstGeom>
          <a:solidFill>
            <a:srgbClr val="E9F3F2"/>
          </a:solidFill>
          <a:ln w="12700">
            <a:solidFill>
              <a:srgbClr val="E9F3F2"/>
            </a:solidFill>
            <a:prstDash val="solid"/>
          </a:ln>
        </p:spPr>
      </p:sp>
      <p:sp>
        <p:nvSpPr>
          <p:cNvPr id="11" name="Text 8"/>
          <p:cNvSpPr txBox="1"/>
          <p:nvPr/>
        </p:nvSpPr>
        <p:spPr>
          <a:xfrm>
            <a:off x="6720840" y="1325880"/>
            <a:ext cx="1828800" cy="320040"/>
          </a:xfrm>
          <a:prstGeom prst="rect">
            <a:avLst/>
          </a:prstGeom>
          <a:noFill/>
          <a:ln/>
        </p:spPr>
        <p:txBody>
          <a:bodyPr wrap="square" lIns="0" tIns="0" rIns="0" bIns="0" rtlCol="0" anchor="t"/>
          <a:lstStyle/>
          <a:p>
            <a:pPr indent="0" marL="0">
              <a:buNone/>
            </a:pPr>
            <a:r>
              <a:rPr lang="en-US" sz="1400" b="1" dirty="0">
                <a:solidFill>
                  <a:srgbClr val="1F7F79"/>
                </a:solidFill>
                <a:latin typeface="Calibri" pitchFamily="34" charset="0"/>
                <a:ea typeface="Calibri" pitchFamily="34" charset="-122"/>
                <a:cs typeface="Calibri" pitchFamily="34" charset="-120"/>
              </a:rPr>
              <a:t>ANAJIS (AIJs)</a:t>
            </a:r>
            <a:endParaRPr lang="en-US" sz="1400" dirty="0"/>
          </a:p>
        </p:txBody>
      </p:sp>
      <p:sp>
        <p:nvSpPr>
          <p:cNvPr id="12" name="Text 9"/>
          <p:cNvSpPr txBox="1"/>
          <p:nvPr/>
        </p:nvSpPr>
        <p:spPr>
          <a:xfrm>
            <a:off x="6720840" y="1691640"/>
            <a:ext cx="1874520" cy="288036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ECA doble ciego, 24 niños: anakinra 2 mg/kg/día (máx. 100 mg) vs placebo durante 1 mes. Eficaz a corto plazo; normalizó los perfiles de expresión génica en quienes respondieron.</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INHIBIDORES DE IL-1</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Canakinumab en AIJ sistémica: dos ECA</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Ruperto N, et al. N Engl J Med. 2012;367:2396-406</a:t>
            </a:r>
            <a:endParaRPr lang="en-US" sz="850" dirty="0"/>
          </a:p>
        </p:txBody>
      </p:sp>
      <p:graphicFrame>
        <p:nvGraphicFramePr>
          <p:cNvPr id="5" name="Chart 0" descr=""/>
          <p:cNvGraphicFramePr/>
          <p:nvPr/>
        </p:nvGraphicFramePr>
        <p:xfrm>
          <a:off x="365760" y="1234440"/>
          <a:ext cx="411480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572000" y="1234440"/>
          <a:ext cx="4114800" cy="20116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3429000"/>
            <a:ext cx="3977640" cy="1234440"/>
          </a:xfrm>
          <a:prstGeom prst="roundRect">
            <a:avLst>
              <a:gd name="adj" fmla="val 5926"/>
            </a:avLst>
          </a:prstGeom>
          <a:solidFill>
            <a:srgbClr val="F7EEF1"/>
          </a:solidFill>
          <a:ln w="12700">
            <a:solidFill>
              <a:srgbClr val="F7EEF1"/>
            </a:solidFill>
            <a:prstDash val="solid"/>
          </a:ln>
        </p:spPr>
      </p:sp>
      <p:sp>
        <p:nvSpPr>
          <p:cNvPr id="8" name="Text 4"/>
          <p:cNvSpPr txBox="1"/>
          <p:nvPr/>
        </p:nvSpPr>
        <p:spPr>
          <a:xfrm>
            <a:off x="640080" y="3474720"/>
            <a:ext cx="3657600" cy="1143000"/>
          </a:xfrm>
          <a:prstGeom prst="rect">
            <a:avLst/>
          </a:prstGeom>
          <a:noFill/>
          <a:ln/>
        </p:spPr>
        <p:txBody>
          <a:bodyPr wrap="square" lIns="0" tIns="0" rIns="0" bIns="0" rtlCol="0" anchor="ctr"/>
          <a:lstStyle/>
          <a:p>
            <a:pPr indent="0" marL="0">
              <a:buNone/>
            </a:pPr>
            <a:r>
              <a:rPr lang="en-US" sz="1150" b="1" dirty="0">
                <a:solidFill>
                  <a:srgbClr val="7A1F45"/>
                </a:solidFill>
                <a:latin typeface="Calibri" pitchFamily="34" charset="0"/>
                <a:ea typeface="Calibri" pitchFamily="34" charset="-122"/>
                <a:cs typeface="Calibri" pitchFamily="34" charset="-120"/>
              </a:rPr>
              <a:t>Anticuerpo monoclonal anti-IL-1β</a:t>
            </a:r>
            <a:endParaRPr lang="en-US" sz="1150" dirty="0"/>
          </a:p>
          <a:p>
            <a:pPr indent="0" marL="0">
              <a:buNone/>
            </a:pPr>
            <a:r>
              <a:rPr lang="en-US" sz="1150" dirty="0">
                <a:solidFill>
                  <a:srgbClr val="2B2330"/>
                </a:solidFill>
                <a:latin typeface="Calibri" pitchFamily="34" charset="0"/>
                <a:ea typeface="Calibri" pitchFamily="34" charset="-122"/>
                <a:cs typeface="Calibri" pitchFamily="34" charset="-120"/>
              </a:rPr>
              <a:t>Subcutáneo cada 4 semanas (4 mg/kg). Aprobado por la FDA para AIJs y, en 2020, para ESA: el primer tratamiento aprobado en EE. UU. para la ESA.</a:t>
            </a:r>
            <a:endParaRPr lang="en-US" sz="1150" dirty="0"/>
          </a:p>
        </p:txBody>
      </p:sp>
      <p:sp>
        <p:nvSpPr>
          <p:cNvPr id="9" name="Shape 5"/>
          <p:cNvSpPr/>
          <p:nvPr/>
        </p:nvSpPr>
        <p:spPr>
          <a:xfrm>
            <a:off x="4709160" y="3429000"/>
            <a:ext cx="3977640" cy="1234440"/>
          </a:xfrm>
          <a:prstGeom prst="roundRect">
            <a:avLst>
              <a:gd name="adj" fmla="val 5926"/>
            </a:avLst>
          </a:prstGeom>
          <a:solidFill>
            <a:srgbClr val="E9F3F2"/>
          </a:solidFill>
          <a:ln w="12700">
            <a:solidFill>
              <a:srgbClr val="E9F3F2"/>
            </a:solidFill>
            <a:prstDash val="solid"/>
          </a:ln>
        </p:spPr>
      </p:sp>
      <p:sp>
        <p:nvSpPr>
          <p:cNvPr id="10" name="Text 6"/>
          <p:cNvSpPr txBox="1"/>
          <p:nvPr/>
        </p:nvSpPr>
        <p:spPr>
          <a:xfrm>
            <a:off x="4892040" y="3474720"/>
            <a:ext cx="3657600" cy="1143000"/>
          </a:xfrm>
          <a:prstGeom prst="rect">
            <a:avLst/>
          </a:prstGeom>
          <a:noFill/>
          <a:ln/>
        </p:spPr>
        <p:txBody>
          <a:bodyPr wrap="square" lIns="0" tIns="0" rIns="0" bIns="0" rtlCol="0" anchor="ctr"/>
          <a:lstStyle/>
          <a:p>
            <a:pPr indent="0" marL="0">
              <a:buNone/>
            </a:pPr>
            <a:r>
              <a:rPr lang="en-US" sz="1150" b="1" dirty="0">
                <a:solidFill>
                  <a:srgbClr val="1F7F79"/>
                </a:solidFill>
                <a:latin typeface="Calibri" pitchFamily="34" charset="0"/>
                <a:ea typeface="Calibri" pitchFamily="34" charset="-122"/>
                <a:cs typeface="Calibri" pitchFamily="34" charset="-120"/>
              </a:rPr>
              <a:t>Ahorro de glucocorticoides</a:t>
            </a:r>
            <a:endParaRPr lang="en-US" sz="1150" dirty="0"/>
          </a:p>
          <a:p>
            <a:pPr indent="0" marL="0">
              <a:buNone/>
            </a:pPr>
            <a:r>
              <a:rPr lang="en-US" sz="1150" dirty="0">
                <a:solidFill>
                  <a:srgbClr val="2B2330"/>
                </a:solidFill>
                <a:latin typeface="Calibri" pitchFamily="34" charset="0"/>
                <a:ea typeface="Calibri" pitchFamily="34" charset="-122"/>
                <a:cs typeface="Calibri" pitchFamily="34" charset="-120"/>
              </a:rPr>
              <a:t>Dosis media de 0,34 a 0,05 mg/kg/día; se suspendieron en 42 de 128 pacientes (33 %).</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INHIBIDORES DE IL-1</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Canakinumab en ESA: ensayo CONSIDER</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Kedor C, et al. Ann Rheum Dis. 2020 (CONSIDER)</a:t>
            </a:r>
            <a:endParaRPr lang="en-US" sz="850" dirty="0"/>
          </a:p>
        </p:txBody>
      </p:sp>
      <p:graphicFrame>
        <p:nvGraphicFramePr>
          <p:cNvPr id="5" name="Chart 0" descr=""/>
          <p:cNvGraphicFramePr/>
          <p:nvPr/>
        </p:nvGraphicFramePr>
        <p:xfrm>
          <a:off x="365760" y="1188720"/>
          <a:ext cx="4754880" cy="3520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394960" y="1234440"/>
            <a:ext cx="3291840" cy="1234440"/>
          </a:xfrm>
          <a:prstGeom prst="roundRect">
            <a:avLst>
              <a:gd name="adj" fmla="val 5926"/>
            </a:avLst>
          </a:prstGeom>
          <a:solidFill>
            <a:srgbClr val="F7EEF1"/>
          </a:solidFill>
          <a:ln w="12700">
            <a:solidFill>
              <a:srgbClr val="F7EEF1"/>
            </a:solidFill>
            <a:prstDash val="solid"/>
          </a:ln>
        </p:spPr>
      </p:sp>
      <p:sp>
        <p:nvSpPr>
          <p:cNvPr id="7" name="Text 4"/>
          <p:cNvSpPr txBox="1"/>
          <p:nvPr/>
        </p:nvSpPr>
        <p:spPr>
          <a:xfrm>
            <a:off x="5532120" y="1280160"/>
            <a:ext cx="3017520" cy="1143000"/>
          </a:xfrm>
          <a:prstGeom prst="rect">
            <a:avLst/>
          </a:prstGeom>
          <a:noFill/>
          <a:ln/>
        </p:spPr>
        <p:txBody>
          <a:bodyPr wrap="square" lIns="0" tIns="0" rIns="0" bIns="0" rtlCol="0" anchor="ctr"/>
          <a:lstStyle/>
          <a:p>
            <a:pPr indent="0" marL="0">
              <a:buNone/>
            </a:pPr>
            <a:r>
              <a:rPr lang="en-US" sz="1100" dirty="0">
                <a:solidFill>
                  <a:srgbClr val="2B2330"/>
                </a:solidFill>
                <a:latin typeface="Calibri" pitchFamily="34" charset="0"/>
                <a:ea typeface="Calibri" pitchFamily="34" charset="-122"/>
                <a:cs typeface="Calibri" pitchFamily="34" charset="-120"/>
              </a:rPr>
              <a:t>Fase II, doble ciego, 35 adultos con artritis activa: canakinumab 4 mg/kg (máx. 300 mg) cada 4 semanas (n = 18) vs placebo (n = 17).</a:t>
            </a:r>
            <a:endParaRPr lang="en-US" sz="1100" dirty="0"/>
          </a:p>
        </p:txBody>
      </p:sp>
      <p:sp>
        <p:nvSpPr>
          <p:cNvPr id="8" name="Shape 5"/>
          <p:cNvSpPr/>
          <p:nvPr/>
        </p:nvSpPr>
        <p:spPr>
          <a:xfrm>
            <a:off x="5394960" y="2606040"/>
            <a:ext cx="3291840" cy="1097280"/>
          </a:xfrm>
          <a:prstGeom prst="roundRect">
            <a:avLst>
              <a:gd name="adj" fmla="val 6667"/>
            </a:avLst>
          </a:prstGeom>
          <a:solidFill>
            <a:srgbClr val="FBE3DE"/>
          </a:solidFill>
          <a:ln w="12700">
            <a:solidFill>
              <a:srgbClr val="FBE3DE"/>
            </a:solidFill>
            <a:prstDash val="solid"/>
          </a:ln>
        </p:spPr>
      </p:sp>
      <p:sp>
        <p:nvSpPr>
          <p:cNvPr id="9" name="Text 6"/>
          <p:cNvSpPr txBox="1"/>
          <p:nvPr/>
        </p:nvSpPr>
        <p:spPr>
          <a:xfrm>
            <a:off x="5532120" y="2651760"/>
            <a:ext cx="3017520" cy="1005840"/>
          </a:xfrm>
          <a:prstGeom prst="rect">
            <a:avLst/>
          </a:prstGeom>
          <a:noFill/>
          <a:ln/>
        </p:spPr>
        <p:txBody>
          <a:bodyPr wrap="square" lIns="0" tIns="0" rIns="0" bIns="0" rtlCol="0" anchor="ctr"/>
          <a:lstStyle/>
          <a:p>
            <a:pPr indent="0" marL="0">
              <a:buNone/>
            </a:pPr>
            <a:r>
              <a:rPr lang="en-US" sz="1100" b="1" dirty="0">
                <a:solidFill>
                  <a:srgbClr val="D9472F"/>
                </a:solidFill>
                <a:latin typeface="Calibri" pitchFamily="34" charset="0"/>
                <a:ea typeface="Calibri" pitchFamily="34" charset="-122"/>
                <a:cs typeface="Calibri" pitchFamily="34" charset="-120"/>
              </a:rPr>
              <a:t>Desenlace primario (ITT): </a:t>
            </a:r>
            <a:pPr indent="0" marL="0">
              <a:buNone/>
            </a:pPr>
            <a:r>
              <a:rPr lang="en-US" sz="1100" dirty="0">
                <a:solidFill>
                  <a:srgbClr val="2B2330"/>
                </a:solidFill>
                <a:latin typeface="Calibri" pitchFamily="34" charset="0"/>
                <a:ea typeface="Calibri" pitchFamily="34" charset="-122"/>
                <a:cs typeface="Calibri" pitchFamily="34" charset="-120"/>
              </a:rPr>
              <a:t>67 % vs 41 % (p = 0,18): no significativo; estudio pequeño y cerrado antes de tiempo.</a:t>
            </a:r>
            <a:endParaRPr lang="en-US" sz="1100" dirty="0"/>
          </a:p>
        </p:txBody>
      </p:sp>
      <p:sp>
        <p:nvSpPr>
          <p:cNvPr id="10" name="Shape 7"/>
          <p:cNvSpPr/>
          <p:nvPr/>
        </p:nvSpPr>
        <p:spPr>
          <a:xfrm>
            <a:off x="5394960" y="3840480"/>
            <a:ext cx="3291840" cy="822960"/>
          </a:xfrm>
          <a:prstGeom prst="roundRect">
            <a:avLst>
              <a:gd name="adj" fmla="val 8889"/>
            </a:avLst>
          </a:prstGeom>
          <a:solidFill>
            <a:srgbClr val="E9F3F2"/>
          </a:solidFill>
          <a:ln w="12700">
            <a:solidFill>
              <a:srgbClr val="E9F3F2"/>
            </a:solidFill>
            <a:prstDash val="solid"/>
          </a:ln>
        </p:spPr>
      </p:sp>
      <p:sp>
        <p:nvSpPr>
          <p:cNvPr id="11" name="Text 8"/>
          <p:cNvSpPr txBox="1"/>
          <p:nvPr/>
        </p:nvSpPr>
        <p:spPr>
          <a:xfrm>
            <a:off x="5532120" y="3840480"/>
            <a:ext cx="3017520" cy="822960"/>
          </a:xfrm>
          <a:prstGeom prst="rect">
            <a:avLst/>
          </a:prstGeom>
          <a:noFill/>
          <a:ln/>
        </p:spPr>
        <p:txBody>
          <a:bodyPr wrap="square" lIns="0" tIns="0" rIns="0" bIns="0" rtlCol="0" anchor="ctr"/>
          <a:lstStyle/>
          <a:p>
            <a:pPr indent="0" marL="0">
              <a:buNone/>
            </a:pPr>
            <a:r>
              <a:rPr lang="en-US" sz="1050" dirty="0">
                <a:solidFill>
                  <a:srgbClr val="2B2330"/>
                </a:solidFill>
                <a:latin typeface="Calibri" pitchFamily="34" charset="0"/>
                <a:ea typeface="Calibri" pitchFamily="34" charset="-122"/>
                <a:cs typeface="Calibri" pitchFamily="34" charset="-120"/>
              </a:rPr>
              <a:t>p = 0,033 (ACR30), 0,009 (ACR50) y 0,049 (ACR70). Seguridad consistente con el perfil conocido.</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INHIBIDORES DE IL-6</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Tocilizumab: anti-receptor de IL-6</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De Benedetti F, et al. N Engl J Med. 2012 (TENDER) · Kaneko Y, et al. Ann Rheum Dis. 2018</a:t>
            </a:r>
            <a:endParaRPr lang="en-US" sz="850" dirty="0"/>
          </a:p>
        </p:txBody>
      </p:sp>
      <p:graphicFrame>
        <p:nvGraphicFramePr>
          <p:cNvPr id="5" name="Chart 0" descr=""/>
          <p:cNvGraphicFramePr/>
          <p:nvPr/>
        </p:nvGraphicFramePr>
        <p:xfrm>
          <a:off x="365760" y="1234440"/>
          <a:ext cx="411480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572000" y="1234440"/>
          <a:ext cx="4114800" cy="20116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3429000"/>
            <a:ext cx="3977640" cy="1234440"/>
          </a:xfrm>
          <a:prstGeom prst="roundRect">
            <a:avLst>
              <a:gd name="adj" fmla="val 5926"/>
            </a:avLst>
          </a:prstGeom>
          <a:solidFill>
            <a:srgbClr val="E9F3F2"/>
          </a:solidFill>
          <a:ln w="12700">
            <a:solidFill>
              <a:srgbClr val="E9F3F2"/>
            </a:solidFill>
            <a:prstDash val="solid"/>
          </a:ln>
        </p:spPr>
      </p:sp>
      <p:sp>
        <p:nvSpPr>
          <p:cNvPr id="8" name="Text 4"/>
          <p:cNvSpPr txBox="1"/>
          <p:nvPr/>
        </p:nvSpPr>
        <p:spPr>
          <a:xfrm>
            <a:off x="640080" y="3474720"/>
            <a:ext cx="3657600" cy="1143000"/>
          </a:xfrm>
          <a:prstGeom prst="rect">
            <a:avLst/>
          </a:prstGeom>
          <a:noFill/>
          <a:ln/>
        </p:spPr>
        <p:txBody>
          <a:bodyPr wrap="square" lIns="0" tIns="0" rIns="0" bIns="0" rtlCol="0" anchor="ctr"/>
          <a:lstStyle/>
          <a:p>
            <a:pPr indent="0" marL="0">
              <a:buNone/>
            </a:pPr>
            <a:r>
              <a:rPr lang="en-US" sz="1150" b="1" dirty="0">
                <a:solidFill>
                  <a:srgbClr val="1F7F79"/>
                </a:solidFill>
                <a:latin typeface="Calibri" pitchFamily="34" charset="0"/>
                <a:ea typeface="Calibri" pitchFamily="34" charset="-122"/>
                <a:cs typeface="Calibri" pitchFamily="34" charset="-120"/>
              </a:rPr>
              <a:t>TENDER: </a:t>
            </a:r>
            <a:pPr indent="0" marL="0">
              <a:buNone/>
            </a:pPr>
            <a:r>
              <a:rPr lang="en-US" sz="1150" dirty="0">
                <a:solidFill>
                  <a:srgbClr val="2B2330"/>
                </a:solidFill>
                <a:latin typeface="Calibri" pitchFamily="34" charset="0"/>
                <a:ea typeface="Calibri" pitchFamily="34" charset="-122"/>
                <a:cs typeface="Calibri" pitchFamily="34" charset="-120"/>
              </a:rPr>
              <a:t>niños de 2 a 17 años, tocilizumab IV cada 2 semanas; diferencia amplia y significativa frente a placebo.</a:t>
            </a:r>
            <a:endParaRPr lang="en-US" sz="1150" dirty="0"/>
          </a:p>
        </p:txBody>
      </p:sp>
      <p:sp>
        <p:nvSpPr>
          <p:cNvPr id="9" name="Shape 5"/>
          <p:cNvSpPr/>
          <p:nvPr/>
        </p:nvSpPr>
        <p:spPr>
          <a:xfrm>
            <a:off x="4709160" y="3429000"/>
            <a:ext cx="3977640" cy="1234440"/>
          </a:xfrm>
          <a:prstGeom prst="roundRect">
            <a:avLst>
              <a:gd name="adj" fmla="val 5926"/>
            </a:avLst>
          </a:prstGeom>
          <a:solidFill>
            <a:srgbClr val="FBE3DE"/>
          </a:solidFill>
          <a:ln w="12700">
            <a:solidFill>
              <a:srgbClr val="FBE3DE"/>
            </a:solidFill>
            <a:prstDash val="solid"/>
          </a:ln>
        </p:spPr>
      </p:sp>
      <p:sp>
        <p:nvSpPr>
          <p:cNvPr id="10" name="Text 6"/>
          <p:cNvSpPr txBox="1"/>
          <p:nvPr/>
        </p:nvSpPr>
        <p:spPr>
          <a:xfrm>
            <a:off x="4892040" y="3474720"/>
            <a:ext cx="3657600" cy="1143000"/>
          </a:xfrm>
          <a:prstGeom prst="rect">
            <a:avLst/>
          </a:prstGeom>
          <a:noFill/>
          <a:ln/>
        </p:spPr>
        <p:txBody>
          <a:bodyPr wrap="square" lIns="0" tIns="0" rIns="0" bIns="0" rtlCol="0" anchor="ctr"/>
          <a:lstStyle/>
          <a:p>
            <a:pPr indent="0" marL="0">
              <a:buNone/>
            </a:pPr>
            <a:r>
              <a:rPr lang="en-US" sz="1150" b="1" dirty="0">
                <a:solidFill>
                  <a:srgbClr val="D9472F"/>
                </a:solidFill>
                <a:latin typeface="Calibri" pitchFamily="34" charset="0"/>
                <a:ea typeface="Calibri" pitchFamily="34" charset="-122"/>
                <a:cs typeface="Calibri" pitchFamily="34" charset="-120"/>
              </a:rPr>
              <a:t>Kaneko: </a:t>
            </a:r>
            <a:pPr indent="0" marL="0">
              <a:buNone/>
            </a:pPr>
            <a:r>
              <a:rPr lang="en-US" sz="1150" dirty="0">
                <a:solidFill>
                  <a:srgbClr val="2B2330"/>
                </a:solidFill>
                <a:latin typeface="Calibri" pitchFamily="34" charset="0"/>
                <a:ea typeface="Calibri" pitchFamily="34" charset="-122"/>
                <a:cs typeface="Calibri" pitchFamily="34" charset="-120"/>
              </a:rPr>
              <a:t>no alcanzó el desenlace primario (p = 0,24), pero redujo más la dosis de GC a la semana 12: 46,2 % vs 21,0 % (p = 0,017).</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¿Inhibidor de IL-1 o de IL-6?</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37360"/>
                <a:gridCol w="3246120"/>
                <a:gridCol w="32461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Inhibidores de IL-1 (anakinra, canakinumab)</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Inhibidores de IL-6 (tocilizumab)</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41148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Eficacia (RS EULAR/PReS)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Máxima eficacia junto con IL-6i</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Máxima eficacia junto con IL-1i</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4864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Aprobación</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Anakinra: EMA 2018 (Still) · canakinumab: FDA 2020 (ESA)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AIJs; uso en ESA sobre todo en Japón y fuera de indicación</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Ventajas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Anakinra: vida media corta, útil en SAM; canakinumab mensual</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Útil en artritis crónica; IV o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4864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Precauciones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Reacciones locales (anakinra); infecciones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Puede enmascarar fiebre y PCR y dificultar detectar SAM o infección; dislipidemia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1148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Ambos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gridSpan="2">
                  <a:txBody>
                    <a:bodyPr/>
                    <a:lstStyle/>
                    <a:p>
                      <a:pPr indent="0" marL="0">
                        <a:buNone/>
                      </a:pPr>
                      <a:r>
                        <a:rPr lang="en-US" sz="1050" dirty="0">
                          <a:solidFill>
                            <a:srgbClr val="2B2330"/>
                          </a:solidFill>
                          <a:latin typeface="Calibri" pitchFamily="34" charset="0"/>
                          <a:ea typeface="Calibri" pitchFamily="34" charset="-122"/>
                          <a:cs typeface="Calibri" pitchFamily="34" charset="-120"/>
                        </a:rPr>
                        <a:t>Reacciones tipo DRESS (HLA-DRB1*15) y enfermedad pulmonar en subgrupos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hMerge="1">
                  <a:tcPr/>
                </a:tc>
              </a:tr>
            </a:tbl>
          </a:graphicData>
        </a:graphic>
      </p:graphicFrame>
      <p:sp>
        <p:nvSpPr>
          <p:cNvPr id="6" name="Text 3"/>
          <p:cNvSpPr txBox="1"/>
          <p:nvPr/>
        </p:nvSpPr>
        <p:spPr>
          <a:xfrm>
            <a:off x="457200" y="4224528"/>
            <a:ext cx="8229600" cy="457200"/>
          </a:xfrm>
          <a:prstGeom prst="rect">
            <a:avLst/>
          </a:prstGeom>
          <a:noFill/>
          <a:ln/>
        </p:spPr>
        <p:txBody>
          <a:bodyPr wrap="square" lIns="0" tIns="0" rIns="0" bIns="0" rtlCol="0" anchor="t"/>
          <a:lstStyle/>
          <a:p>
            <a:pPr indent="0" marL="0">
              <a:buNone/>
            </a:pPr>
            <a:r>
              <a:rPr lang="en-US" sz="1150" i="1" dirty="0">
                <a:solidFill>
                  <a:srgbClr val="7A1F45"/>
                </a:solidFill>
                <a:latin typeface="Calibri" pitchFamily="34" charset="0"/>
                <a:ea typeface="Calibri" pitchFamily="34" charset="-122"/>
                <a:cs typeface="Calibri" pitchFamily="34" charset="-120"/>
              </a:rPr>
              <a:t>No hay ECA comparativos directos: la elección depende de la disponibilidad, el fenotipo (sistémico vs articular), el riesgo de SAM y la preferencia del paciente.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Otras opciones y enfermedad refractaria</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Metaanálisis de JAKi en ESA, 2024 (PMID 38870881)</a:t>
            </a:r>
            <a:endParaRPr lang="en-US" sz="850" dirty="0"/>
          </a:p>
        </p:txBody>
      </p:sp>
      <p:sp>
        <p:nvSpPr>
          <p:cNvPr id="5" name="Text 3"/>
          <p:cNvSpPr txBox="1"/>
          <p:nvPr/>
        </p:nvSpPr>
        <p:spPr>
          <a:xfrm>
            <a:off x="457200" y="1280160"/>
            <a:ext cx="4023360" cy="2743200"/>
          </a:xfrm>
          <a:prstGeom prst="rect">
            <a:avLst/>
          </a:prstGeom>
          <a:noFill/>
          <a:ln/>
        </p:spPr>
        <p:txBody>
          <a:bodyPr wrap="square" lIns="0" tIns="0" rIns="0" bIns="0" rtlCol="0" anchor="t"/>
          <a:lstStyle/>
          <a:p>
            <a:pPr marL="177800" indent="-177800">
              <a:spcAft>
                <a:spcPts val="900"/>
              </a:spcAft>
              <a:buSzPct val="100000"/>
              <a:buChar char="•"/>
            </a:pPr>
            <a:r>
              <a:rPr lang="en-US" sz="1250" b="1" dirty="0">
                <a:solidFill>
                  <a:srgbClr val="7A1F45"/>
                </a:solidFill>
                <a:latin typeface="Calibri" pitchFamily="34" charset="0"/>
                <a:ea typeface="Calibri" pitchFamily="34" charset="-122"/>
                <a:cs typeface="Calibri" pitchFamily="34" charset="-120"/>
              </a:rPr>
              <a:t>Metotrexato: </a:t>
            </a:r>
            <a:pPr indent="0" marL="0">
              <a:buNone/>
            </a:pPr>
            <a:r>
              <a:rPr lang="en-US" sz="1250" dirty="0">
                <a:solidFill>
                  <a:srgbClr val="2B2330"/>
                </a:solidFill>
                <a:latin typeface="Calibri" pitchFamily="34" charset="0"/>
                <a:ea typeface="Calibri" pitchFamily="34" charset="-122"/>
                <a:cs typeface="Calibri" pitchFamily="34" charset="-120"/>
              </a:rPr>
              <a:t>ahorrador de GC, sobre todo en la forma articular crónica; poca eficacia en lo sistémico</a:t>
            </a:r>
            <a:endParaRPr lang="en-US" sz="1250" dirty="0"/>
          </a:p>
          <a:p>
            <a:pPr marL="177800" indent="-177800">
              <a:spcAft>
                <a:spcPts val="900"/>
              </a:spcAft>
              <a:buSzPct val="100000"/>
              <a:buChar char="•"/>
            </a:pPr>
            <a:r>
              <a:rPr lang="en-US" sz="1250" b="1" dirty="0">
                <a:solidFill>
                  <a:srgbClr val="7A1F45"/>
                </a:solidFill>
                <a:latin typeface="Calibri" pitchFamily="34" charset="0"/>
                <a:ea typeface="Calibri" pitchFamily="34" charset="-122"/>
                <a:cs typeface="Calibri" pitchFamily="34" charset="-120"/>
              </a:rPr>
              <a:t>Ciclosporina: </a:t>
            </a:r>
            <a:pPr indent="0" marL="0">
              <a:buNone/>
            </a:pPr>
            <a:r>
              <a:rPr lang="en-US" sz="1250" dirty="0">
                <a:solidFill>
                  <a:srgbClr val="2B2330"/>
                </a:solidFill>
                <a:latin typeface="Calibri" pitchFamily="34" charset="0"/>
                <a:ea typeface="Calibri" pitchFamily="34" charset="-122"/>
                <a:cs typeface="Calibri" pitchFamily="34" charset="-120"/>
              </a:rPr>
              <a:t>útil sobre todo en el SAM</a:t>
            </a:r>
            <a:endParaRPr lang="en-US" sz="1250" dirty="0"/>
          </a:p>
          <a:p>
            <a:pPr marL="177800" indent="-177800">
              <a:spcAft>
                <a:spcPts val="900"/>
              </a:spcAft>
              <a:buSzPct val="100000"/>
              <a:buChar char="•"/>
            </a:pPr>
            <a:r>
              <a:rPr lang="en-US" sz="1250" b="1" dirty="0">
                <a:solidFill>
                  <a:srgbClr val="7A1F45"/>
                </a:solidFill>
                <a:latin typeface="Calibri" pitchFamily="34" charset="0"/>
                <a:ea typeface="Calibri" pitchFamily="34" charset="-122"/>
                <a:cs typeface="Calibri" pitchFamily="34" charset="-120"/>
              </a:rPr>
              <a:t>Anti-TNF: </a:t>
            </a:r>
            <a:pPr indent="0" marL="0">
              <a:buNone/>
            </a:pPr>
            <a:r>
              <a:rPr lang="en-US" sz="1250" dirty="0">
                <a:solidFill>
                  <a:srgbClr val="2B2330"/>
                </a:solidFill>
                <a:latin typeface="Calibri" pitchFamily="34" charset="0"/>
                <a:ea typeface="Calibri" pitchFamily="34" charset="-122"/>
                <a:cs typeface="Calibri" pitchFamily="34" charset="-120"/>
              </a:rPr>
              <a:t>eficacia menor que IL-1i/IL-6i; opción en artritis crónica</a:t>
            </a:r>
            <a:endParaRPr lang="en-US" sz="1250" dirty="0"/>
          </a:p>
          <a:p>
            <a:pPr marL="177800" indent="-177800">
              <a:spcAft>
                <a:spcPts val="900"/>
              </a:spcAft>
              <a:buSzPct val="100000"/>
              <a:buChar char="•"/>
            </a:pPr>
            <a:r>
              <a:rPr lang="en-US" sz="1250" b="1" dirty="0">
                <a:solidFill>
                  <a:srgbClr val="7A1F45"/>
                </a:solidFill>
                <a:latin typeface="Calibri" pitchFamily="34" charset="0"/>
                <a:ea typeface="Calibri" pitchFamily="34" charset="-122"/>
                <a:cs typeface="Calibri" pitchFamily="34" charset="-120"/>
              </a:rPr>
              <a:t>Inhibidores de JAK: </a:t>
            </a:r>
            <a:pPr indent="0" marL="0">
              <a:buNone/>
            </a:pPr>
            <a:r>
              <a:rPr lang="en-US" sz="1250" dirty="0">
                <a:solidFill>
                  <a:srgbClr val="2B2330"/>
                </a:solidFill>
                <a:latin typeface="Calibri" pitchFamily="34" charset="0"/>
                <a:ea typeface="Calibri" pitchFamily="34" charset="-122"/>
                <a:cs typeface="Calibri" pitchFamily="34" charset="-120"/>
              </a:rPr>
              <a:t>tofacitinib, baricitinib, upadacitinib; ruxolitinib en SAM refractario</a:t>
            </a:r>
            <a:endParaRPr lang="en-US" sz="1250" dirty="0"/>
          </a:p>
        </p:txBody>
      </p:sp>
      <p:graphicFrame>
        <p:nvGraphicFramePr>
          <p:cNvPr id="6" name="Chart 0" descr=""/>
          <p:cNvGraphicFramePr/>
          <p:nvPr/>
        </p:nvGraphicFramePr>
        <p:xfrm>
          <a:off x="4663440" y="1188720"/>
          <a:ext cx="4023360" cy="2834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069080"/>
            <a:ext cx="8229600" cy="621792"/>
          </a:xfrm>
          <a:prstGeom prst="roundRect">
            <a:avLst>
              <a:gd name="adj" fmla="val 11765"/>
            </a:avLst>
          </a:prstGeom>
          <a:solidFill>
            <a:srgbClr val="FBE3DE"/>
          </a:solidFill>
          <a:ln w="12700">
            <a:solidFill>
              <a:srgbClr val="FBE3DE"/>
            </a:solidFill>
            <a:prstDash val="solid"/>
          </a:ln>
        </p:spPr>
      </p:sp>
      <p:sp>
        <p:nvSpPr>
          <p:cNvPr id="8" name="Text 5"/>
          <p:cNvSpPr txBox="1"/>
          <p:nvPr/>
        </p:nvSpPr>
        <p:spPr>
          <a:xfrm>
            <a:off x="640080" y="4069080"/>
            <a:ext cx="7863840" cy="621792"/>
          </a:xfrm>
          <a:prstGeom prst="rect">
            <a:avLst/>
          </a:prstGeom>
          <a:noFill/>
          <a:ln/>
        </p:spPr>
        <p:txBody>
          <a:bodyPr wrap="square" lIns="0" tIns="0" rIns="0" bIns="0" rtlCol="0" anchor="ctr"/>
          <a:lstStyle/>
          <a:p>
            <a:pPr indent="0" marL="0">
              <a:buNone/>
            </a:pPr>
            <a:r>
              <a:rPr lang="en-US" sz="1150" dirty="0">
                <a:solidFill>
                  <a:srgbClr val="2B2330"/>
                </a:solidFill>
                <a:latin typeface="Calibri" pitchFamily="34" charset="0"/>
                <a:ea typeface="Calibri" pitchFamily="34" charset="-122"/>
                <a:cs typeface="Calibri" pitchFamily="34" charset="-120"/>
              </a:rPr>
              <a:t>Evidencia débil (series de casos). EA: dislipidemia 9,7 %, neumonía bacteriana 3,2 %. Faltan ECA; considerar JAKi en enfermedad refractaria o dependiente de GC.</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SÍNDROME DE ACTIVACIÓN MACROFÁGICA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Tratamiento del SAM</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307592"/>
            <a:ext cx="502920" cy="502920"/>
          </a:xfrm>
          <a:prstGeom prst="ellipse">
            <a:avLst/>
          </a:prstGeom>
          <a:solidFill>
            <a:srgbClr val="7A1F45"/>
          </a:solidFill>
          <a:ln w="12700">
            <a:solidFill>
              <a:srgbClr val="7A1F45"/>
            </a:solidFill>
            <a:prstDash val="solid"/>
          </a:ln>
        </p:spPr>
      </p:sp>
      <p:sp>
        <p:nvSpPr>
          <p:cNvPr id="6" name="Text 4"/>
          <p:cNvSpPr txBox="1"/>
          <p:nvPr/>
        </p:nvSpPr>
        <p:spPr>
          <a:xfrm>
            <a:off x="457200" y="13075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097280" y="1234440"/>
            <a:ext cx="4572000" cy="658368"/>
          </a:xfrm>
          <a:prstGeom prst="roundRect">
            <a:avLst>
              <a:gd name="adj" fmla="val 11111"/>
            </a:avLst>
          </a:prstGeom>
          <a:solidFill>
            <a:srgbClr val="F7EEF1"/>
          </a:solidFill>
          <a:ln w="12700">
            <a:solidFill>
              <a:srgbClr val="F7EEF1"/>
            </a:solidFill>
            <a:prstDash val="solid"/>
          </a:ln>
        </p:spPr>
      </p:sp>
      <p:sp>
        <p:nvSpPr>
          <p:cNvPr id="8" name="Text 6"/>
          <p:cNvSpPr txBox="1"/>
          <p:nvPr/>
        </p:nvSpPr>
        <p:spPr>
          <a:xfrm>
            <a:off x="1234440" y="1234440"/>
            <a:ext cx="2011680" cy="658368"/>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GC a dosis altas</a:t>
            </a:r>
            <a:endParaRPr lang="en-US" sz="1300" dirty="0"/>
          </a:p>
        </p:txBody>
      </p:sp>
      <p:sp>
        <p:nvSpPr>
          <p:cNvPr id="9" name="Text 7"/>
          <p:cNvSpPr txBox="1"/>
          <p:nvPr/>
        </p:nvSpPr>
        <p:spPr>
          <a:xfrm>
            <a:off x="3200400" y="1234440"/>
            <a:ext cx="2377440" cy="658368"/>
          </a:xfrm>
          <a:prstGeom prst="rect">
            <a:avLst/>
          </a:prstGeom>
          <a:noFill/>
          <a:ln/>
        </p:spPr>
        <p:txBody>
          <a:bodyPr wrap="square" lIns="0" tIns="0" rIns="0" bIns="0" rtlCol="0" anchor="ctr"/>
          <a:lstStyle/>
          <a:p>
            <a:pPr indent="0" marL="0">
              <a:buNone/>
            </a:pPr>
            <a:r>
              <a:rPr lang="en-US" sz="1100" dirty="0">
                <a:solidFill>
                  <a:srgbClr val="2B2330"/>
                </a:solidFill>
                <a:latin typeface="Calibri" pitchFamily="34" charset="0"/>
                <a:ea typeface="Calibri" pitchFamily="34" charset="-122"/>
                <a:cs typeface="Calibri" pitchFamily="34" charset="-120"/>
              </a:rPr>
              <a:t>Pulsos IV de metilprednisolona: base en todos los pacientes</a:t>
            </a:r>
            <a:endParaRPr lang="en-US" sz="1100" dirty="0"/>
          </a:p>
        </p:txBody>
      </p:sp>
      <p:sp>
        <p:nvSpPr>
          <p:cNvPr id="10" name="Shape 8"/>
          <p:cNvSpPr/>
          <p:nvPr/>
        </p:nvSpPr>
        <p:spPr>
          <a:xfrm>
            <a:off x="457200" y="2084832"/>
            <a:ext cx="502920" cy="502920"/>
          </a:xfrm>
          <a:prstGeom prst="ellipse">
            <a:avLst/>
          </a:prstGeom>
          <a:solidFill>
            <a:srgbClr val="7A1F45"/>
          </a:solidFill>
          <a:ln w="12700">
            <a:solidFill>
              <a:srgbClr val="7A1F45"/>
            </a:solidFill>
            <a:prstDash val="solid"/>
          </a:ln>
        </p:spPr>
      </p:sp>
      <p:sp>
        <p:nvSpPr>
          <p:cNvPr id="11" name="Text 9"/>
          <p:cNvSpPr txBox="1"/>
          <p:nvPr/>
        </p:nvSpPr>
        <p:spPr>
          <a:xfrm>
            <a:off x="457200" y="2084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Shape 10"/>
          <p:cNvSpPr/>
          <p:nvPr/>
        </p:nvSpPr>
        <p:spPr>
          <a:xfrm>
            <a:off x="1097280" y="2011680"/>
            <a:ext cx="4572000" cy="658368"/>
          </a:xfrm>
          <a:prstGeom prst="roundRect">
            <a:avLst>
              <a:gd name="adj" fmla="val 11111"/>
            </a:avLst>
          </a:prstGeom>
          <a:solidFill>
            <a:srgbClr val="F7EEF1"/>
          </a:solidFill>
          <a:ln w="12700">
            <a:solidFill>
              <a:srgbClr val="F7EEF1"/>
            </a:solidFill>
            <a:prstDash val="solid"/>
          </a:ln>
        </p:spPr>
      </p:sp>
      <p:sp>
        <p:nvSpPr>
          <p:cNvPr id="13" name="Text 11"/>
          <p:cNvSpPr txBox="1"/>
          <p:nvPr/>
        </p:nvSpPr>
        <p:spPr>
          <a:xfrm>
            <a:off x="1234440" y="2011680"/>
            <a:ext cx="2011680" cy="658368"/>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Inhibición de IL-1</a:t>
            </a:r>
            <a:endParaRPr lang="en-US" sz="1300" dirty="0"/>
          </a:p>
        </p:txBody>
      </p:sp>
      <p:sp>
        <p:nvSpPr>
          <p:cNvPr id="14" name="Text 12"/>
          <p:cNvSpPr txBox="1"/>
          <p:nvPr/>
        </p:nvSpPr>
        <p:spPr>
          <a:xfrm>
            <a:off x="3200400" y="2011680"/>
            <a:ext cx="2377440" cy="658368"/>
          </a:xfrm>
          <a:prstGeom prst="rect">
            <a:avLst/>
          </a:prstGeom>
          <a:noFill/>
          <a:ln/>
        </p:spPr>
        <p:txBody>
          <a:bodyPr wrap="square" lIns="0" tIns="0" rIns="0" bIns="0" rtlCol="0" anchor="ctr"/>
          <a:lstStyle/>
          <a:p>
            <a:pPr indent="0" marL="0">
              <a:buNone/>
            </a:pPr>
            <a:r>
              <a:rPr lang="en-US" sz="1100" dirty="0">
                <a:solidFill>
                  <a:srgbClr val="2B2330"/>
                </a:solidFill>
                <a:latin typeface="Calibri" pitchFamily="34" charset="0"/>
                <a:ea typeface="Calibri" pitchFamily="34" charset="-122"/>
                <a:cs typeface="Calibri" pitchFamily="34" charset="-120"/>
              </a:rPr>
              <a:t>Anakinra, a menudo en dosis altas; se mantiene o intensifica</a:t>
            </a:r>
            <a:endParaRPr lang="en-US" sz="1100" dirty="0"/>
          </a:p>
        </p:txBody>
      </p:sp>
      <p:sp>
        <p:nvSpPr>
          <p:cNvPr id="15" name="Shape 13"/>
          <p:cNvSpPr/>
          <p:nvPr/>
        </p:nvSpPr>
        <p:spPr>
          <a:xfrm>
            <a:off x="457200" y="2862072"/>
            <a:ext cx="502920" cy="502920"/>
          </a:xfrm>
          <a:prstGeom prst="ellipse">
            <a:avLst/>
          </a:prstGeom>
          <a:solidFill>
            <a:srgbClr val="A2456A"/>
          </a:solidFill>
          <a:ln w="12700">
            <a:solidFill>
              <a:srgbClr val="A2456A"/>
            </a:solidFill>
            <a:prstDash val="solid"/>
          </a:ln>
        </p:spPr>
      </p:sp>
      <p:sp>
        <p:nvSpPr>
          <p:cNvPr id="16" name="Text 14"/>
          <p:cNvSpPr txBox="1"/>
          <p:nvPr/>
        </p:nvSpPr>
        <p:spPr>
          <a:xfrm>
            <a:off x="457200" y="28620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Shape 15"/>
          <p:cNvSpPr/>
          <p:nvPr/>
        </p:nvSpPr>
        <p:spPr>
          <a:xfrm>
            <a:off x="1097280" y="2788920"/>
            <a:ext cx="4572000" cy="658368"/>
          </a:xfrm>
          <a:prstGeom prst="roundRect">
            <a:avLst>
              <a:gd name="adj" fmla="val 11111"/>
            </a:avLst>
          </a:prstGeom>
          <a:solidFill>
            <a:srgbClr val="F7EEF1"/>
          </a:solidFill>
          <a:ln w="12700">
            <a:solidFill>
              <a:srgbClr val="F7EEF1"/>
            </a:solidFill>
            <a:prstDash val="solid"/>
          </a:ln>
        </p:spPr>
      </p:sp>
      <p:sp>
        <p:nvSpPr>
          <p:cNvPr id="18" name="Text 16"/>
          <p:cNvSpPr txBox="1"/>
          <p:nvPr/>
        </p:nvSpPr>
        <p:spPr>
          <a:xfrm>
            <a:off x="1234440" y="2788920"/>
            <a:ext cx="2011680" cy="658368"/>
          </a:xfrm>
          <a:prstGeom prst="rect">
            <a:avLst/>
          </a:prstGeom>
          <a:noFill/>
          <a:ln/>
        </p:spPr>
        <p:txBody>
          <a:bodyPr wrap="square" lIns="0" tIns="0" rIns="0" bIns="0" rtlCol="0" anchor="ctr"/>
          <a:lstStyle/>
          <a:p>
            <a:pPr indent="0" marL="0">
              <a:buNone/>
            </a:pPr>
            <a:r>
              <a:rPr lang="en-US" sz="1300" b="1" dirty="0">
                <a:solidFill>
                  <a:srgbClr val="A2456A"/>
                </a:solidFill>
                <a:latin typeface="Calibri" pitchFamily="34" charset="0"/>
                <a:ea typeface="Calibri" pitchFamily="34" charset="-122"/>
                <a:cs typeface="Calibri" pitchFamily="34" charset="-120"/>
              </a:rPr>
              <a:t>Ciclosporina</a:t>
            </a:r>
            <a:endParaRPr lang="en-US" sz="1300" dirty="0"/>
          </a:p>
        </p:txBody>
      </p:sp>
      <p:sp>
        <p:nvSpPr>
          <p:cNvPr id="19" name="Text 17"/>
          <p:cNvSpPr txBox="1"/>
          <p:nvPr/>
        </p:nvSpPr>
        <p:spPr>
          <a:xfrm>
            <a:off x="3200400" y="2788920"/>
            <a:ext cx="2377440" cy="658368"/>
          </a:xfrm>
          <a:prstGeom prst="rect">
            <a:avLst/>
          </a:prstGeom>
          <a:noFill/>
          <a:ln/>
        </p:spPr>
        <p:txBody>
          <a:bodyPr wrap="square" lIns="0" tIns="0" rIns="0" bIns="0" rtlCol="0" anchor="ctr"/>
          <a:lstStyle/>
          <a:p>
            <a:pPr indent="0" marL="0">
              <a:buNone/>
            </a:pPr>
            <a:r>
              <a:rPr lang="en-US" sz="1100" dirty="0">
                <a:solidFill>
                  <a:srgbClr val="2B2330"/>
                </a:solidFill>
                <a:latin typeface="Calibri" pitchFamily="34" charset="0"/>
                <a:ea typeface="Calibri" pitchFamily="34" charset="-122"/>
                <a:cs typeface="Calibri" pitchFamily="34" charset="-120"/>
              </a:rPr>
              <a:t>Frecuente en combinación con GC y/o anakinra</a:t>
            </a:r>
            <a:endParaRPr lang="en-US" sz="1100" dirty="0"/>
          </a:p>
        </p:txBody>
      </p:sp>
      <p:sp>
        <p:nvSpPr>
          <p:cNvPr id="20" name="Shape 18"/>
          <p:cNvSpPr/>
          <p:nvPr/>
        </p:nvSpPr>
        <p:spPr>
          <a:xfrm>
            <a:off x="457200" y="3639312"/>
            <a:ext cx="502920" cy="502920"/>
          </a:xfrm>
          <a:prstGeom prst="ellipse">
            <a:avLst/>
          </a:prstGeom>
          <a:solidFill>
            <a:srgbClr val="D9472F"/>
          </a:solidFill>
          <a:ln w="12700">
            <a:solidFill>
              <a:srgbClr val="D9472F"/>
            </a:solidFill>
            <a:prstDash val="solid"/>
          </a:ln>
        </p:spPr>
      </p:sp>
      <p:sp>
        <p:nvSpPr>
          <p:cNvPr id="21" name="Text 19"/>
          <p:cNvSpPr txBox="1"/>
          <p:nvPr/>
        </p:nvSpPr>
        <p:spPr>
          <a:xfrm>
            <a:off x="457200" y="36393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Shape 20"/>
          <p:cNvSpPr/>
          <p:nvPr/>
        </p:nvSpPr>
        <p:spPr>
          <a:xfrm>
            <a:off x="1097280" y="3566160"/>
            <a:ext cx="4572000" cy="658368"/>
          </a:xfrm>
          <a:prstGeom prst="roundRect">
            <a:avLst>
              <a:gd name="adj" fmla="val 11111"/>
            </a:avLst>
          </a:prstGeom>
          <a:solidFill>
            <a:srgbClr val="F7EEF1"/>
          </a:solidFill>
          <a:ln w="12700">
            <a:solidFill>
              <a:srgbClr val="F7EEF1"/>
            </a:solidFill>
            <a:prstDash val="solid"/>
          </a:ln>
        </p:spPr>
      </p:sp>
      <p:sp>
        <p:nvSpPr>
          <p:cNvPr id="23" name="Text 21"/>
          <p:cNvSpPr txBox="1"/>
          <p:nvPr/>
        </p:nvSpPr>
        <p:spPr>
          <a:xfrm>
            <a:off x="1234440" y="3566160"/>
            <a:ext cx="2011680" cy="658368"/>
          </a:xfrm>
          <a:prstGeom prst="rect">
            <a:avLst/>
          </a:prstGeom>
          <a:noFill/>
          <a:ln/>
        </p:spPr>
        <p:txBody>
          <a:bodyPr wrap="square" lIns="0" tIns="0" rIns="0" bIns="0" rtlCol="0" anchor="ctr"/>
          <a:lstStyle/>
          <a:p>
            <a:pPr indent="0" marL="0">
              <a:buNone/>
            </a:pPr>
            <a:r>
              <a:rPr lang="en-US" sz="1300" b="1" dirty="0">
                <a:solidFill>
                  <a:srgbClr val="D9472F"/>
                </a:solidFill>
                <a:latin typeface="Calibri" pitchFamily="34" charset="0"/>
                <a:ea typeface="Calibri" pitchFamily="34" charset="-122"/>
                <a:cs typeface="Calibri" pitchFamily="34" charset="-120"/>
              </a:rPr>
              <a:t>Inhibición de IFN-γ</a:t>
            </a:r>
            <a:endParaRPr lang="en-US" sz="1300" dirty="0"/>
          </a:p>
        </p:txBody>
      </p:sp>
      <p:sp>
        <p:nvSpPr>
          <p:cNvPr id="24" name="Text 22"/>
          <p:cNvSpPr txBox="1"/>
          <p:nvPr/>
        </p:nvSpPr>
        <p:spPr>
          <a:xfrm>
            <a:off x="3200400" y="3566160"/>
            <a:ext cx="2377440" cy="658368"/>
          </a:xfrm>
          <a:prstGeom prst="rect">
            <a:avLst/>
          </a:prstGeom>
          <a:noFill/>
          <a:ln/>
        </p:spPr>
        <p:txBody>
          <a:bodyPr wrap="square" lIns="0" tIns="0" rIns="0" bIns="0" rtlCol="0" anchor="ctr"/>
          <a:lstStyle/>
          <a:p>
            <a:pPr indent="0" marL="0">
              <a:buNone/>
            </a:pPr>
            <a:r>
              <a:rPr lang="en-US" sz="1100" dirty="0">
                <a:solidFill>
                  <a:srgbClr val="2B2330"/>
                </a:solidFill>
                <a:latin typeface="Calibri" pitchFamily="34" charset="0"/>
                <a:ea typeface="Calibri" pitchFamily="34" charset="-122"/>
                <a:cs typeface="Calibri" pitchFamily="34" charset="-120"/>
              </a:rPr>
              <a:t>Emapalumab si hay respuesta insuficiente a los GC</a:t>
            </a:r>
            <a:endParaRPr lang="en-US" sz="1100" dirty="0"/>
          </a:p>
        </p:txBody>
      </p:sp>
      <p:sp>
        <p:nvSpPr>
          <p:cNvPr id="25" name="Shape 23"/>
          <p:cNvSpPr/>
          <p:nvPr/>
        </p:nvSpPr>
        <p:spPr>
          <a:xfrm>
            <a:off x="5897880" y="1234440"/>
            <a:ext cx="2788920" cy="2926080"/>
          </a:xfrm>
          <a:prstGeom prst="roundRect">
            <a:avLst>
              <a:gd name="adj" fmla="val 2623"/>
            </a:avLst>
          </a:prstGeom>
          <a:solidFill>
            <a:srgbClr val="FBE3DE"/>
          </a:solidFill>
          <a:ln w="12700">
            <a:solidFill>
              <a:srgbClr val="FBE3DE"/>
            </a:solidFill>
            <a:prstDash val="solid"/>
          </a:ln>
        </p:spPr>
      </p:sp>
      <p:sp>
        <p:nvSpPr>
          <p:cNvPr id="26" name="Text 24"/>
          <p:cNvSpPr txBox="1"/>
          <p:nvPr/>
        </p:nvSpPr>
        <p:spPr>
          <a:xfrm>
            <a:off x="6035040" y="1325880"/>
            <a:ext cx="2560320" cy="320040"/>
          </a:xfrm>
          <a:prstGeom prst="rect">
            <a:avLst/>
          </a:prstGeom>
          <a:noFill/>
          <a:ln/>
        </p:spPr>
        <p:txBody>
          <a:bodyPr wrap="square" lIns="0" tIns="0" rIns="0" bIns="0" rtlCol="0" anchor="t"/>
          <a:lstStyle/>
          <a:p>
            <a:pPr indent="0" marL="0">
              <a:buNone/>
            </a:pPr>
            <a:r>
              <a:rPr lang="en-US" sz="1400" b="1" dirty="0">
                <a:solidFill>
                  <a:srgbClr val="D9472F"/>
                </a:solidFill>
                <a:latin typeface="Calibri" pitchFamily="34" charset="0"/>
                <a:ea typeface="Calibri" pitchFamily="34" charset="-122"/>
                <a:cs typeface="Calibri" pitchFamily="34" charset="-120"/>
              </a:rPr>
              <a:t>Medidas generales</a:t>
            </a:r>
            <a:endParaRPr lang="en-US" sz="1400" dirty="0"/>
          </a:p>
        </p:txBody>
      </p:sp>
      <p:sp>
        <p:nvSpPr>
          <p:cNvPr id="27" name="Text 25"/>
          <p:cNvSpPr txBox="1"/>
          <p:nvPr/>
        </p:nvSpPr>
        <p:spPr>
          <a:xfrm>
            <a:off x="6035040" y="1691640"/>
            <a:ext cx="2560320" cy="24231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Manejo en centro con experiencia; UCI si hay falla orgánica</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Buscar y tratar desencadenantes (infecciones)</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Soporte de coagulopatía</a:t>
            </a:r>
            <a:endParaRPr lang="en-US" sz="1150" dirty="0"/>
          </a:p>
          <a:p>
            <a:pPr marL="177800" indent="-177800">
              <a:spcAft>
                <a:spcPts val="600"/>
              </a:spcAft>
              <a:buSzPct val="100000"/>
              <a:buChar char="•"/>
            </a:pPr>
            <a:r>
              <a:rPr lang="en-US" sz="1150" dirty="0">
                <a:solidFill>
                  <a:srgbClr val="2B2330"/>
                </a:solidFill>
                <a:latin typeface="Calibri" pitchFamily="34" charset="0"/>
                <a:ea typeface="Calibri" pitchFamily="34" charset="-122"/>
                <a:cs typeface="Calibri" pitchFamily="34" charset="-120"/>
              </a:rPr>
              <a:t>Refractario: considerar ruxolitinib (evidencia débil)</a:t>
            </a:r>
            <a:endParaRPr lang="en-US" sz="1150" dirty="0"/>
          </a:p>
        </p:txBody>
      </p:sp>
      <p:sp>
        <p:nvSpPr>
          <p:cNvPr id="28" name="Text 26"/>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50" i="1" dirty="0">
                <a:solidFill>
                  <a:srgbClr val="6E6573"/>
                </a:solidFill>
                <a:latin typeface="Calibri" pitchFamily="34" charset="0"/>
                <a:ea typeface="Calibri" pitchFamily="34" charset="-122"/>
                <a:cs typeface="Calibri" pitchFamily="34" charset="-120"/>
              </a:rPr>
              <a:t>La inhibición de IL-1 y de IFN-γ parece eficaz sobre una base de GC a dosis altas (RS EULAR/PReS).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SÍNDROME DE ACTIVACIÓN MACROFÁGICA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Emapalumab: bloquear el IFN-γ</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De Benedetti F, et al. Ann Rheum Dis. 2023 · análisis combinado NI-0501-06/EMERALD · FDA 2025</a:t>
            </a:r>
            <a:endParaRPr lang="en-US" sz="850" dirty="0"/>
          </a:p>
        </p:txBody>
      </p:sp>
      <p:sp>
        <p:nvSpPr>
          <p:cNvPr id="5" name="Text 3"/>
          <p:cNvSpPr txBox="1"/>
          <p:nvPr/>
        </p:nvSpPr>
        <p:spPr>
          <a:xfrm>
            <a:off x="457200" y="1234440"/>
            <a:ext cx="2560320" cy="566928"/>
          </a:xfrm>
          <a:prstGeom prst="rect">
            <a:avLst/>
          </a:prstGeom>
          <a:noFill/>
          <a:ln/>
        </p:spPr>
        <p:txBody>
          <a:bodyPr wrap="square" lIns="0" tIns="0" rIns="0" bIns="0" rtlCol="0" anchor="b"/>
          <a:lstStyle/>
          <a:p>
            <a:pPr indent="0" marL="0">
              <a:buNone/>
            </a:pPr>
            <a:r>
              <a:rPr lang="en-US" sz="2800" b="1" dirty="0">
                <a:solidFill>
                  <a:srgbClr val="1F7F79"/>
                </a:solidFill>
                <a:latin typeface="Cambria" pitchFamily="34" charset="0"/>
                <a:ea typeface="Cambria" pitchFamily="34" charset="-122"/>
                <a:cs typeface="Cambria" pitchFamily="34" charset="-120"/>
              </a:rPr>
              <a:t>13/14 (93 %)</a:t>
            </a:r>
            <a:endParaRPr lang="en-US" sz="2800" dirty="0"/>
          </a:p>
        </p:txBody>
      </p:sp>
      <p:sp>
        <p:nvSpPr>
          <p:cNvPr id="6" name="Text 4"/>
          <p:cNvSpPr txBox="1"/>
          <p:nvPr/>
        </p:nvSpPr>
        <p:spPr>
          <a:xfrm>
            <a:off x="457200" y="1837944"/>
            <a:ext cx="256032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remisión del SAM a la semana 8 (NI-0501-06; refractarios a GC)</a:t>
            </a:r>
            <a:endParaRPr lang="en-US" sz="1150" dirty="0"/>
          </a:p>
        </p:txBody>
      </p:sp>
      <p:sp>
        <p:nvSpPr>
          <p:cNvPr id="7" name="Text 5"/>
          <p:cNvSpPr txBox="1"/>
          <p:nvPr/>
        </p:nvSpPr>
        <p:spPr>
          <a:xfrm>
            <a:off x="457200" y="2423160"/>
            <a:ext cx="2560320" cy="566928"/>
          </a:xfrm>
          <a:prstGeom prst="rect">
            <a:avLst/>
          </a:prstGeom>
          <a:noFill/>
          <a:ln/>
        </p:spPr>
        <p:txBody>
          <a:bodyPr wrap="square" lIns="0" tIns="0" rIns="0" bIns="0" rtlCol="0" anchor="b"/>
          <a:lstStyle/>
          <a:p>
            <a:pPr indent="0" marL="0">
              <a:buNone/>
            </a:pPr>
            <a:r>
              <a:rPr lang="en-US" sz="2800" b="1" dirty="0">
                <a:solidFill>
                  <a:srgbClr val="7A1F45"/>
                </a:solidFill>
                <a:latin typeface="Cambria" pitchFamily="34" charset="0"/>
                <a:ea typeface="Cambria" pitchFamily="34" charset="-122"/>
                <a:cs typeface="Cambria" pitchFamily="34" charset="-120"/>
              </a:rPr>
              <a:t>25 días</a:t>
            </a:r>
            <a:endParaRPr lang="en-US" sz="2800" dirty="0"/>
          </a:p>
        </p:txBody>
      </p:sp>
      <p:sp>
        <p:nvSpPr>
          <p:cNvPr id="8" name="Text 6"/>
          <p:cNvSpPr txBox="1"/>
          <p:nvPr/>
        </p:nvSpPr>
        <p:spPr>
          <a:xfrm>
            <a:off x="457200" y="3026664"/>
            <a:ext cx="256032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mediana hasta la remisión</a:t>
            </a:r>
            <a:endParaRPr lang="en-US" sz="1150" dirty="0"/>
          </a:p>
        </p:txBody>
      </p:sp>
      <p:graphicFrame>
        <p:nvGraphicFramePr>
          <p:cNvPr id="9" name="Chart 0" descr=""/>
          <p:cNvGraphicFramePr/>
          <p:nvPr/>
        </p:nvGraphicFramePr>
        <p:xfrm>
          <a:off x="3200400" y="1188720"/>
          <a:ext cx="548640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 y="3657600"/>
            <a:ext cx="8229600" cy="1005840"/>
          </a:xfrm>
          <a:prstGeom prst="roundRect">
            <a:avLst>
              <a:gd name="adj" fmla="val 7273"/>
            </a:avLst>
          </a:prstGeom>
          <a:solidFill>
            <a:srgbClr val="E9F3F2"/>
          </a:solidFill>
          <a:ln w="12700">
            <a:solidFill>
              <a:srgbClr val="E9F3F2"/>
            </a:solidFill>
            <a:prstDash val="solid"/>
          </a:ln>
        </p:spPr>
      </p:sp>
      <p:sp>
        <p:nvSpPr>
          <p:cNvPr id="11" name="Text 8"/>
          <p:cNvSpPr txBox="1"/>
          <p:nvPr/>
        </p:nvSpPr>
        <p:spPr>
          <a:xfrm>
            <a:off x="640080" y="3657600"/>
            <a:ext cx="7863840" cy="1005840"/>
          </a:xfrm>
          <a:prstGeom prst="rect">
            <a:avLst/>
          </a:prstGeom>
          <a:noFill/>
          <a:ln/>
        </p:spPr>
        <p:txBody>
          <a:bodyPr wrap="square" lIns="0" tIns="0" rIns="0" bIns="0" rtlCol="0" anchor="ctr"/>
          <a:lstStyle/>
          <a:p>
            <a:pPr indent="0" marL="0">
              <a:buNone/>
            </a:pPr>
            <a:r>
              <a:rPr lang="en-US" sz="1200" b="1" dirty="0">
                <a:solidFill>
                  <a:srgbClr val="1F7F79"/>
                </a:solidFill>
                <a:latin typeface="Calibri" pitchFamily="34" charset="0"/>
                <a:ea typeface="Calibri" pitchFamily="34" charset="-122"/>
                <a:cs typeface="Calibri" pitchFamily="34" charset="-120"/>
              </a:rPr>
              <a:t>FDA, 27 de junio de 2025: </a:t>
            </a:r>
            <a:pPr indent="0" marL="0">
              <a:buNone/>
            </a:pPr>
            <a:r>
              <a:rPr lang="en-US" sz="1200" dirty="0">
                <a:solidFill>
                  <a:srgbClr val="2B2330"/>
                </a:solidFill>
                <a:latin typeface="Calibri" pitchFamily="34" charset="0"/>
                <a:ea typeface="Calibri" pitchFamily="34" charset="-122"/>
                <a:cs typeface="Calibri" pitchFamily="34" charset="-120"/>
              </a:rPr>
              <a:t>emapalumab aprobado para el SAM en enfermedad de Still conocida o sospechada (AIJs o ESA) con respuesta insuficiente o intolerancia a los glucocorticoides. Descensos rápidos de ferritina y CXCL9. Estudios abiertos sin grupo control.</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Algoritmo terapéutico resumido</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457200" y="1234440"/>
            <a:ext cx="1828800" cy="960120"/>
          </a:xfrm>
          <a:prstGeom prst="roundRect">
            <a:avLst>
              <a:gd name="adj" fmla="val 7619"/>
            </a:avLst>
          </a:prstGeom>
          <a:solidFill>
            <a:srgbClr val="2A1433"/>
          </a:solidFill>
          <a:ln w="12700">
            <a:solidFill>
              <a:srgbClr val="2A1433"/>
            </a:solidFill>
            <a:prstDash val="solid"/>
          </a:ln>
        </p:spPr>
      </p:sp>
      <p:sp>
        <p:nvSpPr>
          <p:cNvPr id="6" name="Text 4"/>
          <p:cNvSpPr txBox="1"/>
          <p:nvPr/>
        </p:nvSpPr>
        <p:spPr>
          <a:xfrm>
            <a:off x="530352" y="1234440"/>
            <a:ext cx="1682496"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Diagnóstico de enfermedad de Still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(descartadas otras causas)</a:t>
            </a:r>
            <a:endParaRPr lang="en-US" sz="1100" dirty="0"/>
          </a:p>
        </p:txBody>
      </p:sp>
      <p:sp>
        <p:nvSpPr>
          <p:cNvPr id="7" name="Shape 5"/>
          <p:cNvSpPr/>
          <p:nvPr/>
        </p:nvSpPr>
        <p:spPr>
          <a:xfrm>
            <a:off x="2304288" y="1709928"/>
            <a:ext cx="301752" cy="914"/>
          </a:xfrm>
          <a:prstGeom prst="line">
            <a:avLst/>
          </a:prstGeom>
          <a:noFill/>
          <a:ln w="25400">
            <a:solidFill>
              <a:srgbClr val="6E6573"/>
            </a:solidFill>
            <a:prstDash val="solid"/>
            <a:tailEnd type="triangle"/>
          </a:ln>
        </p:spPr>
      </p:sp>
      <p:sp>
        <p:nvSpPr>
          <p:cNvPr id="8" name="Shape 6"/>
          <p:cNvSpPr/>
          <p:nvPr/>
        </p:nvSpPr>
        <p:spPr>
          <a:xfrm>
            <a:off x="2624328" y="1234440"/>
            <a:ext cx="2377440" cy="960120"/>
          </a:xfrm>
          <a:prstGeom prst="roundRect">
            <a:avLst>
              <a:gd name="adj" fmla="val 7619"/>
            </a:avLst>
          </a:prstGeom>
          <a:solidFill>
            <a:srgbClr val="7A1F45"/>
          </a:solidFill>
          <a:ln w="12700">
            <a:solidFill>
              <a:srgbClr val="7A1F45"/>
            </a:solidFill>
            <a:prstDash val="solid"/>
          </a:ln>
        </p:spPr>
      </p:sp>
      <p:sp>
        <p:nvSpPr>
          <p:cNvPr id="9" name="Text 7"/>
          <p:cNvSpPr txBox="1"/>
          <p:nvPr/>
        </p:nvSpPr>
        <p:spPr>
          <a:xfrm>
            <a:off x="2697480" y="1234440"/>
            <a:ext cx="2231136"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Inhibidor de IL-1 o IL-6 lo antes posible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GC de corta duración</a:t>
            </a:r>
            <a:endParaRPr lang="en-US" sz="1100" dirty="0"/>
          </a:p>
        </p:txBody>
      </p:sp>
      <p:sp>
        <p:nvSpPr>
          <p:cNvPr id="10" name="Shape 8"/>
          <p:cNvSpPr/>
          <p:nvPr/>
        </p:nvSpPr>
        <p:spPr>
          <a:xfrm>
            <a:off x="5020056" y="1709928"/>
            <a:ext cx="301752" cy="914"/>
          </a:xfrm>
          <a:prstGeom prst="line">
            <a:avLst/>
          </a:prstGeom>
          <a:noFill/>
          <a:ln w="25400">
            <a:solidFill>
              <a:srgbClr val="6E6573"/>
            </a:solidFill>
            <a:prstDash val="solid"/>
            <a:tailEnd type="triangle"/>
          </a:ln>
        </p:spPr>
      </p:sp>
      <p:sp>
        <p:nvSpPr>
          <p:cNvPr id="11" name="Shape 9"/>
          <p:cNvSpPr/>
          <p:nvPr/>
        </p:nvSpPr>
        <p:spPr>
          <a:xfrm>
            <a:off x="5340096" y="1234440"/>
            <a:ext cx="1645920" cy="960120"/>
          </a:xfrm>
          <a:prstGeom prst="roundRect">
            <a:avLst>
              <a:gd name="adj" fmla="val 7619"/>
            </a:avLst>
          </a:prstGeom>
          <a:solidFill>
            <a:srgbClr val="F3F1F4"/>
          </a:solidFill>
          <a:ln w="12700">
            <a:solidFill>
              <a:srgbClr val="F3F1F4"/>
            </a:solidFill>
            <a:prstDash val="solid"/>
          </a:ln>
        </p:spPr>
      </p:sp>
      <p:sp>
        <p:nvSpPr>
          <p:cNvPr id="12" name="Text 10"/>
          <p:cNvSpPr txBox="1"/>
          <p:nvPr/>
        </p:nvSpPr>
        <p:spPr>
          <a:xfrm>
            <a:off x="5413248" y="1234440"/>
            <a:ext cx="1499616" cy="960120"/>
          </a:xfrm>
          <a:prstGeom prst="rect">
            <a:avLst/>
          </a:prstGeom>
          <a:noFill/>
          <a:ln/>
        </p:spPr>
        <p:txBody>
          <a:bodyPr wrap="square" lIns="0" tIns="0" rIns="0" bIns="0" rtlCol="0" anchor="ctr"/>
          <a:lstStyle/>
          <a:p>
            <a:pPr algn="ctr" indent="0" marL="0">
              <a:buNone/>
            </a:pPr>
            <a:r>
              <a:rPr lang="en-US" sz="1100" b="1" dirty="0">
                <a:solidFill>
                  <a:srgbClr val="2A1433"/>
                </a:solidFill>
                <a:latin typeface="Calibri" pitchFamily="34" charset="0"/>
                <a:ea typeface="Calibri" pitchFamily="34" charset="-122"/>
                <a:cs typeface="Calibri" pitchFamily="34" charset="-120"/>
              </a:rPr>
              <a:t>¿Metas del día 7, sem 4, mes 3 y mes 6?</a:t>
            </a:r>
            <a:endParaRPr lang="en-US" sz="1100" dirty="0"/>
          </a:p>
        </p:txBody>
      </p:sp>
      <p:sp>
        <p:nvSpPr>
          <p:cNvPr id="13" name="Shape 11"/>
          <p:cNvSpPr/>
          <p:nvPr/>
        </p:nvSpPr>
        <p:spPr>
          <a:xfrm>
            <a:off x="7004304" y="1709928"/>
            <a:ext cx="301752" cy="914"/>
          </a:xfrm>
          <a:prstGeom prst="line">
            <a:avLst/>
          </a:prstGeom>
          <a:noFill/>
          <a:ln w="25400">
            <a:solidFill>
              <a:srgbClr val="1F7F79"/>
            </a:solidFill>
            <a:prstDash val="solid"/>
            <a:tailEnd type="triangle"/>
          </a:ln>
        </p:spPr>
      </p:sp>
      <p:sp>
        <p:nvSpPr>
          <p:cNvPr id="14" name="Text 12"/>
          <p:cNvSpPr txBox="1"/>
          <p:nvPr/>
        </p:nvSpPr>
        <p:spPr>
          <a:xfrm>
            <a:off x="6949440" y="1371600"/>
            <a:ext cx="411480" cy="274320"/>
          </a:xfrm>
          <a:prstGeom prst="rect">
            <a:avLst/>
          </a:prstGeom>
          <a:noFill/>
          <a:ln/>
        </p:spPr>
        <p:txBody>
          <a:bodyPr wrap="square" lIns="0" tIns="0" rIns="0" bIns="0" rtlCol="0" anchor="t"/>
          <a:lstStyle/>
          <a:p>
            <a:pPr algn="ctr" indent="0" marL="0">
              <a:buNone/>
            </a:pPr>
            <a:r>
              <a:rPr lang="en-US" sz="1100" b="1" dirty="0">
                <a:solidFill>
                  <a:srgbClr val="1F7F79"/>
                </a:solidFill>
                <a:latin typeface="Calibri" pitchFamily="34" charset="0"/>
                <a:ea typeface="Calibri" pitchFamily="34" charset="-122"/>
                <a:cs typeface="Calibri" pitchFamily="34" charset="-120"/>
              </a:rPr>
              <a:t>Sí</a:t>
            </a:r>
            <a:endParaRPr lang="en-US" sz="1100" dirty="0"/>
          </a:p>
        </p:txBody>
      </p:sp>
      <p:sp>
        <p:nvSpPr>
          <p:cNvPr id="15" name="Shape 13"/>
          <p:cNvSpPr/>
          <p:nvPr/>
        </p:nvSpPr>
        <p:spPr>
          <a:xfrm>
            <a:off x="7324344" y="1234440"/>
            <a:ext cx="1362456" cy="960120"/>
          </a:xfrm>
          <a:prstGeom prst="roundRect">
            <a:avLst>
              <a:gd name="adj" fmla="val 7619"/>
            </a:avLst>
          </a:prstGeom>
          <a:solidFill>
            <a:srgbClr val="1F7F79"/>
          </a:solidFill>
          <a:ln w="12700">
            <a:solidFill>
              <a:srgbClr val="1F7F79"/>
            </a:solidFill>
            <a:prstDash val="solid"/>
          </a:ln>
        </p:spPr>
      </p:sp>
      <p:sp>
        <p:nvSpPr>
          <p:cNvPr id="16" name="Text 14"/>
          <p:cNvSpPr txBox="1"/>
          <p:nvPr/>
        </p:nvSpPr>
        <p:spPr>
          <a:xfrm>
            <a:off x="7397496" y="1234440"/>
            <a:ext cx="121615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Retirar GC y buscar remisión sostenida</a:t>
            </a:r>
            <a:endParaRPr lang="en-US" sz="1100" dirty="0"/>
          </a:p>
        </p:txBody>
      </p:sp>
      <p:sp>
        <p:nvSpPr>
          <p:cNvPr id="17" name="Shape 15"/>
          <p:cNvSpPr/>
          <p:nvPr/>
        </p:nvSpPr>
        <p:spPr>
          <a:xfrm>
            <a:off x="6163056" y="2212848"/>
            <a:ext cx="914" cy="393192"/>
          </a:xfrm>
          <a:prstGeom prst="line">
            <a:avLst/>
          </a:prstGeom>
          <a:noFill/>
          <a:ln w="25400">
            <a:solidFill>
              <a:srgbClr val="D9472F"/>
            </a:solidFill>
            <a:prstDash val="solid"/>
            <a:tailEnd type="triangle"/>
          </a:ln>
        </p:spPr>
      </p:sp>
      <p:sp>
        <p:nvSpPr>
          <p:cNvPr id="18" name="Text 16"/>
          <p:cNvSpPr txBox="1"/>
          <p:nvPr/>
        </p:nvSpPr>
        <p:spPr>
          <a:xfrm>
            <a:off x="6236208" y="2258568"/>
            <a:ext cx="411480" cy="274320"/>
          </a:xfrm>
          <a:prstGeom prst="rect">
            <a:avLst/>
          </a:prstGeom>
          <a:noFill/>
          <a:ln/>
        </p:spPr>
        <p:txBody>
          <a:bodyPr wrap="square" lIns="0" tIns="0" rIns="0" bIns="0" rtlCol="0" anchor="t"/>
          <a:lstStyle/>
          <a:p>
            <a:pPr indent="0" marL="0">
              <a:buNone/>
            </a:pPr>
            <a:r>
              <a:rPr lang="en-US" sz="1100" b="1" dirty="0">
                <a:solidFill>
                  <a:srgbClr val="D9472F"/>
                </a:solidFill>
                <a:latin typeface="Calibri" pitchFamily="34" charset="0"/>
                <a:ea typeface="Calibri" pitchFamily="34" charset="-122"/>
                <a:cs typeface="Calibri" pitchFamily="34" charset="-120"/>
              </a:rPr>
              <a:t>No</a:t>
            </a:r>
            <a:endParaRPr lang="en-US" sz="1100" dirty="0"/>
          </a:p>
        </p:txBody>
      </p:sp>
      <p:sp>
        <p:nvSpPr>
          <p:cNvPr id="19" name="Shape 17"/>
          <p:cNvSpPr/>
          <p:nvPr/>
        </p:nvSpPr>
        <p:spPr>
          <a:xfrm>
            <a:off x="4480560" y="2624328"/>
            <a:ext cx="3383280" cy="868680"/>
          </a:xfrm>
          <a:prstGeom prst="roundRect">
            <a:avLst>
              <a:gd name="adj" fmla="val 8421"/>
            </a:avLst>
          </a:prstGeom>
          <a:solidFill>
            <a:srgbClr val="D9472F"/>
          </a:solidFill>
          <a:ln w="12700">
            <a:solidFill>
              <a:srgbClr val="D9472F"/>
            </a:solidFill>
            <a:prstDash val="solid"/>
          </a:ln>
        </p:spPr>
      </p:sp>
      <p:sp>
        <p:nvSpPr>
          <p:cNvPr id="20" name="Text 18"/>
          <p:cNvSpPr txBox="1"/>
          <p:nvPr/>
        </p:nvSpPr>
        <p:spPr>
          <a:xfrm>
            <a:off x="4553712" y="2624328"/>
            <a:ext cx="3236976"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Optimizar dosis o cambiar de mecanismo (IL-1 ↔ IL-6); refractario: JAKi u otras opciones</a:t>
            </a:r>
            <a:endParaRPr lang="en-US" sz="1100" dirty="0"/>
          </a:p>
        </p:txBody>
      </p:sp>
      <p:sp>
        <p:nvSpPr>
          <p:cNvPr id="21" name="Shape 19"/>
          <p:cNvSpPr/>
          <p:nvPr/>
        </p:nvSpPr>
        <p:spPr>
          <a:xfrm>
            <a:off x="457200" y="2624328"/>
            <a:ext cx="3749040" cy="868680"/>
          </a:xfrm>
          <a:prstGeom prst="roundRect">
            <a:avLst>
              <a:gd name="adj" fmla="val 8421"/>
            </a:avLst>
          </a:prstGeom>
          <a:solidFill>
            <a:srgbClr val="FBE3DE"/>
          </a:solidFill>
          <a:ln w="12700">
            <a:solidFill>
              <a:srgbClr val="FBE3DE"/>
            </a:solidFill>
            <a:prstDash val="solid"/>
          </a:ln>
        </p:spPr>
      </p:sp>
      <p:sp>
        <p:nvSpPr>
          <p:cNvPr id="22" name="Text 20"/>
          <p:cNvSpPr txBox="1"/>
          <p:nvPr/>
        </p:nvSpPr>
        <p:spPr>
          <a:xfrm>
            <a:off x="530352" y="2624328"/>
            <a:ext cx="3602736" cy="868680"/>
          </a:xfrm>
          <a:prstGeom prst="rect">
            <a:avLst/>
          </a:prstGeom>
          <a:noFill/>
          <a:ln/>
        </p:spPr>
        <p:txBody>
          <a:bodyPr wrap="square" lIns="0" tIns="0" rIns="0" bIns="0" rtlCol="0" anchor="ctr"/>
          <a:lstStyle/>
          <a:p>
            <a:pPr algn="ctr" indent="0" marL="0">
              <a:buNone/>
            </a:pPr>
            <a:r>
              <a:rPr lang="en-US" sz="1100" b="1" dirty="0">
                <a:solidFill>
                  <a:srgbClr val="2A1433"/>
                </a:solidFill>
                <a:latin typeface="Calibri" pitchFamily="34" charset="0"/>
                <a:ea typeface="Calibri" pitchFamily="34" charset="-122"/>
                <a:cs typeface="Calibri" pitchFamily="34" charset="-120"/>
              </a:rPr>
              <a:t>En cualquier momento: sospecha de SAM → GC a dosis altas + anakinra/ciclosporina; emapalumab si no responde</a:t>
            </a:r>
            <a:endParaRPr lang="en-US" sz="1100" dirty="0"/>
          </a:p>
        </p:txBody>
      </p:sp>
      <p:sp>
        <p:nvSpPr>
          <p:cNvPr id="23" name="Shape 21"/>
          <p:cNvSpPr/>
          <p:nvPr/>
        </p:nvSpPr>
        <p:spPr>
          <a:xfrm>
            <a:off x="457200" y="3703320"/>
            <a:ext cx="8229600" cy="960120"/>
          </a:xfrm>
          <a:prstGeom prst="roundRect">
            <a:avLst>
              <a:gd name="adj" fmla="val 7619"/>
            </a:avLst>
          </a:prstGeom>
          <a:solidFill>
            <a:srgbClr val="F7EEF1"/>
          </a:solidFill>
          <a:ln w="12700">
            <a:solidFill>
              <a:srgbClr val="F7EEF1"/>
            </a:solidFill>
            <a:prstDash val="solid"/>
          </a:ln>
        </p:spPr>
      </p:sp>
      <p:sp>
        <p:nvSpPr>
          <p:cNvPr id="24" name="Text 22"/>
          <p:cNvSpPr txBox="1"/>
          <p:nvPr/>
        </p:nvSpPr>
        <p:spPr>
          <a:xfrm>
            <a:off x="640080" y="3703320"/>
            <a:ext cx="7863840" cy="960120"/>
          </a:xfrm>
          <a:prstGeom prst="rect">
            <a:avLst/>
          </a:prstGeom>
          <a:noFill/>
          <a:ln/>
        </p:spPr>
        <p:txBody>
          <a:bodyPr wrap="square" lIns="0" tIns="0" rIns="0" bIns="0" rtlCol="0" anchor="ctr"/>
          <a:lstStyle/>
          <a:p>
            <a:pPr indent="0" marL="0">
              <a:buNone/>
            </a:pPr>
            <a:r>
              <a:rPr lang="en-US" sz="1200" b="1" dirty="0">
                <a:solidFill>
                  <a:srgbClr val="7A1F45"/>
                </a:solidFill>
                <a:latin typeface="Calibri" pitchFamily="34" charset="0"/>
                <a:ea typeface="Calibri" pitchFamily="34" charset="-122"/>
                <a:cs typeface="Calibri" pitchFamily="34" charset="-120"/>
              </a:rPr>
              <a:t>En todo el proceso: </a:t>
            </a:r>
            <a:pPr indent="0" marL="0">
              <a:buNone/>
            </a:pPr>
            <a:r>
              <a:rPr lang="en-US" sz="1200" dirty="0">
                <a:solidFill>
                  <a:srgbClr val="2B2330"/>
                </a:solidFill>
                <a:latin typeface="Calibri" pitchFamily="34" charset="0"/>
                <a:ea typeface="Calibri" pitchFamily="34" charset="-122"/>
                <a:cs typeface="Calibri" pitchFamily="34" charset="-120"/>
              </a:rPr>
              <a:t>ferritina seriada, vigilar infecciones, reacciones tipo DRESS y enfermedad pulmonar; vacunación y prevención de la toxicidad de los GC; decisiones compartidas con el paciente.</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Desescalamiento en remisión</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Fautrel B, et al. EULAR/PReS recommendations for Still's disease. Ann Rheum Dis. 2024;83:1614-27</a:t>
            </a:r>
            <a:endParaRPr lang="en-US" sz="850" dirty="0"/>
          </a:p>
        </p:txBody>
      </p:sp>
      <p:sp>
        <p:nvSpPr>
          <p:cNvPr id="5" name="Shape 3"/>
          <p:cNvSpPr/>
          <p:nvPr/>
        </p:nvSpPr>
        <p:spPr>
          <a:xfrm>
            <a:off x="1051560" y="1280160"/>
            <a:ext cx="685800" cy="685800"/>
          </a:xfrm>
          <a:prstGeom prst="ellipse">
            <a:avLst/>
          </a:prstGeom>
          <a:solidFill>
            <a:srgbClr val="1F7F79"/>
          </a:solidFill>
          <a:ln w="12700">
            <a:solidFill>
              <a:srgbClr val="1F7F79"/>
            </a:solidFill>
            <a:prstDash val="solid"/>
          </a:ln>
        </p:spPr>
      </p:sp>
      <p:pic>
        <p:nvPicPr>
          <p:cNvPr id="6" name="Image 0" descr="preencoded.png">    </p:cNvPr>
          <p:cNvPicPr>
            <a:picLocks noChangeAspect="1"/>
          </p:cNvPicPr>
          <p:nvPr/>
        </p:nvPicPr>
        <p:blipFill>
          <a:blip r:embed="rId1"/>
          <a:stretch>
            <a:fillRect/>
          </a:stretch>
        </p:blipFill>
        <p:spPr>
          <a:xfrm>
            <a:off x="1223010" y="1451610"/>
            <a:ext cx="342900" cy="342900"/>
          </a:xfrm>
          <a:prstGeom prst="rect">
            <a:avLst/>
          </a:prstGeom>
        </p:spPr>
      </p:pic>
      <p:sp>
        <p:nvSpPr>
          <p:cNvPr id="7" name="Shape 4"/>
          <p:cNvSpPr/>
          <p:nvPr/>
        </p:nvSpPr>
        <p:spPr>
          <a:xfrm>
            <a:off x="1828800" y="1618488"/>
            <a:ext cx="1234440" cy="914"/>
          </a:xfrm>
          <a:prstGeom prst="line">
            <a:avLst/>
          </a:prstGeom>
          <a:noFill/>
          <a:ln w="25400">
            <a:solidFill>
              <a:srgbClr val="D9CCD2"/>
            </a:solidFill>
            <a:prstDash val="solid"/>
            <a:tailEnd type="triangle"/>
          </a:ln>
        </p:spPr>
      </p:sp>
      <p:sp>
        <p:nvSpPr>
          <p:cNvPr id="8" name="Text 5"/>
          <p:cNvSpPr txBox="1"/>
          <p:nvPr/>
        </p:nvSpPr>
        <p:spPr>
          <a:xfrm>
            <a:off x="457200" y="2103120"/>
            <a:ext cx="1874520" cy="36576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Remisión</a:t>
            </a:r>
            <a:endParaRPr lang="en-US" sz="1400" dirty="0"/>
          </a:p>
        </p:txBody>
      </p:sp>
      <p:sp>
        <p:nvSpPr>
          <p:cNvPr id="9" name="Text 6"/>
          <p:cNvSpPr txBox="1"/>
          <p:nvPr/>
        </p:nvSpPr>
        <p:spPr>
          <a:xfrm>
            <a:off x="457200" y="2468880"/>
            <a:ext cx="1874520" cy="731520"/>
          </a:xfrm>
          <a:prstGeom prst="rect">
            <a:avLst/>
          </a:prstGeom>
          <a:noFill/>
          <a:ln/>
        </p:spPr>
        <p:txBody>
          <a:bodyPr wrap="square" lIns="0" tIns="0" rIns="0" bIns="0" rtlCol="0" anchor="t"/>
          <a:lstStyle/>
          <a:p>
            <a:pPr algn="ctr" indent="0" marL="0">
              <a:buNone/>
            </a:pPr>
            <a:r>
              <a:rPr lang="en-US" sz="1150" dirty="0">
                <a:solidFill>
                  <a:srgbClr val="6E6573"/>
                </a:solidFill>
                <a:latin typeface="Calibri" pitchFamily="34" charset="0"/>
                <a:ea typeface="Calibri" pitchFamily="34" charset="-122"/>
                <a:cs typeface="Calibri" pitchFamily="34" charset="-120"/>
              </a:rPr>
              <a:t>CID mantenida ≥ 6 meses</a:t>
            </a:r>
            <a:endParaRPr lang="en-US" sz="1150" dirty="0"/>
          </a:p>
        </p:txBody>
      </p:sp>
      <p:sp>
        <p:nvSpPr>
          <p:cNvPr id="10" name="Shape 7"/>
          <p:cNvSpPr/>
          <p:nvPr/>
        </p:nvSpPr>
        <p:spPr>
          <a:xfrm>
            <a:off x="3154680" y="1280160"/>
            <a:ext cx="685800" cy="685800"/>
          </a:xfrm>
          <a:prstGeom prst="ellipse">
            <a:avLst/>
          </a:prstGeom>
          <a:solidFill>
            <a:srgbClr val="7A1F45"/>
          </a:solidFill>
          <a:ln w="12700">
            <a:solidFill>
              <a:srgbClr val="7A1F45"/>
            </a:solidFill>
            <a:prstDash val="solid"/>
          </a:ln>
        </p:spPr>
      </p:sp>
      <p:pic>
        <p:nvPicPr>
          <p:cNvPr id="11" name="Image 1" descr="preencoded.png">    </p:cNvPr>
          <p:cNvPicPr>
            <a:picLocks noChangeAspect="1"/>
          </p:cNvPicPr>
          <p:nvPr/>
        </p:nvPicPr>
        <p:blipFill>
          <a:blip r:embed="rId2"/>
          <a:stretch>
            <a:fillRect/>
          </a:stretch>
        </p:blipFill>
        <p:spPr>
          <a:xfrm>
            <a:off x="3326130" y="1451610"/>
            <a:ext cx="342900" cy="342900"/>
          </a:xfrm>
          <a:prstGeom prst="rect">
            <a:avLst/>
          </a:prstGeom>
        </p:spPr>
      </p:pic>
      <p:sp>
        <p:nvSpPr>
          <p:cNvPr id="12" name="Shape 8"/>
          <p:cNvSpPr/>
          <p:nvPr/>
        </p:nvSpPr>
        <p:spPr>
          <a:xfrm>
            <a:off x="3931920" y="1618488"/>
            <a:ext cx="1234440" cy="914"/>
          </a:xfrm>
          <a:prstGeom prst="line">
            <a:avLst/>
          </a:prstGeom>
          <a:noFill/>
          <a:ln w="25400">
            <a:solidFill>
              <a:srgbClr val="D9CCD2"/>
            </a:solidFill>
            <a:prstDash val="solid"/>
            <a:tailEnd type="triangle"/>
          </a:ln>
        </p:spPr>
      </p:sp>
      <p:sp>
        <p:nvSpPr>
          <p:cNvPr id="13" name="Text 9"/>
          <p:cNvSpPr txBox="1"/>
          <p:nvPr/>
        </p:nvSpPr>
        <p:spPr>
          <a:xfrm>
            <a:off x="2560320" y="2103120"/>
            <a:ext cx="1874520" cy="36576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Primero, los GC</a:t>
            </a:r>
            <a:endParaRPr lang="en-US" sz="1400" dirty="0"/>
          </a:p>
        </p:txBody>
      </p:sp>
      <p:sp>
        <p:nvSpPr>
          <p:cNvPr id="14" name="Text 10"/>
          <p:cNvSpPr txBox="1"/>
          <p:nvPr/>
        </p:nvSpPr>
        <p:spPr>
          <a:xfrm>
            <a:off x="2560320" y="2468880"/>
            <a:ext cx="1874520" cy="731520"/>
          </a:xfrm>
          <a:prstGeom prst="rect">
            <a:avLst/>
          </a:prstGeom>
          <a:noFill/>
          <a:ln/>
        </p:spPr>
        <p:txBody>
          <a:bodyPr wrap="square" lIns="0" tIns="0" rIns="0" bIns="0" rtlCol="0" anchor="t"/>
          <a:lstStyle/>
          <a:p>
            <a:pPr algn="ctr" indent="0" marL="0">
              <a:buNone/>
            </a:pPr>
            <a:r>
              <a:rPr lang="en-US" sz="1150" dirty="0">
                <a:solidFill>
                  <a:srgbClr val="6E6573"/>
                </a:solidFill>
                <a:latin typeface="Calibri" pitchFamily="34" charset="0"/>
                <a:ea typeface="Calibri" pitchFamily="34" charset="-122"/>
                <a:cs typeface="Calibri" pitchFamily="34" charset="-120"/>
              </a:rPr>
              <a:t>Suspender por completo los glucocorticoides</a:t>
            </a:r>
            <a:endParaRPr lang="en-US" sz="1150" dirty="0"/>
          </a:p>
        </p:txBody>
      </p:sp>
      <p:sp>
        <p:nvSpPr>
          <p:cNvPr id="15" name="Shape 11"/>
          <p:cNvSpPr/>
          <p:nvPr/>
        </p:nvSpPr>
        <p:spPr>
          <a:xfrm>
            <a:off x="5257800" y="1280160"/>
            <a:ext cx="685800" cy="685800"/>
          </a:xfrm>
          <a:prstGeom prst="ellipse">
            <a:avLst/>
          </a:prstGeom>
          <a:solidFill>
            <a:srgbClr val="7A1F45"/>
          </a:solidFill>
          <a:ln w="12700">
            <a:solidFill>
              <a:srgbClr val="7A1F45"/>
            </a:solidFill>
            <a:prstDash val="solid"/>
          </a:ln>
        </p:spPr>
      </p:sp>
      <p:pic>
        <p:nvPicPr>
          <p:cNvPr id="16" name="Image 2" descr="preencoded.png">    </p:cNvPr>
          <p:cNvPicPr>
            <a:picLocks noChangeAspect="1"/>
          </p:cNvPicPr>
          <p:nvPr/>
        </p:nvPicPr>
        <p:blipFill>
          <a:blip r:embed="rId3"/>
          <a:stretch>
            <a:fillRect/>
          </a:stretch>
        </p:blipFill>
        <p:spPr>
          <a:xfrm>
            <a:off x="5429250" y="1451610"/>
            <a:ext cx="342900" cy="342900"/>
          </a:xfrm>
          <a:prstGeom prst="rect">
            <a:avLst/>
          </a:prstGeom>
        </p:spPr>
      </p:pic>
      <p:sp>
        <p:nvSpPr>
          <p:cNvPr id="17" name="Shape 12"/>
          <p:cNvSpPr/>
          <p:nvPr/>
        </p:nvSpPr>
        <p:spPr>
          <a:xfrm>
            <a:off x="6035040" y="1618488"/>
            <a:ext cx="1234440" cy="914"/>
          </a:xfrm>
          <a:prstGeom prst="line">
            <a:avLst/>
          </a:prstGeom>
          <a:noFill/>
          <a:ln w="25400">
            <a:solidFill>
              <a:srgbClr val="D9CCD2"/>
            </a:solidFill>
            <a:prstDash val="solid"/>
            <a:tailEnd type="triangle"/>
          </a:ln>
        </p:spPr>
      </p:sp>
      <p:sp>
        <p:nvSpPr>
          <p:cNvPr id="18" name="Text 13"/>
          <p:cNvSpPr txBox="1"/>
          <p:nvPr/>
        </p:nvSpPr>
        <p:spPr>
          <a:xfrm>
            <a:off x="4663440" y="2103120"/>
            <a:ext cx="1874520" cy="36576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Luego, el biológico</a:t>
            </a:r>
            <a:endParaRPr lang="en-US" sz="1400" dirty="0"/>
          </a:p>
        </p:txBody>
      </p:sp>
      <p:sp>
        <p:nvSpPr>
          <p:cNvPr id="19" name="Text 14"/>
          <p:cNvSpPr txBox="1"/>
          <p:nvPr/>
        </p:nvSpPr>
        <p:spPr>
          <a:xfrm>
            <a:off x="4663440" y="2468880"/>
            <a:ext cx="1874520" cy="731520"/>
          </a:xfrm>
          <a:prstGeom prst="rect">
            <a:avLst/>
          </a:prstGeom>
          <a:noFill/>
          <a:ln/>
        </p:spPr>
        <p:txBody>
          <a:bodyPr wrap="square" lIns="0" tIns="0" rIns="0" bIns="0" rtlCol="0" anchor="t"/>
          <a:lstStyle/>
          <a:p>
            <a:pPr algn="ctr" indent="0" marL="0">
              <a:buNone/>
            </a:pPr>
            <a:r>
              <a:rPr lang="en-US" sz="1150" dirty="0">
                <a:solidFill>
                  <a:srgbClr val="6E6573"/>
                </a:solidFill>
                <a:latin typeface="Calibri" pitchFamily="34" charset="0"/>
                <a:ea typeface="Calibri" pitchFamily="34" charset="-122"/>
                <a:cs typeface="Calibri" pitchFamily="34" charset="-120"/>
              </a:rPr>
              <a:t>Reducir dosis o espaciar intervalos de forma gradual</a:t>
            </a:r>
            <a:endParaRPr lang="en-US" sz="1150" dirty="0"/>
          </a:p>
        </p:txBody>
      </p:sp>
      <p:sp>
        <p:nvSpPr>
          <p:cNvPr id="20" name="Shape 15"/>
          <p:cNvSpPr/>
          <p:nvPr/>
        </p:nvSpPr>
        <p:spPr>
          <a:xfrm>
            <a:off x="7360920" y="1280160"/>
            <a:ext cx="685800" cy="685800"/>
          </a:xfrm>
          <a:prstGeom prst="ellipse">
            <a:avLst/>
          </a:prstGeom>
          <a:solidFill>
            <a:srgbClr val="D9472F"/>
          </a:solidFill>
          <a:ln w="12700">
            <a:solidFill>
              <a:srgbClr val="D9472F"/>
            </a:solidFill>
            <a:prstDash val="solid"/>
          </a:ln>
        </p:spPr>
      </p:sp>
      <p:pic>
        <p:nvPicPr>
          <p:cNvPr id="21" name="Image 3" descr="preencoded.png">    </p:cNvPr>
          <p:cNvPicPr>
            <a:picLocks noChangeAspect="1"/>
          </p:cNvPicPr>
          <p:nvPr/>
        </p:nvPicPr>
        <p:blipFill>
          <a:blip r:embed="rId4"/>
          <a:stretch>
            <a:fillRect/>
          </a:stretch>
        </p:blipFill>
        <p:spPr>
          <a:xfrm>
            <a:off x="7532370" y="1451610"/>
            <a:ext cx="342900" cy="342900"/>
          </a:xfrm>
          <a:prstGeom prst="rect">
            <a:avLst/>
          </a:prstGeom>
        </p:spPr>
      </p:pic>
      <p:sp>
        <p:nvSpPr>
          <p:cNvPr id="22" name="Text 16"/>
          <p:cNvSpPr txBox="1"/>
          <p:nvPr/>
        </p:nvSpPr>
        <p:spPr>
          <a:xfrm>
            <a:off x="6766560" y="2103120"/>
            <a:ext cx="1874520" cy="36576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Vigilancia</a:t>
            </a:r>
            <a:endParaRPr lang="en-US" sz="1400" dirty="0"/>
          </a:p>
        </p:txBody>
      </p:sp>
      <p:sp>
        <p:nvSpPr>
          <p:cNvPr id="23" name="Text 17"/>
          <p:cNvSpPr txBox="1"/>
          <p:nvPr/>
        </p:nvSpPr>
        <p:spPr>
          <a:xfrm>
            <a:off x="6766560" y="2468880"/>
            <a:ext cx="1874520" cy="731520"/>
          </a:xfrm>
          <a:prstGeom prst="rect">
            <a:avLst/>
          </a:prstGeom>
          <a:noFill/>
          <a:ln/>
        </p:spPr>
        <p:txBody>
          <a:bodyPr wrap="square" lIns="0" tIns="0" rIns="0" bIns="0" rtlCol="0" anchor="t"/>
          <a:lstStyle/>
          <a:p>
            <a:pPr algn="ctr" indent="0" marL="0">
              <a:buNone/>
            </a:pPr>
            <a:r>
              <a:rPr lang="en-US" sz="1150" dirty="0">
                <a:solidFill>
                  <a:srgbClr val="6E6573"/>
                </a:solidFill>
                <a:latin typeface="Calibri" pitchFamily="34" charset="0"/>
                <a:ea typeface="Calibri" pitchFamily="34" charset="-122"/>
                <a:cs typeface="Calibri" pitchFamily="34" charset="-120"/>
              </a:rPr>
              <a:t>Detectar brotes pronto; retomar la dosis eficaz si reaparece la actividad</a:t>
            </a:r>
            <a:endParaRPr lang="en-US" sz="1150" dirty="0"/>
          </a:p>
        </p:txBody>
      </p:sp>
      <p:sp>
        <p:nvSpPr>
          <p:cNvPr id="24" name="Shape 18"/>
          <p:cNvSpPr/>
          <p:nvPr/>
        </p:nvSpPr>
        <p:spPr>
          <a:xfrm>
            <a:off x="457200" y="3383280"/>
            <a:ext cx="8229600" cy="1280160"/>
          </a:xfrm>
          <a:prstGeom prst="roundRect">
            <a:avLst>
              <a:gd name="adj" fmla="val 5714"/>
            </a:avLst>
          </a:prstGeom>
          <a:solidFill>
            <a:srgbClr val="F7EEF1"/>
          </a:solidFill>
          <a:ln w="12700">
            <a:solidFill>
              <a:srgbClr val="F7EEF1"/>
            </a:solidFill>
            <a:prstDash val="solid"/>
          </a:ln>
        </p:spPr>
      </p:sp>
      <p:sp>
        <p:nvSpPr>
          <p:cNvPr id="25" name="Text 19"/>
          <p:cNvSpPr txBox="1"/>
          <p:nvPr/>
        </p:nvSpPr>
        <p:spPr>
          <a:xfrm>
            <a:off x="640080" y="3429000"/>
            <a:ext cx="7863840" cy="1188720"/>
          </a:xfrm>
          <a:prstGeom prst="rect">
            <a:avLst/>
          </a:prstGeom>
          <a:noFill/>
          <a:ln/>
        </p:spPr>
        <p:txBody>
          <a:bodyPr wrap="square" lIns="0" tIns="0" rIns="0" bIns="0" rtlCol="0" anchor="ctr"/>
          <a:lstStyle/>
          <a:p>
            <a:pPr indent="0" marL="0">
              <a:buNone/>
            </a:pPr>
            <a:r>
              <a:rPr lang="en-US" sz="1200" b="1" dirty="0">
                <a:solidFill>
                  <a:srgbClr val="7A1F45"/>
                </a:solidFill>
                <a:latin typeface="Calibri" pitchFamily="34" charset="0"/>
                <a:ea typeface="Calibri" pitchFamily="34" charset="-122"/>
                <a:cs typeface="Calibri" pitchFamily="34" charset="-120"/>
              </a:rPr>
              <a:t>Evidencia: </a:t>
            </a:r>
            <a:pPr indent="0" marL="0">
              <a:buNone/>
            </a:pPr>
            <a:r>
              <a:rPr lang="en-US" sz="1200" dirty="0">
                <a:solidFill>
                  <a:srgbClr val="2B2330"/>
                </a:solidFill>
                <a:latin typeface="Calibri" pitchFamily="34" charset="0"/>
                <a:ea typeface="Calibri" pitchFamily="34" charset="-122"/>
                <a:cs typeface="Calibri" pitchFamily="34" charset="-120"/>
              </a:rPr>
              <a:t>la retirada de canakinumab en el ensayo 2 de Ruperto aumentó los brotes (sin brote 25 % con placebo vs 74 % al continuar), y TENDER exploró un esquema de reducción y retirada de tocilizumab en enfermedad inactiva. Retirar solo tras remisión sostenida y de forma progresiva.</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PRONÓSTICO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Tres patrones evolutivos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Gerfaud-Valentin M, et al. Autoimmun Rev. 2014 · Cush JJ, et al. Arthritis Rheum. 1987 · Arthritis Res Ther. 2021</a:t>
            </a:r>
            <a:endParaRPr lang="en-US" sz="850" dirty="0"/>
          </a:p>
        </p:txBody>
      </p:sp>
      <p:graphicFrame>
        <p:nvGraphicFramePr>
          <p:cNvPr id="5" name="Chart 0" descr=""/>
          <p:cNvGraphicFramePr/>
          <p:nvPr/>
        </p:nvGraphicFramePr>
        <p:xfrm>
          <a:off x="365760" y="1188720"/>
          <a:ext cx="301752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3657600" y="1234440"/>
            <a:ext cx="5029200" cy="749808"/>
          </a:xfrm>
          <a:prstGeom prst="roundRect">
            <a:avLst>
              <a:gd name="adj" fmla="val 9756"/>
            </a:avLst>
          </a:prstGeom>
          <a:solidFill>
            <a:srgbClr val="F7EEF1"/>
          </a:solidFill>
          <a:ln w="12700">
            <a:solidFill>
              <a:srgbClr val="F7EEF1"/>
            </a:solidFill>
            <a:prstDash val="solid"/>
          </a:ln>
        </p:spPr>
      </p:sp>
      <p:sp>
        <p:nvSpPr>
          <p:cNvPr id="7" name="Text 4"/>
          <p:cNvSpPr txBox="1"/>
          <p:nvPr/>
        </p:nvSpPr>
        <p:spPr>
          <a:xfrm>
            <a:off x="3794760" y="1280160"/>
            <a:ext cx="4754880" cy="274320"/>
          </a:xfrm>
          <a:prstGeom prst="rect">
            <a:avLst/>
          </a:prstGeom>
          <a:noFill/>
          <a:ln/>
        </p:spPr>
        <p:txBody>
          <a:bodyPr wrap="square" lIns="0" tIns="0" rIns="0" bIns="0" rtlCol="0" anchor="t"/>
          <a:lstStyle/>
          <a:p>
            <a:pPr indent="0" marL="0">
              <a:buNone/>
            </a:pPr>
            <a:r>
              <a:rPr lang="en-US" sz="1300" b="1" dirty="0">
                <a:solidFill>
                  <a:srgbClr val="1F7F79"/>
                </a:solidFill>
                <a:latin typeface="Calibri" pitchFamily="34" charset="0"/>
                <a:ea typeface="Calibri" pitchFamily="34" charset="-122"/>
                <a:cs typeface="Calibri" pitchFamily="34" charset="-120"/>
              </a:rPr>
              <a:t>Monocíclico (~30 %)</a:t>
            </a:r>
            <a:endParaRPr lang="en-US" sz="1300" dirty="0"/>
          </a:p>
        </p:txBody>
      </p:sp>
      <p:sp>
        <p:nvSpPr>
          <p:cNvPr id="8" name="Text 5"/>
          <p:cNvSpPr txBox="1"/>
          <p:nvPr/>
        </p:nvSpPr>
        <p:spPr>
          <a:xfrm>
            <a:off x="3794760" y="1554480"/>
            <a:ext cx="4800600" cy="41148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Un episodio sistémico autolimitado (mediana ~9 meses); la mayoría asintomáticos al año.</a:t>
            </a:r>
            <a:endParaRPr lang="en-US" sz="1100" dirty="0"/>
          </a:p>
        </p:txBody>
      </p:sp>
      <p:sp>
        <p:nvSpPr>
          <p:cNvPr id="9" name="Shape 6"/>
          <p:cNvSpPr/>
          <p:nvPr/>
        </p:nvSpPr>
        <p:spPr>
          <a:xfrm>
            <a:off x="3657600" y="2103120"/>
            <a:ext cx="5029200" cy="749808"/>
          </a:xfrm>
          <a:prstGeom prst="roundRect">
            <a:avLst>
              <a:gd name="adj" fmla="val 9756"/>
            </a:avLst>
          </a:prstGeom>
          <a:solidFill>
            <a:srgbClr val="F7EEF1"/>
          </a:solidFill>
          <a:ln w="12700">
            <a:solidFill>
              <a:srgbClr val="F7EEF1"/>
            </a:solidFill>
            <a:prstDash val="solid"/>
          </a:ln>
        </p:spPr>
      </p:sp>
      <p:sp>
        <p:nvSpPr>
          <p:cNvPr id="10" name="Text 7"/>
          <p:cNvSpPr txBox="1"/>
          <p:nvPr/>
        </p:nvSpPr>
        <p:spPr>
          <a:xfrm>
            <a:off x="3794760" y="2148840"/>
            <a:ext cx="4754880" cy="274320"/>
          </a:xfrm>
          <a:prstGeom prst="rect">
            <a:avLst/>
          </a:prstGeom>
          <a:noFill/>
          <a:ln/>
        </p:spPr>
        <p:txBody>
          <a:bodyPr wrap="square" lIns="0" tIns="0" rIns="0" bIns="0" rtlCol="0" anchor="t"/>
          <a:lstStyle/>
          <a:p>
            <a:pPr indent="0" marL="0">
              <a:buNone/>
            </a:pPr>
            <a:r>
              <a:rPr lang="en-US" sz="1300" b="1" dirty="0">
                <a:solidFill>
                  <a:srgbClr val="A2456A"/>
                </a:solidFill>
                <a:latin typeface="Calibri" pitchFamily="34" charset="0"/>
                <a:ea typeface="Calibri" pitchFamily="34" charset="-122"/>
                <a:cs typeface="Calibri" pitchFamily="34" charset="-120"/>
              </a:rPr>
              <a:t>Policíclico (~30 %)</a:t>
            </a:r>
            <a:endParaRPr lang="en-US" sz="1300" dirty="0"/>
          </a:p>
        </p:txBody>
      </p:sp>
      <p:sp>
        <p:nvSpPr>
          <p:cNvPr id="11" name="Text 8"/>
          <p:cNvSpPr txBox="1"/>
          <p:nvPr/>
        </p:nvSpPr>
        <p:spPr>
          <a:xfrm>
            <a:off x="3794760" y="2423160"/>
            <a:ext cx="4800600" cy="41148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Brotes sistémicos recurrentes con remisión entre ellos.</a:t>
            </a:r>
            <a:endParaRPr lang="en-US" sz="1100" dirty="0"/>
          </a:p>
        </p:txBody>
      </p:sp>
      <p:sp>
        <p:nvSpPr>
          <p:cNvPr id="12" name="Shape 9"/>
          <p:cNvSpPr/>
          <p:nvPr/>
        </p:nvSpPr>
        <p:spPr>
          <a:xfrm>
            <a:off x="3657600" y="2971800"/>
            <a:ext cx="5029200" cy="749808"/>
          </a:xfrm>
          <a:prstGeom prst="roundRect">
            <a:avLst>
              <a:gd name="adj" fmla="val 9756"/>
            </a:avLst>
          </a:prstGeom>
          <a:solidFill>
            <a:srgbClr val="F7EEF1"/>
          </a:solidFill>
          <a:ln w="12700">
            <a:solidFill>
              <a:srgbClr val="F7EEF1"/>
            </a:solidFill>
            <a:prstDash val="solid"/>
          </a:ln>
        </p:spPr>
      </p:sp>
      <p:sp>
        <p:nvSpPr>
          <p:cNvPr id="13" name="Text 10"/>
          <p:cNvSpPr txBox="1"/>
          <p:nvPr/>
        </p:nvSpPr>
        <p:spPr>
          <a:xfrm>
            <a:off x="3794760" y="3017520"/>
            <a:ext cx="4754880" cy="274320"/>
          </a:xfrm>
          <a:prstGeom prst="rect">
            <a:avLst/>
          </a:prstGeom>
          <a:noFill/>
          <a:ln/>
        </p:spPr>
        <p:txBody>
          <a:bodyPr wrap="square" lIns="0" tIns="0" rIns="0" bIns="0" rtlCol="0" anchor="t"/>
          <a:lstStyle/>
          <a:p>
            <a:pPr indent="0" marL="0">
              <a:buNone/>
            </a:pPr>
            <a:r>
              <a:rPr lang="en-US" sz="1300" b="1" dirty="0">
                <a:solidFill>
                  <a:srgbClr val="D9472F"/>
                </a:solidFill>
                <a:latin typeface="Calibri" pitchFamily="34" charset="0"/>
                <a:ea typeface="Calibri" pitchFamily="34" charset="-122"/>
                <a:cs typeface="Calibri" pitchFamily="34" charset="-120"/>
              </a:rPr>
              <a:t>Crónico (~40 %)</a:t>
            </a:r>
            <a:endParaRPr lang="en-US" sz="1300" dirty="0"/>
          </a:p>
        </p:txBody>
      </p:sp>
      <p:sp>
        <p:nvSpPr>
          <p:cNvPr id="14" name="Text 11"/>
          <p:cNvSpPr txBox="1"/>
          <p:nvPr/>
        </p:nvSpPr>
        <p:spPr>
          <a:xfrm>
            <a:off x="3794760" y="3291840"/>
            <a:ext cx="4800600" cy="41148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Actividad persistente con poliartritis; peor pronóstico funcional: 27 % llega a clase funcional III.</a:t>
            </a:r>
            <a:endParaRPr lang="en-US" sz="1100" dirty="0"/>
          </a:p>
        </p:txBody>
      </p:sp>
      <p:sp>
        <p:nvSpPr>
          <p:cNvPr id="15" name="Shape 12"/>
          <p:cNvSpPr/>
          <p:nvPr/>
        </p:nvSpPr>
        <p:spPr>
          <a:xfrm>
            <a:off x="3657600" y="3886200"/>
            <a:ext cx="5029200" cy="777240"/>
          </a:xfrm>
          <a:prstGeom prst="roundRect">
            <a:avLst>
              <a:gd name="adj" fmla="val 9412"/>
            </a:avLst>
          </a:prstGeom>
          <a:solidFill>
            <a:srgbClr val="E9F3F2"/>
          </a:solidFill>
          <a:ln w="12700">
            <a:solidFill>
              <a:srgbClr val="E9F3F2"/>
            </a:solidFill>
            <a:prstDash val="solid"/>
          </a:ln>
        </p:spPr>
      </p:sp>
      <p:sp>
        <p:nvSpPr>
          <p:cNvPr id="16" name="Text 13"/>
          <p:cNvSpPr txBox="1"/>
          <p:nvPr/>
        </p:nvSpPr>
        <p:spPr>
          <a:xfrm>
            <a:off x="3794760" y="3886200"/>
            <a:ext cx="4800600" cy="777240"/>
          </a:xfrm>
          <a:prstGeom prst="rect">
            <a:avLst/>
          </a:prstGeom>
          <a:noFill/>
          <a:ln/>
        </p:spPr>
        <p:txBody>
          <a:bodyPr wrap="square" lIns="0" tIns="0" rIns="0" bIns="0" rtlCol="0" anchor="ctr"/>
          <a:lstStyle/>
          <a:p>
            <a:pPr indent="0" marL="0">
              <a:buNone/>
            </a:pPr>
            <a:r>
              <a:rPr lang="en-US" sz="1100" b="1" dirty="0">
                <a:solidFill>
                  <a:srgbClr val="1F7F79"/>
                </a:solidFill>
                <a:latin typeface="Calibri" pitchFamily="34" charset="0"/>
                <a:ea typeface="Calibri" pitchFamily="34" charset="-122"/>
                <a:cs typeface="Calibri" pitchFamily="34" charset="-120"/>
              </a:rPr>
              <a:t>Supervivencia en una cohorte grande: </a:t>
            </a:r>
            <a:pPr indent="0" marL="0">
              <a:buNone/>
            </a:pPr>
            <a:r>
              <a:rPr lang="en-US" sz="1100" dirty="0">
                <a:solidFill>
                  <a:srgbClr val="2B2330"/>
                </a:solidFill>
                <a:latin typeface="Calibri" pitchFamily="34" charset="0"/>
                <a:ea typeface="Calibri" pitchFamily="34" charset="-122"/>
                <a:cs typeface="Calibri" pitchFamily="34" charset="-120"/>
              </a:rPr>
              <a:t>92,4 % a 5 años y 86,9 % a 10 años. Predicen curso crónico: poliartritis al inicio y afectación de articulaciones proximales.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PERSPECTIVAS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Vacíos de evidencia y líneas futuras</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EULAR/PReS 2024 · EULAR points to consider (EULAR Rheumatol Open. 2025)</a:t>
            </a:r>
            <a:endParaRPr lang="en-US" sz="850" dirty="0"/>
          </a:p>
        </p:txBody>
      </p:sp>
      <p:sp>
        <p:nvSpPr>
          <p:cNvPr id="5" name="Shape 3"/>
          <p:cNvSpPr/>
          <p:nvPr/>
        </p:nvSpPr>
        <p:spPr>
          <a:xfrm>
            <a:off x="457200" y="1261872"/>
            <a:ext cx="548640" cy="548640"/>
          </a:xfrm>
          <a:prstGeom prst="ellipse">
            <a:avLst/>
          </a:prstGeom>
          <a:solidFill>
            <a:srgbClr val="7A1F45"/>
          </a:solidFill>
          <a:ln w="12700">
            <a:solidFill>
              <a:srgbClr val="7A1F45"/>
            </a:solidFill>
            <a:prstDash val="solid"/>
          </a:ln>
        </p:spPr>
      </p:sp>
      <p:pic>
        <p:nvPicPr>
          <p:cNvPr id="6" name="Image 0" descr="preencoded.png">    </p:cNvPr>
          <p:cNvPicPr>
            <a:picLocks noChangeAspect="1"/>
          </p:cNvPicPr>
          <p:nvPr/>
        </p:nvPicPr>
        <p:blipFill>
          <a:blip r:embed="rId1"/>
          <a:stretch>
            <a:fillRect/>
          </a:stretch>
        </p:blipFill>
        <p:spPr>
          <a:xfrm>
            <a:off x="594360" y="1399032"/>
            <a:ext cx="274320" cy="274320"/>
          </a:xfrm>
          <a:prstGeom prst="rect">
            <a:avLst/>
          </a:prstGeom>
        </p:spPr>
      </p:pic>
      <p:sp>
        <p:nvSpPr>
          <p:cNvPr id="7" name="Text 4"/>
          <p:cNvSpPr txBox="1"/>
          <p:nvPr/>
        </p:nvSpPr>
        <p:spPr>
          <a:xfrm>
            <a:off x="1143000" y="1188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Biomarcadores</a:t>
            </a:r>
            <a:endParaRPr lang="en-US" sz="1350" dirty="0"/>
          </a:p>
        </p:txBody>
      </p:sp>
      <p:sp>
        <p:nvSpPr>
          <p:cNvPr id="8" name="Text 5"/>
          <p:cNvSpPr txBox="1"/>
          <p:nvPr/>
        </p:nvSpPr>
        <p:spPr>
          <a:xfrm>
            <a:off x="1143000" y="1499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Faltan umbrales validados de IL-18, S100 y ferritina glicosilada para diagnóstico y seguimiento.</a:t>
            </a:r>
            <a:endParaRPr lang="en-US" sz="1150" dirty="0"/>
          </a:p>
        </p:txBody>
      </p:sp>
      <p:sp>
        <p:nvSpPr>
          <p:cNvPr id="9" name="Shape 6"/>
          <p:cNvSpPr/>
          <p:nvPr/>
        </p:nvSpPr>
        <p:spPr>
          <a:xfrm>
            <a:off x="4663440" y="1261872"/>
            <a:ext cx="548640" cy="548640"/>
          </a:xfrm>
          <a:prstGeom prst="ellipse">
            <a:avLst/>
          </a:prstGeom>
          <a:solidFill>
            <a:srgbClr val="7A1F45"/>
          </a:solidFill>
          <a:ln w="12700">
            <a:solidFill>
              <a:srgbClr val="7A1F45"/>
            </a:solidFill>
            <a:prstDash val="solid"/>
          </a:ln>
        </p:spPr>
      </p:sp>
      <p:pic>
        <p:nvPicPr>
          <p:cNvPr id="10" name="Image 1" descr="preencoded.png">    </p:cNvPr>
          <p:cNvPicPr>
            <a:picLocks noChangeAspect="1"/>
          </p:cNvPicPr>
          <p:nvPr/>
        </p:nvPicPr>
        <p:blipFill>
          <a:blip r:embed="rId2"/>
          <a:stretch>
            <a:fillRect/>
          </a:stretch>
        </p:blipFill>
        <p:spPr>
          <a:xfrm>
            <a:off x="4800600" y="1399032"/>
            <a:ext cx="274320" cy="274320"/>
          </a:xfrm>
          <a:prstGeom prst="rect">
            <a:avLst/>
          </a:prstGeom>
        </p:spPr>
      </p:pic>
      <p:sp>
        <p:nvSpPr>
          <p:cNvPr id="11" name="Text 7"/>
          <p:cNvSpPr txBox="1"/>
          <p:nvPr/>
        </p:nvSpPr>
        <p:spPr>
          <a:xfrm>
            <a:off x="5349240" y="1188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Medir la actividad</a:t>
            </a:r>
            <a:endParaRPr lang="en-US" sz="1350" dirty="0"/>
          </a:p>
        </p:txBody>
      </p:sp>
      <p:sp>
        <p:nvSpPr>
          <p:cNvPr id="12" name="Text 8"/>
          <p:cNvSpPr txBox="1"/>
          <p:nvPr/>
        </p:nvSpPr>
        <p:spPr>
          <a:xfrm>
            <a:off x="5349240" y="1499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EULAR 2025 publicó "puntos a considerar" para desarrollar criterios de actividad en ESA.</a:t>
            </a:r>
            <a:endParaRPr lang="en-US" sz="1150" dirty="0"/>
          </a:p>
        </p:txBody>
      </p:sp>
      <p:sp>
        <p:nvSpPr>
          <p:cNvPr id="13" name="Shape 9"/>
          <p:cNvSpPr/>
          <p:nvPr/>
        </p:nvSpPr>
        <p:spPr>
          <a:xfrm>
            <a:off x="457200" y="2404872"/>
            <a:ext cx="548640" cy="548640"/>
          </a:xfrm>
          <a:prstGeom prst="ellipse">
            <a:avLst/>
          </a:prstGeom>
          <a:solidFill>
            <a:srgbClr val="7A1F45"/>
          </a:solidFill>
          <a:ln w="12700">
            <a:solidFill>
              <a:srgbClr val="7A1F45"/>
            </a:solidFill>
            <a:prstDash val="solid"/>
          </a:ln>
        </p:spPr>
      </p:sp>
      <p:pic>
        <p:nvPicPr>
          <p:cNvPr id="14" name="Image 2" descr="preencoded.png">    </p:cNvPr>
          <p:cNvPicPr>
            <a:picLocks noChangeAspect="1"/>
          </p:cNvPicPr>
          <p:nvPr/>
        </p:nvPicPr>
        <p:blipFill>
          <a:blip r:embed="rId3"/>
          <a:stretch>
            <a:fillRect/>
          </a:stretch>
        </p:blipFill>
        <p:spPr>
          <a:xfrm>
            <a:off x="594360" y="2542032"/>
            <a:ext cx="274320" cy="274320"/>
          </a:xfrm>
          <a:prstGeom prst="rect">
            <a:avLst/>
          </a:prstGeom>
        </p:spPr>
      </p:pic>
      <p:sp>
        <p:nvSpPr>
          <p:cNvPr id="15" name="Text 10"/>
          <p:cNvSpPr txBox="1"/>
          <p:nvPr/>
        </p:nvSpPr>
        <p:spPr>
          <a:xfrm>
            <a:off x="1143000" y="2331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Ensayos</a:t>
            </a:r>
            <a:endParaRPr lang="en-US" sz="1350" dirty="0"/>
          </a:p>
        </p:txBody>
      </p:sp>
      <p:sp>
        <p:nvSpPr>
          <p:cNvPr id="16" name="Text 11"/>
          <p:cNvSpPr txBox="1"/>
          <p:nvPr/>
        </p:nvSpPr>
        <p:spPr>
          <a:xfrm>
            <a:off x="1143000" y="2642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ECA pequeños; sin comparaciones directas IL-1 vs IL-6; se necesitan ECA de JAKi.</a:t>
            </a:r>
            <a:endParaRPr lang="en-US" sz="1150" dirty="0"/>
          </a:p>
        </p:txBody>
      </p:sp>
      <p:sp>
        <p:nvSpPr>
          <p:cNvPr id="17" name="Shape 12"/>
          <p:cNvSpPr/>
          <p:nvPr/>
        </p:nvSpPr>
        <p:spPr>
          <a:xfrm>
            <a:off x="4663440" y="2404872"/>
            <a:ext cx="548640" cy="548640"/>
          </a:xfrm>
          <a:prstGeom prst="ellipse">
            <a:avLst/>
          </a:prstGeom>
          <a:solidFill>
            <a:srgbClr val="7A1F45"/>
          </a:solidFill>
          <a:ln w="12700">
            <a:solidFill>
              <a:srgbClr val="7A1F45"/>
            </a:solidFill>
            <a:prstDash val="solid"/>
          </a:ln>
        </p:spPr>
      </p:sp>
      <p:pic>
        <p:nvPicPr>
          <p:cNvPr id="18" name="Image 3" descr="preencoded.png">    </p:cNvPr>
          <p:cNvPicPr>
            <a:picLocks noChangeAspect="1"/>
          </p:cNvPicPr>
          <p:nvPr/>
        </p:nvPicPr>
        <p:blipFill>
          <a:blip r:embed="rId4"/>
          <a:stretch>
            <a:fillRect/>
          </a:stretch>
        </p:blipFill>
        <p:spPr>
          <a:xfrm>
            <a:off x="4800600" y="2542032"/>
            <a:ext cx="274320" cy="274320"/>
          </a:xfrm>
          <a:prstGeom prst="rect">
            <a:avLst/>
          </a:prstGeom>
        </p:spPr>
      </p:pic>
      <p:sp>
        <p:nvSpPr>
          <p:cNvPr id="19" name="Text 13"/>
          <p:cNvSpPr txBox="1"/>
          <p:nvPr/>
        </p:nvSpPr>
        <p:spPr>
          <a:xfrm>
            <a:off x="5349240" y="2331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Pulmón y DRESS</a:t>
            </a:r>
            <a:endParaRPr lang="en-US" sz="1350" dirty="0"/>
          </a:p>
        </p:txBody>
      </p:sp>
      <p:sp>
        <p:nvSpPr>
          <p:cNvPr id="20" name="Text 14"/>
          <p:cNvSpPr txBox="1"/>
          <p:nvPr/>
        </p:nvSpPr>
        <p:spPr>
          <a:xfrm>
            <a:off x="5349240" y="2642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Entender la relación entre HLA-DRB1*15, fármacos y enfermedad pulmonar.</a:t>
            </a:r>
            <a:endParaRPr lang="en-US" sz="1150" dirty="0"/>
          </a:p>
        </p:txBody>
      </p:sp>
      <p:sp>
        <p:nvSpPr>
          <p:cNvPr id="21" name="Shape 15"/>
          <p:cNvSpPr/>
          <p:nvPr/>
        </p:nvSpPr>
        <p:spPr>
          <a:xfrm>
            <a:off x="457200" y="3547872"/>
            <a:ext cx="548640" cy="548640"/>
          </a:xfrm>
          <a:prstGeom prst="ellipse">
            <a:avLst/>
          </a:prstGeom>
          <a:solidFill>
            <a:srgbClr val="7A1F45"/>
          </a:solidFill>
          <a:ln w="12700">
            <a:solidFill>
              <a:srgbClr val="7A1F45"/>
            </a:solidFill>
            <a:prstDash val="solid"/>
          </a:ln>
        </p:spPr>
      </p:sp>
      <p:pic>
        <p:nvPicPr>
          <p:cNvPr id="22" name="Image 4" descr="preencoded.png">    </p:cNvPr>
          <p:cNvPicPr>
            <a:picLocks noChangeAspect="1"/>
          </p:cNvPicPr>
          <p:nvPr/>
        </p:nvPicPr>
        <p:blipFill>
          <a:blip r:embed="rId5"/>
          <a:stretch>
            <a:fillRect/>
          </a:stretch>
        </p:blipFill>
        <p:spPr>
          <a:xfrm>
            <a:off x="594360" y="3685032"/>
            <a:ext cx="274320" cy="274320"/>
          </a:xfrm>
          <a:prstGeom prst="rect">
            <a:avLst/>
          </a:prstGeom>
        </p:spPr>
      </p:pic>
      <p:sp>
        <p:nvSpPr>
          <p:cNvPr id="23" name="Text 16"/>
          <p:cNvSpPr txBox="1"/>
          <p:nvPr/>
        </p:nvSpPr>
        <p:spPr>
          <a:xfrm>
            <a:off x="1143000" y="3474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Nuevas dianas</a:t>
            </a:r>
            <a:endParaRPr lang="en-US" sz="1350" dirty="0"/>
          </a:p>
        </p:txBody>
      </p:sp>
      <p:sp>
        <p:nvSpPr>
          <p:cNvPr id="24" name="Text 17"/>
          <p:cNvSpPr txBox="1"/>
          <p:nvPr/>
        </p:nvSpPr>
        <p:spPr>
          <a:xfrm>
            <a:off x="1143000" y="3785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Inhibición de IL-18 y de la vía IFN-γ/JAK-STAT en enfermedad refractaria.</a:t>
            </a:r>
            <a:endParaRPr lang="en-US" sz="1150" dirty="0"/>
          </a:p>
        </p:txBody>
      </p:sp>
      <p:sp>
        <p:nvSpPr>
          <p:cNvPr id="25" name="Shape 18"/>
          <p:cNvSpPr/>
          <p:nvPr/>
        </p:nvSpPr>
        <p:spPr>
          <a:xfrm>
            <a:off x="4663440" y="3547872"/>
            <a:ext cx="548640" cy="548640"/>
          </a:xfrm>
          <a:prstGeom prst="ellipse">
            <a:avLst/>
          </a:prstGeom>
          <a:solidFill>
            <a:srgbClr val="1F7F79"/>
          </a:solidFill>
          <a:ln w="12700">
            <a:solidFill>
              <a:srgbClr val="1F7F79"/>
            </a:solidFill>
            <a:prstDash val="solid"/>
          </a:ln>
        </p:spPr>
      </p:sp>
      <p:pic>
        <p:nvPicPr>
          <p:cNvPr id="26" name="Image 5" descr="preencoded.png">    </p:cNvPr>
          <p:cNvPicPr>
            <a:picLocks noChangeAspect="1"/>
          </p:cNvPicPr>
          <p:nvPr/>
        </p:nvPicPr>
        <p:blipFill>
          <a:blip r:embed="rId6"/>
          <a:stretch>
            <a:fillRect/>
          </a:stretch>
        </p:blipFill>
        <p:spPr>
          <a:xfrm>
            <a:off x="4800600" y="3685032"/>
            <a:ext cx="274320" cy="274320"/>
          </a:xfrm>
          <a:prstGeom prst="rect">
            <a:avLst/>
          </a:prstGeom>
        </p:spPr>
      </p:pic>
      <p:sp>
        <p:nvSpPr>
          <p:cNvPr id="27" name="Text 19"/>
          <p:cNvSpPr txBox="1"/>
          <p:nvPr/>
        </p:nvSpPr>
        <p:spPr>
          <a:xfrm>
            <a:off x="5349240" y="3474720"/>
            <a:ext cx="3337560" cy="292608"/>
          </a:xfrm>
          <a:prstGeom prst="rect">
            <a:avLst/>
          </a:prstGeom>
          <a:noFill/>
          <a:ln/>
        </p:spPr>
        <p:txBody>
          <a:bodyPr wrap="square" lIns="0" tIns="0" rIns="0" bIns="0" rtlCol="0" anchor="t"/>
          <a:lstStyle/>
          <a:p>
            <a:pPr indent="0" marL="0">
              <a:buNone/>
            </a:pPr>
            <a:r>
              <a:rPr lang="en-US" sz="1350" b="1" dirty="0">
                <a:solidFill>
                  <a:srgbClr val="2A1433"/>
                </a:solidFill>
                <a:latin typeface="Calibri" pitchFamily="34" charset="0"/>
                <a:ea typeface="Calibri" pitchFamily="34" charset="-122"/>
                <a:cs typeface="Calibri" pitchFamily="34" charset="-120"/>
              </a:rPr>
              <a:t>Implementación</a:t>
            </a:r>
            <a:endParaRPr lang="en-US" sz="1350" dirty="0"/>
          </a:p>
        </p:txBody>
      </p:sp>
      <p:sp>
        <p:nvSpPr>
          <p:cNvPr id="28" name="Text 20"/>
          <p:cNvSpPr txBox="1"/>
          <p:nvPr/>
        </p:nvSpPr>
        <p:spPr>
          <a:xfrm>
            <a:off x="5349240" y="3785616"/>
            <a:ext cx="3383280" cy="64008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Llevar a la práctica el uso precoz de IL-1i/IL-6i y las metas por tiempos.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A1433"/>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t"/>
          <a:lstStyle/>
          <a:p>
            <a:pPr indent="0" marL="0">
              <a:buNone/>
            </a:pPr>
            <a:r>
              <a:rPr lang="en-US" sz="1200" b="1" spc="300" kern="0" dirty="0">
                <a:solidFill>
                  <a:srgbClr val="F2B8A8"/>
                </a:solidFill>
                <a:latin typeface="Calibri" pitchFamily="34" charset="0"/>
                <a:ea typeface="Calibri" pitchFamily="34" charset="-122"/>
                <a:cs typeface="Calibri" pitchFamily="34" charset="-120"/>
              </a:rPr>
              <a:t>CONCLUSIONES</a:t>
            </a:r>
            <a:endParaRPr lang="en-US" sz="1200" dirty="0"/>
          </a:p>
        </p:txBody>
      </p:sp>
      <p:sp>
        <p:nvSpPr>
          <p:cNvPr id="3" name="Text 1"/>
          <p:cNvSpPr txBox="1"/>
          <p:nvPr/>
        </p:nvSpPr>
        <p:spPr>
          <a:xfrm>
            <a:off x="548640" y="658368"/>
            <a:ext cx="804672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Mensajes para llevar a casa</a:t>
            </a:r>
            <a:endParaRPr lang="en-US" sz="3000" dirty="0"/>
          </a:p>
        </p:txBody>
      </p:sp>
      <p:sp>
        <p:nvSpPr>
          <p:cNvPr id="4" name="Shape 2"/>
          <p:cNvSpPr/>
          <p:nvPr/>
        </p:nvSpPr>
        <p:spPr>
          <a:xfrm>
            <a:off x="548640" y="1435608"/>
            <a:ext cx="438912" cy="438912"/>
          </a:xfrm>
          <a:prstGeom prst="ellipse">
            <a:avLst/>
          </a:prstGeom>
          <a:solidFill>
            <a:srgbClr val="7A1F45"/>
          </a:solidFill>
          <a:ln w="12700">
            <a:solidFill>
              <a:srgbClr val="7A1F45"/>
            </a:solidFill>
            <a:prstDash val="solid"/>
          </a:ln>
        </p:spPr>
      </p:sp>
      <p:sp>
        <p:nvSpPr>
          <p:cNvPr id="5" name="Text 3"/>
          <p:cNvSpPr txBox="1"/>
          <p:nvPr/>
        </p:nvSpPr>
        <p:spPr>
          <a:xfrm>
            <a:off x="548640" y="14356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88720" y="1371600"/>
            <a:ext cx="74980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AIJ sistémica y ESA son una sola enfermedad autoinflamatoria: la enfermedad de Still.</a:t>
            </a:r>
            <a:endParaRPr lang="en-US" sz="1400" dirty="0"/>
          </a:p>
        </p:txBody>
      </p:sp>
      <p:sp>
        <p:nvSpPr>
          <p:cNvPr id="7" name="Shape 5"/>
          <p:cNvSpPr/>
          <p:nvPr/>
        </p:nvSpPr>
        <p:spPr>
          <a:xfrm>
            <a:off x="548640" y="2112264"/>
            <a:ext cx="438912" cy="438912"/>
          </a:xfrm>
          <a:prstGeom prst="ellipse">
            <a:avLst/>
          </a:prstGeom>
          <a:solidFill>
            <a:srgbClr val="7A1F45"/>
          </a:solidFill>
          <a:ln w="12700">
            <a:solidFill>
              <a:srgbClr val="7A1F45"/>
            </a:solidFill>
            <a:prstDash val="solid"/>
          </a:ln>
        </p:spPr>
      </p:sp>
      <p:sp>
        <p:nvSpPr>
          <p:cNvPr id="8" name="Text 6"/>
          <p:cNvSpPr txBox="1"/>
          <p:nvPr/>
        </p:nvSpPr>
        <p:spPr>
          <a:xfrm>
            <a:off x="548640" y="211226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188720" y="2048256"/>
            <a:ext cx="74980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Sospecharla ante fiebre en picos ≥ 39 °C, exantema y neutrofilia con ferritina alta; la artritis no es necesaria.</a:t>
            </a:r>
            <a:endParaRPr lang="en-US" sz="1400" dirty="0"/>
          </a:p>
        </p:txBody>
      </p:sp>
      <p:sp>
        <p:nvSpPr>
          <p:cNvPr id="10" name="Shape 8"/>
          <p:cNvSpPr/>
          <p:nvPr/>
        </p:nvSpPr>
        <p:spPr>
          <a:xfrm>
            <a:off x="548640" y="2788920"/>
            <a:ext cx="438912" cy="438912"/>
          </a:xfrm>
          <a:prstGeom prst="ellipse">
            <a:avLst/>
          </a:prstGeom>
          <a:solidFill>
            <a:srgbClr val="7A1F45"/>
          </a:solidFill>
          <a:ln w="12700">
            <a:solidFill>
              <a:srgbClr val="7A1F45"/>
            </a:solidFill>
            <a:prstDash val="solid"/>
          </a:ln>
        </p:spPr>
      </p:sp>
      <p:sp>
        <p:nvSpPr>
          <p:cNvPr id="11" name="Text 9"/>
          <p:cNvSpPr txBox="1"/>
          <p:nvPr/>
        </p:nvSpPr>
        <p:spPr>
          <a:xfrm>
            <a:off x="548640" y="27889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188720" y="2724912"/>
            <a:ext cx="74980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Diagnóstico de exclusión: descartar infecciones y linfoma; ferritina, IL-18 y S100 apoyan el diagnóstico.</a:t>
            </a:r>
            <a:endParaRPr lang="en-US" sz="1400" dirty="0"/>
          </a:p>
        </p:txBody>
      </p:sp>
      <p:sp>
        <p:nvSpPr>
          <p:cNvPr id="13" name="Shape 11"/>
          <p:cNvSpPr/>
          <p:nvPr/>
        </p:nvSpPr>
        <p:spPr>
          <a:xfrm>
            <a:off x="548640" y="3465576"/>
            <a:ext cx="438912" cy="438912"/>
          </a:xfrm>
          <a:prstGeom prst="ellipse">
            <a:avLst/>
          </a:prstGeom>
          <a:solidFill>
            <a:srgbClr val="7A1F45"/>
          </a:solidFill>
          <a:ln w="12700">
            <a:solidFill>
              <a:srgbClr val="7A1F45"/>
            </a:solidFill>
            <a:prstDash val="solid"/>
          </a:ln>
        </p:spPr>
      </p:sp>
      <p:sp>
        <p:nvSpPr>
          <p:cNvPr id="14" name="Text 12"/>
          <p:cNvSpPr txBox="1"/>
          <p:nvPr/>
        </p:nvSpPr>
        <p:spPr>
          <a:xfrm>
            <a:off x="548640" y="34655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188720" y="3401568"/>
            <a:ext cx="74980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Tratar pronto con inhibidores de IL-1 o IL-6 y GC breves, con metas en día 7, sem 4, mes 3 y mes 6.</a:t>
            </a:r>
            <a:endParaRPr lang="en-US" sz="1400" dirty="0"/>
          </a:p>
        </p:txBody>
      </p:sp>
      <p:sp>
        <p:nvSpPr>
          <p:cNvPr id="16" name="Shape 14"/>
          <p:cNvSpPr/>
          <p:nvPr/>
        </p:nvSpPr>
        <p:spPr>
          <a:xfrm>
            <a:off x="548640" y="4142232"/>
            <a:ext cx="438912" cy="438912"/>
          </a:xfrm>
          <a:prstGeom prst="ellipse">
            <a:avLst/>
          </a:prstGeom>
          <a:solidFill>
            <a:srgbClr val="D9472F"/>
          </a:solidFill>
          <a:ln w="12700">
            <a:solidFill>
              <a:srgbClr val="D9472F"/>
            </a:solidFill>
            <a:prstDash val="solid"/>
          </a:ln>
        </p:spPr>
      </p:sp>
      <p:sp>
        <p:nvSpPr>
          <p:cNvPr id="17" name="Text 15"/>
          <p:cNvSpPr txBox="1"/>
          <p:nvPr/>
        </p:nvSpPr>
        <p:spPr>
          <a:xfrm>
            <a:off x="548640" y="41422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188720" y="4078224"/>
            <a:ext cx="74980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Vigilar SAM (ferritina seriada) y enfermedad pulmonar; en SAM: GC altos, anakinra, ciclosporina y emapalumab.</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8C8D6"/>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REFERENCIAS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Referencias clave</a:t>
            </a:r>
            <a:endParaRPr lang="en-US" sz="2600" dirty="0"/>
          </a:p>
        </p:txBody>
      </p:sp>
      <p:sp>
        <p:nvSpPr>
          <p:cNvPr id="4" name="Text 2"/>
          <p:cNvSpPr txBox="1"/>
          <p:nvPr/>
        </p:nvSpPr>
        <p:spPr>
          <a:xfrm>
            <a:off x="457200" y="4846320"/>
            <a:ext cx="749808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Fuente: Búsqueda bibliográfica realizada en septiembre de 2026</a:t>
            </a:r>
            <a:endParaRPr lang="en-US" sz="850" dirty="0"/>
          </a:p>
        </p:txBody>
      </p:sp>
      <p:sp>
        <p:nvSpPr>
          <p:cNvPr id="5" name="Text 3"/>
          <p:cNvSpPr txBox="1"/>
          <p:nvPr/>
        </p:nvSpPr>
        <p:spPr>
          <a:xfrm>
            <a:off x="457200" y="1188720"/>
            <a:ext cx="8229600" cy="3566160"/>
          </a:xfrm>
          <a:prstGeom prst="rect">
            <a:avLst/>
          </a:prstGeom>
          <a:noFill/>
          <a:ln/>
        </p:spPr>
        <p:txBody>
          <a:bodyPr wrap="square" lIns="0" tIns="0" rIns="0" bIns="0" rtlCol="0" anchor="t"/>
          <a:lstStyle/>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1. Fautrel B, et al. EULAR/PReS recommendations for the diagnosis and management of Still's disease, comprising sJIA and AOSD. Ann Rheum Dis. 2024;83(12):1614-27.</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2. Systemic JIA and AOSD are the same disease: systematic reviews and meta-analyses informing the EULAR/PReS recommendations. Ann Rheum Dis. 2024. PMID 39317414.</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3. Efficacy and safety of therapies for Still's disease and MAS: systematic review informing the EULAR/PReS guidelines. Ann Rheum Dis. 2024.</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4. De Benedetti F, et al. Randomized trial of tocilizumab in systemic JIA (TENDER). N Engl J Med. 2012;367:2385-95.</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5. Ruperto N, et al. Two randomized trials of canakinumab in systemic JIA. N Engl J Med. 2012;367:2396-406.</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6. Kedor C, et al. Canakinumab for AOSD (CONSIDER): phase II randomised, double-blind, placebo-controlled trial. Ann Rheum Dis. 2020.</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7. Kaneko Y, et al. Tocilizumab in AOSD refractory to glucocorticoids: randomised, double-blind, placebo-controlled phase III trial. Ann Rheum Dis. 2018. PMID 30279267.</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8. Quartier P, et al. Anakinra in systemic-onset JIA (ANAJIS). Ann Rheum Dis. 2011. PMID 21173013 · Nordström D, et al. Anakinra in AOSD. J Rheumatol. 2012. PMID 22859346.</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9. De Benedetti F, et al. Efficacy and safety of emapalumab in macrophage activation syndrome. Ann Rheum Dis. 2023.</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10. Ravelli A, et al. 2016 classification criteria for MAS complicating sJIA. Ann Rheum Dis. 2016;75:481-9.</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11. Yamaguchi M, et al. Preliminary criteria for classification of adult Still's disease. J Rheumatol. 1992. PMID 1578458 · Fautrel B, et al. Medicine (Baltimore). 2002.</a:t>
            </a:r>
            <a:endParaRPr lang="en-US" sz="950" dirty="0"/>
          </a:p>
          <a:p>
            <a:pPr indent="0" marL="0">
              <a:spcAft>
                <a:spcPts val="300"/>
              </a:spcAft>
              <a:buNone/>
            </a:pPr>
            <a:r>
              <a:rPr lang="en-US" sz="950" dirty="0">
                <a:solidFill>
                  <a:srgbClr val="2B2330"/>
                </a:solidFill>
                <a:latin typeface="Calibri" pitchFamily="34" charset="0"/>
                <a:ea typeface="Calibri" pitchFamily="34" charset="-122"/>
                <a:cs typeface="Calibri" pitchFamily="34" charset="-120"/>
              </a:rPr>
              <a:t>12. Saper VE, et al. Emergent high fatality lung disease in sJIA. Ann Rheum Dis. 2019 · Saper VE, et al. HLA-DRB1*15 and reactions to IL-1/IL-6 inhibitors. Ann Rheum Dis. 2022.</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Enfermedad de Still: revisión basada en la evidencia</dc:title>
  <dc:subject>PptxGenJS Presentation</dc:subject>
  <dc:creator>Presentación basada en EULAR/PReS 2024 y ensayos clínicos</dc:creator>
  <cp:lastModifiedBy>Presentación basada en EULAR/PReS 2024 y ensayos clínicos</cp:lastModifiedBy>
  <cp:revision>1</cp:revision>
  <dcterms:created xsi:type="dcterms:W3CDTF">2026-09-27T19:27:38Z</dcterms:created>
  <dcterms:modified xsi:type="dcterms:W3CDTF">2026-09-27T19:27:38Z</dcterms:modified>
</cp:coreProperties>
</file>
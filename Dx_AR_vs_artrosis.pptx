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Anti-CCP</c:v>
                </c:pt>
              </c:strCache>
            </c:strRef>
          </c:tx>
          <c:spPr>
            <a:solidFill>
              <a:srgbClr val="4CC9F0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</c:v>
                </c:pt>
              </c:strCache>
            </c:strRef>
          </c:tx>
          <c:spPr>
            <a:solidFill>
              <a:srgbClr val="F2B4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69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418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C4CC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4182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Diagnostico diferencial AR vs artrosis. Motivo visual original: articulacion inflamada (roja) frente a degenerativa (dorada).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del diagnostico diferencial AR vs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Distinguirlas importa: la AR tiene ventana de oportunidad y requiere derivacion y tratamiento temprano; la artrosis es degenerativa y su manejo es sintomatico. Confundirlas lleva a retraso terapeutico o a inmunosupresion innecesaria.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AR: autoinmune inflamatoria sistemica que ataca la sinovial. Artrosis: degenerativa del cartilago y hueso subcondral. Difieren en edad, sexo y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es mucho mas frecuente (mas de 240 millones en el mundo, primera causa de limitacion de la actividad). La AR afecta al 0,5-1% de adultos, con predominio femenino 2-3 a 1 y pico entre 30 y 60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AR, una respuesta autoinmune (FR, anti-CCP frente a proteinas citrulinadas) desencadena sinovitis proliferativa (pannus) con TNF e IL-6; los osteoclastos y las metaloproteasas erosionan hueso y cartilago.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artrosis, la sobrecarga (edad, obesidad, lesion, genetica) lleva al fallo del cartilago, que se adelgaza y fibrila; el hueso subcondral se remodela con osteofitos, esclerosis y quistes. La inflamacion sinovial es de bajo grado.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 el pannus sinovial erosiona el hueso en los margenes y el pinzamiento es uniforme; no hay osteofitos. En la artrosis predominan los osteofitos, la esclerosis subcondral y el pinzamiento asimetrico; no hay erosiones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patron del dolor orienta: inflamatorio (peor en reposo y de madrugada, mejora con el movimiento, rigidez matutina prolongada, sintomas generales) sugiere AR; mecanico (peor con el uso, mejora con reposo, rigidez breve) sugiere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duracion de la rigidez matutina discrimina: mas de 30-60 minutos apunta a inflamacion (AR); menos de 30 minutos, de arranque, apunta a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 suele iniciar en semanas-meses, poliarticular y simetrica, con sintomas generales. La artrosis inicia de forma insidiosa en anos, localizada, sin sintomas sistemicos y relacionada con la actividad.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 la mano. La AR compromete metacarpofalangicas (MCF), interfalangicas proximales (IFP) y munecas de forma simetrica, y respeta las interfalangicas distales (IFD). La artrosis afecta IFD (nodulos de Heberden), IFP (Bouchard) y la base del pulgar (rizartrosis, CMC1). El compromiso de IFD orienta a artrosis, no a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 afecta pequenas articulaciones (MCF, IFP, munecas, MTF) de forma simetrica y respeta IFD. La artrosis afecta IFD/IFP/base del pulgar en manos y las grandes de carga (rodilla, cadera) y la columna, a menudo asimetrica.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deformidades ayudan al final: en AR, desviacion cubital, cuello de cisne, boutonniere y nodulos reumatoides. En artrosis, nodulos duros de Heberden (IFD) y Bouchard (IFP) y rizartrosis.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Signos palpables en la mano. Artrosis: nodulos duros de Heberden en las IFD y de Bouchard en las IFP, con base del pulgar cuadrada (rizartrosis). Artritis reumatoide: sinovitis blanda y caliente en MCF e IFP que respeta las IFD. Ilustraciones originales, no fotografias.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palpacion, la sinovitis de la AR se siente blanda, esponjosa, caliente y dolorosa (squeeze test de MCF/MTF positivo). La artrosis da un aumento oseo duro con crepitacion, sin calor.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Calor y rubor apuntan a AR; la crepitacion es tipica de artrosis; el derrame puede verse en ambas y obliga a descartar artritis septica si hay duda; el squeeze test de MCF/MTF positivo sugiere sinovitis.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sospechas AR, pide FR, anti-CCP, VSG y PCR, con estudios basales. En artrosis tipica no hay marcador: el diagnostico es clinico-radiologico y pedir serologias de rutina genera falsos positivos que confunden.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Metaanalisis de Nishimura 2007: anti-CCP sensibilidad 67% y especificidad 95%; FR sensibilidad 69% y especificidad 85%. La razon de verosimilitud positiva del anti-CCP es cercana a 12,5: un positivo eleva mucho la probabilidad de AR, pero un negativo no la descarta.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anti-CCP positivo con clinica compatible hace muy probable la AR; un negativo no la descarta (hasta un tercio son seronegativas). Un FR aislado positivo puede verse en sanos, infecciones o con la edad. La serologia modifica la probabilidad, pero no diagnostica por si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radiografia, la AR muestra erosiones marginales, osteopenia yuxtaarticular y pinzamiento uniforme, sin osteofitos. La artrosis muestra osteofitos, esclerosis subcondral, quistes y pinzamiento asimetrico, sin erosiones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ecografia detecta sinovitis y senal Doppler (actividad inflamatoria) y es util en AR temprana. La resonancia muestra sinovitis, edema oseo y erosiones precoces antes que la radiografia. Ayudan a confirmar sinovitis dudosa y a ver dano temprano.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de clasificacion ACR/EULAR 2010 puntuan cuatro dominios: numero y tipo de articulaciones (0-5), serologia FR/ACPA (0-3), reactantes de fase aguda PCR/VSG (0-1) y duracion de sintomas (0-1). Seis o mas de diez puntos clasifican como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son de clasificacion, no de diagnostico: requieren al menos una articulacion con sinovitis clinica sin mejor explicacion. El juicio clinico manda, pueden no cumplirse en la AR muy temprana, y siempre hay que excluir imitadores (artrosis, psoriasica, gota, septica, viral).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se diagnostica clinicamente: en mayores de 45 anos con dolor mecanico y rigidez breve, el diagnostico es clinico sin imagen (NICE). La radiografia confirma y gradua (Kellgren-Lawrence); el laboratorio solo sirve para excluir causas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Dell Isola 2016 describe seis fenotipos de artrosis de rodilla: dolor cronico con sensibilizacion central, inflamatorio, metabolico, oseo-cartilaginoso, mecanico y enfermedad articular minima. Reconocerlos orienta pronostico y tratamiento, aunque pueden solaparse (Deveza 2019).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Perlas de evidencia para el especialista: la razon de verosimilitud positiva del anti-CCP es cercana a 12,5; los ACPA preceden a los sintomas; la ventana de oportunidad es menor de 12 semanas; la artrosis no es solo desgaste (hay inflamacion de bajo grado); Kellgren-Lawrence gradua la radiografia; y la imagen no siempre explica el dolor.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no es solo desgaste: cursa con sinovitis de bajo grado mediada por IL-1 y TNF, visible en ecografia y RM. Existe la artrosis erosiva de manos (erosiones centrales en IFD/IFP con brotes). Y sobre una articulacion artrosica pueden depositarse cristales (CPPD, gota) que anaden artritis. Si una artrosis se inflama mucho, pensar en cristales o AR asociada.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se encadenan. La AR, por su inflamacion cronica, dana cartilago y hueso y deja artrosis secundaria sobre articulaciones ya alteradas. A la inversa, la artrosis cursa con sinovitis de bajo grado y predispone al deposito de cristales (CPPD, gota) que desencadenan artritis aguda sobreanadida. Pueden coexistir en el mismo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resumen del diagnostico diferencial AR vs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Banderas rojas para derivar a reumatologia: sinovitis en una o mas articulaciones (sobre todo MCF, IFP o muneca), rigidez matutina prolongada, compromiso simetrico de pequenas articulaciones, squeeze test positivo, FR o anti-CCP positivos o reactantes elevados, y persistencia mayor de seis semanas. No esperar a que erosione.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Errores frecuentes: pedir FR/anti-CCP en artrosis tipica (falsos positivos), descartar AR por serologia negativa (hay AR seronegativa), atribuir a artrosis una sinovitis de MCF (la artrosis no afecta MCF), y esperar a ver erosiones en la radiografia para derivar.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mensajes clave del diagnostico diferencial AR vs 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Bibliografia completa en formato Vancouver.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601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DIFERENCIAL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37160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1488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a artrosis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3017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diferencial basado en evidencia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76656" y="3767328"/>
            <a:ext cx="822960" cy="41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" y="395020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440740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 III · Medicina Interna · Universidad Libre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del diagnóstico diferencial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737360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754" y="186903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38328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572768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847088" y="1737360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762" y="186903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72768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545336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2779776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054096" y="1737360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5770" y="186903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779776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2752344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Clínica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3986784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261104" y="1737360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2778" y="186903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3986784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959352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193792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468112" y="1737360"/>
            <a:ext cx="548640" cy="54864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9786" y="186903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193792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5166360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6400800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675120" y="1737360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6794" y="186903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4008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6373368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7607808" y="1554480"/>
            <a:ext cx="1097280" cy="2194560"/>
          </a:xfrm>
          <a:prstGeom prst="roundRect">
            <a:avLst>
              <a:gd name="adj" fmla="val 833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7882128" y="1737360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3802" y="1869034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607808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" dirty="0"/>
          </a:p>
        </p:txBody>
      </p:sp>
      <p:sp>
        <p:nvSpPr>
          <p:cNvPr id="39" name="Text 30"/>
          <p:cNvSpPr txBox="1"/>
          <p:nvPr/>
        </p:nvSpPr>
        <p:spPr>
          <a:xfrm>
            <a:off x="7580376" y="2697480"/>
            <a:ext cx="1152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365760" y="3977640"/>
            <a:ext cx="8412480" cy="502920"/>
          </a:xfrm>
          <a:prstGeom prst="roundRect">
            <a:avLst>
              <a:gd name="adj" fmla="val 18182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420624" y="3977640"/>
            <a:ext cx="8302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enfermedades frecuentes que se confunden: una es inflamatoria y urgente; la otra, degenerativa y crónica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POR QUÉ IMPORTA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lo mismo: cambia la urgencia y el tratamiento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699" y="161665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5361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40280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y autoinmune: hay ventana de oportunidad.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trata pronto, erosiona y deforma de forma irreversible.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Derivación temprana a reumatología cambia el pronóstico.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46320" y="1463040"/>
            <a:ext cx="640080" cy="64008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939" y="1616659"/>
            <a:ext cx="332842" cy="33284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5361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40280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y mecánica: la más frecuente.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sintomático; no requiere inmunosupresión.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Sobrediagnosticar AR expone a tratamientos innecesarios.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POR QUÉ IMPORTA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enfermedades distintas de raíz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80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9222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Naturaleza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79222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Autoinmune inflamatoria sistémica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1792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mecánica del cartílago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4086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4086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34086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sinovial (sinovitis, pannus)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23408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Cartílago y hueso subcondral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88950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88950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típica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88950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 años; a cualquier edad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288950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con la edad; también más jóvenes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43814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3814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343814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2–3 : 1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43814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(manos y rodilla)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3986784"/>
            <a:ext cx="8229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398678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743200" y="3986784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Subagudo (semanas)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760720" y="398678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Insidioso (años)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POR QUÉ IMPORTA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 muy diferente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0,5–1 %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adultos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: 1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: hombre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063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(pico); a cualquier edad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1325880"/>
            <a:ext cx="402336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&gt;240 M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en el mundo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1920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523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de limitación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30632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≥45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con la edad; no sólo ancianos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343400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4343400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FISIOPATOLOGÍA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reumatoide: la sinovial se inflama y erosiona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8176" y="1554480"/>
            <a:ext cx="731520" cy="7315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173004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Autoinmunidad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y anti-CCP; respuesta frente a proteínas citrulinadas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081528" y="2194560"/>
            <a:ext cx="182880" cy="914"/>
          </a:xfrm>
          <a:prstGeom prst="line">
            <a:avLst/>
          </a:prstGeom>
          <a:noFill/>
          <a:ln w="25400">
            <a:solidFill>
              <a:srgbClr val="3A415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264408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55448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73004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sinovial proliferante (pannus) con TNF e IL-6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888736" y="2194560"/>
            <a:ext cx="182880" cy="914"/>
          </a:xfrm>
          <a:prstGeom prst="line">
            <a:avLst/>
          </a:prstGeom>
          <a:noFill/>
          <a:ln w="25400">
            <a:solidFill>
              <a:srgbClr val="3A4150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71616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022592" y="155448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1730045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071616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Erosión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208776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Osteoclastos y MMP destruyen hueso y cartílago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" y="393192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12064" y="3931920"/>
            <a:ext cx="8119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es un proceso inmunitario que, sin freno, lleva a dano articular irreversible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FISIOPATOLOGÍA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Artrosis: el cartílago falla y el hueso se remodela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Sharma L. Osteoarthritis of the knee. N Engl J Med. 2021;384(1):51-9.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8176" y="155448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173004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Edad, obesidad, lesión previa y genética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081528" y="2194560"/>
            <a:ext cx="182880" cy="914"/>
          </a:xfrm>
          <a:prstGeom prst="line">
            <a:avLst/>
          </a:prstGeom>
          <a:noFill/>
          <a:ln w="25400">
            <a:solidFill>
              <a:srgbClr val="3A415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264408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554480"/>
            <a:ext cx="731520" cy="7315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73004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del cartílago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adelgaza y fibrila; el hueso queda expuesto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888736" y="2194560"/>
            <a:ext cx="182880" cy="914"/>
          </a:xfrm>
          <a:prstGeom prst="line">
            <a:avLst/>
          </a:prstGeom>
          <a:noFill/>
          <a:ln w="25400">
            <a:solidFill>
              <a:srgbClr val="3A4150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71616" y="1371600"/>
            <a:ext cx="2624328" cy="2286000"/>
          </a:xfrm>
          <a:prstGeom prst="roundRect">
            <a:avLst>
              <a:gd name="adj" fmla="val 4000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022592" y="1554480"/>
            <a:ext cx="731520" cy="7315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1730045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071616" y="2377440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Remodelación ósea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208776" y="2788920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Osteofitos, esclerosis subcondral y quistes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7200" y="393192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12064" y="3931920"/>
            <a:ext cx="8119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predomina lo mecánico-degenerativo; la inflamación sinovial es de bajo grado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FISIOPATOLOGÍA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por dentro: AR frente a artrosis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463040" y="18745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30175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54480" y="248716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2546B">
              <a:alpha val="55000"/>
            </a:srgbClr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08760" y="228600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306324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6393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Pannus</a:t>
            </a:r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erosiones · pinzamiento uniforme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663440" y="132588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0" y="187452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306324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44952"/>
            <a:ext cx="1828800" cy="0"/>
          </a:xfrm>
          <a:prstGeom prst="line">
            <a:avLst/>
          </a:prstGeom>
          <a:noFill/>
          <a:ln w="38100">
            <a:solidFill>
              <a:srgbClr val="F2B4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59552" y="274320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44384" y="274320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363931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</a:t>
            </a:r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esclerosis · pinzamiento asimétrico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CLÍNICA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inflamatorio frente a dolor mecánico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(AR)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(artrosis)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82296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9222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79222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en reposo y de madrugada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179222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con el uso y al final del día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450592"/>
            <a:ext cx="82296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45059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movimiento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45059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al “desentumecer”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245059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Empeora; mejora con el reposo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82296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0896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31089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310896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767328"/>
            <a:ext cx="82296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76732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generales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37673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Fatiga, febrícula, malestar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3767328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CLÍNICA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rigidez matutina: un dato que vale oro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00200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9" y="175381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645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28803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prolongada que mejora lentamente al moverse; refleja inflamación sinovial.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663440" y="137160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92040" y="1600200"/>
            <a:ext cx="640080" cy="64008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659" y="175381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669280" y="1645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30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4892040" y="28803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breve “de arranque” tras el reposo, que cede rápido con el uso.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siempre: ¿cuánto dura la rigidez al levantarse?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CLÍNICA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y síntomas acompañantes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AR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en semanas-meses, poliarticular y simétrico.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Fatiga, febrícula, pérdida de peso.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 blanda y caliente de pequeñas articulaciones.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Sugiere artrosis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insidioso en años, oligoarticular o localizado.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síntomas sistémicos.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con la actividad; crepitación al mover.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DISTRIBUCIÓN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 la mano: patrón que delata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070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201625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627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53896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53896" y="1950964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53896" y="150949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393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0512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10512" y="1989369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1578986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055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7128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67128" y="209306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67128" y="1766621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2770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310896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" y="350215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3444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759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2763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4767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65760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1246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49040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49040" y="20162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49040" y="1627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908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05656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05656" y="1950964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05656" y="150949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2569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62272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62272" y="1989369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62272" y="1578986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8231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18888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18888" y="209306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18888" y="1766621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7355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19272" y="2770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19272" y="310896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9272" y="35021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8620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5935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27939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9943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10896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5943600" y="1325880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26480" y="1536192"/>
            <a:ext cx="237744" cy="23774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46520" y="14813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AR: MCF, IFP y muñecas (simétrico)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6126480" y="219456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446520" y="21031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Artrosis: IFD, IFP y base del pulgar (CMC1)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126480" y="2926080"/>
            <a:ext cx="237744" cy="237744"/>
          </a:xfrm>
          <a:prstGeom prst="ellipse">
            <a:avLst/>
          </a:prstGeom>
          <a:solidFill>
            <a:srgbClr val="CFD6E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46520" y="287121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Habitualmente respetada</a:t>
            </a:r>
            <a:endParaRPr lang="en-US" sz="1250" dirty="0"/>
          </a:p>
        </p:txBody>
      </p:sp>
      <p:sp>
        <p:nvSpPr>
          <p:cNvPr id="66" name="Text 64"/>
          <p:cNvSpPr txBox="1"/>
          <p:nvPr/>
        </p:nvSpPr>
        <p:spPr>
          <a:xfrm>
            <a:off x="612648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A4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IFD casi nunca se afecta en AR: su compromiso apunta a artrosis (o psoriásica).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DISTRIBUCIÓN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la mano: articulaciones típicas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Pequeñas articulaciones: MCF, IFP, muñecas.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Pies: metatarsofalángicas (MTF).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 y poliarticular; respeta IFD y columna dorsolumbar.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Manos: IFD, IFP y base del pulgar.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de carga: rodilla y cadera.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(cervical/lumbar); patrón a menudo asimétrico.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DISTRIBUCIÓN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Deformidades y nódulos: pistas al final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(sinovitis crónica)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cubital de los dedos.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Dedos en “cuello de cisne” y en “boutonnière”.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 (subcutáneos, en zonas de presión).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(hueso)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de Heberden (IFD).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de Bouchard (IFP).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Rizartrosis: base del pulgar “cuadrada”.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25196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duros en IFD = Heberden (artrosis); tumefacción blanda en MCF = sinovitis (AR)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Signos en la mano: lo que ves y palpas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402336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371600"/>
            <a:ext cx="2148840" cy="2377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88036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1920240"/>
            <a:ext cx="1508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de Heberden (IFD)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de Bouchard (IFP)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Duros, óseos; base del pulgar cuadrada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411480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A4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Ilustración original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663440" y="1234440"/>
            <a:ext cx="402336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1371600"/>
            <a:ext cx="2148840" cy="23774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86600" y="1463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7132320" y="2148840"/>
            <a:ext cx="1463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de MCF e IFP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 blanda y caliente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Respeta las IFD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4864608" y="411480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3A4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Ilustración original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05 - EXAMEN FÍSICO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 blanda frente a dura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54480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19" y="170809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63040" y="1627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(sinovitis)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37744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Consistencia “esponjosa”, fluctuante.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Caliente, a veces roja; dolor a la compresión.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de MCF/MTF positivo.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663440" y="132588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92040" y="1554480"/>
            <a:ext cx="640080" cy="64008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659" y="1708099"/>
            <a:ext cx="332842" cy="33284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669280" y="16276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(ósea)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37744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óseo “como hueso” (osteofitos/nódulos).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caliente; crepitación al movilizar.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localizado a la carga.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57200" y="4160520"/>
            <a:ext cx="8229600" cy="320040"/>
          </a:xfrm>
          <a:prstGeom prst="roundRect">
            <a:avLst>
              <a:gd name="adj" fmla="val 28571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160520"/>
            <a:ext cx="8119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tacto distingue: blando y caliente = inflamación; duro y frío = hueso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05 - EXAMEN FÍSICO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Signos que inclinan la balanza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399032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3533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 y rubor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1280160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Presentes en AR; ausentes en artrosis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029968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" y="2148840"/>
            <a:ext cx="457200" cy="45720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58568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34440" y="2103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Crepitación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931920" y="2029968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Típica de artrosis (roce óseo)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7200" y="2779776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" y="2898648"/>
            <a:ext cx="457200" cy="45720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08376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34440" y="285292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Derrame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931920" y="2779776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Posible en ambas; aspirar si duda o artritis séptica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457200" y="3529584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1792" y="3648456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5818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34440" y="36027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3931920" y="3529584"/>
            <a:ext cx="46634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al comprimir MCF/MTF sugiere 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(y qué no)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sospechas AR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reumatoide (FR).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/ ACPA (más específico).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VSG y PCR (actividad inflamatoria).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Hemograma, función hepática/renal (basal).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artrosis típica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marcador de laboratorio; suelen ser normales.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diagnóstico es clínico-radiológico.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pedir FR/anti-CCP “de rutina”: falsos positivos confunden.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frente a FR: rendimiento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57200" y="1325880"/>
          <a:ext cx="48463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0" y="1325880"/>
            <a:ext cx="320040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0" y="1417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828800"/>
            <a:ext cx="2880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Anti-CCP: más específico (95 %).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RV+ del anti-CCP ≈ 12,5: si es positivo, sube mucho la probabilidad de AR.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 ≈ 67–69 %: un negativo no descarta 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Interpretar la serología sin caer en trampas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399032"/>
            <a:ext cx="457200" cy="45720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237744" cy="2377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3533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con clínica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1280160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Anti-CCP+ en una sinovitis compatible: muy probable AR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57200" y="2029968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" y="2148840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58568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34440" y="21031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Negativo no descarta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4114800" y="2029968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un tercio de las AR son seronegativas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57200" y="2779776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" y="2898648"/>
            <a:ext cx="457200" cy="45720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08376"/>
            <a:ext cx="237744" cy="23774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234440" y="28529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aislado</a:t>
            </a:r>
            <a:endParaRPr lang="en-US" sz="1550" dirty="0"/>
          </a:p>
        </p:txBody>
      </p:sp>
      <p:sp>
        <p:nvSpPr>
          <p:cNvPr id="21" name="Text 16"/>
          <p:cNvSpPr txBox="1"/>
          <p:nvPr/>
        </p:nvSpPr>
        <p:spPr>
          <a:xfrm>
            <a:off x="4114800" y="2779776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FR+ sin clínica puede verse en sanos, infecciones o edad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457200" y="3529584"/>
            <a:ext cx="8229600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1792" y="3648456"/>
            <a:ext cx="457200" cy="4572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58184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34440" y="360273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manda</a:t>
            </a:r>
            <a:endParaRPr lang="en-US" sz="1550" dirty="0"/>
          </a:p>
        </p:txBody>
      </p:sp>
      <p:sp>
        <p:nvSpPr>
          <p:cNvPr id="26" name="Text 20"/>
          <p:cNvSpPr txBox="1"/>
          <p:nvPr/>
        </p:nvSpPr>
        <p:spPr>
          <a:xfrm>
            <a:off x="4114800" y="3529584"/>
            <a:ext cx="4480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serología modifica la probabilidad, no diagnostica sola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IMAGEN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signos opuestos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marginales.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Osteopenia yuxtaarticular.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articular uniforme.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osteofitos.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0233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 (picos óseos).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Esclerosis subcondral.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Quistes subcondrales.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asimétrico; sin erosiones.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57200" y="425196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25196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erosión = inflamatorio (AR) · osteofito = degenerativo (artrosis)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IMAGEN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 y resonancia: ver la inflamación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2624328" cy="2377440"/>
          </a:xfrm>
          <a:prstGeom prst="roundRect">
            <a:avLst>
              <a:gd name="adj" fmla="val 384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8176" y="1572768"/>
            <a:ext cx="731520" cy="7315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1748333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23957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816352"/>
            <a:ext cx="2350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sinovitis y señal Doppler (actividad); útil en AR temprana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264408" y="1371600"/>
            <a:ext cx="2624328" cy="2377440"/>
          </a:xfrm>
          <a:prstGeom prst="roundRect">
            <a:avLst>
              <a:gd name="adj" fmla="val 384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15384" y="1572768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748333"/>
            <a:ext cx="380390" cy="38039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264408" y="23957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Resonancia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401568" y="2816352"/>
            <a:ext cx="2350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Sinovitis, edema óseo y erosiones precoces antes que la radiografía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071616" y="1371600"/>
            <a:ext cx="2624328" cy="2377440"/>
          </a:xfrm>
          <a:prstGeom prst="roundRect">
            <a:avLst>
              <a:gd name="adj" fmla="val 384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022592" y="1572768"/>
            <a:ext cx="731520" cy="7315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1748333"/>
            <a:ext cx="380390" cy="38039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071616" y="23957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qué sirve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208776" y="2816352"/>
            <a:ext cx="2350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sinovitis dudosa y detectar daño temprano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402336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12064" y="4023360"/>
            <a:ext cx="8119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ecografía con Doppler confirma sinovitis cuando el examen deja dudas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08 - CRITERIOS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ACR/EULAR 2010 para 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11480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articular (0–5)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7373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Articulaciones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1737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grande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77640" y="1755648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77640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24942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249424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grandes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77640" y="226771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77640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7614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76148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pequeñas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977640" y="277977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2779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27355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327355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4–10 pequeñas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329184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7764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78561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874520" y="378561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 (≥ 1 pequeña)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380390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77640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280160"/>
            <a:ext cx="39776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13533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Serología (0–3)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162763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FR/ACPA negativos = 0 · bajos = 2 · altos = 3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2066544"/>
            <a:ext cx="39776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213969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Reactantes (0–1)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241401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PCR/VSG normales = 0 · anormales = 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09160" y="2852928"/>
            <a:ext cx="39776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(0–1)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20040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 semanas = 0 · ≥ 6 semanas = 1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3657600"/>
            <a:ext cx="3977640" cy="685800"/>
          </a:xfrm>
          <a:prstGeom prst="roundRect">
            <a:avLst>
              <a:gd name="adj" fmla="val 13333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64024" y="3657600"/>
            <a:ext cx="3867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 / 10 puntos clasifica como AR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08 - CRITERIOS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≠ diagnosticar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4630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obligatoria: al menos una articulación con sinovitis clínica, sin otra explicación mejor.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560320"/>
            <a:ext cx="2624328" cy="1737360"/>
          </a:xfrm>
          <a:prstGeom prst="roundRect">
            <a:avLst>
              <a:gd name="adj" fmla="val 526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08176" y="2724912"/>
            <a:ext cx="640080" cy="6400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1795" y="2878531"/>
            <a:ext cx="332842" cy="33284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3456432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juicio clínico manda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8221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criterios apoyan, no sustituyen la evaluación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64408" y="2560320"/>
            <a:ext cx="2624328" cy="1737360"/>
          </a:xfrm>
          <a:prstGeom prst="roundRect">
            <a:avLst>
              <a:gd name="adj" fmla="val 526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15384" y="2724912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9003" y="2878531"/>
            <a:ext cx="332842" cy="33284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264408" y="3456432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en AR temprana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3374136" y="38221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 no cumplirse al inicio; reevalúa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071616" y="2560320"/>
            <a:ext cx="2624328" cy="1737360"/>
          </a:xfrm>
          <a:prstGeom prst="roundRect">
            <a:avLst>
              <a:gd name="adj" fmla="val 526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022592" y="2724912"/>
            <a:ext cx="640080" cy="6400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211" y="2878531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071616" y="3456432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imitadores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6181344" y="38221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Artrosis, psoriásica, gota, séptica, viral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ARTROSIS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diagnostica la artrosis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diagnóstico clínico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≥ 45 años con dolor articular relacionado con el uso.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ausente o &lt; 30 min.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caso típico no hace falta radiografía (NICE).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Examen: crepitación, aumento óseo, dolor a la rotación interna en cadera.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complementarias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confirma y gradua (Kellgren-Lawrence 0–4).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normal: sólo para excluir causas inflamatorias.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Ecografía/RM: no necesarias de rutina.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hay derrame y duda: líquido no inflamatorio (&lt; 2000 cél/mm³).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434840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434840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ARTROSIS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Fenotipos de la artrosis: no es una sola enfermedad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Dell’Isola A, Allan R, Smith SL, Marreiros SS, Steultjens M. Identification of clinical phenotypes in knee osteoarthritis: a systematic review of the literature. BMC Musculoskelet Disord. 2016;17:425.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Deveza LA, Nelson AE, Loeser RF. Phenotypes of osteoarthritis: current state and future implications. Clin Exp Rheumatol. 2019;37 Suppl 120(5):S64-72.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150876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6294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88720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crónico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Sensibilización central; dolor desproporcionado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64408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0712" y="150876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13" y="162946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995928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410712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y derrame; cursa con brotes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71616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508760"/>
            <a:ext cx="502920" cy="5029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621" y="1629461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03136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Metabólico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Obesidad y síndrome metabólico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3504" y="2926080"/>
            <a:ext cx="502920" cy="5029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3046781"/>
            <a:ext cx="261518" cy="26151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88720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Óseo-cartilaginoso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remodelado óseo subcondral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264408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10712" y="2926080"/>
            <a:ext cx="502920" cy="5029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413" y="3046781"/>
            <a:ext cx="261518" cy="26151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995928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3410712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Malalineación y sobrecarga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071616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217920" y="292608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621" y="3046781"/>
            <a:ext cx="261518" cy="26151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803136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Enfermedad mínima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21792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leve, progresión lenta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57200" y="420624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12064" y="420624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el fenotipo orienta pronóstico y tratamiento; con frecuencia se solapan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ESPECIALISTA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alto rendimiento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399032"/>
            <a:ext cx="219456" cy="21945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1280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RV+ ≈ 12,5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1280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positivo multiplica por ~12 la probabilidad de AR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901952"/>
            <a:ext cx="219456" cy="21945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1783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ACPA preceden años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1783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anticuerpos aparecen antes de los síntomas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404872"/>
            <a:ext cx="219456" cy="219456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&lt; 12 semanas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22860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FAME temprano mejora los desenlaces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78892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907792"/>
            <a:ext cx="219456" cy="219456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27889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no es solo desgaste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88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inflamación sinovial de bajo grado y remodelado óseo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410712"/>
            <a:ext cx="219456" cy="219456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" y="3291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Kellgren-Lawrence 0–4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291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 la artrosis radiográfica (grado 2 = osteofito definido)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13632"/>
            <a:ext cx="219456" cy="219456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3794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vs clínica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4297680" y="3794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radiografía no siempre explica el dolor: trata al paciente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también se inflama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Dell’Isola A, Allan R, Smith SL, Marreiros SS, Steultjens M. Identification of clinical phenotypes in knee osteoarthritis: a systematic review of the literature. BMC Musculoskelet Disord. 2016;17:425.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solo “desgaste”: hay inflamación, aunque de menor grado que en la AR.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1965960"/>
            <a:ext cx="731520" cy="7315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2141525"/>
            <a:ext cx="380390" cy="3803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de bajo grado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IL-1 y TNF, derrame y señal Doppler; se ve en ecografía y RM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264408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96596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21415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erosiva (manos)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centrales en IFD/IFP con brotes dolorosos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71616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022592" y="196596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214152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071616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Cristales añadidos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208776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CPPD o gota sobre una articulación artrósica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57200" y="416052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12064" y="4160520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artrosis que se inflama mucho obliga a pensar en cristales o en una AR asociada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encadenan? De una a otra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572768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170444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→ artrosis secundaria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inflamación crónica daña cartílago y hueso.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alterada desarrolla cambios degenerativos.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artrosis secundaria sobre una AR ya controlada.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572768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282" y="170444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→ artritis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cursa con sinovitis de bajo grado.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Predispone al depósito de cristales (CPPD, gota).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Esos cristales desencadenan artritis aguda sobreañadida.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251960"/>
            <a:ext cx="8229600" cy="292608"/>
          </a:xfrm>
          <a:prstGeom prst="roundRect">
            <a:avLst>
              <a:gd name="adj" fmla="val 3125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251960"/>
            <a:ext cx="8119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 coexistir en el mismo paciente: busca ambos patrones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SÍNTESIS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maestra: AR frente a artrosis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143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143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53619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53619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53619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autoinmune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153619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Degenerativa mecánica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0652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90652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190652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(peor en reposo)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190652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(peor con el uso)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27685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27685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27685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27685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647188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64718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2647188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MCF, IFP, muñeca (simétrico)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2647188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IFD, IFP, base del pulgar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017520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301752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3017520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y caliente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52160" y="301752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y ósea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38785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38785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338785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FR/anti-CCP+, VSG/PCR ↑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852160" y="338785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375818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" y="375818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926080" y="375818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Erosiones, pinzamiento uniforme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375818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Osteofitos, esclerosis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412851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12851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26080" y="412851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Derivar: FAME temprano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852160" y="412851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SÍNTESIS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Banderas rojas: deriva a reumatología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estos datos, sospecha AR y deriva pronto: la ventana de oportunidad es corta.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819656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29384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70432" y="17647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en ≥ 1 articulación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70432" y="20756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todo MCF, IFP o muñeca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1691640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00600" y="1819656"/>
            <a:ext cx="457200" cy="45720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29384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76672" y="17647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&gt; 30 min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5376672" y="20756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mejora al moverse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57200" y="2478024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170432" y="25511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 simétrico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1170432" y="28620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pequeñas articulaciones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4663440" y="2478024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800600" y="2606040"/>
            <a:ext cx="457200" cy="45720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2715768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376672" y="25511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positivo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5376672" y="28620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al comprimir MCF/MTF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3264408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94360" y="3392424"/>
            <a:ext cx="457200" cy="45720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350215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170432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o anti-CCP positivos</a:t>
            </a:r>
            <a:endParaRPr lang="en-US" sz="1350" dirty="0"/>
          </a:p>
        </p:txBody>
      </p:sp>
      <p:sp>
        <p:nvSpPr>
          <p:cNvPr id="32" name="Text 25"/>
          <p:cNvSpPr txBox="1"/>
          <p:nvPr/>
        </p:nvSpPr>
        <p:spPr>
          <a:xfrm>
            <a:off x="1170432" y="36484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VSG/PCR elevadas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4663440" y="3264408"/>
            <a:ext cx="40233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800600" y="3392424"/>
            <a:ext cx="457200" cy="45720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3502152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376672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&gt; 6 semanas</a:t>
            </a:r>
            <a:endParaRPr lang="en-US" sz="1350" dirty="0"/>
          </a:p>
        </p:txBody>
      </p:sp>
      <p:sp>
        <p:nvSpPr>
          <p:cNvPr id="37" name="Text 29"/>
          <p:cNvSpPr txBox="1"/>
          <p:nvPr/>
        </p:nvSpPr>
        <p:spPr>
          <a:xfrm>
            <a:off x="5376672" y="36484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esperar a que erosione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SÍNTESIS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frecuentes que debes evitar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1490472"/>
            <a:ext cx="420624" cy="42062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742" y="1591422"/>
            <a:ext cx="218724" cy="21872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88720" y="142646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FR/anti-CCP en artrosis típica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5212080" y="13716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falsos positivos y confusión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210312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" y="2221992"/>
            <a:ext cx="420624" cy="42062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42" y="2322942"/>
            <a:ext cx="218724" cy="21872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88720" y="215798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AR por serología negativa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5212080" y="21031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un tercio son seronegativas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57200" y="283464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" y="2953512"/>
            <a:ext cx="420624" cy="420624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742" y="3054462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88950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Atribuir a artrosis una sinovitis de MCF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5212080" y="283464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no afecta MCF: piensa en AR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457200" y="3566160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21792" y="3685032"/>
            <a:ext cx="420624" cy="420624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742" y="3785982"/>
            <a:ext cx="218724" cy="21872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88720" y="362102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erosiones en la radiografía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5212080" y="356616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Aparecen tarde: no retrases la derivación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ideas para recordar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30759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307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2344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 es inflamatoria y autoinmune; la artrosis, degenerativa y mecánica.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1965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17465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orienta: AR simetrica en MCF/IFP/muñeca; artrosis en IFD/IFP/CMC1.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258568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33172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2585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&gt; 30–60 min y tumefacción blanda y caliente apuntan a AR.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77063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843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7706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es específico, pero un negativo no descarta AR.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28269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55848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282696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erosiones (AR) frente a osteofitos (artrosis).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86791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7947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sospecha de AR, deriva temprano: hay ventana de oportunidad.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2880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a tiempo cambia el pronóstico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35661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 · Medicina Interna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(Vancouver)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Sharma L. Osteoarthritis of the knee. N Engl J Med. 2021;384(1):51-9.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Dell’Isola A, Allan R, Smith SL, Marreiros SS, Steultjens M. Identification of clinical phenotypes in knee osteoarthritis: a systematic review of the literature. BMC Musculoskelet Disord. 2016;17:425.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Deveza LA, Nelson AE, Loeser RF. Phenotypes of osteoarthritis: current state and future implications. Clin Exp Rheumatol. 2019;37 Suppl 120(5):S64-72.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Cocos grampositivos (fondo blanco)</dc:title>
  <dc:subject>PptxGenJS Presentation</dc:subject>
  <dc:creator>Nestor Fabian Sanabria Duarte</dc:creator>
  <cp:lastModifiedBy>Nestor Fabian Sanabria Duarte</cp:lastModifiedBy>
  <cp:revision>1</cp:revision>
  <dcterms:created xsi:type="dcterms:W3CDTF">2026-10-16T00:09:34Z</dcterms:created>
  <dcterms:modified xsi:type="dcterms:W3CDTF">2026-10-16T00:09:34Z</dcterms:modified>
</cp:coreProperties>
</file>
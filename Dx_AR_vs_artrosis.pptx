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charts/chart1.xml" ContentType="application/vnd.openxmlformats-officedocument.drawingml.chart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Anti-CCP</c:v>
                </c:pt>
              </c:strCache>
            </c:strRef>
          </c:tx>
          <c:spPr>
            <a:solidFill>
              <a:srgbClr val="4CC9F0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18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Sensibilidad</c:v>
                  </c:pt>
                  <c:pt idx="1">
                    <c:v>Especificidad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</c:v>
                </c:pt>
                <c:pt idx="1">
                  <c:v>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FR</c:v>
                </c:pt>
              </c:strCache>
            </c:strRef>
          </c:tx>
          <c:spPr>
            <a:solidFill>
              <a:srgbClr val="F2B43C">
                <a:alpha val="100000"/>
              </a:srgbClr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4182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Sensibilidad</c:v>
                  </c:pt>
                  <c:pt idx="1">
                    <c:v>Especificidad</c:v>
                  </c:pt>
                </c:lvl>
              </c:multiLvlStrCache>
            </c:multiLvl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69</c:v>
                </c:pt>
                <c:pt idx="1">
                  <c:v>85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14182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41821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C4CC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41821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41821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Diagnostico diferencial AR vs artrosis. Motivo visual original: articulacion inflamada (roja) frente a degenerativa (dorada).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 del diagnostico diferencial AR vs artrosis.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Distinguirlas importa: la AR tiene ventana de oportunidad y requiere derivacion y tratamiento temprano; la artrosis es degenerativa y su manejo es sintomatico. Confundirlas lleva a retraso terapeutico o a inmunosupresion innecesaria.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AR: autoinmune inflamatoria sistemica que ataca la sinovial. Artrosis: degenerativa del cartilago y hueso subcondral. Difieren en edad, sexo y curso.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artrosis es mucho mas frecuente (mas de 240 millones en el mundo, primera causa de limitacion de la actividad). La AR afecta al 0,5-1% de adultos, con predominio femenino 2-3 a 1 y pico entre 30 y 60 anos.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AR, una respuesta autoinmune (FR, anti-CCP frente a proteinas citrulinadas) desencadena sinovitis proliferativa (pannus) con TNF e IL-6; los osteoclastos y las metaloproteasas erosionan hueso y cartilago.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artrosis, la sobrecarga (edad, obesidad, lesion, genetica) lleva al fallo del cartilago, que se adelgaza y fibrila; el hueso subcondral se remodela con osteofitos, esclerosis y quistes. La inflamacion sinovial es de bajo grado.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AR el pannus sinovial erosiona el hueso en los margenes y el pinzamiento es uniforme; no hay osteofitos. En la artrosis predominan los osteofitos, la esclerosis subcondral y el pinzamiento asimetrico; no hay erosiones inflamatorias.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patron del dolor orienta: inflamatorio (peor en reposo y de madrugada, mejora con el movimiento, rigidez matutina prolongada, sintomas generales) sugiere AR; mecanico (peor con el uso, mejora con reposo, rigidez breve) sugiere artrosis.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duracion de la rigidez matutina discrimina: mas de 30-60 minutos apunta a inflamacion (AR); menos de 30 minutos, de arranque, apunta a artrosis.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 suele iniciar en semanas-meses, poliarticular y simetrica, con sintomas generales. La artrosis inicia de forma insidiosa en anos, localizada, sin sintomas sistemicos y relacionada con la actividad.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Mapa de la mano. La AR compromete metacarpofalangicas (MCF), interfalangicas proximales (IFP) y munecas de forma simetrica, y respeta las interfalangicas distales (IFD). La artrosis afecta IFD (nodulos de Heberden), IFP (Bouchard) y la base del pulgar (rizartrosis, CMC1). El compromiso de IFD orienta a artrosis, no a 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 afecta pequenas articulaciones (MCF, IFP, munecas, MTF) de forma simetrica y respeta IFD. La artrosis afecta IFD/IFP/base del pulgar en manos y las grandes de carga (rodilla, cadera) y la columna, a menudo asimetrica.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deformidades ayudan al final: en AR, desviacion cubital, cuello de cisne, boutonniere y nodulos reumatoides. En artrosis, nodulos duros de Heberden (IFD) y Bouchard (IFP) y rizartrosis.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la palpacion, la sinovitis de la AR se siente blanda, esponjosa, caliente y dolorosa (squeeze test de MCF/MTF positivo). La artrosis da un aumento oseo duro con crepitacion, sin calor.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Calor y rubor apuntan a AR; la crepitacion es tipica de artrosis; el derrame puede verse en ambas y obliga a descartar artritis septica si hay duda; el squeeze test de MCF/MTF positivo sugiere sinovitis.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sospechas AR, pide FR, anti-CCP, VSG y PCR, con estudios basales. En artrosis tipica no hay marcador: el diagnostico es clinico-radiologico y pedir serologias de rutina genera falsos positivos que confunden.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Metaanalisis de Nishimura 2007: anti-CCP sensibilidad 67% y especificidad 95%; FR sensibilidad 69% y especificidad 85%. La razon de verosimilitud positiva del anti-CCP es cercana a 12,5: un positivo eleva mucho la probabilidad de AR, pero un negativo no la descarta.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anti-CCP positivo con clinica compatible hace muy probable la AR; un negativo no la descarta (hasta un tercio son seronegativas). Un FR aislado positivo puede verse en sanos, infecciones o con la edad. La serologia modifica la probabilidad, pero no diagnostica por si sola.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 la radiografia, la AR muestra erosiones marginales, osteopenia yuxtaarticular y pinzamiento uniforme, sin osteofitos. La artrosis muestra osteofitos, esclerosis subcondral, quistes y pinzamiento asimetrico, sin erosiones inflamatorias.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ecografia detecta sinovitis y senal Doppler (actividad inflamatoria) y es util en AR temprana. La resonancia muestra sinovitis, edema oseo y erosiones precoces antes que la radiografia. Ayudan a confirmar sinovitis dudosa y a ver dano temprano.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criterios de clasificacion ACR/EULAR 2010 puntuan cuatro dominios: numero y tipo de articulaciones (0-5), serologia FR/ACPA (0-3), reactantes de fase aguda PCR/VSG (0-1) y duracion de sintomas (0-1). Seis o mas de diez puntos clasifican como 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Los criterios son de clasificacion, no de diagnostico: requieren al menos una articulacion con sinovitis clinica sin mejor explicacion. El juicio clinico manda, pueden no cumplirse en la AR muy temprana, y siempre hay que excluir imitadores (artrosis, psoriasica, gota, septica, viral).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 artrosis se diagnostica clinicamente: en mayores de 45 anos con dolor mecanico y rigidez breve, el diagnostico es clinico sin imagen (NICE). La radiografia confirma y gradua (Kellgren-Lawrence); el laboratorio solo sirve para excluir causas inflamatorias.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Dell Isola 2016 describe seis fenotipos de artrosis de rodilla: dolor cronico con sensibilizacion central, inflamatorio, metabolico, oseo-cartilaginoso, mecanico y enfermedad articular minima. Reconocerlos orienta pronostico y tratamiento, aunque pueden solaparse (Deveza 2019).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Perlas de evidencia para el especialista: la razon de verosimilitud positiva del anti-CCP es cercana a 12,5; los ACPA preceden a los sintomas; la ventana de oportunidad es menor de 12 semanas; la artrosis no es solo desgaste (hay inflamacion de bajo grado); Kellgren-Lawrence gradua la radiografia; y la imagen no siempre explica el dolor.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Tabla resumen del diagnostico diferencial AR vs artrosis.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Banderas rojas para derivar a reumatologia: sinovitis en una o mas articulaciones (sobre todo MCF, IFP o muneca), rigidez matutina prolongada, compromiso simetrico de pequenas articulaciones, squeeze test positivo, FR o anti-CCP positivos o reactantes elevados, y persistencia mayor de seis semanas. No esperar a que erosione.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Errores frecuentes: pedir FR/anti-CCP en artrosis tipica (falsos positivos), descartar AR por serologia negativa (hay AR seronegativa), atribuir a artrosis una sinovitis de MCF (la artrosis no afecta MCF), y esperar a ver erosiones en la radiografia para derivar.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mensajes clave del diagnostico diferencial AR vs artrosis.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Bibliografia completa en formato Vancouver.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image" Target="../media/image-2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96012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DIFERENCIAL</a:t>
            </a:r>
            <a:endParaRPr lang="en-US" sz="15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37160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42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48840"/>
            <a:ext cx="5852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200" b="1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frente a artrosis</a:t>
            </a:r>
            <a:endParaRPr lang="en-US" sz="4200" dirty="0"/>
          </a:p>
        </p:txBody>
      </p:sp>
      <p:sp>
        <p:nvSpPr>
          <p:cNvPr id="6" name="Text 3"/>
          <p:cNvSpPr txBox="1"/>
          <p:nvPr/>
        </p:nvSpPr>
        <p:spPr>
          <a:xfrm>
            <a:off x="658368" y="301752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900" dirty="0">
                <a:solidFill>
                  <a:srgbClr val="B9C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diferencial basado en evidencia</a:t>
            </a:r>
            <a:endParaRPr lang="en-US" sz="1900" dirty="0"/>
          </a:p>
        </p:txBody>
      </p:sp>
      <p:sp>
        <p:nvSpPr>
          <p:cNvPr id="7" name="Shape 4"/>
          <p:cNvSpPr/>
          <p:nvPr/>
        </p:nvSpPr>
        <p:spPr>
          <a:xfrm>
            <a:off x="676656" y="3767328"/>
            <a:ext cx="822960" cy="41148"/>
          </a:xfrm>
          <a:prstGeom prst="rect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58368" y="3950208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Néstor Fabián Sanabria Duarte</a:t>
            </a:r>
            <a:endParaRPr lang="en-US" sz="2100" dirty="0"/>
          </a:p>
        </p:txBody>
      </p:sp>
      <p:sp>
        <p:nvSpPr>
          <p:cNvPr id="9" name="Text 6"/>
          <p:cNvSpPr txBox="1"/>
          <p:nvPr/>
        </p:nvSpPr>
        <p:spPr>
          <a:xfrm>
            <a:off x="658368" y="4407408"/>
            <a:ext cx="6858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B9C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Residente III · Medicina Interna · Universidad Libre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Ruta del diagnóstico diferencial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554480"/>
            <a:ext cx="1097280" cy="2194560"/>
          </a:xfrm>
          <a:prstGeom prst="roundRect">
            <a:avLst>
              <a:gd name="adj" fmla="val 8333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1754" y="1869034"/>
            <a:ext cx="285293" cy="28529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36576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338328" y="26974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importa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1572768" y="1554480"/>
            <a:ext cx="1097280" cy="2194560"/>
          </a:xfrm>
          <a:prstGeom prst="roundRect">
            <a:avLst>
              <a:gd name="adj" fmla="val 8333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847088" y="173736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8762" y="1869034"/>
            <a:ext cx="285293" cy="285293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572768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1545336" y="26974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Fisiopatología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2779776" y="1554480"/>
            <a:ext cx="1097280" cy="2194560"/>
          </a:xfrm>
          <a:prstGeom prst="roundRect">
            <a:avLst>
              <a:gd name="adj" fmla="val 8333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054096" y="1737360"/>
            <a:ext cx="548640" cy="54864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5770" y="1869034"/>
            <a:ext cx="285293" cy="285293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2779776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9" name="Text 14"/>
          <p:cNvSpPr txBox="1"/>
          <p:nvPr/>
        </p:nvSpPr>
        <p:spPr>
          <a:xfrm>
            <a:off x="2752344" y="26974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3986784" y="1554480"/>
            <a:ext cx="1097280" cy="2194560"/>
          </a:xfrm>
          <a:prstGeom prst="roundRect">
            <a:avLst>
              <a:gd name="adj" fmla="val 8333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4261104" y="1737360"/>
            <a:ext cx="548640" cy="54864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2778" y="1869034"/>
            <a:ext cx="285293" cy="285293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3986784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4" name="Text 18"/>
          <p:cNvSpPr txBox="1"/>
          <p:nvPr/>
        </p:nvSpPr>
        <p:spPr>
          <a:xfrm>
            <a:off x="3959352" y="26974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Distribución</a:t>
            </a:r>
            <a:endParaRPr lang="en-US" sz="1200" dirty="0"/>
          </a:p>
        </p:txBody>
      </p:sp>
      <p:sp>
        <p:nvSpPr>
          <p:cNvPr id="25" name="Shape 19"/>
          <p:cNvSpPr/>
          <p:nvPr/>
        </p:nvSpPr>
        <p:spPr>
          <a:xfrm>
            <a:off x="5193792" y="1554480"/>
            <a:ext cx="1097280" cy="2194560"/>
          </a:xfrm>
          <a:prstGeom prst="roundRect">
            <a:avLst>
              <a:gd name="adj" fmla="val 8333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468112" y="1737360"/>
            <a:ext cx="548640" cy="54864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9786" y="1869034"/>
            <a:ext cx="285293" cy="285293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5193792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9" name="Text 22"/>
          <p:cNvSpPr txBox="1"/>
          <p:nvPr/>
        </p:nvSpPr>
        <p:spPr>
          <a:xfrm>
            <a:off x="5166360" y="26974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6400800" y="1554480"/>
            <a:ext cx="1097280" cy="2194560"/>
          </a:xfrm>
          <a:prstGeom prst="roundRect">
            <a:avLst>
              <a:gd name="adj" fmla="val 8333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6675120" y="1737360"/>
            <a:ext cx="548640" cy="54864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06794" y="1869034"/>
            <a:ext cx="285293" cy="285293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6400800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4" name="Text 26"/>
          <p:cNvSpPr txBox="1"/>
          <p:nvPr/>
        </p:nvSpPr>
        <p:spPr>
          <a:xfrm>
            <a:off x="6373368" y="26974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7607808" y="1554480"/>
            <a:ext cx="1097280" cy="2194560"/>
          </a:xfrm>
          <a:prstGeom prst="roundRect">
            <a:avLst>
              <a:gd name="adj" fmla="val 8333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6" name="Shape 28"/>
          <p:cNvSpPr/>
          <p:nvPr/>
        </p:nvSpPr>
        <p:spPr>
          <a:xfrm>
            <a:off x="7882128" y="1737360"/>
            <a:ext cx="548640" cy="54864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13802" y="1869034"/>
            <a:ext cx="285293" cy="285293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607808" y="237744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9" name="Text 30"/>
          <p:cNvSpPr txBox="1"/>
          <p:nvPr/>
        </p:nvSpPr>
        <p:spPr>
          <a:xfrm>
            <a:off x="7580376" y="2697480"/>
            <a:ext cx="1152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Síntesis</a:t>
            </a:r>
            <a:endParaRPr lang="en-US" sz="1200" dirty="0"/>
          </a:p>
        </p:txBody>
      </p:sp>
      <p:sp>
        <p:nvSpPr>
          <p:cNvPr id="40" name="Shape 31"/>
          <p:cNvSpPr/>
          <p:nvPr/>
        </p:nvSpPr>
        <p:spPr>
          <a:xfrm>
            <a:off x="365760" y="3977640"/>
            <a:ext cx="8412480" cy="502920"/>
          </a:xfrm>
          <a:prstGeom prst="roundRect">
            <a:avLst>
              <a:gd name="adj" fmla="val 18182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41" name="Text 32"/>
          <p:cNvSpPr txBox="1"/>
          <p:nvPr/>
        </p:nvSpPr>
        <p:spPr>
          <a:xfrm>
            <a:off x="420624" y="3977640"/>
            <a:ext cx="83027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enfermedades frecuentes que se confunden: una es inflamatoria y urgente; la otra, degenerativa y crónica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POR QUÉ IMPORTA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lo mismo: cambia la urgencia y el tratamiento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699" y="161665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371600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24028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Inflamatoria y autoinmune: hay ventana de oportunidad.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no se trata pronto, erosiona y deforma de forma irreversible.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Derivación temprana a reumatología cambia el pronóstico.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46320" y="1463040"/>
            <a:ext cx="640080" cy="64008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939" y="161665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577840" y="1536192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8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2240280"/>
            <a:ext cx="3611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Degenerativa y mecánica: la más frecuente.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sintomático; no requiere inmunosupresión.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Sobrediagnosticar AR expone a tratamientos innecesarios.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POR QUÉ IMPORTA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enfermedades distintas de raíz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801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Rasgo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743200" y="12801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76072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79222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Naturaleza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743200" y="179222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Autoinmune inflamatoria sistémica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760720" y="179222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Degenerativa mecánica del cartílago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340864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34086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Diana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743200" y="234086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Membrana sinovial (sinovitis, pannus)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760720" y="234086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Cartílago y hueso subcondral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889504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88950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típica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743200" y="288950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años (puede antes)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760720" y="288950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Aumenta con la edad (&gt;50)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438144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43814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Sexo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743200" y="343814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 2–3 : 1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760720" y="343814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 (manos y rodilla)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3986784"/>
            <a:ext cx="8229600" cy="512064"/>
          </a:xfrm>
          <a:prstGeom prst="roundRect">
            <a:avLst>
              <a:gd name="adj" fmla="val 1785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986784"/>
            <a:ext cx="210312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2743200" y="3986784"/>
            <a:ext cx="2926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Subagudo (semanas)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760720" y="3986784"/>
            <a:ext cx="28346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Insidioso (años)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01 - POR QUÉ IMPORTA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Frecuencia muy diferente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0,5–1 %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523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adultos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269748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: 1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2697480" y="2523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mujer : hombre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3063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</a:t>
            </a:r>
            <a:endParaRPr lang="en-US" sz="34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666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(pico)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4023360" cy="292608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489204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&gt;240 M</a:t>
            </a:r>
            <a:endParaRPr lang="en-US" sz="3400" dirty="0"/>
          </a:p>
        </p:txBody>
      </p:sp>
      <p:sp>
        <p:nvSpPr>
          <p:cNvPr id="18" name="Text 16"/>
          <p:cNvSpPr txBox="1"/>
          <p:nvPr/>
        </p:nvSpPr>
        <p:spPr>
          <a:xfrm>
            <a:off x="4892040" y="2523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en el mundo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903720" y="1920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#1</a:t>
            </a:r>
            <a:endParaRPr lang="en-US" sz="3400" dirty="0"/>
          </a:p>
        </p:txBody>
      </p:sp>
      <p:sp>
        <p:nvSpPr>
          <p:cNvPr id="20" name="Text 18"/>
          <p:cNvSpPr txBox="1"/>
          <p:nvPr/>
        </p:nvSpPr>
        <p:spPr>
          <a:xfrm>
            <a:off x="6903720" y="2523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 de limitación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4892040" y="3063240"/>
            <a:ext cx="2651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&gt;50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4892040" y="3666744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años (aumenta)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4343400"/>
            <a:ext cx="8229600" cy="914"/>
          </a:xfrm>
          <a:prstGeom prst="roundRect">
            <a:avLst>
              <a:gd name="adj" fmla="val 10004376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12064" y="4343400"/>
            <a:ext cx="8119872" cy="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reumatoide: la sinovial se inflama y erosiona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8176" y="1554480"/>
            <a:ext cx="731520" cy="7315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41" y="1730045"/>
            <a:ext cx="380390" cy="3803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3774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Autoinmunidad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7889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y anti-CCP; respuesta frente a proteínas citrulinadas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081528" y="2194560"/>
            <a:ext cx="182880" cy="914"/>
          </a:xfrm>
          <a:prstGeom prst="line">
            <a:avLst/>
          </a:prstGeom>
          <a:noFill/>
          <a:ln w="25400">
            <a:solidFill>
              <a:srgbClr val="3A415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64408" y="137160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15384" y="1554480"/>
            <a:ext cx="731520" cy="73152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949" y="1730045"/>
            <a:ext cx="380390" cy="3803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264408" y="23774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Sinovitis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401568" y="27889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Membrana sinovial proliferante (pannus) con TNF e IL-6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888736" y="2194560"/>
            <a:ext cx="182880" cy="914"/>
          </a:xfrm>
          <a:prstGeom prst="line">
            <a:avLst/>
          </a:prstGeom>
          <a:noFill/>
          <a:ln w="25400">
            <a:solidFill>
              <a:srgbClr val="3A4150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071616" y="137160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22592" y="1554480"/>
            <a:ext cx="731520" cy="7315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57" y="1730045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071616" y="23774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Erosión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208776" y="27889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Osteoclastos y MMP destruyen hueso y cartílago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12064" y="3931920"/>
            <a:ext cx="8119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es un proceso inmunitario que, sin freno, lleva a dano articular irreversible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Artrosis: el cartílago falla y el hueso se remodela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Sharma L. Osteoarthritis of the knee. N Engl J Med. 2021;384(1):51-9.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8176" y="1554480"/>
            <a:ext cx="731520" cy="73152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41" y="1730045"/>
            <a:ext cx="380390" cy="3803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3774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Sobrecarga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7889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Edad, obesidad, lesión previa y genética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3081528" y="2194560"/>
            <a:ext cx="182880" cy="914"/>
          </a:xfrm>
          <a:prstGeom prst="line">
            <a:avLst/>
          </a:prstGeom>
          <a:noFill/>
          <a:ln w="25400">
            <a:solidFill>
              <a:srgbClr val="3A4150"/>
            </a:solidFill>
            <a:prstDash val="solid"/>
            <a:tailEnd type="triangle"/>
          </a:ln>
        </p:spPr>
      </p:sp>
      <p:sp>
        <p:nvSpPr>
          <p:cNvPr id="13" name="Shape 10"/>
          <p:cNvSpPr/>
          <p:nvPr/>
        </p:nvSpPr>
        <p:spPr>
          <a:xfrm>
            <a:off x="3264408" y="137160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215384" y="1554480"/>
            <a:ext cx="731520" cy="73152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949" y="1730045"/>
            <a:ext cx="380390" cy="38039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264408" y="23774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Fallo del cartílago</a:t>
            </a:r>
            <a:endParaRPr lang="en-US" sz="1700" dirty="0"/>
          </a:p>
        </p:txBody>
      </p:sp>
      <p:sp>
        <p:nvSpPr>
          <p:cNvPr id="17" name="Text 13"/>
          <p:cNvSpPr txBox="1"/>
          <p:nvPr/>
        </p:nvSpPr>
        <p:spPr>
          <a:xfrm>
            <a:off x="3401568" y="27889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adelgaza y fibrila; el hueso queda expuesto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5888736" y="2194560"/>
            <a:ext cx="182880" cy="914"/>
          </a:xfrm>
          <a:prstGeom prst="line">
            <a:avLst/>
          </a:prstGeom>
          <a:noFill/>
          <a:ln w="25400">
            <a:solidFill>
              <a:srgbClr val="3A4150"/>
            </a:solidFill>
            <a:prstDash val="solid"/>
            <a:tailEnd type="triangle"/>
          </a:ln>
        </p:spPr>
      </p:sp>
      <p:sp>
        <p:nvSpPr>
          <p:cNvPr id="19" name="Shape 15"/>
          <p:cNvSpPr/>
          <p:nvPr/>
        </p:nvSpPr>
        <p:spPr>
          <a:xfrm>
            <a:off x="6071616" y="1371600"/>
            <a:ext cx="2624328" cy="2286000"/>
          </a:xfrm>
          <a:prstGeom prst="roundRect">
            <a:avLst>
              <a:gd name="adj" fmla="val 4000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22592" y="1554480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57" y="1730045"/>
            <a:ext cx="380390" cy="38039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071616" y="2377440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Remodelación ósea</a:t>
            </a:r>
            <a:endParaRPr lang="en-US" sz="1700" dirty="0"/>
          </a:p>
        </p:txBody>
      </p:sp>
      <p:sp>
        <p:nvSpPr>
          <p:cNvPr id="23" name="Text 18"/>
          <p:cNvSpPr txBox="1"/>
          <p:nvPr/>
        </p:nvSpPr>
        <p:spPr>
          <a:xfrm>
            <a:off x="6208776" y="27889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Osteofitos, esclerosis subcondral y quistes</a:t>
            </a:r>
            <a:endParaRPr lang="en-US" sz="1250" dirty="0"/>
          </a:p>
        </p:txBody>
      </p:sp>
      <p:sp>
        <p:nvSpPr>
          <p:cNvPr id="24" name="Shape 19"/>
          <p:cNvSpPr/>
          <p:nvPr/>
        </p:nvSpPr>
        <p:spPr>
          <a:xfrm>
            <a:off x="457200" y="39319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5" name="Text 20"/>
          <p:cNvSpPr txBox="1"/>
          <p:nvPr/>
        </p:nvSpPr>
        <p:spPr>
          <a:xfrm>
            <a:off x="512064" y="3931920"/>
            <a:ext cx="8119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Clave: predomina lo mecánico-degenerativo; la inflamación sinovial es de bajo grado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02 - FISIOPATOLOGÍA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articulación por dentro: AR frente a artrosis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1463040" y="18745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E8ECF7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63040" y="30175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E8ECF7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554480" y="2487168"/>
            <a:ext cx="1828800" cy="457200"/>
          </a:xfrm>
          <a:prstGeom prst="roundRect">
            <a:avLst>
              <a:gd name="adj" fmla="val 16000"/>
            </a:avLst>
          </a:prstGeom>
          <a:solidFill>
            <a:srgbClr val="F2546B">
              <a:alpha val="55000"/>
            </a:srgbClr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08760" y="228600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2546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3063240"/>
            <a:ext cx="182880" cy="18288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2546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Pannus</a:t>
            </a:r>
            <a:pPr algn="ctr"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erosiones · pinzamiento uniforme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132588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14173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5669280" y="187452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E8ECF7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3063240"/>
            <a:ext cx="2011680" cy="548640"/>
          </a:xfrm>
          <a:prstGeom prst="roundRect">
            <a:avLst>
              <a:gd name="adj" fmla="val 16667"/>
            </a:avLst>
          </a:prstGeom>
          <a:solidFill>
            <a:srgbClr val="E8ECF7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760720" y="3044952"/>
            <a:ext cx="1828800" cy="0"/>
          </a:xfrm>
          <a:prstGeom prst="line">
            <a:avLst/>
          </a:prstGeom>
          <a:noFill/>
          <a:ln w="38100">
            <a:solidFill>
              <a:srgbClr val="F2B4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559552" y="2743200"/>
            <a:ext cx="237744" cy="23774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44384" y="2743200"/>
            <a:ext cx="237744" cy="23774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846320" y="36393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Osteofitos</a:t>
            </a:r>
            <a:pPr algn="ctr"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esclerosis · pinzamiento asimétrico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CLÍNICA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inflamatorio frente a dolor mecánico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28016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Característica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28016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Inflamatorio (AR)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806440" y="12801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Mecánico (artrosis)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57200" y="1792224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792224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Horario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792224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en reposo y de madrugada</a:t>
            </a:r>
            <a:endParaRPr lang="en-US" sz="1150" dirty="0"/>
          </a:p>
        </p:txBody>
      </p:sp>
      <p:sp>
        <p:nvSpPr>
          <p:cNvPr id="14" name="Text 12"/>
          <p:cNvSpPr txBox="1"/>
          <p:nvPr/>
        </p:nvSpPr>
        <p:spPr>
          <a:xfrm>
            <a:off x="5806440" y="17922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Peor con el uso y al final del día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450592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2450592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el movimiento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2450592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Mejora al “desentumecer”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5806440" y="245059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Empeora; mejora con el reposo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3108960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3108960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matutina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3108960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30–60 min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806440" y="3108960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767328"/>
            <a:ext cx="8229600" cy="603504"/>
          </a:xfrm>
          <a:prstGeom prst="roundRect">
            <a:avLst>
              <a:gd name="adj" fmla="val 15152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3767328"/>
            <a:ext cx="22860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Síntomas generales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3767328"/>
            <a:ext cx="28346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Fatiga, febrícula, malestar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806440" y="37673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Ausentes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CLÍNICA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rigidez matutina: un dato que vale oro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600200"/>
            <a:ext cx="640080" cy="64008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75381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30–60 min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28803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prolongada que mejora lentamente al moverse; refleja inflamación sinovial.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4663440" y="137160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92040" y="1600200"/>
            <a:ext cx="640080" cy="64008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59" y="1753819"/>
            <a:ext cx="332842" cy="332842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669280" y="1645920"/>
            <a:ext cx="2926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3000" dirty="0"/>
          </a:p>
        </p:txBody>
      </p:sp>
      <p:sp>
        <p:nvSpPr>
          <p:cNvPr id="17" name="Text 13"/>
          <p:cNvSpPr txBox="1"/>
          <p:nvPr/>
        </p:nvSpPr>
        <p:spPr>
          <a:xfrm>
            <a:off x="4892040" y="2468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600" dirty="0"/>
          </a:p>
        </p:txBody>
      </p:sp>
      <p:sp>
        <p:nvSpPr>
          <p:cNvPr id="18" name="Text 14"/>
          <p:cNvSpPr txBox="1"/>
          <p:nvPr/>
        </p:nvSpPr>
        <p:spPr>
          <a:xfrm>
            <a:off x="4892040" y="288036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breve “de arranque” tras el reposo, que cede rápido con el uso.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457200" y="4114800"/>
            <a:ext cx="8229600" cy="347472"/>
          </a:xfrm>
          <a:prstGeom prst="roundRect">
            <a:avLst>
              <a:gd name="adj" fmla="val 26316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512064" y="4114800"/>
            <a:ext cx="81198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Pregunta siempre: ¿cuánto dura la rigidez al levantarse?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03 - CLÍNICA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y síntomas acompañantes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288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en semanas-meses, poliarticular y simétrico.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Fatiga, febrícula, pérdida de peso.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Tumefacción blanda y caliente de pequeñas articulaciones.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Sugiere artrosis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288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 insidioso en años, oligoarticular o localizado.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síntomas sistémicos.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Relación con la actividad; crepitación al mover.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DISTRIBUCIÓN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mapa de la mano: patrón que delata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Ezzati F, Pezeshk P. Radiographic findings of inflammatory arthritis and mimics in the hands. Diagnostics (Basel). 2022;12(9):2134.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05840" y="2606040"/>
            <a:ext cx="1463040" cy="1234440"/>
          </a:xfrm>
          <a:prstGeom prst="roundRect">
            <a:avLst>
              <a:gd name="adj" fmla="val 18519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60704" y="1463040"/>
            <a:ext cx="292608" cy="1417320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532888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2016252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627632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17320" y="1307592"/>
            <a:ext cx="292608" cy="1572768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453896" y="2532888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53896" y="1950964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453896" y="1509492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73936" y="1399032"/>
            <a:ext cx="292608" cy="1481328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10512" y="2532888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810512" y="1989369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810512" y="1578986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30552" y="1645920"/>
            <a:ext cx="292608" cy="1234440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167128" y="2532888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167128" y="2093062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167128" y="1766621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1792" y="2651760"/>
            <a:ext cx="310896" cy="1143000"/>
          </a:xfrm>
          <a:prstGeom prst="roundRect">
            <a:avLst>
              <a:gd name="adj" fmla="val 44118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67512" y="2770632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7512" y="3108960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67512" y="3502152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34440" y="379476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07592" y="3886200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627632" y="3886200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47672" y="3886200"/>
            <a:ext cx="219456" cy="219456"/>
          </a:xfrm>
          <a:prstGeom prst="ellipse">
            <a:avLst/>
          </a:prstGeom>
          <a:solidFill>
            <a:srgbClr val="F2546B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5720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3657600" y="2606040"/>
            <a:ext cx="1463040" cy="1234440"/>
          </a:xfrm>
          <a:prstGeom prst="roundRect">
            <a:avLst>
              <a:gd name="adj" fmla="val 18519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712464" y="1463040"/>
            <a:ext cx="292608" cy="1417320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749040" y="2532888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749040" y="201625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749040" y="162763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069080" y="1307592"/>
            <a:ext cx="292608" cy="1572768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105656" y="2532888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4105656" y="1950964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105656" y="150949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425696" y="1399032"/>
            <a:ext cx="292608" cy="1481328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462272" y="2532888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62272" y="1989369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462272" y="1578986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82312" y="1645920"/>
            <a:ext cx="292608" cy="1234440"/>
          </a:xfrm>
          <a:prstGeom prst="roundRect">
            <a:avLst>
              <a:gd name="adj" fmla="val 46875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18888" y="2532888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818888" y="209306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818888" y="1766621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273552" y="2651760"/>
            <a:ext cx="310896" cy="1143000"/>
          </a:xfrm>
          <a:prstGeom prst="roundRect">
            <a:avLst>
              <a:gd name="adj" fmla="val 44118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319272" y="277063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19272" y="3108960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3319272" y="3502152"/>
            <a:ext cx="219456" cy="219456"/>
          </a:xfrm>
          <a:prstGeom prst="ellipse">
            <a:avLst/>
          </a:prstGeom>
          <a:solidFill>
            <a:srgbClr val="F2B43C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886200" y="3794760"/>
            <a:ext cx="1005840" cy="411480"/>
          </a:xfrm>
          <a:prstGeom prst="roundRect">
            <a:avLst>
              <a:gd name="adj" fmla="val 22222"/>
            </a:avLst>
          </a:prstGeom>
          <a:solidFill>
            <a:srgbClr val="EEF1F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3959352" y="3886200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4279392" y="3886200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599432" y="3886200"/>
            <a:ext cx="219456" cy="219456"/>
          </a:xfrm>
          <a:prstGeom prst="ellipse">
            <a:avLst/>
          </a:prstGeom>
          <a:solidFill>
            <a:srgbClr val="CFD6EA"/>
          </a:solidFill>
          <a:ln w="9525">
            <a:solidFill>
              <a:srgbClr val="B9C2DE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108960" y="38862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5943600" y="1325880"/>
            <a:ext cx="274320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6126480" y="1536192"/>
            <a:ext cx="237744" cy="237744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6446520" y="1481328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AR: MCF, IFP y muñecas (simétrico)</a:t>
            </a:r>
            <a:endParaRPr lang="en-US" sz="1150" dirty="0"/>
          </a:p>
        </p:txBody>
      </p:sp>
      <p:sp>
        <p:nvSpPr>
          <p:cNvPr id="62" name="Shape 60"/>
          <p:cNvSpPr/>
          <p:nvPr/>
        </p:nvSpPr>
        <p:spPr>
          <a:xfrm>
            <a:off x="6126480" y="2194560"/>
            <a:ext cx="237744" cy="23774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446520" y="21031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Artrosis: IFD, IFP y base del pulgar (CMC1)</a:t>
            </a:r>
            <a:endParaRPr lang="en-US" sz="1150" dirty="0"/>
          </a:p>
        </p:txBody>
      </p:sp>
      <p:sp>
        <p:nvSpPr>
          <p:cNvPr id="64" name="Shape 62"/>
          <p:cNvSpPr/>
          <p:nvPr/>
        </p:nvSpPr>
        <p:spPr>
          <a:xfrm>
            <a:off x="6126480" y="2926080"/>
            <a:ext cx="237744" cy="237744"/>
          </a:xfrm>
          <a:prstGeom prst="ellipse">
            <a:avLst/>
          </a:prstGeom>
          <a:solidFill>
            <a:srgbClr val="CFD6EA"/>
          </a:solidFill>
          <a:ln w="12700">
            <a:solidFill>
              <a:srgbClr val="B9C2DE"/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6446520" y="2871216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Habitualmente respetada</a:t>
            </a:r>
            <a:endParaRPr lang="en-US" sz="1150" dirty="0"/>
          </a:p>
        </p:txBody>
      </p:sp>
      <p:sp>
        <p:nvSpPr>
          <p:cNvPr id="66" name="Text 64"/>
          <p:cNvSpPr txBox="1"/>
          <p:nvPr/>
        </p:nvSpPr>
        <p:spPr>
          <a:xfrm>
            <a:off x="6126480" y="34290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3A41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IFD casi nunca se afecta en AR: su compromiso apunta a artrosis (o psoriásica).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DISTRIBUCIÓN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Más allá de la mano: articulaciones típicas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288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Pequeñas articulaciones: MCF, IFP, muñecas.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Pies: metatarsofalángicas (MTF).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Simétrica y poliarticular; respeta IFD y columna dorsolumbar.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288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Manos: IFD, IFP y base del pulgar.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Grandes de carga: rodilla y cadera.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Columna (cervical/lumbar); patrón a menudo asimétrico.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04 - DISTRIBUCIÓN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Deformidades y nódulos: pistas al final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Ezzati F, Pezeshk P. Radiographic findings of inflammatory arthritis and mimics in the hands. Diagnostics (Basel). 2022;12(9):2134.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 (sinovitis crónica)</a:t>
            </a:r>
            <a:endParaRPr lang="en-US" sz="15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288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Desviación cubital de los dedos.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Dedos en “cuello de cisne” y en “boutonnière”.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Nódulos reumatoides (subcutáneos, en zonas de presión).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 (hueso)</a:t>
            </a:r>
            <a:endParaRPr lang="en-US" sz="155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28800"/>
            <a:ext cx="361188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Nódulos de Heberden (IFD).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Nódulos de Bouchard (IFP).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Rizartrosis: base del pulgar “cuadrada”.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8229600" cy="274320"/>
          </a:xfrm>
          <a:prstGeom prst="roundRect">
            <a:avLst>
              <a:gd name="adj" fmla="val 33333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" y="4251960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Nódulos duros en IFD = Heberden (artrosis); tumefacción blanda en MCF = sinovitis (AR)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EXAMEN FÍSICO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Tumefacción blanda frente a dura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85800" y="1554480"/>
            <a:ext cx="640080" cy="64008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9419" y="1708099"/>
            <a:ext cx="332842" cy="332842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46304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Blanda (sinovitis)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237744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Consistencia “esponjosa”, fluctuante.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Caliente, a veces roja; dolor a la compresión.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test de MCF/MTF positivo.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663440" y="1325880"/>
            <a:ext cx="4023360" cy="274320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892040" y="1554480"/>
            <a:ext cx="640080" cy="64008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659" y="1708099"/>
            <a:ext cx="332842" cy="332842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5669280" y="16276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 (ósea)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4892040" y="2377440"/>
            <a:ext cx="3611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Aumento óseo “como hueso” (osteofitos/nódulos).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caliente; crepitación al movilizar.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localizado a la carga.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7200" y="4160520"/>
            <a:ext cx="8229600" cy="320040"/>
          </a:xfrm>
          <a:prstGeom prst="roundRect">
            <a:avLst>
              <a:gd name="adj" fmla="val 28571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512064" y="4160520"/>
            <a:ext cx="8119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tacto distingue: blando y caliente = inflamación; duro y frío = hueso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05 - EXAMEN FÍSICO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Signos que inclinan la balanza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533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Calor y rubor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3931920" y="1280160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Presentes en AR; ausentes en artrosis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57200" y="2029968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" y="2148840"/>
            <a:ext cx="457200" cy="4572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5856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34440" y="21031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Crepitación</a:t>
            </a:r>
            <a:endParaRPr lang="en-US" sz="1500" dirty="0"/>
          </a:p>
        </p:txBody>
      </p:sp>
      <p:sp>
        <p:nvSpPr>
          <p:cNvPr id="16" name="Text 12"/>
          <p:cNvSpPr txBox="1"/>
          <p:nvPr/>
        </p:nvSpPr>
        <p:spPr>
          <a:xfrm>
            <a:off x="3931920" y="2029968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Típica de artrosis (roce óseo)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57200" y="2779776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" y="2898648"/>
            <a:ext cx="457200" cy="45720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0837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34440" y="2852928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Derrame</a:t>
            </a:r>
            <a:endParaRPr lang="en-US" sz="1500" dirty="0"/>
          </a:p>
        </p:txBody>
      </p:sp>
      <p:sp>
        <p:nvSpPr>
          <p:cNvPr id="21" name="Text 16"/>
          <p:cNvSpPr txBox="1"/>
          <p:nvPr/>
        </p:nvSpPr>
        <p:spPr>
          <a:xfrm>
            <a:off x="3931920" y="2779776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Posible en ambas; aspirar si duda o artritis séptica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457200" y="3529584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1792" y="3648456"/>
            <a:ext cx="457200" cy="4572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5818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34440" y="36027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test</a:t>
            </a:r>
            <a:endParaRPr lang="en-US" sz="1500" dirty="0"/>
          </a:p>
        </p:txBody>
      </p:sp>
      <p:sp>
        <p:nvSpPr>
          <p:cNvPr id="26" name="Text 20"/>
          <p:cNvSpPr txBox="1"/>
          <p:nvPr/>
        </p:nvSpPr>
        <p:spPr>
          <a:xfrm>
            <a:off x="3931920" y="3529584"/>
            <a:ext cx="466344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al comprimir MCF/MTF sugiere AR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LABORATORIO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Qué pedir (y qué no)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Nishimura K, Sugiyama D, Kogata Y, Tsuji G, Nakazawa T, Kawano S, et al. Meta-analysis: diagnostic accuracy of anti-cyclic citrullinated peptide antibody and rheumatoid factor for rheumatoid arthritis. Ann Intern Med. 2007;146(11):797-808.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sospechas AR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2880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 reumatoide (FR).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Anti-CCP / ACPA (más específico).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VSG y PCR (actividad inflamatoria).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Hemograma, función hepática/renal (basal).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artrosis típica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2880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hay marcador de laboratorio; suelen ser normales.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diagnóstico es clínico-radiológico.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pedir FR/anti-CCP “de rutina”: falsos positivos confunden.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LABORATORIO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Anti-CCP frente a FR: rendimiento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Nishimura K, Sugiyama D, Kogata Y, Tsuji G, Nakazawa T, Kawano S, et al. Meta-analysis: diagnostic accuracy of anti-cyclic citrullinated peptide antibody and rheumatoid factor for rheumatoid arthritis. Ann Intern Med. 2007;146(11):797-808.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graphicFrame>
        <p:nvGraphicFramePr>
          <p:cNvPr id="7" name="Chart 0" descr=""/>
          <p:cNvGraphicFramePr/>
          <p:nvPr/>
        </p:nvGraphicFramePr>
        <p:xfrm>
          <a:off x="457200" y="1325880"/>
          <a:ext cx="484632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Shape 5"/>
          <p:cNvSpPr/>
          <p:nvPr/>
        </p:nvSpPr>
        <p:spPr>
          <a:xfrm>
            <a:off x="5486400" y="1325880"/>
            <a:ext cx="32004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66928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leerlo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5669280" y="1828800"/>
            <a:ext cx="288036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Anti-CCP: más específico (95 %).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RV+ del anti-CCP ≈ 12,5: si es positivo, sube mucho la probabilidad de AR.</a:t>
            </a:r>
            <a:endParaRPr lang="en-US" sz="12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Sensibilidad ≈ 67–69 %: un negativo no descarta AR.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06 - LABORATORIO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Interpretar la serología sin caer en trampas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Nishimura K, Sugiyama D, Kogata Y, Tsuji G, Nakazawa T, Kawano S, et al. Meta-analysis: diagnostic accuracy of anti-cyclic citrullinated peptide antibody and rheumatoid factor for rheumatoid arthritis. Ann Intern Med. 2007;146(11):797-808.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399032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508760"/>
            <a:ext cx="237744" cy="23774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234440" y="1353312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con clínica</a:t>
            </a:r>
            <a:endParaRPr lang="en-US" sz="1450" dirty="0"/>
          </a:p>
        </p:txBody>
      </p:sp>
      <p:sp>
        <p:nvSpPr>
          <p:cNvPr id="11" name="Text 8"/>
          <p:cNvSpPr txBox="1"/>
          <p:nvPr/>
        </p:nvSpPr>
        <p:spPr>
          <a:xfrm>
            <a:off x="4114800" y="1280160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Anti-CCP+ en una sinovitis compatible: muy probable AR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457200" y="2029968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" y="2148840"/>
            <a:ext cx="457200" cy="4572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258568"/>
            <a:ext cx="237744" cy="23774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234440" y="210312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 no descarta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4114800" y="2029968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un tercio de las AR son seronegativas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57200" y="2779776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" y="2898648"/>
            <a:ext cx="457200" cy="4572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008376"/>
            <a:ext cx="237744" cy="23774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234440" y="2852928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aislado</a:t>
            </a:r>
            <a:endParaRPr lang="en-US" sz="1450" dirty="0"/>
          </a:p>
        </p:txBody>
      </p:sp>
      <p:sp>
        <p:nvSpPr>
          <p:cNvPr id="21" name="Text 16"/>
          <p:cNvSpPr txBox="1"/>
          <p:nvPr/>
        </p:nvSpPr>
        <p:spPr>
          <a:xfrm>
            <a:off x="4114800" y="2779776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FR+ sin clínica puede verse en sanos, infecciones o edad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457200" y="3529584"/>
            <a:ext cx="8229600" cy="694944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1792" y="3648456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758184"/>
            <a:ext cx="237744" cy="23774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34440" y="3602736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 manda</a:t>
            </a:r>
            <a:endParaRPr lang="en-US" sz="1450" dirty="0"/>
          </a:p>
        </p:txBody>
      </p:sp>
      <p:sp>
        <p:nvSpPr>
          <p:cNvPr id="26" name="Text 20"/>
          <p:cNvSpPr txBox="1"/>
          <p:nvPr/>
        </p:nvSpPr>
        <p:spPr>
          <a:xfrm>
            <a:off x="4114800" y="3529584"/>
            <a:ext cx="44805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serología modifica la probabilidad, no diagnostica sola</a:t>
            </a:r>
            <a:endParaRPr lang="en-US" sz="12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IMAGEN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Radiografía: signos opuestos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Ezzati F, Pezeshk P. Radiographic findings of inflammatory arthritis and mimics in the hands. Diagnostics (Basel). 2022;12(9):2134.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2880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Erosiones marginales.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Osteopenia yuxtaarticular.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Pinzamiento articular uniforme.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osteofitos.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417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28800"/>
            <a:ext cx="36118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Osteofitos (picos óseos).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Esclerosis subcondral.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Quistes subcondrales.</a:t>
            </a:r>
            <a:endParaRPr lang="en-US" sz="13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Pinzamiento asimétrico; sin erosiones.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8229600" cy="274320"/>
          </a:xfrm>
          <a:prstGeom prst="roundRect">
            <a:avLst>
              <a:gd name="adj" fmla="val 33333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" y="4251960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Regla: erosión = inflamatorio (AR) · osteofito = degenerativo (artrosis)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IMAGEN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Ecografía y resonancia: ver la inflamación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Ezzati F, Pezeshk P. Radiographic findings of inflammatory arthritis and mimics in the hands. Diagnostics (Basel). 2022;12(9):2134.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2624328" cy="2377440"/>
          </a:xfrm>
          <a:prstGeom prst="roundRect">
            <a:avLst>
              <a:gd name="adj" fmla="val 3846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08176" y="1572768"/>
            <a:ext cx="731520" cy="73152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83741" y="1748333"/>
            <a:ext cx="380390" cy="38039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57200" y="239572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Ecografía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594360" y="2816352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sinovitis y señal Doppler (actividad); útil en AR temprana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264408" y="1371600"/>
            <a:ext cx="2624328" cy="2377440"/>
          </a:xfrm>
          <a:prstGeom prst="roundRect">
            <a:avLst>
              <a:gd name="adj" fmla="val 3846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215384" y="1572768"/>
            <a:ext cx="731520" cy="7315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0949" y="1748333"/>
            <a:ext cx="380390" cy="38039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264408" y="239572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Resonancia</a:t>
            </a:r>
            <a:endParaRPr lang="en-US" sz="1600" dirty="0"/>
          </a:p>
        </p:txBody>
      </p:sp>
      <p:sp>
        <p:nvSpPr>
          <p:cNvPr id="16" name="Text 12"/>
          <p:cNvSpPr txBox="1"/>
          <p:nvPr/>
        </p:nvSpPr>
        <p:spPr>
          <a:xfrm>
            <a:off x="3401568" y="2816352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Sinovitis, edema óseo y erosiones precoces antes que la radiografía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071616" y="1371600"/>
            <a:ext cx="2624328" cy="2377440"/>
          </a:xfrm>
          <a:prstGeom prst="roundRect">
            <a:avLst>
              <a:gd name="adj" fmla="val 3846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7022592" y="1572768"/>
            <a:ext cx="731520" cy="7315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8157" y="1748333"/>
            <a:ext cx="380390" cy="38039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071616" y="2395728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qué sirve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208776" y="2816352"/>
            <a:ext cx="23500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Confirmar sinovitis dudosa y detectar daño temprano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4023360"/>
            <a:ext cx="8229600" cy="411480"/>
          </a:xfrm>
          <a:prstGeom prst="roundRect">
            <a:avLst>
              <a:gd name="adj" fmla="val 22222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512064" y="4023360"/>
            <a:ext cx="81198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ecografía con Doppler confirma sinovitis cuando el examen deja dudas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08 - CRITERIOS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Criterios ACR/EULAR 2010 para 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Aletaha D, Neogi T, Silman AJ, Funovits J, Felson DT, Bingham CO 3rd, et al. 2010 rheumatoid arthritis classification criteria: an ACR/EULAR collaborative initiative. Ann Rheum Dis. 2010;69(9):1580-8.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114800" cy="3063240"/>
          </a:xfrm>
          <a:prstGeom prst="roundRect">
            <a:avLst>
              <a:gd name="adj" fmla="val 2985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3716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 articular (0–5)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17373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Articulaciones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1874520" y="173736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grande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977640" y="1755648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977640" y="1755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2249424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1874520" y="224942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2–10 grandes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977640" y="2267712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97764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27614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1874520" y="27614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pequeñas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977640" y="2779776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77640" y="27797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40080" y="3273552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874520" y="327355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4–10 pequeñas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977640" y="3291840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977640" y="32918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3785616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1874520" y="378561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10 (≥ 1 pequeña)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977640" y="3803904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3977640" y="38039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1280160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46320" y="1353312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Serología (0–3)</a:t>
            </a:r>
            <a:endParaRPr lang="en-US" sz="1250" dirty="0"/>
          </a:p>
        </p:txBody>
      </p:sp>
      <p:sp>
        <p:nvSpPr>
          <p:cNvPr id="31" name="Text 29"/>
          <p:cNvSpPr txBox="1"/>
          <p:nvPr/>
        </p:nvSpPr>
        <p:spPr>
          <a:xfrm>
            <a:off x="4846320" y="162763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FR/ACPA negativos = 0 · bajos = 2 · altos = 3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709160" y="2066544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2139696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Reactantes (0–1)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4846320" y="241401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PCR/VSG normales = 0 · anormales = 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709160" y="2852928"/>
            <a:ext cx="397764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4846320" y="292608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(0–1)</a:t>
            </a:r>
            <a:endParaRPr lang="en-US" sz="1250" dirty="0"/>
          </a:p>
        </p:txBody>
      </p:sp>
      <p:sp>
        <p:nvSpPr>
          <p:cNvPr id="37" name="Text 35"/>
          <p:cNvSpPr txBox="1"/>
          <p:nvPr/>
        </p:nvSpPr>
        <p:spPr>
          <a:xfrm>
            <a:off x="4846320" y="320040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6 semanas = 0 · ≥ 6 semanas = 1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709160" y="3657600"/>
            <a:ext cx="3977640" cy="685800"/>
          </a:xfrm>
          <a:prstGeom prst="roundRect">
            <a:avLst>
              <a:gd name="adj" fmla="val 13333"/>
            </a:avLst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4764024" y="3657600"/>
            <a:ext cx="386791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519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 6 / 10 puntos clasifica como AR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08 - CRITERIOS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Clasificar ≠ diagnosticar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Aletaha D, Neogi T, Silman AJ, Funovits J, Felson DT, Bingham CO 3rd, et al. 2010 rheumatoid arthritis classification criteria: an ACR/EULAR collaborative initiative. Ann Rheum Dis. 2010;69(9):1580-8.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85800" y="146304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obligatoria: al menos una articulación con sinovitis clínica, sin otra explicación mejor.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2560320"/>
            <a:ext cx="2624328" cy="1737360"/>
          </a:xfrm>
          <a:prstGeom prst="roundRect">
            <a:avLst>
              <a:gd name="adj" fmla="val 5263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408176" y="2724912"/>
            <a:ext cx="640080" cy="64008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1795" y="2878531"/>
            <a:ext cx="332842" cy="332842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457200" y="3456432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juicio clínico manda</a:t>
            </a:r>
            <a:endParaRPr lang="en-US" sz="1350" dirty="0"/>
          </a:p>
        </p:txBody>
      </p:sp>
      <p:sp>
        <p:nvSpPr>
          <p:cNvPr id="13" name="Text 10"/>
          <p:cNvSpPr txBox="1"/>
          <p:nvPr/>
        </p:nvSpPr>
        <p:spPr>
          <a:xfrm>
            <a:off x="566928" y="38221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criterios apoyan, no sustituyen la evaluación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264408" y="2560320"/>
            <a:ext cx="2624328" cy="1737360"/>
          </a:xfrm>
          <a:prstGeom prst="roundRect">
            <a:avLst>
              <a:gd name="adj" fmla="val 5263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215384" y="2724912"/>
            <a:ext cx="640080" cy="64008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9003" y="2878531"/>
            <a:ext cx="332842" cy="332842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3264408" y="3456432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Pensar en AR temprana</a:t>
            </a:r>
            <a:endParaRPr lang="en-US" sz="1350" dirty="0"/>
          </a:p>
        </p:txBody>
      </p:sp>
      <p:sp>
        <p:nvSpPr>
          <p:cNvPr id="18" name="Text 14"/>
          <p:cNvSpPr txBox="1"/>
          <p:nvPr/>
        </p:nvSpPr>
        <p:spPr>
          <a:xfrm>
            <a:off x="3374136" y="38221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Pueden no cumplirse al inicio; reevalúa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6071616" y="2560320"/>
            <a:ext cx="2624328" cy="1737360"/>
          </a:xfrm>
          <a:prstGeom prst="roundRect">
            <a:avLst>
              <a:gd name="adj" fmla="val 5263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7022592" y="2724912"/>
            <a:ext cx="640080" cy="64008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6211" y="2878531"/>
            <a:ext cx="332842" cy="332842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6071616" y="3456432"/>
            <a:ext cx="26243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Excluir imitadores</a:t>
            </a:r>
            <a:endParaRPr lang="en-US" sz="1350" dirty="0"/>
          </a:p>
        </p:txBody>
      </p:sp>
      <p:sp>
        <p:nvSpPr>
          <p:cNvPr id="23" name="Text 18"/>
          <p:cNvSpPr txBox="1"/>
          <p:nvPr/>
        </p:nvSpPr>
        <p:spPr>
          <a:xfrm>
            <a:off x="6181344" y="3822192"/>
            <a:ext cx="24048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Artrosis, psoriásica, gota, séptica, viral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ARTROSIS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se diagnostica la artrosis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Kolasinski SL, Neogi T, Hochberg MC, Oatis C, Guyatt G, Block J, et al. 2019 ACR/Arthritis Foundation guideline for the management of osteoarthritis of the hand, hip, and knee. Arthritis Rheumatol. 2020;72(2):220-33.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un diagnóstico clínico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18288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Edad ≥ 45 años con dolor articular relacionado con el uso.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matutina ausente o &lt; 30 min.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el caso típico no hace falta radiografía (NICE).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Examen: crepitación, aumento óseo, dolor a la rotación interna en cadera.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4023360" cy="3017520"/>
          </a:xfrm>
          <a:prstGeom prst="roundRect">
            <a:avLst>
              <a:gd name="adj" fmla="val 3030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4632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complementarias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892040" y="1828800"/>
            <a:ext cx="36118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Radiografía: confirma y gradua (Kellgren-Lawrence 0–4).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 normal: sólo para excluir causas inflamatorias.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Ecografía/RM: no necesarias de rutina.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hay derrame y duda: líquido no inflamatorio (&lt; 2000 cél/mm³).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434840"/>
            <a:ext cx="8229600" cy="914"/>
          </a:xfrm>
          <a:prstGeom prst="roundRect">
            <a:avLst>
              <a:gd name="adj" fmla="val 10004376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12064" y="4434840"/>
            <a:ext cx="8119872" cy="9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endParaRPr lang="en-US" sz="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DIAGNÓSTICO DE ARTROSIS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Fenotipos de la artrosis: no es una sola enfermedad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Dell’Isola A, Allan R, Smith SL, Marreiros SS, Steultjens M. Identification of clinical phenotypes in knee osteoarthritis: a systematic review of the literature. BMC Musculoskelet Disord. 2016;17:425.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Deveza LA, Nelson AE, Loeser RF. Phenotypes of osteoarthritis: current state and future implications. Clin Exp Rheumatol. 2019;37 Suppl 120(5):S64-72.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2588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3504" y="150876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4205" y="1629461"/>
            <a:ext cx="261518" cy="261518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147218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crónico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603504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Sensibilización central; dolor desproporcionado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3264408" y="132588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F2546B">
              <a:alpha val="10000"/>
            </a:srgbClr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410712" y="1508760"/>
            <a:ext cx="502920" cy="50292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1413" y="1629461"/>
            <a:ext cx="261518" cy="261518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3995928" y="147218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Inflamatorio</a:t>
            </a:r>
            <a:endParaRPr lang="en-US" sz="1400" dirty="0"/>
          </a:p>
        </p:txBody>
      </p:sp>
      <p:sp>
        <p:nvSpPr>
          <p:cNvPr id="16" name="Text 12"/>
          <p:cNvSpPr txBox="1"/>
          <p:nvPr/>
        </p:nvSpPr>
        <p:spPr>
          <a:xfrm>
            <a:off x="3410712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Sinovitis y derrame; cursa con brotes</a:t>
            </a:r>
            <a:endParaRPr lang="en-US" sz="1050" dirty="0"/>
          </a:p>
        </p:txBody>
      </p:sp>
      <p:sp>
        <p:nvSpPr>
          <p:cNvPr id="17" name="Shape 13"/>
          <p:cNvSpPr/>
          <p:nvPr/>
        </p:nvSpPr>
        <p:spPr>
          <a:xfrm>
            <a:off x="6071616" y="132588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0" y="1508760"/>
            <a:ext cx="502920" cy="50292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8621" y="1629461"/>
            <a:ext cx="261518" cy="261518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803136" y="147218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Metabólico</a:t>
            </a:r>
            <a:endParaRPr lang="en-US" sz="14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05740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Obesidad y síndrome metabólico</a:t>
            </a:r>
            <a:endParaRPr lang="en-US" sz="1050" dirty="0"/>
          </a:p>
        </p:txBody>
      </p:sp>
      <p:sp>
        <p:nvSpPr>
          <p:cNvPr id="22" name="Shape 17"/>
          <p:cNvSpPr/>
          <p:nvPr/>
        </p:nvSpPr>
        <p:spPr>
          <a:xfrm>
            <a:off x="457200" y="274320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4CC9F0">
              <a:alpha val="10000"/>
            </a:srgbClr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03504" y="2926080"/>
            <a:ext cx="502920" cy="50292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205" y="3046781"/>
            <a:ext cx="261518" cy="261518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28895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Óseo-cartilaginoso</a:t>
            </a:r>
            <a:endParaRPr lang="en-US" sz="1400" dirty="0"/>
          </a:p>
        </p:txBody>
      </p:sp>
      <p:sp>
        <p:nvSpPr>
          <p:cNvPr id="26" name="Text 20"/>
          <p:cNvSpPr txBox="1"/>
          <p:nvPr/>
        </p:nvSpPr>
        <p:spPr>
          <a:xfrm>
            <a:off x="603504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Alto remodelado óseo subcondral</a:t>
            </a:r>
            <a:endParaRPr lang="en-US" sz="1050" dirty="0"/>
          </a:p>
        </p:txBody>
      </p:sp>
      <p:sp>
        <p:nvSpPr>
          <p:cNvPr id="27" name="Shape 21"/>
          <p:cNvSpPr/>
          <p:nvPr/>
        </p:nvSpPr>
        <p:spPr>
          <a:xfrm>
            <a:off x="3264408" y="274320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2EC4B6">
              <a:alpha val="10000"/>
            </a:srgbClr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8" name="Shape 22"/>
          <p:cNvSpPr/>
          <p:nvPr/>
        </p:nvSpPr>
        <p:spPr>
          <a:xfrm>
            <a:off x="3410712" y="2926080"/>
            <a:ext cx="502920" cy="50292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31413" y="3046781"/>
            <a:ext cx="261518" cy="261518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3995928" y="28895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Mecánico</a:t>
            </a:r>
            <a:endParaRPr lang="en-US" sz="1400" dirty="0"/>
          </a:p>
        </p:txBody>
      </p:sp>
      <p:sp>
        <p:nvSpPr>
          <p:cNvPr id="31" name="Text 24"/>
          <p:cNvSpPr txBox="1"/>
          <p:nvPr/>
        </p:nvSpPr>
        <p:spPr>
          <a:xfrm>
            <a:off x="3410712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Malalineación y sobrecarga</a:t>
            </a:r>
            <a:endParaRPr lang="en-US" sz="1050" dirty="0"/>
          </a:p>
        </p:txBody>
      </p:sp>
      <p:sp>
        <p:nvSpPr>
          <p:cNvPr id="32" name="Shape 25"/>
          <p:cNvSpPr/>
          <p:nvPr/>
        </p:nvSpPr>
        <p:spPr>
          <a:xfrm>
            <a:off x="6071616" y="2743200"/>
            <a:ext cx="2624328" cy="1280160"/>
          </a:xfrm>
          <a:prstGeom prst="roundRect">
            <a:avLst>
              <a:gd name="adj" fmla="val 7143"/>
            </a:avLst>
          </a:prstGeom>
          <a:solidFill>
            <a:srgbClr val="A78BFA">
              <a:alpha val="10000"/>
            </a:srgbClr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6217920" y="2926080"/>
            <a:ext cx="502920" cy="50292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621" y="3046781"/>
            <a:ext cx="261518" cy="261518"/>
          </a:xfrm>
          <a:prstGeom prst="rect">
            <a:avLst/>
          </a:prstGeom>
        </p:spPr>
      </p:pic>
      <p:sp>
        <p:nvSpPr>
          <p:cNvPr id="35" name="Text 27"/>
          <p:cNvSpPr txBox="1"/>
          <p:nvPr/>
        </p:nvSpPr>
        <p:spPr>
          <a:xfrm>
            <a:off x="6803136" y="2889504"/>
            <a:ext cx="1783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Enfermedad mínima</a:t>
            </a:r>
            <a:endParaRPr lang="en-US" sz="1400" dirty="0"/>
          </a:p>
        </p:txBody>
      </p:sp>
      <p:sp>
        <p:nvSpPr>
          <p:cNvPr id="36" name="Text 28"/>
          <p:cNvSpPr txBox="1"/>
          <p:nvPr/>
        </p:nvSpPr>
        <p:spPr>
          <a:xfrm>
            <a:off x="621792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Daño leve, progresión lenta</a:t>
            </a:r>
            <a:endParaRPr lang="en-US" sz="1050" dirty="0"/>
          </a:p>
        </p:txBody>
      </p:sp>
      <p:sp>
        <p:nvSpPr>
          <p:cNvPr id="37" name="Shape 29"/>
          <p:cNvSpPr/>
          <p:nvPr/>
        </p:nvSpPr>
        <p:spPr>
          <a:xfrm>
            <a:off x="457200" y="4206240"/>
            <a:ext cx="8229600" cy="274320"/>
          </a:xfrm>
          <a:prstGeom prst="roundRect">
            <a:avLst>
              <a:gd name="adj" fmla="val 33333"/>
            </a:avLst>
          </a:prstGeom>
          <a:solidFill>
            <a:srgbClr val="F2B43C">
              <a:alpha val="10000"/>
            </a:srgbClr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38" name="Text 30"/>
          <p:cNvSpPr txBox="1"/>
          <p:nvPr/>
        </p:nvSpPr>
        <p:spPr>
          <a:xfrm>
            <a:off x="512064" y="4206240"/>
            <a:ext cx="8119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Reconocer el fenotipo orienta pronóstico y tratamiento; con frecuencia se solapan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EL ESPECIALISTA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de alto rendimiento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Nishimura K, Sugiyama D, Kogata Y, Tsuji G, Nakazawa T, Kawano S, et al. Meta-analysis: diagnostic accuracy of anti-cyclic citrullinated peptide antibody and rheumatoid factor for rheumatoid arthritis. Ann Intern Med. 2007;146(11):797-808.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99032"/>
            <a:ext cx="219456" cy="219456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0120" y="1280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Anti-CCP RV+ ≈ 12,5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4297680" y="12801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positivo multiplica por ~12 la probabilidad de AR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78308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901952"/>
            <a:ext cx="219456" cy="219456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012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ACPA preceden años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4297680" y="178308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anticuerpos aparecen antes de los síntomas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228600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404872"/>
            <a:ext cx="219456" cy="219456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60120" y="22860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Ventana &lt; 12 semanas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4297680" y="228600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FAME temprano mejora los desenlaces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907792"/>
            <a:ext cx="219456" cy="219456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60120" y="27889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 no es solo desgaste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4297680" y="278892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hay inflamación sinovial de bajo grado y remodelado óseo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57200" y="32918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410712"/>
            <a:ext cx="219456" cy="219456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0120" y="32918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Kellgren-Lawrence 0–4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4297680" y="329184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 la artrosis radiográfica (grado 2 = osteofito definido)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913632"/>
            <a:ext cx="219456" cy="219456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0120" y="37947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Imagen vs clínica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4297680" y="3794760"/>
            <a:ext cx="4297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radiografía no siempre explica el dolor: trata al paciente</a:t>
            </a:r>
            <a:endParaRPr lang="en-US" sz="11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SÍNTESIS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Tabla maestra: AR frente a artrosis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143000"/>
            <a:ext cx="8229600" cy="36576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11430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Rasgo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2926080" y="114300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Artritis reumatoide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5852160" y="1143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Artrosis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1536192"/>
            <a:ext cx="822960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153619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926080" y="1536192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Inflamatoria autoinmune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5852160" y="1536192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Degenerativa mecánica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7200" y="1906524"/>
            <a:ext cx="822960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94360" y="190652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2926080" y="1906524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Inflamatorio (peor en reposo)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1906524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Mecánico (peor con el uso)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276856"/>
            <a:ext cx="822960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94360" y="227685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matutina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2926080" y="2276856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30–60 min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2276856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30 min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57200" y="2647188"/>
            <a:ext cx="822960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94360" y="2647188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Manos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926080" y="2647188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MCF, IFP, muñeca (simétrico)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2647188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IFD, IFP, base del pulgar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57200" y="3017520"/>
            <a:ext cx="822960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594360" y="3017520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Tumefacción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2926080" y="3017520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Blanda y caliente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5852160" y="3017520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 y ósea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457200" y="3387852"/>
            <a:ext cx="822960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94360" y="3387852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Laboratorio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2926080" y="3387852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FR/anti-CCP+, VSG/PCR ↑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852160" y="3387852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Normales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57200" y="3758184"/>
            <a:ext cx="822960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594360" y="3758184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Radiografía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2926080" y="3758184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Erosiones, pinzamiento uniforme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852160" y="3758184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Osteofitos, esclerosis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57200" y="4128516"/>
            <a:ext cx="8229600" cy="338328"/>
          </a:xfrm>
          <a:prstGeom prst="roundRect">
            <a:avLst>
              <a:gd name="adj" fmla="val 27027"/>
            </a:avLst>
          </a:prstGeom>
          <a:solidFill>
            <a:srgbClr val="FFFFFF"/>
          </a:solidFill>
          <a:ln w="19050">
            <a:solidFill>
              <a:srgbClr val="C4CCE0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594360" y="4128516"/>
            <a:ext cx="2286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Conducta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2926080" y="4128516"/>
            <a:ext cx="288036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Derivar: FAME temprano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5852160" y="4128516"/>
            <a:ext cx="27432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Manejo sintomático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SÍNTESIS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Banderas rojas: deriva a reumatología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estos datos, sospecha AR y deriva pronto: la ventana de oportunidad es corta.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94360" y="1819656"/>
            <a:ext cx="457200" cy="4572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29384"/>
            <a:ext cx="237744" cy="237744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70432" y="1764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Sinovitis en ≥ 1 articulación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1170432" y="2075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todo MCF, IFP o muñeca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1691640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800600" y="1819656"/>
            <a:ext cx="457200" cy="457200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0328" y="1929384"/>
            <a:ext cx="237744" cy="237744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5376672" y="1764792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A66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matutina &gt; 30 min</a:t>
            </a:r>
            <a:endParaRPr lang="en-US" sz="1250" dirty="0"/>
          </a:p>
        </p:txBody>
      </p:sp>
      <p:sp>
        <p:nvSpPr>
          <p:cNvPr id="17" name="Text 13"/>
          <p:cNvSpPr txBox="1"/>
          <p:nvPr/>
        </p:nvSpPr>
        <p:spPr>
          <a:xfrm>
            <a:off x="5376672" y="2075688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mejora al moverse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457200" y="2478024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4360" y="2606040"/>
            <a:ext cx="457200" cy="457200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" y="2715768"/>
            <a:ext cx="237744" cy="237744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70432" y="25511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Compromiso simétrico</a:t>
            </a:r>
            <a:endParaRPr lang="en-US" sz="1250" dirty="0"/>
          </a:p>
        </p:txBody>
      </p:sp>
      <p:sp>
        <p:nvSpPr>
          <p:cNvPr id="22" name="Text 17"/>
          <p:cNvSpPr txBox="1"/>
          <p:nvPr/>
        </p:nvSpPr>
        <p:spPr>
          <a:xfrm>
            <a:off x="1170432" y="2862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pequeñas articulaciones</a:t>
            </a:r>
            <a:endParaRPr lang="en-US" sz="1050" dirty="0"/>
          </a:p>
        </p:txBody>
      </p:sp>
      <p:sp>
        <p:nvSpPr>
          <p:cNvPr id="23" name="Shape 18"/>
          <p:cNvSpPr/>
          <p:nvPr/>
        </p:nvSpPr>
        <p:spPr>
          <a:xfrm>
            <a:off x="4663440" y="2478024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4800600" y="2606040"/>
            <a:ext cx="457200" cy="457200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0328" y="2715768"/>
            <a:ext cx="237744" cy="237744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5376672" y="2551176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A6F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Squeeze test positivo</a:t>
            </a:r>
            <a:endParaRPr lang="en-US" sz="1250" dirty="0"/>
          </a:p>
        </p:txBody>
      </p:sp>
      <p:sp>
        <p:nvSpPr>
          <p:cNvPr id="27" name="Text 21"/>
          <p:cNvSpPr txBox="1"/>
          <p:nvPr/>
        </p:nvSpPr>
        <p:spPr>
          <a:xfrm>
            <a:off x="5376672" y="2862072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dolor al comprimir MCF/MTF</a:t>
            </a:r>
            <a:endParaRPr lang="en-US" sz="1050" dirty="0"/>
          </a:p>
        </p:txBody>
      </p:sp>
      <p:sp>
        <p:nvSpPr>
          <p:cNvPr id="28" name="Shape 22"/>
          <p:cNvSpPr/>
          <p:nvPr/>
        </p:nvSpPr>
        <p:spPr>
          <a:xfrm>
            <a:off x="457200" y="3264408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2EC4B6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594360" y="3392424"/>
            <a:ext cx="457200" cy="45720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4088" y="3502152"/>
            <a:ext cx="237744" cy="237744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1170432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C83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 o anti-CCP positivos</a:t>
            </a:r>
            <a:endParaRPr lang="en-US" sz="1250" dirty="0"/>
          </a:p>
        </p:txBody>
      </p:sp>
      <p:sp>
        <p:nvSpPr>
          <p:cNvPr id="32" name="Text 25"/>
          <p:cNvSpPr txBox="1"/>
          <p:nvPr/>
        </p:nvSpPr>
        <p:spPr>
          <a:xfrm>
            <a:off x="1170432" y="3648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VSG/PCR elevadas</a:t>
            </a:r>
            <a:endParaRPr lang="en-US" sz="1050" dirty="0"/>
          </a:p>
        </p:txBody>
      </p:sp>
      <p:sp>
        <p:nvSpPr>
          <p:cNvPr id="33" name="Shape 26"/>
          <p:cNvSpPr/>
          <p:nvPr/>
        </p:nvSpPr>
        <p:spPr>
          <a:xfrm>
            <a:off x="4663440" y="3264408"/>
            <a:ext cx="402336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34" name="Shape 27"/>
          <p:cNvSpPr/>
          <p:nvPr/>
        </p:nvSpPr>
        <p:spPr>
          <a:xfrm>
            <a:off x="4800600" y="3392424"/>
            <a:ext cx="457200" cy="457200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10328" y="3502152"/>
            <a:ext cx="237744" cy="237744"/>
          </a:xfrm>
          <a:prstGeom prst="rect">
            <a:avLst/>
          </a:prstGeom>
        </p:spPr>
      </p:pic>
      <p:sp>
        <p:nvSpPr>
          <p:cNvPr id="36" name="Text 28"/>
          <p:cNvSpPr txBox="1"/>
          <p:nvPr/>
        </p:nvSpPr>
        <p:spPr>
          <a:xfrm>
            <a:off x="5376672" y="333756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Persistencia &gt; 6 semanas</a:t>
            </a:r>
            <a:endParaRPr lang="en-US" sz="1250" dirty="0"/>
          </a:p>
        </p:txBody>
      </p:sp>
      <p:sp>
        <p:nvSpPr>
          <p:cNvPr id="37" name="Text 29"/>
          <p:cNvSpPr txBox="1"/>
          <p:nvPr/>
        </p:nvSpPr>
        <p:spPr>
          <a:xfrm>
            <a:off x="5376672" y="3648456"/>
            <a:ext cx="3200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esperar a que erosione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81E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07 - SÍNTESIS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Errores frecuentes que debes evitar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Nishimura K, Sugiyama D, Kogata Y, Tsuji G, Nakazawa T, Kawano S, et al. Meta-analysis: diagnostic accuracy of anti-cyclic citrullinated peptide antibody and rheumatoid factor for rheumatoid arthritis. Ann Intern Med. 2007;146(11):797-808.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37160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F2546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21792" y="1490472"/>
            <a:ext cx="420624" cy="420624"/>
          </a:xfrm>
          <a:prstGeom prst="ellipse">
            <a:avLst/>
          </a:prstGeom>
          <a:solidFill>
            <a:srgbClr val="F2546B"/>
          </a:solidFill>
          <a:ln w="12700">
            <a:solidFill>
              <a:srgbClr val="F2546B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2742" y="1591422"/>
            <a:ext cx="218724" cy="21872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1188720" y="142646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FR/anti-CCP en artrosis típica</a:t>
            </a:r>
            <a:endParaRPr lang="en-US" sz="1350" dirty="0"/>
          </a:p>
        </p:txBody>
      </p:sp>
      <p:sp>
        <p:nvSpPr>
          <p:cNvPr id="11" name="Text 8"/>
          <p:cNvSpPr txBox="1"/>
          <p:nvPr/>
        </p:nvSpPr>
        <p:spPr>
          <a:xfrm>
            <a:off x="5212080" y="137160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 falsos positivos y confusión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457200" y="210312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F2B43C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" y="2221992"/>
            <a:ext cx="420624" cy="420624"/>
          </a:xfrm>
          <a:prstGeom prst="ellipse">
            <a:avLst/>
          </a:prstGeom>
          <a:solidFill>
            <a:srgbClr val="F2B43C"/>
          </a:solidFill>
          <a:ln w="12700">
            <a:solidFill>
              <a:srgbClr val="F2B43C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742" y="2322942"/>
            <a:ext cx="218724" cy="218724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1188720" y="215798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Descartar AR por serología negativa</a:t>
            </a:r>
            <a:endParaRPr lang="en-US" sz="1350" dirty="0"/>
          </a:p>
        </p:txBody>
      </p:sp>
      <p:sp>
        <p:nvSpPr>
          <p:cNvPr id="16" name="Text 12"/>
          <p:cNvSpPr txBox="1"/>
          <p:nvPr/>
        </p:nvSpPr>
        <p:spPr>
          <a:xfrm>
            <a:off x="5212080" y="210312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un tercio son seronegativas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457200" y="283464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1792" y="2953512"/>
            <a:ext cx="420624" cy="420624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742" y="3054462"/>
            <a:ext cx="218724" cy="218724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188720" y="28895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Atribuir a artrosis una sinovitis de MCF</a:t>
            </a:r>
            <a:endParaRPr lang="en-US" sz="1350" dirty="0"/>
          </a:p>
        </p:txBody>
      </p:sp>
      <p:sp>
        <p:nvSpPr>
          <p:cNvPr id="21" name="Text 16"/>
          <p:cNvSpPr txBox="1"/>
          <p:nvPr/>
        </p:nvSpPr>
        <p:spPr>
          <a:xfrm>
            <a:off x="5212080" y="283464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artrosis no afecta MCF: piensa en AR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3566160"/>
            <a:ext cx="8229600" cy="658368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9050">
            <a:solidFill>
              <a:srgbClr val="4CC9F0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621792" y="3685032"/>
            <a:ext cx="420624" cy="420624"/>
          </a:xfrm>
          <a:prstGeom prst="ellipse">
            <a:avLst/>
          </a:prstGeom>
          <a:solidFill>
            <a:srgbClr val="4CC9F0"/>
          </a:solidFill>
          <a:ln w="12700">
            <a:solidFill>
              <a:srgbClr val="4CC9F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742" y="3785982"/>
            <a:ext cx="218724" cy="21872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188720" y="362102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erosiones en la radiografía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5212080" y="3566160"/>
            <a:ext cx="3383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Aparecen tarde: no retrases la derivación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ideas para recordar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4480560"/>
            <a:ext cx="7589520" cy="0"/>
          </a:xfrm>
          <a:prstGeom prst="line">
            <a:avLst/>
          </a:prstGeom>
          <a:noFill/>
          <a:ln w="9525">
            <a:solidFill>
              <a:srgbClr val="C4CC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4526280"/>
            <a:ext cx="7635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3444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1307592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13075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51560" y="123444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AR es inflamatoria y autoinmune; la artrosis, degenerativa y mecánica.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1746504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94360" y="1819656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94360" y="1819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51560" y="1746504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patrón orienta: AR simetrica en MCF/IFP/muñeca; artrosis en IFD/IFP/CMC1.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2258568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94360" y="2331720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94360" y="2331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051560" y="2258568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Rigidez &gt; 30–60 min y tumefacción blanda y caliente apuntan a AR.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770632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94360" y="2843784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94360" y="284378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051560" y="2770632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Anti-CCP es específico, pero un negativo no descarta AR.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282696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4360" y="3355848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4360" y="33558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Text 24"/>
          <p:cNvSpPr txBox="1"/>
          <p:nvPr/>
        </p:nvSpPr>
        <p:spPr>
          <a:xfrm>
            <a:off x="1051560" y="3282696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Radiografía: erosiones (AR) frente a osteofitos (artrosis).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3794760"/>
            <a:ext cx="8229600" cy="45720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" y="3867912"/>
            <a:ext cx="310896" cy="310896"/>
          </a:xfrm>
          <a:prstGeom prst="ellipse">
            <a:avLst/>
          </a:prstGeom>
          <a:solidFill>
            <a:srgbClr val="A78BFA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94360" y="3867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1051560" y="37947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 sospecha de AR, deriva temprano: hay ventana de oportunidad.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8288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4F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Gracias</a:t>
            </a:r>
            <a:endParaRPr lang="en-US" sz="5600" dirty="0"/>
          </a:p>
        </p:txBody>
      </p:sp>
      <p:sp>
        <p:nvSpPr>
          <p:cNvPr id="4" name="Text 1"/>
          <p:cNvSpPr txBox="1"/>
          <p:nvPr/>
        </p:nvSpPr>
        <p:spPr>
          <a:xfrm>
            <a:off x="658368" y="288036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dirty="0">
                <a:solidFill>
                  <a:srgbClr val="F2B4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Distinguir a tiempo cambia el pronóstico</a:t>
            </a:r>
            <a:endParaRPr lang="en-US" sz="2100" dirty="0"/>
          </a:p>
        </p:txBody>
      </p:sp>
      <p:sp>
        <p:nvSpPr>
          <p:cNvPr id="5" name="Text 2"/>
          <p:cNvSpPr txBox="1"/>
          <p:nvPr/>
        </p:nvSpPr>
        <p:spPr>
          <a:xfrm>
            <a:off x="658368" y="356616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B9C2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Néstor Fabián Sanabria Duarte · Medicina Interna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0116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6A4C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BIBLIOGRAFÍA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45720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Referencias (Vancouver)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47888" y="4535424"/>
            <a:ext cx="420624" cy="420624"/>
          </a:xfrm>
          <a:prstGeom prst="ellipse">
            <a:avLst/>
          </a:prstGeom>
          <a:solidFill>
            <a:srgbClr val="0A0E1F"/>
          </a:solidFill>
          <a:ln w="15875">
            <a:solidFill>
              <a:srgbClr val="3A416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1234440"/>
            <a:ext cx="4114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Smolen JS, Aletaha D, Barton A, Burmester GR, Emery P, Firestein GS, et al. Rheumatoid arthritis. Nat Rev Dis Primers. 2018;4:18001.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Aletaha D, Neogi T, Silman AJ, Funovits J, Felson DT, Bingham CO 3rd, et al. 2010 rheumatoid arthritis classification criteria: an ACR/EULAR collaborative initiative. Ann Rheum Dis. 2010;69(9):1580-8.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Nishimura K, Sugiyama D, Kogata Y, Tsuji G, Nakazawa T, Kawano S, et al. Meta-analysis: diagnostic accuracy of anti-cyclic citrullinated peptide antibody and rheumatoid factor for rheumatoid arthritis. Ann Intern Med. 2007;146(11):797-808.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Combe B, Landewe R, Daien CI, Hua C, Aletaha D, Alvaro-Gracia JM, et al. 2016 update of the EULAR recommendations for the management of early arthritis. Ann Rheum Dis. 2017;76(6):948-59.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Ezzati F, Pezeshk P. Radiographic findings of inflammatory arthritis and mimics in the hands. Diagnostics (Basel). 2022;12(9):2134.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Katz JN, Arant KR, Loeser RF. Diagnosis and treatment of hip and knee osteoarthritis: a review. JAMA. 2021;325(6):568-78.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4709160" y="1234440"/>
            <a:ext cx="41148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Hunter DJ, Bierma-Zeinstra S. Osteoarthritis. Lancet. 2019;393(10182):1745-59.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Kolasinski SL, Neogi T, Hochberg MC, Oatis C, Guyatt G, Block J, et al. 2019 ACR/Arthritis Foundation guideline for the management of osteoarthritis of the hand, hip, and knee. Arthritis Rheumatol. 2020;72(2):220-33.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Sharma L. Osteoarthritis of the knee. N Engl J Med. 2021;384(1):51-9.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10. Dell’Isola A, Allan R, Smith SL, Marreiros SS, Steultjens M. Identification of clinical phenotypes in knee osteoarthritis: a systematic review of the literature. BMC Musculoskelet Disord. 2016;17:425.</a:t>
            </a:r>
            <a:endParaRPr lang="en-US" sz="9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50" dirty="0">
                <a:solidFill>
                  <a:srgbClr val="1418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11. Deveza LA, Nelson AE, Loeser RF. Phenotypes of osteoarthritis: current state and future implications. Clin Exp Rheumatol. 2019;37 Suppl 120(5):S64-72.</a:t>
            </a:r>
            <a:endParaRPr lang="en-US" sz="9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47888" y="4535424"/>
            <a:ext cx="420624" cy="420624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anchor="ctr"/>
          <a:lstStyle>
            <a:lvl1pPr>
              <a:defRPr sz="1800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ct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Cocos grampositivos (fondo blanco)</dc:title>
  <dc:subject>PptxGenJS Presentation</dc:subject>
  <dc:creator>Nestor Fabian Sanabria Duarte</dc:creator>
  <cp:lastModifiedBy>Nestor Fabian Sanabria Duarte</cp:lastModifiedBy>
  <cp:revision>1</cp:revision>
  <dcterms:created xsi:type="dcterms:W3CDTF">2026-10-15T23:33:33Z</dcterms:created>
  <dcterms:modified xsi:type="dcterms:W3CDTF">2026-10-15T23:33:33Z</dcterms:modified>
</cp:coreProperties>
</file>
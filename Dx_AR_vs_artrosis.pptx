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519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519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519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519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7D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159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519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Diagnostico diferencial entre artritis reumatoide (inflamatoria autoinmune, en rojo) y artrosis (degenerativa, en dorado).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edad, sexo y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es mucho mas frecuente (mas de 240 millones en el mundo, primera causa de limitacion de la actividad). La AR afecta al 0,5-1% de adultos, con predominio femenino 2-3 a 1 y pico entre 30 y 60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desencadena sinovitis proliferativa (pannus) con TNF e IL-6; los osteoclastos y las metaloproteasas erosionan hueso y cartilago.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artrosis, la sobrecarga (edad, obesidad, lesion, genetica) lleva al fallo del cartilago, que se adelgaza y fibrila; el hueso subcondral se remodela con osteofitos, esclerosis y quistes. La inflamacion sinovial es de bajo 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 el pannus sinovial erosiona el hueso en los margenes y el pinzamiento es uniforme; no hay osteofitos. En la artrosis predominan los osteofitos, la esclerosis subcondral y el pinzamiento asimetrico; no hay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patron del dolor orienta: inflamatorio (peor en reposo y de madrugada, mejora con el movimiento, rigidez matutina prolongada, sintomas generales) sugiere AR; mecanico (peor con el uso, mejora con reposo, rigidez breve) sugiere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duracion de la rigidez matutina discrimina: mas de 30-60 minutos apunta a inflamacion (AR); menos de 30 minutos, de arranque, apunta a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suele iniciar en semanas-meses, poliarticular y simetrica, con sintomas generales. La artrosis inicia de forma insidiosa en anos, localizada, sin sintomas sistemicos y relacionada con la actividad.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afecta pequenas articulaciones (MCF, IFP, munecas, MTF) de forma simetrica y respeta IFD. La artrosis afecta IFD/IFP/base del pulgar en manos y las grandes de carga (rodilla, cadera) y la columna, a menudo asimetrica.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deformidades ayudan al final: en AR, desviacion cubital, cuello de cisne, boutonniere y nodulos reumatoides. En artrosis, nodulos duros de Heberden (IFD) y Bouchard (IFP)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 (squeeze test de MCF/MTF positivo). La artrosis da un aumento oseo duro con crepitacion, sin calor.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 y rubor apuntan a AR; la crepitacion es tipica de artrosis; el derrame puede verse en ambas y obliga a descartar artritis septica si hay duda; el squeeze test de MCF/MTF positivo sugiere sinovitis.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AR, pide FR, anti-CCP, VSG y PCR, con estudios basales. En artrosis tipica no hay marcador: el diagnostico es clinico-radiologico y pedir serologias de rutina genera falsos positivos que confunden.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anti-CCP positivo con clinica compatible hace muy probable la AR; un negativo no la descarta (hasta un tercio son seronegativas). Un FR aislado positivo puede verse en sanos, infecciones o con la edad. La serologia modifica la probabilidad, pero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osteofitos. La artrosis muestra osteofitos, esclerosis subcondral, quistes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ecografia detecta sinovitis y senal Doppler (actividad inflamatoria) y es util en AR temprana. La resonancia muestra sinovitis, edema oseo y erosiones precoces antes que la radiografia. Ayudan a confirmar sinovitis dudosa y a ver dano temprano.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numero y tipo de articulaciones (0-5), serologia FR/ACPA (0-3), reactantes de fase aguda PCR/VSG (0-1) y duracion de sintomas (0-1). Seis o mas de diez puntos clasifican como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son de clasificacion, no de diagnostico: requieren al menos una articulacion con sinovitis clinica sin mejor explicacion. El juicio clinico manda, pueden no cumplirse en la AR muy temprana, y siempre hay que excluir imitadores (artrosis, psoriasica, gota, septica, viral).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Banderas rojas para derivar a reumatologia: sinovitis en una o mas articulaciones (sobre todo MCF, IFP o muneca), rigidez matutina prolongada, compromiso simetrico de pequenas articulaciones, squeeze test positivo, FR o anti-CCP positivos o reactantes elevados, y persistencia mayor de seis semanas. No esperar a que erosione.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Errores frecuentes: pedir FR/anti-CCP en artrosis tipica (falsos positivos), descartar AR por serologia negativa (hay AR seronegativa), atribuir a artrosis una sinovitis de MCF (la artrosis no afecta MCF), y esperar a ver erosiones en la radiografia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oundRect">
            <a:avLst/>
          </a:prstGeom>
          <a:solidFill>
            <a:srgbClr val="0A0E1F"/>
          </a:solidFill>
          <a:ln w="12700">
            <a:solidFill>
              <a:srgbClr val="0A0E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69380" y="2215134"/>
            <a:ext cx="1536192" cy="1296162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26987" y="1014984"/>
            <a:ext cx="307238" cy="1488186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65392" y="2138324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65392" y="1595857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65392" y="1187806"/>
            <a:ext cx="230429" cy="230429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01434" y="851764"/>
            <a:ext cx="307238" cy="1651406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39839" y="2138324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39839" y="1527304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39839" y="1063758"/>
            <a:ext cx="230429" cy="230429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5881" y="947776"/>
            <a:ext cx="307238" cy="1555394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4286" y="2138324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4286" y="1567629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4286" y="1136727"/>
            <a:ext cx="230429" cy="230429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50328" y="1207008"/>
            <a:ext cx="307238" cy="1296162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8732" y="2138324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8732" y="1676507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8732" y="1333744"/>
            <a:ext cx="230429" cy="230429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66130" y="2263140"/>
            <a:ext cx="326441" cy="120015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14136" y="2387956"/>
            <a:ext cx="230429" cy="230429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14136" y="2743200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14136" y="3156052"/>
            <a:ext cx="230429" cy="230429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09410" y="3463290"/>
            <a:ext cx="1056132" cy="432054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6220" y="3559302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22262" y="3559302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8304" y="3559302"/>
            <a:ext cx="230429" cy="230429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868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12801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2011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a artrosis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28803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distinguirlas en la práctica clínica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85216" y="3657600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840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159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diagnóstico diferencial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4" y="18690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38328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572768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47088" y="173736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62" y="18690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545336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2779776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054096" y="1737360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770" y="186903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79776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2752344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3986784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261104" y="1737360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8" y="1869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986784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3959352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193792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468112" y="1737360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9786" y="186903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93792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166360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6400800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675120" y="173736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794" y="186903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4008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6373368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7607808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7882128" y="173736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3802" y="1869034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60780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7580376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200" dirty="0"/>
          </a:p>
        </p:txBody>
      </p:sp>
      <p:sp>
        <p:nvSpPr>
          <p:cNvPr id="40" name="Shape 31"/>
          <p:cNvSpPr/>
          <p:nvPr/>
        </p:nvSpPr>
        <p:spPr>
          <a:xfrm>
            <a:off x="365760" y="3977640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420624" y="3977640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frecuentes que se confunden: una es inflamatoria y urgente; la otra, degenerativa y crónica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Confundirlas cambia el pronóstico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" y="161665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trata pronto, erosiona y deforma de forma irreversible.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 temprana a reumatología cambia el pronóstico.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939" y="161665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y mecánica: la más frecuente.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sintomático; no requiere inmunosupresión.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 del cartílago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34086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4086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4086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408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Cartílago y hueso subcondral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88950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8895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88950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 (puede antes)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88950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 con la edad (&gt;50)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43814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381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381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381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398678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98678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398678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(semanas)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39867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muy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adultos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: 1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: hombre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063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(pico)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&gt;240 M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el mundo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de limitación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063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(aumenta)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343400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pasa dentro de la articulación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reumatoide: la sinovial se inflama y erosiona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5448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3004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Autoinmunidad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y anti-CCP; respuesta frente a proteínas citrulinadas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081528" y="2194560"/>
            <a:ext cx="182880" cy="914"/>
          </a:xfrm>
          <a:prstGeom prst="line">
            <a:avLst/>
          </a:prstGeom>
          <a:noFill/>
          <a:ln w="25400">
            <a:solidFill>
              <a:srgbClr val="9AA0C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55448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3004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proliferante (pannus) con TNF e IL-6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888736" y="2194560"/>
            <a:ext cx="182880" cy="914"/>
          </a:xfrm>
          <a:prstGeom prst="line">
            <a:avLst/>
          </a:prstGeom>
          <a:noFill/>
          <a:ln w="25400">
            <a:solidFill>
              <a:srgbClr val="9AA0C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71616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155448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3004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Erosión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208776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Osteoclastos y MMP destruyen hueso y cartílago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12064" y="3931920"/>
            <a:ext cx="8119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es un proceso inmunitario que, sin freno, lleva a dano articular irreversible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el cartílago falla y el hueso se remodela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5448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3004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obesidad, lesión previa y genética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081528" y="2194560"/>
            <a:ext cx="182880" cy="914"/>
          </a:xfrm>
          <a:prstGeom prst="line">
            <a:avLst/>
          </a:prstGeom>
          <a:noFill/>
          <a:ln w="25400">
            <a:solidFill>
              <a:srgbClr val="9AA0C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554480"/>
            <a:ext cx="731520" cy="7315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3004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del cartílago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adelgaza y fibrila; el hueso queda expuesto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888736" y="2194560"/>
            <a:ext cx="182880" cy="914"/>
          </a:xfrm>
          <a:prstGeom prst="line">
            <a:avLst/>
          </a:prstGeom>
          <a:noFill/>
          <a:ln w="25400">
            <a:solidFill>
              <a:srgbClr val="9AA0C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71616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1554480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3004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ósea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208776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 subcondral y quistes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12064" y="3931920"/>
            <a:ext cx="8119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predomina lo mecánico-degenerativo; la inflamación sinovial es de bajo grado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AR frente 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63040" y="1874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3017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48716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860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306324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39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erosiones · pinzamiento uniforme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0" y="1874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306324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44952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74320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74320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639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historia ya orienta el diagnóstico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9222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922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50592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45059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4505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45059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089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108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3108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67328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673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767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7673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rigidez matutina: un dato que vale oro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" y="175381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880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prolongada que mejora lentamente al moverse; refleja inflamación sinovial.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663440" y="137160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175381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66928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2880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breve “de arranque” tras el reposo, que cede rápido con el uso.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y síntomas acompañantes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en semanas-meses, poliarticular y simétrico.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pérdida de peso.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y caliente de pequeñas articulaciones.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artrosis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insidioso en años, oligoarticular o localizado.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síntomas sistémicos.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la actividad; crepitación al mover.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articulaciones y en qué patrón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patrón que delata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mano: articulaciones típicas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Pequeñas articulaciones: MCF, IFP, muñecas.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 y columna dorsolumbar.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Manos: IFD, IFP y base del pulgar.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(cervical/lumbar); patrón a menudo asimétrico.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Deformidades y nódulos: pistas al final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(sinovitis crónica)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cubital de los dedos.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Dedos en “cuello de cisne” y en “boutonnière”.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(subcutáneos, en zonas de presión).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(hueso)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Heberden (IFD).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Bouchard (IFP).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25196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duros en IFD = Heberden (artrosis); tumefacción blanda en MCF = sinovitis (AR)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físico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Blando y caliente, o duro y seco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EXAMEN FÍSICO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frente a dura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5448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" y="170809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37744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Consistencia “esponjosa”, fluctuante.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Caliente, a veces roja; dolor a la compresión.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MCF/MTF positivo.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55448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170809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66928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37744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localizado a la carga.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57200" y="4160520"/>
            <a:ext cx="8229600" cy="320040"/>
          </a:xfrm>
          <a:prstGeom prst="roundRect">
            <a:avLst>
              <a:gd name="adj" fmla="val 28571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60520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tacto distingue: blando y caliente = inflamación; duro y frío = hueso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EXAMEN FÍSICO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Signos que inclinan la balanza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353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1280160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Presentes en AR; ausentes en artrosis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02996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148840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856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31920" y="2029968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Típica de artrosis (roce óseo)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7200" y="277977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898648"/>
            <a:ext cx="457200" cy="45720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837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34440" y="285292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Derrame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3931920" y="2779776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Posible en ambas; aspirar si duda o artritis séptica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457200" y="3529584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48456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5818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34440" y="36027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3931920" y="3529584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al comprimir MCF/MTF sugiere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Confirma, no reemplaza a la clínica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(y qué no)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sospechas 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Hemograma, función hepática/renal (basal).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marcador de laboratorio; suelen ser normales.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es clínico-radiológico.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pedir FR/anti-CCP “de rutina”: falsos positivos confunden.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si es positivo, sube mucho la probabilidad de AR.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la serología sin caer en trampas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353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128016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Anti-CCP+ en una sinovitis compatible: muy probable AR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202996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148840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856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 no descarta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4114800" y="2029968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un tercio de las AR son seronegativas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57200" y="277977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898648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837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34440" y="28529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aislado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4114800" y="2779776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sin clínica puede verse en sanos, infecciones o edad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57200" y="3529584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4F6FD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48456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5818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34440" y="36027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manda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4114800" y="3529584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radiografía habla otro idioma en cada una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IMAGEN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Quistes subcondrales.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asimétrico; sin erosiones.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25196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erosión = inflamatorio (AR) · osteofito = degenerativo (artrosis)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IMAGEN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 y resonancia: ver la inflamación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72768"/>
            <a:ext cx="731520" cy="7315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48333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sinovitis y señal Doppler (actividad); útil en AR temprana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64408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15384" y="1572768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48333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64408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Resonancia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Sinovitis, edema óseo y erosiones precoces antes que la radiografía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022592" y="1572768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48333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071616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sinovitis dudosa y detectar daño temprano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02336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12064" y="4023360"/>
            <a:ext cx="8119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ecografía con Doppler confirma sinovitis cuando el examen deja dudas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146304" cy="1371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1234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8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941832" y="3246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no es lo mismo que diagnosticar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CRITERIOS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ACR/EULAR 2010 para 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4F6FD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77640" y="17556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942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2494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77640" y="22677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7614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761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77640" y="277977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779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2735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977640" y="329184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7856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78561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977640" y="380390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09160" y="1280160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6276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09160" y="2066544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1396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4140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20040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09160" y="365760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657600"/>
            <a:ext cx="3867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CRITERIOS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obligatoria: al menos una articulación con sinovitis clínica, sin otra explicación mejor.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08176" y="2724912"/>
            <a:ext cx="640080" cy="6400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795" y="2878531"/>
            <a:ext cx="332842" cy="33284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juicio clínico manda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criterios apoyan, no sustituyen la evaluación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64408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15384" y="2724912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003" y="2878531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264408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en AR temprana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3374136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no cumplirse al inicio; reevalúa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71616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2724912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211" y="2878531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imitadores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181344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Artrosis, psoriásica, gota, séptica, viral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AR frente 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4F6FD"/>
          </a:solidFill>
          <a:ln w="19050">
            <a:solidFill>
              <a:srgbClr val="D7DC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rojas: deriva a reumatología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estos datos, sospecha AR y deriva pronto: la ventana de oportunidad es corta.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19656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29384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70432" y="1764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170432" y="2075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todo MCF, IFP o muñeca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69164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00600" y="1819656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293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672" y="1764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5376672" y="2075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mejora al moverse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247802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70432" y="25511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1170432" y="2862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pequeñas articulaciones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247802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800600" y="2606040"/>
            <a:ext cx="457200" cy="45720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715768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76672" y="25511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5376672" y="2862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al comprimir MCF/MTF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326440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3392424"/>
            <a:ext cx="457200" cy="45720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50215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170432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o anti-CCP positivos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1170432" y="36484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VSG/PCR elevadas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663440" y="326440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800600" y="3392424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502152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376672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</a:t>
            </a:r>
            <a:endParaRPr lang="en-US" sz="1250" dirty="0"/>
          </a:p>
        </p:txBody>
      </p:sp>
      <p:sp>
        <p:nvSpPr>
          <p:cNvPr id="37" name="Text 29"/>
          <p:cNvSpPr txBox="1"/>
          <p:nvPr/>
        </p:nvSpPr>
        <p:spPr>
          <a:xfrm>
            <a:off x="5376672" y="36484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esperar a que erosione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frecuentes que debes evitar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490472"/>
            <a:ext cx="420624" cy="42062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742" y="1591422"/>
            <a:ext cx="218724" cy="2187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2646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13716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falsos positivos y confusión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210312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221992"/>
            <a:ext cx="420624" cy="42062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42" y="2322942"/>
            <a:ext cx="218724" cy="21872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8720" y="215798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5212080" y="21031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un tercio son seronegativas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4F6FD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953512"/>
            <a:ext cx="420624" cy="42062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42" y="3054462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88950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5212080" y="28346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no afecta MCF: piensa en AR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35661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85032"/>
            <a:ext cx="420624" cy="42062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42" y="3785982"/>
            <a:ext cx="218724" cy="21872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36210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5212080" y="35661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Aparecen tarde: no retrases la derivación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degenerativa y mecánica.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orienta: AR simetrica en MCF/IFP/muñeca; artrosis en IFD/IFP/CMC1.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35140" y="2539746"/>
            <a:ext cx="1389888" cy="1172718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87261" y="1453896"/>
            <a:ext cx="277978" cy="1346454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22008" y="2470252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22008" y="1979447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22008" y="1610258"/>
            <a:ext cx="208483" cy="208483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6046" y="1306220"/>
            <a:ext cx="277978" cy="149413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0793" y="2470252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60793" y="1917424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0793" y="1498025"/>
            <a:ext cx="208483" cy="208483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564831" y="1393088"/>
            <a:ext cx="277978" cy="1407262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99578" y="2470252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99578" y="1953908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99578" y="1564045"/>
            <a:ext cx="208483" cy="208483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03616" y="1627632"/>
            <a:ext cx="277978" cy="117271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8364" y="2470252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38364" y="2052417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38364" y="1742298"/>
            <a:ext cx="208483" cy="208483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70294" y="2583180"/>
            <a:ext cx="295351" cy="108585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3728" y="2696108"/>
            <a:ext cx="208483" cy="208483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3728" y="3017520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13728" y="3391052"/>
            <a:ext cx="208483" cy="208483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52310" y="3669030"/>
            <a:ext cx="955548" cy="390906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21804" y="3755898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25842" y="3755898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29880" y="3755898"/>
            <a:ext cx="208483" cy="208483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1828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54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8346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a tiempo cambia el pronóstico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520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10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2026-10-15T23:20:04Z</dcterms:created>
  <dcterms:modified xsi:type="dcterms:W3CDTF">2026-10-15T23:20:04Z</dcterms:modified>
</cp:coreProperties>
</file>
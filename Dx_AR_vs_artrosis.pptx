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Anti-CCP</c:v>
                </c:pt>
              </c:strCache>
            </c:strRef>
          </c:tx>
          <c:spPr>
            <a:solidFill>
              <a:srgbClr val="4CC9F0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</c:v>
                </c:pt>
              </c:strCache>
            </c:strRef>
          </c:tx>
          <c:spPr>
            <a:solidFill>
              <a:srgbClr val="F2B43C">
                <a:alpha val="100000"/>
              </a:srgbClr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4182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Sensibilidad</c:v>
                  </c:pt>
                  <c:pt idx="1">
                    <c:v>Especificidad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69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4182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C4CC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4182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41821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La charla gira en torno a una pregunta clinica cotidiana: ante unas manos que duelen, ¿es o no es artritis reumatoide? Motivo visual original: articulacion inflamada (roja) frente a degenerativa (dorada).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Ruta de la charla: cinco pistas clinicas -el dolor, la mano, el examen, el laboratorio y la imagen- que, integradas, responden si estamos ante una artritis reumatoide inflamatoria o ante artrosis degenerativa.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Distinguirlas importa: la AR tiene ventana de oportunidad y requiere derivacion y tratamiento temprano; la artrosis es degenerativa y su manejo es sintomatico. Confundirlas lleva a retraso terapeutico o a inmunosupresion innecesaria. Epidemiologia: AR 0,5-1% de adultos; artrosis mas de 240 millones y primera causa de limitacion.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AR: autoinmune inflamatoria sistemica que ataca la sinovial. Artrosis: degenerativa del cartilago y hueso subcondral. Difieren en diana, edad, sexo y curso. La edad: la AR puede aparecer a cualquier edad y la artrosis sube con la edad pero no es exclusiva de ancianos.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AR, una respuesta autoinmune (FR, anti-CCP frente a proteinas citrulinadas) genera un pannus sinovial que erosiona el hueso en los margenes, con pinzamiento uniforme y sin osteofitos. En la artrosis, el cartilago falla por sobrecarga y el hueso se remodela: osteofitos, esclerosis subcondral y pinzamiento asimetrico, sin erosiones inflamatorias.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primera pista es el patron del dolor. Inflamatorio (peor en reposo y de madrugada, mejora con el movimiento, rigidez matutina prolongada, sintomas generales) apunta a AR; mecanico (peor con el uso, mejora con el reposo, rigidez breve de arranque) apunta a artrosis. La duracion de la rigidez matutina es un dato que vale 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 la mano, la pista mas util. La AR compromete metacarpofalangicas (MCF), interfalangicas proximales (IFP) y munecas de forma simetrica, y respeta las interfalangicas distales (IFD). La artrosis afecta IFD (nodulos de Heberden), IFP (Bouchard) y la base del pulgar (rizartrosis, CMC1). El compromiso de IFD orienta a artrosis, no a 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alla de la mano: la AR afecta pequenas articulaciones (MCF, IFP, munecas, MTF) de forma simetrica y respeta IFD, y deja deformidades como desviacion cubital, cuello de cisne, boutonniere y nodulos reumatoides. La artrosis afecta IFD/IFP/base del pulgar y las grandes de carga (rodilla, cadera, columna), con nodulos duros de Heberden y Bouchard y rizartrosis.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 no se limita a las manos. Afecta otras articulaciones: grandes (hombros, codos, rodillas, tobillos), los pies (MTF, con frecuencia precoz) y la columna cervical (subluxacion atloaxoidea C1-C2), respetando la columna dorsolumbar. Y es sistemica: enfermedad pulmonar intersticial y nodulos pulmonares, manifestaciones oculares (ojo seco por Sjogren secundario, escleritis), aumento del riesgo cardiovascular, nodulos reumatoides, anemia de enfermedad cronica y sindrome de Felty, y vasculitis reumatoide. Por eso el diagnostico y tratamiento tempranos importan mas alla de la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la palpacion, la sinovitis de la AR se siente blanda, esponjosa, caliente y dolorosa, con squeeze test de MCF/MTF positivo; la artrosis da un aumento oseo duro con crepitacion y sin calor. Calor y rubor y un squeeze positivo apuntan a AR; la crepitacion es tipica de artrosis. El tacto distingue: blando y caliente es inflamacion, duro y frio es hueso.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sospechas AR pide FR, anti-CCP, VSG y PCR; en artrosis tipica no hay marcador y pedir serologias de rutina genera falsos positivos. Interpretacion: un anti-CCP positivo con clinica compatible hace muy probable la AR; un negativo no la descarta (hasta un tercio son seronegativas); un FR aislado puede verse en sanos, infecciones o con la edad; la serologia modifica la probabilidad, no diagnostica por si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Metaanalisis de Nishimura 2007: anti-CCP sensibilidad 67% y especificidad 95%; FR sensibilidad 69% y especificidad 85%. La razon de verosimilitud positiva del anti-CCP es cercana a 12,5: un positivo eleva mucho la probabilidad de AR, pero un negativo no la descarta. Ademas, los ACPA pueden preceder anos a los sintomas.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la radiografia, la AR muestra erosiones marginales, osteopenia yuxtaarticular y pinzamiento uniforme, sin osteofitos; la artrosis muestra osteofitos, esclerosis subcondral, quistes y pinzamiento asimetrico, sin erosiones. La ecografia con Doppler y la resonancia detectan sinovitis y erosiones precoces antes que la radiografia y ayudan cuando el examen deja dudas.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criterios de clasificacion ACR/EULAR 2010 puntuan cuatro dominios: articulaciones (0-5), serologia FR/ACPA (0-3), reactantes PCR/VSG (0-1) y duracion (0-1); seis o mas de diez clasifican como AR. Pero clasificar no es diagnosticar: la entrada obligatoria es al menos una articulacion con sinovitis clinica sin mejor explicacion, pueden no cumplirse en la AR muy temprana, y hay que excluir imitadores (artrosis, psoriasica, gota, septica, viral). El juicio clinico manda.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Definicion EULAR de artralgia sospechosa de progresar a AR (van Steenbergen 2017): siete parametros clinicos -inicio reciente menor de un ano, sintomas en MCF, rigidez matutina de 60 minutos o mas, sintomas mas intensos a primera hora de la manana, familiar de primer grado con AR, dificultad para cerrar el puno y squeeze test de MCF positivo-. El umbral clinico recomendado es tener tres o mas parametros, que prioriza la sensibilidad (area bajo la curva 0,92); es una herramienta para apoyar el juicio del reumatologo sobre una AR inminente, no para sustituirlo, y ayuda a identificar a quien vigilar y derivar de forma temprana.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Replantear la artrosis segun Tang 2025 (Nature Reviews Disease Primers): no es un simple desgaste por la edad, sino una enfermedad activa y heterogenea que afecta a toda la articulacion -hueso, cartilago, sinovial, grasa de Hoffa, ligamentos y musculo-. Hay remodelacion activa (degradacion del cartilago y remodelado oseo con osteofitos), inflamacion (sinovitis, fibrosis y vascularizacion del fat pad, mediada por IL-1 y TNF de bajo grado) y un componente de dolor neurobiologico (sensibilizacion mecanica y neuroplasticidad); con frecuencia la inicia un trauma articular. Estan en desarrollo criterios de artrosis precoz, cuando las intervenciones podrian restaurar la homeostasis articular, y farmacos modificadores de la enfermedad (DMOAD).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se diagnostica clinicamente: en mayores de 45 anos con dolor mecanico y rigidez breve, el diagnostico es clinico sin imagen (NICE). La radiografia confirma y gradua (Kellgren-Lawrence 0-4); el laboratorio solo sirve para excluir causas inflamatorias; la imagen avanzada no es de rutina.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Dell Isola 2016 describe seis fenotipos de artrosis de rodilla: dolor cronico con sensibilizacion central, inflamatorio, metabolico, oseo-cartilaginoso, mecanico y enfermedad articular minima. Reconocerlos orienta pronostico y tratamiento, aunque se solapan (Deveza 2019).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artrosis no es solo desgaste: cursa con sinovitis de bajo grado mediada por IL-1 y TNF, visible en ecografia y RM; existe la artrosis erosiva de manos (erosiones centrales en IFD/IFP con brotes); y sobre una articulacion artrosica pueden depositarse cristales (CPPD, gota). Si una artrosis se inflama mucho, pensar en cristales o AR asociada.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dos se encadenan. La AR, por su inflamacion cronica, dana cartilago y hueso y deja artrosis secundaria. A la inversa, la artrosis cursa con sinovitis de bajo grado y predispone al deposito de cristales (CPPD, gota) que desencadenan artritis aguda sobreanadida. Pueden coexistir en el mismo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Tabla resumen del diagnostico diferencial AR vs artrosis: tipo, dolor, rigidez, manos, tumefaccion, laboratorio, radiografia y conducta.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respuesta practica: deriva pronto si hay sinovitis en una o mas articulaciones (MCF, IFP, muneca), rigidez matutina prolongada, compromiso simetrico, squeeze test positivo, FR o anti-CCP positivos, o persistencia mayor de seis semanas. Evita los errores clasicos: pedir serologias en artrosis tipica, descartar AR por serologia negativa, atribuir a artrosis una sinovitis de MCF y esperar erosiones para derivar.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mensajes clave para responder si es o no es artritis reumatoide.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La respuesta a la pregunta esta en integrar el patron clinico; distinguir a tiempo cambia el pronostico.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Bibliografia completa en formato Vancouver.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144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DIFERENCIAL CON ARTROSIS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298448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o no es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084832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rgbClr val="F25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reumatoide?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658368" y="3035808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la artritis inflamatoria de la artrosis con la evidencia en la mano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76656" y="3767328"/>
            <a:ext cx="822960" cy="41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" y="3950208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440740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 III · Medicina Interna · Universidad Libre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pistas para responderla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155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dolor y tumefacción en las manos, estas cinco pistas inclinan la balanza hacia una artritis inflamatoria (AR) o una artrosis.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84048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1901952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6" y="2033626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84048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56616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dolor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084832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96896" y="1901952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8570" y="2033626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084832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057400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mano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3785616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297680" y="1901952"/>
            <a:ext cx="548640" cy="54864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354" y="2033626"/>
            <a:ext cx="285293" cy="285293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3785616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3758184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examen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5486400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98464" y="1901952"/>
            <a:ext cx="548640" cy="54864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0138" y="2033626"/>
            <a:ext cx="285293" cy="285293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86400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5458968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laboratorio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7187184" y="1691640"/>
            <a:ext cx="1572768" cy="2057400"/>
          </a:xfrm>
          <a:prstGeom prst="roundRect">
            <a:avLst>
              <a:gd name="adj" fmla="val 5814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699248" y="1901952"/>
            <a:ext cx="548640" cy="54864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0922" y="2033626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187184" y="254203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159752" y="28529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384048" y="3931920"/>
            <a:ext cx="8375904" cy="502920"/>
          </a:xfrm>
          <a:prstGeom prst="roundRect">
            <a:avLst>
              <a:gd name="adj" fmla="val 18182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38912" y="3931920"/>
            <a:ext cx="82661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casi nunca está en una sola prueba: es el patrón el que decide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lo mismo: cambia la urgencia y el tratamiento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463040"/>
            <a:ext cx="621792" cy="62179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9310" y="1612270"/>
            <a:ext cx="323332" cy="3233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3312" y="151790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19456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y autoinmune: hay ventana de oportunidad.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tratamiento pronto erosiona y deforma de forma irreversible.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 temprano a reumatología cambia el pronóstico.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46320" y="1463040"/>
            <a:ext cx="621792" cy="621792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5550" y="1612270"/>
            <a:ext cx="323332" cy="3233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59552" y="151790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194560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Enfermedad activa de toda la articulación, la más frecuente (no simple “desgaste”).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autoinmune: no requiere inmunosupresión.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Sobrediagnosticar AR expone a tratamientos innecesarios.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≈ 0,5–1 % de adultos · Artrosis ≈ 595 millones de personas (7,6 % mundial, 2020); la rodilla, la más afectada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enfermedades distintas de raíz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80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280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92224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9222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Naturaleza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7922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Autoinmune inflamatoria sistémica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179222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autoinmune; activa y heterogénea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359152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5915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Diana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235915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Membrana sinovial (sinovitis, pannus)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2359152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articulación (cartílago, hueso, sinovial)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926080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92608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típica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743200" y="292608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30–60 años; a cualquier edad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2926080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con la edad; también más jóvenes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493008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9300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Sexo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743200" y="3493008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2–3 : 1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760720" y="349300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Mujer (manos y rodilla)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059936"/>
            <a:ext cx="822960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405993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2743200" y="4059936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Subagudo (semanas-meses)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760720" y="4059936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Insidioso (años)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FISIOPATOLOGÍA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articulación por dentro: sinovitis frente a remodelación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463040" y="1828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63040" y="292608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54480" y="2395728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2546B">
              <a:alpha val="55000"/>
            </a:srgbClr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08760" y="224028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46120" y="2971800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566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Pannus</a:t>
            </a:r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sinovial + erosiones · pinzamiento uniforme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66344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0" y="1828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297180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E8ECF7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2944368"/>
            <a:ext cx="1828800" cy="0"/>
          </a:xfrm>
          <a:prstGeom prst="line">
            <a:avLst/>
          </a:prstGeom>
          <a:noFill/>
          <a:ln w="38100">
            <a:solidFill>
              <a:srgbClr val="F2B4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59552" y="2670048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44384" y="2670048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46320" y="35661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</a:t>
            </a:r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esclerosis · pinzamiento asimétrico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oro: erosión marginal = AR · remodelación ósea (osteofitos, esclerosis) = artrosis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1 · EL DOLOR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inflamatorio frente a dolor mecánico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0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23444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23444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(AR)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806440" y="123444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(artrosis)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1728216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72821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72821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en reposo y de madrugada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172821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con el uso y al final del día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350008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5000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movimiento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3500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al “desentumecer”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806440" y="23500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Empeora; mejora con el reposo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2971800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971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971800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806440" y="29718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593592"/>
            <a:ext cx="822960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5935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generales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3593592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Fatiga, febrícula, malestar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806440" y="35935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Ausentes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siempre: ¿cuánto dura la rigidez al levantarse? &gt; 30–60 min inclina hacia 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 · LA MANO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 la mano: el patrón que delata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070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201625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627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1732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53896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53896" y="1950964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53896" y="150949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7393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0512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10512" y="1989369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10512" y="1578986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3055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67128" y="2532888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67128" y="2093062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67128" y="1766621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7512" y="277063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7512" y="310896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7512" y="3502152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3444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0759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2763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47672" y="3886200"/>
            <a:ext cx="219456" cy="219456"/>
          </a:xfrm>
          <a:prstGeom prst="ellipse">
            <a:avLst/>
          </a:prstGeom>
          <a:solidFill>
            <a:srgbClr val="F2546B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3657600" y="2606040"/>
            <a:ext cx="1463040" cy="1234440"/>
          </a:xfrm>
          <a:prstGeom prst="roundRect">
            <a:avLst>
              <a:gd name="adj" fmla="val 18519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12464" y="1463040"/>
            <a:ext cx="292608" cy="141732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49040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49040" y="20162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49040" y="1627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9080" y="1307592"/>
            <a:ext cx="292608" cy="157276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05656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105656" y="1950964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105656" y="150949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425696" y="1399032"/>
            <a:ext cx="292608" cy="1481328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62272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62272" y="1989369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462272" y="1578986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82312" y="1645920"/>
            <a:ext cx="292608" cy="1234440"/>
          </a:xfrm>
          <a:prstGeom prst="roundRect">
            <a:avLst>
              <a:gd name="adj" fmla="val 46875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818888" y="2532888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18888" y="209306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18888" y="1766621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73552" y="2651760"/>
            <a:ext cx="310896" cy="1143000"/>
          </a:xfrm>
          <a:prstGeom prst="roundRect">
            <a:avLst>
              <a:gd name="adj" fmla="val 44118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319272" y="277063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19272" y="310896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9272" y="3502152"/>
            <a:ext cx="219456" cy="219456"/>
          </a:xfrm>
          <a:prstGeom prst="ellipse">
            <a:avLst/>
          </a:prstGeom>
          <a:solidFill>
            <a:srgbClr val="F2B43C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86200" y="3794760"/>
            <a:ext cx="1005840" cy="411480"/>
          </a:xfrm>
          <a:prstGeom prst="roundRect">
            <a:avLst>
              <a:gd name="adj" fmla="val 22222"/>
            </a:avLst>
          </a:prstGeom>
          <a:solidFill>
            <a:srgbClr val="EEF1F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95935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27939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99432" y="3886200"/>
            <a:ext cx="219456" cy="219456"/>
          </a:xfrm>
          <a:prstGeom prst="ellipse">
            <a:avLst/>
          </a:prstGeom>
          <a:solidFill>
            <a:srgbClr val="CFD6EA"/>
          </a:solidFill>
          <a:ln w="9525">
            <a:solidFill>
              <a:srgbClr val="B9C2D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3108960" y="3886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5943600" y="1325880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26480" y="1536192"/>
            <a:ext cx="237744" cy="237744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446520" y="148132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AR: MCF, IFP y muñecas (simétrico)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6126480" y="2194560"/>
            <a:ext cx="237744" cy="237744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446520" y="21031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Artrosis: IFD, IFP y base del pulgar (CMC1)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126480" y="2926080"/>
            <a:ext cx="237744" cy="237744"/>
          </a:xfrm>
          <a:prstGeom prst="ellipse">
            <a:avLst/>
          </a:prstGeom>
          <a:solidFill>
            <a:srgbClr val="CFD6EA"/>
          </a:solidFill>
          <a:ln w="12700">
            <a:solidFill>
              <a:srgbClr val="B9C2DE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446520" y="2871216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Habitualmente respetada</a:t>
            </a:r>
            <a:endParaRPr lang="en-US" sz="1250" dirty="0"/>
          </a:p>
        </p:txBody>
      </p:sp>
      <p:sp>
        <p:nvSpPr>
          <p:cNvPr id="66" name="Text 64"/>
          <p:cNvSpPr txBox="1"/>
          <p:nvPr/>
        </p:nvSpPr>
        <p:spPr>
          <a:xfrm>
            <a:off x="6126480" y="3429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3A4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IFD casi nunca se afecta en AR: su compromiso apunta a artrosis (o psoriásica).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2 · LA MANO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pega y qué deja: articulaciones y deformidades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MCF, IFP, muñecas y MTF del pie.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Simétrica y poliarticular; respeta IFD.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Deja: desviación cubital, cuello de cisne, boutonnière.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reumatoides subcutáneos en zonas de presión.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Dónde: IFD, IFP y base del pulgar en manos.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de carga: rodilla y cadera; columna.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Deja: nódulos de Heberden (IFD) y Bouchard (IFP).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Rizartrosis: base del pulgar “cuadrada”.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 NO ES SOLO MANOS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enfermedad sistémica, no solo articular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5214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manos son la vitrina, pero la AR afecta muchas articulaciones y otros órganos.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articulaciones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121408"/>
            <a:ext cx="3611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Grandes: hombros, codos, rodillas y tobillos.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Pies: metatarsofalángicas (MTF), a menudo precoz.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cervical (C1–C2): subluxación atloaxoidea.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Respeta la columna dorsolumbar.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663440" y="1572768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allá de la articulación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4846320" y="2139696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37760" y="2276856"/>
            <a:ext cx="347472" cy="347472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1153" y="2360249"/>
            <a:ext cx="180685" cy="180685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358384" y="2139696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Pulmón: EPID y nódulos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784848" y="2139696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76288" y="2276856"/>
            <a:ext cx="347472" cy="347472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9681" y="2360249"/>
            <a:ext cx="180685" cy="18068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296912" y="2139696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ojo seco y escleritis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4846320" y="2852928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4937760" y="2990088"/>
            <a:ext cx="347472" cy="34747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1153" y="3073481"/>
            <a:ext cx="180685" cy="18068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358384" y="2852928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cardiovascular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852928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876288" y="2990088"/>
            <a:ext cx="347472" cy="347472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9681" y="3073481"/>
            <a:ext cx="180685" cy="18068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296912" y="2852928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Nódulos reumatoides</a:t>
            </a:r>
            <a:endParaRPr lang="en-US" sz="1050" dirty="0"/>
          </a:p>
        </p:txBody>
      </p:sp>
      <p:sp>
        <p:nvSpPr>
          <p:cNvPr id="29" name="Shape 23"/>
          <p:cNvSpPr/>
          <p:nvPr/>
        </p:nvSpPr>
        <p:spPr>
          <a:xfrm>
            <a:off x="4846320" y="3566160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4937760" y="3703320"/>
            <a:ext cx="347472" cy="34747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1153" y="3786713"/>
            <a:ext cx="180685" cy="180685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358384" y="356616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Anemia; síndrome de Felty</a:t>
            </a:r>
            <a:endParaRPr lang="en-US" sz="1050" dirty="0"/>
          </a:p>
        </p:txBody>
      </p:sp>
      <p:sp>
        <p:nvSpPr>
          <p:cNvPr id="33" name="Shape 26"/>
          <p:cNvSpPr/>
          <p:nvPr/>
        </p:nvSpPr>
        <p:spPr>
          <a:xfrm>
            <a:off x="6784848" y="3566160"/>
            <a:ext cx="1847088" cy="621792"/>
          </a:xfrm>
          <a:prstGeom prst="roundRect">
            <a:avLst>
              <a:gd name="adj" fmla="val 1470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6876288" y="3703320"/>
            <a:ext cx="347472" cy="347472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9681" y="3786713"/>
            <a:ext cx="180685" cy="180685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296912" y="3566160"/>
            <a:ext cx="12984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Vasculitis reumatoide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3 · EL EXAMEN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dicen las manos al tacto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481328"/>
            <a:ext cx="566928" cy="566928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431" y="1617391"/>
            <a:ext cx="294803" cy="29480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53312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(sinovitis)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12848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Esponjosa y fluctuante; caliente, a veces roja.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a la compresión; squeeze test MCF/MTF positivo.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663440" y="1280160"/>
            <a:ext cx="402336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481328"/>
            <a:ext cx="566928" cy="566928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71" y="1617391"/>
            <a:ext cx="294803" cy="29480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59552" y="153619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(ósea)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12848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óseo “como hueso” (osteofitos/nódulos).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caliente; crepitación al movilizar.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457200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7200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 y rubor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3264408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264408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Crepitación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3264408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Artrosis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071616" y="3703320"/>
            <a:ext cx="2624328" cy="749808"/>
          </a:xfrm>
          <a:prstGeom prst="roundRect">
            <a:avLst>
              <a:gd name="adj" fmla="val 12195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071616" y="3767328"/>
            <a:ext cx="262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+ MCF/MTF</a:t>
            </a:r>
            <a:endParaRPr lang="en-US" sz="1350" dirty="0"/>
          </a:p>
        </p:txBody>
      </p:sp>
      <p:sp>
        <p:nvSpPr>
          <p:cNvPr id="25" name="Text 21"/>
          <p:cNvSpPr txBox="1"/>
          <p:nvPr/>
        </p:nvSpPr>
        <p:spPr>
          <a:xfrm>
            <a:off x="6071616" y="4114800"/>
            <a:ext cx="2624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4 · EL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y cómo interpretarlo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pedir si sospechas AR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reumatoide (FR).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/ ACPA (más específico).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VSG y PCR (actividad inflamatoria).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artrosis típica no hay marcador: diagnóstico clínico-radiológico.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interpretarlo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 con clínica: anti-CCP+ en sinovitis compatible = muy probable AR.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negativo no descarta: hasta un tercio son seronegativas.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FR+ aislado puede verse en sanos, infecciones o con la edad.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serología modifica la probabilidad, no diagnostica sola.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4 · EL LABORATORIO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frente a FR: rendimiento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457200" y="1325880"/>
          <a:ext cx="48463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0" y="1325880"/>
            <a:ext cx="320040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69280" y="1417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leerlo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828800"/>
            <a:ext cx="28803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Anti-CCP: más específico (95 %).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RV+ del anti-CCP ≈ 12,5: un positivo sube mucho la probabilidad de AR.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Sensibilidad ≈ 67–69 %: un negativo no descarta 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PISTA 5 · LA IMAGEN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signos opuestos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marginales.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Osteopenia yuxtaarticular.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articular uniforme.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osteofitos.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 (picos óseos).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Esclerosis subcondral y quistes.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Pinzamiento asimétrico.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erosiones inflamatorias.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114800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Ecografía/RM: señal Doppler y edema óseo confirman sinovitis y detectan daño precoz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Criterios de clasificación ACR/EULAR 2010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411480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258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 articular (0–5)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91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Articulaciones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16916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grande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77640" y="17007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977640" y="1700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488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874520" y="21488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 grandes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77640" y="21579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977640" y="2157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26060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26060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pequeñas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977640" y="26151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977640" y="2615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0632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874520" y="30632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4–10 pequeñas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30723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977640" y="30723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5204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874520" y="352044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10 (≥ 1 pequeña)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35295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97764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709160" y="1234440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46320" y="1298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Serología (0–3)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4846320" y="15727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FR/ACPA negativos = 0 · bajos = 2 · altos = 3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709160" y="1984248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46320" y="204825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Reactantes (0–1)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4846320" y="232257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PCR/VSG normales = 0 · anormales = 1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09160" y="2734056"/>
            <a:ext cx="397764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46320" y="279806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(0–1)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4846320" y="307238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6 semanas = 0 · ≥ 6 semanas = 1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709160" y="3493008"/>
            <a:ext cx="3977640" cy="530352"/>
          </a:xfrm>
          <a:prstGeom prst="roundRect">
            <a:avLst>
              <a:gd name="adj" fmla="val 17241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764024" y="3493008"/>
            <a:ext cx="38679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 / 10 puntos clasifica como AR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277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12064" y="4133088"/>
            <a:ext cx="8119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Clasificar ≠ diagnosticar: exige ≥ 1 sinovitis clínica sin mejor explicación; el juicio clínico manda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QUE SEA AR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Artralgia sospechosa de AR (definición EULAR)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van Steenbergen HW, Aletaha D, Beaart-van de Voorde LJJ, Brouwer E, Codreanu C, Combe B, et al. EULAR definition of arthralgia suspicious for progression to rheumatoid arthritis. Ann Rheum Dis. 2017;76(3):491-6.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338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parámetros que señalan una artralgia con riesgo de progresar a AR, antes de la artritis establecida.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57200" y="1591056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6072" y="168249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1591056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articulares de inicio reciente (&lt; 1 año)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1591056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82312" y="168249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82312" y="1682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212080" y="1591056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localizados en articulaciones MCF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157984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072" y="224942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" y="2249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2157984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≥ 60 min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63440" y="2157984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82312" y="224942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82312" y="2249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157984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Síntomas más intensos a primera hora de la mañana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2724912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6072" y="281635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76072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2724912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de primer grado con AR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63440" y="2724912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782312" y="281635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782312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2724912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 para cerrar el puño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57200" y="3291840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6072" y="338328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76072" y="3383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1005840" y="3291840"/>
            <a:ext cx="3383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de MCF positivo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663440" y="3291840"/>
            <a:ext cx="4023360" cy="493776"/>
          </a:xfrm>
          <a:prstGeom prst="roundRect">
            <a:avLst>
              <a:gd name="adj" fmla="val 18519"/>
            </a:avLst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18304" y="3291840"/>
            <a:ext cx="3913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19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de 7 = artralgia sospechosa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57200" y="4041648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4041648"/>
            <a:ext cx="8119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clínico ≥ 3: prioriza la sensibilidad (AUC 0,92); apoya —no sustituye— el juicio del reumatólogo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REPLANTEAR LA ARTROSIS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no es solo “desgaste”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33856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una enfermedad activa y heterogénea de toda la articulación, no un desgaste pasivo por la edad.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1874520" cy="2377440"/>
          </a:xfrm>
          <a:prstGeom prst="roundRect">
            <a:avLst>
              <a:gd name="adj" fmla="val 4878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4420" y="1783080"/>
            <a:ext cx="640080" cy="64008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039" y="193669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38912" y="2542032"/>
            <a:ext cx="1911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articulación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127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Hueso, cartílago, sinovial, grasa de Hoffa, ligamentos y músculo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75865" y="1572768"/>
            <a:ext cx="1874520" cy="2377440"/>
          </a:xfrm>
          <a:prstGeom prst="roundRect">
            <a:avLst>
              <a:gd name="adj" fmla="val 4878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93085" y="1783080"/>
            <a:ext cx="640080" cy="64008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193669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2557577" y="2542032"/>
            <a:ext cx="1911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Remodelación activa</a:t>
            </a:r>
            <a:endParaRPr lang="en-US" sz="1450" dirty="0"/>
          </a:p>
        </p:txBody>
      </p:sp>
      <p:sp>
        <p:nvSpPr>
          <p:cNvPr id="17" name="Text 13"/>
          <p:cNvSpPr txBox="1"/>
          <p:nvPr/>
        </p:nvSpPr>
        <p:spPr>
          <a:xfrm>
            <a:off x="2667305" y="3127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Degradación del cartílago y remodelado óseo con osteofitos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694530" y="1572768"/>
            <a:ext cx="1874520" cy="2377440"/>
          </a:xfrm>
          <a:prstGeom prst="roundRect">
            <a:avLst>
              <a:gd name="adj" fmla="val 4878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311750" y="1783080"/>
            <a:ext cx="640080" cy="64008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5369" y="1936699"/>
            <a:ext cx="332842" cy="33284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4676242" y="2542032"/>
            <a:ext cx="1911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Inflamación</a:t>
            </a:r>
            <a:endParaRPr lang="en-US" sz="1450" dirty="0"/>
          </a:p>
        </p:txBody>
      </p:sp>
      <p:sp>
        <p:nvSpPr>
          <p:cNvPr id="22" name="Text 17"/>
          <p:cNvSpPr txBox="1"/>
          <p:nvPr/>
        </p:nvSpPr>
        <p:spPr>
          <a:xfrm>
            <a:off x="4785970" y="3127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Sinovitis, fibrosis y vascularización; IL-1 y TNF de bajo grado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6813194" y="1572768"/>
            <a:ext cx="1874520" cy="2377440"/>
          </a:xfrm>
          <a:prstGeom prst="roundRect">
            <a:avLst>
              <a:gd name="adj" fmla="val 4878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7430414" y="1783080"/>
            <a:ext cx="640080" cy="64008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034" y="1936699"/>
            <a:ext cx="332842" cy="332842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794906" y="2542032"/>
            <a:ext cx="19110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y sensibilización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6904634" y="3127248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Sensibilización mecánica y neuroplasticidad; suele iniciarla un trauma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457200" y="4096512"/>
            <a:ext cx="8229600" cy="347472"/>
          </a:xfrm>
          <a:prstGeom prst="roundRect">
            <a:avLst>
              <a:gd name="adj" fmla="val 2631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12064" y="4096512"/>
            <a:ext cx="8119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desarrollo: criterios de artrosis precoz y fármacos modificadores (DMOAD)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SI NO ES AR?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diagnostica la artrosis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diagnóstico clínico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 ≥ 45 años con dolor articular de uso.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ausente o &lt; 30 min.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caso típico no hace falta radiografía (NICE).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Examen: crepitación, aumento óseo, dolor a la rotación interna en cadera.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complementarias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no de rutina: radiografía sólo en presentación atípica.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para descartar: pseudogota, tendinopatía o artritis inflamatoria.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 normal: sólo para excluir causas inflamatorias.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hay derrame y duda: líquido no inflamatorio (&lt; 2000 cél/mm³).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SI NO ES AR?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Fenotipos de la artrosis: no es una sola enfermedad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Dell’Isola A, Allan R, Smith SL, Marreiros SS, Steultjens M. Identification of clinical phenotypes in knee osteoarthritis: a systematic review of the literature. BMC Musculoskelet Disord. 2016;17:425.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Deveza LA, Nelson AE, Loeser RF. Phenotypes of osteoarthritis: current state and future implications. Clin Exp Rheumatol. 2019;37 Suppl 120(5):S64-72.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150876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62946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188720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 crónico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03504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Sensibilización central; dolor desproporcionado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64408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10712" y="1508760"/>
            <a:ext cx="502920" cy="5029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413" y="1629461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995928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410712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y derrame; cursa con brotes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071616" y="132588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17920" y="1508760"/>
            <a:ext cx="502920" cy="5029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621" y="1629461"/>
            <a:ext cx="261518" cy="26151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803136" y="147218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Metabólico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217920" y="20574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Obesidad y síndrome metabólico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57200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4CC9F0">
              <a:alpha val="10000"/>
            </a:srgbClr>
          </a:solidFill>
          <a:ln w="19050">
            <a:solidFill>
              <a:srgbClr val="4CC9F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03504" y="2926080"/>
            <a:ext cx="502920" cy="502920"/>
          </a:xfrm>
          <a:prstGeom prst="ellipse">
            <a:avLst/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3046781"/>
            <a:ext cx="261518" cy="26151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88720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6F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Óseo-cartilaginoso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03504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remodelado óseo subcondral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264408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2EC4B6">
              <a:alpha val="10000"/>
            </a:srgbClr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410712" y="2926080"/>
            <a:ext cx="502920" cy="502920"/>
          </a:xfrm>
          <a:prstGeom prst="ellipse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413" y="3046781"/>
            <a:ext cx="261518" cy="26151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995928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8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3410712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Malalineación y sobrecarga</a:t>
            </a:r>
            <a:endParaRPr lang="en-US" sz="1050" dirty="0"/>
          </a:p>
        </p:txBody>
      </p:sp>
      <p:sp>
        <p:nvSpPr>
          <p:cNvPr id="32" name="Shape 25"/>
          <p:cNvSpPr/>
          <p:nvPr/>
        </p:nvSpPr>
        <p:spPr>
          <a:xfrm>
            <a:off x="6071616" y="2743200"/>
            <a:ext cx="2624328" cy="1280160"/>
          </a:xfrm>
          <a:prstGeom prst="roundRect">
            <a:avLst>
              <a:gd name="adj" fmla="val 7143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217920" y="2926080"/>
            <a:ext cx="502920" cy="5029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8621" y="3046781"/>
            <a:ext cx="261518" cy="26151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803136" y="2889504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Enfermedad mínima</a:t>
            </a:r>
            <a:endParaRPr lang="en-US" sz="1400" dirty="0"/>
          </a:p>
        </p:txBody>
      </p:sp>
      <p:sp>
        <p:nvSpPr>
          <p:cNvPr id="36" name="Text 28"/>
          <p:cNvSpPr txBox="1"/>
          <p:nvPr/>
        </p:nvSpPr>
        <p:spPr>
          <a:xfrm>
            <a:off x="6217920" y="3474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leve, progresión lenta</a:t>
            </a:r>
            <a:endParaRPr lang="en-US" sz="1050" dirty="0"/>
          </a:p>
        </p:txBody>
      </p:sp>
      <p:sp>
        <p:nvSpPr>
          <p:cNvPr id="37" name="Shape 29"/>
          <p:cNvSpPr/>
          <p:nvPr/>
        </p:nvSpPr>
        <p:spPr>
          <a:xfrm>
            <a:off x="457200" y="4206240"/>
            <a:ext cx="8229600" cy="274320"/>
          </a:xfrm>
          <a:prstGeom prst="roundRect">
            <a:avLst>
              <a:gd name="adj" fmla="val 33333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12064" y="4206240"/>
            <a:ext cx="8119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Reconocer el fenotipo orienta pronóstico y tratamiento; con frecuencia se solapan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MATIZ CLAVE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también se inflama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solo “desgaste”: hay inflamación, aunque de menor grado que en la AR.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08176" y="1965960"/>
            <a:ext cx="731520" cy="73152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3741" y="2141525"/>
            <a:ext cx="380390" cy="38039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57200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de bajo grado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IL-1 y TNF, derrame y señal Doppler; se ve en ecografía y RM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264408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215384" y="1965960"/>
            <a:ext cx="731520" cy="73152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949" y="21415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264408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erosiva (manos)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3401568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 centrales en IFD/IFP con brotes dolorosos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6071616" y="1783080"/>
            <a:ext cx="2624328" cy="2240280"/>
          </a:xfrm>
          <a:prstGeom prst="roundRect">
            <a:avLst>
              <a:gd name="adj" fmla="val 4082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022592" y="1965960"/>
            <a:ext cx="731520" cy="73152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8157" y="2141525"/>
            <a:ext cx="380390" cy="38039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071616" y="2788920"/>
            <a:ext cx="262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Cristales añadidos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208776" y="3291840"/>
            <a:ext cx="23500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CPPD o gota sobre una articulación artrósica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457200" y="416052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2B43C">
              <a:alpha val="10000"/>
            </a:srgbClr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512064" y="4160520"/>
            <a:ext cx="8119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artrosis que se inflama mucho obliga a pensar en cristales o en una AR asociada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encadenan? De una a otra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8368" y="1572768"/>
            <a:ext cx="548640" cy="548640"/>
          </a:xfrm>
          <a:prstGeom prst="ellipse">
            <a:avLst/>
          </a:prstGeom>
          <a:solidFill>
            <a:srgbClr val="F2546B"/>
          </a:solidFill>
          <a:ln w="12700">
            <a:solidFill>
              <a:srgbClr val="F2546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042" y="1704442"/>
            <a:ext cx="285293" cy="28529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37160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→ artrosis secundaria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inflamación crónica daña cartílago y hueso.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cartílago y el hueso dañados pierden su homeostasis.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artrosis secundaria sobre una AR ya controlada.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663440" y="1371600"/>
            <a:ext cx="402336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64608" y="1572768"/>
            <a:ext cx="548640" cy="548640"/>
          </a:xfrm>
          <a:prstGeom prst="ellipse">
            <a:avLst/>
          </a:prstGeom>
          <a:solidFill>
            <a:srgbClr val="F2B43C"/>
          </a:solidFill>
          <a:ln w="12700">
            <a:solidFill>
              <a:srgbClr val="F2B4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282" y="1704442"/>
            <a:ext cx="285293" cy="285293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577840" y="16276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 → artritis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2286000"/>
            <a:ext cx="3611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artrosis cursa con sinovitis de bajo grado.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Predispone al depósito de cristales (CPPD, gota).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Esos cristales desencadenan artritis aguda sobreañadida.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57200" y="4251960"/>
            <a:ext cx="8229600" cy="292608"/>
          </a:xfrm>
          <a:prstGeom prst="roundRect">
            <a:avLst>
              <a:gd name="adj" fmla="val 31250"/>
            </a:avLst>
          </a:prstGeom>
          <a:solidFill>
            <a:srgbClr val="A78BFA">
              <a:alpha val="10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12064" y="4251960"/>
            <a:ext cx="8119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Pueden coexistir en el mismo paciente: busca ambos patrones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SÍNTESIS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maestra: la respuesta en una mirada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143000"/>
            <a:ext cx="822960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1430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Rasgo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1430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Artritis reumatoide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1143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Artrosis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53619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53619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53619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Inflamatoria autoinmune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852160" y="153619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autoinmune, activa y heterogénea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190652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190652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Dolor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190652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Inflamatorio (peor en reposo)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852160" y="190652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Mecánico (peor con el uso)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227685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27685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227685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30–60 min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227685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 min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2647188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2647188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926080" y="2647188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MCF, IFP, muñeca (simétrico)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852160" y="2647188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IFD, IFP, base del pulgar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3017520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3017520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Tumefacción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926080" y="3017520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Blanda y caliente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52160" y="3017520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 y ósea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3387852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3387852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Laboratorio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926080" y="3387852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FR/anti-CCP+, VSG/PCR ↑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852160" y="3387852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3758184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94360" y="3758184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926080" y="3758184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Erosiones, pinzamiento uniforme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852160" y="3758184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Osteofitos, esclerosis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57200" y="4128516"/>
            <a:ext cx="8229600" cy="338328"/>
          </a:xfrm>
          <a:prstGeom prst="roundRect">
            <a:avLst>
              <a:gd name="adj" fmla="val 27027"/>
            </a:avLst>
          </a:prstGeom>
          <a:solidFill>
            <a:srgbClr val="FFFFFF"/>
          </a:solidFill>
          <a:ln w="19050">
            <a:solidFill>
              <a:srgbClr val="C4CCE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128516"/>
            <a:ext cx="2286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Conducta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926080" y="4128516"/>
            <a:ext cx="2880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Derivar: FAME temprano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852160" y="4128516"/>
            <a:ext cx="2743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sintomático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Cuándo decir que sí: deriva a reumatología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C81E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Banderas rojas de AR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Sinovitis en ≥ 1 articulación (MCF, IFP, muñeca).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matutina &gt; 30 min que mejora al moverse.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 simétrico de pequeñas articulaciones.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Squeeze test positivo o FR/anti-CCP positivos.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&gt; 6 semanas: no esperes a que erosione.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9050">
            <a:solidFill>
              <a:srgbClr val="F2B4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A6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que debes evitar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82880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FR/anti-CCP en artrosis típica (falsos positivos).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AR por serología negativa (hay seronegativas).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Atribuir a artrosis una sinovitis de MCF: piensa en AR.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erosiones en la radiografía para derivar.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370832"/>
            <a:ext cx="8229600" cy="914"/>
          </a:xfrm>
          <a:prstGeom prst="roundRect">
            <a:avLst>
              <a:gd name="adj" fmla="val 10004376"/>
            </a:avLst>
          </a:prstGeom>
          <a:solidFill>
            <a:srgbClr val="F2546B">
              <a:alpha val="10000"/>
            </a:srgbClr>
          </a:solidFill>
          <a:ln w="19050">
            <a:solidFill>
              <a:srgbClr val="F254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" y="4370832"/>
            <a:ext cx="8119872" cy="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RECORDAR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ideas para responder la pregunta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4480560"/>
            <a:ext cx="7589520" cy="0"/>
          </a:xfrm>
          <a:prstGeom prst="line">
            <a:avLst/>
          </a:prstGeom>
          <a:noFill/>
          <a:ln w="9525">
            <a:solidFill>
              <a:srgbClr val="C4CC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4526280"/>
            <a:ext cx="7635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3444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30759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3075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23444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 es inflamatoria y autoinmune; la artrosis, activa y heterogénea (no simple desgaste).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7465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" y="1819656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174650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de la mano orienta: AR en MCF/IFP/muñeca; artrosis en IFD/IFP/CMC1.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258568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2331720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258568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Rigidez &gt; 30–60 min y tumefacción blanda y caliente apuntan a AR.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77063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843784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77063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Anti-CCP es específico, pero un negativo no descarta AR.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28269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55848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282696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Radiografía: erosiones (AR) frente a osteofitos (artrosis).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867912"/>
            <a:ext cx="310896" cy="310896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9436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79476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sospecha de AR, deriva temprano: hay ventana de oportunidad.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507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7830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4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o no es?</a:t>
            </a:r>
            <a:endParaRPr lang="en-US" sz="50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283464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2B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patrón responde; distinguir a tiempo cambia el pronóstico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36576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9C2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Néstor Fabián Sanabria Duarte · Medicina Interna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01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6A4C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BIBLIOGRAFÍA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200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Referencias (Vancouver)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247888" y="4535424"/>
            <a:ext cx="420624" cy="420624"/>
          </a:xfrm>
          <a:prstGeom prst="ellipse">
            <a:avLst/>
          </a:prstGeom>
          <a:solidFill>
            <a:srgbClr val="0A0E1F"/>
          </a:solidFill>
          <a:ln w="15875">
            <a:solidFill>
              <a:srgbClr val="3A416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Smolen JS, Aletaha D, Barton A, Burmester GR, Emery P, Firestein GS, et al. Rheumatoid arthritis. Nat Rev Dis Primers. 2018;4:18001.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Aletaha D, Neogi T, Silman AJ, Funovits J, Felson DT, Bingham CO 3rd, et al. 2010 rheumatoid arthritis classification criteria: an ACR/EULAR collaborative initiative. Ann Rheum Dis. 2010;69(9):1580-8.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Nishimura K, Sugiyama D, Kogata Y, Tsuji G, Nakazawa T, Kawano S, et al. Meta-analysis: diagnostic accuracy of anti-cyclic citrullinated peptide antibody and rheumatoid factor for rheumatoid arthritis. Ann Intern Med. 2007;146(11):797-808.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Combe B, Landewe R, Daien CI, Hua C, Aletaha D, Alvaro-Gracia JM, et al. 2016 update of the EULAR recommendations for the management of early arthritis. Ann Rheum Dis. 2017;76(6):948-59.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Ezzati F, Pezeshk P. Radiographic findings of inflammatory arthritis and mimics in the hands. Diagnostics (Basel). 2022;12(9):2134.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Katz JN, Arant KR, Loeser RF. Diagnosis and treatment of hip and knee osteoarthritis: a review. JAMA. 2021;325(6):568-78.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Hunter DJ, Bierma-Zeinstra S. Osteoarthritis. Lancet. 2019;393(10182):1745-59.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709160" y="1234440"/>
            <a:ext cx="41148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Tang S, Zhang C, Oo WM, Fu K, Risberg MA, Bierma-Zeinstra SM, et al. Osteoarthritis. Nat Rev Dis Primers. 2025;11(1):10.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Kolasinski SL, Neogi T, Hochberg MC, Oatis C, Guyatt G, Block J, et al. 2019 ACR/Arthritis Foundation guideline for the management of osteoarthritis of the hand, hip, and knee. Arthritis Rheumatol. 2020;72(2):220-33.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Sharma L. Osteoarthritis of the knee. N Engl J Med. 2021;384(1):51-9.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Dell’Isola A, Allan R, Smith SL, Marreiros SS, Steultjens M. Identification of clinical phenotypes in knee osteoarthritis: a systematic review of the literature. BMC Musculoskelet Disord. 2016;17:425.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Deveza LA, Nelson AE, Loeser RF. Phenotypes of osteoarthritis: current state and future implications. Clin Exp Rheumatol. 2019;37 Suppl 120(5):S64-72.</a:t>
            </a:r>
            <a:endParaRPr lang="en-US" sz="9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950" dirty="0">
                <a:solidFill>
                  <a:srgbClr val="1418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van Steenbergen HW, Aletaha D, Beaart-van de Voorde LJJ, Brouwer E, Codreanu C, Combe B, et al. EULAR definition of arthralgia suspicious for progression to rheumatoid arthritis. Ann Rheum Dis. 2017;76(3):491-6.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47888" y="4535424"/>
            <a:ext cx="420624" cy="42062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¿Es o no es artritis reumatoide? Diagnóstico diferencial con artrosis</dc:title>
  <dc:subject>PptxGenJS Presentation</dc:subject>
  <dc:creator>Nestor Fabian Sanabria Duarte</dc:creator>
  <cp:lastModifiedBy>Nestor Fabian Sanabria Duarte</cp:lastModifiedBy>
  <cp:revision>1</cp:revision>
  <dcterms:created xsi:type="dcterms:W3CDTF">2026-10-18T20:56:29Z</dcterms:created>
  <dcterms:modified xsi:type="dcterms:W3CDTF">2026-10-18T20:56:29Z</dcterms:modified>
</cp:coreProperties>
</file>
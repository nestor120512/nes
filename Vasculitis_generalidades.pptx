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2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3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charts/chart4.xml" ContentType="application/vnd.openxmlformats-officedocument.drawingml.chart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7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5F7FF"/>
                </a:solidFill>
                <a:latin typeface="Calibri"/>
              </a:rPr>
              <a:t>Resultados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Avacopan</c:v>
                </c:pt>
              </c:strCache>
            </c:strRef>
          </c:tx>
          <c:spPr>
            <a:solidFill>
              <a:srgbClr val="21D3A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7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Remisión semana 26 (no inferior)</c:v>
                  </c:pt>
                  <c:pt idx="1">
                    <c:v>Remisión sostenida semana 52 (superior)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0.72</c:v>
                </c:pt>
                <c:pt idx="1">
                  <c:v>0.66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Prednisona</c:v>
                </c:pt>
              </c:strCache>
            </c:strRef>
          </c:tx>
          <c:spPr>
            <a:solidFill>
              <a:srgbClr val="5B669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7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Remisión semana 26 (no inferior)</c:v>
                  </c:pt>
                  <c:pt idx="1">
                    <c:v>Remisión sostenida semana 52 (superior)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</c:v>
                </c:pt>
                <c:pt idx="1">
                  <c:v>0.55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5F7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F5F7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6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7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7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5F7FF"/>
                </a:solidFill>
                <a:latin typeface="Calibri"/>
              </a:rPr>
              <a:t>MAINRITSAN (NEJM 2014): recaídas mayores a los 28 meses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Recaídas mayores a 28 meses</c:v>
                </c:pt>
              </c:strCache>
            </c:strRef>
          </c:tx>
          <c:spPr>
            <a:solidFill>
              <a:srgbClr val="21D3A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5F7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D3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Rituximab</c:v>
                  </c:pt>
                  <c:pt idx="1">
                    <c:v>Azatioprina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0.05</c:v>
                </c:pt>
                <c:pt idx="1">
                  <c:v>0.29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600" u="none">
                  <a:solidFill>
                    <a:srgbClr val="F5F7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F7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6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Esteroide solo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5F7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Respuesta clínica</c:v>
                  </c:pt>
                  <c:pt idx="1">
                    <c:v>Normalización de los marcadores</c:v>
                  </c:pt>
                  <c:pt idx="2">
                    <c:v>Estabilización angiográfica</c:v>
                  </c:pt>
                  <c:pt idx="3">
                    <c:v>Recaídas al suspenderlo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0.84</c:v>
                </c:pt>
                <c:pt idx="2">
                  <c:v>0.28</c:v>
                </c:pt>
                <c:pt idx="3">
                  <c:v>0.66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500" u="none">
                  <a:solidFill>
                    <a:srgbClr val="F5F7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7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6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 clínica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7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Azatioprina</c:v>
                  </c:pt>
                  <c:pt idx="1">
                    <c:v>Ciclofosfamida</c:v>
                  </c:pt>
                  <c:pt idx="2">
                    <c:v>Metotrexato</c:v>
                  </c:pt>
                  <c:pt idx="3">
                    <c:v>Leflunomida</c:v>
                  </c:pt>
                  <c:pt idx="4">
                    <c:v>Micofenolato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</c:v>
                </c:pt>
                <c:pt idx="1">
                  <c:v>0.48</c:v>
                </c:pt>
                <c:pt idx="2">
                  <c:v>0.5</c:v>
                </c:pt>
                <c:pt idx="3">
                  <c:v>0.75</c:v>
                </c:pt>
                <c:pt idx="4">
                  <c:v>0.77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Estabilización angiográfica</c:v>
                </c:pt>
              </c:strCache>
            </c:strRef>
          </c:tx>
          <c:spPr>
            <a:solidFill>
              <a:srgbClr val="21D3A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7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Azatioprina</c:v>
                  </c:pt>
                  <c:pt idx="1">
                    <c:v>Ciclofosfamida</c:v>
                  </c:pt>
                  <c:pt idx="2">
                    <c:v>Metotrexato</c:v>
                  </c:pt>
                  <c:pt idx="3">
                    <c:v>Leflunomida</c:v>
                  </c:pt>
                  <c:pt idx="4">
                    <c:v>Micofenolato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0.67</c:v>
                </c:pt>
                <c:pt idx="2">
                  <c:v>0.88</c:v>
                </c:pt>
                <c:pt idx="3">
                  <c:v>0.86</c:v>
                </c:pt>
                <c:pt idx="4">
                  <c:v>0.4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5F7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7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6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7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4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6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7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· REUMATOLOGÍA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61C3D">
              <a:alpha val="70000"/>
            </a:srgbClr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Fabian Sanabria Duarte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de tercer año. Especialización en medicina interna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Libre de Colombia – Seccional Barranquilla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tamaño de vaso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· mediano · pequeño · variable · órgano único · asociada a enfermedad sistémica · etiología probable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vaso: dónde predomina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371600" cy="1371600"/>
          </a:xfrm>
          <a:prstGeom prst="ellipse">
            <a:avLst/>
          </a:prstGeom>
          <a:solidFill>
            <a:srgbClr val="FF4D6D">
              <a:alpha val="15000"/>
            </a:srgbClr>
          </a:solidFill>
          <a:ln w="31750">
            <a:solidFill>
              <a:srgbClr val="FF4D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472184"/>
            <a:ext cx="987552" cy="987552"/>
          </a:xfrm>
          <a:prstGeom prst="ellipse">
            <a:avLst/>
          </a:prstGeom>
          <a:solidFill>
            <a:srgbClr val="FF4D6D">
              <a:alpha val="23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1664208"/>
            <a:ext cx="603504" cy="603504"/>
          </a:xfrm>
          <a:prstGeom prst="ellipse">
            <a:avLst/>
          </a:prstGeom>
          <a:solidFill>
            <a:srgbClr val="FF4D6D">
              <a:alpha val="31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y sus ramas principales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463040"/>
            <a:ext cx="1005840" cy="1005840"/>
          </a:xfrm>
          <a:prstGeom prst="ellipse">
            <a:avLst/>
          </a:prstGeom>
          <a:solidFill>
            <a:srgbClr val="FFB703">
              <a:alpha val="15000"/>
            </a:srgbClr>
          </a:solidFill>
          <a:ln w="31750">
            <a:solidFill>
              <a:srgbClr val="FFB70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8418" y="1603858"/>
            <a:ext cx="724205" cy="724205"/>
          </a:xfrm>
          <a:prstGeom prst="ellipse">
            <a:avLst/>
          </a:prstGeom>
          <a:solidFill>
            <a:srgbClr val="FFB703">
              <a:alpha val="23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9235" y="1744675"/>
            <a:ext cx="442570" cy="442570"/>
          </a:xfrm>
          <a:prstGeom prst="ellipse">
            <a:avLst/>
          </a:prstGeom>
          <a:solidFill>
            <a:srgbClr val="FFB703">
              <a:alpha val="31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Arterias viscerales principales y sus ramas iniciales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645920"/>
            <a:ext cx="640080" cy="640080"/>
          </a:xfrm>
          <a:prstGeom prst="ellipse">
            <a:avLst/>
          </a:prstGeom>
          <a:solidFill>
            <a:srgbClr val="21D3A8">
              <a:alpha val="15000"/>
            </a:srgbClr>
          </a:solidFill>
          <a:ln w="31750">
            <a:solidFill>
              <a:srgbClr val="21D3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9011" y="1735531"/>
            <a:ext cx="460858" cy="460858"/>
          </a:xfrm>
          <a:prstGeom prst="ellipse">
            <a:avLst/>
          </a:prstGeom>
          <a:solidFill>
            <a:srgbClr val="21D3A8">
              <a:alpha val="23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8622" y="1825142"/>
            <a:ext cx="281635" cy="281635"/>
          </a:xfrm>
          <a:prstGeom prst="ellipse">
            <a:avLst/>
          </a:prstGeom>
          <a:solidFill>
            <a:srgbClr val="21D3A8">
              <a:alpha val="31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Arterias intraparenquimatosas, arteriolas, capilares y vénulas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840480"/>
            <a:ext cx="7900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clave: "predominantemente".  </a:t>
            </a:r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vasculitis puede afectar vasos de cualquier tamaño. Una GPA puede afectar arterias medianas y una ACG puede afectar arterias pequeñas. La categoría indica dónde predomina.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VASCULITIS DE VASO GRANDE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Vasculitis de vaso grande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3716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3898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71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Takayasu (TAK)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Arteritis, a menudo granulomatosa, de la aorta y sus ramas principales.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habitualmente antes de los 50 años.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3716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3898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371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células gigantes (ACG)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Arteritis, a menudo granulomatosa, de la aorta y sus ramas principales.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154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predilección por las ramas de las carótidas y vertebrales; con frecuencia afecta la temporal.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habitualmente después de los 50 años y suele asociarse a polimialgia reumática.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VASCULITIS DE VASO MEDIANO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Vasculitis de vaso mediano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Poliarteritis nodosa (PAN)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necrotizante de arterias medianas o pequeñas, </a:t>
            </a:r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glomerulonefritis, </a:t>
            </a:r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vasculitis de arteriolas, capilares ni vénulas y </a:t>
            </a:r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asociada a ANCA.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5142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de Kawasaki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asociada al síndrome mucocutáneo ganglionar. Afecta sobre todo arterias medianas y pequeñas, con frecuencia las coronarias. Se presenta en lactantes y niños pequeños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7033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" y="3703320"/>
            <a:ext cx="7900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glomerulonefritis, capilaritis pulmonar o ANCA, por definición no es PAN. En la PAN el riñón se afecta por infartos, microaneurismas e hipertensión renovascular, no por glomerulonefritis.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VASCULITIS DE VASO PEQUEÑO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Asociadas a ANCA (VAA)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necrotizante pauciinmune (pocos o ningún depósito inmune), asociada a MPO-ANCA o PR3-ANCA. No todos los pacientes tienen ANCA.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59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Y EOSINOFILIA  </a:t>
            </a:r>
            <a:pPr indent="0" marL="0">
              <a:buNone/>
            </a:pPr>
            <a:r>
              <a:rPr lang="en-US" sz="11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RASGOS CLAVE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 necrotizante muy frecuente; capilaritis pulmonar frecuente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164592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359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inflamación granulomatosa necrotizante de la vía aérea superior e inferior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Y EOSINOFILIA  </a:t>
            </a:r>
            <a:pPr indent="0" marL="0">
              <a:buNone/>
            </a:pPr>
            <a:r>
              <a:rPr lang="en-US" sz="11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RASGOS CLAVE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 necrotizante frecuente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164592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36208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6208" y="2359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ricos en eosinófilos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Y EOSINOFILIA  </a:t>
            </a:r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RASGOS CLAVE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ANCA es más frecuente cuando hay GN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9651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4096512"/>
            <a:ext cx="7900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Perla:  </a:t>
            </a:r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 frente a GPA se define por la ausencia o presencia de inflamación granulomatosa, no por el tipo de ANCA. Aun así, PR3 se asocia más a GPA y MPO a MPA y EGPA.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VASCULITIS DE VASO PEQUEÑO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Por inmunocomplejos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18872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moderados a intensos de inmunoglobulinas y/o complemento en la pared vascular. La GN es frecuente.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31720"/>
            <a:ext cx="640080" cy="64008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9" y="24981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671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anti-MBG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53288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Capilares glomerulares y/o pulmonares, con depósito de anticuerpos anti-MBG. Produce hemorragia pulmonar y GN necrotizante con semilunas.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657600"/>
            <a:ext cx="640080" cy="64008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9" y="382402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08760" y="3493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crioglobulinémica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508760" y="38587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de crioglobulinas y crioglobulinas séricas. Afecta piel, glomérulos y nervios periféricos.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VASCULITIS DE VASO PEQUEÑO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Por inmunocomplejos (continuación)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08760"/>
            <a:ext cx="640080" cy="64008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9" y="16751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3441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por IgA (Henoch-Schönlein)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709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con predominio de IgA1. Afecta piel, tracto gastrointestinal y articulaciones; la GN es indistinguible de la nefropatía por IgA.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834640"/>
            <a:ext cx="640080" cy="64008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9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26700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urticariana hipocomplementémica (anti-C1q)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508760" y="30358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Urticaria e hipocomplementemia con anticuerpos anti-C1q. Puede dar GN, artritis, EPOC e inflamación ocular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" y="3931920"/>
            <a:ext cx="7900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Perla: 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"pauciinmune" frente a "inmunocomplejos" es una distinción de inmunofluorescencia en la biopsia. Usa ese lenguaje cuando pidas la biopsia renal en el caso.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VASCULITIS DE VASO VARIABLE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Vasculitis de vaso variable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afectar vasos de cualquier tamaño y tipo: arterias, venas y capilares.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3154680"/>
          </a:xfrm>
          <a:prstGeom prst="roundRect">
            <a:avLst>
              <a:gd name="adj" fmla="val 2899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de Behçet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Aftas orales y/o genitales recurrentes, con compromiso cutáneo, ocular, articular, gastrointestinal y/o del SNC.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dar trombosis, arteritis y aneurismas arteriales (por ejemplo, de la arteria pulmonar).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gran vasculitis que afecta venas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3154680"/>
          </a:xfrm>
          <a:prstGeom prst="roundRect">
            <a:avLst>
              <a:gd name="adj" fmla="val 2899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Cogan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291486"/>
            <a:ext cx="263347" cy="26334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53212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queratitis intersticial, uveítis y epiescleritis.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46320" y="297180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311444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53212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Oído interno: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hipoacusia neurosensorial y disfunción vestibular.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46320" y="379476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393740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532120" y="3794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Vascular: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aortitis, aneurismas aórticos y valvulitis aórtica o mitral.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VASCULITIS DE ÓRGANO ÚNICO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Vasculitis de órgano único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de un solo órgano sin datos de enfermedad sistémica. Ejemplos: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24328" cy="914400"/>
          </a:xfrm>
          <a:prstGeom prst="roundRect">
            <a:avLst>
              <a:gd name="adj" fmla="val 1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548640" cy="548640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201716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Angeítis leucocitoclástica cutánea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64408" y="1691640"/>
            <a:ext cx="2624328" cy="914400"/>
          </a:xfrm>
          <a:prstGeom prst="roundRect">
            <a:avLst>
              <a:gd name="adj" fmla="val 1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874520"/>
            <a:ext cx="548640" cy="548640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214" y="20171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cutánea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71616" y="1691640"/>
            <a:ext cx="2624328" cy="914400"/>
          </a:xfrm>
          <a:prstGeom prst="roundRect">
            <a:avLst>
              <a:gd name="adj" fmla="val 1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08776" y="1874520"/>
            <a:ext cx="548640" cy="548640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22" y="20171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6288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primaria del SNC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856232" y="2788920"/>
            <a:ext cx="2624328" cy="914400"/>
          </a:xfrm>
          <a:prstGeom prst="roundRect">
            <a:avLst>
              <a:gd name="adj" fmla="val 1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93392" y="2971800"/>
            <a:ext cx="548640" cy="548640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038" y="31144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660904" y="2788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Aortitis aislada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663440" y="2788920"/>
            <a:ext cx="2624328" cy="914400"/>
          </a:xfrm>
          <a:prstGeom prst="roundRect">
            <a:avLst>
              <a:gd name="adj" fmla="val 1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00600" y="2971800"/>
            <a:ext cx="548640" cy="548640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246" y="311444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8112" y="2788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testicular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21792" y="3977640"/>
            <a:ext cx="7900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pacientes "de órgano único" luego desarrollan la enfermedad sistémica y deben reclasificarse.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VASCULITIS ASOCIADA A ENFERMEDAD SISTÉMICA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Vasculitis asociada a enfermedad sistémica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28800"/>
            <a:ext cx="914400" cy="914400"/>
          </a:xfrm>
          <a:prstGeom prst="ellipse">
            <a:avLst/>
          </a:prstGeom>
          <a:solidFill>
            <a:srgbClr val="F472B6">
              <a:alpha val="20000"/>
            </a:srgbClr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20665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lúpica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56032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63240" y="1828800"/>
            <a:ext cx="914400" cy="914400"/>
          </a:xfrm>
          <a:prstGeom prst="ellipse">
            <a:avLst/>
          </a:prstGeom>
          <a:solidFill>
            <a:srgbClr val="F472B6">
              <a:alpha val="20000"/>
            </a:srgbClr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20665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5176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reumatoide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66344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66360" y="1828800"/>
            <a:ext cx="914400" cy="914400"/>
          </a:xfrm>
          <a:prstGeom prst="ellipse">
            <a:avLst/>
          </a:prstGeom>
          <a:solidFill>
            <a:srgbClr val="F472B6">
              <a:alpha val="20000"/>
            </a:srgbClr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20665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sarcoidea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69480" y="1828800"/>
            <a:ext cx="914400" cy="914400"/>
          </a:xfrm>
          <a:prstGeom prst="ellipse">
            <a:avLst/>
          </a:prstGeom>
          <a:solidFill>
            <a:srgbClr val="F472B6">
              <a:alpha val="20000"/>
            </a:srgbClr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20665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VASCULITIS ASOCIADA A ETIOLOGÍA PROBABLE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Vasculitis asociada a etiología probable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35608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03" y="1592519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234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crioglobulinémica por VHC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28032" y="1435608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43" y="159251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234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asociada a VHB (la PAN clásica)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39572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" y="2596896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03" y="2753807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3957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Aortitis sifilítica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39572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28032" y="2596896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943" y="2753807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23957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por inmunocomplejos asociada a fármacos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3557016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1792" y="3758184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03" y="3915095"/>
            <a:ext cx="289682" cy="28968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35570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 asociada a fármacos: hidralazina, propiltiouracilo y cocaína con levamisol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663440" y="3557016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828032" y="3758184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4943" y="3915095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577840" y="35570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asociada a cáncer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clasificación ACR/EULAR 2022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· MPA · EGPA · ACG · Takayasu · y los ACR 1990 para PAN y vasculitis por IgA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clasificación ACR/EULAR 2022 para vasculitis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35608"/>
            <a:ext cx="566928" cy="566928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61" y="1583009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261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 clasificación, no de diagnóstico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1581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Priorizan la especificidad para formar cohortes homogéneas en investigación.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435608"/>
            <a:ext cx="566928" cy="566928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001" y="158300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04688" y="1261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entrada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504688" y="1581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aplican cuando ya está diagnosticada una vasculitis de pequeño o mediano vaso (VAA) o de gran vaso, según el caso.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395728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642616"/>
            <a:ext cx="566928" cy="56692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1" y="279001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98448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descartar imitadores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298448" y="2788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Infección, neoplasia, fármacos y cocaína.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395728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2642616"/>
            <a:ext cx="566928" cy="566928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001" y="2790017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04688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ponderados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504688" y="2788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puntos negativos. Se suman los ítems presentes y se compara con el umbral.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3602736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3849624"/>
            <a:ext cx="566928" cy="566928"/>
          </a:xfrm>
          <a:prstGeom prst="ellipse">
            <a:avLst/>
          </a:prstGeom>
          <a:solidFill>
            <a:srgbClr val="4CC9F0">
              <a:alpha val="20000"/>
            </a:srgbClr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61" y="3997025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98448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VAA se aplican juntas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298448" y="3995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MPA y EGPA: los puntos negativos de cada una sirven para separarlas entre sí.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663440" y="3602736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800600" y="3849624"/>
            <a:ext cx="566928" cy="566928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8001" y="3997025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504688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criterios 2022 para PAN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504688" y="3995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paquete. Se siguen usando los ACR 1990.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VAA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Granulomatosis con poliangeítis (GPA)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306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2306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306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Robson JC et al., 2022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1143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1417320"/>
            <a:ext cx="2743200" cy="711403"/>
          </a:xfrm>
          <a:prstGeom prst="roundRect">
            <a:avLst>
              <a:gd name="adj" fmla="val 1285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0088" y="1417320"/>
            <a:ext cx="1874520" cy="711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nasal: secreción sanguinolenta, úlceras, costras, congestión, obstrucción o perforación septal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64500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64500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80360" y="2174443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90088" y="2174443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cartilaginoso: inflamación del cartílago auricular o nasal, disfonía o estridor, compromiso endobronquial o nariz en silla de montar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480767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2480767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80360" y="3088843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90088" y="3088843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Hipoacusia conductiva o neurosensorial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15925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31592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1143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LABORATORIO, IMAGEN Y BIOPSIA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1417320"/>
            <a:ext cx="29260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70448" y="1417320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 o anti-PR3 positivo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01000" y="143103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01000" y="14310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760720" y="1746504"/>
            <a:ext cx="292608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70448" y="1746504"/>
            <a:ext cx="20574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Nódulos, masa o cavitación pulmonar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1816913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01000" y="1816913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60720" y="2189074"/>
            <a:ext cx="2926080" cy="554126"/>
          </a:xfrm>
          <a:prstGeom prst="roundRect">
            <a:avLst>
              <a:gd name="adj" fmla="val 1650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70448" y="2189074"/>
            <a:ext cx="2057400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Granuloma, inflamación granulomatosa extravascular o células gigantes en biopsia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2338121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01000" y="2338121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760720" y="2788920"/>
            <a:ext cx="2926080" cy="554126"/>
          </a:xfrm>
          <a:prstGeom prst="roundRect">
            <a:avLst>
              <a:gd name="adj" fmla="val 1650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70448" y="2788920"/>
            <a:ext cx="2057400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Inflamación, consolidación o derrame de senos paranasales, o mastoiditis en imagen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1000" y="2937967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01000" y="2937967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760720" y="3388766"/>
            <a:ext cx="29260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870448" y="3388766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 pauciinmune en biopsia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40248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01000" y="340248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760720" y="3717950"/>
            <a:ext cx="29260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870448" y="3717950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p-ANCA o anti-MPO positivo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01000" y="373166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01000" y="373166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760720" y="4047134"/>
            <a:ext cx="29260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70448" y="4047134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Eosinófilos ≥ 1.000/µL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01000" y="406085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01000" y="406085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VAA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Poliangeítis microscópica (MPA)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306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2306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306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Suppiah R et al., 2022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11887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1463040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7248" y="1463040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nasal (mismos ítems que en GPA)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147675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01000" y="14767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18470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LABORATORIO, IMAGEN Y BIOPSIA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2121408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27248" y="2121408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p-ANCA o anti-MPO positivo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0" y="213512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01000" y="21351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17520" y="2450592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27248" y="2450592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 o enfermedad pulmonar intersticial en imagen de tórax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246430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01000" y="24643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17520" y="2779776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27248" y="2779776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 pauciinmune en biopsia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01000" y="27934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01000" y="27934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017520" y="3108960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27248" y="3108960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 o anti-PR3 positivo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01000" y="31226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01000" y="31226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017520" y="3438144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27248" y="3438144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Eosinófilos ≥ 1.000/µL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01000" y="345186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01000" y="34518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VAA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Granulomatosis eosinofílica con poliangeítis (EGPA)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306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2306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306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Grayson PC et al., 2022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11887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1463040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7248" y="1463040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obstructiva de la vía aérea (asma)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147675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01000" y="14767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17520" y="1792224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27248" y="1792224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Pólipos nasales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180594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01000" y="18059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17520" y="2121408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27248" y="2121408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Mononeuritis múltiple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213512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01000" y="21351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250545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Y BIOPSIA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0" y="2779776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27248" y="2779776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Eosinófilos ≥ 1.000/µL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01000" y="27934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01000" y="27934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017520" y="3108960"/>
            <a:ext cx="5669280" cy="459760"/>
          </a:xfrm>
          <a:prstGeom prst="roundRect">
            <a:avLst>
              <a:gd name="adj" fmla="val 19889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27248" y="3108960"/>
            <a:ext cx="4800600" cy="45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 extravascular con predominio de eosinófilos en biopsia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01000" y="321082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01000" y="32108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017520" y="3614440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27248" y="3614440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 o anti-PR3 positivo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01000" y="362815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01000" y="36281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017520" y="3943624"/>
            <a:ext cx="566928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27248" y="3943624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Hematuria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01000" y="395734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01000" y="39573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GRAN VASO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células gigantes (ACG)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306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2306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306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47472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pPr indent="0" marL="0">
              <a:buNone/>
            </a:pPr>
            <a:r>
              <a:rPr lang="en-US" sz="10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≥ 50 años al diagnóstico.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 et al., 2022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1143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80360" y="1417320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0088" y="1417320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 de hombros o cuello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1487729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1487729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80360" y="1859890"/>
            <a:ext cx="274320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90088" y="1859890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visual súbita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87360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187360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80360" y="2189074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90088" y="2189074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Claudicación mandibular o lingual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25948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225948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80360" y="2631643"/>
            <a:ext cx="274320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90088" y="2631643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Cefalea temporal nueva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645359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2645359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80360" y="2960827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90088" y="2960827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Hipersensibilidad del cuero cabelludo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303123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37760" y="30312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880360" y="3403397"/>
            <a:ext cx="2743200" cy="554126"/>
          </a:xfrm>
          <a:prstGeom prst="roundRect">
            <a:avLst>
              <a:gd name="adj" fmla="val 1650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90088" y="3403397"/>
            <a:ext cx="1874520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 temporal anormal al examen: pulso ausente o disminuido, dolor o endurecimiento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355244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37760" y="35524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760720" y="1143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LABORATORIO, IMAGEN Y BIOPSIA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60720" y="1417320"/>
            <a:ext cx="292608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70448" y="1417320"/>
            <a:ext cx="20574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VSG máxima ≥ 50 mm/h o PCR máxima ≥ 10 mg/L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01000" y="1487729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01000" y="1487729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760720" y="1859890"/>
            <a:ext cx="2926080" cy="554126"/>
          </a:xfrm>
          <a:prstGeom prst="roundRect">
            <a:avLst>
              <a:gd name="adj" fmla="val 1650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70448" y="1859890"/>
            <a:ext cx="2057400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de arteria temporal positiva o signo del halo en ecografía temporal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01000" y="2008937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01000" y="2008937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760720" y="2459736"/>
            <a:ext cx="292608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870448" y="2459736"/>
            <a:ext cx="20574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axilar bilateral en imagen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01000" y="2530145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001000" y="2530145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760720" y="2902306"/>
            <a:ext cx="292608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870448" y="2902306"/>
            <a:ext cx="20574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FDG-PET a lo largo de la aorta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01000" y="297271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01000" y="297271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GRAN VASO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células gigantes (ACG): lo que cambió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07592"/>
            <a:ext cx="512064" cy="512064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7" y="1440729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188720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ecografía con halo vale lo mismo que la biopsia (+5). </a:t>
            </a:r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refleja el cambio de paradigma hacia la imagen (EULAR 2023: la ecografía es la primera prueba).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176272"/>
            <a:ext cx="512064" cy="512064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7" y="230940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057400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Axilar bilateral y PET aórtico </a:t>
            </a:r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clasificar la ACG de grandes vasos sin compromiso craneal, que antes "no cumplía" los ACR 1990.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3044952"/>
            <a:ext cx="512064" cy="512064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97" y="317808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2926080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PMR cuenta (+2) </a:t>
            </a:r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rigidez de cinturas está dentro de los criterios.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TÍPICO · mayor de 50 años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114800"/>
            <a:ext cx="1645920" cy="621792"/>
          </a:xfrm>
          <a:prstGeom prst="roundRect">
            <a:avLst>
              <a:gd name="adj" fmla="val 14706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8640" y="411480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 </a:t>
            </a:r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Cefalea nueva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103120" y="4114800"/>
            <a:ext cx="228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2331720" y="4114800"/>
            <a:ext cx="1645920" cy="621792"/>
          </a:xfrm>
          <a:prstGeom prst="roundRect">
            <a:avLst>
              <a:gd name="adj" fmla="val 14706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423160" y="411480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 </a:t>
            </a:r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Claudicación mandibular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977640" y="4114800"/>
            <a:ext cx="228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206240" y="4114800"/>
            <a:ext cx="1645920" cy="621792"/>
          </a:xfrm>
          <a:prstGeom prst="roundRect">
            <a:avLst>
              <a:gd name="adj" fmla="val 14706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297680" y="411480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 </a:t>
            </a:r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VSG de 80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852160" y="4114800"/>
            <a:ext cx="228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126480" y="4069080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217920" y="4069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ACG</a:t>
            </a:r>
            <a:pPr algn="ctr"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aun sin biopsia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GRAN VASO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Takayasu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3060" y="2560320"/>
            <a:ext cx="107442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23060" y="260604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3060" y="303580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47472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pPr indent="0" marL="0">
              <a:buNone/>
            </a:pPr>
            <a:r>
              <a:rPr lang="en-US" sz="10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≤ 60 años al diagnóstico y evidencia de vasculitis en imagen.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Grayson PC et al., 2022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1143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80360" y="1417320"/>
            <a:ext cx="274320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0088" y="1417320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femenino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143103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14310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80360" y="1746504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90088" y="1746504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Angina o dolor cardiaco isquémico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816913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1816913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80360" y="2189074"/>
            <a:ext cx="274320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90088" y="2189074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Claudicación de brazo o pierna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20279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220279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80360" y="2518258"/>
            <a:ext cx="2743200" cy="283464"/>
          </a:xfrm>
          <a:prstGeom prst="roundRect">
            <a:avLst>
              <a:gd name="adj" fmla="val 3225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90088" y="251825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Soplo vascular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53197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253197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80360" y="2847442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90088" y="2847442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disminuido en una extremidad superior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91785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37760" y="291785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880360" y="3290011"/>
            <a:ext cx="2743200" cy="554126"/>
          </a:xfrm>
          <a:prstGeom prst="roundRect">
            <a:avLst>
              <a:gd name="adj" fmla="val 1650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90088" y="3290011"/>
            <a:ext cx="1874520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Anormalidad carotídea: pulso disminuido o ausente, o carotidinia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343905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37760" y="343905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880360" y="3889858"/>
            <a:ext cx="274320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990088" y="3889858"/>
            <a:ext cx="1874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presión sistólica entre brazos ≥ 20 mmHg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396026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37760" y="396026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760720" y="1143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760720" y="1417320"/>
            <a:ext cx="2926080" cy="554126"/>
          </a:xfrm>
          <a:prstGeom prst="roundRect">
            <a:avLst>
              <a:gd name="adj" fmla="val 1650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70448" y="1417320"/>
            <a:ext cx="2057400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territorios arteriales afectados: 1 = +1, 2 = +2, ≥ 3 = +3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01000" y="1566367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01000" y="1566367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a +3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760720" y="2017166"/>
            <a:ext cx="292608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870448" y="2017166"/>
            <a:ext cx="20574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simétrico de arterias pares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01000" y="2087575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001000" y="2087575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760720" y="2459736"/>
            <a:ext cx="2926080" cy="396850"/>
          </a:xfrm>
          <a:prstGeom prst="roundRect">
            <a:avLst>
              <a:gd name="adj" fmla="val 2304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870448" y="2459736"/>
            <a:ext cx="20574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 aorta abdominal con afectación renal o mesentérica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01000" y="2530145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01000" y="2530145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GRAN VASO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Takayasu: los 9 territorios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188720"/>
            <a:ext cx="7900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≤ 60 años al diagnóstico y evidencia de vasculitis en imagen.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67128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11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torácica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4408" y="2011680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2167128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156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95928" y="2011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abdominal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2011680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2167128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08776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2011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Mesentérica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Carótida derecha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64408" y="2907792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063240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95928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Carótida izquierda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71616" y="2907792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3063240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08776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03136" y="29077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Subclavia derecha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803904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959352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88720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Subclavia izquierda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64408" y="3803904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01568" y="3959352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01568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995928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derecha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071616" y="3803904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8776" y="3959352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03136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izquierda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 · GRAN VASO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Takayasu: el cambio de edad y el patrón de imagen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edad: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era menor de 40 años (ACR 1990), ahora ≤ 60. Con eso se superpone con la ACG entre los 50 y los 60 años. En esa franja, el patrón de imagen las separa: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Axilares bilaterales y arterias craneales.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abdominal, renales, mesentérica y subclavia izquierda asimétrica.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00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abdominal y renal (+3):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muy típico de la Takayasu en Latinoamérica y Asia. Recuerda la HTA renovascular en una mujer joven.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4114800"/>
            <a:ext cx="7900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es obligatoria para entrar: no se clasifica Takayasu solo con la clínica.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para memorizar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2743200"/>
                <a:gridCol w="3383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 de mayor peso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Vasculitis de pequeño o mediano vaso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PR3/c-ANCA +5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Vasculitis de pequeño o mediano vaso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MPO/p-ANCA +6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Vasculitis de pequeño o mediano vaso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Eosinófilos ≥ 1.000 +5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4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≥ 50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Biopsia o halo +5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Takayasu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≤ 60 años + imagen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Aorta abdominal con renal o mesentérica +3 / ≥ 3 territorios +3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03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 PARA LOS UMBRALES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97764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64208" y="3977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64208" y="397764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664208" y="44348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71216" y="3977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71216" y="397764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2871216" y="44348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35424" y="3977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35424" y="397764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4535424" y="44348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42432" y="3977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42432" y="397764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5742432" y="44348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39776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"5-5-6, 6-5"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no diagnostican: clasifican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ACR/EULAR 2022 no responden </a:t>
            </a:r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"¿este paciente tiene vasculitis?"</a:t>
            </a:r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Responden </a:t>
            </a:r>
            <a:pPr indent="0" marL="0">
              <a:buNone/>
            </a:pPr>
            <a:r>
              <a:rPr lang="en-US" sz="1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 sé que tiene vasculitis, ¿cuál es?"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566160" cy="2697480"/>
          </a:xfrm>
          <a:prstGeom prst="roundRect">
            <a:avLst>
              <a:gd name="adj" fmla="val 3390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vasculitis? (y no un imitador)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 decides TÚ, con juicio clínico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+ biopsia/imagen + descartar imitadores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965960"/>
            <a:ext cx="3566160" cy="2697480"/>
          </a:xfrm>
          <a:prstGeom prst="roundRect">
            <a:avLst>
              <a:gd name="adj" fmla="val 3390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21488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vasculitis es?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Aquí aplicas los criterios ACR/EULAR 2022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puntos: GPA, MPA, EGPA, etc.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108960"/>
            <a:ext cx="914400" cy="914"/>
          </a:xfrm>
          <a:prstGeom prst="line">
            <a:avLst/>
          </a:prstGeom>
          <a:noFill/>
          <a:ln w="38100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06908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la respuesta es SÍ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de aplicar los criterios sin pensar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c-ANCA/PR3 positivo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2344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71800" y="123444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Costras nasales con perforación septal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2344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0" y="12344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23560" y="1234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puntos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aplicas los criterios sin pensar, lo "clasificas" como GPA.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¿y si el paciente: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3164921"/>
            <a:ext cx="272125" cy="27212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40080" y="3657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endocarditis bacteriana, que puede dar ANCA positivo (a veces PR3) y GN?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64408" y="2880360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47288" y="3017520"/>
            <a:ext cx="566928" cy="566928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89" y="3164921"/>
            <a:ext cx="272125" cy="27212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447288" y="3657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cocaína, que da perforación septal y ANCA PR3 o anti-HNE positivo?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071616" y="2880360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54496" y="3017520"/>
            <a:ext cx="566928" cy="566928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3164921"/>
            <a:ext cx="272125" cy="27212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254496" y="3657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linfoma nasal (NK/T) que destruye el tabique?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entrada pide cada grupo?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MPA y EGPA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234440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ya hecho de vasculitis de pequeño o mediano vaso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04872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04872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ya hecho de vasculitis de gran vaso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275234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27523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edad ≥ 50 años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75304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575304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ya hecho de vasculitis de gran vaso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392277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39227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edad ≤ 60 años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392277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39227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imagen que muestre vasculitis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"diagnosticas vasculitis" en el paso 1?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regla fija; es tu juicio clínico. Se apoya en: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691640"/>
            <a:ext cx="502920" cy="502920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" y="182239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cuadro clínico compatible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Púrpura palpable, GN, hemorragia alveolar, mononeuritis, claudicación o pulsos asimétricos.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3200400"/>
            <a:ext cx="502920" cy="502920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" y="33311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444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objetiva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7490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que muestre vasculitis, imagen vascular (ecografía, angio-TC o RM, PET) o un ANCA en el contexto correcto.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0" y="1554480"/>
            <a:ext cx="4023360" cy="3154680"/>
          </a:xfrm>
          <a:prstGeom prst="roundRect">
            <a:avLst>
              <a:gd name="adj" fmla="val 2899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de los imitadores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846320" y="21031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Infecciones: </a:t>
            </a:r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endocarditis, hepatitis B, hepatitis C, VIH, sífilis, TB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Fármacos y drogas: </a:t>
            </a:r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hidralazina, propiltiouracilo, cocaína con levamisol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Émbolos de colesterol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antifosfolípido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Displasia fibromuscular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Ergotismo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 1990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 1990 para PAN (1–5)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46520" y="1143000"/>
            <a:ext cx="2240280" cy="3566160"/>
          </a:xfrm>
          <a:prstGeom prst="roundRect">
            <a:avLst>
              <a:gd name="adj" fmla="val 408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criterios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931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Lightfoot RW et al., Arthritis Rheum 1990.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52728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 ≥ 4 kg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14447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inicio de la enfermedad, no por dieta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65376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1911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Livedo reticularis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1671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reticular violáceo en la piel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87752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o sensibilidad testicular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28895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infección, trauma u otra causa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419856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355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Mialgias, debilidad o dolor en las piernas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" y="3611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Mialgias difusas (sin cinturas), debilidad o dolor a la palpación de los músculos de las piernas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142232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" y="4078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Mononeuropatía o polineuropatía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43342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Mononeuritis múltiple o polineuropatía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 1990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 1990 para PAN (6–10)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46520" y="1143000"/>
            <a:ext cx="2240280" cy="3566160"/>
          </a:xfrm>
          <a:prstGeom prst="roundRect">
            <a:avLst>
              <a:gd name="adj" fmla="val 408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criterios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931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Lightfoot RW et al., Arthritis Rheum 1990.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52728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diastólica &gt; 90 mmHg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14447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Hipertensión de nueva aparición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65376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1911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&gt; 40 mg/dL o creatinina &gt; 1,5 mg/dL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1671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deshidratación ni obstrucción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87752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de hepatitis B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28895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 o anticuerpos positivos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419856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355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Arteriografía anormal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" y="3611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Aneurismas u oclusiones de arterias viscerales, no por aterosclerosis, displasia fibromuscular u otra causa no inflamatoria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5806440" cy="640080"/>
          </a:xfrm>
          <a:prstGeom prst="roundRect">
            <a:avLst>
              <a:gd name="adj" fmla="val 1428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142232"/>
            <a:ext cx="420624" cy="42062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" y="4078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de arteria pequeña o mediana con PMN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43342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Granulocitos, o granulocitos y mononucleares, en la pared arterial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 1990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1990 (Henoch-Schönlein): ≥ 2 de 4 · Vasculitis IgA1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2984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Púrpura palpable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922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Lesiones hemorrágicas palpables, sin trombocitopenia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188720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325880"/>
            <a:ext cx="411480" cy="411480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78808" y="12984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≤ 20 años al inicio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17922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24328"/>
            <a:ext cx="411480" cy="411480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5968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Angina intestinal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0906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abdominal difuso que empeora con las comidas, o isquemia intestinal, con frecuencia con diarrea sanguinolenta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2487168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624328"/>
            <a:ext cx="411480" cy="411480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25968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Granulocitos en la pared vascular en la biopsia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30906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Granulocitos en la pared de arteriolas o vénulas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11887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F2752"/>
          </a:solidFill>
          <a:ln w="9525">
            <a:solidFill>
              <a:srgbClr val="1F27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87 %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1819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88 %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9169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Mills JA et al., Arthritis Rheum 1990.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3977640"/>
            <a:ext cx="7900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limitación:  </a:t>
            </a:r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ACR 1990 no exigen demostrar IgA. Cualquier vasculitis leucocitoclástica con púrpura y dolor abdominal en un joven "cumple".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las vasculitis asociadas a ANCA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EULAR 2022 · paso a paso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0: el diagnóstico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868680" cy="86868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7" y="1688897"/>
            <a:ext cx="416966" cy="4169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0" y="16002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14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 por inmunoensayo específico de antígeno (PR3 y MPO)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prueba de elección, no la inmunofluorescencia indirecta.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463040"/>
            <a:ext cx="868680" cy="86868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897" y="1688897"/>
            <a:ext cx="416966" cy="41696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680960" y="16002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8096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2514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apoyar un diagnóstico nuevo y para evaluar una recaída dudosa. Es especialmente valiosa la biopsia renal, que además da pronóstico.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clasificar la gravedad (la decisión más importante)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502920" cy="502920"/>
          </a:xfrm>
          <a:prstGeom prst="ellipse">
            <a:avLst/>
          </a:prstGeom>
          <a:solidFill>
            <a:srgbClr val="FF4D6D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1429207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298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un órgano o la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029968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1920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Glomerulonefritis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423160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23134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alveolar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2816352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27066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Mononeuritis múltiple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209544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0998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meníngeo o cerebral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3602736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orbitaria o retroorbitaria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" y="3995928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3886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cardiaco o mesentérico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4389120"/>
            <a:ext cx="128016" cy="12801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42793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Estenosis subglótica o bronquial grave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118872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1298448"/>
            <a:ext cx="502920" cy="50292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429207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486400" y="1298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amenaza un órgano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937760" y="2029968"/>
            <a:ext cx="128016" cy="128016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166360" y="1920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Rinosinusitis sin destrucción ósea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937760" y="2423160"/>
            <a:ext cx="128016" cy="128016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166360" y="23134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o artralgias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937760" y="2816352"/>
            <a:ext cx="128016" cy="128016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166360" y="27066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Lesiones cutáneas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937760" y="3209544"/>
            <a:ext cx="128016" cy="128016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166360" y="30998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pulmonares no cavitados y sin compromiso respiratorio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937760" y="3602736"/>
            <a:ext cx="128016" cy="128016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16636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Otitis media no complicada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937760" y="3995928"/>
            <a:ext cx="128016" cy="128016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166360" y="3886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Epiescleritis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inducción de la remisión en GPA y MPA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11880" cy="32918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Enfermedad que amenaza un órgano o la vida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0972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Glucocorticoides + </a:t>
            </a:r>
            <a:pPr indent="0" marL="0">
              <a:buNone/>
            </a:pPr>
            <a:r>
              <a:rPr lang="en-US" sz="12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rituximab (preferido)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ciclofosfamida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Rituximab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48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3500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mg/m² semanal × 4 (RAVE) o 1 g × 2, con 2 semanas de separación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PREFIERE EN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30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Recaídas (en RAVE fue superior); PR3-ANCA; pacientes jóvenes que quieren preservar la fertilidad; ciclofosfamida previa acumulada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Ciclofosfamida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48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3500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IV: 15 mg/kg en las semanas 0, 2 y 4, luego cada 3 semanas, por 3 a 6 meses (CYCLOPS). Se ajusta por edad y función renal. Oral: 2 mg/kg/día, hoy menos usada por mayor toxicidad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PREFIERE EN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630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hay rituximab disponible; algunos expertos lo prefieren en GN muy grave, en ocasiones combinada con rituximab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la evidencia detrás de la inducción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24328" cy="3429000"/>
          </a:xfrm>
          <a:prstGeom prst="roundRect">
            <a:avLst>
              <a:gd name="adj" fmla="val 3484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NEJM 2010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Rituximab no inferior a ciclofosfamida y superior en recaídas.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4408" y="1280160"/>
            <a:ext cx="2624328" cy="3429000"/>
          </a:xfrm>
          <a:prstGeom prst="roundRect">
            <a:avLst>
              <a:gd name="adj" fmla="val 3484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RITUXVAS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447288" y="21031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2103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NEJM 2010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Rituximab eficaz en compromiso renal.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1280160"/>
            <a:ext cx="2624328" cy="3429000"/>
          </a:xfrm>
          <a:prstGeom prst="roundRect">
            <a:avLst>
              <a:gd name="adj" fmla="val 3484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CYCLOPS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54496" y="21031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2103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pulsos IV de ciclofosfamida son igual de eficaces que la vía oral, con menos leucopenia y algo más de recaídas.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inducción de la remisión en GPA y MPA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Enfermedad que no amenaza un órgano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731520" cy="73152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2064715"/>
            <a:ext cx="351130" cy="35113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Glucocorticoides + rituximab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recomendado por EULAR 2022.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Metotrexato o micofenolato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2752344"/>
            <a:ext cx="146304" cy="14630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25146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metotrexato tiene más recaídas </a:t>
            </a:r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(NORAM).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324612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3483864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74920" y="3246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micofenolato sirve más en MPO que en PR3 </a:t>
            </a:r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(MYCYC).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397764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00600" y="4215384"/>
            <a:ext cx="146304" cy="146304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4920" y="3977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metotrexato no debe usarse si la TFG es menor de 30 a 50 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glucocorticoides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más grande: dosis reducida · La recomendación de EULAR 2022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mg/día · dosis inicial de prednisolona, según el peso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rápida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mg/día hacia los 4 a 5 meses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63240" y="2377440"/>
            <a:ext cx="210312" cy="320040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2880360"/>
            <a:ext cx="210312" cy="182880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069080"/>
            <a:ext cx="7900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Pulsos de metilprednisolona (250 a 1.000 mg/día por 1 a 3 días):  </a:t>
            </a:r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opcionales en enfermedad grave. La evidencia de beneficio es limitada y aumentan las infecciones.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la base de la dosis reducida — PEXIVAS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Walsh M et al., NEJM 2020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653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VAA grave: TFG menor de 50 o hemorragia alveolar.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FACTORIAL 2×2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234440" cy="841248"/>
          </a:xfrm>
          <a:prstGeom prst="roundRect">
            <a:avLst>
              <a:gd name="adj" fmla="val 10870"/>
            </a:avLst>
          </a:prstGeom>
          <a:solidFill>
            <a:srgbClr val="161C3D"/>
          </a:solidFill>
          <a:ln w="15875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88036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Plasmaféresis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estándar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55648" y="2880360"/>
            <a:ext cx="1234440" cy="841248"/>
          </a:xfrm>
          <a:prstGeom prst="roundRect">
            <a:avLst>
              <a:gd name="adj" fmla="val 10870"/>
            </a:avLst>
          </a:prstGeom>
          <a:solidFill>
            <a:srgbClr val="1F2752"/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01368" y="288036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Plasmaféresis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reducido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234440" cy="841248"/>
          </a:xfrm>
          <a:prstGeom prst="roundRect">
            <a:avLst>
              <a:gd name="adj" fmla="val 10870"/>
            </a:avLst>
          </a:prstGeom>
          <a:solidFill>
            <a:srgbClr val="161C3D"/>
          </a:solidFill>
          <a:ln w="15875">
            <a:solidFill>
              <a:srgbClr val="2E38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79476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plasmaféresis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estándar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55648" y="3794760"/>
            <a:ext cx="1234440" cy="841248"/>
          </a:xfrm>
          <a:prstGeom prst="roundRect">
            <a:avLst>
              <a:gd name="adj" fmla="val 10870"/>
            </a:avLst>
          </a:prstGeom>
          <a:solidFill>
            <a:srgbClr val="1F2752"/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01368" y="379476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plasmaféresis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reducido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132588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a dosis reducida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20440" y="2011680"/>
            <a:ext cx="548640" cy="54864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215432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206240" y="2011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inferior en muerte o enfermedad renal terminal.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520440" y="2880360"/>
            <a:ext cx="548640" cy="54864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086" y="302300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206240" y="28803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infecciones graves al año.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3520440" y="3749040"/>
            <a:ext cx="548640" cy="548640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86" y="3891686"/>
            <a:ext cx="263347" cy="263347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206240" y="3749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alrededor de la mitad de la exposición acumulada a esteroide en los primeros 6 meses.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avacopan (inhibidor del receptor de C5a)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Avacopan combinado con rituximab o ciclofosfamida, como parte de una estrategia para reducir sustancialmente la exposición a glucocorticoides.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Jayne DRW et al., NEJM 2021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 pacientes con GPA o MPA (sin EGPA), con inducción de rituximab o ciclofosfamida.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Avacopan 30 mg cada 12 horas por 52 semanas frente a prednisona en reducción progresiva. El grupo de avacopan recibió placebo de prednisona.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931920" y="1691640"/>
          <a:ext cx="47548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avacopan — más allá de la remisión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468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recuperación de la TFG en los pacientes con compromiso renal.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64408" y="118872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7288" y="1325880"/>
            <a:ext cx="548640" cy="54864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934" y="14685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47288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toxicidad por glucocorticoides.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54496" y="1325880"/>
            <a:ext cx="548640" cy="548640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142" y="14685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54496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Vigilar: hepatotoxicidad (perfil hepático).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lo usaría?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337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pacientes con alto riesgo de toxicidad por esteroides, como diabéticos, osteoporóticos, obesos o con antecedente de psicosis, y en compromiso renal.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4069080"/>
            <a:ext cx="7863840" cy="43891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0080" y="40690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Colombia la disponibilidad puede ser limitada; menciónalo como opción ideal.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plasmaféresis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RECOMENDACIÓN DE EULAR 2022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considerarse en GPA o MPA con </a:t>
            </a:r>
            <a:pPr indent="0" marL="0">
              <a:buNone/>
            </a:pPr>
            <a:r>
              <a:rPr lang="en-US" sz="16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creatinina &gt; 300 µmol/L (3,4 mg/dL)</a:t>
            </a:r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GN activa.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LLEGÓ AHÍ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PEXIVAS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83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plasmaféresis no redujo la muerte ni la enfermedad renal terminal en el conjunto de los pacientes.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Metaanálisis posterior (Walsh M et al., BMJ 2022)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83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enfermedad renal terminal a los 12 meses, sobre todo en pacientes de alto riesgo renal, a costa de más infecciones graves. No reduce la mortalidad.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plasmaféresis — cuándo considerarla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987552"/>
          </a:xfrm>
          <a:prstGeom prst="roundRect">
            <a:avLst>
              <a:gd name="adj" fmla="val 9259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72768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61" y="1720169"/>
            <a:ext cx="272125" cy="27212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1371600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Creatinina &gt; 3,4 mg/dL, diálisis o caída rápida de la función renal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166360" y="1499616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4996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(EULAR y KDIGO 2024)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487168"/>
            <a:ext cx="8229600" cy="987552"/>
          </a:xfrm>
          <a:prstGeom prst="roundRect">
            <a:avLst>
              <a:gd name="adj" fmla="val 9259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688336"/>
            <a:ext cx="566928" cy="56692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1" y="2835737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248716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alveolar con hipoxemia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166360" y="2615184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303520" y="26151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EULAR: no se recomienda de rutina. KDIGO 2024: considerarla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3602736"/>
            <a:ext cx="8229600" cy="987552"/>
          </a:xfrm>
          <a:prstGeom prst="roundRect">
            <a:avLst>
              <a:gd name="adj" fmla="val 9259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4360" y="3803904"/>
            <a:ext cx="566928" cy="566928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1" y="3951305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80160" y="3602736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positivo anti-MBG + ANCA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166360" y="3730752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0" y="3730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se trata como una enfermedad anti-MBG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mantenimiento de la remisión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EULAR 2022: </a:t>
            </a:r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Rituximab</a:t>
            </a:r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tras una inducción con rituximab o ciclofosfamida. Alternativas: azatioprina o metotrexato.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214884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2148840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2185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MAINRITSAN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423160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Rituximab 500 mg (días 0 y 14, luego en los meses 6, 12 y 18) frente a azatioprina: recaídas mayores del 5 % frente al 29 % a los 28 meses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3035808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MAINRITSAN 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331012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Dosificación guiada por ANCA y linfocitos CD19 igual de eficaz que el esquema fijo, con menos infusiones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3922776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3959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MAINRITSAN 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419709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Prolongar el rituximab 18 meses más reduce las recaídas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mantenimiento — otros ensayos clave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24328" cy="3474720"/>
          </a:xfrm>
          <a:prstGeom prst="roundRect">
            <a:avLst>
              <a:gd name="adj" fmla="val 3484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1583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RITAZAREM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0080" y="2697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697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154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pacientes con recaídas, rituximab 1 g cada 4 meses fue superior a azatioprina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64408" y="1234440"/>
            <a:ext cx="2624328" cy="3474720"/>
          </a:xfrm>
          <a:prstGeom prst="roundRect">
            <a:avLst>
              <a:gd name="adj" fmla="val 3484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47288" y="1417320"/>
            <a:ext cx="640080" cy="640080"/>
          </a:xfrm>
          <a:prstGeom prst="ellipse">
            <a:avLst/>
          </a:prstGeom>
          <a:solidFill>
            <a:srgbClr val="FF4D6D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709" y="158374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4728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3447288" y="2697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47288" y="2697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 2010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447288" y="3154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Micofenolato inferior a azatioprina en mantenimiento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071616" y="1234440"/>
            <a:ext cx="2624328" cy="3474720"/>
          </a:xfrm>
          <a:prstGeom prst="roundRect">
            <a:avLst>
              <a:gd name="adj" fmla="val 3484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54496" y="1417320"/>
            <a:ext cx="640080" cy="640080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17" y="158374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54496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54496" y="2697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54496" y="2697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254496" y="3154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Prolongar la azatioprina hasta 48 meses reduce las recaídas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¿cuánto dura el mantenimiento?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tras lograr la remisión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234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si el riesgo de recaída es alto: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77640" y="1737360"/>
            <a:ext cx="4709160" cy="512064"/>
          </a:xfrm>
          <a:prstGeom prst="roundRect">
            <a:avLst>
              <a:gd name="adj" fmla="val 1785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792224"/>
            <a:ext cx="402336" cy="402336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687" y="1896831"/>
            <a:ext cx="193121" cy="19312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617720" y="173736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PR3-ANCA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77640" y="2340864"/>
            <a:ext cx="4709160" cy="512064"/>
          </a:xfrm>
          <a:prstGeom prst="roundRect">
            <a:avLst>
              <a:gd name="adj" fmla="val 1785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69080" y="2395728"/>
            <a:ext cx="402336" cy="402336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687" y="2500335"/>
            <a:ext cx="193121" cy="19312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17720" y="234086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Recaídas previas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977640" y="2944368"/>
            <a:ext cx="4709160" cy="512064"/>
          </a:xfrm>
          <a:prstGeom prst="roundRect">
            <a:avLst>
              <a:gd name="adj" fmla="val 1785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69080" y="2999232"/>
            <a:ext cx="402336" cy="402336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687" y="3103839"/>
            <a:ext cx="193121" cy="1931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17720" y="294436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 persistentemente positivo al terminar la inducción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3977640" y="3547872"/>
            <a:ext cx="4709160" cy="512064"/>
          </a:xfrm>
          <a:prstGeom prst="roundRect">
            <a:avLst>
              <a:gd name="adj" fmla="val 1785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069080" y="3602736"/>
            <a:ext cx="402336" cy="402336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687" y="3707343"/>
            <a:ext cx="193121" cy="19312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617720" y="354787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otorrinolaringológico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3977640" y="4151376"/>
            <a:ext cx="4709160" cy="512064"/>
          </a:xfrm>
          <a:prstGeom prst="roundRect">
            <a:avLst>
              <a:gd name="adj" fmla="val 17857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069080" y="4206240"/>
            <a:ext cx="402336" cy="402336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687" y="4310847"/>
            <a:ext cx="193121" cy="19312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617720" y="415137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renal conservada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dos situaciones frecuentes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MPO-ANCA con mucho daño renal, el riesgo de recaída es menor y el de infección es mayor.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individualizar.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trata un ANCA que sube sin síntomas?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346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aumento del ANCA por sí solo no es indicación de tratamiento. Es una señal para vigilar más de cerca. Ese aumento predice mejor la recaída en pacientes con compromiso renal y en los que recibieron rituximab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7: recaídas y enfermedad refractaria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que amenaza un órgano: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trata igual que la inducción, y se prefiere rituximab.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no grave: </a:t>
            </a:r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esteroide y optimizar el inmunosupresor.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REFRACTARIA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288584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94360" y="33832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rituximab a ciclofosfamida, o al revés.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60320" y="26060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7480" y="274320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26" y="2885846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697480" y="33832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diagnóstico: ¿es infección, cocaína, daño crónico o un tumor?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63440" y="26060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00600" y="274320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246" y="288584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00600" y="33832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adherencia.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66560" y="26060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03720" y="274320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366" y="288584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03720" y="33832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IgIV o plasmaféresis, y remitir a un centro experto.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8: EGPA (tiene sus propias recomendaciones)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73352"/>
            <a:ext cx="164592" cy="16459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37160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que amenaza un órgano (corazón, GN, mononeuritis, gastrointestinal)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4526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Glucocorticoides + ciclofosfamida. Rituximab como alternativa, sobre todo en la forma ANCA+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523744"/>
            <a:ext cx="164592" cy="164592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22199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que no amenaza un órgano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221992"/>
            <a:ext cx="4526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7413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07238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recidivante o refractaria sin amenaza orgánica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072384"/>
            <a:ext cx="4526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Mepolizumab 300 mg SC cada mes (MIRRA, NEJM 2017). Benralizumab 30 mg SC cada 4 semanas fue no inferior (MANDARA, NEJM 2024)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224528"/>
            <a:ext cx="164592" cy="16459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392277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922776"/>
            <a:ext cx="4526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Mepolizumab, metotrexato o azatioprina, según el fenotipo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9: profilaxis y seguridad (1/2)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93" y="15007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3533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Pneumocystis jirovecii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9339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TMP-SMX (800/160 mg 3 veces por semana o 400/80 mg diario) durante la inducción con rituximab o ciclofosfamida y con esteroides a dosis altas. Atovacuona como alternativa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28032" y="135331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433" y="15007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3533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99339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 y anti-HBc antes del rituximab. Si son positivos: entecavir o tenofovir profiláctico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" y="313639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93" y="32837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136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latente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77647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Tamizaje con IGRA o PPD y radiografía de tórax. Si es positivo: profilaxis con isoniazida o rifampicina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28032" y="3136392"/>
            <a:ext cx="566928" cy="56692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433" y="328379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3136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Strongyloides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377647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Ivermectina empírica o serología antes de esteroides a dosis altas. En Colombia es obligatorio pensarlo (riesgo de hiperinfección)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9: profilaxis y seguridad (2/2)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93" y="15007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3533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Inmunoglobulinas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9339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basal y antes de cada ciclo de rituximab. Si hay hipogammaglobulinemia con infecciones graves recurrentes: reemplazo con IgIV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28032" y="135331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433" y="15007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3533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99339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Inactivadas (influenza, neumococo, COVID, hepatitis B, herpes zóster recombinante) idealmente antes del rituximab. Las vacunas vivas están contraindicadas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" y="313639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93" y="32837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136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77647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Calcio, vitamina D, densitometría y bifosfonato según el riesgo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28032" y="3136392"/>
            <a:ext cx="566928" cy="566928"/>
          </a:xfrm>
          <a:prstGeom prst="ellipse">
            <a:avLst/>
          </a:prstGeom>
          <a:solidFill>
            <a:srgbClr val="21D3A8">
              <a:alpha val="20000"/>
            </a:srgbClr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433" y="328379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3136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Ciclofosfamida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377647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Mesna e hidratación; preservación de la fertilidad (agonista de GnRH, criopreservación); dosis acumulada (más de 36 g aumenta el riesgo de cáncer de vejiga); citología cervical; uroanálisis de por vida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VAA · EULAR 2022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10: seguimiento a largo plazo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554480" cy="3429000"/>
          </a:xfrm>
          <a:prstGeom prst="roundRect">
            <a:avLst>
              <a:gd name="adj" fmla="val 588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0" y="1677010"/>
            <a:ext cx="395021" cy="3950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1752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139696" y="1280160"/>
            <a:ext cx="1554480" cy="3429000"/>
          </a:xfrm>
          <a:prstGeom prst="roundRect">
            <a:avLst>
              <a:gd name="adj" fmla="val 588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05456" y="1463040"/>
            <a:ext cx="822960" cy="82296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26" y="167701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31136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31136" y="301752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VDI.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822192" y="1280160"/>
            <a:ext cx="1554480" cy="3429000"/>
          </a:xfrm>
          <a:prstGeom prst="roundRect">
            <a:avLst>
              <a:gd name="adj" fmla="val 588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87952" y="1463040"/>
            <a:ext cx="822960" cy="822960"/>
          </a:xfrm>
          <a:prstGeom prst="ellipse">
            <a:avLst/>
          </a:prstGeom>
          <a:solidFill>
            <a:srgbClr val="FF4D6D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922" y="16770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cardiovascular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913632" y="301752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VAA lo aumenta. Controla PA, lípidos y glucemia.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504688" y="1280160"/>
            <a:ext cx="1554480" cy="3429000"/>
          </a:xfrm>
          <a:prstGeom prst="roundRect">
            <a:avLst>
              <a:gd name="adj" fmla="val 588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870448" y="1463040"/>
            <a:ext cx="822960" cy="82296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418" y="167701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96128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Cáncer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596128" y="301752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cáncer de piel no melanoma y tumores asociados a la ciclofosfamida.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187184" y="1280160"/>
            <a:ext cx="1554480" cy="3429000"/>
          </a:xfrm>
          <a:prstGeom prst="roundRect">
            <a:avLst>
              <a:gd name="adj" fmla="val 5882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52944" y="1463040"/>
            <a:ext cx="822960" cy="82296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914" y="1677010"/>
            <a:ext cx="395021" cy="39502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78624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vida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278624" y="301752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y salud mental.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PROFILAXIS · STRONGYLOIDES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Ivermectina vs albendazol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EFICACIA CONTRA STRONGYLOIDES (curación parasitológica)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90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Ivermectina · Alta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400800" cy="292608"/>
          </a:xfrm>
          <a:prstGeom prst="roundRect">
            <a:avLst>
              <a:gd name="adj" fmla="val 50000"/>
            </a:avLst>
          </a:prstGeom>
          <a:solidFill>
            <a:srgbClr val="1F2752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17830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7647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85–95 %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2677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Albendazol · Menor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6400800" cy="292608"/>
          </a:xfrm>
          <a:prstGeom prst="roundRect">
            <a:avLst>
              <a:gd name="adj" fmla="val 50000"/>
            </a:avLst>
          </a:prstGeom>
          <a:solidFill>
            <a:srgbClr val="1F2752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5603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40–70 %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ALBENDAZOL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75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µg/kg/día × 1–2 días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49240" y="33375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mg cada 12 horas por 3 a 7 días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38862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línea siempre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49240" y="388620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no hay ivermectina o está contraindicada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revisión Cochrane 2016 (Henriquez-Camacho et al.): la ivermectina logra más curación parasitológica que el albendazol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PROFILAXIS · STRONGYLOIDES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albendazol es inferior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868680" cy="868680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7" y="1688897"/>
            <a:ext cx="416966" cy="4169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234440"/>
            <a:ext cx="6720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sobre todo en el intestino y llega mal a las larvas en migración, que son justamente las que causan la autoinfección y la hiperinfección.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dosis única de albendazol de 400 mg que se usa para "desparasitar" no sirve para Strongyloides. Esa dosis es para Ascaris y uncinarias.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de vasculitis de grandes vasos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ASOREUMA 2026 · arteritis de células gigantes y arteritis de Takayasu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ASOREUMA 2026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generales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"/>
            <a:ext cx="475488" cy="47548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55" y="1385499"/>
            <a:ext cx="228234" cy="22823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07008" y="1188720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de forma individualizada, según la actividad, la gravedad, las comorbilidades y las preferencias del paciente.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0195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975104"/>
            <a:ext cx="475488" cy="47548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55" y="209873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07008" y="1901952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decisiones compartidas, teniendo en cuenta el acceso real a las terapias en Colombia.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615184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2688336"/>
            <a:ext cx="475488" cy="47548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55" y="281196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07008" y="2615184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Equilibrar la eficacia con la toxicidad por esteroides.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32841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6928" y="3401568"/>
            <a:ext cx="475488" cy="47548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55" y="3525195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07008" y="3328416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los biológicos según el Consenso ASOREUMA 2023 de gestión de riesgo: tamizaje de TB, VHB y demás.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4041648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6928" y="4114800"/>
            <a:ext cx="475488" cy="475488"/>
          </a:xfrm>
          <a:prstGeom prst="ellipse">
            <a:avLst/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555" y="4238427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07008" y="4041648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la osteoporosis según la Guía ASOREUMA 2023 de osteoporosis inducida por glucocorticoides.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ASOREUMA 2026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clave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grave en ACG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visual, isquemia cerebrovascular, isquemia del cuero cabelludo o de la lengua, cardiopatía isquémica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0195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grave en Takayasu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1901952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901952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Isquemia cerebral, cardiaca, mesentérica o de extremidades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1518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no grave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91840" y="2615184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615184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constitucionales, cefalea, claudicación o polimialgia reumática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3284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Refractaria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3328416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328416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persistente pese a un tratamiento inmunosupresor adecuado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04164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Isquemia craneal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91840" y="4041648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4041648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Amaurosis fugaz, pérdida de visión o ACV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ASOREUMA 2026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dosis de glucocorticoides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898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Pulsos IV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920240"/>
            <a:ext cx="17007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Metilprednisolona 500–1.000 mg/día por 3 a 5 días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96596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20756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altas orales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260604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Prednisona 1 mg/kg/día (máximo 60 mg/día)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27614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moderadas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3291840"/>
            <a:ext cx="1700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Prednisona 0,5 mg/kg/día (10–40 mg/día)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3375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76288" y="34472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bajas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3977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Prednisona ≤ 10 mg/día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células gigantes: 15 recomendaciones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63040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716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 activa sin enfermedad grave: glucocorticoides orales a dosis altas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59168" y="141732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9168" y="14173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 favor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17190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baja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121408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02996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 activa con enfermedad grave: pulsos IV en la fase inicial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59168" y="2075688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2075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 favor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237744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baja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77977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68833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esquemas interdiarios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59168" y="273405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9168" y="273405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 contra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46704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49300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4930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34670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alto riesgo de toxicidad: ajustar la dosis inicial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059168" y="3502152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59168" y="35021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005072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15137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4151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00507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Calcio y vitamina D y evaluación del riesgo de osteoporosis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059168" y="416052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59168" y="41605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ACG: biológicos (recomendaciones 4–6)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78408"/>
          </a:xfrm>
          <a:prstGeom prst="roundRect">
            <a:avLst>
              <a:gd name="adj" fmla="val 934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2247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22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4440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Tocilizumab + glucocorticoides en TODA ACG activa. Dosis: 162 mg SC semanal. La vía IV es aceptable si no hay SC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59168" y="147675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47675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 favor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7785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moderada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978408"/>
          </a:xfrm>
          <a:prstGeom prst="roundRect">
            <a:avLst>
              <a:gd name="adj" fmla="val 934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7403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740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86000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tocilizumab está contraindicado: abatacept 10 mg/kg IV los días 1, 15 y 29, y luego cada 4 semanas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59168" y="252831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25283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a favor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8300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moderada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978408"/>
          </a:xfrm>
          <a:prstGeom prst="roundRect">
            <a:avLst>
              <a:gd name="adj" fmla="val 934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62559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6255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337560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anti-TNF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59168" y="357987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35798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 contra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388162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moderada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ACG: inmunosupresores y recaída (recomendaciones 7–9)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78408"/>
          </a:xfrm>
          <a:prstGeom prst="roundRect">
            <a:avLst>
              <a:gd name="adj" fmla="val 934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2247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22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4440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biológicos, por contraindicación o intolerancia: metotrexato + glucocorticoides como opción TEMPORAL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59168" y="147675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47675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a favor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7785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978408"/>
          </a:xfrm>
          <a:prstGeom prst="roundRect">
            <a:avLst>
              <a:gd name="adj" fmla="val 934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7403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740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86000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azatioprina, ciclofosfamida, ciclosporina ni micofenolato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59168" y="252831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25283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 contra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8300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978408"/>
          </a:xfrm>
          <a:prstGeom prst="roundRect">
            <a:avLst>
              <a:gd name="adj" fmla="val 934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62559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6255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337560"/>
            <a:ext cx="5852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con esteroide solo: subir el esteroide y AÑADIR tocilizumab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59168" y="357987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35798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 favor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388162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moderada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relevante: tocilizumab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sistemática de 2 ensayos clínicos (281 pacientes) mostró más remisión sostenida a los 12 meses que placebo. La dosis semanal fue mejor que cada 2 semanas: menos rescates, más tiempo hasta la recaída y mejor calidad de vida.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GiACTA · remisión sostenida a la semana 52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677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Tocilizumab semanal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389120" cy="292608"/>
          </a:xfrm>
          <a:prstGeom prst="roundRect">
            <a:avLst>
              <a:gd name="adj" fmla="val 50000"/>
            </a:avLst>
          </a:prstGeom>
          <a:solidFill>
            <a:srgbClr val="1F2752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60320"/>
            <a:ext cx="2457907" cy="292608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6547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44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389120" cy="292608"/>
          </a:xfrm>
          <a:prstGeom prst="roundRect">
            <a:avLst>
              <a:gd name="adj" fmla="val 50000"/>
            </a:avLst>
          </a:prstGeom>
          <a:solidFill>
            <a:srgbClr val="1F2752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1677" y="3337560"/>
            <a:ext cx="175565" cy="292608"/>
          </a:xfrm>
          <a:prstGeom prst="roundRect">
            <a:avLst>
              <a:gd name="adj" fmla="val 83333"/>
            </a:avLst>
          </a:prstGeom>
          <a:solidFill>
            <a:srgbClr val="8B93BF"/>
          </a:solidFill>
          <a:ln w="12700">
            <a:solidFill>
              <a:srgbClr val="8B93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38682" y="3319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14–18 %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reducción del esteroide. Es la evidencia de GiACTA, que conviene que tengas a mano.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47,2 %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recaídas con esteroide solo (metaanálisis)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520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número es el argumento para usar tocilizumab desde el inicio.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relevante: otras terapias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502920" cy="502920"/>
          </a:xfrm>
          <a:prstGeom prst="ellipse">
            <a:avLst/>
          </a:prstGeom>
          <a:solidFill>
            <a:srgbClr val="21D3A8"/>
          </a:solidFill>
          <a:ln w="19050">
            <a:solidFill>
              <a:srgbClr val="21D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" y="1484071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3533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Abatacept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pacientes en remisión a las 12 semanas. Hubo más supervivencia libre de recaída al año que con placebo.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28032" y="1353312"/>
            <a:ext cx="502920" cy="502920"/>
          </a:xfrm>
          <a:prstGeom prst="ellipse">
            <a:avLst/>
          </a:prstGeom>
          <a:solidFill>
            <a:srgbClr val="FF4D6D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791" y="148407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3533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Anti-TNF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9659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Adalimumab (70 pacientes) no superó a placebo. El infliximab y el etanercept tampoco, y además tuvieron más infecciones.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" y="3136392"/>
            <a:ext cx="502920" cy="502920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" y="326715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3136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recomiendan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749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evidencia preliminar o riesgo: sarilumab, ustekinumab e inhibidores de JAK.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28032" y="3136392"/>
            <a:ext cx="502920" cy="502920"/>
          </a:xfrm>
          <a:prstGeom prst="ellipse">
            <a:avLst/>
          </a:prstGeom>
          <a:solidFill>
            <a:srgbClr val="4CC9F0"/>
          </a:solidFill>
          <a:ln w="19050">
            <a:solidFill>
              <a:srgbClr val="4CC9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791" y="3267151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0" y="3136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Leflunomida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3749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recomienda de rutina, pero tampoco se contraindica. Es un posible ahorrador de esteroides a futuro.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terapias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0817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444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antiagregantes ni anticoagulantes de rutina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59168" y="136245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36245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en contra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6642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31136"/>
            <a:ext cx="402336" cy="40233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05740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compromiso vertebral o carotídeo: antiagregante, con ASA como primera opción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59168" y="218541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21854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a favor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487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10896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3108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28803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 controlar el riesgo cardiovascular en todos los pacientes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59168" y="3118104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31181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84048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Estatinas:  </a:t>
            </a:r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es contradictoria y no hay recomendación.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Cirugía, remisión y seguimiento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502920" cy="50292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94760" y="1353312"/>
            <a:ext cx="502920" cy="502920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519" y="1484071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Afectación vascular grave que requiere un procedimiento: junta interdisciplinaria que incluya reumatología. Operar en fases de menor actividad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1353312"/>
            <a:ext cx="502920" cy="50292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2803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01000" y="1353312"/>
            <a:ext cx="502920" cy="502920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759" y="1484071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4632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remisión: reducción progresiva del esteroide según la respuesta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" y="3136392"/>
            <a:ext cx="502920" cy="50292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179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794760" y="3136392"/>
            <a:ext cx="502920" cy="502920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519" y="3267151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con clínica + VSG y PCR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28032" y="3136392"/>
            <a:ext cx="502920" cy="50292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2803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001000" y="3136392"/>
            <a:ext cx="502920" cy="502920"/>
          </a:xfrm>
          <a:prstGeom prst="ellipse">
            <a:avLst/>
          </a:prstGeom>
          <a:solidFill>
            <a:srgbClr val="FF4D6D">
              <a:alpha val="2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759" y="3267151"/>
            <a:ext cx="241402" cy="2414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solo si se sospecha una recaída, con la misma técnica del diagnóstico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3: qué imagen usar según el territorio (ACG)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0972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0972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vasos (sin aorta)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0972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Angio-RM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160020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21D3A8">
              <a:alpha val="2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5960" y="16002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Recomendada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60020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4CC9F0">
              <a:alpha val="2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6002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160020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21D3A8">
              <a:alpha val="2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16002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Recomendada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2219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65960" y="2221992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21D3A8">
              <a:alpha val="2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22219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Recomendada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63240" y="2221992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21D3A8">
              <a:alpha val="2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63240" y="22219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Recomendada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60520" y="2221992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0520" y="22219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Angio-TC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65960" y="2843784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4CC9F0">
              <a:alpha val="2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65960" y="28437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63240" y="2843784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4CC9F0">
              <a:alpha val="2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28437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2843784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60520" y="28437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46557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 Doppler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65960" y="3465576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65960" y="34655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63240" y="3465576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21D3A8">
              <a:alpha val="2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063240" y="34655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Recomendada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60520" y="3465576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60520" y="34655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0873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Arteriografía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65960" y="4087368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965960" y="40873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63240" y="4087368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63240" y="40873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60520" y="4087368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FF4D6D">
              <a:alpha val="12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60520" y="40873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40680" y="1188720"/>
            <a:ext cx="3246120" cy="3520440"/>
          </a:xfrm>
          <a:prstGeom prst="roundRect">
            <a:avLst>
              <a:gd name="adj" fmla="val 2817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7784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DEL SEGUIMIENTO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577840" y="16459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tocilizumab normaliza la VSG y la PCR aunque la enfermedad esté activa, porque bloquea la IL-6, que es la que produce la PCR. La propia guía reconoce que los pacientes con biológicos pueden recaer sin elevar los marcadores.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577840" y="4023360"/>
            <a:ext cx="2971800" cy="50292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77840" y="4023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tocilizumab, la clínica y la imagen mandan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ACG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ACG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4D6D">
              <a:alpha val="18000"/>
            </a:srgbClr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8745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 activa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72768" y="2304288"/>
            <a:ext cx="210312" cy="914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01368" y="1801368"/>
            <a:ext cx="1188720" cy="1005840"/>
          </a:xfrm>
          <a:prstGeom prst="diamond">
            <a:avLst/>
          </a:prstGeom>
          <a:solidFill>
            <a:srgbClr val="1F2752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01368" y="18013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¿Grave?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4D6D">
              <a:alpha val="18000"/>
            </a:srgbClr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0515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IV (pulsos) + Tocilizumab SC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ASA si hay compromiso carotídeo o vertebral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junta médica si hay compromiso vascular grave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2395728" y="1600200"/>
            <a:ext cx="877824" cy="201168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14600" y="1371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514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251460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VO + Tocilizumab SC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el TCZ está contraindicado → abatacept; si no hay biológico → metotrexato)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95728" y="2807208"/>
            <a:ext cx="877824" cy="210312"/>
          </a:xfrm>
          <a:prstGeom prst="line">
            <a:avLst/>
          </a:prstGeom>
          <a:noFill/>
          <a:ln w="25400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1460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801368"/>
            <a:ext cx="1234440" cy="1005840"/>
          </a:xfrm>
          <a:prstGeom prst="diamond">
            <a:avLst/>
          </a:prstGeom>
          <a:solidFill>
            <a:srgbClr val="1F2752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8013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¿Remisión?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53328" y="1691640"/>
            <a:ext cx="329184" cy="411480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6053328" y="2514600"/>
            <a:ext cx="329184" cy="566928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1051560"/>
            <a:ext cx="1143000" cy="2606040"/>
          </a:xfrm>
          <a:prstGeom prst="roundRect">
            <a:avLst>
              <a:gd name="adj" fmla="val 8000"/>
            </a:avLst>
          </a:prstGeom>
          <a:solidFill>
            <a:srgbClr val="FFB703">
              <a:alpha val="1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097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1371600"/>
            <a:ext cx="10149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esteroide y cambiar o añadir inmunosupresor (tocilizumab, metotrexato, abatacept) → reevaluar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43800" y="2304288"/>
            <a:ext cx="118872" cy="914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22008" y="2816352"/>
            <a:ext cx="914" cy="1024128"/>
          </a:xfrm>
          <a:prstGeom prst="line">
            <a:avLst/>
          </a:prstGeom>
          <a:noFill/>
          <a:ln w="25400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99516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49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esteroide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941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7678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227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clínico + VSG/PCR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419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156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705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¿sospecha de recaída?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97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6634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183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según el territorio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375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112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661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¿recaída?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853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590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139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Arteritis de Takayasu: 13 recomendaciones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932688"/>
          </a:xfrm>
          <a:prstGeom prst="roundRect">
            <a:avLst>
              <a:gd name="adj" fmla="val 980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8249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417320"/>
            <a:ext cx="5852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 activa sin enfermedad grave: esteroide oral a dosis altas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59168" y="163677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9168" y="16367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a favor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193852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932688"/>
          </a:xfrm>
          <a:prstGeom prst="roundRect">
            <a:avLst>
              <a:gd name="adj" fmla="val 980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423160"/>
            <a:ext cx="5852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 activa con enfermedad grave: pulsos IV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59168" y="264261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26426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a favor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29443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baja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932688"/>
          </a:xfrm>
          <a:prstGeom prst="roundRect">
            <a:avLst>
              <a:gd name="adj" fmla="val 980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69417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429000"/>
            <a:ext cx="5852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esquemas interdiarios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059168" y="364845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9168" y="364845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 contra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9502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esteroide solo es insuficiente en Takayasu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(Misra, 28 estudios con 1.098 pacientes)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7160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4630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2,28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prednisona menor de 30 mg/día, el riesgo de recaída es mayor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Takayasu: inmunosupresores y biológicos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32688"/>
          </a:xfrm>
          <a:prstGeom prst="roundRect">
            <a:avLst>
              <a:gd name="adj" fmla="val 980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9961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4440"/>
            <a:ext cx="5852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 activa: esteroide + inmunosupresor convencional (azatioprina, ciclofosfamida, ciclosporina, leflunomida, metotrexato o micofenolato) o biológico (adalimumab, infliximab o tocilizumab)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59168" y="145389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4538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 favor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75564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baja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932688"/>
          </a:xfrm>
          <a:prstGeom prst="roundRect">
            <a:avLst>
              <a:gd name="adj" fmla="val 980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0545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40280"/>
            <a:ext cx="5852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 GRAVE: pulsos de esteroide + CICLOFOSFAMIDA como terapia inicial de acción rápida. Dosis: 500–1.000 mg/m² o 15 mg/kg IV mensual por 6 meses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59168" y="245973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24597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 favor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76148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muy baja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932688"/>
          </a:xfrm>
          <a:prstGeom prst="roundRect">
            <a:avLst>
              <a:gd name="adj" fmla="val 9804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1129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246120"/>
            <a:ext cx="5852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abatacept ni rituximab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59168" y="346557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34655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 contra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376732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baja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los convencionales (revisión sistemática)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8412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Azatioprina: respuesta parcial · Leflunomida: remisión parcial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Convencionales: lo que hay que saber de cada uno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051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CLÍNICA · ESTABILIZACIÓN ANGIOGRÁFICA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258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Azatioprina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13258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84 % (parcial) · 100 %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3258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datos de seguridad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8745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Ciclofosfamida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18745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48 % · 67 %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8745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tóxica; se reserva para la enfermedad grave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231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Metotrexato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2423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· 88 %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4231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de eficaz que la ciclofosfamida y más seguro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9718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Leflunomida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2971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 (remisión parcial) · 86 %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9718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Recaídas de solo el 12 %; remisión más rápida que con metotrexato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5204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Micofenolato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148840" y="35204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77 % · 40 %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520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ensayo frente a metotrexato no mostró diferencias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4114800"/>
            <a:ext cx="7900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panel, 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metotrexato y la leflunomida tienen la mejor relación entre eficacia y tolerabilidad.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Anti-TNF en Takayasu (19 estudios)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parcial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9696" y="14630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9696" y="1783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 angiográfica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22192" y="14630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1783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esteroide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04688" y="14630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04688" y="1783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596128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87184" y="14630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87184" y="1783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19 %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7278624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adversos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Takayasu: comparaciones entre biológicos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Tocilizumab frente a ciclofosfamida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1,55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854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respuesta parcial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0,45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1854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eventos adversos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Anti-TNF frente a tocilizumab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56 % vs 57 %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del fármaco. Sin diferencias en respuesta ni seguridad. Se elige según la disponibilidad y la experiencia.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Secukinumab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 los anti-TNF en casos refractarios (53 pacientes), pero con evidencia muy limitada.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eficacia / no recomendados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5661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Abatacept y rituximab: sin eficacia. JAK: no se recomiendan.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Takayasu: antiagregación, cirugía y seguimiento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353312"/>
            <a:ext cx="438912" cy="43891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88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antiagregar ni anticoagular de rutina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240280"/>
            <a:ext cx="438912" cy="438912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756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compromiso carotídeo, coronario o vertebrobasilar: ASA como primera opción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3127248"/>
            <a:ext cx="438912" cy="43891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626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Isquemia grave de órgano blanco o aneurisma con riesgo vital: tratamiento quirúrgico o endovascular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49624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4014216"/>
            <a:ext cx="438912" cy="43891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962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en REMISIÓN. Si no se puede esperar, dar esteroide a dosis altas en el perioperatorio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1353312"/>
            <a:ext cx="438912" cy="438912"/>
          </a:xfrm>
          <a:prstGeom prst="ellipse">
            <a:avLst/>
          </a:prstGeom>
          <a:solidFill>
            <a:srgbClr val="21D3A8"/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8231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1188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remisión: reducción progresiva del esteroide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075688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2312" y="2240280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82312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0756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con clínica + VSG y PCR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2962656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3127248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82312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29626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solo si se sospecha una recaída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quirúrgica (para el caso de Takayasu)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66 %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4884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Reestenosis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5,18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214884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endovascular tiene más reestenosis que la cirugía abierta, sobre todo en lesiones coronarias, renales y supraaórticas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4CC9F0">
              <a:alpha val="12000"/>
            </a:srgbClr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0,33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214884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abierta tiene más eventos cerebrovasculares (a favor del endovascular)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F4D6D">
              <a:alpha val="12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7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214884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con VSG y PCR elevadas multiplica hasta por 7 el riesgo de complicaciones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977640"/>
            <a:ext cx="7900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estables con esteroide más inmunosupresor tienen menos reestenosis que los que reciben solo esteroide.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Takayasu: los marcadores no son específicos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EN REMISIÓN CON MARCADORES ELEVADOS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elevada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F2752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833933" cy="292608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2573" y="17647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28,5 %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VSG elevada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F2752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696407" cy="292608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45047" y="2587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 Doppler con contraste + VSG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1854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854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diferenciar la enfermedad activa de la inactiva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angio-RM en 17 territorios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0,996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detectar progresión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246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marcadores no son específicos: el 28,5 % de los pacientes en remisión tiene PCR elevada y el 23,8 %, VSG elevada.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 · TAKAYASU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Takayasu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A78BFA">
              <a:alpha val="18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8745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 activa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72768" y="2304288"/>
            <a:ext cx="210312" cy="914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01368" y="1801368"/>
            <a:ext cx="1188720" cy="1005840"/>
          </a:xfrm>
          <a:prstGeom prst="diamond">
            <a:avLst/>
          </a:prstGeom>
          <a:solidFill>
            <a:srgbClr val="1F2752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01368" y="18013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¿Grave?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4D6D">
              <a:alpha val="18000"/>
            </a:srgbClr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0515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IV (pulsos) + CICLOFOSFAMIDA IV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ASA si hay compromiso carotídeo, coronario o vertebrobasilar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intervención si hay isquemia grave o aneurisma con riesgo vital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2395728" y="1600200"/>
            <a:ext cx="877824" cy="201168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14600" y="1371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514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251460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Esteroide VO + inmunosupresor convencional o biológico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(MTX, LEF, AZA, MMF, CsA / adalimumab, infliximab, tocilizumab)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95728" y="2807208"/>
            <a:ext cx="877824" cy="210312"/>
          </a:xfrm>
          <a:prstGeom prst="line">
            <a:avLst/>
          </a:prstGeom>
          <a:noFill/>
          <a:ln w="25400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1460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801368"/>
            <a:ext cx="1234440" cy="1005840"/>
          </a:xfrm>
          <a:prstGeom prst="diamond">
            <a:avLst/>
          </a:prstGeom>
          <a:solidFill>
            <a:srgbClr val="1F2752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8013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¿Remisión?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53328" y="1691640"/>
            <a:ext cx="329184" cy="411480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6053328" y="2514600"/>
            <a:ext cx="329184" cy="566928"/>
          </a:xfrm>
          <a:prstGeom prst="line">
            <a:avLst/>
          </a:prstGeom>
          <a:noFill/>
          <a:ln w="25400">
            <a:solidFill>
              <a:srgbClr val="AEB6D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1051560"/>
            <a:ext cx="1143000" cy="2606040"/>
          </a:xfrm>
          <a:prstGeom prst="roundRect">
            <a:avLst>
              <a:gd name="adj" fmla="val 8000"/>
            </a:avLst>
          </a:prstGeom>
          <a:solidFill>
            <a:srgbClr val="FFB703">
              <a:alpha val="1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097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1371600"/>
            <a:ext cx="10149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esteroide y cambiar o añadir inmunosupresor → reevaluar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43800" y="2304288"/>
            <a:ext cx="118872" cy="914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22008" y="2816352"/>
            <a:ext cx="914" cy="1024128"/>
          </a:xfrm>
          <a:prstGeom prst="line">
            <a:avLst/>
          </a:prstGeom>
          <a:noFill/>
          <a:ln w="25400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99516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49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esteroide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941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7678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227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clínico + VSG/PCR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419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156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705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¿sospecha de recaída?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97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6634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183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375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112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661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¿recaída?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85304" y="4297680"/>
            <a:ext cx="164592" cy="914"/>
          </a:xfrm>
          <a:prstGeom prst="line">
            <a:avLst/>
          </a:prstGeom>
          <a:noFill/>
          <a:ln w="22225">
            <a:solidFill>
              <a:srgbClr val="21D3A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59040" y="3858768"/>
            <a:ext cx="1264920" cy="868680"/>
          </a:xfrm>
          <a:prstGeom prst="roundRect">
            <a:avLst>
              <a:gd name="adj" fmla="val 10526"/>
            </a:avLst>
          </a:prstGeom>
          <a:solidFill>
            <a:srgbClr val="21D3A8">
              <a:alpha val="18000"/>
            </a:srgbClr>
          </a:solidFill>
          <a:ln w="19050">
            <a:solidFill>
              <a:srgbClr val="21D3A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13904" y="3858768"/>
            <a:ext cx="115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ACG frente a Takayasu en esta guía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TAKAYASU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Biológico de elección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4173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Tocilizumab (fuerte)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4173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Anti-TNF o tocilizumab, equivalentes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65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Anti-TNF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96596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4D6D">
              <a:alpha val="1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Fuerte en contra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96596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Recomendados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5146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Ciclofosfamida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251460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4D6D">
              <a:alpha val="1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2514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Fuerte en contra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51460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2514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 elección en la enfermedad grave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Abatacept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14600" y="306324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06040" y="3063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Alternativa si no se puede usar tocilizumab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306324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4D6D">
              <a:alpha val="1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60720" y="3063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Fuerte en contra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611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Metotrexato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61188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B703">
              <a:alpha val="1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06040" y="3611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temporal si no hay biológico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361188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3611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línea junto con la leflunomida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1605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Azatioprina y micofenolato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14600" y="41605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4D6D">
              <a:alpha val="1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06040" y="41605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Fuerte en contra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0" y="41605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21D3A8">
              <a:alpha val="15000"/>
            </a:srgbClr>
          </a:solidFill>
          <a:ln w="12700">
            <a:solidFill>
              <a:srgbClr val="21D3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41605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Opciones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las dos son vasculitis de grandes vasos, responden distinto. Los anti-TNF fracasaron en la ACG pero funcionan en Takayasu, y el abatacept muestra la tendencia contraria.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guía colombiana las trata por separado.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219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COLOMBIANA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 la guía colombiana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Vasculitis: generalidades · N. F. Sanabria Duarte · Medicina interna · Universidad Libre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FFB703">
              <a:alpha val="12000"/>
            </a:srgbClr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508760"/>
            <a:ext cx="1188720" cy="1188720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B70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707" y="1817827"/>
            <a:ext cx="570586" cy="5705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la búsqueda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de 2024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297680" y="1280160"/>
            <a:ext cx="4389120" cy="2011680"/>
          </a:xfrm>
          <a:prstGeom prst="roundRect">
            <a:avLst>
              <a:gd name="adj" fmla="val 4545"/>
            </a:avLst>
          </a:prstGeom>
          <a:solidFill>
            <a:srgbClr val="161C3D"/>
          </a:solidFill>
          <a:ln w="9525">
            <a:solidFill>
              <a:srgbClr val="161C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3716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llegó hasta diciembre de 2024, así que no incluye SELECT-GCA (upadacitinib en ACG, NEJM 2025). Por eso la guía no recomienda inhibidores de JAK.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3429000"/>
            <a:ext cx="4389120" cy="1280160"/>
          </a:xfrm>
          <a:prstGeom prst="roundRect">
            <a:avLst>
              <a:gd name="adj" fmla="val 7143"/>
            </a:avLst>
          </a:prstGeom>
          <a:solidFill>
            <a:srgbClr val="21D3A8">
              <a:alpha val="12000"/>
            </a:srgbClr>
          </a:solidFill>
          <a:ln w="15875">
            <a:solidFill>
              <a:srgbClr val="21D3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62272" y="3429000"/>
            <a:ext cx="4059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preguntan por el upadacitinib,  </a:t>
            </a:r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que la evidencia salió después del corte de la guía.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Fabian Sanabria Duarte · Medicina interna · Universidad Libre de Colombia – Seccional Barranquilla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Vasculitis: generalidades</dc:title>
  <dc:subject>PptxGenJS Presentation</dc:subject>
  <dc:creator>Nestor Fabian Sanabria Duarte</dc:creator>
  <cp:lastModifiedBy>Nestor Fabian Sanabria Duarte</cp:lastModifiedBy>
  <cp:revision>1</cp:revision>
  <dcterms:created xsi:type="dcterms:W3CDTF">2026-10-04T19:11:59Z</dcterms:created>
  <dcterms:modified xsi:type="dcterms:W3CDTF">2026-10-04T19:11:59Z</dcterms:modified>
</cp:coreProperties>
</file>
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ordenado: S. aureus llega a nariz, boca y faringe; se instala en el epitelio nasal escamoso y en la nasofaringe ciliada; convive con el moco, la microbiota y la inmunidad local; si se rompe la barrera (herida, cirugia, inflamacion) transloca; y disemina a sangre, pulmon e intestino, que actua como reservorio.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escenarios. Con la barrera intacta, S. aureus permanece en la superficie (moco y epitelio) como colonizacion asintomatica, contenido por la inmunidad local. Cuando la barrera se rompe por una herida, cirugia o inflamacion, la bacteria transloca a traves del epitelio hacia la lamina propria, los tejidos y los vasos sanguineos, y puede diseminarse: ahi la colonizacion se convierte en infeccion.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· COLONIZACIÓN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de S. aureus, paso a paso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D7DC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Piewngam P, Otto M. Staphylococcus aureus colonisation and strategies for decolonisation. Lancet Microbe. 2024;5(6):e606-18.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Howden BP, Giulieri SG, Wong Fok Lung T, Baines SL, Sharkey LK, Lee JYH, et al. Staphylococcus aureus host interactions and adaptation. Nat Rev Microbiol. 2023;21(6):380-95.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historia en orden: de llegar a la nariz hasta diseminarse por el cuerpo.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572768" cy="2606040"/>
          </a:xfrm>
          <a:prstGeom prst="roundRect">
            <a:avLst>
              <a:gd name="adj" fmla="val 5814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1737360"/>
            <a:ext cx="420624" cy="420624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1832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77824" y="2240280"/>
            <a:ext cx="548640" cy="54864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371954"/>
            <a:ext cx="285293" cy="28529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47472" y="28803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93192" y="329184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Nariz, boca y faringe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938528" y="2377440"/>
            <a:ext cx="128016" cy="914"/>
          </a:xfrm>
          <a:prstGeom prst="line">
            <a:avLst/>
          </a:prstGeom>
          <a:noFill/>
          <a:ln w="25400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066544" y="1600200"/>
            <a:ext cx="1572768" cy="2606040"/>
          </a:xfrm>
          <a:prstGeom prst="roundRect">
            <a:avLst>
              <a:gd name="adj" fmla="val 5814"/>
            </a:avLst>
          </a:prstGeom>
          <a:solidFill>
            <a:srgbClr val="4CC9F0">
              <a:alpha val="10000"/>
            </a:srgbClr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642616" y="1737360"/>
            <a:ext cx="420624" cy="42062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642616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2578608" y="2240280"/>
            <a:ext cx="548640" cy="54864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282" y="2371954"/>
            <a:ext cx="285293" cy="285293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048256" y="28803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instala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2093976" y="329184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Epitelio nasal (escamoso) y nasofaringe (ciliado)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639312" y="2377440"/>
            <a:ext cx="128016" cy="914"/>
          </a:xfrm>
          <a:prstGeom prst="line">
            <a:avLst/>
          </a:prstGeom>
          <a:noFill/>
          <a:ln w="25400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3767328" y="1600200"/>
            <a:ext cx="1572768" cy="2606040"/>
          </a:xfrm>
          <a:prstGeom prst="roundRect">
            <a:avLst>
              <a:gd name="adj" fmla="val 5814"/>
            </a:avLst>
          </a:prstGeom>
          <a:solidFill>
            <a:srgbClr val="2EC4B6">
              <a:alpha val="10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343400" y="1737360"/>
            <a:ext cx="420624" cy="42062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34340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4279392" y="2240280"/>
            <a:ext cx="548640" cy="5486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066" y="2371954"/>
            <a:ext cx="285293" cy="285293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3749040" y="28803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Convive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3794760" y="329184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Moco, microbiota e inmunidad local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340096" y="2377440"/>
            <a:ext cx="128016" cy="914"/>
          </a:xfrm>
          <a:prstGeom prst="line">
            <a:avLst/>
          </a:prstGeom>
          <a:noFill/>
          <a:ln w="25400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5468112" y="1600200"/>
            <a:ext cx="1572768" cy="2606040"/>
          </a:xfrm>
          <a:prstGeom prst="roundRect">
            <a:avLst>
              <a:gd name="adj" fmla="val 5814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044184" y="1737360"/>
            <a:ext cx="420624" cy="420624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044184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Shape 30"/>
          <p:cNvSpPr/>
          <p:nvPr/>
        </p:nvSpPr>
        <p:spPr>
          <a:xfrm>
            <a:off x="5980176" y="2240280"/>
            <a:ext cx="548640" cy="54864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850" y="2371954"/>
            <a:ext cx="285293" cy="285293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5449824" y="28803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 la barrera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5495544" y="329184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Herida, cirugía o inflamación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7040880" y="2377440"/>
            <a:ext cx="128016" cy="914"/>
          </a:xfrm>
          <a:prstGeom prst="line">
            <a:avLst/>
          </a:prstGeom>
          <a:noFill/>
          <a:ln w="25400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40" name="Shape 34"/>
          <p:cNvSpPr/>
          <p:nvPr/>
        </p:nvSpPr>
        <p:spPr>
          <a:xfrm>
            <a:off x="7168896" y="1600200"/>
            <a:ext cx="1572768" cy="2606040"/>
          </a:xfrm>
          <a:prstGeom prst="roundRect">
            <a:avLst>
              <a:gd name="adj" fmla="val 5814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7744968" y="1737360"/>
            <a:ext cx="420624" cy="42062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7744968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3" name="Shape 37"/>
          <p:cNvSpPr/>
          <p:nvPr/>
        </p:nvSpPr>
        <p:spPr>
          <a:xfrm>
            <a:off x="7680960" y="2240280"/>
            <a:ext cx="548640" cy="5486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2634" y="2371954"/>
            <a:ext cx="285293" cy="285293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7150608" y="28803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Disemina</a:t>
            </a:r>
            <a:endParaRPr lang="en-US" sz="1500" dirty="0"/>
          </a:p>
        </p:txBody>
      </p:sp>
      <p:sp>
        <p:nvSpPr>
          <p:cNvPr id="46" name="Text 39"/>
          <p:cNvSpPr txBox="1"/>
          <p:nvPr/>
        </p:nvSpPr>
        <p:spPr>
          <a:xfrm>
            <a:off x="7196328" y="329184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Sangre, pulmón e intestino (reservorio)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365760" y="4297680"/>
            <a:ext cx="8412480" cy="91"/>
          </a:xfrm>
          <a:prstGeom prst="roundRect">
            <a:avLst>
              <a:gd name="adj" fmla="val 100483516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420624" y="4297680"/>
            <a:ext cx="8302752" cy="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· COLONIZACIÓN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intacta frente a barrera rota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D7DC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Piewngam P, Otto M. Staphylococcus aureus colonisation and strategies for decolonisation. Lancet Microbe. 2024;5(6):e606-18.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788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4069080"/>
            <a:ext cx="4023360" cy="384048"/>
          </a:xfrm>
          <a:prstGeom prst="roundRect">
            <a:avLst>
              <a:gd name="adj" fmla="val 23810"/>
            </a:avLst>
          </a:prstGeom>
          <a:solidFill>
            <a:srgbClr val="2EC4B6">
              <a:alpha val="10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" y="406908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Intacta: la bacteria coloniza sin enfermar; la inmunidad local la contiene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4069080"/>
            <a:ext cx="4023360" cy="384048"/>
          </a:xfrm>
          <a:prstGeom prst="roundRect">
            <a:avLst>
              <a:gd name="adj" fmla="val 23810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18304" y="406908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Rota: atraviesa el epitelio, llega a tejidos y sangre → infección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Cocos grampositivos (fondo blanco)</dc:title>
  <dc:subject>PptxGenJS Presentation</dc:subject>
  <dc:creator>Nestor Fabian Sanabria Duarte</dc:creator>
  <cp:lastModifiedBy>Nestor Fabian Sanabria Duarte</cp:lastModifiedBy>
  <cp:revision>1</cp:revision>
  <dcterms:created xsi:type="dcterms:W3CDTF">2026-10-13T03:33:46Z</dcterms:created>
  <dcterms:modified xsi:type="dcterms:W3CDTF">2026-10-13T03:33:46Z</dcterms:modified>
</cp:coreProperties>
</file>